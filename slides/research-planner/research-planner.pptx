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notesSlides/notesSlide228.xml" ContentType="application/vnd.openxmlformats-officedocument.presentationml.notesSlide+xml"/>
  <Override PartName="/ppt/notesSlides/notesSlide229.xml" ContentType="application/vnd.openxmlformats-officedocument.presentationml.notesSlide+xml"/>
  <Override PartName="/ppt/notesSlides/notesSlide23.xml" ContentType="application/vnd.openxmlformats-officedocument.presentationml.notesSlide+xml"/>
  <Override PartName="/ppt/notesSlides/notesSlide230.xml" ContentType="application/vnd.openxmlformats-officedocument.presentationml.notesSlide+xml"/>
  <Override PartName="/ppt/notesSlides/notesSlide231.xml" ContentType="application/vnd.openxmlformats-officedocument.presentationml.notesSlide+xml"/>
  <Override PartName="/ppt/notesSlides/notesSlide232.xml" ContentType="application/vnd.openxmlformats-officedocument.presentationml.notesSlide+xml"/>
  <Override PartName="/ppt/notesSlides/notesSlide233.xml" ContentType="application/vnd.openxmlformats-officedocument.presentationml.notesSlide+xml"/>
  <Override PartName="/ppt/notesSlides/notesSlide234.xml" ContentType="application/vnd.openxmlformats-officedocument.presentationml.notesSlide+xml"/>
  <Override PartName="/ppt/notesSlides/notesSlide235.xml" ContentType="application/vnd.openxmlformats-officedocument.presentationml.notesSlide+xml"/>
  <Override PartName="/ppt/notesSlides/notesSlide236.xml" ContentType="application/vnd.openxmlformats-officedocument.presentationml.notesSlide+xml"/>
  <Override PartName="/ppt/notesSlides/notesSlide237.xml" ContentType="application/vnd.openxmlformats-officedocument.presentationml.notesSlide+xml"/>
  <Override PartName="/ppt/notesSlides/notesSlide238.xml" ContentType="application/vnd.openxmlformats-officedocument.presentationml.notesSlide+xml"/>
  <Override PartName="/ppt/notesSlides/notesSlide239.xml" ContentType="application/vnd.openxmlformats-officedocument.presentationml.notesSlide+xml"/>
  <Override PartName="/ppt/notesSlides/notesSlide24.xml" ContentType="application/vnd.openxmlformats-officedocument.presentationml.notesSlide+xml"/>
  <Override PartName="/ppt/notesSlides/notesSlide240.xml" ContentType="application/vnd.openxmlformats-officedocument.presentationml.notesSlide+xml"/>
  <Override PartName="/ppt/notesSlides/notesSlide241.xml" ContentType="application/vnd.openxmlformats-officedocument.presentationml.notesSlide+xml"/>
  <Override PartName="/ppt/notesSlides/notesSlide242.xml" ContentType="application/vnd.openxmlformats-officedocument.presentationml.notesSlide+xml"/>
  <Override PartName="/ppt/notesSlides/notesSlide243.xml" ContentType="application/vnd.openxmlformats-officedocument.presentationml.notesSlide+xml"/>
  <Override PartName="/ppt/notesSlides/notesSlide244.xml" ContentType="application/vnd.openxmlformats-officedocument.presentationml.notesSlide+xml"/>
  <Override PartName="/ppt/notesSlides/notesSlide245.xml" ContentType="application/vnd.openxmlformats-officedocument.presentationml.notesSlide+xml"/>
  <Override PartName="/ppt/notesSlides/notesSlide246.xml" ContentType="application/vnd.openxmlformats-officedocument.presentationml.notesSlide+xml"/>
  <Override PartName="/ppt/notesSlides/notesSlide247.xml" ContentType="application/vnd.openxmlformats-officedocument.presentationml.notesSlide+xml"/>
  <Override PartName="/ppt/notesSlides/notesSlide248.xml" ContentType="application/vnd.openxmlformats-officedocument.presentationml.notesSlide+xml"/>
  <Override PartName="/ppt/notesSlides/notesSlide249.xml" ContentType="application/vnd.openxmlformats-officedocument.presentationml.notesSlide+xml"/>
  <Override PartName="/ppt/notesSlides/notesSlide25.xml" ContentType="application/vnd.openxmlformats-officedocument.presentationml.notesSlide+xml"/>
  <Override PartName="/ppt/notesSlides/notesSlide250.xml" ContentType="application/vnd.openxmlformats-officedocument.presentationml.notesSlide+xml"/>
  <Override PartName="/ppt/notesSlides/notesSlide251.xml" ContentType="application/vnd.openxmlformats-officedocument.presentationml.notesSlide+xml"/>
  <Override PartName="/ppt/notesSlides/notesSlide252.xml" ContentType="application/vnd.openxmlformats-officedocument.presentationml.notesSlide+xml"/>
  <Override PartName="/ppt/notesSlides/notesSlide253.xml" ContentType="application/vnd.openxmlformats-officedocument.presentationml.notesSlide+xml"/>
  <Override PartName="/ppt/notesSlides/notesSlide254.xml" ContentType="application/vnd.openxmlformats-officedocument.presentationml.notesSlide+xml"/>
  <Override PartName="/ppt/notesSlides/notesSlide255.xml" ContentType="application/vnd.openxmlformats-officedocument.presentationml.notesSlide+xml"/>
  <Override PartName="/ppt/notesSlides/notesSlide256.xml" ContentType="application/vnd.openxmlformats-officedocument.presentationml.notesSlide+xml"/>
  <Override PartName="/ppt/notesSlides/notesSlide257.xml" ContentType="application/vnd.openxmlformats-officedocument.presentationml.notesSlide+xml"/>
  <Override PartName="/ppt/notesSlides/notesSlide258.xml" ContentType="application/vnd.openxmlformats-officedocument.presentationml.notesSlide+xml"/>
  <Override PartName="/ppt/notesSlides/notesSlide259.xml" ContentType="application/vnd.openxmlformats-officedocument.presentationml.notesSlide+xml"/>
  <Override PartName="/ppt/notesSlides/notesSlide26.xml" ContentType="application/vnd.openxmlformats-officedocument.presentationml.notesSlide+xml"/>
  <Override PartName="/ppt/notesSlides/notesSlide260.xml" ContentType="application/vnd.openxmlformats-officedocument.presentationml.notesSlide+xml"/>
  <Override PartName="/ppt/notesSlides/notesSlide261.xml" ContentType="application/vnd.openxmlformats-officedocument.presentationml.notesSlide+xml"/>
  <Override PartName="/ppt/notesSlides/notesSlide262.xml" ContentType="application/vnd.openxmlformats-officedocument.presentationml.notesSlide+xml"/>
  <Override PartName="/ppt/notesSlides/notesSlide263.xml" ContentType="application/vnd.openxmlformats-officedocument.presentationml.notesSlide+xml"/>
  <Override PartName="/ppt/notesSlides/notesSlide264.xml" ContentType="application/vnd.openxmlformats-officedocument.presentationml.notesSlide+xml"/>
  <Override PartName="/ppt/notesSlides/notesSlide265.xml" ContentType="application/vnd.openxmlformats-officedocument.presentationml.notesSlide+xml"/>
  <Override PartName="/ppt/notesSlides/notesSlide266.xml" ContentType="application/vnd.openxmlformats-officedocument.presentationml.notesSlide+xml"/>
  <Override PartName="/ppt/notesSlides/notesSlide267.xml" ContentType="application/vnd.openxmlformats-officedocument.presentationml.notesSlide+xml"/>
  <Override PartName="/ppt/notesSlides/notesSlide268.xml" ContentType="application/vnd.openxmlformats-officedocument.presentationml.notesSlide+xml"/>
  <Override PartName="/ppt/notesSlides/notesSlide269.xml" ContentType="application/vnd.openxmlformats-officedocument.presentationml.notesSlide+xml"/>
  <Override PartName="/ppt/notesSlides/notesSlide27.xml" ContentType="application/vnd.openxmlformats-officedocument.presentationml.notesSlide+xml"/>
  <Override PartName="/ppt/notesSlides/notesSlide270.xml" ContentType="application/vnd.openxmlformats-officedocument.presentationml.notesSlide+xml"/>
  <Override PartName="/ppt/notesSlides/notesSlide271.xml" ContentType="application/vnd.openxmlformats-officedocument.presentationml.notesSlide+xml"/>
  <Override PartName="/ppt/notesSlides/notesSlide272.xml" ContentType="application/vnd.openxmlformats-officedocument.presentationml.notesSlide+xml"/>
  <Override PartName="/ppt/notesSlides/notesSlide273.xml" ContentType="application/vnd.openxmlformats-officedocument.presentationml.notesSlide+xml"/>
  <Override PartName="/ppt/notesSlides/notesSlide274.xml" ContentType="application/vnd.openxmlformats-officedocument.presentationml.notesSlide+xml"/>
  <Override PartName="/ppt/notesSlides/notesSlide275.xml" ContentType="application/vnd.openxmlformats-officedocument.presentationml.notesSlide+xml"/>
  <Override PartName="/ppt/notesSlides/notesSlide276.xml" ContentType="application/vnd.openxmlformats-officedocument.presentationml.notesSlide+xml"/>
  <Override PartName="/ppt/notesSlides/notesSlide277.xml" ContentType="application/vnd.openxmlformats-officedocument.presentationml.notesSlide+xml"/>
  <Override PartName="/ppt/notesSlides/notesSlide278.xml" ContentType="application/vnd.openxmlformats-officedocument.presentationml.notesSlide+xml"/>
  <Override PartName="/ppt/notesSlides/notesSlide279.xml" ContentType="application/vnd.openxmlformats-officedocument.presentationml.notesSlide+xml"/>
  <Override PartName="/ppt/notesSlides/notesSlide28.xml" ContentType="application/vnd.openxmlformats-officedocument.presentationml.notesSlide+xml"/>
  <Override PartName="/ppt/notesSlides/notesSlide280.xml" ContentType="application/vnd.openxmlformats-officedocument.presentationml.notesSlide+xml"/>
  <Override PartName="/ppt/notesSlides/notesSlide281.xml" ContentType="application/vnd.openxmlformats-officedocument.presentationml.notesSlide+xml"/>
  <Override PartName="/ppt/notesSlides/notesSlide282.xml" ContentType="application/vnd.openxmlformats-officedocument.presentationml.notesSlide+xml"/>
  <Override PartName="/ppt/notesSlides/notesSlide283.xml" ContentType="application/vnd.openxmlformats-officedocument.presentationml.notesSlide+xml"/>
  <Override PartName="/ppt/notesSlides/notesSlide284.xml" ContentType="application/vnd.openxmlformats-officedocument.presentationml.notesSlide+xml"/>
  <Override PartName="/ppt/notesSlides/notesSlide285.xml" ContentType="application/vnd.openxmlformats-officedocument.presentationml.notesSlide+xml"/>
  <Override PartName="/ppt/notesSlides/notesSlide286.xml" ContentType="application/vnd.openxmlformats-officedocument.presentationml.notesSlide+xml"/>
  <Override PartName="/ppt/notesSlides/notesSlide287.xml" ContentType="application/vnd.openxmlformats-officedocument.presentationml.notesSlide+xml"/>
  <Override PartName="/ppt/notesSlides/notesSlide288.xml" ContentType="application/vnd.openxmlformats-officedocument.presentationml.notesSlide+xml"/>
  <Override PartName="/ppt/notesSlides/notesSlide289.xml" ContentType="application/vnd.openxmlformats-officedocument.presentationml.notesSlide+xml"/>
  <Override PartName="/ppt/notesSlides/notesSlide29.xml" ContentType="application/vnd.openxmlformats-officedocument.presentationml.notesSlide+xml"/>
  <Override PartName="/ppt/notesSlides/notesSlide290.xml" ContentType="application/vnd.openxmlformats-officedocument.presentationml.notesSlide+xml"/>
  <Override PartName="/ppt/notesSlides/notesSlide291.xml" ContentType="application/vnd.openxmlformats-officedocument.presentationml.notesSlide+xml"/>
  <Override PartName="/ppt/notesSlides/notesSlide292.xml" ContentType="application/vnd.openxmlformats-officedocument.presentationml.notesSlide+xml"/>
  <Override PartName="/ppt/notesSlides/notesSlide293.xml" ContentType="application/vnd.openxmlformats-officedocument.presentationml.notesSlide+xml"/>
  <Override PartName="/ppt/notesSlides/notesSlide294.xml" ContentType="application/vnd.openxmlformats-officedocument.presentationml.notesSlide+xml"/>
  <Override PartName="/ppt/notesSlides/notesSlide295.xml" ContentType="application/vnd.openxmlformats-officedocument.presentationml.notesSlide+xml"/>
  <Override PartName="/ppt/notesSlides/notesSlide296.xml" ContentType="application/vnd.openxmlformats-officedocument.presentationml.notesSlide+xml"/>
  <Override PartName="/ppt/notesSlides/notesSlide297.xml" ContentType="application/vnd.openxmlformats-officedocument.presentationml.notesSlide+xml"/>
  <Override PartName="/ppt/notesSlides/notesSlide298.xml" ContentType="application/vnd.openxmlformats-officedocument.presentationml.notesSlide+xml"/>
  <Override PartName="/ppt/notesSlides/notesSlide29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00.xml" ContentType="application/vnd.openxmlformats-officedocument.presentationml.notesSlide+xml"/>
  <Override PartName="/ppt/notesSlides/notesSlide301.xml" ContentType="application/vnd.openxmlformats-officedocument.presentationml.notesSlide+xml"/>
  <Override PartName="/ppt/notesSlides/notesSlide302.xml" ContentType="application/vnd.openxmlformats-officedocument.presentationml.notesSlide+xml"/>
  <Override PartName="/ppt/notesSlides/notesSlide303.xml" ContentType="application/vnd.openxmlformats-officedocument.presentationml.notesSlide+xml"/>
  <Override PartName="/ppt/notesSlides/notesSlide304.xml" ContentType="application/vnd.openxmlformats-officedocument.presentationml.notesSlide+xml"/>
  <Override PartName="/ppt/notesSlides/notesSlide305.xml" ContentType="application/vnd.openxmlformats-officedocument.presentationml.notesSlide+xml"/>
  <Override PartName="/ppt/notesSlides/notesSlide306.xml" ContentType="application/vnd.openxmlformats-officedocument.presentationml.notesSlide+xml"/>
  <Override PartName="/ppt/notesSlides/notesSlide307.xml" ContentType="application/vnd.openxmlformats-officedocument.presentationml.notesSlide+xml"/>
  <Override PartName="/ppt/notesSlides/notesSlide308.xml" ContentType="application/vnd.openxmlformats-officedocument.presentationml.notesSlide+xml"/>
  <Override PartName="/ppt/notesSlides/notesSlide309.xml" ContentType="application/vnd.openxmlformats-officedocument.presentationml.notesSlide+xml"/>
  <Override PartName="/ppt/notesSlides/notesSlide31.xml" ContentType="application/vnd.openxmlformats-officedocument.presentationml.notesSlide+xml"/>
  <Override PartName="/ppt/notesSlides/notesSlide310.xml" ContentType="application/vnd.openxmlformats-officedocument.presentationml.notesSlide+xml"/>
  <Override PartName="/ppt/notesSlides/notesSlide311.xml" ContentType="application/vnd.openxmlformats-officedocument.presentationml.notesSlide+xml"/>
  <Override PartName="/ppt/notesSlides/notesSlide312.xml" ContentType="application/vnd.openxmlformats-officedocument.presentationml.notesSlide+xml"/>
  <Override PartName="/ppt/notesSlides/notesSlide313.xml" ContentType="application/vnd.openxmlformats-officedocument.presentationml.notesSlide+xml"/>
  <Override PartName="/ppt/notesSlides/notesSlide314.xml" ContentType="application/vnd.openxmlformats-officedocument.presentationml.notesSlide+xml"/>
  <Override PartName="/ppt/notesSlides/notesSlide315.xml" ContentType="application/vnd.openxmlformats-officedocument.presentationml.notesSlide+xml"/>
  <Override PartName="/ppt/notesSlides/notesSlide316.xml" ContentType="application/vnd.openxmlformats-officedocument.presentationml.notesSlide+xml"/>
  <Override PartName="/ppt/notesSlides/notesSlide317.xml" ContentType="application/vnd.openxmlformats-officedocument.presentationml.notesSlide+xml"/>
  <Override PartName="/ppt/notesSlides/notesSlide318.xml" ContentType="application/vnd.openxmlformats-officedocument.presentationml.notesSlide+xml"/>
  <Override PartName="/ppt/notesSlides/notesSlide319.xml" ContentType="application/vnd.openxmlformats-officedocument.presentationml.notesSlide+xml"/>
  <Override PartName="/ppt/notesSlides/notesSlide32.xml" ContentType="application/vnd.openxmlformats-officedocument.presentationml.notesSlide+xml"/>
  <Override PartName="/ppt/notesSlides/notesSlide320.xml" ContentType="application/vnd.openxmlformats-officedocument.presentationml.notesSlide+xml"/>
  <Override PartName="/ppt/notesSlides/notesSlide321.xml" ContentType="application/vnd.openxmlformats-officedocument.presentationml.notesSlide+xml"/>
  <Override PartName="/ppt/notesSlides/notesSlide322.xml" ContentType="application/vnd.openxmlformats-officedocument.presentationml.notesSlide+xml"/>
  <Override PartName="/ppt/notesSlides/notesSlide323.xml" ContentType="application/vnd.openxmlformats-officedocument.presentationml.notesSlide+xml"/>
  <Override PartName="/ppt/notesSlides/notesSlide324.xml" ContentType="application/vnd.openxmlformats-officedocument.presentationml.notesSlide+xml"/>
  <Override PartName="/ppt/notesSlides/notesSlide325.xml" ContentType="application/vnd.openxmlformats-officedocument.presentationml.notesSlide+xml"/>
  <Override PartName="/ppt/notesSlides/notesSlide326.xml" ContentType="application/vnd.openxmlformats-officedocument.presentationml.notesSlide+xml"/>
  <Override PartName="/ppt/notesSlides/notesSlide327.xml" ContentType="application/vnd.openxmlformats-officedocument.presentationml.notesSlide+xml"/>
  <Override PartName="/ppt/notesSlides/notesSlide328.xml" ContentType="application/vnd.openxmlformats-officedocument.presentationml.notesSlide+xml"/>
  <Override PartName="/ppt/notesSlides/notesSlide329.xml" ContentType="application/vnd.openxmlformats-officedocument.presentationml.notesSlide+xml"/>
  <Override PartName="/ppt/notesSlides/notesSlide33.xml" ContentType="application/vnd.openxmlformats-officedocument.presentationml.notesSlide+xml"/>
  <Override PartName="/ppt/notesSlides/notesSlide330.xml" ContentType="application/vnd.openxmlformats-officedocument.presentationml.notesSlide+xml"/>
  <Override PartName="/ppt/notesSlides/notesSlide331.xml" ContentType="application/vnd.openxmlformats-officedocument.presentationml.notesSlide+xml"/>
  <Override PartName="/ppt/notesSlides/notesSlide332.xml" ContentType="application/vnd.openxmlformats-officedocument.presentationml.notesSlide+xml"/>
  <Override PartName="/ppt/notesSlides/notesSlide333.xml" ContentType="application/vnd.openxmlformats-officedocument.presentationml.notesSlide+xml"/>
  <Override PartName="/ppt/notesSlides/notesSlide334.xml" ContentType="application/vnd.openxmlformats-officedocument.presentationml.notesSlide+xml"/>
  <Override PartName="/ppt/notesSlides/notesSlide335.xml" ContentType="application/vnd.openxmlformats-officedocument.presentationml.notesSlide+xml"/>
  <Override PartName="/ppt/notesSlides/notesSlide336.xml" ContentType="application/vnd.openxmlformats-officedocument.presentationml.notesSlide+xml"/>
  <Override PartName="/ppt/notesSlides/notesSlide337.xml" ContentType="application/vnd.openxmlformats-officedocument.presentationml.notesSlide+xml"/>
  <Override PartName="/ppt/notesSlides/notesSlide338.xml" ContentType="application/vnd.openxmlformats-officedocument.presentationml.notesSlide+xml"/>
  <Override PartName="/ppt/notesSlides/notesSlide339.xml" ContentType="application/vnd.openxmlformats-officedocument.presentationml.notesSlide+xml"/>
  <Override PartName="/ppt/notesSlides/notesSlide34.xml" ContentType="application/vnd.openxmlformats-officedocument.presentationml.notesSlide+xml"/>
  <Override PartName="/ppt/notesSlides/notesSlide340.xml" ContentType="application/vnd.openxmlformats-officedocument.presentationml.notesSlide+xml"/>
  <Override PartName="/ppt/notesSlides/notesSlide341.xml" ContentType="application/vnd.openxmlformats-officedocument.presentationml.notesSlide+xml"/>
  <Override PartName="/ppt/notesSlides/notesSlide342.xml" ContentType="application/vnd.openxmlformats-officedocument.presentationml.notesSlide+xml"/>
  <Override PartName="/ppt/notesSlides/notesSlide343.xml" ContentType="application/vnd.openxmlformats-officedocument.presentationml.notesSlide+xml"/>
  <Override PartName="/ppt/notesSlides/notesSlide344.xml" ContentType="application/vnd.openxmlformats-officedocument.presentationml.notesSlide+xml"/>
  <Override PartName="/ppt/notesSlides/notesSlide345.xml" ContentType="application/vnd.openxmlformats-officedocument.presentationml.notesSlide+xml"/>
  <Override PartName="/ppt/notesSlides/notesSlide346.xml" ContentType="application/vnd.openxmlformats-officedocument.presentationml.notesSlide+xml"/>
  <Override PartName="/ppt/notesSlides/notesSlide347.xml" ContentType="application/vnd.openxmlformats-officedocument.presentationml.notesSlide+xml"/>
  <Override PartName="/ppt/notesSlides/notesSlide348.xml" ContentType="application/vnd.openxmlformats-officedocument.presentationml.notesSlide+xml"/>
  <Override PartName="/ppt/notesSlides/notesSlide349.xml" ContentType="application/vnd.openxmlformats-officedocument.presentationml.notesSlide+xml"/>
  <Override PartName="/ppt/notesSlides/notesSlide35.xml" ContentType="application/vnd.openxmlformats-officedocument.presentationml.notesSlide+xml"/>
  <Override PartName="/ppt/notesSlides/notesSlide350.xml" ContentType="application/vnd.openxmlformats-officedocument.presentationml.notesSlide+xml"/>
  <Override PartName="/ppt/notesSlides/notesSlide351.xml" ContentType="application/vnd.openxmlformats-officedocument.presentationml.notesSlide+xml"/>
  <Override PartName="/ppt/notesSlides/notesSlide352.xml" ContentType="application/vnd.openxmlformats-officedocument.presentationml.notesSlide+xml"/>
  <Override PartName="/ppt/notesSlides/notesSlide353.xml" ContentType="application/vnd.openxmlformats-officedocument.presentationml.notesSlide+xml"/>
  <Override PartName="/ppt/notesSlides/notesSlide354.xml" ContentType="application/vnd.openxmlformats-officedocument.presentationml.notesSlide+xml"/>
  <Override PartName="/ppt/notesSlides/notesSlide355.xml" ContentType="application/vnd.openxmlformats-officedocument.presentationml.notesSlide+xml"/>
  <Override PartName="/ppt/notesSlides/notesSlide356.xml" ContentType="application/vnd.openxmlformats-officedocument.presentationml.notesSlide+xml"/>
  <Override PartName="/ppt/notesSlides/notesSlide357.xml" ContentType="application/vnd.openxmlformats-officedocument.presentationml.notesSlide+xml"/>
  <Override PartName="/ppt/notesSlides/notesSlide358.xml" ContentType="application/vnd.openxmlformats-officedocument.presentationml.notesSlide+xml"/>
  <Override PartName="/ppt/notesSlides/notesSlide359.xml" ContentType="application/vnd.openxmlformats-officedocument.presentationml.notesSlide+xml"/>
  <Override PartName="/ppt/notesSlides/notesSlide36.xml" ContentType="application/vnd.openxmlformats-officedocument.presentationml.notesSlide+xml"/>
  <Override PartName="/ppt/notesSlides/notesSlide360.xml" ContentType="application/vnd.openxmlformats-officedocument.presentationml.notesSlide+xml"/>
  <Override PartName="/ppt/notesSlides/notesSlide361.xml" ContentType="application/vnd.openxmlformats-officedocument.presentationml.notesSlide+xml"/>
  <Override PartName="/ppt/notesSlides/notesSlide362.xml" ContentType="application/vnd.openxmlformats-officedocument.presentationml.notesSlide+xml"/>
  <Override PartName="/ppt/notesSlides/notesSlide363.xml" ContentType="application/vnd.openxmlformats-officedocument.presentationml.notesSlide+xml"/>
  <Override PartName="/ppt/notesSlides/notesSlide364.xml" ContentType="application/vnd.openxmlformats-officedocument.presentationml.notesSlide+xml"/>
  <Override PartName="/ppt/notesSlides/notesSlide365.xml" ContentType="application/vnd.openxmlformats-officedocument.presentationml.notesSlide+xml"/>
  <Override PartName="/ppt/notesSlides/notesSlide366.xml" ContentType="application/vnd.openxmlformats-officedocument.presentationml.notesSlide+xml"/>
  <Override PartName="/ppt/notesSlides/notesSlide367.xml" ContentType="application/vnd.openxmlformats-officedocument.presentationml.notesSlide+xml"/>
  <Override PartName="/ppt/notesSlides/notesSlide368.xml" ContentType="application/vnd.openxmlformats-officedocument.presentationml.notesSlide+xml"/>
  <Override PartName="/ppt/notesSlides/notesSlide369.xml" ContentType="application/vnd.openxmlformats-officedocument.presentationml.notesSlide+xml"/>
  <Override PartName="/ppt/notesSlides/notesSlide37.xml" ContentType="application/vnd.openxmlformats-officedocument.presentationml.notesSlide+xml"/>
  <Override PartName="/ppt/notesSlides/notesSlide370.xml" ContentType="application/vnd.openxmlformats-officedocument.presentationml.notesSlide+xml"/>
  <Override PartName="/ppt/notesSlides/notesSlide371.xml" ContentType="application/vnd.openxmlformats-officedocument.presentationml.notesSlide+xml"/>
  <Override PartName="/ppt/notesSlides/notesSlide372.xml" ContentType="application/vnd.openxmlformats-officedocument.presentationml.notesSlide+xml"/>
  <Override PartName="/ppt/notesSlides/notesSlide373.xml" ContentType="application/vnd.openxmlformats-officedocument.presentationml.notesSlide+xml"/>
  <Override PartName="/ppt/notesSlides/notesSlide374.xml" ContentType="application/vnd.openxmlformats-officedocument.presentationml.notesSlide+xml"/>
  <Override PartName="/ppt/notesSlides/notesSlide375.xml" ContentType="application/vnd.openxmlformats-officedocument.presentationml.notesSlide+xml"/>
  <Override PartName="/ppt/notesSlides/notesSlide376.xml" ContentType="application/vnd.openxmlformats-officedocument.presentationml.notesSlide+xml"/>
  <Override PartName="/ppt/notesSlides/notesSlide377.xml" ContentType="application/vnd.openxmlformats-officedocument.presentationml.notesSlide+xml"/>
  <Override PartName="/ppt/notesSlides/notesSlide378.xml" ContentType="application/vnd.openxmlformats-officedocument.presentationml.notesSlide+xml"/>
  <Override PartName="/ppt/notesSlides/notesSlide379.xml" ContentType="application/vnd.openxmlformats-officedocument.presentationml.notesSlide+xml"/>
  <Override PartName="/ppt/notesSlides/notesSlide38.xml" ContentType="application/vnd.openxmlformats-officedocument.presentationml.notesSlide+xml"/>
  <Override PartName="/ppt/notesSlides/notesSlide380.xml" ContentType="application/vnd.openxmlformats-officedocument.presentationml.notesSlide+xml"/>
  <Override PartName="/ppt/notesSlides/notesSlide381.xml" ContentType="application/vnd.openxmlformats-officedocument.presentationml.notesSlide+xml"/>
  <Override PartName="/ppt/notesSlides/notesSlide382.xml" ContentType="application/vnd.openxmlformats-officedocument.presentationml.notesSlide+xml"/>
  <Override PartName="/ppt/notesSlides/notesSlide383.xml" ContentType="application/vnd.openxmlformats-officedocument.presentationml.notesSlide+xml"/>
  <Override PartName="/ppt/notesSlides/notesSlide384.xml" ContentType="application/vnd.openxmlformats-officedocument.presentationml.notesSlide+xml"/>
  <Override PartName="/ppt/notesSlides/notesSlide385.xml" ContentType="application/vnd.openxmlformats-officedocument.presentationml.notesSlide+xml"/>
  <Override PartName="/ppt/notesSlides/notesSlide386.xml" ContentType="application/vnd.openxmlformats-officedocument.presentationml.notesSlide+xml"/>
  <Override PartName="/ppt/notesSlides/notesSlide387.xml" ContentType="application/vnd.openxmlformats-officedocument.presentationml.notesSlide+xml"/>
  <Override PartName="/ppt/notesSlides/notesSlide388.xml" ContentType="application/vnd.openxmlformats-officedocument.presentationml.notesSlide+xml"/>
  <Override PartName="/ppt/notesSlides/notesSlide389.xml" ContentType="application/vnd.openxmlformats-officedocument.presentationml.notesSlide+xml"/>
  <Override PartName="/ppt/notesSlides/notesSlide39.xml" ContentType="application/vnd.openxmlformats-officedocument.presentationml.notesSlide+xml"/>
  <Override PartName="/ppt/notesSlides/notesSlide390.xml" ContentType="application/vnd.openxmlformats-officedocument.presentationml.notesSlide+xml"/>
  <Override PartName="/ppt/notesSlides/notesSlide391.xml" ContentType="application/vnd.openxmlformats-officedocument.presentationml.notesSlide+xml"/>
  <Override PartName="/ppt/notesSlides/notesSlide392.xml" ContentType="application/vnd.openxmlformats-officedocument.presentationml.notesSlide+xml"/>
  <Override PartName="/ppt/notesSlides/notesSlide393.xml" ContentType="application/vnd.openxmlformats-officedocument.presentationml.notesSlide+xml"/>
  <Override PartName="/ppt/notesSlides/notesSlide394.xml" ContentType="application/vnd.openxmlformats-officedocument.presentationml.notesSlide+xml"/>
  <Override PartName="/ppt/notesSlides/notesSlide395.xml" ContentType="application/vnd.openxmlformats-officedocument.presentationml.notesSlide+xml"/>
  <Override PartName="/ppt/notesSlides/notesSlide396.xml" ContentType="application/vnd.openxmlformats-officedocument.presentationml.notesSlide+xml"/>
  <Override PartName="/ppt/notesSlides/notesSlide397.xml" ContentType="application/vnd.openxmlformats-officedocument.presentationml.notesSlide+xml"/>
  <Override PartName="/ppt/notesSlides/notesSlide398.xml" ContentType="application/vnd.openxmlformats-officedocument.presentationml.notesSlide+xml"/>
  <Override PartName="/ppt/notesSlides/notesSlide39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00.xml" ContentType="application/vnd.openxmlformats-officedocument.presentationml.notesSlide+xml"/>
  <Override PartName="/ppt/notesSlides/notesSlide401.xml" ContentType="application/vnd.openxmlformats-officedocument.presentationml.notesSlide+xml"/>
  <Override PartName="/ppt/notesSlides/notesSlide402.xml" ContentType="application/vnd.openxmlformats-officedocument.presentationml.notesSlide+xml"/>
  <Override PartName="/ppt/notesSlides/notesSlide403.xml" ContentType="application/vnd.openxmlformats-officedocument.presentationml.notesSlide+xml"/>
  <Override PartName="/ppt/notesSlides/notesSlide404.xml" ContentType="application/vnd.openxmlformats-officedocument.presentationml.notesSlide+xml"/>
  <Override PartName="/ppt/notesSlides/notesSlide405.xml" ContentType="application/vnd.openxmlformats-officedocument.presentationml.notesSlide+xml"/>
  <Override PartName="/ppt/notesSlides/notesSlide406.xml" ContentType="application/vnd.openxmlformats-officedocument.presentationml.notesSlide+xml"/>
  <Override PartName="/ppt/notesSlides/notesSlide407.xml" ContentType="application/vnd.openxmlformats-officedocument.presentationml.notesSlide+xml"/>
  <Override PartName="/ppt/notesSlides/notesSlide408.xml" ContentType="application/vnd.openxmlformats-officedocument.presentationml.notesSlide+xml"/>
  <Override PartName="/ppt/notesSlides/notesSlide409.xml" ContentType="application/vnd.openxmlformats-officedocument.presentationml.notesSlide+xml"/>
  <Override PartName="/ppt/notesSlides/notesSlide41.xml" ContentType="application/vnd.openxmlformats-officedocument.presentationml.notesSlide+xml"/>
  <Override PartName="/ppt/notesSlides/notesSlide410.xml" ContentType="application/vnd.openxmlformats-officedocument.presentationml.notesSlide+xml"/>
  <Override PartName="/ppt/notesSlides/notesSlide411.xml" ContentType="application/vnd.openxmlformats-officedocument.presentationml.notesSlide+xml"/>
  <Override PartName="/ppt/notesSlides/notesSlide412.xml" ContentType="application/vnd.openxmlformats-officedocument.presentationml.notesSlide+xml"/>
  <Override PartName="/ppt/notesSlides/notesSlide413.xml" ContentType="application/vnd.openxmlformats-officedocument.presentationml.notesSlide+xml"/>
  <Override PartName="/ppt/notesSlides/notesSlide414.xml" ContentType="application/vnd.openxmlformats-officedocument.presentationml.notesSlide+xml"/>
  <Override PartName="/ppt/notesSlides/notesSlide415.xml" ContentType="application/vnd.openxmlformats-officedocument.presentationml.notesSlide+xml"/>
  <Override PartName="/ppt/notesSlides/notesSlide416.xml" ContentType="application/vnd.openxmlformats-officedocument.presentationml.notesSlide+xml"/>
  <Override PartName="/ppt/notesSlides/notesSlide417.xml" ContentType="application/vnd.openxmlformats-officedocument.presentationml.notesSlide+xml"/>
  <Override PartName="/ppt/notesSlides/notesSlide418.xml" ContentType="application/vnd.openxmlformats-officedocument.presentationml.notesSlide+xml"/>
  <Override PartName="/ppt/notesSlides/notesSlide419.xml" ContentType="application/vnd.openxmlformats-officedocument.presentationml.notesSlide+xml"/>
  <Override PartName="/ppt/notesSlides/notesSlide42.xml" ContentType="application/vnd.openxmlformats-officedocument.presentationml.notesSlide+xml"/>
  <Override PartName="/ppt/notesSlides/notesSlide420.xml" ContentType="application/vnd.openxmlformats-officedocument.presentationml.notesSlide+xml"/>
  <Override PartName="/ppt/notesSlides/notesSlide421.xml" ContentType="application/vnd.openxmlformats-officedocument.presentationml.notesSlide+xml"/>
  <Override PartName="/ppt/notesSlides/notesSlide422.xml" ContentType="application/vnd.openxmlformats-officedocument.presentationml.notesSlide+xml"/>
  <Override PartName="/ppt/notesSlides/notesSlide423.xml" ContentType="application/vnd.openxmlformats-officedocument.presentationml.notesSlide+xml"/>
  <Override PartName="/ppt/notesSlides/notesSlide424.xml" ContentType="application/vnd.openxmlformats-officedocument.presentationml.notesSlide+xml"/>
  <Override PartName="/ppt/notesSlides/notesSlide425.xml" ContentType="application/vnd.openxmlformats-officedocument.presentationml.notesSlide+xml"/>
  <Override PartName="/ppt/notesSlides/notesSlide426.xml" ContentType="application/vnd.openxmlformats-officedocument.presentationml.notesSlide+xml"/>
  <Override PartName="/ppt/notesSlides/notesSlide427.xml" ContentType="application/vnd.openxmlformats-officedocument.presentationml.notesSlide+xml"/>
  <Override PartName="/ppt/notesSlides/notesSlide428.xml" ContentType="application/vnd.openxmlformats-officedocument.presentationml.notesSlide+xml"/>
  <Override PartName="/ppt/notesSlides/notesSlide429.xml" ContentType="application/vnd.openxmlformats-officedocument.presentationml.notesSlide+xml"/>
  <Override PartName="/ppt/notesSlides/notesSlide43.xml" ContentType="application/vnd.openxmlformats-officedocument.presentationml.notesSlide+xml"/>
  <Override PartName="/ppt/notesSlides/notesSlide430.xml" ContentType="application/vnd.openxmlformats-officedocument.presentationml.notesSlide+xml"/>
  <Override PartName="/ppt/notesSlides/notesSlide431.xml" ContentType="application/vnd.openxmlformats-officedocument.presentationml.notesSlide+xml"/>
  <Override PartName="/ppt/notesSlides/notesSlide432.xml" ContentType="application/vnd.openxmlformats-officedocument.presentationml.notesSlide+xml"/>
  <Override PartName="/ppt/notesSlides/notesSlide433.xml" ContentType="application/vnd.openxmlformats-officedocument.presentationml.notesSlide+xml"/>
  <Override PartName="/ppt/notesSlides/notesSlide434.xml" ContentType="application/vnd.openxmlformats-officedocument.presentationml.notesSlide+xml"/>
  <Override PartName="/ppt/notesSlides/notesSlide435.xml" ContentType="application/vnd.openxmlformats-officedocument.presentationml.notesSlide+xml"/>
  <Override PartName="/ppt/notesSlides/notesSlide436.xml" ContentType="application/vnd.openxmlformats-officedocument.presentationml.notesSlide+xml"/>
  <Override PartName="/ppt/notesSlides/notesSlide437.xml" ContentType="application/vnd.openxmlformats-officedocument.presentationml.notesSlide+xml"/>
  <Override PartName="/ppt/notesSlides/notesSlide438.xml" ContentType="application/vnd.openxmlformats-officedocument.presentationml.notesSlide+xml"/>
  <Override PartName="/ppt/notesSlides/notesSlide439.xml" ContentType="application/vnd.openxmlformats-officedocument.presentationml.notesSlide+xml"/>
  <Override PartName="/ppt/notesSlides/notesSlide44.xml" ContentType="application/vnd.openxmlformats-officedocument.presentationml.notesSlide+xml"/>
  <Override PartName="/ppt/notesSlides/notesSlide440.xml" ContentType="application/vnd.openxmlformats-officedocument.presentationml.notesSlide+xml"/>
  <Override PartName="/ppt/notesSlides/notesSlide441.xml" ContentType="application/vnd.openxmlformats-officedocument.presentationml.notesSlide+xml"/>
  <Override PartName="/ppt/notesSlides/notesSlide442.xml" ContentType="application/vnd.openxmlformats-officedocument.presentationml.notesSlide+xml"/>
  <Override PartName="/ppt/notesSlides/notesSlide443.xml" ContentType="application/vnd.openxmlformats-officedocument.presentationml.notesSlide+xml"/>
  <Override PartName="/ppt/notesSlides/notesSlide444.xml" ContentType="application/vnd.openxmlformats-officedocument.presentationml.notesSlide+xml"/>
  <Override PartName="/ppt/notesSlides/notesSlide445.xml" ContentType="application/vnd.openxmlformats-officedocument.presentationml.notesSlide+xml"/>
  <Override PartName="/ppt/notesSlides/notesSlide446.xml" ContentType="application/vnd.openxmlformats-officedocument.presentationml.notesSlide+xml"/>
  <Override PartName="/ppt/notesSlides/notesSlide447.xml" ContentType="application/vnd.openxmlformats-officedocument.presentationml.notesSlide+xml"/>
  <Override PartName="/ppt/notesSlides/notesSlide448.xml" ContentType="application/vnd.openxmlformats-officedocument.presentationml.notesSlide+xml"/>
  <Override PartName="/ppt/notesSlides/notesSlide449.xml" ContentType="application/vnd.openxmlformats-officedocument.presentationml.notesSlide+xml"/>
  <Override PartName="/ppt/notesSlides/notesSlide45.xml" ContentType="application/vnd.openxmlformats-officedocument.presentationml.notesSlide+xml"/>
  <Override PartName="/ppt/notesSlides/notesSlide450.xml" ContentType="application/vnd.openxmlformats-officedocument.presentationml.notesSlide+xml"/>
  <Override PartName="/ppt/notesSlides/notesSlide451.xml" ContentType="application/vnd.openxmlformats-officedocument.presentationml.notesSlide+xml"/>
  <Override PartName="/ppt/notesSlides/notesSlide452.xml" ContentType="application/vnd.openxmlformats-officedocument.presentationml.notesSlide+xml"/>
  <Override PartName="/ppt/notesSlides/notesSlide453.xml" ContentType="application/vnd.openxmlformats-officedocument.presentationml.notesSlide+xml"/>
  <Override PartName="/ppt/notesSlides/notesSlide454.xml" ContentType="application/vnd.openxmlformats-officedocument.presentationml.notesSlide+xml"/>
  <Override PartName="/ppt/notesSlides/notesSlide455.xml" ContentType="application/vnd.openxmlformats-officedocument.presentationml.notesSlide+xml"/>
  <Override PartName="/ppt/notesSlides/notesSlide456.xml" ContentType="application/vnd.openxmlformats-officedocument.presentationml.notesSlide+xml"/>
  <Override PartName="/ppt/notesSlides/notesSlide457.xml" ContentType="application/vnd.openxmlformats-officedocument.presentationml.notesSlide+xml"/>
  <Override PartName="/ppt/notesSlides/notesSlide458.xml" ContentType="application/vnd.openxmlformats-officedocument.presentationml.notesSlide+xml"/>
  <Override PartName="/ppt/notesSlides/notesSlide459.xml" ContentType="application/vnd.openxmlformats-officedocument.presentationml.notesSlide+xml"/>
  <Override PartName="/ppt/notesSlides/notesSlide46.xml" ContentType="application/vnd.openxmlformats-officedocument.presentationml.notesSlide+xml"/>
  <Override PartName="/ppt/notesSlides/notesSlide460.xml" ContentType="application/vnd.openxmlformats-officedocument.presentationml.notesSlide+xml"/>
  <Override PartName="/ppt/notesSlides/notesSlide461.xml" ContentType="application/vnd.openxmlformats-officedocument.presentationml.notesSlide+xml"/>
  <Override PartName="/ppt/notesSlides/notesSlide462.xml" ContentType="application/vnd.openxmlformats-officedocument.presentationml.notesSlide+xml"/>
  <Override PartName="/ppt/notesSlides/notesSlide463.xml" ContentType="application/vnd.openxmlformats-officedocument.presentationml.notesSlide+xml"/>
  <Override PartName="/ppt/notesSlides/notesSlide464.xml" ContentType="application/vnd.openxmlformats-officedocument.presentationml.notesSlide+xml"/>
  <Override PartName="/ppt/notesSlides/notesSlide465.xml" ContentType="application/vnd.openxmlformats-officedocument.presentationml.notesSlide+xml"/>
  <Override PartName="/ppt/notesSlides/notesSlide466.xml" ContentType="application/vnd.openxmlformats-officedocument.presentationml.notesSlide+xml"/>
  <Override PartName="/ppt/notesSlides/notesSlide467.xml" ContentType="application/vnd.openxmlformats-officedocument.presentationml.notesSlide+xml"/>
  <Override PartName="/ppt/notesSlides/notesSlide468.xml" ContentType="application/vnd.openxmlformats-officedocument.presentationml.notesSlide+xml"/>
  <Override PartName="/ppt/notesSlides/notesSlide469.xml" ContentType="application/vnd.openxmlformats-officedocument.presentationml.notesSlide+xml"/>
  <Override PartName="/ppt/notesSlides/notesSlide47.xml" ContentType="application/vnd.openxmlformats-officedocument.presentationml.notesSlide+xml"/>
  <Override PartName="/ppt/notesSlides/notesSlide470.xml" ContentType="application/vnd.openxmlformats-officedocument.presentationml.notesSlide+xml"/>
  <Override PartName="/ppt/notesSlides/notesSlide471.xml" ContentType="application/vnd.openxmlformats-officedocument.presentationml.notesSlide+xml"/>
  <Override PartName="/ppt/notesSlides/notesSlide472.xml" ContentType="application/vnd.openxmlformats-officedocument.presentationml.notesSlide+xml"/>
  <Override PartName="/ppt/notesSlides/notesSlide473.xml" ContentType="application/vnd.openxmlformats-officedocument.presentationml.notesSlide+xml"/>
  <Override PartName="/ppt/notesSlides/notesSlide474.xml" ContentType="application/vnd.openxmlformats-officedocument.presentationml.notesSlide+xml"/>
  <Override PartName="/ppt/notesSlides/notesSlide475.xml" ContentType="application/vnd.openxmlformats-officedocument.presentationml.notesSlide+xml"/>
  <Override PartName="/ppt/notesSlides/notesSlide476.xml" ContentType="application/vnd.openxmlformats-officedocument.presentationml.notesSlide+xml"/>
  <Override PartName="/ppt/notesSlides/notesSlide477.xml" ContentType="application/vnd.openxmlformats-officedocument.presentationml.notesSlide+xml"/>
  <Override PartName="/ppt/notesSlides/notesSlide478.xml" ContentType="application/vnd.openxmlformats-officedocument.presentationml.notesSlide+xml"/>
  <Override PartName="/ppt/notesSlides/notesSlide479.xml" ContentType="application/vnd.openxmlformats-officedocument.presentationml.notesSlide+xml"/>
  <Override PartName="/ppt/notesSlides/notesSlide48.xml" ContentType="application/vnd.openxmlformats-officedocument.presentationml.notesSlide+xml"/>
  <Override PartName="/ppt/notesSlides/notesSlide480.xml" ContentType="application/vnd.openxmlformats-officedocument.presentationml.notesSlide+xml"/>
  <Override PartName="/ppt/notesSlides/notesSlide481.xml" ContentType="application/vnd.openxmlformats-officedocument.presentationml.notesSlide+xml"/>
  <Override PartName="/ppt/notesSlides/notesSlide482.xml" ContentType="application/vnd.openxmlformats-officedocument.presentationml.notesSlide+xml"/>
  <Override PartName="/ppt/notesSlides/notesSlide483.xml" ContentType="application/vnd.openxmlformats-officedocument.presentationml.notesSlide+xml"/>
  <Override PartName="/ppt/notesSlides/notesSlide484.xml" ContentType="application/vnd.openxmlformats-officedocument.presentationml.notesSlide+xml"/>
  <Override PartName="/ppt/notesSlides/notesSlide485.xml" ContentType="application/vnd.openxmlformats-officedocument.presentationml.notesSlide+xml"/>
  <Override PartName="/ppt/notesSlides/notesSlide486.xml" ContentType="application/vnd.openxmlformats-officedocument.presentationml.notesSlide+xml"/>
  <Override PartName="/ppt/notesSlides/notesSlide487.xml" ContentType="application/vnd.openxmlformats-officedocument.presentationml.notesSlide+xml"/>
  <Override PartName="/ppt/notesSlides/notesSlide488.xml" ContentType="application/vnd.openxmlformats-officedocument.presentationml.notesSlide+xml"/>
  <Override PartName="/ppt/notesSlides/notesSlide489.xml" ContentType="application/vnd.openxmlformats-officedocument.presentationml.notesSlide+xml"/>
  <Override PartName="/ppt/notesSlides/notesSlide49.xml" ContentType="application/vnd.openxmlformats-officedocument.presentationml.notesSlide+xml"/>
  <Override PartName="/ppt/notesSlides/notesSlide490.xml" ContentType="application/vnd.openxmlformats-officedocument.presentationml.notesSlide+xml"/>
  <Override PartName="/ppt/notesSlides/notesSlide491.xml" ContentType="application/vnd.openxmlformats-officedocument.presentationml.notesSlide+xml"/>
  <Override PartName="/ppt/notesSlides/notesSlide492.xml" ContentType="application/vnd.openxmlformats-officedocument.presentationml.notesSlide+xml"/>
  <Override PartName="/ppt/notesSlides/notesSlide493.xml" ContentType="application/vnd.openxmlformats-officedocument.presentationml.notesSlide+xml"/>
  <Override PartName="/ppt/notesSlides/notesSlide494.xml" ContentType="application/vnd.openxmlformats-officedocument.presentationml.notesSlide+xml"/>
  <Override PartName="/ppt/notesSlides/notesSlide495.xml" ContentType="application/vnd.openxmlformats-officedocument.presentationml.notesSlide+xml"/>
  <Override PartName="/ppt/notesSlides/notesSlide496.xml" ContentType="application/vnd.openxmlformats-officedocument.presentationml.notesSlide+xml"/>
  <Override PartName="/ppt/notesSlides/notesSlide497.xml" ContentType="application/vnd.openxmlformats-officedocument.presentationml.notesSlide+xml"/>
  <Override PartName="/ppt/notesSlides/notesSlide498.xml" ContentType="application/vnd.openxmlformats-officedocument.presentationml.notesSlide+xml"/>
  <Override PartName="/ppt/notesSlides/notesSlide49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00.xml" ContentType="application/vnd.openxmlformats-officedocument.presentationml.notesSlide+xml"/>
  <Override PartName="/ppt/notesSlides/notesSlide501.xml" ContentType="application/vnd.openxmlformats-officedocument.presentationml.notesSlide+xml"/>
  <Override PartName="/ppt/notesSlides/notesSlide502.xml" ContentType="application/vnd.openxmlformats-officedocument.presentationml.notesSlide+xml"/>
  <Override PartName="/ppt/notesSlides/notesSlide503.xml" ContentType="application/vnd.openxmlformats-officedocument.presentationml.notesSlide+xml"/>
  <Override PartName="/ppt/notesSlides/notesSlide504.xml" ContentType="application/vnd.openxmlformats-officedocument.presentationml.notesSlide+xml"/>
  <Override PartName="/ppt/notesSlides/notesSlide505.xml" ContentType="application/vnd.openxmlformats-officedocument.presentationml.notesSlide+xml"/>
  <Override PartName="/ppt/notesSlides/notesSlide506.xml" ContentType="application/vnd.openxmlformats-officedocument.presentationml.notesSlide+xml"/>
  <Override PartName="/ppt/notesSlides/notesSlide507.xml" ContentType="application/vnd.openxmlformats-officedocument.presentationml.notesSlide+xml"/>
  <Override PartName="/ppt/notesSlides/notesSlide508.xml" ContentType="application/vnd.openxmlformats-officedocument.presentationml.notesSlide+xml"/>
  <Override PartName="/ppt/notesSlides/notesSlide509.xml" ContentType="application/vnd.openxmlformats-officedocument.presentationml.notesSlide+xml"/>
  <Override PartName="/ppt/notesSlides/notesSlide51.xml" ContentType="application/vnd.openxmlformats-officedocument.presentationml.notesSlide+xml"/>
  <Override PartName="/ppt/notesSlides/notesSlide510.xml" ContentType="application/vnd.openxmlformats-officedocument.presentationml.notesSlide+xml"/>
  <Override PartName="/ppt/notesSlides/notesSlide511.xml" ContentType="application/vnd.openxmlformats-officedocument.presentationml.notesSlide+xml"/>
  <Override PartName="/ppt/notesSlides/notesSlide512.xml" ContentType="application/vnd.openxmlformats-officedocument.presentationml.notesSlide+xml"/>
  <Override PartName="/ppt/notesSlides/notesSlide513.xml" ContentType="application/vnd.openxmlformats-officedocument.presentationml.notesSlide+xml"/>
  <Override PartName="/ppt/notesSlides/notesSlide514.xml" ContentType="application/vnd.openxmlformats-officedocument.presentationml.notesSlide+xml"/>
  <Override PartName="/ppt/notesSlides/notesSlide515.xml" ContentType="application/vnd.openxmlformats-officedocument.presentationml.notesSlide+xml"/>
  <Override PartName="/ppt/notesSlides/notesSlide516.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s/slide337.xml" ContentType="application/vnd.openxmlformats-officedocument.presentationml.slide+xml"/>
  <Override PartName="/ppt/slides/slide338.xml" ContentType="application/vnd.openxmlformats-officedocument.presentationml.slide+xml"/>
  <Override PartName="/ppt/slides/slide339.xml" ContentType="application/vnd.openxmlformats-officedocument.presentationml.slide+xml"/>
  <Override PartName="/ppt/slides/slide34.xml" ContentType="application/vnd.openxmlformats-officedocument.presentationml.slide+xml"/>
  <Override PartName="/ppt/slides/slide340.xml" ContentType="application/vnd.openxmlformats-officedocument.presentationml.slide+xml"/>
  <Override PartName="/ppt/slides/slide341.xml" ContentType="application/vnd.openxmlformats-officedocument.presentationml.slide+xml"/>
  <Override PartName="/ppt/slides/slide342.xml" ContentType="application/vnd.openxmlformats-officedocument.presentationml.slide+xml"/>
  <Override PartName="/ppt/slides/slide343.xml" ContentType="application/vnd.openxmlformats-officedocument.presentationml.slide+xml"/>
  <Override PartName="/ppt/slides/slide344.xml" ContentType="application/vnd.openxmlformats-officedocument.presentationml.slide+xml"/>
  <Override PartName="/ppt/slides/slide345.xml" ContentType="application/vnd.openxmlformats-officedocument.presentationml.slide+xml"/>
  <Override PartName="/ppt/slides/slide346.xml" ContentType="application/vnd.openxmlformats-officedocument.presentationml.slide+xml"/>
  <Override PartName="/ppt/slides/slide347.xml" ContentType="application/vnd.openxmlformats-officedocument.presentationml.slide+xml"/>
  <Override PartName="/ppt/slides/slide348.xml" ContentType="application/vnd.openxmlformats-officedocument.presentationml.slide+xml"/>
  <Override PartName="/ppt/slides/slide349.xml" ContentType="application/vnd.openxmlformats-officedocument.presentationml.slide+xml"/>
  <Override PartName="/ppt/slides/slide35.xml" ContentType="application/vnd.openxmlformats-officedocument.presentationml.slide+xml"/>
  <Override PartName="/ppt/slides/slide350.xml" ContentType="application/vnd.openxmlformats-officedocument.presentationml.slide+xml"/>
  <Override PartName="/ppt/slides/slide351.xml" ContentType="application/vnd.openxmlformats-officedocument.presentationml.slide+xml"/>
  <Override PartName="/ppt/slides/slide352.xml" ContentType="application/vnd.openxmlformats-officedocument.presentationml.slide+xml"/>
  <Override PartName="/ppt/slides/slide353.xml" ContentType="application/vnd.openxmlformats-officedocument.presentationml.slide+xml"/>
  <Override PartName="/ppt/slides/slide354.xml" ContentType="application/vnd.openxmlformats-officedocument.presentationml.slide+xml"/>
  <Override PartName="/ppt/slides/slide355.xml" ContentType="application/vnd.openxmlformats-officedocument.presentationml.slide+xml"/>
  <Override PartName="/ppt/slides/slide356.xml" ContentType="application/vnd.openxmlformats-officedocument.presentationml.slide+xml"/>
  <Override PartName="/ppt/slides/slide357.xml" ContentType="application/vnd.openxmlformats-officedocument.presentationml.slide+xml"/>
  <Override PartName="/ppt/slides/slide358.xml" ContentType="application/vnd.openxmlformats-officedocument.presentationml.slide+xml"/>
  <Override PartName="/ppt/slides/slide359.xml" ContentType="application/vnd.openxmlformats-officedocument.presentationml.slide+xml"/>
  <Override PartName="/ppt/slides/slide36.xml" ContentType="application/vnd.openxmlformats-officedocument.presentationml.slide+xml"/>
  <Override PartName="/ppt/slides/slide360.xml" ContentType="application/vnd.openxmlformats-officedocument.presentationml.slide+xml"/>
  <Override PartName="/ppt/slides/slide361.xml" ContentType="application/vnd.openxmlformats-officedocument.presentationml.slide+xml"/>
  <Override PartName="/ppt/slides/slide362.xml" ContentType="application/vnd.openxmlformats-officedocument.presentationml.slide+xml"/>
  <Override PartName="/ppt/slides/slide363.xml" ContentType="application/vnd.openxmlformats-officedocument.presentationml.slide+xml"/>
  <Override PartName="/ppt/slides/slide364.xml" ContentType="application/vnd.openxmlformats-officedocument.presentationml.slide+xml"/>
  <Override PartName="/ppt/slides/slide365.xml" ContentType="application/vnd.openxmlformats-officedocument.presentationml.slide+xml"/>
  <Override PartName="/ppt/slides/slide366.xml" ContentType="application/vnd.openxmlformats-officedocument.presentationml.slide+xml"/>
  <Override PartName="/ppt/slides/slide367.xml" ContentType="application/vnd.openxmlformats-officedocument.presentationml.slide+xml"/>
  <Override PartName="/ppt/slides/slide368.xml" ContentType="application/vnd.openxmlformats-officedocument.presentationml.slide+xml"/>
  <Override PartName="/ppt/slides/slide369.xml" ContentType="application/vnd.openxmlformats-officedocument.presentationml.slide+xml"/>
  <Override PartName="/ppt/slides/slide37.xml" ContentType="application/vnd.openxmlformats-officedocument.presentationml.slide+xml"/>
  <Override PartName="/ppt/slides/slide370.xml" ContentType="application/vnd.openxmlformats-officedocument.presentationml.slide+xml"/>
  <Override PartName="/ppt/slides/slide371.xml" ContentType="application/vnd.openxmlformats-officedocument.presentationml.slide+xml"/>
  <Override PartName="/ppt/slides/slide372.xml" ContentType="application/vnd.openxmlformats-officedocument.presentationml.slide+xml"/>
  <Override PartName="/ppt/slides/slide373.xml" ContentType="application/vnd.openxmlformats-officedocument.presentationml.slide+xml"/>
  <Override PartName="/ppt/slides/slide374.xml" ContentType="application/vnd.openxmlformats-officedocument.presentationml.slide+xml"/>
  <Override PartName="/ppt/slides/slide375.xml" ContentType="application/vnd.openxmlformats-officedocument.presentationml.slide+xml"/>
  <Override PartName="/ppt/slides/slide376.xml" ContentType="application/vnd.openxmlformats-officedocument.presentationml.slide+xml"/>
  <Override PartName="/ppt/slides/slide377.xml" ContentType="application/vnd.openxmlformats-officedocument.presentationml.slide+xml"/>
  <Override PartName="/ppt/slides/slide378.xml" ContentType="application/vnd.openxmlformats-officedocument.presentationml.slide+xml"/>
  <Override PartName="/ppt/slides/slide379.xml" ContentType="application/vnd.openxmlformats-officedocument.presentationml.slide+xml"/>
  <Override PartName="/ppt/slides/slide38.xml" ContentType="application/vnd.openxmlformats-officedocument.presentationml.slide+xml"/>
  <Override PartName="/ppt/slides/slide380.xml" ContentType="application/vnd.openxmlformats-officedocument.presentationml.slide+xml"/>
  <Override PartName="/ppt/slides/slide381.xml" ContentType="application/vnd.openxmlformats-officedocument.presentationml.slide+xml"/>
  <Override PartName="/ppt/slides/slide382.xml" ContentType="application/vnd.openxmlformats-officedocument.presentationml.slide+xml"/>
  <Override PartName="/ppt/slides/slide383.xml" ContentType="application/vnd.openxmlformats-officedocument.presentationml.slide+xml"/>
  <Override PartName="/ppt/slides/slide384.xml" ContentType="application/vnd.openxmlformats-officedocument.presentationml.slide+xml"/>
  <Override PartName="/ppt/slides/slide385.xml" ContentType="application/vnd.openxmlformats-officedocument.presentationml.slide+xml"/>
  <Override PartName="/ppt/slides/slide386.xml" ContentType="application/vnd.openxmlformats-officedocument.presentationml.slide+xml"/>
  <Override PartName="/ppt/slides/slide387.xml" ContentType="application/vnd.openxmlformats-officedocument.presentationml.slide+xml"/>
  <Override PartName="/ppt/slides/slide388.xml" ContentType="application/vnd.openxmlformats-officedocument.presentationml.slide+xml"/>
  <Override PartName="/ppt/slides/slide389.xml" ContentType="application/vnd.openxmlformats-officedocument.presentationml.slide+xml"/>
  <Override PartName="/ppt/slides/slide39.xml" ContentType="application/vnd.openxmlformats-officedocument.presentationml.slide+xml"/>
  <Override PartName="/ppt/slides/slide390.xml" ContentType="application/vnd.openxmlformats-officedocument.presentationml.slide+xml"/>
  <Override PartName="/ppt/slides/slide391.xml" ContentType="application/vnd.openxmlformats-officedocument.presentationml.slide+xml"/>
  <Override PartName="/ppt/slides/slide392.xml" ContentType="application/vnd.openxmlformats-officedocument.presentationml.slide+xml"/>
  <Override PartName="/ppt/slides/slide393.xml" ContentType="application/vnd.openxmlformats-officedocument.presentationml.slide+xml"/>
  <Override PartName="/ppt/slides/slide394.xml" ContentType="application/vnd.openxmlformats-officedocument.presentationml.slide+xml"/>
  <Override PartName="/ppt/slides/slide395.xml" ContentType="application/vnd.openxmlformats-officedocument.presentationml.slide+xml"/>
  <Override PartName="/ppt/slides/slide396.xml" ContentType="application/vnd.openxmlformats-officedocument.presentationml.slide+xml"/>
  <Override PartName="/ppt/slides/slide397.xml" ContentType="application/vnd.openxmlformats-officedocument.presentationml.slide+xml"/>
  <Override PartName="/ppt/slides/slide398.xml" ContentType="application/vnd.openxmlformats-officedocument.presentationml.slide+xml"/>
  <Override PartName="/ppt/slides/slide39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00.xml" ContentType="application/vnd.openxmlformats-officedocument.presentationml.slide+xml"/>
  <Override PartName="/ppt/slides/slide401.xml" ContentType="application/vnd.openxmlformats-officedocument.presentationml.slide+xml"/>
  <Override PartName="/ppt/slides/slide402.xml" ContentType="application/vnd.openxmlformats-officedocument.presentationml.slide+xml"/>
  <Override PartName="/ppt/slides/slide403.xml" ContentType="application/vnd.openxmlformats-officedocument.presentationml.slide+xml"/>
  <Override PartName="/ppt/slides/slide404.xml" ContentType="application/vnd.openxmlformats-officedocument.presentationml.slide+xml"/>
  <Override PartName="/ppt/slides/slide405.xml" ContentType="application/vnd.openxmlformats-officedocument.presentationml.slide+xml"/>
  <Override PartName="/ppt/slides/slide406.xml" ContentType="application/vnd.openxmlformats-officedocument.presentationml.slide+xml"/>
  <Override PartName="/ppt/slides/slide407.xml" ContentType="application/vnd.openxmlformats-officedocument.presentationml.slide+xml"/>
  <Override PartName="/ppt/slides/slide408.xml" ContentType="application/vnd.openxmlformats-officedocument.presentationml.slide+xml"/>
  <Override PartName="/ppt/slides/slide409.xml" ContentType="application/vnd.openxmlformats-officedocument.presentationml.slide+xml"/>
  <Override PartName="/ppt/slides/slide41.xml" ContentType="application/vnd.openxmlformats-officedocument.presentationml.slide+xml"/>
  <Override PartName="/ppt/slides/slide410.xml" ContentType="application/vnd.openxmlformats-officedocument.presentationml.slide+xml"/>
  <Override PartName="/ppt/slides/slide411.xml" ContentType="application/vnd.openxmlformats-officedocument.presentationml.slide+xml"/>
  <Override PartName="/ppt/slides/slide412.xml" ContentType="application/vnd.openxmlformats-officedocument.presentationml.slide+xml"/>
  <Override PartName="/ppt/slides/slide413.xml" ContentType="application/vnd.openxmlformats-officedocument.presentationml.slide+xml"/>
  <Override PartName="/ppt/slides/slide414.xml" ContentType="application/vnd.openxmlformats-officedocument.presentationml.slide+xml"/>
  <Override PartName="/ppt/slides/slide415.xml" ContentType="application/vnd.openxmlformats-officedocument.presentationml.slide+xml"/>
  <Override PartName="/ppt/slides/slide416.xml" ContentType="application/vnd.openxmlformats-officedocument.presentationml.slide+xml"/>
  <Override PartName="/ppt/slides/slide417.xml" ContentType="application/vnd.openxmlformats-officedocument.presentationml.slide+xml"/>
  <Override PartName="/ppt/slides/slide418.xml" ContentType="application/vnd.openxmlformats-officedocument.presentationml.slide+xml"/>
  <Override PartName="/ppt/slides/slide419.xml" ContentType="application/vnd.openxmlformats-officedocument.presentationml.slide+xml"/>
  <Override PartName="/ppt/slides/slide42.xml" ContentType="application/vnd.openxmlformats-officedocument.presentationml.slide+xml"/>
  <Override PartName="/ppt/slides/slide420.xml" ContentType="application/vnd.openxmlformats-officedocument.presentationml.slide+xml"/>
  <Override PartName="/ppt/slides/slide421.xml" ContentType="application/vnd.openxmlformats-officedocument.presentationml.slide+xml"/>
  <Override PartName="/ppt/slides/slide422.xml" ContentType="application/vnd.openxmlformats-officedocument.presentationml.slide+xml"/>
  <Override PartName="/ppt/slides/slide423.xml" ContentType="application/vnd.openxmlformats-officedocument.presentationml.slide+xml"/>
  <Override PartName="/ppt/slides/slide424.xml" ContentType="application/vnd.openxmlformats-officedocument.presentationml.slide+xml"/>
  <Override PartName="/ppt/slides/slide425.xml" ContentType="application/vnd.openxmlformats-officedocument.presentationml.slide+xml"/>
  <Override PartName="/ppt/slides/slide426.xml" ContentType="application/vnd.openxmlformats-officedocument.presentationml.slide+xml"/>
  <Override PartName="/ppt/slides/slide427.xml" ContentType="application/vnd.openxmlformats-officedocument.presentationml.slide+xml"/>
  <Override PartName="/ppt/slides/slide428.xml" ContentType="application/vnd.openxmlformats-officedocument.presentationml.slide+xml"/>
  <Override PartName="/ppt/slides/slide429.xml" ContentType="application/vnd.openxmlformats-officedocument.presentationml.slide+xml"/>
  <Override PartName="/ppt/slides/slide43.xml" ContentType="application/vnd.openxmlformats-officedocument.presentationml.slide+xml"/>
  <Override PartName="/ppt/slides/slide430.xml" ContentType="application/vnd.openxmlformats-officedocument.presentationml.slide+xml"/>
  <Override PartName="/ppt/slides/slide431.xml" ContentType="application/vnd.openxmlformats-officedocument.presentationml.slide+xml"/>
  <Override PartName="/ppt/slides/slide432.xml" ContentType="application/vnd.openxmlformats-officedocument.presentationml.slide+xml"/>
  <Override PartName="/ppt/slides/slide433.xml" ContentType="application/vnd.openxmlformats-officedocument.presentationml.slide+xml"/>
  <Override PartName="/ppt/slides/slide434.xml" ContentType="application/vnd.openxmlformats-officedocument.presentationml.slide+xml"/>
  <Override PartName="/ppt/slides/slide435.xml" ContentType="application/vnd.openxmlformats-officedocument.presentationml.slide+xml"/>
  <Override PartName="/ppt/slides/slide436.xml" ContentType="application/vnd.openxmlformats-officedocument.presentationml.slide+xml"/>
  <Override PartName="/ppt/slides/slide437.xml" ContentType="application/vnd.openxmlformats-officedocument.presentationml.slide+xml"/>
  <Override PartName="/ppt/slides/slide438.xml" ContentType="application/vnd.openxmlformats-officedocument.presentationml.slide+xml"/>
  <Override PartName="/ppt/slides/slide439.xml" ContentType="application/vnd.openxmlformats-officedocument.presentationml.slide+xml"/>
  <Override PartName="/ppt/slides/slide44.xml" ContentType="application/vnd.openxmlformats-officedocument.presentationml.slide+xml"/>
  <Override PartName="/ppt/slides/slide440.xml" ContentType="application/vnd.openxmlformats-officedocument.presentationml.slide+xml"/>
  <Override PartName="/ppt/slides/slide441.xml" ContentType="application/vnd.openxmlformats-officedocument.presentationml.slide+xml"/>
  <Override PartName="/ppt/slides/slide442.xml" ContentType="application/vnd.openxmlformats-officedocument.presentationml.slide+xml"/>
  <Override PartName="/ppt/slides/slide443.xml" ContentType="application/vnd.openxmlformats-officedocument.presentationml.slide+xml"/>
  <Override PartName="/ppt/slides/slide444.xml" ContentType="application/vnd.openxmlformats-officedocument.presentationml.slide+xml"/>
  <Override PartName="/ppt/slides/slide445.xml" ContentType="application/vnd.openxmlformats-officedocument.presentationml.slide+xml"/>
  <Override PartName="/ppt/slides/slide446.xml" ContentType="application/vnd.openxmlformats-officedocument.presentationml.slide+xml"/>
  <Override PartName="/ppt/slides/slide447.xml" ContentType="application/vnd.openxmlformats-officedocument.presentationml.slide+xml"/>
  <Override PartName="/ppt/slides/slide448.xml" ContentType="application/vnd.openxmlformats-officedocument.presentationml.slide+xml"/>
  <Override PartName="/ppt/slides/slide449.xml" ContentType="application/vnd.openxmlformats-officedocument.presentationml.slide+xml"/>
  <Override PartName="/ppt/slides/slide45.xml" ContentType="application/vnd.openxmlformats-officedocument.presentationml.slide+xml"/>
  <Override PartName="/ppt/slides/slide450.xml" ContentType="application/vnd.openxmlformats-officedocument.presentationml.slide+xml"/>
  <Override PartName="/ppt/slides/slide451.xml" ContentType="application/vnd.openxmlformats-officedocument.presentationml.slide+xml"/>
  <Override PartName="/ppt/slides/slide452.xml" ContentType="application/vnd.openxmlformats-officedocument.presentationml.slide+xml"/>
  <Override PartName="/ppt/slides/slide453.xml" ContentType="application/vnd.openxmlformats-officedocument.presentationml.slide+xml"/>
  <Override PartName="/ppt/slides/slide454.xml" ContentType="application/vnd.openxmlformats-officedocument.presentationml.slide+xml"/>
  <Override PartName="/ppt/slides/slide455.xml" ContentType="application/vnd.openxmlformats-officedocument.presentationml.slide+xml"/>
  <Override PartName="/ppt/slides/slide456.xml" ContentType="application/vnd.openxmlformats-officedocument.presentationml.slide+xml"/>
  <Override PartName="/ppt/slides/slide457.xml" ContentType="application/vnd.openxmlformats-officedocument.presentationml.slide+xml"/>
  <Override PartName="/ppt/slides/slide458.xml" ContentType="application/vnd.openxmlformats-officedocument.presentationml.slide+xml"/>
  <Override PartName="/ppt/slides/slide459.xml" ContentType="application/vnd.openxmlformats-officedocument.presentationml.slide+xml"/>
  <Override PartName="/ppt/slides/slide46.xml" ContentType="application/vnd.openxmlformats-officedocument.presentationml.slide+xml"/>
  <Override PartName="/ppt/slides/slide460.xml" ContentType="application/vnd.openxmlformats-officedocument.presentationml.slide+xml"/>
  <Override PartName="/ppt/slides/slide461.xml" ContentType="application/vnd.openxmlformats-officedocument.presentationml.slide+xml"/>
  <Override PartName="/ppt/slides/slide462.xml" ContentType="application/vnd.openxmlformats-officedocument.presentationml.slide+xml"/>
  <Override PartName="/ppt/slides/slide463.xml" ContentType="application/vnd.openxmlformats-officedocument.presentationml.slide+xml"/>
  <Override PartName="/ppt/slides/slide464.xml" ContentType="application/vnd.openxmlformats-officedocument.presentationml.slide+xml"/>
  <Override PartName="/ppt/slides/slide465.xml" ContentType="application/vnd.openxmlformats-officedocument.presentationml.slide+xml"/>
  <Override PartName="/ppt/slides/slide466.xml" ContentType="application/vnd.openxmlformats-officedocument.presentationml.slide+xml"/>
  <Override PartName="/ppt/slides/slide467.xml" ContentType="application/vnd.openxmlformats-officedocument.presentationml.slide+xml"/>
  <Override PartName="/ppt/slides/slide468.xml" ContentType="application/vnd.openxmlformats-officedocument.presentationml.slide+xml"/>
  <Override PartName="/ppt/slides/slide469.xml" ContentType="application/vnd.openxmlformats-officedocument.presentationml.slide+xml"/>
  <Override PartName="/ppt/slides/slide47.xml" ContentType="application/vnd.openxmlformats-officedocument.presentationml.slide+xml"/>
  <Override PartName="/ppt/slides/slide470.xml" ContentType="application/vnd.openxmlformats-officedocument.presentationml.slide+xml"/>
  <Override PartName="/ppt/slides/slide471.xml" ContentType="application/vnd.openxmlformats-officedocument.presentationml.slide+xml"/>
  <Override PartName="/ppt/slides/slide472.xml" ContentType="application/vnd.openxmlformats-officedocument.presentationml.slide+xml"/>
  <Override PartName="/ppt/slides/slide473.xml" ContentType="application/vnd.openxmlformats-officedocument.presentationml.slide+xml"/>
  <Override PartName="/ppt/slides/slide474.xml" ContentType="application/vnd.openxmlformats-officedocument.presentationml.slide+xml"/>
  <Override PartName="/ppt/slides/slide475.xml" ContentType="application/vnd.openxmlformats-officedocument.presentationml.slide+xml"/>
  <Override PartName="/ppt/slides/slide476.xml" ContentType="application/vnd.openxmlformats-officedocument.presentationml.slide+xml"/>
  <Override PartName="/ppt/slides/slide477.xml" ContentType="application/vnd.openxmlformats-officedocument.presentationml.slide+xml"/>
  <Override PartName="/ppt/slides/slide478.xml" ContentType="application/vnd.openxmlformats-officedocument.presentationml.slide+xml"/>
  <Override PartName="/ppt/slides/slide479.xml" ContentType="application/vnd.openxmlformats-officedocument.presentationml.slide+xml"/>
  <Override PartName="/ppt/slides/slide48.xml" ContentType="application/vnd.openxmlformats-officedocument.presentationml.slide+xml"/>
  <Override PartName="/ppt/slides/slide480.xml" ContentType="application/vnd.openxmlformats-officedocument.presentationml.slide+xml"/>
  <Override PartName="/ppt/slides/slide481.xml" ContentType="application/vnd.openxmlformats-officedocument.presentationml.slide+xml"/>
  <Override PartName="/ppt/slides/slide482.xml" ContentType="application/vnd.openxmlformats-officedocument.presentationml.slide+xml"/>
  <Override PartName="/ppt/slides/slide483.xml" ContentType="application/vnd.openxmlformats-officedocument.presentationml.slide+xml"/>
  <Override PartName="/ppt/slides/slide484.xml" ContentType="application/vnd.openxmlformats-officedocument.presentationml.slide+xml"/>
  <Override PartName="/ppt/slides/slide485.xml" ContentType="application/vnd.openxmlformats-officedocument.presentationml.slide+xml"/>
  <Override PartName="/ppt/slides/slide486.xml" ContentType="application/vnd.openxmlformats-officedocument.presentationml.slide+xml"/>
  <Override PartName="/ppt/slides/slide487.xml" ContentType="application/vnd.openxmlformats-officedocument.presentationml.slide+xml"/>
  <Override PartName="/ppt/slides/slide488.xml" ContentType="application/vnd.openxmlformats-officedocument.presentationml.slide+xml"/>
  <Override PartName="/ppt/slides/slide489.xml" ContentType="application/vnd.openxmlformats-officedocument.presentationml.slide+xml"/>
  <Override PartName="/ppt/slides/slide49.xml" ContentType="application/vnd.openxmlformats-officedocument.presentationml.slide+xml"/>
  <Override PartName="/ppt/slides/slide490.xml" ContentType="application/vnd.openxmlformats-officedocument.presentationml.slide+xml"/>
  <Override PartName="/ppt/slides/slide491.xml" ContentType="application/vnd.openxmlformats-officedocument.presentationml.slide+xml"/>
  <Override PartName="/ppt/slides/slide492.xml" ContentType="application/vnd.openxmlformats-officedocument.presentationml.slide+xml"/>
  <Override PartName="/ppt/slides/slide493.xml" ContentType="application/vnd.openxmlformats-officedocument.presentationml.slide+xml"/>
  <Override PartName="/ppt/slides/slide494.xml" ContentType="application/vnd.openxmlformats-officedocument.presentationml.slide+xml"/>
  <Override PartName="/ppt/slides/slide495.xml" ContentType="application/vnd.openxmlformats-officedocument.presentationml.slide+xml"/>
  <Override PartName="/ppt/slides/slide496.xml" ContentType="application/vnd.openxmlformats-officedocument.presentationml.slide+xml"/>
  <Override PartName="/ppt/slides/slide497.xml" ContentType="application/vnd.openxmlformats-officedocument.presentationml.slide+xml"/>
  <Override PartName="/ppt/slides/slide498.xml" ContentType="application/vnd.openxmlformats-officedocument.presentationml.slide+xml"/>
  <Override PartName="/ppt/slides/slide49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00.xml" ContentType="application/vnd.openxmlformats-officedocument.presentationml.slide+xml"/>
  <Override PartName="/ppt/slides/slide501.xml" ContentType="application/vnd.openxmlformats-officedocument.presentationml.slide+xml"/>
  <Override PartName="/ppt/slides/slide502.xml" ContentType="application/vnd.openxmlformats-officedocument.presentationml.slide+xml"/>
  <Override PartName="/ppt/slides/slide503.xml" ContentType="application/vnd.openxmlformats-officedocument.presentationml.slide+xml"/>
  <Override PartName="/ppt/slides/slide504.xml" ContentType="application/vnd.openxmlformats-officedocument.presentationml.slide+xml"/>
  <Override PartName="/ppt/slides/slide505.xml" ContentType="application/vnd.openxmlformats-officedocument.presentationml.slide+xml"/>
  <Override PartName="/ppt/slides/slide506.xml" ContentType="application/vnd.openxmlformats-officedocument.presentationml.slide+xml"/>
  <Override PartName="/ppt/slides/slide507.xml" ContentType="application/vnd.openxmlformats-officedocument.presentationml.slide+xml"/>
  <Override PartName="/ppt/slides/slide508.xml" ContentType="application/vnd.openxmlformats-officedocument.presentationml.slide+xml"/>
  <Override PartName="/ppt/slides/slide509.xml" ContentType="application/vnd.openxmlformats-officedocument.presentationml.slide+xml"/>
  <Override PartName="/ppt/slides/slide51.xml" ContentType="application/vnd.openxmlformats-officedocument.presentationml.slide+xml"/>
  <Override PartName="/ppt/slides/slide510.xml" ContentType="application/vnd.openxmlformats-officedocument.presentationml.slide+xml"/>
  <Override PartName="/ppt/slides/slide511.xml" ContentType="application/vnd.openxmlformats-officedocument.presentationml.slide+xml"/>
  <Override PartName="/ppt/slides/slide512.xml" ContentType="application/vnd.openxmlformats-officedocument.presentationml.slide+xml"/>
  <Override PartName="/ppt/slides/slide513.xml" ContentType="application/vnd.openxmlformats-officedocument.presentationml.slide+xml"/>
  <Override PartName="/ppt/slides/slide514.xml" ContentType="application/vnd.openxmlformats-officedocument.presentationml.slide+xml"/>
  <Override PartName="/ppt/slides/slide515.xml" ContentType="application/vnd.openxmlformats-officedocument.presentationml.slide+xml"/>
  <Override PartName="/ppt/slides/slide516.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153"/>
    <p:sldId id="402" r:id="rId154"/>
    <p:sldId id="403" r:id="rId155"/>
    <p:sldId id="404" r:id="rId156"/>
    <p:sldId id="405" r:id="rId157"/>
    <p:sldId id="406" r:id="rId158"/>
    <p:sldId id="407" r:id="rId159"/>
    <p:sldId id="408" r:id="rId160"/>
    <p:sldId id="409" r:id="rId161"/>
    <p:sldId id="410" r:id="rId162"/>
    <p:sldId id="411" r:id="rId163"/>
    <p:sldId id="412" r:id="rId164"/>
    <p:sldId id="413" r:id="rId165"/>
    <p:sldId id="414" r:id="rId166"/>
    <p:sldId id="415" r:id="rId167"/>
    <p:sldId id="416" r:id="rId168"/>
    <p:sldId id="417" r:id="rId169"/>
    <p:sldId id="418" r:id="rId170"/>
    <p:sldId id="419" r:id="rId171"/>
    <p:sldId id="420" r:id="rId172"/>
    <p:sldId id="421" r:id="rId173"/>
    <p:sldId id="422" r:id="rId174"/>
    <p:sldId id="423" r:id="rId175"/>
    <p:sldId id="424" r:id="rId176"/>
    <p:sldId id="425" r:id="rId177"/>
    <p:sldId id="426" r:id="rId178"/>
    <p:sldId id="427" r:id="rId179"/>
    <p:sldId id="428" r:id="rId180"/>
    <p:sldId id="429" r:id="rId181"/>
    <p:sldId id="430" r:id="rId182"/>
    <p:sldId id="431" r:id="rId183"/>
    <p:sldId id="432" r:id="rId184"/>
    <p:sldId id="433" r:id="rId185"/>
    <p:sldId id="434" r:id="rId186"/>
    <p:sldId id="435" r:id="rId187"/>
    <p:sldId id="436" r:id="rId188"/>
    <p:sldId id="437" r:id="rId189"/>
    <p:sldId id="438" r:id="rId190"/>
    <p:sldId id="439" r:id="rId191"/>
    <p:sldId id="440" r:id="rId192"/>
    <p:sldId id="441" r:id="rId193"/>
    <p:sldId id="442" r:id="rId194"/>
    <p:sldId id="443" r:id="rId195"/>
    <p:sldId id="444" r:id="rId196"/>
    <p:sldId id="445" r:id="rId197"/>
    <p:sldId id="446" r:id="rId198"/>
    <p:sldId id="447" r:id="rId199"/>
    <p:sldId id="448" r:id="rId200"/>
    <p:sldId id="449" r:id="rId201"/>
    <p:sldId id="450" r:id="rId202"/>
    <p:sldId id="451" r:id="rId203"/>
    <p:sldId id="452" r:id="rId204"/>
    <p:sldId id="453" r:id="rId205"/>
    <p:sldId id="454" r:id="rId206"/>
    <p:sldId id="455" r:id="rId207"/>
    <p:sldId id="456" r:id="rId208"/>
    <p:sldId id="457" r:id="rId209"/>
    <p:sldId id="458" r:id="rId210"/>
    <p:sldId id="459" r:id="rId211"/>
    <p:sldId id="460" r:id="rId212"/>
    <p:sldId id="461" r:id="rId213"/>
    <p:sldId id="462" r:id="rId214"/>
    <p:sldId id="463" r:id="rId215"/>
    <p:sldId id="464" r:id="rId216"/>
    <p:sldId id="465" r:id="rId217"/>
    <p:sldId id="466" r:id="rId218"/>
    <p:sldId id="467" r:id="rId219"/>
    <p:sldId id="468" r:id="rId220"/>
    <p:sldId id="469" r:id="rId221"/>
    <p:sldId id="470" r:id="rId222"/>
    <p:sldId id="471" r:id="rId223"/>
    <p:sldId id="472" r:id="rId224"/>
    <p:sldId id="473" r:id="rId225"/>
    <p:sldId id="474" r:id="rId226"/>
    <p:sldId id="475" r:id="rId227"/>
    <p:sldId id="476" r:id="rId228"/>
    <p:sldId id="477" r:id="rId229"/>
    <p:sldId id="478" r:id="rId230"/>
    <p:sldId id="479" r:id="rId231"/>
    <p:sldId id="480" r:id="rId232"/>
    <p:sldId id="481" r:id="rId233"/>
    <p:sldId id="482" r:id="rId234"/>
    <p:sldId id="483" r:id="rId235"/>
    <p:sldId id="484" r:id="rId236"/>
    <p:sldId id="485" r:id="rId237"/>
    <p:sldId id="486" r:id="rId238"/>
    <p:sldId id="487" r:id="rId239"/>
    <p:sldId id="488" r:id="rId240"/>
    <p:sldId id="489" r:id="rId241"/>
    <p:sldId id="490" r:id="rId242"/>
    <p:sldId id="491" r:id="rId243"/>
    <p:sldId id="492" r:id="rId244"/>
    <p:sldId id="493" r:id="rId245"/>
    <p:sldId id="494" r:id="rId246"/>
    <p:sldId id="495" r:id="rId247"/>
    <p:sldId id="496" r:id="rId248"/>
    <p:sldId id="497" r:id="rId249"/>
    <p:sldId id="498" r:id="rId250"/>
    <p:sldId id="499" r:id="rId251"/>
    <p:sldId id="500" r:id="rId252"/>
    <p:sldId id="501" r:id="rId253"/>
    <p:sldId id="502" r:id="rId254"/>
    <p:sldId id="503" r:id="rId255"/>
    <p:sldId id="504" r:id="rId256"/>
    <p:sldId id="505" r:id="rId257"/>
    <p:sldId id="506" r:id="rId258"/>
    <p:sldId id="507" r:id="rId259"/>
    <p:sldId id="508" r:id="rId260"/>
    <p:sldId id="509" r:id="rId261"/>
    <p:sldId id="510" r:id="rId262"/>
    <p:sldId id="511" r:id="rId263"/>
    <p:sldId id="512" r:id="rId264"/>
    <p:sldId id="513" r:id="rId265"/>
    <p:sldId id="514" r:id="rId266"/>
    <p:sldId id="515" r:id="rId267"/>
    <p:sldId id="516" r:id="rId268"/>
    <p:sldId id="517" r:id="rId269"/>
    <p:sldId id="518" r:id="rId270"/>
    <p:sldId id="519" r:id="rId271"/>
    <p:sldId id="520" r:id="rId272"/>
    <p:sldId id="521" r:id="rId273"/>
    <p:sldId id="522" r:id="rId274"/>
    <p:sldId id="523" r:id="rId275"/>
    <p:sldId id="524" r:id="rId276"/>
    <p:sldId id="525" r:id="rId277"/>
    <p:sldId id="526" r:id="rId278"/>
    <p:sldId id="527" r:id="rId279"/>
    <p:sldId id="528" r:id="rId280"/>
    <p:sldId id="529" r:id="rId281"/>
    <p:sldId id="530" r:id="rId282"/>
    <p:sldId id="531" r:id="rId283"/>
    <p:sldId id="532" r:id="rId284"/>
    <p:sldId id="533" r:id="rId285"/>
    <p:sldId id="534" r:id="rId286"/>
    <p:sldId id="535" r:id="rId287"/>
    <p:sldId id="536" r:id="rId288"/>
    <p:sldId id="537" r:id="rId289"/>
    <p:sldId id="538" r:id="rId290"/>
    <p:sldId id="539" r:id="rId291"/>
    <p:sldId id="540" r:id="rId292"/>
    <p:sldId id="541" r:id="rId293"/>
    <p:sldId id="542" r:id="rId294"/>
    <p:sldId id="543" r:id="rId295"/>
    <p:sldId id="544" r:id="rId296"/>
    <p:sldId id="545" r:id="rId297"/>
    <p:sldId id="546" r:id="rId298"/>
    <p:sldId id="547" r:id="rId299"/>
    <p:sldId id="548" r:id="rId300"/>
    <p:sldId id="549" r:id="rId301"/>
    <p:sldId id="550" r:id="rId302"/>
    <p:sldId id="551" r:id="rId303"/>
    <p:sldId id="552" r:id="rId304"/>
    <p:sldId id="553" r:id="rId305"/>
    <p:sldId id="554" r:id="rId306"/>
    <p:sldId id="555" r:id="rId307"/>
    <p:sldId id="556" r:id="rId308"/>
    <p:sldId id="557" r:id="rId309"/>
    <p:sldId id="558" r:id="rId310"/>
    <p:sldId id="559" r:id="rId311"/>
    <p:sldId id="560" r:id="rId312"/>
    <p:sldId id="561" r:id="rId313"/>
    <p:sldId id="562" r:id="rId314"/>
    <p:sldId id="563" r:id="rId315"/>
    <p:sldId id="564" r:id="rId316"/>
    <p:sldId id="565" r:id="rId317"/>
    <p:sldId id="566" r:id="rId318"/>
    <p:sldId id="567" r:id="rId319"/>
    <p:sldId id="568" r:id="rId320"/>
    <p:sldId id="569" r:id="rId321"/>
    <p:sldId id="570" r:id="rId322"/>
    <p:sldId id="571" r:id="rId323"/>
    <p:sldId id="572" r:id="rId324"/>
    <p:sldId id="573" r:id="rId325"/>
    <p:sldId id="574" r:id="rId326"/>
    <p:sldId id="575" r:id="rId327"/>
    <p:sldId id="576" r:id="rId328"/>
    <p:sldId id="577" r:id="rId329"/>
    <p:sldId id="578" r:id="rId330"/>
    <p:sldId id="579" r:id="rId331"/>
    <p:sldId id="580" r:id="rId332"/>
    <p:sldId id="581" r:id="rId333"/>
    <p:sldId id="582" r:id="rId334"/>
    <p:sldId id="583" r:id="rId335"/>
    <p:sldId id="584" r:id="rId336"/>
    <p:sldId id="585" r:id="rId337"/>
    <p:sldId id="586" r:id="rId338"/>
    <p:sldId id="587" r:id="rId339"/>
    <p:sldId id="588" r:id="rId340"/>
    <p:sldId id="589" r:id="rId341"/>
    <p:sldId id="590" r:id="rId342"/>
    <p:sldId id="591" r:id="rId343"/>
    <p:sldId id="592" r:id="rId344"/>
    <p:sldId id="593" r:id="rId345"/>
    <p:sldId id="594" r:id="rId346"/>
    <p:sldId id="595" r:id="rId347"/>
    <p:sldId id="596" r:id="rId348"/>
    <p:sldId id="597" r:id="rId349"/>
    <p:sldId id="598" r:id="rId350"/>
    <p:sldId id="599" r:id="rId351"/>
    <p:sldId id="600" r:id="rId352"/>
    <p:sldId id="601" r:id="rId353"/>
    <p:sldId id="602" r:id="rId354"/>
    <p:sldId id="603" r:id="rId355"/>
    <p:sldId id="604" r:id="rId356"/>
    <p:sldId id="605" r:id="rId357"/>
    <p:sldId id="606" r:id="rId358"/>
    <p:sldId id="607" r:id="rId359"/>
    <p:sldId id="608" r:id="rId360"/>
    <p:sldId id="609" r:id="rId361"/>
    <p:sldId id="610" r:id="rId362"/>
    <p:sldId id="611" r:id="rId363"/>
    <p:sldId id="612" r:id="rId364"/>
    <p:sldId id="613" r:id="rId365"/>
    <p:sldId id="614" r:id="rId366"/>
    <p:sldId id="615" r:id="rId367"/>
    <p:sldId id="616" r:id="rId368"/>
    <p:sldId id="617" r:id="rId369"/>
    <p:sldId id="618" r:id="rId370"/>
    <p:sldId id="619" r:id="rId371"/>
    <p:sldId id="620" r:id="rId372"/>
    <p:sldId id="621" r:id="rId373"/>
    <p:sldId id="622" r:id="rId374"/>
    <p:sldId id="623" r:id="rId375"/>
    <p:sldId id="624" r:id="rId376"/>
    <p:sldId id="625" r:id="rId377"/>
    <p:sldId id="626" r:id="rId378"/>
    <p:sldId id="627" r:id="rId379"/>
    <p:sldId id="628" r:id="rId380"/>
    <p:sldId id="629" r:id="rId381"/>
    <p:sldId id="630" r:id="rId382"/>
    <p:sldId id="631" r:id="rId383"/>
    <p:sldId id="632" r:id="rId384"/>
    <p:sldId id="633" r:id="rId385"/>
    <p:sldId id="634" r:id="rId386"/>
    <p:sldId id="635" r:id="rId387"/>
    <p:sldId id="636" r:id="rId388"/>
    <p:sldId id="637" r:id="rId389"/>
    <p:sldId id="638" r:id="rId390"/>
    <p:sldId id="639" r:id="rId391"/>
    <p:sldId id="640" r:id="rId392"/>
    <p:sldId id="641" r:id="rId393"/>
    <p:sldId id="642" r:id="rId394"/>
    <p:sldId id="643" r:id="rId395"/>
    <p:sldId id="644" r:id="rId396"/>
    <p:sldId id="645" r:id="rId397"/>
    <p:sldId id="646" r:id="rId398"/>
    <p:sldId id="647" r:id="rId399"/>
    <p:sldId id="648" r:id="rId400"/>
    <p:sldId id="649" r:id="rId401"/>
    <p:sldId id="650" r:id="rId402"/>
    <p:sldId id="651" r:id="rId403"/>
    <p:sldId id="652" r:id="rId404"/>
    <p:sldId id="653" r:id="rId405"/>
    <p:sldId id="654" r:id="rId406"/>
    <p:sldId id="655" r:id="rId407"/>
    <p:sldId id="656" r:id="rId408"/>
    <p:sldId id="657" r:id="rId409"/>
    <p:sldId id="658" r:id="rId410"/>
    <p:sldId id="659" r:id="rId411"/>
    <p:sldId id="660" r:id="rId412"/>
    <p:sldId id="661" r:id="rId413"/>
    <p:sldId id="662" r:id="rId414"/>
    <p:sldId id="663" r:id="rId415"/>
    <p:sldId id="664" r:id="rId416"/>
    <p:sldId id="665" r:id="rId417"/>
    <p:sldId id="666" r:id="rId418"/>
    <p:sldId id="667" r:id="rId419"/>
    <p:sldId id="668" r:id="rId420"/>
    <p:sldId id="669" r:id="rId421"/>
    <p:sldId id="670" r:id="rId422"/>
    <p:sldId id="671" r:id="rId423"/>
    <p:sldId id="672" r:id="rId424"/>
    <p:sldId id="673" r:id="rId425"/>
    <p:sldId id="674" r:id="rId426"/>
    <p:sldId id="675" r:id="rId427"/>
    <p:sldId id="676" r:id="rId428"/>
    <p:sldId id="677" r:id="rId429"/>
    <p:sldId id="678" r:id="rId430"/>
    <p:sldId id="679" r:id="rId431"/>
    <p:sldId id="680" r:id="rId432"/>
    <p:sldId id="681" r:id="rId433"/>
    <p:sldId id="682" r:id="rId434"/>
    <p:sldId id="683" r:id="rId435"/>
    <p:sldId id="684" r:id="rId436"/>
    <p:sldId id="685" r:id="rId437"/>
    <p:sldId id="686" r:id="rId438"/>
    <p:sldId id="687" r:id="rId439"/>
    <p:sldId id="688" r:id="rId440"/>
    <p:sldId id="689" r:id="rId441"/>
    <p:sldId id="690" r:id="rId442"/>
    <p:sldId id="691" r:id="rId443"/>
    <p:sldId id="692" r:id="rId444"/>
    <p:sldId id="693" r:id="rId445"/>
    <p:sldId id="694" r:id="rId446"/>
    <p:sldId id="695" r:id="rId447"/>
    <p:sldId id="696" r:id="rId448"/>
    <p:sldId id="697" r:id="rId449"/>
    <p:sldId id="698" r:id="rId450"/>
    <p:sldId id="699" r:id="rId451"/>
    <p:sldId id="700" r:id="rId452"/>
    <p:sldId id="701" r:id="rId453"/>
    <p:sldId id="702" r:id="rId454"/>
    <p:sldId id="703" r:id="rId455"/>
    <p:sldId id="704" r:id="rId456"/>
    <p:sldId id="705" r:id="rId457"/>
    <p:sldId id="706" r:id="rId458"/>
    <p:sldId id="707" r:id="rId459"/>
    <p:sldId id="708" r:id="rId460"/>
    <p:sldId id="709" r:id="rId461"/>
    <p:sldId id="710" r:id="rId462"/>
    <p:sldId id="711" r:id="rId463"/>
    <p:sldId id="712" r:id="rId464"/>
    <p:sldId id="713" r:id="rId465"/>
    <p:sldId id="714" r:id="rId466"/>
    <p:sldId id="715" r:id="rId467"/>
    <p:sldId id="716" r:id="rId468"/>
    <p:sldId id="717" r:id="rId469"/>
    <p:sldId id="718" r:id="rId470"/>
    <p:sldId id="719" r:id="rId471"/>
    <p:sldId id="720" r:id="rId472"/>
    <p:sldId id="721" r:id="rId473"/>
    <p:sldId id="722" r:id="rId474"/>
    <p:sldId id="723" r:id="rId475"/>
    <p:sldId id="724" r:id="rId476"/>
    <p:sldId id="725" r:id="rId477"/>
    <p:sldId id="726" r:id="rId478"/>
    <p:sldId id="727" r:id="rId479"/>
    <p:sldId id="728" r:id="rId480"/>
    <p:sldId id="729" r:id="rId481"/>
    <p:sldId id="730" r:id="rId482"/>
    <p:sldId id="731" r:id="rId483"/>
    <p:sldId id="732" r:id="rId484"/>
    <p:sldId id="733" r:id="rId485"/>
    <p:sldId id="734" r:id="rId486"/>
    <p:sldId id="735" r:id="rId487"/>
    <p:sldId id="736" r:id="rId488"/>
    <p:sldId id="737" r:id="rId489"/>
    <p:sldId id="738" r:id="rId490"/>
    <p:sldId id="739" r:id="rId491"/>
    <p:sldId id="740" r:id="rId492"/>
    <p:sldId id="741" r:id="rId493"/>
    <p:sldId id="742" r:id="rId494"/>
    <p:sldId id="743" r:id="rId495"/>
    <p:sldId id="744" r:id="rId496"/>
    <p:sldId id="745" r:id="rId497"/>
    <p:sldId id="746" r:id="rId498"/>
    <p:sldId id="747" r:id="rId499"/>
    <p:sldId id="748" r:id="rId500"/>
    <p:sldId id="749" r:id="rId501"/>
    <p:sldId id="750" r:id="rId502"/>
    <p:sldId id="751" r:id="rId503"/>
    <p:sldId id="752" r:id="rId504"/>
    <p:sldId id="753" r:id="rId505"/>
    <p:sldId id="754" r:id="rId506"/>
    <p:sldId id="755" r:id="rId507"/>
    <p:sldId id="756" r:id="rId508"/>
    <p:sldId id="757" r:id="rId509"/>
    <p:sldId id="758" r:id="rId510"/>
    <p:sldId id="759" r:id="rId511"/>
    <p:sldId id="760" r:id="rId512"/>
    <p:sldId id="761" r:id="rId513"/>
    <p:sldId id="762" r:id="rId514"/>
    <p:sldId id="763" r:id="rId515"/>
    <p:sldId id="764" r:id="rId516"/>
    <p:sldId id="765" r:id="rId517"/>
    <p:sldId id="766" r:id="rId518"/>
    <p:sldId id="767" r:id="rId519"/>
    <p:sldId id="768" r:id="rId520"/>
    <p:sldId id="769" r:id="rId521"/>
    <p:sldId id="770" r:id="rId522"/>
    <p:sldId id="771" r:id="rId523"/>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 Id="rId145" Type="http://schemas.openxmlformats.org/officeDocument/2006/relationships/slide" Target="slides/slide138.xml"/><Relationship Id="rId146" Type="http://schemas.openxmlformats.org/officeDocument/2006/relationships/slide" Target="slides/slide139.xml"/><Relationship Id="rId147" Type="http://schemas.openxmlformats.org/officeDocument/2006/relationships/slide" Target="slides/slide140.xml"/><Relationship Id="rId148" Type="http://schemas.openxmlformats.org/officeDocument/2006/relationships/slide" Target="slides/slide141.xml"/><Relationship Id="rId149" Type="http://schemas.openxmlformats.org/officeDocument/2006/relationships/slide" Target="slides/slide142.xml"/><Relationship Id="rId150" Type="http://schemas.openxmlformats.org/officeDocument/2006/relationships/slide" Target="slides/slide143.xml"/><Relationship Id="rId151" Type="http://schemas.openxmlformats.org/officeDocument/2006/relationships/slide" Target="slides/slide144.xml"/><Relationship Id="rId152" Type="http://schemas.openxmlformats.org/officeDocument/2006/relationships/slide" Target="slides/slide145.xml"/><Relationship Id="rId153" Type="http://schemas.openxmlformats.org/officeDocument/2006/relationships/slide" Target="slides/slide146.xml"/><Relationship Id="rId154" Type="http://schemas.openxmlformats.org/officeDocument/2006/relationships/slide" Target="slides/slide147.xml"/><Relationship Id="rId155" Type="http://schemas.openxmlformats.org/officeDocument/2006/relationships/slide" Target="slides/slide148.xml"/><Relationship Id="rId156" Type="http://schemas.openxmlformats.org/officeDocument/2006/relationships/slide" Target="slides/slide149.xml"/><Relationship Id="rId157" Type="http://schemas.openxmlformats.org/officeDocument/2006/relationships/slide" Target="slides/slide150.xml"/><Relationship Id="rId158" Type="http://schemas.openxmlformats.org/officeDocument/2006/relationships/slide" Target="slides/slide151.xml"/><Relationship Id="rId159" Type="http://schemas.openxmlformats.org/officeDocument/2006/relationships/slide" Target="slides/slide152.xml"/><Relationship Id="rId160" Type="http://schemas.openxmlformats.org/officeDocument/2006/relationships/slide" Target="slides/slide153.xml"/><Relationship Id="rId161" Type="http://schemas.openxmlformats.org/officeDocument/2006/relationships/slide" Target="slides/slide154.xml"/><Relationship Id="rId162" Type="http://schemas.openxmlformats.org/officeDocument/2006/relationships/slide" Target="slides/slide155.xml"/><Relationship Id="rId163" Type="http://schemas.openxmlformats.org/officeDocument/2006/relationships/slide" Target="slides/slide156.xml"/><Relationship Id="rId164" Type="http://schemas.openxmlformats.org/officeDocument/2006/relationships/slide" Target="slides/slide157.xml"/><Relationship Id="rId165" Type="http://schemas.openxmlformats.org/officeDocument/2006/relationships/slide" Target="slides/slide158.xml"/><Relationship Id="rId166" Type="http://schemas.openxmlformats.org/officeDocument/2006/relationships/slide" Target="slides/slide159.xml"/><Relationship Id="rId167" Type="http://schemas.openxmlformats.org/officeDocument/2006/relationships/slide" Target="slides/slide160.xml"/><Relationship Id="rId168" Type="http://schemas.openxmlformats.org/officeDocument/2006/relationships/slide" Target="slides/slide161.xml"/><Relationship Id="rId169" Type="http://schemas.openxmlformats.org/officeDocument/2006/relationships/slide" Target="slides/slide162.xml"/><Relationship Id="rId170" Type="http://schemas.openxmlformats.org/officeDocument/2006/relationships/slide" Target="slides/slide163.xml"/><Relationship Id="rId171" Type="http://schemas.openxmlformats.org/officeDocument/2006/relationships/slide" Target="slides/slide164.xml"/><Relationship Id="rId172" Type="http://schemas.openxmlformats.org/officeDocument/2006/relationships/slide" Target="slides/slide165.xml"/><Relationship Id="rId173" Type="http://schemas.openxmlformats.org/officeDocument/2006/relationships/slide" Target="slides/slide166.xml"/><Relationship Id="rId174" Type="http://schemas.openxmlformats.org/officeDocument/2006/relationships/slide" Target="slides/slide167.xml"/><Relationship Id="rId175" Type="http://schemas.openxmlformats.org/officeDocument/2006/relationships/slide" Target="slides/slide168.xml"/><Relationship Id="rId176" Type="http://schemas.openxmlformats.org/officeDocument/2006/relationships/slide" Target="slides/slide169.xml"/><Relationship Id="rId177" Type="http://schemas.openxmlformats.org/officeDocument/2006/relationships/slide" Target="slides/slide170.xml"/><Relationship Id="rId178" Type="http://schemas.openxmlformats.org/officeDocument/2006/relationships/slide" Target="slides/slide171.xml"/><Relationship Id="rId179" Type="http://schemas.openxmlformats.org/officeDocument/2006/relationships/slide" Target="slides/slide172.xml"/><Relationship Id="rId180" Type="http://schemas.openxmlformats.org/officeDocument/2006/relationships/slide" Target="slides/slide173.xml"/><Relationship Id="rId181" Type="http://schemas.openxmlformats.org/officeDocument/2006/relationships/slide" Target="slides/slide174.xml"/><Relationship Id="rId182" Type="http://schemas.openxmlformats.org/officeDocument/2006/relationships/slide" Target="slides/slide175.xml"/><Relationship Id="rId183" Type="http://schemas.openxmlformats.org/officeDocument/2006/relationships/slide" Target="slides/slide176.xml"/><Relationship Id="rId184" Type="http://schemas.openxmlformats.org/officeDocument/2006/relationships/slide" Target="slides/slide177.xml"/><Relationship Id="rId185" Type="http://schemas.openxmlformats.org/officeDocument/2006/relationships/slide" Target="slides/slide178.xml"/><Relationship Id="rId186" Type="http://schemas.openxmlformats.org/officeDocument/2006/relationships/slide" Target="slides/slide179.xml"/><Relationship Id="rId187" Type="http://schemas.openxmlformats.org/officeDocument/2006/relationships/slide" Target="slides/slide180.xml"/><Relationship Id="rId188" Type="http://schemas.openxmlformats.org/officeDocument/2006/relationships/slide" Target="slides/slide181.xml"/><Relationship Id="rId189" Type="http://schemas.openxmlformats.org/officeDocument/2006/relationships/slide" Target="slides/slide182.xml"/><Relationship Id="rId190" Type="http://schemas.openxmlformats.org/officeDocument/2006/relationships/slide" Target="slides/slide183.xml"/><Relationship Id="rId191" Type="http://schemas.openxmlformats.org/officeDocument/2006/relationships/slide" Target="slides/slide184.xml"/><Relationship Id="rId192" Type="http://schemas.openxmlformats.org/officeDocument/2006/relationships/slide" Target="slides/slide185.xml"/><Relationship Id="rId193" Type="http://schemas.openxmlformats.org/officeDocument/2006/relationships/slide" Target="slides/slide186.xml"/><Relationship Id="rId194" Type="http://schemas.openxmlformats.org/officeDocument/2006/relationships/slide" Target="slides/slide187.xml"/><Relationship Id="rId195" Type="http://schemas.openxmlformats.org/officeDocument/2006/relationships/slide" Target="slides/slide188.xml"/><Relationship Id="rId196" Type="http://schemas.openxmlformats.org/officeDocument/2006/relationships/slide" Target="slides/slide189.xml"/><Relationship Id="rId197" Type="http://schemas.openxmlformats.org/officeDocument/2006/relationships/slide" Target="slides/slide190.xml"/><Relationship Id="rId198" Type="http://schemas.openxmlformats.org/officeDocument/2006/relationships/slide" Target="slides/slide191.xml"/><Relationship Id="rId199" Type="http://schemas.openxmlformats.org/officeDocument/2006/relationships/slide" Target="slides/slide192.xml"/><Relationship Id="rId200" Type="http://schemas.openxmlformats.org/officeDocument/2006/relationships/slide" Target="slides/slide193.xml"/><Relationship Id="rId201" Type="http://schemas.openxmlformats.org/officeDocument/2006/relationships/slide" Target="slides/slide194.xml"/><Relationship Id="rId202" Type="http://schemas.openxmlformats.org/officeDocument/2006/relationships/slide" Target="slides/slide195.xml"/><Relationship Id="rId203" Type="http://schemas.openxmlformats.org/officeDocument/2006/relationships/slide" Target="slides/slide196.xml"/><Relationship Id="rId204" Type="http://schemas.openxmlformats.org/officeDocument/2006/relationships/slide" Target="slides/slide197.xml"/><Relationship Id="rId205" Type="http://schemas.openxmlformats.org/officeDocument/2006/relationships/slide" Target="slides/slide198.xml"/><Relationship Id="rId206" Type="http://schemas.openxmlformats.org/officeDocument/2006/relationships/slide" Target="slides/slide199.xml"/><Relationship Id="rId207" Type="http://schemas.openxmlformats.org/officeDocument/2006/relationships/slide" Target="slides/slide200.xml"/><Relationship Id="rId208" Type="http://schemas.openxmlformats.org/officeDocument/2006/relationships/slide" Target="slides/slide201.xml"/><Relationship Id="rId209" Type="http://schemas.openxmlformats.org/officeDocument/2006/relationships/slide" Target="slides/slide202.xml"/><Relationship Id="rId210" Type="http://schemas.openxmlformats.org/officeDocument/2006/relationships/slide" Target="slides/slide203.xml"/><Relationship Id="rId211" Type="http://schemas.openxmlformats.org/officeDocument/2006/relationships/slide" Target="slides/slide204.xml"/><Relationship Id="rId212" Type="http://schemas.openxmlformats.org/officeDocument/2006/relationships/slide" Target="slides/slide205.xml"/><Relationship Id="rId213" Type="http://schemas.openxmlformats.org/officeDocument/2006/relationships/slide" Target="slides/slide206.xml"/><Relationship Id="rId214" Type="http://schemas.openxmlformats.org/officeDocument/2006/relationships/slide" Target="slides/slide207.xml"/><Relationship Id="rId215" Type="http://schemas.openxmlformats.org/officeDocument/2006/relationships/slide" Target="slides/slide208.xml"/><Relationship Id="rId216" Type="http://schemas.openxmlformats.org/officeDocument/2006/relationships/slide" Target="slides/slide209.xml"/><Relationship Id="rId217" Type="http://schemas.openxmlformats.org/officeDocument/2006/relationships/slide" Target="slides/slide210.xml"/><Relationship Id="rId218" Type="http://schemas.openxmlformats.org/officeDocument/2006/relationships/slide" Target="slides/slide211.xml"/><Relationship Id="rId219" Type="http://schemas.openxmlformats.org/officeDocument/2006/relationships/slide" Target="slides/slide212.xml"/><Relationship Id="rId220" Type="http://schemas.openxmlformats.org/officeDocument/2006/relationships/slide" Target="slides/slide213.xml"/><Relationship Id="rId221" Type="http://schemas.openxmlformats.org/officeDocument/2006/relationships/slide" Target="slides/slide214.xml"/><Relationship Id="rId222" Type="http://schemas.openxmlformats.org/officeDocument/2006/relationships/slide" Target="slides/slide215.xml"/><Relationship Id="rId223" Type="http://schemas.openxmlformats.org/officeDocument/2006/relationships/slide" Target="slides/slide216.xml"/><Relationship Id="rId224" Type="http://schemas.openxmlformats.org/officeDocument/2006/relationships/slide" Target="slides/slide217.xml"/><Relationship Id="rId225" Type="http://schemas.openxmlformats.org/officeDocument/2006/relationships/slide" Target="slides/slide218.xml"/><Relationship Id="rId226" Type="http://schemas.openxmlformats.org/officeDocument/2006/relationships/slide" Target="slides/slide219.xml"/><Relationship Id="rId227" Type="http://schemas.openxmlformats.org/officeDocument/2006/relationships/slide" Target="slides/slide220.xml"/><Relationship Id="rId228" Type="http://schemas.openxmlformats.org/officeDocument/2006/relationships/slide" Target="slides/slide221.xml"/><Relationship Id="rId229" Type="http://schemas.openxmlformats.org/officeDocument/2006/relationships/slide" Target="slides/slide222.xml"/><Relationship Id="rId230" Type="http://schemas.openxmlformats.org/officeDocument/2006/relationships/slide" Target="slides/slide223.xml"/><Relationship Id="rId231" Type="http://schemas.openxmlformats.org/officeDocument/2006/relationships/slide" Target="slides/slide224.xml"/><Relationship Id="rId232" Type="http://schemas.openxmlformats.org/officeDocument/2006/relationships/slide" Target="slides/slide225.xml"/><Relationship Id="rId233" Type="http://schemas.openxmlformats.org/officeDocument/2006/relationships/slide" Target="slides/slide226.xml"/><Relationship Id="rId234" Type="http://schemas.openxmlformats.org/officeDocument/2006/relationships/slide" Target="slides/slide227.xml"/><Relationship Id="rId235" Type="http://schemas.openxmlformats.org/officeDocument/2006/relationships/slide" Target="slides/slide228.xml"/><Relationship Id="rId236" Type="http://schemas.openxmlformats.org/officeDocument/2006/relationships/slide" Target="slides/slide229.xml"/><Relationship Id="rId237" Type="http://schemas.openxmlformats.org/officeDocument/2006/relationships/slide" Target="slides/slide230.xml"/><Relationship Id="rId238" Type="http://schemas.openxmlformats.org/officeDocument/2006/relationships/slide" Target="slides/slide231.xml"/><Relationship Id="rId239" Type="http://schemas.openxmlformats.org/officeDocument/2006/relationships/slide" Target="slides/slide232.xml"/><Relationship Id="rId240" Type="http://schemas.openxmlformats.org/officeDocument/2006/relationships/slide" Target="slides/slide233.xml"/><Relationship Id="rId241" Type="http://schemas.openxmlformats.org/officeDocument/2006/relationships/slide" Target="slides/slide234.xml"/><Relationship Id="rId242" Type="http://schemas.openxmlformats.org/officeDocument/2006/relationships/slide" Target="slides/slide235.xml"/><Relationship Id="rId243" Type="http://schemas.openxmlformats.org/officeDocument/2006/relationships/slide" Target="slides/slide236.xml"/><Relationship Id="rId244" Type="http://schemas.openxmlformats.org/officeDocument/2006/relationships/slide" Target="slides/slide237.xml"/><Relationship Id="rId245" Type="http://schemas.openxmlformats.org/officeDocument/2006/relationships/slide" Target="slides/slide238.xml"/><Relationship Id="rId246" Type="http://schemas.openxmlformats.org/officeDocument/2006/relationships/slide" Target="slides/slide239.xml"/><Relationship Id="rId247" Type="http://schemas.openxmlformats.org/officeDocument/2006/relationships/slide" Target="slides/slide240.xml"/><Relationship Id="rId248" Type="http://schemas.openxmlformats.org/officeDocument/2006/relationships/slide" Target="slides/slide241.xml"/><Relationship Id="rId249" Type="http://schemas.openxmlformats.org/officeDocument/2006/relationships/slide" Target="slides/slide242.xml"/><Relationship Id="rId250" Type="http://schemas.openxmlformats.org/officeDocument/2006/relationships/slide" Target="slides/slide243.xml"/><Relationship Id="rId251" Type="http://schemas.openxmlformats.org/officeDocument/2006/relationships/slide" Target="slides/slide244.xml"/><Relationship Id="rId252" Type="http://schemas.openxmlformats.org/officeDocument/2006/relationships/slide" Target="slides/slide245.xml"/><Relationship Id="rId253" Type="http://schemas.openxmlformats.org/officeDocument/2006/relationships/slide" Target="slides/slide246.xml"/><Relationship Id="rId254" Type="http://schemas.openxmlformats.org/officeDocument/2006/relationships/slide" Target="slides/slide247.xml"/><Relationship Id="rId255" Type="http://schemas.openxmlformats.org/officeDocument/2006/relationships/slide" Target="slides/slide248.xml"/><Relationship Id="rId256" Type="http://schemas.openxmlformats.org/officeDocument/2006/relationships/slide" Target="slides/slide249.xml"/><Relationship Id="rId257" Type="http://schemas.openxmlformats.org/officeDocument/2006/relationships/slide" Target="slides/slide250.xml"/><Relationship Id="rId258" Type="http://schemas.openxmlformats.org/officeDocument/2006/relationships/slide" Target="slides/slide251.xml"/><Relationship Id="rId259" Type="http://schemas.openxmlformats.org/officeDocument/2006/relationships/slide" Target="slides/slide252.xml"/><Relationship Id="rId260" Type="http://schemas.openxmlformats.org/officeDocument/2006/relationships/slide" Target="slides/slide253.xml"/><Relationship Id="rId261" Type="http://schemas.openxmlformats.org/officeDocument/2006/relationships/slide" Target="slides/slide254.xml"/><Relationship Id="rId262" Type="http://schemas.openxmlformats.org/officeDocument/2006/relationships/slide" Target="slides/slide255.xml"/><Relationship Id="rId263" Type="http://schemas.openxmlformats.org/officeDocument/2006/relationships/slide" Target="slides/slide256.xml"/><Relationship Id="rId264" Type="http://schemas.openxmlformats.org/officeDocument/2006/relationships/slide" Target="slides/slide257.xml"/><Relationship Id="rId265" Type="http://schemas.openxmlformats.org/officeDocument/2006/relationships/slide" Target="slides/slide258.xml"/><Relationship Id="rId266" Type="http://schemas.openxmlformats.org/officeDocument/2006/relationships/slide" Target="slides/slide259.xml"/><Relationship Id="rId267" Type="http://schemas.openxmlformats.org/officeDocument/2006/relationships/slide" Target="slides/slide260.xml"/><Relationship Id="rId268" Type="http://schemas.openxmlformats.org/officeDocument/2006/relationships/slide" Target="slides/slide261.xml"/><Relationship Id="rId269" Type="http://schemas.openxmlformats.org/officeDocument/2006/relationships/slide" Target="slides/slide262.xml"/><Relationship Id="rId270" Type="http://schemas.openxmlformats.org/officeDocument/2006/relationships/slide" Target="slides/slide263.xml"/><Relationship Id="rId271" Type="http://schemas.openxmlformats.org/officeDocument/2006/relationships/slide" Target="slides/slide264.xml"/><Relationship Id="rId272" Type="http://schemas.openxmlformats.org/officeDocument/2006/relationships/slide" Target="slides/slide265.xml"/><Relationship Id="rId273" Type="http://schemas.openxmlformats.org/officeDocument/2006/relationships/slide" Target="slides/slide266.xml"/><Relationship Id="rId274" Type="http://schemas.openxmlformats.org/officeDocument/2006/relationships/slide" Target="slides/slide267.xml"/><Relationship Id="rId275" Type="http://schemas.openxmlformats.org/officeDocument/2006/relationships/slide" Target="slides/slide268.xml"/><Relationship Id="rId276" Type="http://schemas.openxmlformats.org/officeDocument/2006/relationships/slide" Target="slides/slide269.xml"/><Relationship Id="rId277" Type="http://schemas.openxmlformats.org/officeDocument/2006/relationships/slide" Target="slides/slide270.xml"/><Relationship Id="rId278" Type="http://schemas.openxmlformats.org/officeDocument/2006/relationships/slide" Target="slides/slide271.xml"/><Relationship Id="rId279" Type="http://schemas.openxmlformats.org/officeDocument/2006/relationships/slide" Target="slides/slide272.xml"/><Relationship Id="rId280" Type="http://schemas.openxmlformats.org/officeDocument/2006/relationships/slide" Target="slides/slide273.xml"/><Relationship Id="rId281" Type="http://schemas.openxmlformats.org/officeDocument/2006/relationships/slide" Target="slides/slide274.xml"/><Relationship Id="rId282" Type="http://schemas.openxmlformats.org/officeDocument/2006/relationships/slide" Target="slides/slide275.xml"/><Relationship Id="rId283" Type="http://schemas.openxmlformats.org/officeDocument/2006/relationships/slide" Target="slides/slide276.xml"/><Relationship Id="rId284" Type="http://schemas.openxmlformats.org/officeDocument/2006/relationships/slide" Target="slides/slide277.xml"/><Relationship Id="rId285" Type="http://schemas.openxmlformats.org/officeDocument/2006/relationships/slide" Target="slides/slide278.xml"/><Relationship Id="rId286" Type="http://schemas.openxmlformats.org/officeDocument/2006/relationships/slide" Target="slides/slide279.xml"/><Relationship Id="rId287" Type="http://schemas.openxmlformats.org/officeDocument/2006/relationships/slide" Target="slides/slide280.xml"/><Relationship Id="rId288" Type="http://schemas.openxmlformats.org/officeDocument/2006/relationships/slide" Target="slides/slide281.xml"/><Relationship Id="rId289" Type="http://schemas.openxmlformats.org/officeDocument/2006/relationships/slide" Target="slides/slide282.xml"/><Relationship Id="rId290" Type="http://schemas.openxmlformats.org/officeDocument/2006/relationships/slide" Target="slides/slide283.xml"/><Relationship Id="rId291" Type="http://schemas.openxmlformats.org/officeDocument/2006/relationships/slide" Target="slides/slide284.xml"/><Relationship Id="rId292" Type="http://schemas.openxmlformats.org/officeDocument/2006/relationships/slide" Target="slides/slide285.xml"/><Relationship Id="rId293" Type="http://schemas.openxmlformats.org/officeDocument/2006/relationships/slide" Target="slides/slide286.xml"/><Relationship Id="rId294" Type="http://schemas.openxmlformats.org/officeDocument/2006/relationships/slide" Target="slides/slide287.xml"/><Relationship Id="rId295" Type="http://schemas.openxmlformats.org/officeDocument/2006/relationships/slide" Target="slides/slide288.xml"/><Relationship Id="rId296" Type="http://schemas.openxmlformats.org/officeDocument/2006/relationships/slide" Target="slides/slide289.xml"/><Relationship Id="rId297" Type="http://schemas.openxmlformats.org/officeDocument/2006/relationships/slide" Target="slides/slide290.xml"/><Relationship Id="rId298" Type="http://schemas.openxmlformats.org/officeDocument/2006/relationships/slide" Target="slides/slide291.xml"/><Relationship Id="rId299" Type="http://schemas.openxmlformats.org/officeDocument/2006/relationships/slide" Target="slides/slide292.xml"/><Relationship Id="rId300" Type="http://schemas.openxmlformats.org/officeDocument/2006/relationships/slide" Target="slides/slide293.xml"/><Relationship Id="rId301" Type="http://schemas.openxmlformats.org/officeDocument/2006/relationships/slide" Target="slides/slide294.xml"/><Relationship Id="rId302" Type="http://schemas.openxmlformats.org/officeDocument/2006/relationships/slide" Target="slides/slide295.xml"/><Relationship Id="rId303" Type="http://schemas.openxmlformats.org/officeDocument/2006/relationships/slide" Target="slides/slide296.xml"/><Relationship Id="rId304" Type="http://schemas.openxmlformats.org/officeDocument/2006/relationships/slide" Target="slides/slide297.xml"/><Relationship Id="rId305" Type="http://schemas.openxmlformats.org/officeDocument/2006/relationships/slide" Target="slides/slide298.xml"/><Relationship Id="rId306" Type="http://schemas.openxmlformats.org/officeDocument/2006/relationships/slide" Target="slides/slide299.xml"/><Relationship Id="rId307" Type="http://schemas.openxmlformats.org/officeDocument/2006/relationships/slide" Target="slides/slide300.xml"/><Relationship Id="rId308" Type="http://schemas.openxmlformats.org/officeDocument/2006/relationships/slide" Target="slides/slide301.xml"/><Relationship Id="rId309" Type="http://schemas.openxmlformats.org/officeDocument/2006/relationships/slide" Target="slides/slide302.xml"/><Relationship Id="rId310" Type="http://schemas.openxmlformats.org/officeDocument/2006/relationships/slide" Target="slides/slide303.xml"/><Relationship Id="rId311" Type="http://schemas.openxmlformats.org/officeDocument/2006/relationships/slide" Target="slides/slide304.xml"/><Relationship Id="rId312" Type="http://schemas.openxmlformats.org/officeDocument/2006/relationships/slide" Target="slides/slide305.xml"/><Relationship Id="rId313" Type="http://schemas.openxmlformats.org/officeDocument/2006/relationships/slide" Target="slides/slide306.xml"/><Relationship Id="rId314" Type="http://schemas.openxmlformats.org/officeDocument/2006/relationships/slide" Target="slides/slide307.xml"/><Relationship Id="rId315" Type="http://schemas.openxmlformats.org/officeDocument/2006/relationships/slide" Target="slides/slide308.xml"/><Relationship Id="rId316" Type="http://schemas.openxmlformats.org/officeDocument/2006/relationships/slide" Target="slides/slide309.xml"/><Relationship Id="rId317" Type="http://schemas.openxmlformats.org/officeDocument/2006/relationships/slide" Target="slides/slide310.xml"/><Relationship Id="rId318" Type="http://schemas.openxmlformats.org/officeDocument/2006/relationships/slide" Target="slides/slide311.xml"/><Relationship Id="rId319" Type="http://schemas.openxmlformats.org/officeDocument/2006/relationships/slide" Target="slides/slide312.xml"/><Relationship Id="rId320" Type="http://schemas.openxmlformats.org/officeDocument/2006/relationships/slide" Target="slides/slide313.xml"/><Relationship Id="rId321" Type="http://schemas.openxmlformats.org/officeDocument/2006/relationships/slide" Target="slides/slide314.xml"/><Relationship Id="rId322" Type="http://schemas.openxmlformats.org/officeDocument/2006/relationships/slide" Target="slides/slide315.xml"/><Relationship Id="rId323" Type="http://schemas.openxmlformats.org/officeDocument/2006/relationships/slide" Target="slides/slide316.xml"/><Relationship Id="rId324" Type="http://schemas.openxmlformats.org/officeDocument/2006/relationships/slide" Target="slides/slide317.xml"/><Relationship Id="rId325" Type="http://schemas.openxmlformats.org/officeDocument/2006/relationships/slide" Target="slides/slide318.xml"/><Relationship Id="rId326" Type="http://schemas.openxmlformats.org/officeDocument/2006/relationships/slide" Target="slides/slide319.xml"/><Relationship Id="rId327" Type="http://schemas.openxmlformats.org/officeDocument/2006/relationships/slide" Target="slides/slide320.xml"/><Relationship Id="rId328" Type="http://schemas.openxmlformats.org/officeDocument/2006/relationships/slide" Target="slides/slide321.xml"/><Relationship Id="rId329" Type="http://schemas.openxmlformats.org/officeDocument/2006/relationships/slide" Target="slides/slide322.xml"/><Relationship Id="rId330" Type="http://schemas.openxmlformats.org/officeDocument/2006/relationships/slide" Target="slides/slide323.xml"/><Relationship Id="rId331" Type="http://schemas.openxmlformats.org/officeDocument/2006/relationships/slide" Target="slides/slide324.xml"/><Relationship Id="rId332" Type="http://schemas.openxmlformats.org/officeDocument/2006/relationships/slide" Target="slides/slide325.xml"/><Relationship Id="rId333" Type="http://schemas.openxmlformats.org/officeDocument/2006/relationships/slide" Target="slides/slide326.xml"/><Relationship Id="rId334" Type="http://schemas.openxmlformats.org/officeDocument/2006/relationships/slide" Target="slides/slide327.xml"/><Relationship Id="rId335" Type="http://schemas.openxmlformats.org/officeDocument/2006/relationships/slide" Target="slides/slide328.xml"/><Relationship Id="rId336" Type="http://schemas.openxmlformats.org/officeDocument/2006/relationships/slide" Target="slides/slide329.xml"/><Relationship Id="rId337" Type="http://schemas.openxmlformats.org/officeDocument/2006/relationships/slide" Target="slides/slide330.xml"/><Relationship Id="rId338" Type="http://schemas.openxmlformats.org/officeDocument/2006/relationships/slide" Target="slides/slide331.xml"/><Relationship Id="rId339" Type="http://schemas.openxmlformats.org/officeDocument/2006/relationships/slide" Target="slides/slide332.xml"/><Relationship Id="rId340" Type="http://schemas.openxmlformats.org/officeDocument/2006/relationships/slide" Target="slides/slide333.xml"/><Relationship Id="rId341" Type="http://schemas.openxmlformats.org/officeDocument/2006/relationships/slide" Target="slides/slide334.xml"/><Relationship Id="rId342" Type="http://schemas.openxmlformats.org/officeDocument/2006/relationships/slide" Target="slides/slide335.xml"/><Relationship Id="rId343" Type="http://schemas.openxmlformats.org/officeDocument/2006/relationships/slide" Target="slides/slide336.xml"/><Relationship Id="rId344" Type="http://schemas.openxmlformats.org/officeDocument/2006/relationships/slide" Target="slides/slide337.xml"/><Relationship Id="rId345" Type="http://schemas.openxmlformats.org/officeDocument/2006/relationships/slide" Target="slides/slide338.xml"/><Relationship Id="rId346" Type="http://schemas.openxmlformats.org/officeDocument/2006/relationships/slide" Target="slides/slide339.xml"/><Relationship Id="rId347" Type="http://schemas.openxmlformats.org/officeDocument/2006/relationships/slide" Target="slides/slide340.xml"/><Relationship Id="rId348" Type="http://schemas.openxmlformats.org/officeDocument/2006/relationships/slide" Target="slides/slide341.xml"/><Relationship Id="rId349" Type="http://schemas.openxmlformats.org/officeDocument/2006/relationships/slide" Target="slides/slide342.xml"/><Relationship Id="rId350" Type="http://schemas.openxmlformats.org/officeDocument/2006/relationships/slide" Target="slides/slide343.xml"/><Relationship Id="rId351" Type="http://schemas.openxmlformats.org/officeDocument/2006/relationships/slide" Target="slides/slide344.xml"/><Relationship Id="rId352" Type="http://schemas.openxmlformats.org/officeDocument/2006/relationships/slide" Target="slides/slide345.xml"/><Relationship Id="rId353" Type="http://schemas.openxmlformats.org/officeDocument/2006/relationships/slide" Target="slides/slide346.xml"/><Relationship Id="rId354" Type="http://schemas.openxmlformats.org/officeDocument/2006/relationships/slide" Target="slides/slide347.xml"/><Relationship Id="rId355" Type="http://schemas.openxmlformats.org/officeDocument/2006/relationships/slide" Target="slides/slide348.xml"/><Relationship Id="rId356" Type="http://schemas.openxmlformats.org/officeDocument/2006/relationships/slide" Target="slides/slide349.xml"/><Relationship Id="rId357" Type="http://schemas.openxmlformats.org/officeDocument/2006/relationships/slide" Target="slides/slide350.xml"/><Relationship Id="rId358" Type="http://schemas.openxmlformats.org/officeDocument/2006/relationships/slide" Target="slides/slide351.xml"/><Relationship Id="rId359" Type="http://schemas.openxmlformats.org/officeDocument/2006/relationships/slide" Target="slides/slide352.xml"/><Relationship Id="rId360" Type="http://schemas.openxmlformats.org/officeDocument/2006/relationships/slide" Target="slides/slide353.xml"/><Relationship Id="rId361" Type="http://schemas.openxmlformats.org/officeDocument/2006/relationships/slide" Target="slides/slide354.xml"/><Relationship Id="rId362" Type="http://schemas.openxmlformats.org/officeDocument/2006/relationships/slide" Target="slides/slide355.xml"/><Relationship Id="rId363" Type="http://schemas.openxmlformats.org/officeDocument/2006/relationships/slide" Target="slides/slide356.xml"/><Relationship Id="rId364" Type="http://schemas.openxmlformats.org/officeDocument/2006/relationships/slide" Target="slides/slide357.xml"/><Relationship Id="rId365" Type="http://schemas.openxmlformats.org/officeDocument/2006/relationships/slide" Target="slides/slide358.xml"/><Relationship Id="rId366" Type="http://schemas.openxmlformats.org/officeDocument/2006/relationships/slide" Target="slides/slide359.xml"/><Relationship Id="rId367" Type="http://schemas.openxmlformats.org/officeDocument/2006/relationships/slide" Target="slides/slide360.xml"/><Relationship Id="rId368" Type="http://schemas.openxmlformats.org/officeDocument/2006/relationships/slide" Target="slides/slide361.xml"/><Relationship Id="rId369" Type="http://schemas.openxmlformats.org/officeDocument/2006/relationships/slide" Target="slides/slide362.xml"/><Relationship Id="rId370" Type="http://schemas.openxmlformats.org/officeDocument/2006/relationships/slide" Target="slides/slide363.xml"/><Relationship Id="rId371" Type="http://schemas.openxmlformats.org/officeDocument/2006/relationships/slide" Target="slides/slide364.xml"/><Relationship Id="rId372" Type="http://schemas.openxmlformats.org/officeDocument/2006/relationships/slide" Target="slides/slide365.xml"/><Relationship Id="rId373" Type="http://schemas.openxmlformats.org/officeDocument/2006/relationships/slide" Target="slides/slide366.xml"/><Relationship Id="rId374" Type="http://schemas.openxmlformats.org/officeDocument/2006/relationships/slide" Target="slides/slide367.xml"/><Relationship Id="rId375" Type="http://schemas.openxmlformats.org/officeDocument/2006/relationships/slide" Target="slides/slide368.xml"/><Relationship Id="rId376" Type="http://schemas.openxmlformats.org/officeDocument/2006/relationships/slide" Target="slides/slide369.xml"/><Relationship Id="rId377" Type="http://schemas.openxmlformats.org/officeDocument/2006/relationships/slide" Target="slides/slide370.xml"/><Relationship Id="rId378" Type="http://schemas.openxmlformats.org/officeDocument/2006/relationships/slide" Target="slides/slide371.xml"/><Relationship Id="rId379" Type="http://schemas.openxmlformats.org/officeDocument/2006/relationships/slide" Target="slides/slide372.xml"/><Relationship Id="rId380" Type="http://schemas.openxmlformats.org/officeDocument/2006/relationships/slide" Target="slides/slide373.xml"/><Relationship Id="rId381" Type="http://schemas.openxmlformats.org/officeDocument/2006/relationships/slide" Target="slides/slide374.xml"/><Relationship Id="rId382" Type="http://schemas.openxmlformats.org/officeDocument/2006/relationships/slide" Target="slides/slide375.xml"/><Relationship Id="rId383" Type="http://schemas.openxmlformats.org/officeDocument/2006/relationships/slide" Target="slides/slide376.xml"/><Relationship Id="rId384" Type="http://schemas.openxmlformats.org/officeDocument/2006/relationships/slide" Target="slides/slide377.xml"/><Relationship Id="rId385" Type="http://schemas.openxmlformats.org/officeDocument/2006/relationships/slide" Target="slides/slide378.xml"/><Relationship Id="rId386" Type="http://schemas.openxmlformats.org/officeDocument/2006/relationships/slide" Target="slides/slide379.xml"/><Relationship Id="rId387" Type="http://schemas.openxmlformats.org/officeDocument/2006/relationships/slide" Target="slides/slide380.xml"/><Relationship Id="rId388" Type="http://schemas.openxmlformats.org/officeDocument/2006/relationships/slide" Target="slides/slide381.xml"/><Relationship Id="rId389" Type="http://schemas.openxmlformats.org/officeDocument/2006/relationships/slide" Target="slides/slide382.xml"/><Relationship Id="rId390" Type="http://schemas.openxmlformats.org/officeDocument/2006/relationships/slide" Target="slides/slide383.xml"/><Relationship Id="rId391" Type="http://schemas.openxmlformats.org/officeDocument/2006/relationships/slide" Target="slides/slide384.xml"/><Relationship Id="rId392" Type="http://schemas.openxmlformats.org/officeDocument/2006/relationships/slide" Target="slides/slide385.xml"/><Relationship Id="rId393" Type="http://schemas.openxmlformats.org/officeDocument/2006/relationships/slide" Target="slides/slide386.xml"/><Relationship Id="rId394" Type="http://schemas.openxmlformats.org/officeDocument/2006/relationships/slide" Target="slides/slide387.xml"/><Relationship Id="rId395" Type="http://schemas.openxmlformats.org/officeDocument/2006/relationships/slide" Target="slides/slide388.xml"/><Relationship Id="rId396" Type="http://schemas.openxmlformats.org/officeDocument/2006/relationships/slide" Target="slides/slide389.xml"/><Relationship Id="rId397" Type="http://schemas.openxmlformats.org/officeDocument/2006/relationships/slide" Target="slides/slide390.xml"/><Relationship Id="rId398" Type="http://schemas.openxmlformats.org/officeDocument/2006/relationships/slide" Target="slides/slide391.xml"/><Relationship Id="rId399" Type="http://schemas.openxmlformats.org/officeDocument/2006/relationships/slide" Target="slides/slide392.xml"/><Relationship Id="rId400" Type="http://schemas.openxmlformats.org/officeDocument/2006/relationships/slide" Target="slides/slide393.xml"/><Relationship Id="rId401" Type="http://schemas.openxmlformats.org/officeDocument/2006/relationships/slide" Target="slides/slide394.xml"/><Relationship Id="rId402" Type="http://schemas.openxmlformats.org/officeDocument/2006/relationships/slide" Target="slides/slide395.xml"/><Relationship Id="rId403" Type="http://schemas.openxmlformats.org/officeDocument/2006/relationships/slide" Target="slides/slide396.xml"/><Relationship Id="rId404" Type="http://schemas.openxmlformats.org/officeDocument/2006/relationships/slide" Target="slides/slide397.xml"/><Relationship Id="rId405" Type="http://schemas.openxmlformats.org/officeDocument/2006/relationships/slide" Target="slides/slide398.xml"/><Relationship Id="rId406" Type="http://schemas.openxmlformats.org/officeDocument/2006/relationships/slide" Target="slides/slide399.xml"/><Relationship Id="rId407" Type="http://schemas.openxmlformats.org/officeDocument/2006/relationships/slide" Target="slides/slide400.xml"/><Relationship Id="rId408" Type="http://schemas.openxmlformats.org/officeDocument/2006/relationships/slide" Target="slides/slide401.xml"/><Relationship Id="rId409" Type="http://schemas.openxmlformats.org/officeDocument/2006/relationships/slide" Target="slides/slide402.xml"/><Relationship Id="rId410" Type="http://schemas.openxmlformats.org/officeDocument/2006/relationships/slide" Target="slides/slide403.xml"/><Relationship Id="rId411" Type="http://schemas.openxmlformats.org/officeDocument/2006/relationships/slide" Target="slides/slide404.xml"/><Relationship Id="rId412" Type="http://schemas.openxmlformats.org/officeDocument/2006/relationships/slide" Target="slides/slide405.xml"/><Relationship Id="rId413" Type="http://schemas.openxmlformats.org/officeDocument/2006/relationships/slide" Target="slides/slide406.xml"/><Relationship Id="rId414" Type="http://schemas.openxmlformats.org/officeDocument/2006/relationships/slide" Target="slides/slide407.xml"/><Relationship Id="rId415" Type="http://schemas.openxmlformats.org/officeDocument/2006/relationships/slide" Target="slides/slide408.xml"/><Relationship Id="rId416" Type="http://schemas.openxmlformats.org/officeDocument/2006/relationships/slide" Target="slides/slide409.xml"/><Relationship Id="rId417" Type="http://schemas.openxmlformats.org/officeDocument/2006/relationships/slide" Target="slides/slide410.xml"/><Relationship Id="rId418" Type="http://schemas.openxmlformats.org/officeDocument/2006/relationships/slide" Target="slides/slide411.xml"/><Relationship Id="rId419" Type="http://schemas.openxmlformats.org/officeDocument/2006/relationships/slide" Target="slides/slide412.xml"/><Relationship Id="rId420" Type="http://schemas.openxmlformats.org/officeDocument/2006/relationships/slide" Target="slides/slide413.xml"/><Relationship Id="rId421" Type="http://schemas.openxmlformats.org/officeDocument/2006/relationships/slide" Target="slides/slide414.xml"/><Relationship Id="rId422" Type="http://schemas.openxmlformats.org/officeDocument/2006/relationships/slide" Target="slides/slide415.xml"/><Relationship Id="rId423" Type="http://schemas.openxmlformats.org/officeDocument/2006/relationships/slide" Target="slides/slide416.xml"/><Relationship Id="rId424" Type="http://schemas.openxmlformats.org/officeDocument/2006/relationships/slide" Target="slides/slide417.xml"/><Relationship Id="rId425" Type="http://schemas.openxmlformats.org/officeDocument/2006/relationships/slide" Target="slides/slide418.xml"/><Relationship Id="rId426" Type="http://schemas.openxmlformats.org/officeDocument/2006/relationships/slide" Target="slides/slide419.xml"/><Relationship Id="rId427" Type="http://schemas.openxmlformats.org/officeDocument/2006/relationships/slide" Target="slides/slide420.xml"/><Relationship Id="rId428" Type="http://schemas.openxmlformats.org/officeDocument/2006/relationships/slide" Target="slides/slide421.xml"/><Relationship Id="rId429" Type="http://schemas.openxmlformats.org/officeDocument/2006/relationships/slide" Target="slides/slide422.xml"/><Relationship Id="rId430" Type="http://schemas.openxmlformats.org/officeDocument/2006/relationships/slide" Target="slides/slide423.xml"/><Relationship Id="rId431" Type="http://schemas.openxmlformats.org/officeDocument/2006/relationships/slide" Target="slides/slide424.xml"/><Relationship Id="rId432" Type="http://schemas.openxmlformats.org/officeDocument/2006/relationships/slide" Target="slides/slide425.xml"/><Relationship Id="rId433" Type="http://schemas.openxmlformats.org/officeDocument/2006/relationships/slide" Target="slides/slide426.xml"/><Relationship Id="rId434" Type="http://schemas.openxmlformats.org/officeDocument/2006/relationships/slide" Target="slides/slide427.xml"/><Relationship Id="rId435" Type="http://schemas.openxmlformats.org/officeDocument/2006/relationships/slide" Target="slides/slide428.xml"/><Relationship Id="rId436" Type="http://schemas.openxmlformats.org/officeDocument/2006/relationships/slide" Target="slides/slide429.xml"/><Relationship Id="rId437" Type="http://schemas.openxmlformats.org/officeDocument/2006/relationships/slide" Target="slides/slide430.xml"/><Relationship Id="rId438" Type="http://schemas.openxmlformats.org/officeDocument/2006/relationships/slide" Target="slides/slide431.xml"/><Relationship Id="rId439" Type="http://schemas.openxmlformats.org/officeDocument/2006/relationships/slide" Target="slides/slide432.xml"/><Relationship Id="rId440" Type="http://schemas.openxmlformats.org/officeDocument/2006/relationships/slide" Target="slides/slide433.xml"/><Relationship Id="rId441" Type="http://schemas.openxmlformats.org/officeDocument/2006/relationships/slide" Target="slides/slide434.xml"/><Relationship Id="rId442" Type="http://schemas.openxmlformats.org/officeDocument/2006/relationships/slide" Target="slides/slide435.xml"/><Relationship Id="rId443" Type="http://schemas.openxmlformats.org/officeDocument/2006/relationships/slide" Target="slides/slide436.xml"/><Relationship Id="rId444" Type="http://schemas.openxmlformats.org/officeDocument/2006/relationships/slide" Target="slides/slide437.xml"/><Relationship Id="rId445" Type="http://schemas.openxmlformats.org/officeDocument/2006/relationships/slide" Target="slides/slide438.xml"/><Relationship Id="rId446" Type="http://schemas.openxmlformats.org/officeDocument/2006/relationships/slide" Target="slides/slide439.xml"/><Relationship Id="rId447" Type="http://schemas.openxmlformats.org/officeDocument/2006/relationships/slide" Target="slides/slide440.xml"/><Relationship Id="rId448" Type="http://schemas.openxmlformats.org/officeDocument/2006/relationships/slide" Target="slides/slide441.xml"/><Relationship Id="rId449" Type="http://schemas.openxmlformats.org/officeDocument/2006/relationships/slide" Target="slides/slide442.xml"/><Relationship Id="rId450" Type="http://schemas.openxmlformats.org/officeDocument/2006/relationships/slide" Target="slides/slide443.xml"/><Relationship Id="rId451" Type="http://schemas.openxmlformats.org/officeDocument/2006/relationships/slide" Target="slides/slide444.xml"/><Relationship Id="rId452" Type="http://schemas.openxmlformats.org/officeDocument/2006/relationships/slide" Target="slides/slide445.xml"/><Relationship Id="rId453" Type="http://schemas.openxmlformats.org/officeDocument/2006/relationships/slide" Target="slides/slide446.xml"/><Relationship Id="rId454" Type="http://schemas.openxmlformats.org/officeDocument/2006/relationships/slide" Target="slides/slide447.xml"/><Relationship Id="rId455" Type="http://schemas.openxmlformats.org/officeDocument/2006/relationships/slide" Target="slides/slide448.xml"/><Relationship Id="rId456" Type="http://schemas.openxmlformats.org/officeDocument/2006/relationships/slide" Target="slides/slide449.xml"/><Relationship Id="rId457" Type="http://schemas.openxmlformats.org/officeDocument/2006/relationships/slide" Target="slides/slide450.xml"/><Relationship Id="rId458" Type="http://schemas.openxmlformats.org/officeDocument/2006/relationships/slide" Target="slides/slide451.xml"/><Relationship Id="rId459" Type="http://schemas.openxmlformats.org/officeDocument/2006/relationships/slide" Target="slides/slide452.xml"/><Relationship Id="rId460" Type="http://schemas.openxmlformats.org/officeDocument/2006/relationships/slide" Target="slides/slide453.xml"/><Relationship Id="rId461" Type="http://schemas.openxmlformats.org/officeDocument/2006/relationships/slide" Target="slides/slide454.xml"/><Relationship Id="rId462" Type="http://schemas.openxmlformats.org/officeDocument/2006/relationships/slide" Target="slides/slide455.xml"/><Relationship Id="rId463" Type="http://schemas.openxmlformats.org/officeDocument/2006/relationships/slide" Target="slides/slide456.xml"/><Relationship Id="rId464" Type="http://schemas.openxmlformats.org/officeDocument/2006/relationships/slide" Target="slides/slide457.xml"/><Relationship Id="rId465" Type="http://schemas.openxmlformats.org/officeDocument/2006/relationships/slide" Target="slides/slide458.xml"/><Relationship Id="rId466" Type="http://schemas.openxmlformats.org/officeDocument/2006/relationships/slide" Target="slides/slide459.xml"/><Relationship Id="rId467" Type="http://schemas.openxmlformats.org/officeDocument/2006/relationships/slide" Target="slides/slide460.xml"/><Relationship Id="rId468" Type="http://schemas.openxmlformats.org/officeDocument/2006/relationships/slide" Target="slides/slide461.xml"/><Relationship Id="rId469" Type="http://schemas.openxmlformats.org/officeDocument/2006/relationships/slide" Target="slides/slide462.xml"/><Relationship Id="rId470" Type="http://schemas.openxmlformats.org/officeDocument/2006/relationships/slide" Target="slides/slide463.xml"/><Relationship Id="rId471" Type="http://schemas.openxmlformats.org/officeDocument/2006/relationships/slide" Target="slides/slide464.xml"/><Relationship Id="rId472" Type="http://schemas.openxmlformats.org/officeDocument/2006/relationships/slide" Target="slides/slide465.xml"/><Relationship Id="rId473" Type="http://schemas.openxmlformats.org/officeDocument/2006/relationships/slide" Target="slides/slide466.xml"/><Relationship Id="rId474" Type="http://schemas.openxmlformats.org/officeDocument/2006/relationships/slide" Target="slides/slide467.xml"/><Relationship Id="rId475" Type="http://schemas.openxmlformats.org/officeDocument/2006/relationships/slide" Target="slides/slide468.xml"/><Relationship Id="rId476" Type="http://schemas.openxmlformats.org/officeDocument/2006/relationships/slide" Target="slides/slide469.xml"/><Relationship Id="rId477" Type="http://schemas.openxmlformats.org/officeDocument/2006/relationships/slide" Target="slides/slide470.xml"/><Relationship Id="rId478" Type="http://schemas.openxmlformats.org/officeDocument/2006/relationships/slide" Target="slides/slide471.xml"/><Relationship Id="rId479" Type="http://schemas.openxmlformats.org/officeDocument/2006/relationships/slide" Target="slides/slide472.xml"/><Relationship Id="rId480" Type="http://schemas.openxmlformats.org/officeDocument/2006/relationships/slide" Target="slides/slide473.xml"/><Relationship Id="rId481" Type="http://schemas.openxmlformats.org/officeDocument/2006/relationships/slide" Target="slides/slide474.xml"/><Relationship Id="rId482" Type="http://schemas.openxmlformats.org/officeDocument/2006/relationships/slide" Target="slides/slide475.xml"/><Relationship Id="rId483" Type="http://schemas.openxmlformats.org/officeDocument/2006/relationships/slide" Target="slides/slide476.xml"/><Relationship Id="rId484" Type="http://schemas.openxmlformats.org/officeDocument/2006/relationships/slide" Target="slides/slide477.xml"/><Relationship Id="rId485" Type="http://schemas.openxmlformats.org/officeDocument/2006/relationships/slide" Target="slides/slide478.xml"/><Relationship Id="rId486" Type="http://schemas.openxmlformats.org/officeDocument/2006/relationships/slide" Target="slides/slide479.xml"/><Relationship Id="rId487" Type="http://schemas.openxmlformats.org/officeDocument/2006/relationships/slide" Target="slides/slide480.xml"/><Relationship Id="rId488" Type="http://schemas.openxmlformats.org/officeDocument/2006/relationships/slide" Target="slides/slide481.xml"/><Relationship Id="rId489" Type="http://schemas.openxmlformats.org/officeDocument/2006/relationships/slide" Target="slides/slide482.xml"/><Relationship Id="rId490" Type="http://schemas.openxmlformats.org/officeDocument/2006/relationships/slide" Target="slides/slide483.xml"/><Relationship Id="rId491" Type="http://schemas.openxmlformats.org/officeDocument/2006/relationships/slide" Target="slides/slide484.xml"/><Relationship Id="rId492" Type="http://schemas.openxmlformats.org/officeDocument/2006/relationships/slide" Target="slides/slide485.xml"/><Relationship Id="rId493" Type="http://schemas.openxmlformats.org/officeDocument/2006/relationships/slide" Target="slides/slide486.xml"/><Relationship Id="rId494" Type="http://schemas.openxmlformats.org/officeDocument/2006/relationships/slide" Target="slides/slide487.xml"/><Relationship Id="rId495" Type="http://schemas.openxmlformats.org/officeDocument/2006/relationships/slide" Target="slides/slide488.xml"/><Relationship Id="rId496" Type="http://schemas.openxmlformats.org/officeDocument/2006/relationships/slide" Target="slides/slide489.xml"/><Relationship Id="rId497" Type="http://schemas.openxmlformats.org/officeDocument/2006/relationships/slide" Target="slides/slide490.xml"/><Relationship Id="rId498" Type="http://schemas.openxmlformats.org/officeDocument/2006/relationships/slide" Target="slides/slide491.xml"/><Relationship Id="rId499" Type="http://schemas.openxmlformats.org/officeDocument/2006/relationships/slide" Target="slides/slide492.xml"/><Relationship Id="rId500" Type="http://schemas.openxmlformats.org/officeDocument/2006/relationships/slide" Target="slides/slide493.xml"/><Relationship Id="rId501" Type="http://schemas.openxmlformats.org/officeDocument/2006/relationships/slide" Target="slides/slide494.xml"/><Relationship Id="rId502" Type="http://schemas.openxmlformats.org/officeDocument/2006/relationships/slide" Target="slides/slide495.xml"/><Relationship Id="rId503" Type="http://schemas.openxmlformats.org/officeDocument/2006/relationships/slide" Target="slides/slide496.xml"/><Relationship Id="rId504" Type="http://schemas.openxmlformats.org/officeDocument/2006/relationships/slide" Target="slides/slide497.xml"/><Relationship Id="rId505" Type="http://schemas.openxmlformats.org/officeDocument/2006/relationships/slide" Target="slides/slide498.xml"/><Relationship Id="rId506" Type="http://schemas.openxmlformats.org/officeDocument/2006/relationships/slide" Target="slides/slide499.xml"/><Relationship Id="rId507" Type="http://schemas.openxmlformats.org/officeDocument/2006/relationships/slide" Target="slides/slide500.xml"/><Relationship Id="rId508" Type="http://schemas.openxmlformats.org/officeDocument/2006/relationships/slide" Target="slides/slide501.xml"/><Relationship Id="rId509" Type="http://schemas.openxmlformats.org/officeDocument/2006/relationships/slide" Target="slides/slide502.xml"/><Relationship Id="rId510" Type="http://schemas.openxmlformats.org/officeDocument/2006/relationships/slide" Target="slides/slide503.xml"/><Relationship Id="rId511" Type="http://schemas.openxmlformats.org/officeDocument/2006/relationships/slide" Target="slides/slide504.xml"/><Relationship Id="rId512" Type="http://schemas.openxmlformats.org/officeDocument/2006/relationships/slide" Target="slides/slide505.xml"/><Relationship Id="rId513" Type="http://schemas.openxmlformats.org/officeDocument/2006/relationships/slide" Target="slides/slide506.xml"/><Relationship Id="rId514" Type="http://schemas.openxmlformats.org/officeDocument/2006/relationships/slide" Target="slides/slide507.xml"/><Relationship Id="rId515" Type="http://schemas.openxmlformats.org/officeDocument/2006/relationships/slide" Target="slides/slide508.xml"/><Relationship Id="rId516" Type="http://schemas.openxmlformats.org/officeDocument/2006/relationships/slide" Target="slides/slide509.xml"/><Relationship Id="rId517" Type="http://schemas.openxmlformats.org/officeDocument/2006/relationships/slide" Target="slides/slide510.xml"/><Relationship Id="rId518" Type="http://schemas.openxmlformats.org/officeDocument/2006/relationships/slide" Target="slides/slide511.xml"/><Relationship Id="rId519" Type="http://schemas.openxmlformats.org/officeDocument/2006/relationships/slide" Target="slides/slide512.xml"/><Relationship Id="rId520" Type="http://schemas.openxmlformats.org/officeDocument/2006/relationships/slide" Target="slides/slide513.xml"/><Relationship Id="rId521" Type="http://schemas.openxmlformats.org/officeDocument/2006/relationships/slide" Target="slides/slide514.xml"/><Relationship Id="rId522" Type="http://schemas.openxmlformats.org/officeDocument/2006/relationships/slide" Target="slides/slide515.xml"/><Relationship Id="rId523" Type="http://schemas.openxmlformats.org/officeDocument/2006/relationships/slide" Target="slides/slide5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8.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9.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0.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2.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3.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4.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5.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6.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7.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8.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9.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0.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2.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3.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4.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5.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6.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7.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8.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9.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0.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2.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3.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4.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5.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6.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7.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8.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9.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0.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1.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2.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3.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4.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5.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6.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7.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8.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9.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0.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1.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2.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3.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4.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5.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6.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7.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8.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9.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0.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1.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2.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3.xml"/></Relationships>
</file>

<file path=ppt/notesSlides/_rels/notesSlide2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4.xml"/></Relationships>
</file>

<file path=ppt/notesSlides/_rels/notesSlide2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5.xml"/></Relationships>
</file>

<file path=ppt/notesSlides/_rels/notesSlide2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6.xml"/></Relationships>
</file>

<file path=ppt/notesSlides/_rels/notesSlide2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7.xml"/></Relationships>
</file>

<file path=ppt/notesSlides/_rels/notesSlide2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8.xml"/></Relationships>
</file>

<file path=ppt/notesSlides/_rels/notesSlide2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9.xml"/></Relationships>
</file>

<file path=ppt/notesSlides/_rels/notesSlide2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0.xml"/></Relationships>
</file>

<file path=ppt/notesSlides/_rels/notesSlide2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1.xml"/></Relationships>
</file>

<file path=ppt/notesSlides/_rels/notesSlide2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2.xml"/></Relationships>
</file>

<file path=ppt/notesSlides/_rels/notesSlide2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3.xml"/></Relationships>
</file>

<file path=ppt/notesSlides/_rels/notesSlide2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4.xml"/></Relationships>
</file>

<file path=ppt/notesSlides/_rels/notesSlide2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5.xml"/></Relationships>
</file>

<file path=ppt/notesSlides/_rels/notesSlide2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6.xml"/></Relationships>
</file>

<file path=ppt/notesSlides/_rels/notesSlide2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7.xml"/></Relationships>
</file>

<file path=ppt/notesSlides/_rels/notesSlide2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8.xml"/></Relationships>
</file>

<file path=ppt/notesSlides/_rels/notesSlide2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9.xml"/></Relationships>
</file>

<file path=ppt/notesSlides/_rels/notesSlide2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0.xml"/></Relationships>
</file>

<file path=ppt/notesSlides/_rels/notesSlide2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1.xml"/></Relationships>
</file>

<file path=ppt/notesSlides/_rels/notesSlide2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2.xml"/></Relationships>
</file>

<file path=ppt/notesSlides/_rels/notesSlide2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3.xml"/></Relationships>
</file>

<file path=ppt/notesSlides/_rels/notesSlide2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4.xml"/></Relationships>
</file>

<file path=ppt/notesSlides/_rels/notesSlide2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5.xml"/></Relationships>
</file>

<file path=ppt/notesSlides/_rels/notesSlide2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6.xml"/></Relationships>
</file>

<file path=ppt/notesSlides/_rels/notesSlide2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7.xml"/></Relationships>
</file>

<file path=ppt/notesSlides/_rels/notesSlide2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8.xml"/></Relationships>
</file>

<file path=ppt/notesSlides/_rels/notesSlide2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9.xml"/></Relationships>
</file>

<file path=ppt/notesSlides/_rels/notesSlide2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0.xml"/></Relationships>
</file>

<file path=ppt/notesSlides/_rels/notesSlide2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1.xml"/></Relationships>
</file>

<file path=ppt/notesSlides/_rels/notesSlide2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2.xml"/></Relationships>
</file>

<file path=ppt/notesSlides/_rels/notesSlide2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3.xml"/></Relationships>
</file>

<file path=ppt/notesSlides/_rels/notesSlide2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4.xml"/></Relationships>
</file>

<file path=ppt/notesSlides/_rels/notesSlide2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5.xml"/></Relationships>
</file>

<file path=ppt/notesSlides/_rels/notesSlide2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6.xml"/></Relationships>
</file>

<file path=ppt/notesSlides/_rels/notesSlide2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7.xml"/></Relationships>
</file>

<file path=ppt/notesSlides/_rels/notesSlide2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8.xml"/></Relationships>
</file>

<file path=ppt/notesSlides/_rels/notesSlide2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9.xml"/></Relationships>
</file>

<file path=ppt/notesSlides/_rels/notesSlide2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0.xml"/></Relationships>
</file>

<file path=ppt/notesSlides/_rels/notesSlide2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1.xml"/></Relationships>
</file>

<file path=ppt/notesSlides/_rels/notesSlide2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2.xml"/></Relationships>
</file>

<file path=ppt/notesSlides/_rels/notesSlide2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3.xml"/></Relationships>
</file>

<file path=ppt/notesSlides/_rels/notesSlide2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4.xml"/></Relationships>
</file>

<file path=ppt/notesSlides/_rels/notesSlide2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5.xml"/></Relationships>
</file>

<file path=ppt/notesSlides/_rels/notesSlide2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6.xml"/></Relationships>
</file>

<file path=ppt/notesSlides/_rels/notesSlide2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7.xml"/></Relationships>
</file>

<file path=ppt/notesSlides/_rels/notesSlide2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8.xml"/></Relationships>
</file>

<file path=ppt/notesSlides/_rels/notesSlide2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9.xml"/></Relationships>
</file>

<file path=ppt/notesSlides/_rels/notesSlide2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0.xml"/></Relationships>
</file>

<file path=ppt/notesSlides/_rels/notesSlide2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1.xml"/></Relationships>
</file>

<file path=ppt/notesSlides/_rels/notesSlide2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2.xml"/></Relationships>
</file>

<file path=ppt/notesSlides/_rels/notesSlide2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3.xml"/></Relationships>
</file>

<file path=ppt/notesSlides/_rels/notesSlide2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4.xml"/></Relationships>
</file>

<file path=ppt/notesSlides/_rels/notesSlide2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5.xml"/></Relationships>
</file>

<file path=ppt/notesSlides/_rels/notesSlide2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6.xml"/></Relationships>
</file>

<file path=ppt/notesSlides/_rels/notesSlide2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7.xml"/></Relationships>
</file>

<file path=ppt/notesSlides/_rels/notesSlide2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8.xml"/></Relationships>
</file>

<file path=ppt/notesSlides/_rels/notesSlide2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9.xml"/></Relationships>
</file>

<file path=ppt/notesSlides/_rels/notesSlide2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0.xml"/></Relationships>
</file>

<file path=ppt/notesSlides/_rels/notesSlide2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1.xml"/></Relationships>
</file>

<file path=ppt/notesSlides/_rels/notesSlide2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2.xml"/></Relationships>
</file>

<file path=ppt/notesSlides/_rels/notesSlide2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3.xml"/></Relationships>
</file>

<file path=ppt/notesSlides/_rels/notesSlide2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4.xml"/></Relationships>
</file>

<file path=ppt/notesSlides/_rels/notesSlide2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5.xml"/></Relationships>
</file>

<file path=ppt/notesSlides/_rels/notesSlide2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6.xml"/></Relationships>
</file>

<file path=ppt/notesSlides/_rels/notesSlide2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7.xml"/></Relationships>
</file>

<file path=ppt/notesSlides/_rels/notesSlide2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8.xml"/></Relationships>
</file>

<file path=ppt/notesSlides/_rels/notesSlide2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9.xml"/></Relationships>
</file>

<file path=ppt/notesSlides/_rels/notesSlide2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0.xml"/></Relationships>
</file>

<file path=ppt/notesSlides/_rels/notesSlide2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1.xml"/></Relationships>
</file>

<file path=ppt/notesSlides/_rels/notesSlide2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2.xml"/></Relationships>
</file>

<file path=ppt/notesSlides/_rels/notesSlide2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3.xml"/></Relationships>
</file>

<file path=ppt/notesSlides/_rels/notesSlide2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4.xml"/></Relationships>
</file>

<file path=ppt/notesSlides/_rels/notesSlide2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5.xml"/></Relationships>
</file>

<file path=ppt/notesSlides/_rels/notesSlide2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6.xml"/></Relationships>
</file>

<file path=ppt/notesSlides/_rels/notesSlide2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7.xml"/></Relationships>
</file>

<file path=ppt/notesSlides/_rels/notesSlide2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8.xml"/></Relationships>
</file>

<file path=ppt/notesSlides/_rels/notesSlide2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9.xml"/></Relationships>
</file>

<file path=ppt/notesSlides/_rels/notesSlide3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0.xml"/></Relationships>
</file>

<file path=ppt/notesSlides/_rels/notesSlide3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1.xml"/></Relationships>
</file>

<file path=ppt/notesSlides/_rels/notesSlide3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2.xml"/></Relationships>
</file>

<file path=ppt/notesSlides/_rels/notesSlide3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3.xml"/></Relationships>
</file>

<file path=ppt/notesSlides/_rels/notesSlide3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4.xml"/></Relationships>
</file>

<file path=ppt/notesSlides/_rels/notesSlide3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5.xml"/></Relationships>
</file>

<file path=ppt/notesSlides/_rels/notesSlide3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6.xml"/></Relationships>
</file>

<file path=ppt/notesSlides/_rels/notesSlide3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7.xml"/></Relationships>
</file>

<file path=ppt/notesSlides/_rels/notesSlide3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8.xml"/></Relationships>
</file>

<file path=ppt/notesSlides/_rels/notesSlide3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9.xml"/></Relationships>
</file>

<file path=ppt/notesSlides/_rels/notesSlide3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0.xml"/></Relationships>
</file>

<file path=ppt/notesSlides/_rels/notesSlide3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1.xml"/></Relationships>
</file>

<file path=ppt/notesSlides/_rels/notesSlide3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2.xml"/></Relationships>
</file>

<file path=ppt/notesSlides/_rels/notesSlide3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3.xml"/></Relationships>
</file>

<file path=ppt/notesSlides/_rels/notesSlide3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4.xml"/></Relationships>
</file>

<file path=ppt/notesSlides/_rels/notesSlide3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5.xml"/></Relationships>
</file>

<file path=ppt/notesSlides/_rels/notesSlide3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6.xml"/></Relationships>
</file>

<file path=ppt/notesSlides/_rels/notesSlide3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7.xml"/></Relationships>
</file>

<file path=ppt/notesSlides/_rels/notesSlide3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8.xml"/></Relationships>
</file>

<file path=ppt/notesSlides/_rels/notesSlide3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9.xml"/></Relationships>
</file>

<file path=ppt/notesSlides/_rels/notesSlide3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0.xml"/></Relationships>
</file>

<file path=ppt/notesSlides/_rels/notesSlide3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1.xml"/></Relationships>
</file>

<file path=ppt/notesSlides/_rels/notesSlide3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2.xml"/></Relationships>
</file>

<file path=ppt/notesSlides/_rels/notesSlide3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3.xml"/></Relationships>
</file>

<file path=ppt/notesSlides/_rels/notesSlide3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4.xml"/></Relationships>
</file>

<file path=ppt/notesSlides/_rels/notesSlide3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5.xml"/></Relationships>
</file>

<file path=ppt/notesSlides/_rels/notesSlide3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6.xml"/></Relationships>
</file>

<file path=ppt/notesSlides/_rels/notesSlide3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7.xml"/></Relationships>
</file>

<file path=ppt/notesSlides/_rels/notesSlide3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8.xml"/></Relationships>
</file>

<file path=ppt/notesSlides/_rels/notesSlide3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9.xml"/></Relationships>
</file>

<file path=ppt/notesSlides/_rels/notesSlide3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0.xml"/></Relationships>
</file>

<file path=ppt/notesSlides/_rels/notesSlide3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1.xml"/></Relationships>
</file>

<file path=ppt/notesSlides/_rels/notesSlide3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2.xml"/></Relationships>
</file>

<file path=ppt/notesSlides/_rels/notesSlide3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3.xml"/></Relationships>
</file>

<file path=ppt/notesSlides/_rels/notesSlide3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4.xml"/></Relationships>
</file>

<file path=ppt/notesSlides/_rels/notesSlide3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5.xml"/></Relationships>
</file>

<file path=ppt/notesSlides/_rels/notesSlide3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6.xml"/></Relationships>
</file>

<file path=ppt/notesSlides/_rels/notesSlide3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7.xml"/></Relationships>
</file>

<file path=ppt/notesSlides/_rels/notesSlide3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8.xml"/></Relationships>
</file>

<file path=ppt/notesSlides/_rels/notesSlide3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9.xml"/></Relationships>
</file>

<file path=ppt/notesSlides/_rels/notesSlide3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0.xml"/></Relationships>
</file>

<file path=ppt/notesSlides/_rels/notesSlide3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1.xml"/></Relationships>
</file>

<file path=ppt/notesSlides/_rels/notesSlide3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2.xml"/></Relationships>
</file>

<file path=ppt/notesSlides/_rels/notesSlide3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3.xml"/></Relationships>
</file>

<file path=ppt/notesSlides/_rels/notesSlide3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4.xml"/></Relationships>
</file>

<file path=ppt/notesSlides/_rels/notesSlide3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5.xml"/></Relationships>
</file>

<file path=ppt/notesSlides/_rels/notesSlide3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6.xml"/></Relationships>
</file>

<file path=ppt/notesSlides/_rels/notesSlide3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7.xml"/></Relationships>
</file>

<file path=ppt/notesSlides/_rels/notesSlide3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8.xml"/></Relationships>
</file>

<file path=ppt/notesSlides/_rels/notesSlide3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9.xml"/></Relationships>
</file>

<file path=ppt/notesSlides/_rels/notesSlide3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0.xml"/></Relationships>
</file>

<file path=ppt/notesSlides/_rels/notesSlide3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1.xml"/></Relationships>
</file>

<file path=ppt/notesSlides/_rels/notesSlide3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2.xml"/></Relationships>
</file>

<file path=ppt/notesSlides/_rels/notesSlide3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3.xml"/></Relationships>
</file>

<file path=ppt/notesSlides/_rels/notesSlide3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4.xml"/></Relationships>
</file>

<file path=ppt/notesSlides/_rels/notesSlide3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5.xml"/></Relationships>
</file>

<file path=ppt/notesSlides/_rels/notesSlide3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6.xml"/></Relationships>
</file>

<file path=ppt/notesSlides/_rels/notesSlide3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7.xml"/></Relationships>
</file>

<file path=ppt/notesSlides/_rels/notesSlide3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8.xml"/></Relationships>
</file>

<file path=ppt/notesSlides/_rels/notesSlide3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9.xml"/></Relationships>
</file>

<file path=ppt/notesSlides/_rels/notesSlide3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0.xml"/></Relationships>
</file>

<file path=ppt/notesSlides/_rels/notesSlide3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1.xml"/></Relationships>
</file>

<file path=ppt/notesSlides/_rels/notesSlide3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2.xml"/></Relationships>
</file>

<file path=ppt/notesSlides/_rels/notesSlide3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3.xml"/></Relationships>
</file>

<file path=ppt/notesSlides/_rels/notesSlide3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4.xml"/></Relationships>
</file>

<file path=ppt/notesSlides/_rels/notesSlide3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5.xml"/></Relationships>
</file>

<file path=ppt/notesSlides/_rels/notesSlide3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6.xml"/></Relationships>
</file>

<file path=ppt/notesSlides/_rels/notesSlide3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7.xml"/></Relationships>
</file>

<file path=ppt/notesSlides/_rels/notesSlide3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8.xml"/></Relationships>
</file>

<file path=ppt/notesSlides/_rels/notesSlide3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9.xml"/></Relationships>
</file>

<file path=ppt/notesSlides/_rels/notesSlide3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0.xml"/></Relationships>
</file>

<file path=ppt/notesSlides/_rels/notesSlide3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1.xml"/></Relationships>
</file>

<file path=ppt/notesSlides/_rels/notesSlide3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2.xml"/></Relationships>
</file>

<file path=ppt/notesSlides/_rels/notesSlide3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3.xml"/></Relationships>
</file>

<file path=ppt/notesSlides/_rels/notesSlide3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4.xml"/></Relationships>
</file>

<file path=ppt/notesSlides/_rels/notesSlide3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5.xml"/></Relationships>
</file>

<file path=ppt/notesSlides/_rels/notesSlide3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6.xml"/></Relationships>
</file>

<file path=ppt/notesSlides/_rels/notesSlide3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7.xml"/></Relationships>
</file>

<file path=ppt/notesSlides/_rels/notesSlide3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8.xml"/></Relationships>
</file>

<file path=ppt/notesSlides/_rels/notesSlide3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9.xml"/></Relationships>
</file>

<file path=ppt/notesSlides/_rels/notesSlide3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0.xml"/></Relationships>
</file>

<file path=ppt/notesSlides/_rels/notesSlide3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1.xml"/></Relationships>
</file>

<file path=ppt/notesSlides/_rels/notesSlide3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2.xml"/></Relationships>
</file>

<file path=ppt/notesSlides/_rels/notesSlide3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3.xml"/></Relationships>
</file>

<file path=ppt/notesSlides/_rels/notesSlide3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4.xml"/></Relationships>
</file>

<file path=ppt/notesSlides/_rels/notesSlide3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5.xml"/></Relationships>
</file>

<file path=ppt/notesSlides/_rels/notesSlide3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6.xml"/></Relationships>
</file>

<file path=ppt/notesSlides/_rels/notesSlide3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7.xml"/></Relationships>
</file>

<file path=ppt/notesSlides/_rels/notesSlide3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8.xml"/></Relationships>
</file>

<file path=ppt/notesSlides/_rels/notesSlide3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9.xml"/></Relationships>
</file>

<file path=ppt/notesSlides/_rels/notesSlide3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0.xml"/></Relationships>
</file>

<file path=ppt/notesSlides/_rels/notesSlide3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1.xml"/></Relationships>
</file>

<file path=ppt/notesSlides/_rels/notesSlide3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2.xml"/></Relationships>
</file>

<file path=ppt/notesSlides/_rels/notesSlide3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3.xml"/></Relationships>
</file>

<file path=ppt/notesSlides/_rels/notesSlide3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4.xml"/></Relationships>
</file>

<file path=ppt/notesSlides/_rels/notesSlide3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5.xml"/></Relationships>
</file>

<file path=ppt/notesSlides/_rels/notesSlide3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6.xml"/></Relationships>
</file>

<file path=ppt/notesSlides/_rels/notesSlide3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7.xml"/></Relationships>
</file>

<file path=ppt/notesSlides/_rels/notesSlide3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8.xml"/></Relationships>
</file>

<file path=ppt/notesSlides/_rels/notesSlide3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9.xml"/></Relationships>
</file>

<file path=ppt/notesSlides/_rels/notesSlide4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0.xml"/></Relationships>
</file>

<file path=ppt/notesSlides/_rels/notesSlide4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1.xml"/></Relationships>
</file>

<file path=ppt/notesSlides/_rels/notesSlide4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2.xml"/></Relationships>
</file>

<file path=ppt/notesSlides/_rels/notesSlide4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3.xml"/></Relationships>
</file>

<file path=ppt/notesSlides/_rels/notesSlide4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4.xml"/></Relationships>
</file>

<file path=ppt/notesSlides/_rels/notesSlide4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5.xml"/></Relationships>
</file>

<file path=ppt/notesSlides/_rels/notesSlide4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6.xml"/></Relationships>
</file>

<file path=ppt/notesSlides/_rels/notesSlide4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7.xml"/></Relationships>
</file>

<file path=ppt/notesSlides/_rels/notesSlide4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8.xml"/></Relationships>
</file>

<file path=ppt/notesSlides/_rels/notesSlide4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9.xml"/></Relationships>
</file>

<file path=ppt/notesSlides/_rels/notesSlide4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0.xml"/></Relationships>
</file>

<file path=ppt/notesSlides/_rels/notesSlide4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1.xml"/></Relationships>
</file>

<file path=ppt/notesSlides/_rels/notesSlide4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2.xml"/></Relationships>
</file>

<file path=ppt/notesSlides/_rels/notesSlide4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3.xml"/></Relationships>
</file>

<file path=ppt/notesSlides/_rels/notesSlide4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4.xml"/></Relationships>
</file>

<file path=ppt/notesSlides/_rels/notesSlide4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5.xml"/></Relationships>
</file>

<file path=ppt/notesSlides/_rels/notesSlide4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6.xml"/></Relationships>
</file>

<file path=ppt/notesSlides/_rels/notesSlide4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7.xml"/></Relationships>
</file>

<file path=ppt/notesSlides/_rels/notesSlide4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8.xml"/></Relationships>
</file>

<file path=ppt/notesSlides/_rels/notesSlide4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9.xml"/></Relationships>
</file>

<file path=ppt/notesSlides/_rels/notesSlide4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0.xml"/></Relationships>
</file>

<file path=ppt/notesSlides/_rels/notesSlide4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1.xml"/></Relationships>
</file>

<file path=ppt/notesSlides/_rels/notesSlide4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2.xml"/></Relationships>
</file>

<file path=ppt/notesSlides/_rels/notesSlide4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3.xml"/></Relationships>
</file>

<file path=ppt/notesSlides/_rels/notesSlide4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4.xml"/></Relationships>
</file>

<file path=ppt/notesSlides/_rels/notesSlide4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5.xml"/></Relationships>
</file>

<file path=ppt/notesSlides/_rels/notesSlide4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6.xml"/></Relationships>
</file>

<file path=ppt/notesSlides/_rels/notesSlide4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7.xml"/></Relationships>
</file>

<file path=ppt/notesSlides/_rels/notesSlide4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8.xml"/></Relationships>
</file>

<file path=ppt/notesSlides/_rels/notesSlide4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9.xml"/></Relationships>
</file>

<file path=ppt/notesSlides/_rels/notesSlide4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0.xml"/></Relationships>
</file>

<file path=ppt/notesSlides/_rels/notesSlide4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1.xml"/></Relationships>
</file>

<file path=ppt/notesSlides/_rels/notesSlide4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2.xml"/></Relationships>
</file>

<file path=ppt/notesSlides/_rels/notesSlide4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3.xml"/></Relationships>
</file>

<file path=ppt/notesSlides/_rels/notesSlide4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4.xml"/></Relationships>
</file>

<file path=ppt/notesSlides/_rels/notesSlide4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5.xml"/></Relationships>
</file>

<file path=ppt/notesSlides/_rels/notesSlide4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6.xml"/></Relationships>
</file>

<file path=ppt/notesSlides/_rels/notesSlide4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7.xml"/></Relationships>
</file>

<file path=ppt/notesSlides/_rels/notesSlide4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8.xml"/></Relationships>
</file>

<file path=ppt/notesSlides/_rels/notesSlide4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9.xml"/></Relationships>
</file>

<file path=ppt/notesSlides/_rels/notesSlide4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0.xml"/></Relationships>
</file>

<file path=ppt/notesSlides/_rels/notesSlide4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1.xml"/></Relationships>
</file>

<file path=ppt/notesSlides/_rels/notesSlide4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2.xml"/></Relationships>
</file>

<file path=ppt/notesSlides/_rels/notesSlide4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3.xml"/></Relationships>
</file>

<file path=ppt/notesSlides/_rels/notesSlide4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4.xml"/></Relationships>
</file>

<file path=ppt/notesSlides/_rels/notesSlide4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5.xml"/></Relationships>
</file>

<file path=ppt/notesSlides/_rels/notesSlide4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6.xml"/></Relationships>
</file>

<file path=ppt/notesSlides/_rels/notesSlide4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7.xml"/></Relationships>
</file>

<file path=ppt/notesSlides/_rels/notesSlide4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8.xml"/></Relationships>
</file>

<file path=ppt/notesSlides/_rels/notesSlide4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9.xml"/></Relationships>
</file>

<file path=ppt/notesSlides/_rels/notesSlide4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0.xml"/></Relationships>
</file>

<file path=ppt/notesSlides/_rels/notesSlide4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1.xml"/></Relationships>
</file>

<file path=ppt/notesSlides/_rels/notesSlide4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2.xml"/></Relationships>
</file>

<file path=ppt/notesSlides/_rels/notesSlide4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3.xml"/></Relationships>
</file>

<file path=ppt/notesSlides/_rels/notesSlide4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4.xml"/></Relationships>
</file>

<file path=ppt/notesSlides/_rels/notesSlide4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5.xml"/></Relationships>
</file>

<file path=ppt/notesSlides/_rels/notesSlide4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6.xml"/></Relationships>
</file>

<file path=ppt/notesSlides/_rels/notesSlide4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7.xml"/></Relationships>
</file>

<file path=ppt/notesSlides/_rels/notesSlide4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8.xml"/></Relationships>
</file>

<file path=ppt/notesSlides/_rels/notesSlide4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9.xml"/></Relationships>
</file>

<file path=ppt/notesSlides/_rels/notesSlide4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0.xml"/></Relationships>
</file>

<file path=ppt/notesSlides/_rels/notesSlide4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1.xml"/></Relationships>
</file>

<file path=ppt/notesSlides/_rels/notesSlide4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2.xml"/></Relationships>
</file>

<file path=ppt/notesSlides/_rels/notesSlide4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3.xml"/></Relationships>
</file>

<file path=ppt/notesSlides/_rels/notesSlide4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4.xml"/></Relationships>
</file>

<file path=ppt/notesSlides/_rels/notesSlide4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5.xml"/></Relationships>
</file>

<file path=ppt/notesSlides/_rels/notesSlide4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6.xml"/></Relationships>
</file>

<file path=ppt/notesSlides/_rels/notesSlide4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7.xml"/></Relationships>
</file>

<file path=ppt/notesSlides/_rels/notesSlide4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8.xml"/></Relationships>
</file>

<file path=ppt/notesSlides/_rels/notesSlide4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9.xml"/></Relationships>
</file>

<file path=ppt/notesSlides/_rels/notesSlide4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0.xml"/></Relationships>
</file>

<file path=ppt/notesSlides/_rels/notesSlide4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1.xml"/></Relationships>
</file>

<file path=ppt/notesSlides/_rels/notesSlide4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2.xml"/></Relationships>
</file>

<file path=ppt/notesSlides/_rels/notesSlide4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3.xml"/></Relationships>
</file>

<file path=ppt/notesSlides/_rels/notesSlide4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4.xml"/></Relationships>
</file>

<file path=ppt/notesSlides/_rels/notesSlide4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5.xml"/></Relationships>
</file>

<file path=ppt/notesSlides/_rels/notesSlide4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6.xml"/></Relationships>
</file>

<file path=ppt/notesSlides/_rels/notesSlide4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7.xml"/></Relationships>
</file>

<file path=ppt/notesSlides/_rels/notesSlide4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8.xml"/></Relationships>
</file>

<file path=ppt/notesSlides/_rels/notesSlide4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9.xml"/></Relationships>
</file>

<file path=ppt/notesSlides/_rels/notesSlide4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0.xml"/></Relationships>
</file>

<file path=ppt/notesSlides/_rels/notesSlide4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1.xml"/></Relationships>
</file>

<file path=ppt/notesSlides/_rels/notesSlide4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2.xml"/></Relationships>
</file>

<file path=ppt/notesSlides/_rels/notesSlide4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3.xml"/></Relationships>
</file>

<file path=ppt/notesSlides/_rels/notesSlide4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4.xml"/></Relationships>
</file>

<file path=ppt/notesSlides/_rels/notesSlide4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5.xml"/></Relationships>
</file>

<file path=ppt/notesSlides/_rels/notesSlide4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6.xml"/></Relationships>
</file>

<file path=ppt/notesSlides/_rels/notesSlide4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7.xml"/></Relationships>
</file>

<file path=ppt/notesSlides/_rels/notesSlide4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8.xml"/></Relationships>
</file>

<file path=ppt/notesSlides/_rels/notesSlide4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9.xml"/></Relationships>
</file>

<file path=ppt/notesSlides/_rels/notesSlide4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0.xml"/></Relationships>
</file>

<file path=ppt/notesSlides/_rels/notesSlide4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1.xml"/></Relationships>
</file>

<file path=ppt/notesSlides/_rels/notesSlide4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2.xml"/></Relationships>
</file>

<file path=ppt/notesSlides/_rels/notesSlide4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3.xml"/></Relationships>
</file>

<file path=ppt/notesSlides/_rels/notesSlide4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4.xml"/></Relationships>
</file>

<file path=ppt/notesSlides/_rels/notesSlide4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5.xml"/></Relationships>
</file>

<file path=ppt/notesSlides/_rels/notesSlide4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6.xml"/></Relationships>
</file>

<file path=ppt/notesSlides/_rels/notesSlide4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7.xml"/></Relationships>
</file>

<file path=ppt/notesSlides/_rels/notesSlide4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8.xml"/></Relationships>
</file>

<file path=ppt/notesSlides/_rels/notesSlide4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9.xml"/></Relationships>
</file>

<file path=ppt/notesSlides/_rels/notesSlide5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0.xml"/></Relationships>
</file>

<file path=ppt/notesSlides/_rels/notesSlide5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1.xml"/></Relationships>
</file>

<file path=ppt/notesSlides/_rels/notesSlide5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2.xml"/></Relationships>
</file>

<file path=ppt/notesSlides/_rels/notesSlide5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3.xml"/></Relationships>
</file>

<file path=ppt/notesSlides/_rels/notesSlide5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4.xml"/></Relationships>
</file>

<file path=ppt/notesSlides/_rels/notesSlide5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5.xml"/></Relationships>
</file>

<file path=ppt/notesSlides/_rels/notesSlide5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6.xml"/></Relationships>
</file>

<file path=ppt/notesSlides/_rels/notesSlide5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7.xml"/></Relationships>
</file>

<file path=ppt/notesSlides/_rels/notesSlide5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8.xml"/></Relationships>
</file>

<file path=ppt/notesSlides/_rels/notesSlide5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9.xml"/></Relationships>
</file>

<file path=ppt/notesSlides/_rels/notesSlide5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0.xml"/></Relationships>
</file>

<file path=ppt/notesSlides/_rels/notesSlide5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1.xml"/></Relationships>
</file>

<file path=ppt/notesSlides/_rels/notesSlide5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2.xml"/></Relationships>
</file>

<file path=ppt/notesSlides/_rels/notesSlide5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3.xml"/></Relationships>
</file>

<file path=ppt/notesSlides/_rels/notesSlide5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4.xml"/></Relationships>
</file>

<file path=ppt/notesSlides/_rels/notesSlide5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5.xml"/></Relationships>
</file>

<file path=ppt/notesSlides/_rels/notesSlide5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원본 docs/research-planner.md. 대시보드 리서치 탭의 'Planner' 문서를 장으로 옮겼다.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머리말</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머리말</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머리말</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머리말</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탭 'travplan과 고전 기준선'</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 travplan의 현재 구조</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B.10 고전 기준선: 그래프 탐색, 로컬 플래너, 궤적 최적화</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B.10 고전 기준선: 그래프 탐색, 로컬 플래너, 궤적 최적화</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B.10 고전 기준선: 그래프 탐색, 로컬 플래너, 궤적 최적화</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B.10 고전 기준선: 그래프 탐색, 로컬 플래너, 궤적 최적화 · 토글 '자세히: A*, Hybrid A*, DWA의 수식과 GuidancePlanner의 간선 비용'</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B.10 고전 기준선: 그래프 탐색, 로컬 플래너, 궤적 최적화</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탭 '학습 로컬 Planner'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B.2 waypoint를 직접 회귀하는 방식</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B.2 waypoint를 직접 회귀하는 방식 · 토글 '자세히: AgniNav의 방법과 수식'</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B.2 waypoint를 직접 회귀하는 방식</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B.2 waypoint를 직접 회귀하는 방식</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B.2 waypoint를 직접 회귀하는 방식 · 토글 '자세히: Skill-Nav의 방법과 수식'</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B.3 diffusion으로 궤적 분포를 만드는 방식</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B.3 diffusion으로 궤적 분포를 만드는 방식</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B.3 diffusion으로 궤적 분포를 만드는 방식 · 토글 '자세히: NavDP의 방법과 수식'</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B.3 diffusion으로 궤적 분포를 만드는 방식</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B.3 diffusion으로 궤적 분포를 만드는 방식</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B.3 diffusion으로 궤적 분포를 만드는 방식 · 토글 '자세히: X-NavDP의 방법과 수식'</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B.3 diffusion으로 궤적 분포를 만드는 방식</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B.3 diffusion으로 궤적 분포를 만드는 방식</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B.3 diffusion으로 궤적 분포를 만드는 방식</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B.3 diffusion으로 궤적 분포를 만드는 방식</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B.4 인식에서 속도 명령까지 RL로 곧장 가는 방식</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B.4 인식에서 속도 명령까지 RL로 곧장 가는 방식 · 토글 '자세히: MILER의 방법과 수식'</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B.4 인식에서 속도 명령까지 RL로 곧장 가는 방식 · 토글 '자세히: CORE Planner의 방법과 수식'</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B.4 인식에서 속도 명령까지 RL로 곧장 가는 방식</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B.4 인식에서 속도 명령까지 RL로 곧장 가는 방식</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B.4 인식에서 속도 명령까지 RL로 곧장 가는 방식 · 토글 '자세히: TAME-Nav의 방법·수식·결과와 한계'</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B.4 인식에서 속도 명령까지 RL로 곧장 가는 방식 · 토글 '자세히: TAME-Nav의 계보와 관련 연구(SEA-Nav CBF 수식, 연구 28편)'</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B.4b 비용 지도로 직접 학습하는 Planner: iPlanner와 ViPlanner</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B.4b 비용 지도로 직접 학습하는 Planner: iPlanner와 ViPlanner</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B.4b 비용 지도로 직접 학습하는 Planner: iPlanner와 ViPlanner · 토글 '자세히: 명령형 학습의 손실과 travplan plan_loss'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B.7 비교</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탭 '생성형 궤적'</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B.8.0 생성형 궤적의 계보: Diffuser에서 GoalFlow까지</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B.8.0 생성형 궤적의 계보: Diffuser에서 GoalFlow까지</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B.8.0 생성형 궤적의 계보: Diffuser에서 GoalFlow까지</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B.8.0 생성형 궤적의 계보: Diffuser에서 GoalFlow까지</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B.8.0 생성형 궤적의 계보: Diffuser에서 GoalFlow까지</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B.8.0 생성형 궤적의 계보: Diffuser에서 GoalFlow까지 · 토글 '자세히: 생성형 계획의 guidance와 목표 고정'</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B.8 시간·주변 에이전트·기구학을 함께 고려하는 생성형 궤적 Planner</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B.8 시간·주변 에이전트·기구학을 함께 고려하는 생성형 궤적 Planner</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B.8 시간·주변 에이전트·기구학을 함께 고려하는 생성형 궤적 Planner · 토글 '자세히: Diffusion Planner의 방법과 수식'</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B.8 시간·주변 에이전트·기구학을 함께 고려하는 생성형 궤적 Planner</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B.8 시간·주변 에이전트·기구학을 함께 고려하는 생성형 궤적 Planner</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B.8 시간·주변 에이전트·기구학을 함께 고려하는 생성형 궤적 Planner</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B.8 시간·주변 에이전트·기구학을 함께 고려하는 생성형 궤적 Planner</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B.8 시간·주변 에이전트·기구학을 함께 고려하는 생성형 궤적 Planner</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B.8 시간·주변 에이전트·기구학을 함께 고려하는 생성형 궤적 Planner · 토글 '자세히: PC-Diffuser의 방법과 수식'</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B.8 시간·주변 에이전트·기구학을 함께 고려하는 생성형 궤적 Planner · 토글 '자세히: FeaXDrive의 방법과 수식'</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B.8 시간·주변 에이전트·기구학을 함께 고려하는 생성형 궤적 Planner · 토글 '자세히: GuideFlow의 방법과 수식'</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B.8 시간·주변 에이전트·기구학을 함께 고려하는 생성형 궤적 Planner · 토글 '자세히: Adaptive-step Flow Matching의 방법과 수식'</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B.8 시간·주변 에이전트·기구학을 함께 고려하는 생성형 궤적 Planner · 토글 '자세히: MISTY의 방법과 수식'</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B.8 시간·주변 에이전트·기구학을 함께 고려하는 생성형 궤적 Planner · 토글 '자세히: DiffusionDrive의 방법과 수식'</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B.8 시간·주변 에이전트·기구학을 함께 고려하는 생성형 궤적 Planner · 토글 '자세히: JPPD의 방법과 수식'</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B.8 시간·주변 에이전트·기구학을 함께 고려하는 생성형 궤적 Planner · 토글 '자세히: GRACE의 방법과 수식'</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B.8 시간·주변 에이전트·기구학을 함께 고려하는 생성형 궤적 Planner · 토글 '자세히: 제약을 확산 안에서 거는 두 방식 — 기울기로 밀기와 노이즈 치환'</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B.8 시간·주변 에이전트·기구학을 함께 고려하는 생성형 궤적 Planner</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B.8 시간·주변 에이전트·기구학을 함께 고려하는 생성형 궤적 Planner</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B.8 시간·주변 에이전트·기구학을 함께 고려하는 생성형 궤적 Planner</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탭 'Foundation·VLA·언어'</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B.6 foundation model과 의미 기반 내비게이션</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B.6 foundation model과 의미 기반 내비게이션 · 토글 '자세히: ViNT와 NoMaD의 방법과 수식'</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B.6 foundation model과 의미 기반 내비게이션</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B.6 foundation model과 의미 기반 내비게이션</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B.6 foundation model과 의미 기반 내비게이션 · 토글 '자세히: CLUE의 방법과 수식'</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B.6b VLA와 도시 보행 내비: 언어·영상 기반 모델이 행동까지 낸다</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B.6b VLA와 도시 보행 내비: 언어·영상 기반 모델이 행동까지 낸다</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B.6b VLA와 도시 보행 내비: 언어·영상 기반 모델이 행동까지 낸다</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B.6b VLA와 도시 보행 내비: 언어·영상 기반 모델이 행동까지 낸다</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B.6b VLA와 도시 보행 내비: 언어·영상 기반 모델이 행동까지 낸다</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B.6b VLA와 도시 보행 내비: 언어·영상 기반 모델이 행동까지 낸다</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B.6b VLA와 도시 보행 내비: 언어·영상 기반 모델이 행동까지 낸다</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B.6b VLA와 도시 보행 내비: 언어·영상 기반 모델이 행동까지 낸다</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B.6b VLA와 도시 보행 내비: 언어·영상 기반 모델이 행동까지 낸다 · 토글 '자세히: VAMOS의 affordance 함수와 경로 고르기'</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B.6b VLA와 도시 보행 내비: 언어·영상 기반 모델이 행동까지 낸다</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B.6b VLA와 도시 보행 내비: 언어·영상 기반 모델이 행동까지 낸다 · 토글 '자세히: VLA의 행동 표현, 이산 토큰과 flow matching'</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B.6b VLA와 도시 보행 내비: 언어·영상 기반 모델이 행동까지 낸다</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B.6b VLA와 도시 보행 내비: 언어·영상 기반 모델이 행동까지 낸다</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B.6c 시연 투어와 위상 그래프: 멀티모달 지시를 좌표 없이 푼다</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B.6c 시연 투어와 위상 그래프: 멀티모달 지시를 좌표 없이 푼다</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B.6c 시연 투어와 위상 그래프: 멀티모달 지시를 좌표 없이 푼다 · 토글 '자세히: 계층을 없앴을 때 무슨 일이 일어나나'</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B.6c 시연 투어와 위상 그래프: 멀티모달 지시를 좌표 없이 푼다</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B.6d 보도 자율주행을 시연 로그로 배운다: MIMIC</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B.6d 보도 자율주행을 시연 로그로 배운다: MIMIC · 토글 '자세히: 왜 지평을 넷으로 나누고, 왜 로그를 흔드는가'</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B.6d 보도 자율주행을 시연 로그로 배운다: MIMIC</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B.6d 보도 자율주행을 시연 로그로 배운다: MIMIC</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B.6d 보도 자율주행을 시연 로그로 배운다: MIMIC</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B.6d 보도 자율주행을 시연 로그로 배운다: MIMIC</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탭 '위험 인지·로컬 내비'</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B.9 위험 인지 경로 계획과 로컬 내비게이션</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B.9 위험 인지 경로 계획과 로컬 내비게이션</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B.9 위험 인지 경로 계획과 로컬 내비게이션 · 토글 '자세히: TRG-planner의 방법과 수식'</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B.9 위험 인지 경로 계획과 로컬 내비게이션</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B.9 위험 인지 경로 계획과 로컬 내비게이션 · 토글 '자세히: DreamFlow의 방법과 수식'</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B.9 위험 인지 경로 계획과 로컬 내비게이션</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B.9 위험 인지 경로 계획과 로컬 내비게이션</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B.9 위험 인지 경로 계획과 로컬 내비게이션 · 토글 '자세히: NMoMa의 방법과 수식'</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B.9 위험 인지 경로 계획과 로컬 내비게이션</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B.9 위험 인지 경로 계획과 로컬 내비게이션</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B.9 위험 인지 경로 계획과 로컬 내비게이션 · 토글 '자세히: RoM-Nav의 방법과 수식'</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B.9 위험 인지 경로 계획과 로컬 내비게이션</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B.9 위험 인지 경로 계획과 로컬 내비게이션</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B.9 위험 인지 경로 계획과 로컬 내비게이션 · 토글 '자세히: Path-conditioned RL local planning의 방법과 수식'</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B.9 위험 인지 경로 계획과 로컬 내비게이션</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B.9 위험 인지 경로 계획과 로컬 내비게이션</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B.9 위험 인지 경로 계획과 로컬 내비게이션 · 토글 '자세히: 행성 로버 위험 인지 kinodynamic 계획의 방법과 수식'</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B.9 위험 인지 경로 계획과 로컬 내비게이션</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B.9 위험 인지 경로 계획과 로컬 내비게이션</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B.9 위험 인지 경로 계획과 로컬 내비게이션</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B.9 위험 인지 경로 계획과 로컬 내비게이션</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탭 '자율주행 자동차'</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B.12.1 자율주행 자동차: 규칙 스택에서 "후보 생성, 검증, 선택"으로</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B.12.1 자율주행 자동차: 규칙 스택에서 "후보 생성, 검증, 선택"으로</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B.12.1 자율주행 자동차: 규칙 스택에서 "후보 생성, 검증, 선택"으로 · 토글 '자세히: Apollo EM planner의 경로·속도 최적화'</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B.12.1 자율주행 자동차: 규칙 스택에서 "후보 생성, 검증, 선택"으로</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B.12.1 자율주행 자동차: 규칙 스택에서 "후보 생성, 검증, 선택"으로</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B.12.1 자율주행 자동차: 규칙 스택에서 "후보 생성, 검증, 선택"으로 · 토글 '자세히: IDM과 PDM-Closed의 제안·선택'</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B.12.1 자율주행 자동차: 규칙 스택에서 "후보 생성, 검증, 선택"으로</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B.12.1 자율주행 자동차: 규칙 스택에서 "후보 생성, 검증, 선택"으로</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B.12.1 자율주행 자동차: 규칙 스택에서 "후보 생성, 검증, 선택"으로</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B.12.1 자율주행 자동차: 규칙 스택에서 "후보 생성, 검증, 선택"으로</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B.12.1 자율주행 자동차: 규칙 스택에서 "후보 생성, 검증, 선택"으로</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B.12.1 자율주행 자동차: 규칙 스택에서 "후보 생성, 검증, 선택"으로 · 토글 '자세히: PLUTO의 충돌 손실과 대조 학습'</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B.12.1 자율주행 자동차: 규칙 스택에서 "후보 생성, 검증, 선택"으로</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B.12.1 자율주행 자동차: 규칙 스택에서 "후보 생성, 검증, 선택"으로</a:t>
            </a:r>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B.12.1 자율주행 자동차: 규칙 스택에서 "후보 생성, 검증, 선택"으로</a:t>
            </a:r>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B.12.1 자율주행 자동차: 규칙 스택에서 "후보 생성, 검증, 선택"으로</a:t>
            </a:r>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B.12.1 자율주행 자동차: 규칙 스택에서 "후보 생성, 검증, 선택"으로</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B.11 E2E 자율주행: 인식에서 계획까지 한 네트워크로</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B.11 E2E 자율주행: 인식에서 계획까지 한 네트워크로</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B.11 E2E 자율주행: 인식에서 계획까지 한 네트워크로</a:t>
            </a:r>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B.11 E2E 자율주행: 인식에서 계획까지 한 네트워크로</a:t>
            </a:r>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B.11 E2E 자율주행: 인식에서 계획까지 한 네트워크로</a:t>
            </a:r>
          </a:p>
        </p:txBody>
      </p:sp>
      <p:sp>
        <p:nvSpPr>
          <p:cNvPr id="4" name="Slide Number Placeholder 3"/>
          <p:cNvSpPr>
            <a:spLocks noGrp="1"/>
          </p:cNvSpPr>
          <p:nvPr>
            <p:ph type="sldNum" idx="5" sz="quarter"/>
          </p:nvPr>
        </p:nvSpPr>
        <p:spPr/>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B.11 E2E 자율주행: 인식에서 계획까지 한 네트워크로 · 토글 '자세히: NAVSIM의 PDMS와 Hydra-MDP의 점수 증류'</a:t>
            </a:r>
          </a:p>
        </p:txBody>
      </p:sp>
      <p:sp>
        <p:nvSpPr>
          <p:cNvPr id="4" name="Slide Number Placeholder 3"/>
          <p:cNvSpPr>
            <a:spLocks noGrp="1"/>
          </p:cNvSpPr>
          <p:nvPr>
            <p:ph type="sldNum" idx="5" sz="quarter"/>
          </p:nvPr>
        </p:nvSpPr>
        <p:spPr/>
      </p:sp>
    </p:spTree>
  </p:cSld>
  <p:clrMapOvr>
    <a:masterClrMapping/>
  </p:clrMapOvr>
</p:notes>
</file>

<file path=ppt/notesSlides/notesSlide1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B.11 E2E 자율주행: 인식에서 계획까지 한 네트워크로</a:t>
            </a:r>
          </a:p>
        </p:txBody>
      </p:sp>
      <p:sp>
        <p:nvSpPr>
          <p:cNvPr id="4" name="Slide Number Placeholder 3"/>
          <p:cNvSpPr>
            <a:spLocks noGrp="1"/>
          </p:cNvSpPr>
          <p:nvPr>
            <p:ph type="sldNum" idx="5" sz="quarter"/>
          </p:nvPr>
        </p:nvSpPr>
        <p:spPr/>
      </p:sp>
    </p:spTree>
  </p:cSld>
  <p:clrMapOvr>
    <a:masterClrMapping/>
  </p:clrMapOvr>
</p:notes>
</file>

<file path=ppt/notesSlides/notesSlide1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B.13 자율주행 Planner: 연구 역사, 상용화, 지금의 관심 주제</a:t>
            </a:r>
          </a:p>
        </p:txBody>
      </p:sp>
      <p:sp>
        <p:nvSpPr>
          <p:cNvPr id="4" name="Slide Number Placeholder 3"/>
          <p:cNvSpPr>
            <a:spLocks noGrp="1"/>
          </p:cNvSpPr>
          <p:nvPr>
            <p:ph type="sldNum" idx="5" sz="quarter"/>
          </p:nvPr>
        </p:nvSpPr>
        <p:spPr/>
      </p:sp>
    </p:spTree>
  </p:cSld>
  <p:clrMapOvr>
    <a:masterClrMapping/>
  </p:clrMapOvr>
</p:notes>
</file>

<file path=ppt/notesSlides/notesSlide1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B.13 자율주행 Planner: 연구 역사, 상용화, 지금의 관심 주제</a:t>
            </a:r>
          </a:p>
        </p:txBody>
      </p:sp>
      <p:sp>
        <p:nvSpPr>
          <p:cNvPr id="4" name="Slide Number Placeholder 3"/>
          <p:cNvSpPr>
            <a:spLocks noGrp="1"/>
          </p:cNvSpPr>
          <p:nvPr>
            <p:ph type="sldNum" idx="5" sz="quarter"/>
          </p:nvPr>
        </p:nvSpPr>
        <p:spPr/>
      </p:sp>
    </p:spTree>
  </p:cSld>
  <p:clrMapOvr>
    <a:masterClrMapping/>
  </p:clrMapOvr>
</p:notes>
</file>

<file path=ppt/notesSlides/notesSlide1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B.13 자율주행 Planner: 연구 역사, 상용화, 지금의 관심 주제</a:t>
            </a:r>
          </a:p>
        </p:txBody>
      </p:sp>
      <p:sp>
        <p:nvSpPr>
          <p:cNvPr id="4" name="Slide Number Placeholder 3"/>
          <p:cNvSpPr>
            <a:spLocks noGrp="1"/>
          </p:cNvSpPr>
          <p:nvPr>
            <p:ph type="sldNum" idx="5" sz="quarter"/>
          </p:nvPr>
        </p:nvSpPr>
        <p:spPr/>
      </p:sp>
    </p:spTree>
  </p:cSld>
  <p:clrMapOvr>
    <a:masterClrMapping/>
  </p:clrMapOvr>
</p:notes>
</file>

<file path=ppt/notesSlides/notesSlide1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B.13 자율주행 Planner: 연구 역사, 상용화, 지금의 관심 주제</a:t>
            </a:r>
          </a:p>
        </p:txBody>
      </p:sp>
      <p:sp>
        <p:nvSpPr>
          <p:cNvPr id="4" name="Slide Number Placeholder 3"/>
          <p:cNvSpPr>
            <a:spLocks noGrp="1"/>
          </p:cNvSpPr>
          <p:nvPr>
            <p:ph type="sldNum" idx="5" sz="quarter"/>
          </p:nvPr>
        </p:nvSpPr>
        <p:spPr/>
      </p:sp>
    </p:spTree>
  </p:cSld>
  <p:clrMapOvr>
    <a:masterClrMapping/>
  </p:clrMapOvr>
</p:notes>
</file>

<file path=ppt/notesSlides/notesSlide1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B.13 자율주행 Planner: 연구 역사, 상용화, 지금의 관심 주제</a:t>
            </a:r>
          </a:p>
        </p:txBody>
      </p:sp>
      <p:sp>
        <p:nvSpPr>
          <p:cNvPr id="4" name="Slide Number Placeholder 3"/>
          <p:cNvSpPr>
            <a:spLocks noGrp="1"/>
          </p:cNvSpPr>
          <p:nvPr>
            <p:ph type="sldNum" idx="5" sz="quarter"/>
          </p:nvPr>
        </p:nvSpPr>
        <p:spPr/>
      </p:sp>
    </p:spTree>
  </p:cSld>
  <p:clrMapOvr>
    <a:masterClrMapping/>
  </p:clrMapOvr>
</p:notes>
</file>

<file path=ppt/notesSlides/notesSlide1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B.13 자율주행 Planner: 연구 역사, 상용화, 지금의 관심 주제</a:t>
            </a:r>
          </a:p>
        </p:txBody>
      </p:sp>
      <p:sp>
        <p:nvSpPr>
          <p:cNvPr id="4" name="Slide Number Placeholder 3"/>
          <p:cNvSpPr>
            <a:spLocks noGrp="1"/>
          </p:cNvSpPr>
          <p:nvPr>
            <p:ph type="sldNum" idx="5" sz="quarter"/>
          </p:nvPr>
        </p:nvSpPr>
        <p:spPr/>
      </p:sp>
    </p:spTree>
  </p:cSld>
  <p:clrMapOvr>
    <a:masterClrMapping/>
  </p:clrMapOvr>
</p:notes>
</file>

<file path=ppt/notesSlides/notesSlide1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B.13 자율주행 Planner: 연구 역사, 상용화, 지금의 관심 주제</a:t>
            </a:r>
          </a:p>
        </p:txBody>
      </p:sp>
      <p:sp>
        <p:nvSpPr>
          <p:cNvPr id="4" name="Slide Number Placeholder 3"/>
          <p:cNvSpPr>
            <a:spLocks noGrp="1"/>
          </p:cNvSpPr>
          <p:nvPr>
            <p:ph type="sldNum" idx="5" sz="quarter"/>
          </p:nvPr>
        </p:nvSpPr>
        <p:spPr/>
      </p:sp>
    </p:spTree>
  </p:cSld>
  <p:clrMapOvr>
    <a:masterClrMapping/>
  </p:clrMapOvr>
</p:notes>
</file>

<file path=ppt/notesSlides/notesSlide1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탭 '다리·바퀴 로봇과 계보'</a:t>
            </a:r>
          </a:p>
        </p:txBody>
      </p:sp>
      <p:sp>
        <p:nvSpPr>
          <p:cNvPr id="4" name="Slide Number Placeholder 3"/>
          <p:cNvSpPr>
            <a:spLocks noGrp="1"/>
          </p:cNvSpPr>
          <p:nvPr>
            <p:ph type="sldNum" idx="5" sz="quarter"/>
          </p:nvPr>
        </p:nvSpPr>
        <p:spPr/>
      </p:sp>
    </p:spTree>
  </p:cSld>
  <p:clrMapOvr>
    <a:masterClrMapping/>
  </p:clrMapOvr>
</p:notes>
</file>

<file path=ppt/notesSlides/notesSlide1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B.12 로봇별 오픈소스 Planner: 자율주행 자동차, 사족보행, 휴머노이드, 바퀴 로봇</a:t>
            </a:r>
          </a:p>
        </p:txBody>
      </p:sp>
      <p:sp>
        <p:nvSpPr>
          <p:cNvPr id="4" name="Slide Number Placeholder 3"/>
          <p:cNvSpPr>
            <a:spLocks noGrp="1"/>
          </p:cNvSpPr>
          <p:nvPr>
            <p:ph type="sldNum" idx="5" sz="quarter"/>
          </p:nvPr>
        </p:nvSpPr>
        <p:spPr/>
      </p:sp>
    </p:spTree>
  </p:cSld>
  <p:clrMapOvr>
    <a:masterClrMapping/>
  </p:clrMapOvr>
</p:notes>
</file>

<file path=ppt/notesSlides/notesSlide1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B.12 로봇별 오픈소스 Planner: 자율주행 자동차, 사족보행, 휴머노이드, 바퀴 로봇</a:t>
            </a:r>
          </a:p>
        </p:txBody>
      </p:sp>
      <p:sp>
        <p:nvSpPr>
          <p:cNvPr id="4" name="Slide Number Placeholder 3"/>
          <p:cNvSpPr>
            <a:spLocks noGrp="1"/>
          </p:cNvSpPr>
          <p:nvPr>
            <p:ph type="sldNum" idx="5" sz="quarter"/>
          </p:nvPr>
        </p:nvSpPr>
        <p:spPr/>
      </p:sp>
    </p:spTree>
  </p:cSld>
  <p:clrMapOvr>
    <a:masterClrMapping/>
  </p:clrMapOvr>
</p:notes>
</file>

<file path=ppt/notesSlides/notesSlide1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B.12 로봇별 오픈소스 Planner: 자율주행 자동차, 사족보행, 휴머노이드, 바퀴 로봇</a:t>
            </a:r>
          </a:p>
        </p:txBody>
      </p:sp>
      <p:sp>
        <p:nvSpPr>
          <p:cNvPr id="4" name="Slide Number Placeholder 3"/>
          <p:cNvSpPr>
            <a:spLocks noGrp="1"/>
          </p:cNvSpPr>
          <p:nvPr>
            <p:ph type="sldNum" idx="5" sz="quarter"/>
          </p:nvPr>
        </p:nvSpPr>
        <p:spPr/>
      </p:sp>
    </p:spTree>
  </p:cSld>
  <p:clrMapOvr>
    <a:masterClrMapping/>
  </p:clrMapOvr>
</p:notes>
</file>

<file path=ppt/notesSlides/notesSlide1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B.12 로봇별 오픈소스 Planner: 자율주행 자동차, 사족보행, 휴머노이드, 바퀴 로봇 · 토글 '자세히: ArtPlanner의 자세 검증과 학습 이동 비용'</a:t>
            </a:r>
          </a:p>
        </p:txBody>
      </p:sp>
      <p:sp>
        <p:nvSpPr>
          <p:cNvPr id="4" name="Slide Number Placeholder 3"/>
          <p:cNvSpPr>
            <a:spLocks noGrp="1"/>
          </p:cNvSpPr>
          <p:nvPr>
            <p:ph type="sldNum" idx="5" sz="quarter"/>
          </p:nvPr>
        </p:nvSpPr>
        <p:spPr/>
      </p:sp>
    </p:spTree>
  </p:cSld>
  <p:clrMapOvr>
    <a:masterClrMapping/>
  </p:clrMapOvr>
</p:notes>
</file>

<file path=ppt/notesSlides/notesSlide1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B.12 로봇별 오픈소스 Planner: 자율주행 자동차, 사족보행, 휴머노이드, 바퀴 로봇</a:t>
            </a:r>
          </a:p>
        </p:txBody>
      </p:sp>
      <p:sp>
        <p:nvSpPr>
          <p:cNvPr id="4" name="Slide Number Placeholder 3"/>
          <p:cNvSpPr>
            <a:spLocks noGrp="1"/>
          </p:cNvSpPr>
          <p:nvPr>
            <p:ph type="sldNum" idx="5" sz="quarter"/>
          </p:nvPr>
        </p:nvSpPr>
        <p:spPr/>
      </p:sp>
    </p:spTree>
  </p:cSld>
  <p:clrMapOvr>
    <a:masterClrMapping/>
  </p:clrMapOvr>
</p:notes>
</file>

<file path=ppt/notesSlides/notesSlide1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B.12 로봇별 오픈소스 Planner: 자율주행 자동차, 사족보행, 휴머노이드, 바퀴 로봇</a:t>
            </a:r>
          </a:p>
        </p:txBody>
      </p:sp>
      <p:sp>
        <p:nvSpPr>
          <p:cNvPr id="4" name="Slide Number Placeholder 3"/>
          <p:cNvSpPr>
            <a:spLocks noGrp="1"/>
          </p:cNvSpPr>
          <p:nvPr>
            <p:ph type="sldNum" idx="5" sz="quarter"/>
          </p:nvPr>
        </p:nvSpPr>
        <p:spPr/>
      </p:sp>
    </p:spTree>
  </p:cSld>
  <p:clrMapOvr>
    <a:masterClrMapping/>
  </p:clrMapOvr>
</p:notes>
</file>

<file path=ppt/notesSlides/notesSlide1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B.12 로봇별 오픈소스 Planner: 자율주행 자동차, 사족보행, 휴머노이드, 바퀴 로봇</a:t>
            </a:r>
          </a:p>
        </p:txBody>
      </p:sp>
      <p:sp>
        <p:nvSpPr>
          <p:cNvPr id="4" name="Slide Number Placeholder 3"/>
          <p:cNvSpPr>
            <a:spLocks noGrp="1"/>
          </p:cNvSpPr>
          <p:nvPr>
            <p:ph type="sldNum" idx="5" sz="quarter"/>
          </p:nvPr>
        </p:nvSpPr>
        <p:spPr/>
      </p:sp>
    </p:spTree>
  </p:cSld>
  <p:clrMapOvr>
    <a:masterClrMapping/>
  </p:clrMapOvr>
</p:notes>
</file>

<file path=ppt/notesSlides/notesSlide1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B.12 로봇별 오픈소스 Planner: 자율주행 자동차, 사족보행, 휴머노이드, 바퀴 로봇</a:t>
            </a:r>
          </a:p>
        </p:txBody>
      </p:sp>
      <p:sp>
        <p:nvSpPr>
          <p:cNvPr id="4" name="Slide Number Placeholder 3"/>
          <p:cNvSpPr>
            <a:spLocks noGrp="1"/>
          </p:cNvSpPr>
          <p:nvPr>
            <p:ph type="sldNum" idx="5" sz="quarter"/>
          </p:nvPr>
        </p:nvSpPr>
        <p:spPr/>
      </p:sp>
    </p:spTree>
  </p:cSld>
  <p:clrMapOvr>
    <a:masterClrMapping/>
  </p:clrMapOvr>
</p:notes>
</file>

<file path=ppt/notesSlides/notesSlide1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B.12 로봇별 오픈소스 Planner: 자율주행 자동차, 사족보행, 휴머노이드, 바퀴 로봇</a:t>
            </a:r>
          </a:p>
        </p:txBody>
      </p:sp>
      <p:sp>
        <p:nvSpPr>
          <p:cNvPr id="4" name="Slide Number Placeholder 3"/>
          <p:cNvSpPr>
            <a:spLocks noGrp="1"/>
          </p:cNvSpPr>
          <p:nvPr>
            <p:ph type="sldNum" idx="5" sz="quarter"/>
          </p:nvPr>
        </p:nvSpPr>
        <p:spPr/>
      </p:sp>
    </p:spTree>
  </p:cSld>
  <p:clrMapOvr>
    <a:masterClrMapping/>
  </p:clrMapOvr>
</p:notes>
</file>

<file path=ppt/notesSlides/notesSlide1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B.12 로봇별 오픈소스 Planner: 자율주행 자동차, 사족보행, 휴머노이드, 바퀴 로봇 · 토글 '자세히: 발자국 그래프 탐색과 DDP의 역방향 패스'</a:t>
            </a:r>
          </a:p>
        </p:txBody>
      </p:sp>
      <p:sp>
        <p:nvSpPr>
          <p:cNvPr id="4" name="Slide Number Placeholder 3"/>
          <p:cNvSpPr>
            <a:spLocks noGrp="1"/>
          </p:cNvSpPr>
          <p:nvPr>
            <p:ph type="sldNum" idx="5" sz="quarter"/>
          </p:nvPr>
        </p:nvSpPr>
        <p:spPr/>
      </p:sp>
    </p:spTree>
  </p:cSld>
  <p:clrMapOvr>
    <a:masterClrMapping/>
  </p:clrMapOvr>
</p:notes>
</file>

<file path=ppt/notesSlides/notesSlide1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B.12 로봇별 오픈소스 Planner: 자율주행 자동차, 사족보행, 휴머노이드, 바퀴 로봇</a:t>
            </a:r>
          </a:p>
        </p:txBody>
      </p:sp>
      <p:sp>
        <p:nvSpPr>
          <p:cNvPr id="4" name="Slide Number Placeholder 3"/>
          <p:cNvSpPr>
            <a:spLocks noGrp="1"/>
          </p:cNvSpPr>
          <p:nvPr>
            <p:ph type="sldNum" idx="5" sz="quarter"/>
          </p:nvPr>
        </p:nvSpPr>
        <p:spPr/>
      </p:sp>
    </p:spTree>
  </p:cSld>
  <p:clrMapOvr>
    <a:masterClrMapping/>
  </p:clrMapOvr>
</p:notes>
</file>

<file path=ppt/notesSlides/notesSlide1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B.12 로봇별 오픈소스 Planner: 자율주행 자동차, 사족보행, 휴머노이드, 바퀴 로봇</a:t>
            </a:r>
          </a:p>
        </p:txBody>
      </p:sp>
      <p:sp>
        <p:nvSpPr>
          <p:cNvPr id="4" name="Slide Number Placeholder 3"/>
          <p:cNvSpPr>
            <a:spLocks noGrp="1"/>
          </p:cNvSpPr>
          <p:nvPr>
            <p:ph type="sldNum" idx="5" sz="quarter"/>
          </p:nvPr>
        </p:nvSpPr>
        <p:spPr/>
      </p:sp>
    </p:spTree>
  </p:cSld>
  <p:clrMapOvr>
    <a:masterClrMapping/>
  </p:clrMapOvr>
</p:notes>
</file>

<file path=ppt/notesSlides/notesSlide1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B.12 로봇별 오픈소스 Planner: 자율주행 자동차, 사족보행, 휴머노이드, 바퀴 로봇 · 토글 '자세히: HumanoidPF의 인력·척력 퍼텐셜'</a:t>
            </a:r>
          </a:p>
        </p:txBody>
      </p:sp>
      <p:sp>
        <p:nvSpPr>
          <p:cNvPr id="4" name="Slide Number Placeholder 3"/>
          <p:cNvSpPr>
            <a:spLocks noGrp="1"/>
          </p:cNvSpPr>
          <p:nvPr>
            <p:ph type="sldNum" idx="5" sz="quarter"/>
          </p:nvPr>
        </p:nvSpPr>
        <p:spPr/>
      </p:sp>
    </p:spTree>
  </p:cSld>
  <p:clrMapOvr>
    <a:masterClrMapping/>
  </p:clrMapOvr>
</p:notes>
</file>

<file path=ppt/notesSlides/notesSlide1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B.12 로봇별 오픈소스 Planner: 자율주행 자동차, 사족보행, 휴머노이드, 바퀴 로봇</a:t>
            </a:r>
          </a:p>
        </p:txBody>
      </p:sp>
      <p:sp>
        <p:nvSpPr>
          <p:cNvPr id="4" name="Slide Number Placeholder 3"/>
          <p:cNvSpPr>
            <a:spLocks noGrp="1"/>
          </p:cNvSpPr>
          <p:nvPr>
            <p:ph type="sldNum" idx="5" sz="quarter"/>
          </p:nvPr>
        </p:nvSpPr>
        <p:spPr/>
      </p:sp>
    </p:spTree>
  </p:cSld>
  <p:clrMapOvr>
    <a:masterClrMapping/>
  </p:clrMapOvr>
</p:notes>
</file>

<file path=ppt/notesSlides/notesSlide1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B.12 로봇별 오픈소스 Planner: 자율주행 자동차, 사족보행, 휴머노이드, 바퀴 로봇</a:t>
            </a:r>
          </a:p>
        </p:txBody>
      </p:sp>
      <p:sp>
        <p:nvSpPr>
          <p:cNvPr id="4" name="Slide Number Placeholder 3"/>
          <p:cNvSpPr>
            <a:spLocks noGrp="1"/>
          </p:cNvSpPr>
          <p:nvPr>
            <p:ph type="sldNum" idx="5" sz="quarter"/>
          </p:nvPr>
        </p:nvSpPr>
        <p:spPr/>
      </p:sp>
    </p:spTree>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B.12 로봇별 오픈소스 Planner: 자율주행 자동차, 사족보행, 휴머노이드, 바퀴 로봇</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B.12 로봇별 오픈소스 Planner: 자율주행 자동차, 사족보행, 휴머노이드, 바퀴 로봇</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B.12 로봇별 오픈소스 Planner: 자율주행 자동차, 사족보행, 휴머노이드, 바퀴 로봇</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B.12 로봇별 오픈소스 Planner: 자율주행 자동차, 사족보행, 휴머노이드, 바퀴 로봇</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B.12 로봇별 오픈소스 Planner: 자율주행 자동차, 사족보행, 휴머노이드, 바퀴 로봇 · 토글 '자세히: dddmr의 A\* 비용과 travplan 비용의 차이'</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B.12 로봇별 오픈소스 Planner: 자율주행 자동차, 사족보행, 휴머노이드, 바퀴 로봇</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B.12 로봇별 오픈소스 Planner: 자율주행 자동차, 사족보행, 휴머노이드, 바퀴 로봇</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B.12 로봇별 오픈소스 Planner: 자율주행 자동차, 사족보행, 휴머노이드, 바퀴 로봇 · 토글 '자세히: TrajoptLib의 스워브 궤적 최적화'</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B.12 로봇별 오픈소스 Planner: 자율주행 자동차, 사족보행, 휴머노이드, 바퀴 로봇</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B.12 로봇별 오픈소스 Planner: 자율주행 자동차, 사족보행, 휴머노이드, 바퀴 로봇</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B.12 로봇별 오픈소스 Planner: 자율주행 자동차, 사족보행, 휴머노이드, 바퀴 로봇</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B.12 로봇별 오픈소스 Planner: 자율주행 자동차, 사족보행, 휴머노이드, 바퀴 로봇 · 토글 '자세히: 비동축 스워브(PCV)의 기구학과 동축 스워브와의 차이'</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B.12 로봇별 오픈소스 Planner: 자율주행 자동차, 사족보행, 휴머노이드, 바퀴 로봇</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B.12 로봇별 오픈소스 Planner: 자율주행 자동차, 사족보행, 휴머노이드, 바퀴 로봇</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B.12 로봇별 오픈소스 Planner: 자율주행 자동차, 사족보행, 휴머노이드, 바퀴 로봇 · 토글 '자세히: PUTN의 traversability 지수와 travplan 비용의 차이'</a:t>
            </a:r>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B.12 로봇별 오픈소스 Planner: 자율주행 자동차, 사족보행, 휴머노이드, 바퀴 로봇</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B.12 로봇별 오픈소스 Planner: 자율주행 자동차, 사족보행, 휴머노이드, 바퀴 로봇</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B.12 로봇별 오픈소스 Planner: 자율주행 자동차, 사족보행, 휴머노이드, 바퀴 로봇</a:t>
            </a:r>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B.14 ETH RSL(Marco Hutter)의 계보: 높이 지도에서 배달로봇까지</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B.14 ETH RSL(Marco Hutter)의 계보: 높이 지도에서 배달로봇까지</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B.14 ETH RSL(Marco Hutter)의 계보: 높이 지도에서 배달로봇까지</a:t>
            </a:r>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B.14 ETH RSL(Marco Hutter)의 계보: 높이 지도에서 배달로봇까지 · 토글 '자세히: RSL 연표(2014–2026)'</a:t>
            </a:r>
          </a:p>
        </p:txBody>
      </p:sp>
      <p:sp>
        <p:nvSpPr>
          <p:cNvPr id="4" name="Slide Number Placeholder 3"/>
          <p:cNvSpPr>
            <a:spLocks noGrp="1"/>
          </p:cNvSpPr>
          <p:nvPr>
            <p:ph type="sldNum" idx="5" sz="quarter"/>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B.14 ETH RSL(Marco Hutter)의 계보: 높이 지도에서 배달로봇까지</a:t>
            </a:r>
          </a:p>
        </p:txBody>
      </p:sp>
      <p:sp>
        <p:nvSpPr>
          <p:cNvPr id="4" name="Slide Number Placeholder 3"/>
          <p:cNvSpPr>
            <a:spLocks noGrp="1"/>
          </p:cNvSpPr>
          <p:nvPr>
            <p:ph type="sldNum" idx="5" sz="quarter"/>
          </p:nvPr>
        </p:nvSpPr>
        <p:spPr/>
      </p:sp>
    </p:spTree>
  </p:cSld>
  <p:clrMapOvr>
    <a:masterClrMapping/>
  </p:clrMapOvr>
</p:notes>
</file>

<file path=ppt/notesSlides/notesSlide1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B.14 ETH RSL(Marco Hutter)의 계보: 높이 지도에서 배달로봇까지</a:t>
            </a:r>
          </a:p>
        </p:txBody>
      </p:sp>
      <p:sp>
        <p:nvSpPr>
          <p:cNvPr id="4" name="Slide Number Placeholder 3"/>
          <p:cNvSpPr>
            <a:spLocks noGrp="1"/>
          </p:cNvSpPr>
          <p:nvPr>
            <p:ph type="sldNum" idx="5" sz="quarter"/>
          </p:nvPr>
        </p:nvSpPr>
        <p:spPr/>
      </p:sp>
    </p:spTree>
  </p:cSld>
  <p:clrMapOvr>
    <a:masterClrMapping/>
  </p:clrMapOvr>
</p:notes>
</file>

<file path=ppt/notesSlides/notesSlide1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B.14 ETH RSL(Marco Hutter)의 계보: 높이 지도에서 배달로봇까지 · 토글 '자세히: 로봇 중심 elevation mapping의 방법과 수식'</a:t>
            </a:r>
          </a:p>
        </p:txBody>
      </p:sp>
      <p:sp>
        <p:nvSpPr>
          <p:cNvPr id="4" name="Slide Number Placeholder 3"/>
          <p:cNvSpPr>
            <a:spLocks noGrp="1"/>
          </p:cNvSpPr>
          <p:nvPr>
            <p:ph type="sldNum" idx="5" sz="quarter"/>
          </p:nvPr>
        </p:nvSpPr>
        <p:spPr/>
      </p:sp>
    </p:spTree>
  </p:cSld>
  <p:clrMapOvr>
    <a:masterClrMapping/>
  </p:clrMapOvr>
</p:notes>
</file>

<file path=ppt/notesSlides/notesSlide1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B.14 ETH RSL(Marco Hutter)의 계보: 높이 지도에서 배달로봇까지</a:t>
            </a:r>
          </a:p>
        </p:txBody>
      </p:sp>
      <p:sp>
        <p:nvSpPr>
          <p:cNvPr id="4" name="Slide Number Placeholder 3"/>
          <p:cNvSpPr>
            <a:spLocks noGrp="1"/>
          </p:cNvSpPr>
          <p:nvPr>
            <p:ph type="sldNum" idx="5" sz="quarter"/>
          </p:nvPr>
        </p:nvSpPr>
        <p:spPr/>
      </p:sp>
    </p:spTree>
  </p:cSld>
  <p:clrMapOvr>
    <a:masterClrMapping/>
  </p:clrMapOvr>
</p:notes>
</file>

<file path=ppt/notesSlides/notesSlide1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B.14 ETH RSL(Marco Hutter)의 계보: 높이 지도에서 배달로봇까지</a:t>
            </a:r>
          </a:p>
        </p:txBody>
      </p:sp>
      <p:sp>
        <p:nvSpPr>
          <p:cNvPr id="4" name="Slide Number Placeholder 3"/>
          <p:cNvSpPr>
            <a:spLocks noGrp="1"/>
          </p:cNvSpPr>
          <p:nvPr>
            <p:ph type="sldNum" idx="5" sz="quarter"/>
          </p:nvPr>
        </p:nvSpPr>
        <p:spPr/>
      </p:sp>
    </p:spTree>
  </p:cSld>
  <p:clrMapOvr>
    <a:masterClrMapping/>
  </p:clrMapOvr>
</p:notes>
</file>

<file path=ppt/notesSlides/notesSlide1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B.14 ETH RSL(Marco Hutter)의 계보: 높이 지도에서 배달로봇까지 · 토글 '자세히: Actuator net 논문의 방법과 수식'</a:t>
            </a:r>
          </a:p>
        </p:txBody>
      </p:sp>
      <p:sp>
        <p:nvSpPr>
          <p:cNvPr id="4" name="Slide Number Placeholder 3"/>
          <p:cNvSpPr>
            <a:spLocks noGrp="1"/>
          </p:cNvSpPr>
          <p:nvPr>
            <p:ph type="sldNum" idx="5" sz="quarter"/>
          </p:nvPr>
        </p:nvSpPr>
        <p:spPr/>
      </p:sp>
    </p:spTree>
  </p:cSld>
  <p:clrMapOvr>
    <a:masterClrMapping/>
  </p:clrMapOvr>
</p:notes>
</file>

<file path=ppt/notesSlides/notesSlide1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B.14 ETH RSL(Marco Hutter)의 계보: 높이 지도에서 배달로봇까지</a:t>
            </a:r>
          </a:p>
        </p:txBody>
      </p:sp>
      <p:sp>
        <p:nvSpPr>
          <p:cNvPr id="4" name="Slide Number Placeholder 3"/>
          <p:cNvSpPr>
            <a:spLocks noGrp="1"/>
          </p:cNvSpPr>
          <p:nvPr>
            <p:ph type="sldNum" idx="5" sz="quarter"/>
          </p:nvPr>
        </p:nvSpPr>
        <p:spPr/>
      </p:sp>
    </p:spTree>
  </p:cSld>
  <p:clrMapOvr>
    <a:masterClrMapping/>
  </p:clrMapOvr>
</p:notes>
</file>

<file path=ppt/notesSlides/notesSlide1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B.14 ETH RSL(Marco Hutter)의 계보: 높이 지도에서 배달로봇까지</a:t>
            </a:r>
          </a:p>
        </p:txBody>
      </p:sp>
      <p:sp>
        <p:nvSpPr>
          <p:cNvPr id="4" name="Slide Number Placeholder 3"/>
          <p:cNvSpPr>
            <a:spLocks noGrp="1"/>
          </p:cNvSpPr>
          <p:nvPr>
            <p:ph type="sldNum" idx="5" sz="quarter"/>
          </p:nvPr>
        </p:nvSpPr>
        <p:spPr/>
      </p:sp>
    </p:spTree>
  </p:cSld>
  <p:clrMapOvr>
    <a:masterClrMapping/>
  </p:clrMapOvr>
</p:notes>
</file>

<file path=ppt/notesSlides/notesSlide1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B.14 ETH RSL(Marco Hutter)의 계보: 높이 지도에서 배달로봇까지 · 토글 '자세히: 험지 blind 보행에서 A.7에 없는 실험 세부와 공개 자료'</a:t>
            </a:r>
          </a:p>
        </p:txBody>
      </p:sp>
      <p:sp>
        <p:nvSpPr>
          <p:cNvPr id="4" name="Slide Number Placeholder 3"/>
          <p:cNvSpPr>
            <a:spLocks noGrp="1"/>
          </p:cNvSpPr>
          <p:nvPr>
            <p:ph type="sldNum" idx="5" sz="quarter"/>
          </p:nvPr>
        </p:nvSpPr>
        <p:spPr/>
      </p:sp>
    </p:spTree>
  </p:cSld>
  <p:clrMapOvr>
    <a:masterClrMapping/>
  </p:clrMapOvr>
</p:notes>
</file>

<file path=ppt/notesSlides/notesSlide1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B.14 ETH RSL(Marco Hutter)의 계보: 높이 지도에서 배달로봇까지</a:t>
            </a:r>
          </a:p>
        </p:txBody>
      </p:sp>
      <p:sp>
        <p:nvSpPr>
          <p:cNvPr id="4" name="Slide Number Placeholder 3"/>
          <p:cNvSpPr>
            <a:spLocks noGrp="1"/>
          </p:cNvSpPr>
          <p:nvPr>
            <p:ph type="sldNum" idx="5" sz="quarter"/>
          </p:nvPr>
        </p:nvSpPr>
        <p:spPr/>
      </p:sp>
    </p:spTree>
  </p:cSld>
  <p:clrMapOvr>
    <a:masterClrMapping/>
  </p:clrMapOvr>
</p:notes>
</file>

<file path=ppt/notesSlides/notesSlide1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B.14 ETH RSL(Marco Hutter)의 계보: 높이 지도에서 배달로봇까지</a:t>
            </a:r>
          </a:p>
        </p:txBody>
      </p:sp>
      <p:sp>
        <p:nvSpPr>
          <p:cNvPr id="4" name="Slide Number Placeholder 3"/>
          <p:cNvSpPr>
            <a:spLocks noGrp="1"/>
          </p:cNvSpPr>
          <p:nvPr>
            <p:ph type="sldNum" idx="5" sz="quarter"/>
          </p:nvPr>
        </p:nvSpPr>
        <p:spPr/>
      </p:sp>
    </p:spTree>
  </p:cSld>
  <p:clrMapOvr>
    <a:masterClrMapping/>
  </p:clrMapOvr>
</p:notes>
</file>

<file path=ppt/notesSlides/notesSlide1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B.14 ETH RSL(Marco Hutter)의 계보: 높이 지도에서 배달로봇까지 · 토글 '자세히: Learning to Walk in Minutes의 방법과 수식'</a:t>
            </a:r>
          </a:p>
        </p:txBody>
      </p:sp>
      <p:sp>
        <p:nvSpPr>
          <p:cNvPr id="4" name="Slide Number Placeholder 3"/>
          <p:cNvSpPr>
            <a:spLocks noGrp="1"/>
          </p:cNvSpPr>
          <p:nvPr>
            <p:ph type="sldNum" idx="5" sz="quarter"/>
          </p:nvPr>
        </p:nvSpPr>
        <p:spPr/>
      </p:sp>
    </p:spTree>
  </p:cSld>
  <p:clrMapOvr>
    <a:masterClrMapping/>
  </p:clrMapOvr>
</p:notes>
</file>

<file path=ppt/notesSlides/notesSlide2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B.14 ETH RSL(Marco Hutter)의 계보: 높이 지도에서 배달로봇까지</a:t>
            </a:r>
          </a:p>
        </p:txBody>
      </p:sp>
      <p:sp>
        <p:nvSpPr>
          <p:cNvPr id="4" name="Slide Number Placeholder 3"/>
          <p:cNvSpPr>
            <a:spLocks noGrp="1"/>
          </p:cNvSpPr>
          <p:nvPr>
            <p:ph type="sldNum" idx="5" sz="quarter"/>
          </p:nvPr>
        </p:nvSpPr>
        <p:spPr/>
      </p:sp>
    </p:spTree>
  </p:cSld>
  <p:clrMapOvr>
    <a:masterClrMapping/>
  </p:clrMapOvr>
</p:notes>
</file>

<file path=ppt/notesSlides/notesSlide2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B.14 ETH RSL(Marco Hutter)의 계보: 높이 지도에서 배달로봇까지</a:t>
            </a:r>
          </a:p>
        </p:txBody>
      </p:sp>
      <p:sp>
        <p:nvSpPr>
          <p:cNvPr id="4" name="Slide Number Placeholder 3"/>
          <p:cNvSpPr>
            <a:spLocks noGrp="1"/>
          </p:cNvSpPr>
          <p:nvPr>
            <p:ph type="sldNum" idx="5" sz="quarter"/>
          </p:nvPr>
        </p:nvSpPr>
        <p:spPr/>
      </p:sp>
    </p:spTree>
  </p:cSld>
  <p:clrMapOvr>
    <a:masterClrMapping/>
  </p:clrMapOvr>
</p:notes>
</file>

<file path=ppt/notesSlides/notesSlide2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B.14 ETH RSL(Marco Hutter)의 계보: 높이 지도에서 배달로봇까지 · 토글 '자세히: Robust Perceptive Locomotion에서 A.7.1에 없는 것'</a:t>
            </a:r>
          </a:p>
        </p:txBody>
      </p:sp>
      <p:sp>
        <p:nvSpPr>
          <p:cNvPr id="4" name="Slide Number Placeholder 3"/>
          <p:cNvSpPr>
            <a:spLocks noGrp="1"/>
          </p:cNvSpPr>
          <p:nvPr>
            <p:ph type="sldNum" idx="5" sz="quarter"/>
          </p:nvPr>
        </p:nvSpPr>
        <p:spPr/>
      </p:sp>
    </p:spTree>
  </p:cSld>
  <p:clrMapOvr>
    <a:masterClrMapping/>
  </p:clrMapOvr>
</p:notes>
</file>

<file path=ppt/notesSlides/notesSlide2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B.14 ETH RSL(Marco Hutter)의 계보: 높이 지도에서 배달로봇까지</a:t>
            </a:r>
          </a:p>
        </p:txBody>
      </p:sp>
      <p:sp>
        <p:nvSpPr>
          <p:cNvPr id="4" name="Slide Number Placeholder 3"/>
          <p:cNvSpPr>
            <a:spLocks noGrp="1"/>
          </p:cNvSpPr>
          <p:nvPr>
            <p:ph type="sldNum" idx="5" sz="quarter"/>
          </p:nvPr>
        </p:nvSpPr>
        <p:spPr/>
      </p:sp>
    </p:spTree>
  </p:cSld>
  <p:clrMapOvr>
    <a:masterClrMapping/>
  </p:clrMapOvr>
</p:notes>
</file>

<file path=ppt/notesSlides/notesSlide2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B.14 ETH RSL(Marco Hutter)의 계보: 높이 지도에서 배달로봇까지</a:t>
            </a:r>
          </a:p>
        </p:txBody>
      </p:sp>
      <p:sp>
        <p:nvSpPr>
          <p:cNvPr id="4" name="Slide Number Placeholder 3"/>
          <p:cNvSpPr>
            <a:spLocks noGrp="1"/>
          </p:cNvSpPr>
          <p:nvPr>
            <p:ph type="sldNum" idx="5" sz="quarter"/>
          </p:nvPr>
        </p:nvSpPr>
        <p:spPr/>
      </p:sp>
    </p:spTree>
  </p:cSld>
  <p:clrMapOvr>
    <a:masterClrMapping/>
  </p:clrMapOvr>
</p:notes>
</file>

<file path=ppt/notesSlides/notesSlide2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B.14 ETH RSL(Marco Hutter)의 계보: 높이 지도에서 배달로봇까지 · 토글 '자세히: DTC의 방법과 수식'</a:t>
            </a:r>
          </a:p>
        </p:txBody>
      </p:sp>
      <p:sp>
        <p:nvSpPr>
          <p:cNvPr id="4" name="Slide Number Placeholder 3"/>
          <p:cNvSpPr>
            <a:spLocks noGrp="1"/>
          </p:cNvSpPr>
          <p:nvPr>
            <p:ph type="sldNum" idx="5" sz="quarter"/>
          </p:nvPr>
        </p:nvSpPr>
        <p:spPr/>
      </p:sp>
    </p:spTree>
  </p:cSld>
  <p:clrMapOvr>
    <a:masterClrMapping/>
  </p:clrMapOvr>
</p:notes>
</file>

<file path=ppt/notesSlides/notesSlide2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B.14 ETH RSL(Marco Hutter)의 계보: 높이 지도에서 배달로봇까지</a:t>
            </a:r>
          </a:p>
        </p:txBody>
      </p:sp>
      <p:sp>
        <p:nvSpPr>
          <p:cNvPr id="4" name="Slide Number Placeholder 3"/>
          <p:cNvSpPr>
            <a:spLocks noGrp="1"/>
          </p:cNvSpPr>
          <p:nvPr>
            <p:ph type="sldNum" idx="5" sz="quarter"/>
          </p:nvPr>
        </p:nvSpPr>
        <p:spPr/>
      </p:sp>
    </p:spTree>
  </p:cSld>
  <p:clrMapOvr>
    <a:masterClrMapping/>
  </p:clrMapOvr>
</p:notes>
</file>

<file path=ppt/notesSlides/notesSlide2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B.14 ETH RSL(Marco Hutter)의 계보: 높이 지도에서 배달로봇까지</a:t>
            </a:r>
          </a:p>
        </p:txBody>
      </p:sp>
      <p:sp>
        <p:nvSpPr>
          <p:cNvPr id="4" name="Slide Number Placeholder 3"/>
          <p:cNvSpPr>
            <a:spLocks noGrp="1"/>
          </p:cNvSpPr>
          <p:nvPr>
            <p:ph type="sldNum" idx="5" sz="quarter"/>
          </p:nvPr>
        </p:nvSpPr>
        <p:spPr/>
      </p:sp>
    </p:spTree>
  </p:cSld>
  <p:clrMapOvr>
    <a:masterClrMapping/>
  </p:clrMapOvr>
</p:notes>
</file>

<file path=ppt/notesSlides/notesSlide2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B.14 ETH RSL(Marco Hutter)의 계보: 높이 지도에서 배달로봇까지 · 토글 '자세히: ANYmal Parkour에서 A.7.1에 없는 것'</a:t>
            </a:r>
          </a:p>
        </p:txBody>
      </p:sp>
      <p:sp>
        <p:nvSpPr>
          <p:cNvPr id="4" name="Slide Number Placeholder 3"/>
          <p:cNvSpPr>
            <a:spLocks noGrp="1"/>
          </p:cNvSpPr>
          <p:nvPr>
            <p:ph type="sldNum" idx="5" sz="quarter"/>
          </p:nvPr>
        </p:nvSpPr>
        <p:spPr/>
      </p:sp>
    </p:spTree>
  </p:cSld>
  <p:clrMapOvr>
    <a:masterClrMapping/>
  </p:clrMapOvr>
</p:notes>
</file>

<file path=ppt/notesSlides/notesSlide2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B.14 ETH RSL(Marco Hutter)의 계보: 높이 지도에서 배달로봇까지</a:t>
            </a:r>
          </a:p>
        </p:txBody>
      </p:sp>
      <p:sp>
        <p:nvSpPr>
          <p:cNvPr id="4" name="Slide Number Placeholder 3"/>
          <p:cNvSpPr>
            <a:spLocks noGrp="1"/>
          </p:cNvSpPr>
          <p:nvPr>
            <p:ph type="sldNum" idx="5" sz="quarter"/>
          </p:nvPr>
        </p:nvSpPr>
        <p:spPr/>
      </p:sp>
    </p:spTree>
  </p:cSld>
  <p:clrMapOvr>
    <a:masterClrMapping/>
  </p:clrMapOvr>
</p:notes>
</file>

<file path=ppt/notesSlides/notesSlide2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B.14 ETH RSL(Marco Hutter)의 계보: 높이 지도에서 배달로봇까지</a:t>
            </a:r>
          </a:p>
        </p:txBody>
      </p:sp>
      <p:sp>
        <p:nvSpPr>
          <p:cNvPr id="4" name="Slide Number Placeholder 3"/>
          <p:cNvSpPr>
            <a:spLocks noGrp="1"/>
          </p:cNvSpPr>
          <p:nvPr>
            <p:ph type="sldNum" idx="5" sz="quarter"/>
          </p:nvPr>
        </p:nvSpPr>
        <p:spPr/>
      </p:sp>
    </p:spTree>
  </p:cSld>
  <p:clrMapOvr>
    <a:masterClrMapping/>
  </p:clrMapOvr>
</p:notes>
</file>

<file path=ppt/notesSlides/notesSlide2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B.14 ETH RSL(Marco Hutter)의 계보: 높이 지도에서 배달로봇까지 · 토글 '자세히: ArtPlanner의 결승 수치, 실패 사례, travplan에 주는 것'</a:t>
            </a:r>
          </a:p>
        </p:txBody>
      </p:sp>
      <p:sp>
        <p:nvSpPr>
          <p:cNvPr id="4" name="Slide Number Placeholder 3"/>
          <p:cNvSpPr>
            <a:spLocks noGrp="1"/>
          </p:cNvSpPr>
          <p:nvPr>
            <p:ph type="sldNum" idx="5" sz="quarter"/>
          </p:nvPr>
        </p:nvSpPr>
        <p:spPr/>
      </p:sp>
    </p:spTree>
  </p:cSld>
  <p:clrMapOvr>
    <a:masterClrMapping/>
  </p:clrMapOvr>
</p:notes>
</file>

<file path=ppt/notesSlides/notesSlide2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B.14 ETH RSL(Marco Hutter)의 계보: 높이 지도에서 배달로봇까지</a:t>
            </a:r>
          </a:p>
        </p:txBody>
      </p:sp>
      <p:sp>
        <p:nvSpPr>
          <p:cNvPr id="4" name="Slide Number Placeholder 3"/>
          <p:cNvSpPr>
            <a:spLocks noGrp="1"/>
          </p:cNvSpPr>
          <p:nvPr>
            <p:ph type="sldNum" idx="5" sz="quarter"/>
          </p:nvPr>
        </p:nvSpPr>
        <p:spPr/>
      </p:sp>
    </p:spTree>
  </p:cSld>
  <p:clrMapOvr>
    <a:masterClrMapping/>
  </p:clrMapOvr>
</p:notes>
</file>

<file path=ppt/notesSlides/notesSlide2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B.14 ETH RSL(Marco Hutter)의 계보: 높이 지도에서 배달로봇까지</a:t>
            </a:r>
          </a:p>
        </p:txBody>
      </p:sp>
      <p:sp>
        <p:nvSpPr>
          <p:cNvPr id="4" name="Slide Number Placeholder 3"/>
          <p:cNvSpPr>
            <a:spLocks noGrp="1"/>
          </p:cNvSpPr>
          <p:nvPr>
            <p:ph type="sldNum" idx="5" sz="quarter"/>
          </p:nvPr>
        </p:nvSpPr>
        <p:spPr/>
      </p:sp>
    </p:spTree>
  </p:cSld>
  <p:clrMapOvr>
    <a:masterClrMapping/>
  </p:clrMapOvr>
</p:notes>
</file>

<file path=ppt/notesSlides/notesSlide2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B.14 ETH RSL(Marco Hutter)의 계보: 높이 지도에서 배달로봇까지 · 토글 '자세히: WVN RSS 2023판의 수치와 travplan에 주는 것'</a:t>
            </a:r>
          </a:p>
        </p:txBody>
      </p:sp>
      <p:sp>
        <p:nvSpPr>
          <p:cNvPr id="4" name="Slide Number Placeholder 3"/>
          <p:cNvSpPr>
            <a:spLocks noGrp="1"/>
          </p:cNvSpPr>
          <p:nvPr>
            <p:ph type="sldNum" idx="5" sz="quarter"/>
          </p:nvPr>
        </p:nvSpPr>
        <p:spPr/>
      </p:sp>
    </p:spTree>
  </p:cSld>
  <p:clrMapOvr>
    <a:masterClrMapping/>
  </p:clrMapOvr>
</p:notes>
</file>

<file path=ppt/notesSlides/notesSlide2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B.14 ETH RSL(Marco Hutter)의 계보: 높이 지도에서 배달로봇까지</a:t>
            </a:r>
          </a:p>
        </p:txBody>
      </p:sp>
      <p:sp>
        <p:nvSpPr>
          <p:cNvPr id="4" name="Slide Number Placeholder 3"/>
          <p:cNvSpPr>
            <a:spLocks noGrp="1"/>
          </p:cNvSpPr>
          <p:nvPr>
            <p:ph type="sldNum" idx="5" sz="quarter"/>
          </p:nvPr>
        </p:nvSpPr>
        <p:spPr/>
      </p:sp>
    </p:spTree>
  </p:cSld>
  <p:clrMapOvr>
    <a:masterClrMapping/>
  </p:clrMapOvr>
</p:notes>
</file>

<file path=ppt/notesSlides/notesSlide2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B.14 ETH RSL(Marco Hutter)의 계보: 높이 지도에서 배달로봇까지 · 토글 '자세히: ViPlanner가 iPlanner 손실에서 바꾼 것과 시뮬레이션 수치'</a:t>
            </a:r>
          </a:p>
        </p:txBody>
      </p:sp>
      <p:sp>
        <p:nvSpPr>
          <p:cNvPr id="4" name="Slide Number Placeholder 3"/>
          <p:cNvSpPr>
            <a:spLocks noGrp="1"/>
          </p:cNvSpPr>
          <p:nvPr>
            <p:ph type="sldNum" idx="5" sz="quarter"/>
          </p:nvPr>
        </p:nvSpPr>
        <p:spPr/>
      </p:sp>
    </p:spTree>
  </p:cSld>
  <p:clrMapOvr>
    <a:masterClrMapping/>
  </p:clrMapOvr>
</p:notes>
</file>

<file path=ppt/notesSlides/notesSlide2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B.14 ETH RSL(Marco Hutter)의 계보: 높이 지도에서 배달로봇까지</a:t>
            </a:r>
          </a:p>
        </p:txBody>
      </p:sp>
      <p:sp>
        <p:nvSpPr>
          <p:cNvPr id="4" name="Slide Number Placeholder 3"/>
          <p:cNvSpPr>
            <a:spLocks noGrp="1"/>
          </p:cNvSpPr>
          <p:nvPr>
            <p:ph type="sldNum" idx="5" sz="quarter"/>
          </p:nvPr>
        </p:nvSpPr>
        <p:spPr/>
      </p:sp>
    </p:spTree>
  </p:cSld>
  <p:clrMapOvr>
    <a:masterClrMapping/>
  </p:clrMapOvr>
</p:notes>
</file>

<file path=ppt/notesSlides/notesSlide2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B.14 ETH RSL(Marco Hutter)의 계보: 높이 지도에서 배달로봇까지</a:t>
            </a:r>
          </a:p>
        </p:txBody>
      </p:sp>
      <p:sp>
        <p:nvSpPr>
          <p:cNvPr id="4" name="Slide Number Placeholder 3"/>
          <p:cNvSpPr>
            <a:spLocks noGrp="1"/>
          </p:cNvSpPr>
          <p:nvPr>
            <p:ph type="sldNum" idx="5" sz="quarter"/>
          </p:nvPr>
        </p:nvSpPr>
        <p:spPr/>
      </p:sp>
    </p:spTree>
  </p:cSld>
  <p:clrMapOvr>
    <a:masterClrMapping/>
  </p:clrMapOvr>
</p:notes>
</file>

<file path=ppt/notesSlides/notesSlide2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B.14 ETH RSL(Marco Hutter)의 계보: 높이 지도에서 배달로봇까지 · 토글 '자세히: FDM의 방법과 수식, 그리고 GP 잔차와의 차이'</a:t>
            </a:r>
          </a:p>
        </p:txBody>
      </p:sp>
      <p:sp>
        <p:nvSpPr>
          <p:cNvPr id="4" name="Slide Number Placeholder 3"/>
          <p:cNvSpPr>
            <a:spLocks noGrp="1"/>
          </p:cNvSpPr>
          <p:nvPr>
            <p:ph type="sldNum" idx="5" sz="quarter"/>
          </p:nvPr>
        </p:nvSpPr>
        <p:spPr/>
      </p:sp>
    </p:spTree>
  </p:cSld>
  <p:clrMapOvr>
    <a:masterClrMapping/>
  </p:clrMapOvr>
</p:notes>
</file>

<file path=ppt/notesSlides/notesSlide2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B.14 ETH RSL(Marco Hutter)의 계보: 높이 지도에서 배달로봇까지</a:t>
            </a:r>
          </a:p>
        </p:txBody>
      </p:sp>
      <p:sp>
        <p:nvSpPr>
          <p:cNvPr id="4" name="Slide Number Placeholder 3"/>
          <p:cNvSpPr>
            <a:spLocks noGrp="1"/>
          </p:cNvSpPr>
          <p:nvPr>
            <p:ph type="sldNum" idx="5" sz="quarter"/>
          </p:nvPr>
        </p:nvSpPr>
        <p:spPr/>
      </p:sp>
    </p:spTree>
  </p:cSld>
  <p:clrMapOvr>
    <a:masterClrMapping/>
  </p:clrMapOvr>
</p:notes>
</file>

<file path=ppt/notesSlides/notesSlide2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B.14 ETH RSL(Marco Hutter)의 계보: 높이 지도에서 배달로봇까지</a:t>
            </a:r>
          </a:p>
        </p:txBody>
      </p:sp>
      <p:sp>
        <p:nvSpPr>
          <p:cNvPr id="4" name="Slide Number Placeholder 3"/>
          <p:cNvSpPr>
            <a:spLocks noGrp="1"/>
          </p:cNvSpPr>
          <p:nvPr>
            <p:ph type="sldNum" idx="5" sz="quarter"/>
          </p:nvPr>
        </p:nvSpPr>
        <p:spPr/>
      </p:sp>
    </p:spTree>
  </p:cSld>
  <p:clrMapOvr>
    <a:masterClrMapping/>
  </p:clrMapOvr>
</p:notes>
</file>

<file path=ppt/notesSlides/notesSlide2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B.14 ETH RSL(Marco Hutter)의 계보: 높이 지도에서 배달로봇까지 · 토글 '자세히: SRU의 방법과 수식, 실험 결과'</a:t>
            </a:r>
          </a:p>
        </p:txBody>
      </p:sp>
      <p:sp>
        <p:nvSpPr>
          <p:cNvPr id="4" name="Slide Number Placeholder 3"/>
          <p:cNvSpPr>
            <a:spLocks noGrp="1"/>
          </p:cNvSpPr>
          <p:nvPr>
            <p:ph type="sldNum" idx="5" sz="quarter"/>
          </p:nvPr>
        </p:nvSpPr>
        <p:spPr/>
      </p:sp>
    </p:spTree>
  </p:cSld>
  <p:clrMapOvr>
    <a:masterClrMapping/>
  </p:clrMapOvr>
</p:notes>
</file>

<file path=ppt/notesSlides/notesSlide2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B.14 ETH RSL(Marco Hutter)의 계보: 높이 지도에서 배달로봇까지</a:t>
            </a:r>
          </a:p>
        </p:txBody>
      </p:sp>
      <p:sp>
        <p:nvSpPr>
          <p:cNvPr id="4" name="Slide Number Placeholder 3"/>
          <p:cNvSpPr>
            <a:spLocks noGrp="1"/>
          </p:cNvSpPr>
          <p:nvPr>
            <p:ph type="sldNum" idx="5" sz="quarter"/>
          </p:nvPr>
        </p:nvSpPr>
        <p:spPr/>
      </p:sp>
    </p:spTree>
  </p:cSld>
  <p:clrMapOvr>
    <a:masterClrMapping/>
  </p:clrMapOvr>
</p:notes>
</file>

<file path=ppt/notesSlides/notesSlide2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B.14 ETH RSL(Marco Hutter)의 계보: 높이 지도에서 배달로봇까지 · 토글 '자세히: Path-conditioned RL의 학습 설정, 절제 실험, travplan에 주는 것'</a:t>
            </a:r>
          </a:p>
        </p:txBody>
      </p:sp>
      <p:sp>
        <p:nvSpPr>
          <p:cNvPr id="4" name="Slide Number Placeholder 3"/>
          <p:cNvSpPr>
            <a:spLocks noGrp="1"/>
          </p:cNvSpPr>
          <p:nvPr>
            <p:ph type="sldNum" idx="5" sz="quarter"/>
          </p:nvPr>
        </p:nvSpPr>
        <p:spPr/>
      </p:sp>
    </p:spTree>
  </p:cSld>
  <p:clrMapOvr>
    <a:masterClrMapping/>
  </p:clrMapOvr>
</p:notes>
</file>

<file path=ppt/notesSlides/notesSlide2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B.14 ETH RSL(Marco Hutter)의 계보: 높이 지도에서 배달로봇까지</a:t>
            </a:r>
          </a:p>
        </p:txBody>
      </p:sp>
      <p:sp>
        <p:nvSpPr>
          <p:cNvPr id="4" name="Slide Number Placeholder 3"/>
          <p:cNvSpPr>
            <a:spLocks noGrp="1"/>
          </p:cNvSpPr>
          <p:nvPr>
            <p:ph type="sldNum" idx="5" sz="quarter"/>
          </p:nvPr>
        </p:nvSpPr>
        <p:spPr/>
      </p:sp>
    </p:spTree>
  </p:cSld>
  <p:clrMapOvr>
    <a:masterClrMapping/>
  </p:clrMapOvr>
</p:notes>
</file>

<file path=ppt/notesSlides/notesSlide2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B.14 ETH RSL(Marco Hutter)의 계보: 높이 지도에서 배달로봇까지 · 토글 '자세히: 바퀴 ANYmal의 하드웨어 세대'</a:t>
            </a:r>
          </a:p>
        </p:txBody>
      </p:sp>
      <p:sp>
        <p:nvSpPr>
          <p:cNvPr id="4" name="Slide Number Placeholder 3"/>
          <p:cNvSpPr>
            <a:spLocks noGrp="1"/>
          </p:cNvSpPr>
          <p:nvPr>
            <p:ph type="sldNum" idx="5" sz="quarter"/>
          </p:nvPr>
        </p:nvSpPr>
        <p:spPr/>
      </p:sp>
    </p:spTree>
  </p:cSld>
  <p:clrMapOvr>
    <a:masterClrMapping/>
  </p:clrMapOvr>
</p:notes>
</file>

<file path=ppt/notesSlides/notesSlide2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B.14 ETH RSL(Marco Hutter)의 계보: 높이 지도에서 배달로봇까지</a:t>
            </a:r>
          </a:p>
        </p:txBody>
      </p:sp>
      <p:sp>
        <p:nvSpPr>
          <p:cNvPr id="4" name="Slide Number Placeholder 3"/>
          <p:cNvSpPr>
            <a:spLocks noGrp="1"/>
          </p:cNvSpPr>
          <p:nvPr>
            <p:ph type="sldNum" idx="5" sz="quarter"/>
          </p:nvPr>
        </p:nvSpPr>
        <p:spPr/>
      </p:sp>
    </p:spTree>
  </p:cSld>
  <p:clrMapOvr>
    <a:masterClrMapping/>
  </p:clrMapOvr>
</p:notes>
</file>

<file path=ppt/notesSlides/notesSlide2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B.14 ETH RSL(Marco Hutter)의 계보: 높이 지도에서 배달로봇까지</a:t>
            </a:r>
          </a:p>
        </p:txBody>
      </p:sp>
      <p:sp>
        <p:nvSpPr>
          <p:cNvPr id="4" name="Slide Number Placeholder 3"/>
          <p:cNvSpPr>
            <a:spLocks noGrp="1"/>
          </p:cNvSpPr>
          <p:nvPr>
            <p:ph type="sldNum" idx="5" sz="quarter"/>
          </p:nvPr>
        </p:nvSpPr>
        <p:spPr/>
      </p:sp>
    </p:spTree>
  </p:cSld>
  <p:clrMapOvr>
    <a:masterClrMapping/>
  </p:clrMapOvr>
</p:notes>
</file>

<file path=ppt/notesSlides/notesSlide2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B.14 ETH RSL(Marco Hutter)의 계보: 높이 지도에서 배달로봇까지 · 토글 '자세히: Keep Rollin'의 방법과 수식'</a:t>
            </a:r>
          </a:p>
        </p:txBody>
      </p:sp>
      <p:sp>
        <p:nvSpPr>
          <p:cNvPr id="4" name="Slide Number Placeholder 3"/>
          <p:cNvSpPr>
            <a:spLocks noGrp="1"/>
          </p:cNvSpPr>
          <p:nvPr>
            <p:ph type="sldNum" idx="5" sz="quarter"/>
          </p:nvPr>
        </p:nvSpPr>
        <p:spPr/>
      </p:sp>
    </p:spTree>
  </p:cSld>
  <p:clrMapOvr>
    <a:masterClrMapping/>
  </p:clrMapOvr>
</p:notes>
</file>

<file path=ppt/notesSlides/notesSlide2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B.14 ETH RSL(Marco Hutter)의 계보: 높이 지도에서 배달로봇까지</a:t>
            </a:r>
          </a:p>
        </p:txBody>
      </p:sp>
      <p:sp>
        <p:nvSpPr>
          <p:cNvPr id="4" name="Slide Number Placeholder 3"/>
          <p:cNvSpPr>
            <a:spLocks noGrp="1"/>
          </p:cNvSpPr>
          <p:nvPr>
            <p:ph type="sldNum" idx="5" sz="quarter"/>
          </p:nvPr>
        </p:nvSpPr>
        <p:spPr/>
      </p:sp>
    </p:spTree>
  </p:cSld>
  <p:clrMapOvr>
    <a:masterClrMapping/>
  </p:clrMapOvr>
</p:notes>
</file>

<file path=ppt/notesSlides/notesSlide2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B.14 ETH RSL(Marco Hutter)의 계보: 높이 지도에서 배달로봇까지</a:t>
            </a:r>
          </a:p>
        </p:txBody>
      </p:sp>
      <p:sp>
        <p:nvSpPr>
          <p:cNvPr id="4" name="Slide Number Placeholder 3"/>
          <p:cNvSpPr>
            <a:spLocks noGrp="1"/>
          </p:cNvSpPr>
          <p:nvPr>
            <p:ph type="sldNum" idx="5" sz="quarter"/>
          </p:nvPr>
        </p:nvSpPr>
        <p:spPr/>
      </p:sp>
    </p:spTree>
  </p:cSld>
  <p:clrMapOvr>
    <a:masterClrMapping/>
  </p:clrMapOvr>
</p:notes>
</file>

<file path=ppt/notesSlides/notesSlide2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B.14 ETH RSL(Marco Hutter)의 계보: 높이 지도에서 배달로봇까지 · 토글 '자세히: Rolling in the Deep의 방법과 수식'</a:t>
            </a:r>
          </a:p>
        </p:txBody>
      </p:sp>
      <p:sp>
        <p:nvSpPr>
          <p:cNvPr id="4" name="Slide Number Placeholder 3"/>
          <p:cNvSpPr>
            <a:spLocks noGrp="1"/>
          </p:cNvSpPr>
          <p:nvPr>
            <p:ph type="sldNum" idx="5" sz="quarter"/>
          </p:nvPr>
        </p:nvSpPr>
        <p:spPr/>
      </p:sp>
    </p:spTree>
  </p:cSld>
  <p:clrMapOvr>
    <a:masterClrMapping/>
  </p:clrMapOvr>
</p:notes>
</file>

<file path=ppt/notesSlides/notesSlide2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B.14 ETH RSL(Marco Hutter)의 계보: 높이 지도에서 배달로봇까지</a:t>
            </a:r>
          </a:p>
        </p:txBody>
      </p:sp>
      <p:sp>
        <p:nvSpPr>
          <p:cNvPr id="4" name="Slide Number Placeholder 3"/>
          <p:cNvSpPr>
            <a:spLocks noGrp="1"/>
          </p:cNvSpPr>
          <p:nvPr>
            <p:ph type="sldNum" idx="5" sz="quarter"/>
          </p:nvPr>
        </p:nvSpPr>
        <p:spPr/>
      </p:sp>
    </p:spTree>
  </p:cSld>
  <p:clrMapOvr>
    <a:masterClrMapping/>
  </p:clrMapOvr>
</p:notes>
</file>

<file path=ppt/notesSlides/notesSlide2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B.14 ETH RSL(Marco Hutter)의 계보: 높이 지도에서 배달로봇까지</a:t>
            </a:r>
          </a:p>
        </p:txBody>
      </p:sp>
      <p:sp>
        <p:nvSpPr>
          <p:cNvPr id="4" name="Slide Number Placeholder 3"/>
          <p:cNvSpPr>
            <a:spLocks noGrp="1"/>
          </p:cNvSpPr>
          <p:nvPr>
            <p:ph type="sldNum" idx="5" sz="quarter"/>
          </p:nvPr>
        </p:nvSpPr>
        <p:spPr/>
      </p:sp>
    </p:spTree>
  </p:cSld>
  <p:clrMapOvr>
    <a:masterClrMapping/>
  </p:clrMapOvr>
</p:notes>
</file>

<file path=ppt/notesSlides/notesSlide2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B.14 ETH RSL(Marco Hutter)의 계보: 높이 지도에서 배달로봇까지 · 토글 '자세히: 바퀴·다리 전신 MPC의 방법과 수식'</a:t>
            </a:r>
          </a:p>
        </p:txBody>
      </p:sp>
      <p:sp>
        <p:nvSpPr>
          <p:cNvPr id="4" name="Slide Number Placeholder 3"/>
          <p:cNvSpPr>
            <a:spLocks noGrp="1"/>
          </p:cNvSpPr>
          <p:nvPr>
            <p:ph type="sldNum" idx="5" sz="quarter"/>
          </p:nvPr>
        </p:nvSpPr>
        <p:spPr/>
      </p:sp>
    </p:spTree>
  </p:cSld>
  <p:clrMapOvr>
    <a:masterClrMapping/>
  </p:clrMapOvr>
</p:notes>
</file>

<file path=ppt/notesSlides/notesSlide2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B.14 ETH RSL(Marco Hutter)의 계보: 높이 지도에서 배달로봇까지</a:t>
            </a:r>
          </a:p>
        </p:txBody>
      </p:sp>
      <p:sp>
        <p:nvSpPr>
          <p:cNvPr id="4" name="Slide Number Placeholder 3"/>
          <p:cNvSpPr>
            <a:spLocks noGrp="1"/>
          </p:cNvSpPr>
          <p:nvPr>
            <p:ph type="sldNum" idx="5" sz="quarter"/>
          </p:nvPr>
        </p:nvSpPr>
        <p:spPr/>
      </p:sp>
    </p:spTree>
  </p:cSld>
  <p:clrMapOvr>
    <a:masterClrMapping/>
  </p:clrMapOvr>
</p:notes>
</file>

<file path=ppt/notesSlides/notesSlide2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B.14 ETH RSL(Marco Hutter)의 계보: 높이 지도에서 배달로봇까지</a:t>
            </a:r>
          </a:p>
        </p:txBody>
      </p:sp>
      <p:sp>
        <p:nvSpPr>
          <p:cNvPr id="4" name="Slide Number Placeholder 3"/>
          <p:cNvSpPr>
            <a:spLocks noGrp="1"/>
          </p:cNvSpPr>
          <p:nvPr>
            <p:ph type="sldNum" idx="5" sz="quarter"/>
          </p:nvPr>
        </p:nvSpPr>
        <p:spPr/>
      </p:sp>
    </p:spTree>
  </p:cSld>
  <p:clrMapOvr>
    <a:masterClrMapping/>
  </p:clrMapOvr>
</p:notes>
</file>

<file path=ppt/notesSlides/notesSlide2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B.14 ETH RSL(Marco Hutter)의 계보: 높이 지도에서 배달로봇까지 · 토글 '자세히: 오프라인 모션 라이브러리와 온라인 MPC의 수치'</a:t>
            </a:r>
          </a:p>
        </p:txBody>
      </p:sp>
      <p:sp>
        <p:nvSpPr>
          <p:cNvPr id="4" name="Slide Number Placeholder 3"/>
          <p:cNvSpPr>
            <a:spLocks noGrp="1"/>
          </p:cNvSpPr>
          <p:nvPr>
            <p:ph type="sldNum" idx="5" sz="quarter"/>
          </p:nvPr>
        </p:nvSpPr>
        <p:spPr/>
      </p:sp>
    </p:spTree>
  </p:cSld>
  <p:clrMapOvr>
    <a:masterClrMapping/>
  </p:clrMapOvr>
</p:notes>
</file>

<file path=ppt/notesSlides/notesSlide2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B.14 ETH RSL(Marco Hutter)의 계보: 높이 지도에서 배달로봇까지</a:t>
            </a:r>
          </a:p>
        </p:txBody>
      </p:sp>
      <p:sp>
        <p:nvSpPr>
          <p:cNvPr id="4" name="Slide Number Placeholder 3"/>
          <p:cNvSpPr>
            <a:spLocks noGrp="1"/>
          </p:cNvSpPr>
          <p:nvPr>
            <p:ph type="sldNum" idx="5" sz="quarter"/>
          </p:nvPr>
        </p:nvSpPr>
        <p:spPr/>
      </p:sp>
    </p:spTree>
  </p:cSld>
  <p:clrMapOvr>
    <a:masterClrMapping/>
  </p:clrMapOvr>
</p:notes>
</file>

<file path=ppt/notesSlides/notesSlide2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B.14 ETH RSL(Marco Hutter)의 계보: 높이 지도에서 배달로봇까지</a:t>
            </a:r>
          </a:p>
        </p:txBody>
      </p:sp>
      <p:sp>
        <p:nvSpPr>
          <p:cNvPr id="4" name="Slide Number Placeholder 3"/>
          <p:cNvSpPr>
            <a:spLocks noGrp="1"/>
          </p:cNvSpPr>
          <p:nvPr>
            <p:ph type="sldNum" idx="5" sz="quarter"/>
          </p:nvPr>
        </p:nvSpPr>
        <p:spPr/>
      </p:sp>
    </p:spTree>
  </p:cSld>
  <p:clrMapOvr>
    <a:masterClrMapping/>
  </p:clrMapOvr>
</p:notes>
</file>

<file path=ppt/notesSlides/notesSlide2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B.14 ETH RSL(Marco Hutter)의 계보: 높이 지도에서 배달로봇까지 · 토글 '자세히: Multi-AMP의 보상과 학습 설정'</a:t>
            </a:r>
          </a:p>
        </p:txBody>
      </p:sp>
      <p:sp>
        <p:nvSpPr>
          <p:cNvPr id="4" name="Slide Number Placeholder 3"/>
          <p:cNvSpPr>
            <a:spLocks noGrp="1"/>
          </p:cNvSpPr>
          <p:nvPr>
            <p:ph type="sldNum" idx="5" sz="quarter"/>
          </p:nvPr>
        </p:nvSpPr>
        <p:spPr/>
      </p:sp>
    </p:spTree>
  </p:cSld>
  <p:clrMapOvr>
    <a:masterClrMapping/>
  </p:clrMapOvr>
</p:notes>
</file>

<file path=ppt/notesSlides/notesSlide2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B.14 ETH RSL(Marco Hutter)의 계보: 높이 지도에서 배달로봇까지</a:t>
            </a:r>
          </a:p>
        </p:txBody>
      </p:sp>
      <p:sp>
        <p:nvSpPr>
          <p:cNvPr id="4" name="Slide Number Placeholder 3"/>
          <p:cNvSpPr>
            <a:spLocks noGrp="1"/>
          </p:cNvSpPr>
          <p:nvPr>
            <p:ph type="sldNum" idx="5" sz="quarter"/>
          </p:nvPr>
        </p:nvSpPr>
        <p:spPr/>
      </p:sp>
    </p:spTree>
  </p:cSld>
  <p:clrMapOvr>
    <a:masterClrMapping/>
  </p:clrMapOvr>
</p:notes>
</file>

<file path=ppt/notesSlides/notesSlide2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B.14 ETH RSL(Marco Hutter)의 계보: 높이 지도에서 배달로봇까지</a:t>
            </a:r>
          </a:p>
        </p:txBody>
      </p:sp>
      <p:sp>
        <p:nvSpPr>
          <p:cNvPr id="4" name="Slide Number Placeholder 3"/>
          <p:cNvSpPr>
            <a:spLocks noGrp="1"/>
          </p:cNvSpPr>
          <p:nvPr>
            <p:ph type="sldNum" idx="5" sz="quarter"/>
          </p:nvPr>
        </p:nvSpPr>
        <p:spPr/>
      </p:sp>
    </p:spTree>
  </p:cSld>
  <p:clrMapOvr>
    <a:masterClrMapping/>
  </p:clrMapOvr>
</p:notes>
</file>

<file path=ppt/notesSlides/notesSlide2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B.14 ETH RSL(Marco Hutter)의 계보: 높이 지도에서 배달로봇까지 · 토글 '자세히: 바퀴·다리 도시 내비게이션의 방법과 결과'</a:t>
            </a:r>
          </a:p>
        </p:txBody>
      </p:sp>
      <p:sp>
        <p:nvSpPr>
          <p:cNvPr id="4" name="Slide Number Placeholder 3"/>
          <p:cNvSpPr>
            <a:spLocks noGrp="1"/>
          </p:cNvSpPr>
          <p:nvPr>
            <p:ph type="sldNum" idx="5" sz="quarter"/>
          </p:nvPr>
        </p:nvSpPr>
        <p:spPr/>
      </p:sp>
    </p:spTree>
  </p:cSld>
  <p:clrMapOvr>
    <a:masterClrMapping/>
  </p:clrMapOvr>
</p:notes>
</file>

<file path=ppt/notesSlides/notesSlide2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B.14 ETH RSL(Marco Hutter)의 계보: 높이 지도에서 배달로봇까지</a:t>
            </a:r>
          </a:p>
        </p:txBody>
      </p:sp>
      <p:sp>
        <p:nvSpPr>
          <p:cNvPr id="4" name="Slide Number Placeholder 3"/>
          <p:cNvSpPr>
            <a:spLocks noGrp="1"/>
          </p:cNvSpPr>
          <p:nvPr>
            <p:ph type="sldNum" idx="5" sz="quarter"/>
          </p:nvPr>
        </p:nvSpPr>
        <p:spPr/>
      </p:sp>
    </p:spTree>
  </p:cSld>
  <p:clrMapOvr>
    <a:masterClrMapping/>
  </p:clrMapOvr>
</p:notes>
</file>

<file path=ppt/notesSlides/notesSlide2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B.14 ETH RSL(Marco Hutter)의 계보: 높이 지도에서 배달로봇까지</a:t>
            </a:r>
          </a:p>
        </p:txBody>
      </p:sp>
      <p:sp>
        <p:nvSpPr>
          <p:cNvPr id="4" name="Slide Number Placeholder 3"/>
          <p:cNvSpPr>
            <a:spLocks noGrp="1"/>
          </p:cNvSpPr>
          <p:nvPr>
            <p:ph type="sldNum" idx="5" sz="quarter"/>
          </p:nvPr>
        </p:nvSpPr>
        <p:spPr/>
      </p:sp>
    </p:spTree>
  </p:cSld>
  <p:clrMapOvr>
    <a:masterClrMapping/>
  </p:clrMapOvr>
</p:notes>
</file>

<file path=ppt/notesSlides/notesSlide2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B.14 ETH RSL(Marco Hutter)의 계보: 높이 지도에서 배달로봇까지 · 토글 '자세히: RIVR 연표와 자주 인용되는 수치의 출처'</a:t>
            </a:r>
          </a:p>
        </p:txBody>
      </p:sp>
      <p:sp>
        <p:nvSpPr>
          <p:cNvPr id="4" name="Slide Number Placeholder 3"/>
          <p:cNvSpPr>
            <a:spLocks noGrp="1"/>
          </p:cNvSpPr>
          <p:nvPr>
            <p:ph type="sldNum" idx="5" sz="quarter"/>
          </p:nvPr>
        </p:nvSpPr>
        <p:spPr/>
      </p:sp>
    </p:spTree>
  </p:cSld>
  <p:clrMapOvr>
    <a:masterClrMapping/>
  </p:clrMapOvr>
</p:notes>
</file>

<file path=ppt/notesSlides/notesSlide2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B.14 ETH RSL(Marco Hutter)의 계보: 높이 지도에서 배달로봇까지</a:t>
            </a:r>
          </a:p>
        </p:txBody>
      </p:sp>
      <p:sp>
        <p:nvSpPr>
          <p:cNvPr id="4" name="Slide Number Placeholder 3"/>
          <p:cNvSpPr>
            <a:spLocks noGrp="1"/>
          </p:cNvSpPr>
          <p:nvPr>
            <p:ph type="sldNum" idx="5" sz="quarter"/>
          </p:nvPr>
        </p:nvSpPr>
        <p:spPr/>
      </p:sp>
    </p:spTree>
  </p:cSld>
  <p:clrMapOvr>
    <a:masterClrMapping/>
  </p:clrMapOvr>
</p:notes>
</file>

<file path=ppt/notesSlides/notesSlide2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B.14 ETH RSL(Marco Hutter)의 계보: 높이 지도에서 배달로봇까지</a:t>
            </a:r>
          </a:p>
        </p:txBody>
      </p:sp>
      <p:sp>
        <p:nvSpPr>
          <p:cNvPr id="4" name="Slide Number Placeholder 3"/>
          <p:cNvSpPr>
            <a:spLocks noGrp="1"/>
          </p:cNvSpPr>
          <p:nvPr>
            <p:ph type="sldNum" idx="5" sz="quarter"/>
          </p:nvPr>
        </p:nvSpPr>
        <p:spPr/>
      </p:sp>
    </p:spTree>
  </p:cSld>
  <p:clrMapOvr>
    <a:masterClrMapping/>
  </p:clrMapOvr>
</p:notes>
</file>

<file path=ppt/notesSlides/notesSlide2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B.14 ETH RSL(Marco Hutter)의 계보: 높이 지도에서 배달로봇까지</a:t>
            </a:r>
          </a:p>
        </p:txBody>
      </p:sp>
      <p:sp>
        <p:nvSpPr>
          <p:cNvPr id="4" name="Slide Number Placeholder 3"/>
          <p:cNvSpPr>
            <a:spLocks noGrp="1"/>
          </p:cNvSpPr>
          <p:nvPr>
            <p:ph type="sldNum" idx="5" sz="quarter"/>
          </p:nvPr>
        </p:nvSpPr>
        <p:spPr/>
      </p:sp>
    </p:spTree>
  </p:cSld>
  <p:clrMapOvr>
    <a:masterClrMapping/>
  </p:clrMapOvr>
</p:notes>
</file>

<file path=ppt/notesSlides/notesSlide2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2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2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2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2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2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 · 토글 '자세히: 연표(2017–2026)'</a:t>
            </a:r>
          </a:p>
        </p:txBody>
      </p:sp>
      <p:sp>
        <p:nvSpPr>
          <p:cNvPr id="4" name="Slide Number Placeholder 3"/>
          <p:cNvSpPr>
            <a:spLocks noGrp="1"/>
          </p:cNvSpPr>
          <p:nvPr>
            <p:ph type="sldNum" idx="5" sz="quarter"/>
          </p:nvPr>
        </p:nvSpPr>
        <p:spPr/>
      </p:sp>
    </p:spTree>
  </p:cSld>
  <p:clrMapOvr>
    <a:masterClrMapping/>
  </p:clrMapOvr>
</p:notes>
</file>

<file path=ppt/notesSlides/notesSlide2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2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 · 토글 '자세히: 이 소절의 연구 목록(표 31행)'</a:t>
            </a:r>
          </a:p>
        </p:txBody>
      </p:sp>
      <p:sp>
        <p:nvSpPr>
          <p:cNvPr id="4" name="Slide Number Placeholder 3"/>
          <p:cNvSpPr>
            <a:spLocks noGrp="1"/>
          </p:cNvSpPr>
          <p:nvPr>
            <p:ph type="sldNum" idx="5" sz="quarter"/>
          </p:nvPr>
        </p:nvSpPr>
        <p:spPr/>
      </p:sp>
    </p:spTree>
  </p:cSld>
  <p:clrMapOvr>
    <a:masterClrMapping/>
  </p:clrMapOvr>
</p:notes>
</file>

<file path=ppt/notesSlides/notesSlide2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2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2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2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2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2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2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 · 토글 '자세히: Eureka와 DrEureka의 방법과 수치'</a:t>
            </a:r>
          </a:p>
        </p:txBody>
      </p:sp>
      <p:sp>
        <p:nvSpPr>
          <p:cNvPr id="4" name="Slide Number Placeholder 3"/>
          <p:cNvSpPr>
            <a:spLocks noGrp="1"/>
          </p:cNvSpPr>
          <p:nvPr>
            <p:ph type="sldNum" idx="5" sz="quarter"/>
          </p:nvPr>
        </p:nvSpPr>
        <p:spPr/>
      </p:sp>
    </p:spTree>
  </p:cSld>
  <p:clrMapOvr>
    <a:masterClrMapping/>
  </p:clrMapOvr>
</p:notes>
</file>

<file path=ppt/notesSlides/notesSlide2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2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2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2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2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2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2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2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2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 · 토글 '자세히: HOVER의 방법과 수치'</a:t>
            </a:r>
          </a:p>
        </p:txBody>
      </p:sp>
      <p:sp>
        <p:nvSpPr>
          <p:cNvPr id="4" name="Slide Number Placeholder 3"/>
          <p:cNvSpPr>
            <a:spLocks noGrp="1"/>
          </p:cNvSpPr>
          <p:nvPr>
            <p:ph type="sldNum" idx="5" sz="quarter"/>
          </p:nvPr>
        </p:nvSpPr>
        <p:spPr/>
      </p:sp>
    </p:spTree>
  </p:cSld>
  <p:clrMapOvr>
    <a:masterClrMapping/>
  </p:clrMapOvr>
</p:notes>
</file>

<file path=ppt/notesSlides/notesSlide2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2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2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2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2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2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2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2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2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2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2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2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2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 · 토글 '자세히: 이 소절의 연구 목록(표 28행)'</a:t>
            </a:r>
          </a:p>
        </p:txBody>
      </p:sp>
      <p:sp>
        <p:nvSpPr>
          <p:cNvPr id="4" name="Slide Number Placeholder 3"/>
          <p:cNvSpPr>
            <a:spLocks noGrp="1"/>
          </p:cNvSpPr>
          <p:nvPr>
            <p:ph type="sldNum" idx="5" sz="quarter"/>
          </p:nvPr>
        </p:nvSpPr>
        <p:spPr/>
      </p:sp>
    </p:spTree>
  </p:cSld>
  <p:clrMapOvr>
    <a:masterClrMapping/>
  </p:clrMapOvr>
</p:notes>
</file>

<file path=ppt/notesSlides/notesSlide2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2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2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 · 토글 '자세히: Sim-to-Real(Minitaur)의 구동기·지연 모델, 무작위화, ANYmal과의 비교'</a:t>
            </a:r>
          </a:p>
        </p:txBody>
      </p:sp>
      <p:sp>
        <p:nvSpPr>
          <p:cNvPr id="4" name="Slide Number Placeholder 3"/>
          <p:cNvSpPr>
            <a:spLocks noGrp="1"/>
          </p:cNvSpPr>
          <p:nvPr>
            <p:ph type="sldNum" idx="5" sz="quarter"/>
          </p:nvPr>
        </p:nvSpPr>
        <p:spPr/>
      </p:sp>
    </p:spTree>
  </p:cSld>
  <p:clrMapOvr>
    <a:masterClrMapping/>
  </p:clrMapOvr>
</p:notes>
</file>

<file path=ppt/notesSlides/notesSlide2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2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2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2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2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2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2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2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2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 · 토글 '자세히: Imitating Animals의 재지정, 모방 보상, 잠재 적응'</a:t>
            </a:r>
          </a:p>
        </p:txBody>
      </p:sp>
      <p:sp>
        <p:nvSpPr>
          <p:cNvPr id="4" name="Slide Number Placeholder 3"/>
          <p:cNvSpPr>
            <a:spLocks noGrp="1"/>
          </p:cNvSpPr>
          <p:nvPr>
            <p:ph type="sldNum" idx="5" sz="quarter"/>
          </p:nvPr>
        </p:nvSpPr>
        <p:spPr/>
      </p:sp>
    </p:spTree>
  </p:cSld>
  <p:clrMapOvr>
    <a:masterClrMapping/>
  </p:clrMapOvr>
</p:notes>
</file>

<file path=ppt/notesSlides/notesSlide3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3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3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3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3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3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3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3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3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 · 토글 '자세히: OP3 축구의 학습 단계, 증류 가중, sim-to-real 설정'</a:t>
            </a:r>
          </a:p>
        </p:txBody>
      </p:sp>
      <p:sp>
        <p:nvSpPr>
          <p:cNvPr id="4" name="Slide Number Placeholder 3"/>
          <p:cNvSpPr>
            <a:spLocks noGrp="1"/>
          </p:cNvSpPr>
          <p:nvPr>
            <p:ph type="sldNum" idx="5" sz="quarter"/>
          </p:nvPr>
        </p:nvSpPr>
        <p:spPr/>
      </p:sp>
    </p:spTree>
  </p:cSld>
  <p:clrMapOvr>
    <a:masterClrMapping/>
  </p:clrMapOvr>
</p:notes>
</file>

<file path=ppt/notesSlides/notesSlide3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3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3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3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3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 · 토글 '자세히: Barkour의 점수, 로봇, 전문가 정책, Locomotion-Transformer'</a:t>
            </a:r>
          </a:p>
        </p:txBody>
      </p:sp>
      <p:sp>
        <p:nvSpPr>
          <p:cNvPr id="4" name="Slide Number Placeholder 3"/>
          <p:cNvSpPr>
            <a:spLocks noGrp="1"/>
          </p:cNvSpPr>
          <p:nvPr>
            <p:ph type="sldNum" idx="5" sz="quarter"/>
          </p:nvPr>
        </p:nvSpPr>
        <p:spPr/>
      </p:sp>
    </p:spTree>
  </p:cSld>
  <p:clrMapOvr>
    <a:masterClrMapping/>
  </p:clrMapOvr>
</p:notes>
</file>

<file path=ppt/notesSlides/notesSlide3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3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3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3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3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3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3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3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3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3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 · 토글 '자세히: 이 소절의 연구 목록(표 24행)'</a:t>
            </a:r>
          </a:p>
        </p:txBody>
      </p:sp>
      <p:sp>
        <p:nvSpPr>
          <p:cNvPr id="4" name="Slide Number Placeholder 3"/>
          <p:cNvSpPr>
            <a:spLocks noGrp="1"/>
          </p:cNvSpPr>
          <p:nvPr>
            <p:ph type="sldNum" idx="5" sz="quarter"/>
          </p:nvPr>
        </p:nvSpPr>
        <p:spPr/>
      </p:sp>
    </p:spTree>
  </p:cSld>
  <p:clrMapOvr>
    <a:masterClrMapping/>
  </p:clrMapOvr>
</p:notes>
</file>

<file path=ppt/notesSlides/notesSlide3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3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3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3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3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 · 토글 '자세히: Reflect v1.0의 층과 학습'</a:t>
            </a:r>
          </a:p>
        </p:txBody>
      </p:sp>
      <p:sp>
        <p:nvSpPr>
          <p:cNvPr id="4" name="Slide Number Placeholder 3"/>
          <p:cNvSpPr>
            <a:spLocks noGrp="1"/>
          </p:cNvSpPr>
          <p:nvPr>
            <p:ph type="sldNum" idx="5" sz="quarter"/>
          </p:nvPr>
        </p:nvSpPr>
        <p:spPr/>
      </p:sp>
    </p:spTree>
  </p:cSld>
  <p:clrMapOvr>
    <a:masterClrMapping/>
  </p:clrMapOvr>
</p:notes>
</file>

<file path=ppt/notesSlides/notesSlide3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 · 토글 '자세히: Flexion의 계보, 법인과 투자, 스택의 층, Reflect v0'</a:t>
            </a:r>
          </a:p>
        </p:txBody>
      </p:sp>
      <p:sp>
        <p:nvSpPr>
          <p:cNvPr id="4" name="Slide Number Placeholder 3"/>
          <p:cNvSpPr>
            <a:spLocks noGrp="1"/>
          </p:cNvSpPr>
          <p:nvPr>
            <p:ph type="sldNum" idx="5" sz="quarter"/>
          </p:nvPr>
        </p:nvSpPr>
        <p:spPr/>
      </p:sp>
    </p:spTree>
  </p:cSld>
  <p:clrMapOvr>
    <a:masterClrMapping/>
  </p:clrMapOvr>
</p:notes>
</file>

<file path=ppt/notesSlides/notesSlide3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3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3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 · 토글 '자세히: BDX의 정책 정식화, 구동기 모델, 애니메이션 엔진, 후속 연구'</a:t>
            </a:r>
          </a:p>
        </p:txBody>
      </p:sp>
      <p:sp>
        <p:nvSpPr>
          <p:cNvPr id="4" name="Slide Number Placeholder 3"/>
          <p:cNvSpPr>
            <a:spLocks noGrp="1"/>
          </p:cNvSpPr>
          <p:nvPr>
            <p:ph type="sldNum" idx="5" sz="quarter"/>
          </p:nvPr>
        </p:nvSpPr>
        <p:spPr/>
      </p:sp>
    </p:spTree>
  </p:cSld>
  <p:clrMapOvr>
    <a:masterClrMapping/>
  </p:clrMapOvr>
</p:notes>
</file>

<file path=ppt/notesSlides/notesSlide3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3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3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3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3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 · 토글 '자세히: Olaf의 기구, 보상 식, 수치'</a:t>
            </a:r>
          </a:p>
        </p:txBody>
      </p:sp>
      <p:sp>
        <p:nvSpPr>
          <p:cNvPr id="4" name="Slide Number Placeholder 3"/>
          <p:cNvSpPr>
            <a:spLocks noGrp="1"/>
          </p:cNvSpPr>
          <p:nvPr>
            <p:ph type="sldNum" idx="5" sz="quarter"/>
          </p:nvPr>
        </p:nvSpPr>
        <p:spPr/>
      </p:sp>
    </p:spTree>
  </p:cSld>
  <p:clrMapOvr>
    <a:masterClrMapping/>
  </p:clrMapOvr>
</p:notes>
</file>

<file path=ppt/notesSlides/notesSlide3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3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3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3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3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 · 토글 '자세히: 증류와 미세 조정의 설정, 깊이 잡음 모델, 결과 표'</a:t>
            </a:r>
          </a:p>
        </p:txBody>
      </p:sp>
      <p:sp>
        <p:nvSpPr>
          <p:cNvPr id="4" name="Slide Number Placeholder 3"/>
          <p:cNvSpPr>
            <a:spLocks noGrp="1"/>
          </p:cNvSpPr>
          <p:nvPr>
            <p:ph type="sldNum" idx="5" sz="quarter"/>
          </p:nvPr>
        </p:nvSpPr>
        <p:spPr/>
      </p:sp>
    </p:spTree>
  </p:cSld>
  <p:clrMapOvr>
    <a:masterClrMapping/>
  </p:clrMapOvr>
</p:notes>
</file>

<file path=ppt/notesSlides/notesSlide3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3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3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3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3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 · 토글 '자세히: 승자 독식 지도 융합과 지도 모델의 손실'</a:t>
            </a:r>
          </a:p>
        </p:txBody>
      </p:sp>
      <p:sp>
        <p:nvSpPr>
          <p:cNvPr id="4" name="Slide Number Placeholder 3"/>
          <p:cNvSpPr>
            <a:spLocks noGrp="1"/>
          </p:cNvSpPr>
          <p:nvPr>
            <p:ph type="sldNum" idx="5" sz="quarter"/>
          </p:nvPr>
        </p:nvSpPr>
        <p:spPr/>
      </p:sp>
    </p:spTree>
  </p:cSld>
  <p:clrMapOvr>
    <a:masterClrMapping/>
  </p:clrMapOvr>
</p:notes>
</file>

<file path=ppt/notesSlides/notesSlide3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3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3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 · 토글 '자세히: Watch Your Step의 학습 절차, 표, 공개 코드'</a:t>
            </a:r>
          </a:p>
        </p:txBody>
      </p:sp>
      <p:sp>
        <p:nvSpPr>
          <p:cNvPr id="4" name="Slide Number Placeholder 3"/>
          <p:cNvSpPr>
            <a:spLocks noGrp="1"/>
          </p:cNvSpPr>
          <p:nvPr>
            <p:ph type="sldNum" idx="5" sz="quarter"/>
          </p:nvPr>
        </p:nvSpPr>
        <p:spPr/>
      </p:sp>
    </p:spTree>
  </p:cSld>
  <p:clrMapOvr>
    <a:masterClrMapping/>
  </p:clrMapOvr>
</p:notes>
</file>

<file path=ppt/notesSlides/notesSlide3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3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3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3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3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3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3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3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3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3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3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3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3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3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 · 토글 '자세히: 이 소절의 연구 목록(표 15행)'</a:t>
            </a:r>
          </a:p>
        </p:txBody>
      </p:sp>
      <p:sp>
        <p:nvSpPr>
          <p:cNvPr id="4" name="Slide Number Placeholder 3"/>
          <p:cNvSpPr>
            <a:spLocks noGrp="1"/>
          </p:cNvSpPr>
          <p:nvPr>
            <p:ph type="sldNum" idx="5" sz="quarter"/>
          </p:nvPr>
        </p:nvSpPr>
        <p:spPr/>
      </p:sp>
    </p:spTree>
  </p:cSld>
  <p:clrMapOvr>
    <a:masterClrMapping/>
  </p:clrMapOvr>
</p:notes>
</file>

<file path=ppt/notesSlides/notesSlide3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 · 토글 '자세히: RAI Institute와 Boston Dynamics 연표(2022–2026)'</a:t>
            </a:r>
          </a:p>
        </p:txBody>
      </p:sp>
      <p:sp>
        <p:nvSpPr>
          <p:cNvPr id="4" name="Slide Number Placeholder 3"/>
          <p:cNvSpPr>
            <a:spLocks noGrp="1"/>
          </p:cNvSpPr>
          <p:nvPr>
            <p:ph type="sldNum" idx="5" sz="quarter"/>
          </p:nvPr>
        </p:nvSpPr>
        <p:spPr/>
      </p:sp>
    </p:spTree>
  </p:cSld>
  <p:clrMapOvr>
    <a:masterClrMapping/>
  </p:clrMapOvr>
</p:notes>
</file>

<file path=ppt/notesSlides/notesSlide3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3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3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3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3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 · 토글 '자세히: Sumo의 방법과 수식, 결과, 한계'</a:t>
            </a:r>
          </a:p>
        </p:txBody>
      </p:sp>
      <p:sp>
        <p:nvSpPr>
          <p:cNvPr id="4" name="Slide Number Placeholder 3"/>
          <p:cNvSpPr>
            <a:spLocks noGrp="1"/>
          </p:cNvSpPr>
          <p:nvPr>
            <p:ph type="sldNum" idx="5" sz="quarter"/>
          </p:nvPr>
        </p:nvSpPr>
        <p:spPr/>
      </p:sp>
    </p:spTree>
  </p:cSld>
  <p:clrMapOvr>
    <a:masterClrMapping/>
  </p:clrMapOvr>
</p:notes>
</file>

<file path=ppt/notesSlides/notesSlide3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 · 토글 '자세히: Sumo에서 travplan이 가져올 것'</a:t>
            </a:r>
          </a:p>
        </p:txBody>
      </p:sp>
      <p:sp>
        <p:nvSpPr>
          <p:cNvPr id="4" name="Slide Number Placeholder 3"/>
          <p:cNvSpPr>
            <a:spLocks noGrp="1"/>
          </p:cNvSpPr>
          <p:nvPr>
            <p:ph type="sldNum" idx="5" sz="quarter"/>
          </p:nvPr>
        </p:nvSpPr>
        <p:spPr/>
      </p:sp>
    </p:spTree>
  </p:cSld>
  <p:clrMapOvr>
    <a:masterClrMapping/>
  </p:clrMapOvr>
</p:notes>
</file>

<file path=ppt/notesSlides/notesSlide3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3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3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3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3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3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3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3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3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3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3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3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3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3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3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 · 토글 '자세히: 이 소절의 연구 목록(표 23행)'</a:t>
            </a:r>
          </a:p>
        </p:txBody>
      </p:sp>
      <p:sp>
        <p:nvSpPr>
          <p:cNvPr id="4" name="Slide Number Placeholder 3"/>
          <p:cNvSpPr>
            <a:spLocks noGrp="1"/>
          </p:cNvSpPr>
          <p:nvPr>
            <p:ph type="sldNum" idx="5" sz="quarter"/>
          </p:nvPr>
        </p:nvSpPr>
        <p:spPr/>
      </p:sp>
    </p:spTree>
  </p:cSld>
  <p:clrMapOvr>
    <a:masterClrMapping/>
  </p:clrMapOvr>
</p:notes>
</file>

<file path=ppt/notesSlides/notesSlide3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3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3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 · 토글 '자세히: RMA에서 E.2에 없는 것(보상, 학습 규모, 실험, 한계)'</a:t>
            </a:r>
          </a:p>
        </p:txBody>
      </p:sp>
      <p:sp>
        <p:nvSpPr>
          <p:cNvPr id="4" name="Slide Number Placeholder 3"/>
          <p:cNvSpPr>
            <a:spLocks noGrp="1"/>
          </p:cNvSpPr>
          <p:nvPr>
            <p:ph type="sldNum" idx="5" sz="quarter"/>
          </p:nvPr>
        </p:nvSpPr>
        <p:spPr/>
      </p:sp>
    </p:spTree>
  </p:cSld>
  <p:clrMapOvr>
    <a:masterClrMapping/>
  </p:clrMapOvr>
</p:notes>
</file>

<file path=ppt/notesSlides/notesSlide3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3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3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3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3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3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 · 토글 '자세히: LocoFormer의 방법·수식·결과와 한계'</a:t>
            </a:r>
          </a:p>
        </p:txBody>
      </p:sp>
      <p:sp>
        <p:nvSpPr>
          <p:cNvPr id="4" name="Slide Number Placeholder 3"/>
          <p:cNvSpPr>
            <a:spLocks noGrp="1"/>
          </p:cNvSpPr>
          <p:nvPr>
            <p:ph type="sldNum" idx="5" sz="quarter"/>
          </p:nvPr>
        </p:nvSpPr>
        <p:spPr/>
      </p:sp>
    </p:spTree>
  </p:cSld>
  <p:clrMapOvr>
    <a:masterClrMapping/>
  </p:clrMapOvr>
</p:notes>
</file>

<file path=ppt/notesSlides/notesSlide3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3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3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3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4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 · 토글 '자세히: LocoFormer의 계보 15편과 후속 10편'</a:t>
            </a:r>
          </a:p>
        </p:txBody>
      </p:sp>
      <p:sp>
        <p:nvSpPr>
          <p:cNvPr id="4" name="Slide Number Placeholder 3"/>
          <p:cNvSpPr>
            <a:spLocks noGrp="1"/>
          </p:cNvSpPr>
          <p:nvPr>
            <p:ph type="sldNum" idx="5" sz="quarter"/>
          </p:nvPr>
        </p:nvSpPr>
        <p:spPr/>
      </p:sp>
    </p:spTree>
  </p:cSld>
  <p:clrMapOvr>
    <a:masterClrMapping/>
  </p:clrMapOvr>
</p:notes>
</file>

<file path=ppt/notesSlides/notesSlide4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4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4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4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 · 토글 '자세히: S1의 주장·수치와 읽는 법, Skild 사람들의 관련 논문'</a:t>
            </a:r>
          </a:p>
        </p:txBody>
      </p:sp>
      <p:sp>
        <p:nvSpPr>
          <p:cNvPr id="4" name="Slide Number Placeholder 3"/>
          <p:cNvSpPr>
            <a:spLocks noGrp="1"/>
          </p:cNvSpPr>
          <p:nvPr>
            <p:ph type="sldNum" idx="5" sz="quarter"/>
          </p:nvPr>
        </p:nvSpPr>
        <p:spPr/>
      </p:sp>
    </p:spTree>
  </p:cSld>
  <p:clrMapOvr>
    <a:masterClrMapping/>
  </p:clrMapOvr>
</p:notes>
</file>

<file path=ppt/notesSlides/notesSlide4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4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4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4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4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4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4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 · 토글 '자세히: 변형 지형 보행의 접촉 모델과 결과, 공개 자료로 확인한 범위'</a:t>
            </a:r>
          </a:p>
        </p:txBody>
      </p:sp>
      <p:sp>
        <p:nvSpPr>
          <p:cNvPr id="4" name="Slide Number Placeholder 3"/>
          <p:cNvSpPr>
            <a:spLocks noGrp="1"/>
          </p:cNvSpPr>
          <p:nvPr>
            <p:ph type="sldNum" idx="5" sz="quarter"/>
          </p:nvPr>
        </p:nvSpPr>
        <p:spPr/>
      </p:sp>
    </p:spTree>
  </p:cSld>
  <p:clrMapOvr>
    <a:masterClrMapping/>
  </p:clrMapOvr>
</p:notes>
</file>

<file path=ppt/notesSlides/notesSlide4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4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4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4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4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 · 토글 '자세히: ABS의 도달-회피 가치, 회복 탐색, 학습과 결과'</a:t>
            </a:r>
          </a:p>
        </p:txBody>
      </p:sp>
      <p:sp>
        <p:nvSpPr>
          <p:cNvPr id="4" name="Slide Number Placeholder 3"/>
          <p:cNvSpPr>
            <a:spLocks noGrp="1"/>
          </p:cNvSpPr>
          <p:nvPr>
            <p:ph type="sldNum" idx="5" sz="quarter"/>
          </p:nvPr>
        </p:nvSpPr>
        <p:spPr/>
      </p:sp>
    </p:spTree>
  </p:cSld>
  <p:clrMapOvr>
    <a:masterClrMapping/>
  </p:clrMapOvr>
</p:notes>
</file>

<file path=ppt/notesSlides/notesSlide4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4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4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4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4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 · 토글 '자세히: 이 소절의 연구 목록(표 25행)'</a:t>
            </a:r>
          </a:p>
        </p:txBody>
      </p:sp>
      <p:sp>
        <p:nvSpPr>
          <p:cNvPr id="4" name="Slide Number Placeholder 3"/>
          <p:cNvSpPr>
            <a:spLocks noGrp="1"/>
          </p:cNvSpPr>
          <p:nvPr>
            <p:ph type="sldNum" idx="5" sz="quarter"/>
          </p:nvPr>
        </p:nvSpPr>
        <p:spPr/>
      </p:sp>
    </p:spTree>
  </p:cSld>
  <p:clrMapOvr>
    <a:masterClrMapping/>
  </p:clrMapOvr>
</p:notes>
</file>

<file path=ppt/notesSlides/notesSlide4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4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4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 · 토글 '자세히: Real-World Humanoid Locomotion의 방법과 수식'</a:t>
            </a:r>
          </a:p>
        </p:txBody>
      </p:sp>
      <p:sp>
        <p:nvSpPr>
          <p:cNvPr id="4" name="Slide Number Placeholder 3"/>
          <p:cNvSpPr>
            <a:spLocks noGrp="1"/>
          </p:cNvSpPr>
          <p:nvPr>
            <p:ph type="sldNum" idx="5" sz="quarter"/>
          </p:nvPr>
        </p:nvSpPr>
        <p:spPr/>
      </p:sp>
    </p:spTree>
  </p:cSld>
  <p:clrMapOvr>
    <a:masterClrMapping/>
  </p:clrMapOvr>
</p:notes>
</file>

<file path=ppt/notesSlides/notesSlide4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4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4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4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4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4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4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4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4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4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4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4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4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4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4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4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4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4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4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4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4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 · 토글 '자세히: ASAP의 방법과 수식'</a:t>
            </a:r>
          </a:p>
        </p:txBody>
      </p:sp>
      <p:sp>
        <p:nvSpPr>
          <p:cNvPr id="4" name="Slide Number Placeholder 3"/>
          <p:cNvSpPr>
            <a:spLocks noGrp="1"/>
          </p:cNvSpPr>
          <p:nvPr>
            <p:ph type="sldNum" idx="5" sz="quarter"/>
          </p:nvPr>
        </p:nvSpPr>
        <p:spPr/>
      </p:sp>
    </p:spTree>
  </p:cSld>
  <p:clrMapOvr>
    <a:masterClrMapping/>
  </p:clrMapOvr>
</p:notes>
</file>

<file path=ppt/notesSlides/notesSlide4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4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4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 · 토글 '자세히: HumanX의 방법과 수치'</a:t>
            </a:r>
          </a:p>
        </p:txBody>
      </p:sp>
      <p:sp>
        <p:nvSpPr>
          <p:cNvPr id="4" name="Slide Number Placeholder 3"/>
          <p:cNvSpPr>
            <a:spLocks noGrp="1"/>
          </p:cNvSpPr>
          <p:nvPr>
            <p:ph type="sldNum" idx="5" sz="quarter"/>
          </p:nvPr>
        </p:nvSpPr>
        <p:spPr/>
      </p:sp>
    </p:spTree>
  </p:cSld>
  <p:clrMapOvr>
    <a:masterClrMapping/>
  </p:clrMapOvr>
</p:notes>
</file>

<file path=ppt/notesSlides/notesSlide4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4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4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4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4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4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4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 · 토글 '자세히: BeyondMimic의 동작 추종과 유도 diffusion'</a:t>
            </a:r>
          </a:p>
        </p:txBody>
      </p:sp>
      <p:sp>
        <p:nvSpPr>
          <p:cNvPr id="4" name="Slide Number Placeholder 3"/>
          <p:cNvSpPr>
            <a:spLocks noGrp="1"/>
          </p:cNvSpPr>
          <p:nvPr>
            <p:ph type="sldNum" idx="5" sz="quarter"/>
          </p:nvPr>
        </p:nvSpPr>
        <p:spPr/>
      </p:sp>
    </p:spTree>
  </p:cSld>
  <p:clrMapOvr>
    <a:masterClrMapping/>
  </p:clrMapOvr>
</p:notes>
</file>

<file path=ppt/notesSlides/notesSlide4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4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4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 · 토글 '자세히: PHP의 방법·수식·결과와 한계'</a:t>
            </a:r>
          </a:p>
        </p:txBody>
      </p:sp>
      <p:sp>
        <p:nvSpPr>
          <p:cNvPr id="4" name="Slide Number Placeholder 3"/>
          <p:cNvSpPr>
            <a:spLocks noGrp="1"/>
          </p:cNvSpPr>
          <p:nvPr>
            <p:ph type="sldNum" idx="5" sz="quarter"/>
          </p:nvPr>
        </p:nvSpPr>
        <p:spPr/>
      </p:sp>
    </p:spTree>
  </p:cSld>
  <p:clrMapOvr>
    <a:masterClrMapping/>
  </p:clrMapOvr>
</p:notes>
</file>

<file path=ppt/notesSlides/notesSlide4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 · 토글 '자세히: PHP의 계보와 2026년 후속 연구(연구 25편)'</a:t>
            </a:r>
          </a:p>
        </p:txBody>
      </p:sp>
      <p:sp>
        <p:nvSpPr>
          <p:cNvPr id="4" name="Slide Number Placeholder 3"/>
          <p:cNvSpPr>
            <a:spLocks noGrp="1"/>
          </p:cNvSpPr>
          <p:nvPr>
            <p:ph type="sldNum" idx="5" sz="quarter"/>
          </p:nvPr>
        </p:nvSpPr>
        <p:spPr/>
      </p:sp>
    </p:spTree>
  </p:cSld>
  <p:clrMapOvr>
    <a:masterClrMapping/>
  </p:clrMapOvr>
</p:notes>
</file>

<file path=ppt/notesSlides/notesSlide4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4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4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4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 · 토글 '자세히: 데이터 수집, 계획기의 손실·RTC·RL 후학습, 3층 지도, 결과, 관련 연구 비교, Planner D와 맞대 보기'</a:t>
            </a:r>
          </a:p>
        </p:txBody>
      </p:sp>
      <p:sp>
        <p:nvSpPr>
          <p:cNvPr id="4" name="Slide Number Placeholder 3"/>
          <p:cNvSpPr>
            <a:spLocks noGrp="1"/>
          </p:cNvSpPr>
          <p:nvPr>
            <p:ph type="sldNum" idx="5" sz="quarter"/>
          </p:nvPr>
        </p:nvSpPr>
        <p:spPr/>
      </p:sp>
    </p:spTree>
  </p:cSld>
  <p:clrMapOvr>
    <a:masterClrMapping/>
  </p:clrMapOvr>
</p:notes>
</file>

<file path=ppt/notesSlides/notesSlide4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4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4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 · 토글 '자세히: NEXUS의 방법과 수식'</a:t>
            </a:r>
          </a:p>
        </p:txBody>
      </p:sp>
      <p:sp>
        <p:nvSpPr>
          <p:cNvPr id="4" name="Slide Number Placeholder 3"/>
          <p:cNvSpPr>
            <a:spLocks noGrp="1"/>
          </p:cNvSpPr>
          <p:nvPr>
            <p:ph type="sldNum" idx="5" sz="quarter"/>
          </p:nvPr>
        </p:nvSpPr>
        <p:spPr/>
      </p:sp>
    </p:spTree>
  </p:cSld>
  <p:clrMapOvr>
    <a:masterClrMapping/>
  </p:clrMapOvr>
</p:notes>
</file>

<file path=ppt/notesSlides/notesSlide4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4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4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4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4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4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4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 · 토글 '자세히: 이 소절의 연구 목록(표 12행)'</a:t>
            </a:r>
          </a:p>
        </p:txBody>
      </p:sp>
      <p:sp>
        <p:nvSpPr>
          <p:cNvPr id="4" name="Slide Number Placeholder 3"/>
          <p:cNvSpPr>
            <a:spLocks noGrp="1"/>
          </p:cNvSpPr>
          <p:nvPr>
            <p:ph type="sldNum" idx="5" sz="quarter"/>
          </p:nvPr>
        </p:nvSpPr>
        <p:spPr/>
      </p:sp>
    </p:spTree>
  </p:cSld>
  <p:clrMapOvr>
    <a:masterClrMapping/>
  </p:clrMapOvr>
</p:notes>
</file>

<file path=ppt/notesSlides/notesSlide4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4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4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4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4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4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4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4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B.16 사족보행·휴머노이드 연구실별 계보: NVIDIA, Google DeepMind, 취리히, RAI Institute와 다른 연구실</a:t>
            </a:r>
          </a:p>
        </p:txBody>
      </p:sp>
      <p:sp>
        <p:nvSpPr>
          <p:cNvPr id="4" name="Slide Number Placeholder 3"/>
          <p:cNvSpPr>
            <a:spLocks noGrp="1"/>
          </p:cNvSpPr>
          <p:nvPr>
            <p:ph type="sldNum" idx="5" sz="quarter"/>
          </p:nvPr>
        </p:nvSpPr>
        <p:spPr/>
      </p:sp>
    </p:spTree>
  </p:cSld>
  <p:clrMapOvr>
    <a:masterClrMapping/>
  </p:clrMapOvr>
</p:notes>
</file>

<file path=ppt/notesSlides/notesSlide4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탭 '분야별 지형'</a:t>
            </a:r>
          </a:p>
        </p:txBody>
      </p:sp>
      <p:sp>
        <p:nvSpPr>
          <p:cNvPr id="4" name="Slide Number Placeholder 3"/>
          <p:cNvSpPr>
            <a:spLocks noGrp="1"/>
          </p:cNvSpPr>
          <p:nvPr>
            <p:ph type="sldNum" idx="5" sz="quarter"/>
          </p:nvPr>
        </p:nvSpPr>
        <p:spPr/>
      </p:sp>
    </p:spTree>
  </p:cSld>
  <p:clrMapOvr>
    <a:masterClrMapping/>
  </p:clrMapOvr>
</p:notes>
</file>

<file path=ppt/notesSlides/notesSlide4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B.18 로봇 분야별 계획·제어: 레이싱카, 모바일 로봇, 도로 자율주행, 사족보행, 휴머노이드</a:t>
            </a:r>
          </a:p>
        </p:txBody>
      </p:sp>
      <p:sp>
        <p:nvSpPr>
          <p:cNvPr id="4" name="Slide Number Placeholder 3"/>
          <p:cNvSpPr>
            <a:spLocks noGrp="1"/>
          </p:cNvSpPr>
          <p:nvPr>
            <p:ph type="sldNum" idx="5" sz="quarter"/>
          </p:nvPr>
        </p:nvSpPr>
        <p:spPr/>
      </p:sp>
    </p:spTree>
  </p:cSld>
  <p:clrMapOvr>
    <a:masterClrMapping/>
  </p:clrMapOvr>
</p:notes>
</file>

<file path=ppt/notesSlides/notesSlide4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B.18 로봇 분야별 계획·제어: 레이싱카, 모바일 로봇, 도로 자율주행, 사족보행, 휴머노이드</a:t>
            </a:r>
          </a:p>
        </p:txBody>
      </p:sp>
      <p:sp>
        <p:nvSpPr>
          <p:cNvPr id="4" name="Slide Number Placeholder 3"/>
          <p:cNvSpPr>
            <a:spLocks noGrp="1"/>
          </p:cNvSpPr>
          <p:nvPr>
            <p:ph type="sldNum" idx="5" sz="quarter"/>
          </p:nvPr>
        </p:nvSpPr>
        <p:spPr/>
      </p:sp>
    </p:spTree>
  </p:cSld>
  <p:clrMapOvr>
    <a:masterClrMapping/>
  </p:clrMapOvr>
</p:notes>
</file>

<file path=ppt/notesSlides/notesSlide4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B.18 로봇 분야별 계획·제어: 레이싱카, 모바일 로봇, 도로 자율주행, 사족보행, 휴머노이드</a:t>
            </a:r>
          </a:p>
        </p:txBody>
      </p:sp>
      <p:sp>
        <p:nvSpPr>
          <p:cNvPr id="4" name="Slide Number Placeholder 3"/>
          <p:cNvSpPr>
            <a:spLocks noGrp="1"/>
          </p:cNvSpPr>
          <p:nvPr>
            <p:ph type="sldNum" idx="5" sz="quarter"/>
          </p:nvPr>
        </p:nvSpPr>
        <p:spPr/>
      </p:sp>
    </p:spTree>
  </p:cSld>
  <p:clrMapOvr>
    <a:masterClrMapping/>
  </p:clrMapOvr>
</p:notes>
</file>

<file path=ppt/notesSlides/notesSlide4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B.18 로봇 분야별 계획·제어: 레이싱카, 모바일 로봇, 도로 자율주행, 사족보행, 휴머노이드</a:t>
            </a:r>
          </a:p>
        </p:txBody>
      </p:sp>
      <p:sp>
        <p:nvSpPr>
          <p:cNvPr id="4" name="Slide Number Placeholder 3"/>
          <p:cNvSpPr>
            <a:spLocks noGrp="1"/>
          </p:cNvSpPr>
          <p:nvPr>
            <p:ph type="sldNum" idx="5" sz="quarter"/>
          </p:nvPr>
        </p:nvSpPr>
        <p:spPr/>
      </p:sp>
    </p:spTree>
  </p:cSld>
  <p:clrMapOvr>
    <a:masterClrMapping/>
  </p:clrMapOvr>
</p:notes>
</file>

<file path=ppt/notesSlides/notesSlide4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B.18 로봇 분야별 계획·제어: 레이싱카, 모바일 로봇, 도로 자율주행, 사족보행, 휴머노이드</a:t>
            </a:r>
          </a:p>
        </p:txBody>
      </p:sp>
      <p:sp>
        <p:nvSpPr>
          <p:cNvPr id="4" name="Slide Number Placeholder 3"/>
          <p:cNvSpPr>
            <a:spLocks noGrp="1"/>
          </p:cNvSpPr>
          <p:nvPr>
            <p:ph type="sldNum" idx="5" sz="quarter"/>
          </p:nvPr>
        </p:nvSpPr>
        <p:spPr/>
      </p:sp>
    </p:spTree>
  </p:cSld>
  <p:clrMapOvr>
    <a:masterClrMapping/>
  </p:clrMapOvr>
</p:notes>
</file>

<file path=ppt/notesSlides/notesSlide4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B.18 로봇 분야별 계획·제어: 레이싱카, 모바일 로봇, 도로 자율주행, 사족보행, 휴머노이드</a:t>
            </a:r>
          </a:p>
        </p:txBody>
      </p:sp>
      <p:sp>
        <p:nvSpPr>
          <p:cNvPr id="4" name="Slide Number Placeholder 3"/>
          <p:cNvSpPr>
            <a:spLocks noGrp="1"/>
          </p:cNvSpPr>
          <p:nvPr>
            <p:ph type="sldNum" idx="5" sz="quarter"/>
          </p:nvPr>
        </p:nvSpPr>
        <p:spPr/>
      </p:sp>
    </p:spTree>
  </p:cSld>
  <p:clrMapOvr>
    <a:masterClrMapping/>
  </p:clrMapOvr>
</p:notes>
</file>

<file path=ppt/notesSlides/notesSlide4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B.18 로봇 분야별 계획·제어: 레이싱카, 모바일 로봇, 도로 자율주행, 사족보행, 휴머노이드</a:t>
            </a:r>
          </a:p>
        </p:txBody>
      </p:sp>
      <p:sp>
        <p:nvSpPr>
          <p:cNvPr id="4" name="Slide Number Placeholder 3"/>
          <p:cNvSpPr>
            <a:spLocks noGrp="1"/>
          </p:cNvSpPr>
          <p:nvPr>
            <p:ph type="sldNum" idx="5" sz="quarter"/>
          </p:nvPr>
        </p:nvSpPr>
        <p:spPr/>
      </p:sp>
    </p:spTree>
  </p:cSld>
  <p:clrMapOvr>
    <a:masterClrMapping/>
  </p:clrMapOvr>
</p:notes>
</file>

<file path=ppt/notesSlides/notesSlide4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B.18 로봇 분야별 계획·제어: 레이싱카, 모바일 로봇, 도로 자율주행, 사족보행, 휴머노이드</a:t>
            </a:r>
          </a:p>
        </p:txBody>
      </p:sp>
      <p:sp>
        <p:nvSpPr>
          <p:cNvPr id="4" name="Slide Number Placeholder 3"/>
          <p:cNvSpPr>
            <a:spLocks noGrp="1"/>
          </p:cNvSpPr>
          <p:nvPr>
            <p:ph type="sldNum" idx="5" sz="quarter"/>
          </p:nvPr>
        </p:nvSpPr>
        <p:spPr/>
      </p:sp>
    </p:spTree>
  </p:cSld>
  <p:clrMapOvr>
    <a:masterClrMapping/>
  </p:clrMapOvr>
</p:notes>
</file>

<file path=ppt/notesSlides/notesSlide4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B.18 로봇 분야별 계획·제어: 레이싱카, 모바일 로봇, 도로 자율주행, 사족보행, 휴머노이드</a:t>
            </a:r>
          </a:p>
        </p:txBody>
      </p:sp>
      <p:sp>
        <p:nvSpPr>
          <p:cNvPr id="4" name="Slide Number Placeholder 3"/>
          <p:cNvSpPr>
            <a:spLocks noGrp="1"/>
          </p:cNvSpPr>
          <p:nvPr>
            <p:ph type="sldNum" idx="5" sz="quarter"/>
          </p:nvPr>
        </p:nvSpPr>
        <p:spPr/>
      </p:sp>
    </p:spTree>
  </p:cSld>
  <p:clrMapOvr>
    <a:masterClrMapping/>
  </p:clrMapOvr>
</p:notes>
</file>

<file path=ppt/notesSlides/notesSlide4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B.18 로봇 분야별 계획·제어: 레이싱카, 모바일 로봇, 도로 자율주행, 사족보행, 휴머노이드 · 토글 '자세히: B.18의 근거 123건(원 문서 17절)'</a:t>
            </a:r>
          </a:p>
        </p:txBody>
      </p:sp>
      <p:sp>
        <p:nvSpPr>
          <p:cNvPr id="4" name="Slide Number Placeholder 3"/>
          <p:cNvSpPr>
            <a:spLocks noGrp="1"/>
          </p:cNvSpPr>
          <p:nvPr>
            <p:ph type="sldNum" idx="5" sz="quarter"/>
          </p:nvPr>
        </p:nvSpPr>
        <p:spPr/>
      </p:sp>
    </p:spTree>
  </p:cSld>
  <p:clrMapOvr>
    <a:masterClrMapping/>
  </p:clrMapOvr>
</p:notes>
</file>

<file path=ppt/notesSlides/notesSlide4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탭 '최근 연구 비교'</a:t>
            </a:r>
          </a:p>
        </p:txBody>
      </p:sp>
      <p:sp>
        <p:nvSpPr>
          <p:cNvPr id="4" name="Slide Number Placeholder 3"/>
          <p:cNvSpPr>
            <a:spLocks noGrp="1"/>
          </p:cNvSpPr>
          <p:nvPr>
            <p:ph type="sldNum" idx="5" sz="quarter"/>
          </p:nvPr>
        </p:nvSpPr>
        <p:spPr/>
      </p:sp>
    </p:spTree>
  </p:cSld>
  <p:clrMapOvr>
    <a:masterClrMapping/>
  </p:clrMapOvr>
</p:notes>
</file>

<file path=ppt/notesSlides/notesSlide4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B.17 최근 연구 비교 (2025–2026)</a:t>
            </a:r>
          </a:p>
        </p:txBody>
      </p:sp>
      <p:sp>
        <p:nvSpPr>
          <p:cNvPr id="4" name="Slide Number Placeholder 3"/>
          <p:cNvSpPr>
            <a:spLocks noGrp="1"/>
          </p:cNvSpPr>
          <p:nvPr>
            <p:ph type="sldNum" idx="5" sz="quarter"/>
          </p:nvPr>
        </p:nvSpPr>
        <p:spPr/>
      </p:sp>
    </p:spTree>
  </p:cSld>
  <p:clrMapOvr>
    <a:masterClrMapping/>
  </p:clrMapOvr>
</p:notes>
</file>

<file path=ppt/notesSlides/notesSlide4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B.17 최근 연구 비교 (2025–2026)</a:t>
            </a:r>
          </a:p>
        </p:txBody>
      </p:sp>
      <p:sp>
        <p:nvSpPr>
          <p:cNvPr id="4" name="Slide Number Placeholder 3"/>
          <p:cNvSpPr>
            <a:spLocks noGrp="1"/>
          </p:cNvSpPr>
          <p:nvPr>
            <p:ph type="sldNum" idx="5" sz="quarter"/>
          </p:nvPr>
        </p:nvSpPr>
        <p:spPr/>
      </p:sp>
    </p:spTree>
  </p:cSld>
  <p:clrMapOvr>
    <a:masterClrMapping/>
  </p:clrMapOvr>
</p:notes>
</file>

<file path=ppt/notesSlides/notesSlide4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B.17 최근 연구 비교 (2025–2026)</a:t>
            </a:r>
          </a:p>
        </p:txBody>
      </p:sp>
      <p:sp>
        <p:nvSpPr>
          <p:cNvPr id="4" name="Slide Number Placeholder 3"/>
          <p:cNvSpPr>
            <a:spLocks noGrp="1"/>
          </p:cNvSpPr>
          <p:nvPr>
            <p:ph type="sldNum" idx="5" sz="quarter"/>
          </p:nvPr>
        </p:nvSpPr>
        <p:spPr/>
      </p:sp>
    </p:spTree>
  </p:cSld>
  <p:clrMapOvr>
    <a:masterClrMapping/>
  </p:clrMapOvr>
</p:notes>
</file>

<file path=ppt/notesSlides/notesSlide4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B.17 최근 연구 비교 (2025–2026)</a:t>
            </a:r>
          </a:p>
        </p:txBody>
      </p:sp>
      <p:sp>
        <p:nvSpPr>
          <p:cNvPr id="4" name="Slide Number Placeholder 3"/>
          <p:cNvSpPr>
            <a:spLocks noGrp="1"/>
          </p:cNvSpPr>
          <p:nvPr>
            <p:ph type="sldNum" idx="5" sz="quarter"/>
          </p:nvPr>
        </p:nvSpPr>
        <p:spPr/>
      </p:sp>
    </p:spTree>
  </p:cSld>
  <p:clrMapOvr>
    <a:masterClrMapping/>
  </p:clrMapOvr>
</p:notes>
</file>

<file path=ppt/notesSlides/notesSlide4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탭 '작업 기록'</a:t>
            </a:r>
          </a:p>
        </p:txBody>
      </p:sp>
      <p:sp>
        <p:nvSpPr>
          <p:cNvPr id="4" name="Slide Number Placeholder 3"/>
          <p:cNvSpPr>
            <a:spLocks noGrp="1"/>
          </p:cNvSpPr>
          <p:nvPr>
            <p:ph type="sldNum" idx="5" sz="quarter"/>
          </p:nvPr>
        </p:nvSpPr>
        <p:spPr/>
      </p:sp>
    </p:spTree>
  </p:cSld>
  <p:clrMapOvr>
    <a:masterClrMapping/>
  </p:clrMapOvr>
</p:notes>
</file>

<file path=ppt/notesSlides/notesSlide4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B.15 작업 기록</a:t>
            </a:r>
          </a:p>
        </p:txBody>
      </p:sp>
      <p:sp>
        <p:nvSpPr>
          <p:cNvPr id="4" name="Slide Number Placeholder 3"/>
          <p:cNvSpPr>
            <a:spLocks noGrp="1"/>
          </p:cNvSpPr>
          <p:nvPr>
            <p:ph type="sldNum" idx="5" sz="quarter"/>
          </p:nvPr>
        </p:nvSpPr>
        <p:spPr/>
      </p:sp>
    </p:spTree>
  </p:cSld>
  <p:clrMapOvr>
    <a:masterClrMapping/>
  </p:clrMapOvr>
</p:notes>
</file>

<file path=ppt/notesSlides/notesSlide5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B.15.1 Planner D를 브라우저에서, 같은 망의 diffusion 샘플러 (TP-0137)</a:t>
            </a:r>
          </a:p>
        </p:txBody>
      </p:sp>
      <p:sp>
        <p:nvSpPr>
          <p:cNvPr id="4" name="Slide Number Placeholder 3"/>
          <p:cNvSpPr>
            <a:spLocks noGrp="1"/>
          </p:cNvSpPr>
          <p:nvPr>
            <p:ph type="sldNum" idx="5" sz="quarter"/>
          </p:nvPr>
        </p:nvSpPr>
        <p:spPr/>
      </p:sp>
    </p:spTree>
  </p:cSld>
  <p:clrMapOvr>
    <a:masterClrMapping/>
  </p:clrMapOvr>
</p:notes>
</file>

<file path=ppt/notesSlides/notesSlide5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B.15.1 Planner D를 브라우저에서, 같은 망의 diffusion 샘플러 (TP-0137)</a:t>
            </a:r>
          </a:p>
        </p:txBody>
      </p:sp>
      <p:sp>
        <p:nvSpPr>
          <p:cNvPr id="4" name="Slide Number Placeholder 3"/>
          <p:cNvSpPr>
            <a:spLocks noGrp="1"/>
          </p:cNvSpPr>
          <p:nvPr>
            <p:ph type="sldNum" idx="5" sz="quarter"/>
          </p:nvPr>
        </p:nvSpPr>
        <p:spPr/>
      </p:sp>
    </p:spTree>
  </p:cSld>
  <p:clrMapOvr>
    <a:masterClrMapping/>
  </p:clrMapOvr>
</p:notes>
</file>

<file path=ppt/notesSlides/notesSlide5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B.15.1 Planner D를 브라우저에서, 같은 망의 diffusion 샘플러 (TP-0137)</a:t>
            </a:r>
          </a:p>
        </p:txBody>
      </p:sp>
      <p:sp>
        <p:nvSpPr>
          <p:cNvPr id="4" name="Slide Number Placeholder 3"/>
          <p:cNvSpPr>
            <a:spLocks noGrp="1"/>
          </p:cNvSpPr>
          <p:nvPr>
            <p:ph type="sldNum" idx="5" sz="quarter"/>
          </p:nvPr>
        </p:nvSpPr>
        <p:spPr/>
      </p:sp>
    </p:spTree>
  </p:cSld>
  <p:clrMapOvr>
    <a:masterClrMapping/>
  </p:clrMapOvr>
</p:notes>
</file>

<file path=ppt/notesSlides/notesSlide5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B.15.2 경사로를 지나친 Planner D를 Guidance 경로로 되돌린다 (TP-0078)</a:t>
            </a:r>
          </a:p>
        </p:txBody>
      </p:sp>
      <p:sp>
        <p:nvSpPr>
          <p:cNvPr id="4" name="Slide Number Placeholder 3"/>
          <p:cNvSpPr>
            <a:spLocks noGrp="1"/>
          </p:cNvSpPr>
          <p:nvPr>
            <p:ph type="sldNum" idx="5" sz="quarter"/>
          </p:nvPr>
        </p:nvSpPr>
        <p:spPr/>
      </p:sp>
    </p:spTree>
  </p:cSld>
  <p:clrMapOvr>
    <a:masterClrMapping/>
  </p:clrMapOvr>
</p:notes>
</file>

<file path=ppt/notesSlides/notesSlide5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B.15.2 경사로를 지나친 Planner D를 Guidance 경로로 되돌린다 (TP-0078)</a:t>
            </a:r>
          </a:p>
        </p:txBody>
      </p:sp>
      <p:sp>
        <p:nvSpPr>
          <p:cNvPr id="4" name="Slide Number Placeholder 3"/>
          <p:cNvSpPr>
            <a:spLocks noGrp="1"/>
          </p:cNvSpPr>
          <p:nvPr>
            <p:ph type="sldNum" idx="5" sz="quarter"/>
          </p:nvPr>
        </p:nvSpPr>
        <p:spPr/>
      </p:sp>
    </p:spTree>
  </p:cSld>
  <p:clrMapOvr>
    <a:masterClrMapping/>
  </p:clrMapOvr>
</p:notes>
</file>

<file path=ppt/notesSlides/notesSlide5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B.15.2 경사로를 지나친 Planner D를 Guidance 경로로 되돌린다 (TP-0078)</a:t>
            </a:r>
          </a:p>
        </p:txBody>
      </p:sp>
      <p:sp>
        <p:nvSpPr>
          <p:cNvPr id="4" name="Slide Number Placeholder 3"/>
          <p:cNvSpPr>
            <a:spLocks noGrp="1"/>
          </p:cNvSpPr>
          <p:nvPr>
            <p:ph type="sldNum" idx="5" sz="quarter"/>
          </p:nvPr>
        </p:nvSpPr>
        <p:spPr/>
      </p:sp>
    </p:spTree>
  </p:cSld>
  <p:clrMapOvr>
    <a:masterClrMapping/>
  </p:clrMapOvr>
</p:notes>
</file>

<file path=ppt/notesSlides/notesSlide5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B.15.2 경사로를 지나친 Planner D를 Guidance 경로로 되돌린다 (TP-0078)</a:t>
            </a:r>
          </a:p>
        </p:txBody>
      </p:sp>
      <p:sp>
        <p:nvSpPr>
          <p:cNvPr id="4" name="Slide Number Placeholder 3"/>
          <p:cNvSpPr>
            <a:spLocks noGrp="1"/>
          </p:cNvSpPr>
          <p:nvPr>
            <p:ph type="sldNum" idx="5" sz="quarter"/>
          </p:nvPr>
        </p:nvSpPr>
        <p:spPr/>
      </p:sp>
    </p:spTree>
  </p:cSld>
  <p:clrMapOvr>
    <a:masterClrMapping/>
  </p:clrMapOvr>
</p:notes>
</file>

<file path=ppt/notesSlides/notesSlide5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B.15.3 Planner D 폐루프 RL 후학습: 본 학습과 평가 (TP-0066)</a:t>
            </a:r>
          </a:p>
        </p:txBody>
      </p:sp>
      <p:sp>
        <p:nvSpPr>
          <p:cNvPr id="4" name="Slide Number Placeholder 3"/>
          <p:cNvSpPr>
            <a:spLocks noGrp="1"/>
          </p:cNvSpPr>
          <p:nvPr>
            <p:ph type="sldNum" idx="5" sz="quarter"/>
          </p:nvPr>
        </p:nvSpPr>
        <p:spPr/>
      </p:sp>
    </p:spTree>
  </p:cSld>
  <p:clrMapOvr>
    <a:masterClrMapping/>
  </p:clrMapOvr>
</p:notes>
</file>

<file path=ppt/notesSlides/notesSlide5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B.15.3 Planner D 폐루프 RL 후학습: 본 학습과 평가 (TP-0066)</a:t>
            </a:r>
          </a:p>
        </p:txBody>
      </p:sp>
      <p:sp>
        <p:nvSpPr>
          <p:cNvPr id="4" name="Slide Number Placeholder 3"/>
          <p:cNvSpPr>
            <a:spLocks noGrp="1"/>
          </p:cNvSpPr>
          <p:nvPr>
            <p:ph type="sldNum" idx="5" sz="quarter"/>
          </p:nvPr>
        </p:nvSpPr>
        <p:spPr/>
      </p:sp>
    </p:spTree>
  </p:cSld>
  <p:clrMapOvr>
    <a:masterClrMapping/>
  </p:clrMapOvr>
</p:notes>
</file>

<file path=ppt/notesSlides/notesSlide5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B.15.3 Planner D 폐루프 RL 후학습: 본 학습과 평가 (TP-0066)</a:t>
            </a:r>
          </a:p>
        </p:txBody>
      </p:sp>
      <p:sp>
        <p:nvSpPr>
          <p:cNvPr id="4" name="Slide Number Placeholder 3"/>
          <p:cNvSpPr>
            <a:spLocks noGrp="1"/>
          </p:cNvSpPr>
          <p:nvPr>
            <p:ph type="sldNum" idx="5" sz="quarter"/>
          </p:nvPr>
        </p:nvSpPr>
        <p:spPr/>
      </p:sp>
    </p:spTree>
  </p:cSld>
  <p:clrMapOvr>
    <a:masterClrMapping/>
  </p:clrMapOvr>
</p:notes>
</file>

<file path=ppt/notesSlides/notesSlide5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B.15.4 지형 난이도 레벨 0–3 스윕과 Planner D 진단 (TP-0039·TP-0074)</a:t>
            </a:r>
          </a:p>
        </p:txBody>
      </p:sp>
      <p:sp>
        <p:nvSpPr>
          <p:cNvPr id="4" name="Slide Number Placeholder 3"/>
          <p:cNvSpPr>
            <a:spLocks noGrp="1"/>
          </p:cNvSpPr>
          <p:nvPr>
            <p:ph type="sldNum" idx="5" sz="quarter"/>
          </p:nvPr>
        </p:nvSpPr>
        <p:spPr/>
      </p:sp>
    </p:spTree>
  </p:cSld>
  <p:clrMapOvr>
    <a:masterClrMapping/>
  </p:clrMapOvr>
</p:notes>
</file>

<file path=ppt/notesSlides/notesSlide5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B.15.4 지형 난이도 레벨 0–3 스윕과 Planner D 진단 (TP-0039·TP-0074)</a:t>
            </a:r>
          </a:p>
        </p:txBody>
      </p:sp>
      <p:sp>
        <p:nvSpPr>
          <p:cNvPr id="4" name="Slide Number Placeholder 3"/>
          <p:cNvSpPr>
            <a:spLocks noGrp="1"/>
          </p:cNvSpPr>
          <p:nvPr>
            <p:ph type="sldNum" idx="5" sz="quarter"/>
          </p:nvPr>
        </p:nvSpPr>
        <p:spPr/>
      </p:sp>
    </p:spTree>
  </p:cSld>
  <p:clrMapOvr>
    <a:masterClrMapping/>
  </p:clrMapOvr>
</p:notes>
</file>

<file path=ppt/notesSlides/notesSlide5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B.15.4 지형 난이도 레벨 0–3 스윕과 Planner D 진단 (TP-0039·TP-0074)</a:t>
            </a:r>
          </a:p>
        </p:txBody>
      </p:sp>
      <p:sp>
        <p:nvSpPr>
          <p:cNvPr id="4" name="Slide Number Placeholder 3"/>
          <p:cNvSpPr>
            <a:spLocks noGrp="1"/>
          </p:cNvSpPr>
          <p:nvPr>
            <p:ph type="sldNum" idx="5" sz="quarter"/>
          </p:nvPr>
        </p:nvSpPr>
        <p:spPr/>
      </p:sp>
    </p:spTree>
  </p:cSld>
  <p:clrMapOvr>
    <a:masterClrMapping/>
  </p:clrMapOvr>
</p:notes>
</file>

<file path=ppt/notesSlides/notesSlide5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B.15.5 RL 후학습을 더 돌려도 curb_ramp 레벨 3은 늘지 않는다 (TP-0138)</a:t>
            </a:r>
          </a:p>
        </p:txBody>
      </p:sp>
      <p:sp>
        <p:nvSpPr>
          <p:cNvPr id="4" name="Slide Number Placeholder 3"/>
          <p:cNvSpPr>
            <a:spLocks noGrp="1"/>
          </p:cNvSpPr>
          <p:nvPr>
            <p:ph type="sldNum" idx="5" sz="quarter"/>
          </p:nvPr>
        </p:nvSpPr>
        <p:spPr/>
      </p:sp>
    </p:spTree>
  </p:cSld>
  <p:clrMapOvr>
    <a:masterClrMapping/>
  </p:clrMapOvr>
</p:notes>
</file>

<file path=ppt/notesSlides/notesSlide5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B.15.5 RL 후학습을 더 돌려도 curb_ramp 레벨 3은 늘지 않는다 (TP-0138)</a:t>
            </a:r>
          </a:p>
        </p:txBody>
      </p:sp>
      <p:sp>
        <p:nvSpPr>
          <p:cNvPr id="4" name="Slide Number Placeholder 3"/>
          <p:cNvSpPr>
            <a:spLocks noGrp="1"/>
          </p:cNvSpPr>
          <p:nvPr>
            <p:ph type="sldNum" idx="5" sz="quarter"/>
          </p:nvPr>
        </p:nvSpPr>
        <p:spPr/>
      </p:sp>
    </p:spTree>
  </p:cSld>
  <p:clrMapOvr>
    <a:masterClrMapping/>
  </p:clrMapOvr>
</p:notes>
</file>

<file path=ppt/notesSlides/notesSlide5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B.15.6 경사로를 지나친 상태에서 시작하는 DAgger도 단독 성적을 올리지 못했다 (TP-0143)</a:t>
            </a:r>
          </a:p>
        </p:txBody>
      </p:sp>
      <p:sp>
        <p:nvSpPr>
          <p:cNvPr id="4" name="Slide Number Placeholder 3"/>
          <p:cNvSpPr>
            <a:spLocks noGrp="1"/>
          </p:cNvSpPr>
          <p:nvPr>
            <p:ph type="sldNum" idx="5" sz="quarter"/>
          </p:nvPr>
        </p:nvSpPr>
        <p:spPr/>
      </p:sp>
    </p:spTree>
  </p:cSld>
  <p:clrMapOvr>
    <a:masterClrMapping/>
  </p:clrMapOvr>
</p:notes>
</file>

<file path=ppt/notesSlides/notesSlide5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docs/research-planner.md · B.15.6 경사로를 지나친 상태에서 시작하는 DAgger도 단독 성적을 올리지 못했다 (TP-0143)</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hyperlink" Target="https://github.com/Physical-Intelligence/openpi" TargetMode="External"/><Relationship Id="rId4" Type="http://schemas.openxmlformats.org/officeDocument/2006/relationships/hyperlink" Target="https://github.com/openvla/openvla" TargetMode="External"/><Relationship Id="rId5" Type="http://schemas.openxmlformats.org/officeDocument/2006/relationships/hyperlink" Target="https://github.com/OpenDriveLab/UniAD" TargetMode="External"/><Relationship Id="rId6" Type="http://schemas.openxmlformats.org/officeDocument/2006/relationships/hyperlink" Target="https://github.com/ros-navigation/navigation2" TargetMode="External"/><Relationship Id="rId7" Type="http://schemas.openxmlformats.org/officeDocument/2006/relationships/hyperlink" Target="https://github.com/real-stanford/diffusion_policy"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hyperlink" Target="https://github.com/hustvl/DiffusionDrive" TargetMode="External"/><Relationship Id="rId4" Type="http://schemas.openxmlformats.org/officeDocument/2006/relationships/hyperlink" Target="https://github.com/hustvl/VAD" TargetMode="External"/><Relationship Id="rId5" Type="http://schemas.openxmlformats.org/officeDocument/2006/relationships/hyperlink" Target="https://github.com/rst-tu-dortmund/teb_local_planner" TargetMode="External"/><Relationship Id="rId6" Type="http://schemas.openxmlformats.org/officeDocument/2006/relationships/hyperlink" Target="https://github.com/robodhruv/visualnav-transformer" TargetMode="External"/><Relationship Id="rId7" Type="http://schemas.openxmlformats.org/officeDocument/2006/relationships/hyperlink" Target="https://github.com/jannerm/diffuser" TargetMode="External"/><Relationship Id="rId8" Type="http://schemas.openxmlformats.org/officeDocument/2006/relationships/hyperlink" Target="https://github.com/InternRobotics/InternNav" TargetMode="External"/><Relationship Id="rId9" Type="http://schemas.openxmlformats.org/officeDocument/2006/relationships/hyperlink" Target="https://github.com/autonomousvision/navsim" TargetMode="External"/><Relationship Id="rId10" Type="http://schemas.openxmlformats.org/officeDocument/2006/relationships/hyperlink" Target="https://github.com/ZhengYinan-AIR/Diffusion-Planner" TargetMode="External"/><Relationship Id="rId11" Type="http://schemas.openxmlformats.org/officeDocument/2006/relationships/hyperlink" Target="https://github.com/swc-17/SparseDrive" TargetMode="External"/><Relationship Id="rId12" Type="http://schemas.openxmlformats.org/officeDocument/2006/relationships/hyperlink" Target="https://github.com/AnjieCheng/NaVILA" TargetMode="External"/><Relationship Id="rId13" Type="http://schemas.openxmlformats.org/officeDocument/2006/relationships/hyperlink" Target="https://github.com/leggedrobotics/viplanner" TargetMode="External"/><Relationship Id="rId14" Type="http://schemas.openxmlformats.org/officeDocument/2006/relationships/hyperlink" Target="https://github.com/YvanYin/GoalFlow" TargetMode="External"/><Relationship Id="rId15" Type="http://schemas.openxmlformats.org/officeDocument/2006/relationships/hyperlink" Target="https://github.com/NVlabs/Hydra-MDP" TargetMode="External"/><Relationship Id="rId16" Type="http://schemas.openxmlformats.org/officeDocument/2006/relationships/hyperlink" Target="https://github.com/leggedrobotics/iPlanner" TargetMode="External"/><Relationship Id="rId17" Type="http://schemas.openxmlformats.org/officeDocument/2006/relationships/hyperlink" Target="https://github.com/jzhzhang/Uni-NaVid" TargetMode="External"/><Relationship Id="rId18" Type="http://schemas.openxmlformats.org/officeDocument/2006/relationships/hyperlink" Target="https://github.com/joaoamcarvalho/mpd-public" TargetMode="External"/><Relationship Id="rId19" Type="http://schemas.openxmlformats.org/officeDocument/2006/relationships/hyperlink" Target="https://github.com/ai4ce/CityWalker"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hyperlink" Target="https://github.com/rst-tu-dortmund/teb_local_planner" TargetMode="External"/><Relationship Id="rId4" Type="http://schemas.openxmlformats.org/officeDocument/2006/relationships/hyperlink" Target="https://github.com/ros-navigation/navigation2" TargetMode="External"/><Relationship Id="rId5" Type="http://schemas.openxmlformats.org/officeDocument/2006/relationships/hyperlink" Target="https://doi.org/10.1007/BF01386390" TargetMode="External"/><Relationship Id="rId6" Type="http://schemas.openxmlformats.org/officeDocument/2006/relationships/hyperlink" Target="https://doi.org/10.1109/TSSC.1968.300136" TargetMode="External"/><Relationship Id="rId7" Type="http://schemas.openxmlformats.org/officeDocument/2006/relationships/hyperlink" Target="https://doi.org/10.1177/0278364909359210" TargetMode="External"/><Relationship Id="rId8" Type="http://schemas.openxmlformats.org/officeDocument/2006/relationships/hyperlink" Target="https://doi.org/10.1109/100.580977"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hyperlink" Target="https://doi.org/10.1016/j.robot.2016.11.007" TargetMode="External"/><Relationship Id="rId4" Type="http://schemas.openxmlformats.org/officeDocument/2006/relationships/hyperlink" Target="https://github.com/rst-tu-dortmund/teb_local_planner" TargetMode="External"/><Relationship Id="rId5" Type="http://schemas.openxmlformats.org/officeDocument/2006/relationships/hyperlink" Target="https://arxiv.org/abs/2003.00368" TargetMode="External"/><Relationship Id="rId6" Type="http://schemas.openxmlformats.org/officeDocument/2006/relationships/hyperlink" Target="https://github.com/ros-navigation/navigation2" TargetMode="External"/><Relationship Id="rId7" Type="http://schemas.openxmlformats.org/officeDocument/2006/relationships/hyperlink" Target="https://arxiv.org/abs/2401.13078" TargetMode="External"/><Relationship Id="rId8" Type="http://schemas.openxmlformats.org/officeDocument/2006/relationships/hyperlink" Target="https://arxiv.org/abs/2307.15236"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hyperlink" Target="https://arxiv.org/abs/2309.15970" TargetMode="External"/><Relationship Id="rId4" Type="http://schemas.openxmlformats.org/officeDocument/2006/relationships/hyperlink" Target="https://github.com/anindex/mpot" TargetMode="External"/><Relationship Id="rId5" Type="http://schemas.openxmlformats.org/officeDocument/2006/relationships/hyperlink" Target="https://github.com/anindex/ssax"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hyperlink" Target="https://arxiv.org/abs/2606.10903" TargetMode="External"/><Relationship Id="rId4" Type="http://schemas.openxmlformats.org/officeDocument/2006/relationships/image" Target="../media/image6.jpg"/><Relationship Id="rId5" Type="http://schemas.openxmlformats.org/officeDocument/2006/relationships/image" Target="../media/image7.jpg"/><Relationship Id="rId6" Type="http://schemas.openxmlformats.org/officeDocument/2006/relationships/image" Target="../media/image8.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hyperlink" Target="https://arxiv.org/abs/2506.21853"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10.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hyperlink" Target="https://arxiv.org/abs/2505.08712" TargetMode="External"/><Relationship Id="rId4" Type="http://schemas.openxmlformats.org/officeDocument/2006/relationships/hyperlink" Target="https://github.com/InternRobotics/NavDP"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12.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13.png"/><Relationship Id="rId4" Type="http://schemas.openxmlformats.org/officeDocument/2006/relationships/image" Target="../media/image1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hyperlink" Target="https://arxiv.org/abs/2607.28560" TargetMode="External"/><Relationship Id="rId4" Type="http://schemas.openxmlformats.org/officeDocument/2006/relationships/hyperlink" Target="https://yty-sky.github.io/x-navdp-project-page/"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15.jpg"/><Relationship Id="rId4" Type="http://schemas.openxmlformats.org/officeDocument/2006/relationships/image" Target="../media/image16.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1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hyperlink" Target="https://arxiv.org/abs/2603.12868"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18.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hyperlink" Target="https://arxiv.org/abs/2505.22094" TargetMode="External"/><Relationship Id="rId4" Type="http://schemas.openxmlformats.org/officeDocument/2006/relationships/hyperlink" Target="https://arxiv.org/abs/2512.19629" TargetMode="External"/><Relationship Id="rId5" Type="http://schemas.openxmlformats.org/officeDocument/2006/relationships/hyperlink" Target="https://steinate.github.io/logoplanner.github.io/"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19.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hyperlink" Target="https://arxiv.org/abs/2609.20747" TargetMode="External"/><Relationship Id="rId4" Type="http://schemas.openxmlformats.org/officeDocument/2006/relationships/hyperlink" Target="https://arxiv.org/abs/2606.29222" TargetMode="External"/><Relationship Id="rId5" Type="http://schemas.openxmlformats.org/officeDocument/2006/relationships/hyperlink" Target="https://github.com/BBD00/core_planner" TargetMode="External"/><Relationship Id="rId6" Type="http://schemas.openxmlformats.org/officeDocument/2006/relationships/image" Target="../media/image20.jpg"/><Relationship Id="rId7" Type="http://schemas.openxmlformats.org/officeDocument/2006/relationships/image" Target="../media/image21.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2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2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hyperlink" Target="https://arxiv.org/abs/2610.12877" TargetMode="External"/><Relationship Id="rId4" Type="http://schemas.openxmlformats.org/officeDocument/2006/relationships/hyperlink" Target="https://tame-nav.github.io/"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24.jpg"/><Relationship Id="rId4" Type="http://schemas.openxmlformats.org/officeDocument/2006/relationships/image" Target="../media/image25.jpg"/><Relationship Id="rId5" Type="http://schemas.openxmlformats.org/officeDocument/2006/relationships/image" Target="../media/image26.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27.png"/><Relationship Id="rId4" Type="http://schemas.openxmlformats.org/officeDocument/2006/relationships/image" Target="../media/image28.png"/><Relationship Id="rId5" Type="http://schemas.openxmlformats.org/officeDocument/2006/relationships/image" Target="../media/image29.png"/><Relationship Id="rId6" Type="http://schemas.openxmlformats.org/officeDocument/2006/relationships/image" Target="../media/image3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hyperlink" Target="https://arxiv.org/abs/1710.06542" TargetMode="External"/><Relationship Id="rId4" Type="http://schemas.openxmlformats.org/officeDocument/2006/relationships/hyperlink" Target="https://arxiv.org/abs/1912.12294" TargetMode="External"/><Relationship Id="rId5" Type="http://schemas.openxmlformats.org/officeDocument/2006/relationships/hyperlink" Target="https://arxiv.org/abs/2103.04351" TargetMode="External"/><Relationship Id="rId6" Type="http://schemas.openxmlformats.org/officeDocument/2006/relationships/hyperlink" Target="https://roboticsproceedings.org/rss18/p045.html" TargetMode="External"/><Relationship Id="rId7" Type="http://schemas.openxmlformats.org/officeDocument/2006/relationships/hyperlink" Target="https://arxiv.org/abs/2405.10830" TargetMode="External"/><Relationship Id="rId8" Type="http://schemas.openxmlformats.org/officeDocument/2006/relationships/hyperlink" Target="https://arxiv.org/abs/2412.09149" TargetMode="External"/><Relationship Id="rId9" Type="http://schemas.openxmlformats.org/officeDocument/2006/relationships/hyperlink" Target="https://github.com/uzh-rpg/sitt"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hyperlink" Target="https://github.com/leggedrobotics/iPlanner" TargetMode="External"/><Relationship Id="rId4" Type="http://schemas.openxmlformats.org/officeDocument/2006/relationships/hyperlink" Target="https://github.com/leggedrobotics/viplanner" TargetMode="External"/><Relationship Id="rId5" Type="http://schemas.openxmlformats.org/officeDocument/2006/relationships/hyperlink" Target="https://arxiv.org/abs/2302.11434" TargetMode="External"/><Relationship Id="rId6" Type="http://schemas.openxmlformats.org/officeDocument/2006/relationships/image" Target="../media/image31.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hyperlink" Target="https://arxiv.org/abs/2310.00982" TargetMode="External"/><Relationship Id="rId4" Type="http://schemas.openxmlformats.org/officeDocument/2006/relationships/hyperlink" Target="https://github.com/leggedrobotics/viplanner" TargetMode="External"/><Relationship Id="rId5" Type="http://schemas.openxmlformats.org/officeDocument/2006/relationships/image" Target="../media/image32.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 Id="rId3" Type="http://schemas.openxmlformats.org/officeDocument/2006/relationships/hyperlink" Target="https://github.com/jannerm/diffuser" TargetMode="External"/><Relationship Id="rId4" Type="http://schemas.openxmlformats.org/officeDocument/2006/relationships/hyperlink" Target="https://github.com/real-stanford/diffusion_policy" TargetMode="External"/><Relationship Id="rId5" Type="http://schemas.openxmlformats.org/officeDocument/2006/relationships/hyperlink" Target="https://github.com/joaoamcarvalho/mpd-public" TargetMode="External"/><Relationship Id="rId6" Type="http://schemas.openxmlformats.org/officeDocument/2006/relationships/hyperlink" Target="https://github.com/Physical-Intelligence/openpi" TargetMode="External"/><Relationship Id="rId7" Type="http://schemas.openxmlformats.org/officeDocument/2006/relationships/hyperlink" Target="https://github.com/hustvl/DiffusionDrive" TargetMode="External"/><Relationship Id="rId8" Type="http://schemas.openxmlformats.org/officeDocument/2006/relationships/hyperlink" Target="https://github.com/ZhengYinan-AIR/Diffusion-Planner" TargetMode="External"/><Relationship Id="rId9" Type="http://schemas.openxmlformats.org/officeDocument/2006/relationships/hyperlink" Target="https://github.com/YvanYin/GoalFlow" TargetMode="External"/><Relationship Id="rId10" Type="http://schemas.openxmlformats.org/officeDocument/2006/relationships/hyperlink" Target="https://github.com/DiffusionAD/Flow-Planner"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 Id="rId3" Type="http://schemas.openxmlformats.org/officeDocument/2006/relationships/hyperlink" Target="https://arxiv.org/abs/2205.09991" TargetMode="External"/><Relationship Id="rId4" Type="http://schemas.openxmlformats.org/officeDocument/2006/relationships/hyperlink" Target="https://github.com/jannerm/diffuser"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 Id="rId3" Type="http://schemas.openxmlformats.org/officeDocument/2006/relationships/image" Target="../media/image36.jp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 Id="rId3" Type="http://schemas.openxmlformats.org/officeDocument/2006/relationships/hyperlink" Target="https://arxiv.org/abs/2303.04137" TargetMode="External"/><Relationship Id="rId4" Type="http://schemas.openxmlformats.org/officeDocument/2006/relationships/hyperlink" Target="https://github.com/real-stanford/diffusion_policy" TargetMode="External"/><Relationship Id="rId5" Type="http://schemas.openxmlformats.org/officeDocument/2006/relationships/image" Target="../media/image37.jpg"/><Relationship Id="rId6" Type="http://schemas.openxmlformats.org/officeDocument/2006/relationships/hyperlink" Target="https://arxiv.org/abs/2308.01557" TargetMode="External"/><Relationship Id="rId7" Type="http://schemas.openxmlformats.org/officeDocument/2006/relationships/hyperlink" Target="https://github.com/joaoamcarvalho/mpd-public"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 Id="rId3" Type="http://schemas.openxmlformats.org/officeDocument/2006/relationships/hyperlink" Target="https://arxiv.org/abs/2503.05689" TargetMode="External"/><Relationship Id="rId4" Type="http://schemas.openxmlformats.org/officeDocument/2006/relationships/hyperlink" Target="https://github.com/YvanYin/GoalFlow" TargetMode="External"/><Relationship Id="rId5" Type="http://schemas.openxmlformats.org/officeDocument/2006/relationships/image" Target="../media/image38.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 Id="rId3" Type="http://schemas.openxmlformats.org/officeDocument/2006/relationships/image" Target="../media/image39.png"/><Relationship Id="rId4" Type="http://schemas.openxmlformats.org/officeDocument/2006/relationships/image" Target="../media/image40.png"/><Relationship Id="rId5" Type="http://schemas.openxmlformats.org/officeDocument/2006/relationships/image" Target="../media/image4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 Id="rId3" Type="http://schemas.openxmlformats.org/officeDocument/2006/relationships/hyperlink" Target="https://www.youtube.com/watch?v=Ug9Pv2fOdmg" TargetMode="External"/><Relationship Id="rId4" Type="http://schemas.openxmlformats.org/officeDocument/2006/relationships/hyperlink" Target="https://github.com/autowarefoundation/autoware_universe/pull/10957" TargetMode="External"/><Relationship Id="rId5" Type="http://schemas.openxmlformats.org/officeDocument/2006/relationships/hyperlink" Target="https://arxiv.org/abs/2501.15564" TargetMode="External"/><Relationship Id="rId6" Type="http://schemas.openxmlformats.org/officeDocument/2006/relationships/hyperlink" Target="https://github.com/ZhengYinan-AIR/Diffusion-Planner"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 Id="rId3" Type="http://schemas.openxmlformats.org/officeDocument/2006/relationships/image" Target="../media/image42.jp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 Id="rId3" Type="http://schemas.openxmlformats.org/officeDocument/2006/relationships/image" Target="../media/image43.png"/><Relationship Id="rId4" Type="http://schemas.openxmlformats.org/officeDocument/2006/relationships/image" Target="../media/image44.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 Id="rId3" Type="http://schemas.openxmlformats.org/officeDocument/2006/relationships/hyperlink" Target="https://arxiv.org/abs/2510.11083" TargetMode="External"/><Relationship Id="rId4" Type="http://schemas.openxmlformats.org/officeDocument/2006/relationships/hyperlink" Target="https://github.com/DiffusionAD/Flow-Planner" TargetMode="External"/><Relationship Id="rId5" Type="http://schemas.openxmlformats.org/officeDocument/2006/relationships/hyperlink" Target="https://arxiv.org/abs/2603.10330" TargetMode="External"/><Relationship Id="rId6" Type="http://schemas.openxmlformats.org/officeDocument/2006/relationships/hyperlink" Target="https://github.com/Eugene29/PC-Diffuser"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 Id="rId3" Type="http://schemas.openxmlformats.org/officeDocument/2006/relationships/hyperlink" Target="https://arxiv.org/abs/2604.12656" TargetMode="External"/><Relationship Id="rId4" Type="http://schemas.openxmlformats.org/officeDocument/2006/relationships/hyperlink" Target="https://github.com/BaoyunWang/FeaXDrive" TargetMode="External"/><Relationship Id="rId5" Type="http://schemas.openxmlformats.org/officeDocument/2006/relationships/hyperlink" Target="https://arxiv.org/abs/2511.18729" TargetMode="External"/><Relationship Id="rId6" Type="http://schemas.openxmlformats.org/officeDocument/2006/relationships/hyperlink" Target="https://github.com/liulin815/GuideFlow" TargetMode="External"/><Relationship Id="rId7" Type="http://schemas.openxmlformats.org/officeDocument/2006/relationships/hyperlink" Target="https://arxiv.org/abs/2602.10285" TargetMode="External"/><Relationship Id="rId8" Type="http://schemas.openxmlformats.org/officeDocument/2006/relationships/hyperlink" Target="https://flow-matching-self-driving.github.io/" TargetMode="External"/><Relationship Id="rId9" Type="http://schemas.openxmlformats.org/officeDocument/2006/relationships/hyperlink" Target="https://arxiv.org/abs/2604.21489" TargetMode="External"/><Relationship Id="rId10" Type="http://schemas.openxmlformats.org/officeDocument/2006/relationships/hyperlink" Target="https://arxiv.org/abs/2411.15139" TargetMode="External"/><Relationship Id="rId11" Type="http://schemas.openxmlformats.org/officeDocument/2006/relationships/hyperlink" Target="https://github.com/hustvl/diffusiondrive" TargetMode="External"/><Relationship Id="rId12" Type="http://schemas.openxmlformats.org/officeDocument/2006/relationships/hyperlink" Target="https://arxiv.org/abs/2606.20686" TargetMode="External"/><Relationship Id="rId13" Type="http://schemas.openxmlformats.org/officeDocument/2006/relationships/hyperlink" Target="https://arxiv.org/abs/2607.21661" TargetMode="External"/><Relationship Id="rId14" Type="http://schemas.openxmlformats.org/officeDocument/2006/relationships/hyperlink" Target="https://arxiv.org/abs/2505.13131" TargetMode="External"/><Relationship Id="rId15" Type="http://schemas.openxmlformats.org/officeDocument/2006/relationships/hyperlink" Target="https://arxiv.org/abs/2606.24208"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 Id="rId3" Type="http://schemas.openxmlformats.org/officeDocument/2006/relationships/image" Target="../media/image45.jpg"/><Relationship Id="rId4" Type="http://schemas.openxmlformats.org/officeDocument/2006/relationships/image" Target="../media/image46.jpg"/><Relationship Id="rId5" Type="http://schemas.openxmlformats.org/officeDocument/2006/relationships/image" Target="../media/image47.jp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 Id="rId3" Type="http://schemas.openxmlformats.org/officeDocument/2006/relationships/image" Target="../media/image48.jpg"/><Relationship Id="rId4" Type="http://schemas.openxmlformats.org/officeDocument/2006/relationships/image" Target="../media/image49.jpg"/><Relationship Id="rId5" Type="http://schemas.openxmlformats.org/officeDocument/2006/relationships/image" Target="../media/image50.jp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 Id="rId3" Type="http://schemas.openxmlformats.org/officeDocument/2006/relationships/image" Target="../media/image51.jpg"/><Relationship Id="rId4" Type="http://schemas.openxmlformats.org/officeDocument/2006/relationships/image" Target="../media/image52.jpg"/><Relationship Id="rId5" Type="http://schemas.openxmlformats.org/officeDocument/2006/relationships/image" Target="../media/image53.jp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 Id="rId3" Type="http://schemas.openxmlformats.org/officeDocument/2006/relationships/image" Target="../media/image54.png"/><Relationship Id="rId4" Type="http://schemas.openxmlformats.org/officeDocument/2006/relationships/image" Target="../media/image55.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 Id="rId3" Type="http://schemas.openxmlformats.org/officeDocument/2006/relationships/image" Target="../media/image56.png"/><Relationship Id="rId4" Type="http://schemas.openxmlformats.org/officeDocument/2006/relationships/image" Target="../media/image57.png"/><Relationship Id="rId5" Type="http://schemas.openxmlformats.org/officeDocument/2006/relationships/image" Target="../media/image58.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 Id="rId3" Type="http://schemas.openxmlformats.org/officeDocument/2006/relationships/image" Target="../media/image59.png"/><Relationship Id="rId4" Type="http://schemas.openxmlformats.org/officeDocument/2006/relationships/image" Target="../media/image60.png"/><Relationship Id="rId5" Type="http://schemas.openxmlformats.org/officeDocument/2006/relationships/image" Target="../media/image61.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 Id="rId3" Type="http://schemas.openxmlformats.org/officeDocument/2006/relationships/image" Target="../media/image62.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 Id="rId3" Type="http://schemas.openxmlformats.org/officeDocument/2006/relationships/image" Target="../media/image63.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 Id="rId3" Type="http://schemas.openxmlformats.org/officeDocument/2006/relationships/image" Target="../media/image64.png"/><Relationship Id="rId4" Type="http://schemas.openxmlformats.org/officeDocument/2006/relationships/image" Target="../media/image65.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 Id="rId3" Type="http://schemas.openxmlformats.org/officeDocument/2006/relationships/image" Target="../media/image66.png"/><Relationship Id="rId4" Type="http://schemas.openxmlformats.org/officeDocument/2006/relationships/image" Target="../media/image67.png"/><Relationship Id="rId5" Type="http://schemas.openxmlformats.org/officeDocument/2006/relationships/image" Target="../media/image68.png"/><Relationship Id="rId6" Type="http://schemas.openxmlformats.org/officeDocument/2006/relationships/image" Target="../media/image69.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 Id="rId3" Type="http://schemas.openxmlformats.org/officeDocument/2006/relationships/image" Target="../media/image70.png"/><Relationship Id="rId4" Type="http://schemas.openxmlformats.org/officeDocument/2006/relationships/image" Target="../media/image71.png"/><Relationship Id="rId5" Type="http://schemas.openxmlformats.org/officeDocument/2006/relationships/image" Target="../media/image72.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 Id="rId3" Type="http://schemas.openxmlformats.org/officeDocument/2006/relationships/hyperlink" Target="https://arxiv.org/abs/2306.14846" TargetMode="External"/><Relationship Id="rId4" Type="http://schemas.openxmlformats.org/officeDocument/2006/relationships/hyperlink" Target="https://arxiv.org/abs/2310.07896" TargetMode="External"/><Relationship Id="rId5" Type="http://schemas.openxmlformats.org/officeDocument/2006/relationships/hyperlink" Target="https://arxiv.org/abs/2210.03370" TargetMode="External"/><Relationship Id="rId6" Type="http://schemas.openxmlformats.org/officeDocument/2006/relationships/hyperlink" Target="https://github.com/robodhruv/visualnav-transformer" TargetMode="External"/><Relationship Id="rId7" Type="http://schemas.openxmlformats.org/officeDocument/2006/relationships/image" Target="../media/image76.jp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 Id="rId3" Type="http://schemas.openxmlformats.org/officeDocument/2006/relationships/image" Target="../media/image77.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 Id="rId3" Type="http://schemas.openxmlformats.org/officeDocument/2006/relationships/hyperlink" Target="https://huggingface.co/datasets/leggedrobotics/navitrace" TargetMode="External"/><Relationship Id="rId4" Type="http://schemas.openxmlformats.org/officeDocument/2006/relationships/hyperlink" Target="https://github.com/leggedrobotics/navitrace_evaluation" TargetMode="External"/><Relationship Id="rId5" Type="http://schemas.openxmlformats.org/officeDocument/2006/relationships/hyperlink" Target="https://huggingface.co/papers/2607.20785" TargetMode="External"/><Relationship Id="rId6" Type="http://schemas.openxmlformats.org/officeDocument/2006/relationships/hyperlink" Target="https://arxiv.org/abs/2605.19206" TargetMode="Externa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 Id="rId3" Type="http://schemas.openxmlformats.org/officeDocument/2006/relationships/image" Target="../media/image78.jp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 Id="rId3" Type="http://schemas.openxmlformats.org/officeDocument/2006/relationships/hyperlink" Target="https://github.com/openvla/openvla" TargetMode="External"/><Relationship Id="rId4" Type="http://schemas.openxmlformats.org/officeDocument/2006/relationships/hyperlink" Target="https://huggingface.co/openvla/openvla-7b" TargetMode="External"/><Relationship Id="rId5" Type="http://schemas.openxmlformats.org/officeDocument/2006/relationships/hyperlink" Target="https://github.com/Physical-Intelligence/openpi" TargetMode="External"/><Relationship Id="rId6" Type="http://schemas.openxmlformats.org/officeDocument/2006/relationships/hyperlink" Target="https://huggingface.co/lerobot/pi0_base" TargetMode="External"/><Relationship Id="rId7" Type="http://schemas.openxmlformats.org/officeDocument/2006/relationships/hyperlink" Target="https://github.com/AnjieCheng/NaVILA" TargetMode="External"/><Relationship Id="rId8" Type="http://schemas.openxmlformats.org/officeDocument/2006/relationships/hyperlink" Target="https://github.com/jzhzhang/Uni-NaVid" TargetMode="External"/><Relationship Id="rId9" Type="http://schemas.openxmlformats.org/officeDocument/2006/relationships/hyperlink" Target="https://github.com/ai4ce/CityWalker" TargetMode="External"/><Relationship Id="rId10" Type="http://schemas.openxmlformats.org/officeDocument/2006/relationships/hyperlink" Target="https://github.com/allenai/molmoact" TargetMode="External"/><Relationship Id="rId11" Type="http://schemas.openxmlformats.org/officeDocument/2006/relationships/hyperlink" Target="https://github.com/vamos-vla/vamos" TargetMode="External"/><Relationship Id="rId12" Type="http://schemas.openxmlformats.org/officeDocument/2006/relationships/hyperlink" Target="https://arxiv.org/abs/2406.09246" TargetMode="External"/><Relationship Id="rId13" Type="http://schemas.openxmlformats.org/officeDocument/2006/relationships/hyperlink" Target="https://arxiv.org/abs/2410.24164" TargetMode="Externa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 Id="rId3" Type="http://schemas.openxmlformats.org/officeDocument/2006/relationships/image" Target="../media/image79.jpg"/><Relationship Id="rId4" Type="http://schemas.openxmlformats.org/officeDocument/2006/relationships/hyperlink" Target="https://arxiv.org/abs/2412.04453" TargetMode="External"/><Relationship Id="rId5" Type="http://schemas.openxmlformats.org/officeDocument/2006/relationships/hyperlink" Target="https://github.com/AnjieCheng/NaVILA" TargetMode="Externa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 Id="rId3" Type="http://schemas.openxmlformats.org/officeDocument/2006/relationships/image" Target="../media/image80.jpg"/><Relationship Id="rId4" Type="http://schemas.openxmlformats.org/officeDocument/2006/relationships/hyperlink" Target="https://arxiv.org/abs/2412.06224" TargetMode="External"/><Relationship Id="rId5" Type="http://schemas.openxmlformats.org/officeDocument/2006/relationships/hyperlink" Target="https://github.com/jzhzhang/Uni-NaVid" TargetMode="External"/><Relationship Id="rId6" Type="http://schemas.openxmlformats.org/officeDocument/2006/relationships/hyperlink" Target="https://arxiv.org/abs/2411.17820" TargetMode="External"/><Relationship Id="rId7" Type="http://schemas.openxmlformats.org/officeDocument/2006/relationships/hyperlink" Target="https://github.com/ai4ce/CityWalker" TargetMode="Externa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 Id="rId3" Type="http://schemas.openxmlformats.org/officeDocument/2006/relationships/image" Target="../media/image81.jp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 Id="rId3" Type="http://schemas.openxmlformats.org/officeDocument/2006/relationships/hyperlink" Target="https://arxiv.org/abs/2508.07917" TargetMode="External"/><Relationship Id="rId4" Type="http://schemas.openxmlformats.org/officeDocument/2006/relationships/hyperlink" Target="https://github.com/allenai/molmoact" TargetMode="Externa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 Id="rId3" Type="http://schemas.openxmlformats.org/officeDocument/2006/relationships/image" Target="../media/image82.jp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 Id="rId3" Type="http://schemas.openxmlformats.org/officeDocument/2006/relationships/hyperlink" Target="https://arxiv.org/abs/2510.20818" TargetMode="External"/><Relationship Id="rId4" Type="http://schemas.openxmlformats.org/officeDocument/2006/relationships/hyperlink" Target="https://vamos-vla.github.io/" TargetMode="External"/><Relationship Id="rId5" Type="http://schemas.openxmlformats.org/officeDocument/2006/relationships/hyperlink" Target="https://github.com/vamos-vla/vamos" TargetMode="Externa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 Id="rId3" Type="http://schemas.openxmlformats.org/officeDocument/2006/relationships/image" Target="../media/image83.jpg"/><Relationship Id="rId4" Type="http://schemas.openxmlformats.org/officeDocument/2006/relationships/image" Target="../media/image84.jp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 Id="rId3" Type="http://schemas.openxmlformats.org/officeDocument/2006/relationships/image" Target="../media/image85.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 Id="rId3" Type="http://schemas.openxmlformats.org/officeDocument/2006/relationships/hyperlink" Target="https://arxiv.org/abs/2603.25937" TargetMode="Externa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 Id="rId3" Type="http://schemas.openxmlformats.org/officeDocument/2006/relationships/image" Target="../media/image86.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 Id="rId3" Type="http://schemas.openxmlformats.org/officeDocument/2006/relationships/hyperlink" Target="https://arxiv.org/abs/2510.23576" TargetMode="External"/><Relationship Id="rId4" Type="http://schemas.openxmlformats.org/officeDocument/2006/relationships/hyperlink" Target="https://pku-epic.github.io/UrbanVLA-Web/" TargetMode="External"/><Relationship Id="rId5" Type="http://schemas.openxmlformats.org/officeDocument/2006/relationships/hyperlink" Target="https://github.com/GalaxyGeneralRobotics/UrbanVLA" TargetMode="Externa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 Id="rId3" Type="http://schemas.openxmlformats.org/officeDocument/2006/relationships/image" Target="../media/image87.jp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 Id="rId3" Type="http://schemas.openxmlformats.org/officeDocument/2006/relationships/hyperlink" Target="https://arxiv.org/abs/2407.07775" TargetMode="Externa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 Id="rId3" Type="http://schemas.openxmlformats.org/officeDocument/2006/relationships/image" Target="../media/image88.jp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xml"/><Relationship Id="rId3" Type="http://schemas.openxmlformats.org/officeDocument/2006/relationships/hyperlink" Target="https://arxiv.org/abs/2603.22527" TargetMode="Externa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2.xml"/><Relationship Id="rId3" Type="http://schemas.openxmlformats.org/officeDocument/2006/relationships/hyperlink" Target="https://arxiv.org/abs/2507.22028" TargetMode="External"/><Relationship Id="rId4" Type="http://schemas.openxmlformats.org/officeDocument/2006/relationships/hyperlink" Target="https://vail-ucla.github.io/S2E" TargetMode="External"/><Relationship Id="rId5" Type="http://schemas.openxmlformats.org/officeDocument/2006/relationships/hyperlink" Target="https://github.com/VAIL-UCLA/S2E" TargetMode="Externa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3.xml"/><Relationship Id="rId3" Type="http://schemas.openxmlformats.org/officeDocument/2006/relationships/image" Target="../media/image89.jpg"/><Relationship Id="rId4" Type="http://schemas.openxmlformats.org/officeDocument/2006/relationships/hyperlink" Target="https://arxiv.org/abs/2606.20458" TargetMode="Externa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4.xml"/><Relationship Id="rId3" Type="http://schemas.openxmlformats.org/officeDocument/2006/relationships/image" Target="../media/image90.jpg"/><Relationship Id="rId4" Type="http://schemas.openxmlformats.org/officeDocument/2006/relationships/image" Target="../media/image91.jp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5.xml"/><Relationship Id="rId3" Type="http://schemas.openxmlformats.org/officeDocument/2006/relationships/hyperlink" Target="https://arxiv.org/abs/2505.05592" TargetMode="Externa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7.xml"/><Relationship Id="rId3" Type="http://schemas.openxmlformats.org/officeDocument/2006/relationships/hyperlink" Target="https://arxiv.org/abs/2501.01806" TargetMode="External"/><Relationship Id="rId4" Type="http://schemas.openxmlformats.org/officeDocument/2006/relationships/hyperlink" Target="https://github.com/wasahaiah/TRG-planner" TargetMode="Externa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8.xml"/><Relationship Id="rId3" Type="http://schemas.openxmlformats.org/officeDocument/2006/relationships/image" Target="../media/image92.jp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9.xml"/><Relationship Id="rId3" Type="http://schemas.openxmlformats.org/officeDocument/2006/relationships/image" Target="../media/image93.png"/><Relationship Id="rId4" Type="http://schemas.openxmlformats.org/officeDocument/2006/relationships/image" Target="../media/image94.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0.xml"/><Relationship Id="rId3" Type="http://schemas.openxmlformats.org/officeDocument/2006/relationships/hyperlink" Target="https://arxiv.org/abs/2603.02976" TargetMode="External"/><Relationship Id="rId4" Type="http://schemas.openxmlformats.org/officeDocument/2006/relationships/hyperlink" Target="https://ziwon-park.github.io/dreamflow/" TargetMode="External"/><Relationship Id="rId5" Type="http://schemas.openxmlformats.org/officeDocument/2006/relationships/image" Target="../media/image95.jp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1.xml"/><Relationship Id="rId3" Type="http://schemas.openxmlformats.org/officeDocument/2006/relationships/image" Target="../media/image96.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2.xml"/><Relationship Id="rId3" Type="http://schemas.openxmlformats.org/officeDocument/2006/relationships/hyperlink" Target="https://arxiv.org/abs/2604.04166" TargetMode="External"/><Relationship Id="rId4" Type="http://schemas.openxmlformats.org/officeDocument/2006/relationships/hyperlink" Target="https://nmoma.github.io/nmoma/" TargetMode="External"/><Relationship Id="rId5" Type="http://schemas.openxmlformats.org/officeDocument/2006/relationships/hyperlink" Target="https://github.com/nmoma/nmoma" TargetMode="Externa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3.xml"/><Relationship Id="rId3" Type="http://schemas.openxmlformats.org/officeDocument/2006/relationships/image" Target="../media/image97.jp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4.xml"/><Relationship Id="rId3" Type="http://schemas.openxmlformats.org/officeDocument/2006/relationships/image" Target="../media/image98.png"/><Relationship Id="rId4" Type="http://schemas.openxmlformats.org/officeDocument/2006/relationships/image" Target="../media/image99.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5.xml"/><Relationship Id="rId3" Type="http://schemas.openxmlformats.org/officeDocument/2006/relationships/hyperlink" Target="https://arxiv.org/abs/2609.19272" TargetMode="External"/><Relationship Id="rId4" Type="http://schemas.openxmlformats.org/officeDocument/2006/relationships/hyperlink" Target="https://wdc3iii.github.io/rom-nav/" TargetMode="External"/><Relationship Id="rId5" Type="http://schemas.openxmlformats.org/officeDocument/2006/relationships/hyperlink" Target="https://github.com/wdc3iii/rom-nav" TargetMode="External"/><Relationship Id="rId6" Type="http://schemas.openxmlformats.org/officeDocument/2006/relationships/hyperlink" Target="https://www.youtube.com/watch?v=l_YT4iP0W8Q" TargetMode="Externa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6.xml"/><Relationship Id="rId3" Type="http://schemas.openxmlformats.org/officeDocument/2006/relationships/image" Target="../media/image100.jpg"/><Relationship Id="rId4" Type="http://schemas.openxmlformats.org/officeDocument/2006/relationships/hyperlink" Target="https://www.youtube.com/watch?v=l_YT4iP0W8Q" TargetMode="Externa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7.xml"/><Relationship Id="rId3" Type="http://schemas.openxmlformats.org/officeDocument/2006/relationships/image" Target="../media/image101.png"/><Relationship Id="rId4" Type="http://schemas.openxmlformats.org/officeDocument/2006/relationships/image" Target="../media/image102.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8.xml"/><Relationship Id="rId3" Type="http://schemas.openxmlformats.org/officeDocument/2006/relationships/hyperlink" Target="https://arxiv.org/abs/2210.14791" TargetMode="External"/><Relationship Id="rId4" Type="http://schemas.openxmlformats.org/officeDocument/2006/relationships/hyperlink" Target="https://github.com/SimarKareer/ViNL" TargetMode="External"/><Relationship Id="rId5" Type="http://schemas.openxmlformats.org/officeDocument/2006/relationships/hyperlink" Target="https://arxiv.org/abs/2401.17583" TargetMode="External"/><Relationship Id="rId6" Type="http://schemas.openxmlformats.org/officeDocument/2006/relationships/hyperlink" Target="https://github.com/LeCAR-Lab/ABS" TargetMode="External"/><Relationship Id="rId7" Type="http://schemas.openxmlformats.org/officeDocument/2006/relationships/hyperlink" Target="https://agile-but-safe.github.io" TargetMode="External"/><Relationship Id="rId8" Type="http://schemas.openxmlformats.org/officeDocument/2006/relationships/hyperlink" Target="https://arxiv.org/abs/2603.13888" TargetMode="Externa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9.xml"/><Relationship Id="rId3" Type="http://schemas.openxmlformats.org/officeDocument/2006/relationships/image" Target="../media/image103.jp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0.xml"/><Relationship Id="rId3" Type="http://schemas.openxmlformats.org/officeDocument/2006/relationships/image" Target="../media/image104.png"/><Relationship Id="rId4" Type="http://schemas.openxmlformats.org/officeDocument/2006/relationships/image" Target="../media/image105.png"/><Relationship Id="rId5" Type="http://schemas.openxmlformats.org/officeDocument/2006/relationships/image" Target="../media/image106.png"/><Relationship Id="rId6" Type="http://schemas.openxmlformats.org/officeDocument/2006/relationships/image" Target="../media/image107.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1.xml"/><Relationship Id="rId3" Type="http://schemas.openxmlformats.org/officeDocument/2006/relationships/hyperlink" Target="https://arxiv.org/abs/2608.11175" TargetMode="Externa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2.xml"/><Relationship Id="rId3" Type="http://schemas.openxmlformats.org/officeDocument/2006/relationships/image" Target="../media/image108.jp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3.xml"/><Relationship Id="rId3" Type="http://schemas.openxmlformats.org/officeDocument/2006/relationships/image" Target="../media/image109.png"/><Relationship Id="rId4" Type="http://schemas.openxmlformats.org/officeDocument/2006/relationships/image" Target="../media/image110.png"/><Relationship Id="rId5" Type="http://schemas.openxmlformats.org/officeDocument/2006/relationships/image" Target="../media/image111.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4.xml"/><Relationship Id="rId3" Type="http://schemas.openxmlformats.org/officeDocument/2006/relationships/hyperlink" Target="https://arxiv.org/abs/2602.07932" TargetMode="Externa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5.xml"/><Relationship Id="rId3" Type="http://schemas.openxmlformats.org/officeDocument/2006/relationships/image" Target="../media/image112.jpg"/><Relationship Id="rId4" Type="http://schemas.openxmlformats.org/officeDocument/2006/relationships/image" Target="../media/image113.jpg"/><Relationship Id="rId5" Type="http://schemas.openxmlformats.org/officeDocument/2006/relationships/hyperlink" Target="https://arxiv.org/abs/2609.39105" TargetMode="Externa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6.xml"/><Relationship Id="rId3" Type="http://schemas.openxmlformats.org/officeDocument/2006/relationships/image" Target="../media/image114.jpg"/><Relationship Id="rId4" Type="http://schemas.openxmlformats.org/officeDocument/2006/relationships/hyperlink" Target="https://arxiv.org/abs/2506.03834" TargetMode="External"/><Relationship Id="rId5" Type="http://schemas.openxmlformats.org/officeDocument/2006/relationships/hyperlink" Target="https://airlab-sogang.github.io/CARE/" TargetMode="Externa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9.xml"/><Relationship Id="rId3" Type="http://schemas.openxmlformats.org/officeDocument/2006/relationships/hyperlink" Target="https://github.com/autowarefoundation/autoware" TargetMode="External"/><Relationship Id="rId4" Type="http://schemas.openxmlformats.org/officeDocument/2006/relationships/hyperlink" Target="https://github.com/autowarefoundation/autoware_universe/tree/main/planning" TargetMode="External"/><Relationship Id="rId5" Type="http://schemas.openxmlformats.org/officeDocument/2006/relationships/hyperlink" Target="https://github.com/ApolloAuto/apollo" TargetMode="External"/><Relationship Id="rId6" Type="http://schemas.openxmlformats.org/officeDocument/2006/relationships/hyperlink" Target="https://github.com/ApolloAuto/apollo/tree/master/modules/planning" TargetMode="External"/><Relationship Id="rId7" Type="http://schemas.openxmlformats.org/officeDocument/2006/relationships/hyperlink" Target="https://github.com/commaai/openpilot" TargetMode="External"/><Relationship Id="rId8" Type="http://schemas.openxmlformats.org/officeDocument/2006/relationships/hyperlink" Target="https://github.com/motional/nuplan-devkit" TargetMode="External"/><Relationship Id="rId9" Type="http://schemas.openxmlformats.org/officeDocument/2006/relationships/hyperlink" Target="https://github.com/autonomousvision/tuplan_garage" TargetMode="External"/><Relationship Id="rId10" Type="http://schemas.openxmlformats.org/officeDocument/2006/relationships/hyperlink" Target="https://github.com/jchengai/planTF" TargetMode="External"/><Relationship Id="rId11" Type="http://schemas.openxmlformats.org/officeDocument/2006/relationships/hyperlink" Target="https://github.com/jchengai/pluto" TargetMode="External"/><Relationship Id="rId12" Type="http://schemas.openxmlformats.org/officeDocument/2006/relationships/hyperlink" Target="https://github.com/autonomousvision/plant" TargetMode="External"/><Relationship Id="rId13" Type="http://schemas.openxmlformats.org/officeDocument/2006/relationships/hyperlink" Target="https://github.com/autonomousvision/transfuser" TargetMode="External"/><Relationship Id="rId14" Type="http://schemas.openxmlformats.org/officeDocument/2006/relationships/hyperlink" Target="https://github.com/autonomousvision/CaRL" TargetMode="External"/><Relationship Id="rId15" Type="http://schemas.openxmlformats.org/officeDocument/2006/relationships/hyperlink" Target="https://github.com/HKUST-Aerial-Robotics/EPSILON" TargetMode="External"/><Relationship Id="rId16" Type="http://schemas.openxmlformats.org/officeDocument/2006/relationships/hyperlink" Target="https://github.com/NVlabs/alpamayo" TargetMode="External"/><Relationship Id="rId17" Type="http://schemas.openxmlformats.org/officeDocument/2006/relationships/hyperlink" Target="https://github.com/NVlabs/alpamayo1.5" TargetMode="Externa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0.xml"/><Relationship Id="rId3" Type="http://schemas.openxmlformats.org/officeDocument/2006/relationships/hyperlink" Target="https://github.com/waymo-research/waymax" TargetMode="External"/><Relationship Id="rId4" Type="http://schemas.openxmlformats.org/officeDocument/2006/relationships/hyperlink" Target="https://github.com/Emerge-Lab/gpudrive" TargetMode="External"/><Relationship Id="rId5" Type="http://schemas.openxmlformats.org/officeDocument/2006/relationships/hyperlink" Target="https://github.com/Thinklab-SJTU/Bench2Drive" TargetMode="External"/><Relationship Id="rId6" Type="http://schemas.openxmlformats.org/officeDocument/2006/relationships/hyperlink" Target="https://github.com/AtsushiSakai/PythonRobotics" TargetMode="External"/><Relationship Id="rId7" Type="http://schemas.openxmlformats.org/officeDocument/2006/relationships/hyperlink" Target="https://github.com/autowarefoundation/autoware" TargetMode="External"/><Relationship Id="rId8" Type="http://schemas.openxmlformats.org/officeDocument/2006/relationships/hyperlink" Target="https://github.com/autowarefoundation/autoware_universe/tree/main/planning" TargetMode="External"/><Relationship Id="rId9" Type="http://schemas.openxmlformats.org/officeDocument/2006/relationships/hyperlink" Target="https://arxiv.org/abs/1807.08048" TargetMode="External"/><Relationship Id="rId10" Type="http://schemas.openxmlformats.org/officeDocument/2006/relationships/hyperlink" Target="https://github.com/ApolloAuto/apollo/tree/master/modules/planning" TargetMode="External"/><Relationship Id="rId11" Type="http://schemas.openxmlformats.org/officeDocument/2006/relationships/hyperlink" Target="https://arxiv.org/abs/2009.11345" TargetMode="Externa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1.xml"/><Relationship Id="rId3" Type="http://schemas.openxmlformats.org/officeDocument/2006/relationships/image" Target="../media/image115.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2.xml"/><Relationship Id="rId3" Type="http://schemas.openxmlformats.org/officeDocument/2006/relationships/hyperlink" Target="https://arxiv.org/abs/2504.19077" TargetMode="External"/><Relationship Id="rId4" Type="http://schemas.openxmlformats.org/officeDocument/2006/relationships/hyperlink" Target="https://github.com/commaai/openpilot" TargetMode="External"/><Relationship Id="rId5" Type="http://schemas.openxmlformats.org/officeDocument/2006/relationships/hyperlink" Target="https://arxiv.org/abs/2306.07962" TargetMode="External"/><Relationship Id="rId6" Type="http://schemas.openxmlformats.org/officeDocument/2006/relationships/hyperlink" Target="https://github.com/autonomousvision/tuplan_garage" TargetMode="Externa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3.xml"/><Relationship Id="rId3" Type="http://schemas.openxmlformats.org/officeDocument/2006/relationships/image" Target="../media/image116.jp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4.xml"/><Relationship Id="rId3" Type="http://schemas.openxmlformats.org/officeDocument/2006/relationships/image" Target="../media/image117.png"/><Relationship Id="rId4" Type="http://schemas.openxmlformats.org/officeDocument/2006/relationships/image" Target="../media/image118.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5.xml"/><Relationship Id="rId3" Type="http://schemas.openxmlformats.org/officeDocument/2006/relationships/hyperlink" Target="https://arxiv.org/abs/2210.14222" TargetMode="External"/><Relationship Id="rId4" Type="http://schemas.openxmlformats.org/officeDocument/2006/relationships/hyperlink" Target="https://arxiv.org/abs/2309.10443" TargetMode="External"/><Relationship Id="rId5" Type="http://schemas.openxmlformats.org/officeDocument/2006/relationships/hyperlink" Target="https://arxiv.org/abs/2404.14327" TargetMode="External"/><Relationship Id="rId6" Type="http://schemas.openxmlformats.org/officeDocument/2006/relationships/hyperlink" Target="https://arxiv.org/abs/2504.17838" TargetMode="External"/><Relationship Id="rId7" Type="http://schemas.openxmlformats.org/officeDocument/2006/relationships/image" Target="../media/image119.jpg"/><Relationship Id="rId8" Type="http://schemas.openxmlformats.org/officeDocument/2006/relationships/image" Target="../media/image120.jp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6.xml"/><Relationship Id="rId3" Type="http://schemas.openxmlformats.org/officeDocument/2006/relationships/hyperlink" Target="https://github.com/autonomousvision/plant" TargetMode="Externa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7.xml"/><Relationship Id="rId3" Type="http://schemas.openxmlformats.org/officeDocument/2006/relationships/image" Target="../media/image121.png"/><Relationship Id="rId4" Type="http://schemas.openxmlformats.org/officeDocument/2006/relationships/hyperlink" Target="https://github.com/jchengai/planTF" TargetMode="Externa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8.xml"/><Relationship Id="rId3" Type="http://schemas.openxmlformats.org/officeDocument/2006/relationships/image" Target="../media/image122.jpg"/><Relationship Id="rId4" Type="http://schemas.openxmlformats.org/officeDocument/2006/relationships/hyperlink" Target="https://github.com/jchengai/pluto" TargetMode="Externa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9.xml"/><Relationship Id="rId3" Type="http://schemas.openxmlformats.org/officeDocument/2006/relationships/image" Target="../media/image123.jp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0.xml"/><Relationship Id="rId3" Type="http://schemas.openxmlformats.org/officeDocument/2006/relationships/image" Target="../media/image124.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1.xml"/><Relationship Id="rId3" Type="http://schemas.openxmlformats.org/officeDocument/2006/relationships/hyperlink" Target="https://github.com/autonomousvision/CaRL" TargetMode="External"/><Relationship Id="rId4" Type="http://schemas.openxmlformats.org/officeDocument/2006/relationships/image" Target="../media/image125.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2.xml"/><Relationship Id="rId3" Type="http://schemas.openxmlformats.org/officeDocument/2006/relationships/image" Target="../media/image126.jp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3.xml"/><Relationship Id="rId3" Type="http://schemas.openxmlformats.org/officeDocument/2006/relationships/hyperlink" Target="https://arxiv.org/abs/2511.00088" TargetMode="External"/><Relationship Id="rId4" Type="http://schemas.openxmlformats.org/officeDocument/2006/relationships/hyperlink" Target="https://github.com/NVlabs/alpamayo" TargetMode="External"/><Relationship Id="rId5" Type="http://schemas.openxmlformats.org/officeDocument/2006/relationships/hyperlink" Target="https://github.com/NVlabs/alpamayo1.5" TargetMode="Externa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4.xml"/><Relationship Id="rId3" Type="http://schemas.openxmlformats.org/officeDocument/2006/relationships/image" Target="../media/image127.jp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6.xml"/><Relationship Id="rId3" Type="http://schemas.openxmlformats.org/officeDocument/2006/relationships/hyperlink" Target="https://github.com/OpenDriveLab/UniAD" TargetMode="External"/><Relationship Id="rId4" Type="http://schemas.openxmlformats.org/officeDocument/2006/relationships/hyperlink" Target="https://github.com/hustvl/VAD" TargetMode="External"/><Relationship Id="rId5" Type="http://schemas.openxmlformats.org/officeDocument/2006/relationships/hyperlink" Target="https://github.com/swc-17/SparseDrive" TargetMode="External"/><Relationship Id="rId6" Type="http://schemas.openxmlformats.org/officeDocument/2006/relationships/hyperlink" Target="https://github.com/autonomousvision/navsim" TargetMode="External"/><Relationship Id="rId7" Type="http://schemas.openxmlformats.org/officeDocument/2006/relationships/hyperlink" Target="https://github.com/NVlabs/Hydra-MDP" TargetMode="External"/><Relationship Id="rId8" Type="http://schemas.openxmlformats.org/officeDocument/2006/relationships/hyperlink" Target="https://arxiv.org/abs/2212.10156" TargetMode="Externa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7.xml"/><Relationship Id="rId3" Type="http://schemas.openxmlformats.org/officeDocument/2006/relationships/image" Target="../media/image128.jpg"/><Relationship Id="rId4" Type="http://schemas.openxmlformats.org/officeDocument/2006/relationships/hyperlink" Target="https://arxiv.org/abs/2303.12077" TargetMode="External"/><Relationship Id="rId5" Type="http://schemas.openxmlformats.org/officeDocument/2006/relationships/hyperlink" Target="https://github.com/hustvl/VAD" TargetMode="External"/><Relationship Id="rId6" Type="http://schemas.openxmlformats.org/officeDocument/2006/relationships/hyperlink" Target="https://arxiv.org/abs/2405.19620" TargetMode="External"/><Relationship Id="rId7" Type="http://schemas.openxmlformats.org/officeDocument/2006/relationships/hyperlink" Target="https://github.com/swc-17/SparseDrive" TargetMode="Externa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8.xml"/><Relationship Id="rId3" Type="http://schemas.openxmlformats.org/officeDocument/2006/relationships/hyperlink" Target="https://arxiv.org/abs/2406.15349" TargetMode="External"/><Relationship Id="rId4" Type="http://schemas.openxmlformats.org/officeDocument/2006/relationships/hyperlink" Target="https://github.com/autonomousvision/navsim" TargetMode="External"/><Relationship Id="rId5" Type="http://schemas.openxmlformats.org/officeDocument/2006/relationships/image" Target="../media/image129.jpg"/><Relationship Id="rId6" Type="http://schemas.openxmlformats.org/officeDocument/2006/relationships/hyperlink" Target="https://arxiv.org/abs/2406.06978" TargetMode="External"/><Relationship Id="rId7" Type="http://schemas.openxmlformats.org/officeDocument/2006/relationships/hyperlink" Target="https://github.com/NVlabs/Hydra-MDP" TargetMode="Externa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9.xml"/><Relationship Id="rId3" Type="http://schemas.openxmlformats.org/officeDocument/2006/relationships/image" Target="../media/image130.jp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0.xml"/><Relationship Id="rId3" Type="http://schemas.openxmlformats.org/officeDocument/2006/relationships/hyperlink" Target="https://arxiv.org/abs/2402.12289" TargetMode="External"/><Relationship Id="rId4" Type="http://schemas.openxmlformats.org/officeDocument/2006/relationships/hyperlink" Target="https://arxiv.org/abs/2410.23262" TargetMode="Externa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1.xml"/><Relationship Id="rId3" Type="http://schemas.openxmlformats.org/officeDocument/2006/relationships/image" Target="../media/image131.png"/><Relationship Id="rId4" Type="http://schemas.openxmlformats.org/officeDocument/2006/relationships/image" Target="../media/image132.png"/><Relationship Id="rId5" Type="http://schemas.openxmlformats.org/officeDocument/2006/relationships/image" Target="../media/image133.png"/></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4.xml"/><Relationship Id="rId3" Type="http://schemas.openxmlformats.org/officeDocument/2006/relationships/image" Target="../media/image134.jpg"/><Relationship Id="rId4" Type="http://schemas.openxmlformats.org/officeDocument/2006/relationships/hyperlink" Target="https://x.com/aelluswamy/status/1981644831790379245" TargetMode="External"/><Relationship Id="rId5" Type="http://schemas.openxmlformats.org/officeDocument/2006/relationships/hyperlink" Target="https://www.youtube.com/watch?v=1XtBPY4i780" TargetMode="Externa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5.xml"/><Relationship Id="rId3" Type="http://schemas.openxmlformats.org/officeDocument/2006/relationships/hyperlink" Target="https://arxiv.org/abs/1812.03079" TargetMode="Externa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6.xml"/><Relationship Id="rId3" Type="http://schemas.openxmlformats.org/officeDocument/2006/relationships/hyperlink" Target="https://arxiv.org/abs/2306.07962" TargetMode="External"/><Relationship Id="rId4" Type="http://schemas.openxmlformats.org/officeDocument/2006/relationships/hyperlink" Target="https://techcrunch.com/2026/03/27/waymo-skyrocketing-ridership-in-one-chart/" TargetMode="External"/><Relationship Id="rId5" Type="http://schemas.openxmlformats.org/officeDocument/2006/relationships/hyperlink" Target="https://www.automotiveworld.com/news/waymos-metric-for-2026-success-one-million-weekly-rides/" TargetMode="External"/><Relationship Id="rId6" Type="http://schemas.openxmlformats.org/officeDocument/2006/relationships/hyperlink" Target="https://www.sec.gov/Archives/edgar/data/1329099/000119312526110843/d34060dex991.pdf" TargetMode="External"/><Relationship Id="rId7" Type="http://schemas.openxmlformats.org/officeDocument/2006/relationships/hyperlink" Target="https://finance.yahoo.com/news/chinas-av-push-bidu-pony-124400879.html" TargetMode="External"/><Relationship Id="rId8" Type="http://schemas.openxmlformats.org/officeDocument/2006/relationships/hyperlink" Target="https://www.teslarati.com/tesla-vp-explains-why-end-to-end-ai-future-self-driving/" TargetMode="External"/><Relationship Id="rId9" Type="http://schemas.openxmlformats.org/officeDocument/2006/relationships/hyperlink" Target="https://electrek.co/2026/04/22/tesla-elon-musk-unsupervised-fsd-consumer-cars-q4-delay-again/" TargetMode="External"/><Relationship Id="rId10" Type="http://schemas.openxmlformats.org/officeDocument/2006/relationships/hyperlink" Target="https://wayve.ai/press/wayve-nissan-uber-robotaxi-collaboration/" TargetMode="External"/><Relationship Id="rId11" Type="http://schemas.openxmlformats.org/officeDocument/2006/relationships/hyperlink" Target="https://wayve.ai/press/nissan-wayve-sign-definitive-agreements/" TargetMode="External"/><Relationship Id="rId12" Type="http://schemas.openxmlformats.org/officeDocument/2006/relationships/hyperlink" Target="https://www.mobileye.com/blog/takeaways-from-the-mobileye-press-conference-with-ceo-prof-amnon-shashua-at-ces-2026/" TargetMode="External"/><Relationship Id="rId13" Type="http://schemas.openxmlformats.org/officeDocument/2006/relationships/hyperlink" Target="https://newatlas.com/automotive/volkswagen-moia-id-buzz/" TargetMode="External"/><Relationship Id="rId14" Type="http://schemas.openxmlformats.org/officeDocument/2006/relationships/hyperlink" Target="https://github.com/NVlabs/alpamayo" TargetMode="External"/><Relationship Id="rId15" Type="http://schemas.openxmlformats.org/officeDocument/2006/relationships/hyperlink" Target="https://techcrunch.com/2026/01/11/motional-puts-ai-at-center-of-robotaxi-reboot-as-it-targets-2026-for-driverless-service/" TargetMode="External"/><Relationship Id="rId16" Type="http://schemas.openxmlformats.org/officeDocument/2006/relationships/hyperlink" Target="https://www.hyundaimotorgroup.com/en/story/motional-robotaxi-las-vegas-pilot-service" TargetMode="External"/><Relationship Id="rId17" Type="http://schemas.openxmlformats.org/officeDocument/2006/relationships/hyperlink" Target="https://www.hyundai.com/worldwide/en/newsroom/detail/0000001273" TargetMode="External"/><Relationship Id="rId18" Type="http://schemas.openxmlformats.org/officeDocument/2006/relationships/hyperlink" Target="https://tarantas.news/en/posts/id7159-hyundai-tests-end-to-end-autonomy-at-42dot-with-ioniq-6" TargetMode="External"/><Relationship Id="rId19" Type="http://schemas.openxmlformats.org/officeDocument/2006/relationships/hyperlink" Target="https://www.wardsauto.com/news/hyundai-to-begin-delivering-robotaxis-to-waymo-in-q4/829226/" TargetMode="Externa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8.xml"/><Relationship Id="rId3" Type="http://schemas.openxmlformats.org/officeDocument/2006/relationships/hyperlink" Target="https://arxiv.org/abs/2607.08072" TargetMode="External"/><Relationship Id="rId4" Type="http://schemas.openxmlformats.org/officeDocument/2006/relationships/hyperlink" Target="https://arxiv.org/abs/2502.13144" TargetMode="External"/><Relationship Id="rId5" Type="http://schemas.openxmlformats.org/officeDocument/2006/relationships/hyperlink" Target="https://arxiv.org/abs/2609.06055" TargetMode="External"/><Relationship Id="rId6" Type="http://schemas.openxmlformats.org/officeDocument/2006/relationships/hyperlink" Target="https://github.com/autonomousvision/navsim" TargetMode="External"/><Relationship Id="rId7" Type="http://schemas.openxmlformats.org/officeDocument/2006/relationships/hyperlink" Target="https://arxiv.org/abs/2506.08228" TargetMode="External"/><Relationship Id="rId8" Type="http://schemas.openxmlformats.org/officeDocument/2006/relationships/hyperlink" Target="https://arxiv.org/abs/2511.00088" TargetMode="External"/><Relationship Id="rId9" Type="http://schemas.openxmlformats.org/officeDocument/2006/relationships/hyperlink" Target="https://arxiv.org/abs/2602.21172" TargetMode="Externa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1.xml"/><Relationship Id="rId3" Type="http://schemas.openxmlformats.org/officeDocument/2006/relationships/hyperlink" Target="https://github.com/leggedrobotics/art_planner" TargetMode="External"/><Relationship Id="rId4" Type="http://schemas.openxmlformats.org/officeDocument/2006/relationships/hyperlink" Target="https://github.com/ntnu-arl/gbplanner_ros" TargetMode="Externa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2.xml"/><Relationship Id="rId3" Type="http://schemas.openxmlformats.org/officeDocument/2006/relationships/hyperlink" Target="https://github.com/MichaelFYang/far_planner" TargetMode="External"/><Relationship Id="rId4" Type="http://schemas.openxmlformats.org/officeDocument/2006/relationships/hyperlink" Target="https://github.com/caochao39/tare_planner" TargetMode="External"/><Relationship Id="rId5" Type="http://schemas.openxmlformats.org/officeDocument/2006/relationships/hyperlink" Target="https://github.com/jizhang-cmu/autonomy_stack_go2" TargetMode="External"/><Relationship Id="rId6" Type="http://schemas.openxmlformats.org/officeDocument/2006/relationships/hyperlink" Target="https://github.com/leggedrobotics/viplanner" TargetMode="External"/><Relationship Id="rId7" Type="http://schemas.openxmlformats.org/officeDocument/2006/relationships/hyperlink" Target="https://github.com/leggedrobotics/iPlanner" TargetMode="External"/><Relationship Id="rId8" Type="http://schemas.openxmlformats.org/officeDocument/2006/relationships/hyperlink" Target="https://github.com/leggedrobotics/ocs2" TargetMode="External"/><Relationship Id="rId9" Type="http://schemas.openxmlformats.org/officeDocument/2006/relationships/hyperlink" Target="https://github.com/qiayuanl/legged_control" TargetMode="External"/><Relationship Id="rId10" Type="http://schemas.openxmlformats.org/officeDocument/2006/relationships/hyperlink" Target="https://github.com/ethz-adrl/towr" TargetMode="External"/><Relationship Id="rId11" Type="http://schemas.openxmlformats.org/officeDocument/2006/relationships/hyperlink" Target="https://github.com/chvmp/champ" TargetMode="External"/><Relationship Id="rId12" Type="http://schemas.openxmlformats.org/officeDocument/2006/relationships/hyperlink" Target="https://github.com/leggedrobotics/legged_gym" TargetMode="External"/><Relationship Id="rId13" Type="http://schemas.openxmlformats.org/officeDocument/2006/relationships/hyperlink" Target="https://github.com/Improbable-AI/walk-these-ways" TargetMode="External"/><Relationship Id="rId14" Type="http://schemas.openxmlformats.org/officeDocument/2006/relationships/hyperlink" Target="https://github.com/ZiwenZhuang/parkour" TargetMode="External"/><Relationship Id="rId15" Type="http://schemas.openxmlformats.org/officeDocument/2006/relationships/hyperlink" Target="https://arxiv.org/abs/2303.01420" TargetMode="External"/><Relationship Id="rId16" Type="http://schemas.openxmlformats.org/officeDocument/2006/relationships/hyperlink" Target="https://github.com/leggedrobotics/art_planner" TargetMode="Externa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3.xml"/><Relationship Id="rId3" Type="http://schemas.openxmlformats.org/officeDocument/2006/relationships/image" Target="../media/image135.jpg"/></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4.xml"/><Relationship Id="rId3" Type="http://schemas.openxmlformats.org/officeDocument/2006/relationships/image" Target="../media/image136.png"/><Relationship Id="rId4" Type="http://schemas.openxmlformats.org/officeDocument/2006/relationships/image" Target="../media/image137.png"/></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5.xml"/><Relationship Id="rId3" Type="http://schemas.openxmlformats.org/officeDocument/2006/relationships/hyperlink" Target="https://arxiv.org/abs/2110.09460" TargetMode="External"/><Relationship Id="rId4" Type="http://schemas.openxmlformats.org/officeDocument/2006/relationships/hyperlink" Target="https://doi.org/10.15607/RSS.2021.XVII.018" TargetMode="External"/><Relationship Id="rId5" Type="http://schemas.openxmlformats.org/officeDocument/2006/relationships/hyperlink" Target="https://arxiv.org/abs/2110.14573" TargetMode="External"/><Relationship Id="rId6" Type="http://schemas.openxmlformats.org/officeDocument/2006/relationships/hyperlink" Target="https://www.cmu-exploration.com/" TargetMode="External"/><Relationship Id="rId7" Type="http://schemas.openxmlformats.org/officeDocument/2006/relationships/hyperlink" Target="https://github.com/jizhang-cmu/autonomy_stack_go2" TargetMode="Externa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6.xml"/><Relationship Id="rId3" Type="http://schemas.openxmlformats.org/officeDocument/2006/relationships/image" Target="../media/image138.jpg"/></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7.xml"/><Relationship Id="rId3" Type="http://schemas.openxmlformats.org/officeDocument/2006/relationships/hyperlink" Target="https://github.com/leggedrobotics/ocs2" TargetMode="External"/><Relationship Id="rId4" Type="http://schemas.openxmlformats.org/officeDocument/2006/relationships/hyperlink" Target="https://doi.org/10.1109/LRA.2018.2798285" TargetMode="External"/><Relationship Id="rId5" Type="http://schemas.openxmlformats.org/officeDocument/2006/relationships/hyperlink" Target="https://arxiv.org/abs/2109.11978" TargetMode="External"/><Relationship Id="rId6" Type="http://schemas.openxmlformats.org/officeDocument/2006/relationships/hyperlink" Target="https://arxiv.org/abs/2212.03238" TargetMode="External"/><Relationship Id="rId7" Type="http://schemas.openxmlformats.org/officeDocument/2006/relationships/hyperlink" Target="https://arxiv.org/abs/2309.05665" TargetMode="External"/><Relationship Id="rId8" Type="http://schemas.openxmlformats.org/officeDocument/2006/relationships/hyperlink" Target="https://github.com/ahornung/humanoid_navigation" TargetMode="External"/><Relationship Id="rId9" Type="http://schemas.openxmlformats.org/officeDocument/2006/relationships/hyperlink" Target="https://github.com/ihmcrobotics/ihmc-open-robotics-software" TargetMode="External"/><Relationship Id="rId10" Type="http://schemas.openxmlformats.org/officeDocument/2006/relationships/hyperlink" Target="https://github.com/isri-aist/BaselineFootstepPlanner" TargetMode="Externa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8.xml"/><Relationship Id="rId3" Type="http://schemas.openxmlformats.org/officeDocument/2006/relationships/hyperlink" Target="https://github.com/humanoid-path-planner/hpp-core" TargetMode="External"/><Relationship Id="rId4" Type="http://schemas.openxmlformats.org/officeDocument/2006/relationships/hyperlink" Target="https://github.com/loco-3d/crocoddyl" TargetMode="External"/><Relationship Id="rId5" Type="http://schemas.openxmlformats.org/officeDocument/2006/relationships/hyperlink" Target="https://github.com/stack-of-tasks/pinocchio" TargetMode="External"/><Relationship Id="rId6" Type="http://schemas.openxmlformats.org/officeDocument/2006/relationships/hyperlink" Target="https://github.com/stack-of-tasks/tsid" TargetMode="External"/><Relationship Id="rId7" Type="http://schemas.openxmlformats.org/officeDocument/2006/relationships/hyperlink" Target="https://github.com/Simple-Robotics/aligator" TargetMode="External"/><Relationship Id="rId8" Type="http://schemas.openxmlformats.org/officeDocument/2006/relationships/hyperlink" Target="https://github.com/google-deepmind/mujoco_mpc" TargetMode="External"/><Relationship Id="rId9" Type="http://schemas.openxmlformats.org/officeDocument/2006/relationships/hyperlink" Target="https://github.com/RobotLocomotion/drake" TargetMode="External"/><Relationship Id="rId10" Type="http://schemas.openxmlformats.org/officeDocument/2006/relationships/hyperlink" Target="https://github.com/unitreerobotics/unitree_rl_gym" TargetMode="External"/><Relationship Id="rId11" Type="http://schemas.openxmlformats.org/officeDocument/2006/relationships/hyperlink" Target="https://github.com/roboterax/humanoid-gym" TargetMode="External"/><Relationship Id="rId12" Type="http://schemas.openxmlformats.org/officeDocument/2006/relationships/hyperlink" Target="https://github.com/BoosterRobotics/booster_gym" TargetMode="External"/><Relationship Id="rId13" Type="http://schemas.openxmlformats.org/officeDocument/2006/relationships/hyperlink" Target="https://github.com/NVlabs/HOVER" TargetMode="External"/><Relationship Id="rId14" Type="http://schemas.openxmlformats.org/officeDocument/2006/relationships/hyperlink" Target="https://github.com/LeCAR-Lab/ASAP" TargetMode="External"/><Relationship Id="rId15" Type="http://schemas.openxmlformats.org/officeDocument/2006/relationships/hyperlink" Target="https://github.com/InternRobotics/Gallant" TargetMode="External"/><Relationship Id="rId16" Type="http://schemas.openxmlformats.org/officeDocument/2006/relationships/hyperlink" Target="https://github.com/GalaxyGeneralRobotics/Click-and-Traverse" TargetMode="External"/><Relationship Id="rId17" Type="http://schemas.openxmlformats.org/officeDocument/2006/relationships/hyperlink" Target="https://github.com/Stanford-TML/HEAD_release" TargetMode="External"/><Relationship Id="rId18" Type="http://schemas.openxmlformats.org/officeDocument/2006/relationships/hyperlink" Target="https://github.com/wdc3iii/rom-nav" TargetMode="External"/><Relationship Id="rId19" Type="http://schemas.openxmlformats.org/officeDocument/2006/relationships/hyperlink" Target="https://github.com/NVIDIA/Isaac-GR00T" TargetMode="External"/><Relationship Id="rId20" Type="http://schemas.openxmlformats.org/officeDocument/2006/relationships/hyperlink" Target="https://doi.org/10.1109/HUMANOIDS.2012.6651592" TargetMode="External"/><Relationship Id="rId21" Type="http://schemas.openxmlformats.org/officeDocument/2006/relationships/hyperlink" Target="https://github.com/ihmcrobotics/ihmc-open-robotics-software" TargetMode="Externa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9.xml"/><Relationship Id="rId3" Type="http://schemas.openxmlformats.org/officeDocument/2006/relationships/hyperlink" Target="https://arxiv.org/abs/1909.04947" TargetMode="External"/><Relationship Id="rId4" Type="http://schemas.openxmlformats.org/officeDocument/2006/relationships/hyperlink" Target="https://github.com/loco-3d/crocoddyl" TargetMode="Externa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0.xml"/><Relationship Id="rId3" Type="http://schemas.openxmlformats.org/officeDocument/2006/relationships/image" Target="../media/image139.png"/><Relationship Id="rId4" Type="http://schemas.openxmlformats.org/officeDocument/2006/relationships/image" Target="../media/image140.png"/><Relationship Id="rId5" Type="http://schemas.openxmlformats.org/officeDocument/2006/relationships/image" Target="../media/image141.png"/></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1.xml"/><Relationship Id="rId3" Type="http://schemas.openxmlformats.org/officeDocument/2006/relationships/hyperlink" Target="https://arxiv.org/abs/2601.16035" TargetMode="External"/><Relationship Id="rId4" Type="http://schemas.openxmlformats.org/officeDocument/2006/relationships/hyperlink" Target="https://github.com/GalaxyGeneralRobotics/Click-and-Traverse" TargetMode="External"/><Relationship Id="rId5" Type="http://schemas.openxmlformats.org/officeDocument/2006/relationships/hyperlink" Target="https://arxiv.org/abs/2511.14625" TargetMode="External"/><Relationship Id="rId6" Type="http://schemas.openxmlformats.org/officeDocument/2006/relationships/hyperlink" Target="https://github.com/InternRobotics/Gallant" TargetMode="Externa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2.xml"/><Relationship Id="rId3" Type="http://schemas.openxmlformats.org/officeDocument/2006/relationships/image" Target="../media/image142.jpg"/></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3.xml"/><Relationship Id="rId3" Type="http://schemas.openxmlformats.org/officeDocument/2006/relationships/image" Target="../media/image143.png"/><Relationship Id="rId4" Type="http://schemas.openxmlformats.org/officeDocument/2006/relationships/image" Target="../media/image144.png"/></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4.xml"/><Relationship Id="rId3" Type="http://schemas.openxmlformats.org/officeDocument/2006/relationships/hyperlink" Target="https://arxiv.org/abs/2508.03068" TargetMode="External"/><Relationship Id="rId4" Type="http://schemas.openxmlformats.org/officeDocument/2006/relationships/hyperlink" Target="https://github.com/Stanford-TML/HEAD_release" TargetMode="External"/><Relationship Id="rId5" Type="http://schemas.openxmlformats.org/officeDocument/2006/relationships/image" Target="../media/image145.jpg"/></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5.xml"/><Relationship Id="rId3" Type="http://schemas.openxmlformats.org/officeDocument/2006/relationships/hyperlink" Target="https://github.com/ros-navigation/navigation2" TargetMode="External"/><Relationship Id="rId4" Type="http://schemas.openxmlformats.org/officeDocument/2006/relationships/hyperlink" Target="https://github.com/ros-planning/navigation" TargetMode="External"/><Relationship Id="rId5" Type="http://schemas.openxmlformats.org/officeDocument/2006/relationships/hyperlink" Target="https://github.com/naturerobots/move_base_flex" TargetMode="External"/><Relationship Id="rId6" Type="http://schemas.openxmlformats.org/officeDocument/2006/relationships/hyperlink" Target="https://github.com/botbotrobotics/BotBrain" TargetMode="External"/><Relationship Id="rId7" Type="http://schemas.openxmlformats.org/officeDocument/2006/relationships/hyperlink" Target="https://github.com/dfl-rlab/dddmr_navigation" TargetMode="External"/><Relationship Id="rId8" Type="http://schemas.openxmlformats.org/officeDocument/2006/relationships/hyperlink" Target="https://github.com/ros-controls/ros2_controllers" TargetMode="External"/><Relationship Id="rId9" Type="http://schemas.openxmlformats.org/officeDocument/2006/relationships/hyperlink" Target="https://github.com/ROBOTIS-GIT/ai_worker/tree/main/ffw_swerve_drive_controller" TargetMode="External"/><Relationship Id="rId10" Type="http://schemas.openxmlformats.org/officeDocument/2006/relationships/hyperlink" Target="https://github.com/ompl/ompl" TargetMode="External"/><Relationship Id="rId11" Type="http://schemas.openxmlformats.org/officeDocument/2006/relationships/hyperlink" Target="https://github.com/sbpl/sbpl" TargetMode="External"/><Relationship Id="rId12" Type="http://schemas.openxmlformats.org/officeDocument/2006/relationships/hyperlink" Target="https://github.com/MichaelFYang/far_planner" TargetMode="External"/><Relationship Id="rId13" Type="http://schemas.openxmlformats.org/officeDocument/2006/relationships/hyperlink" Target="https://github.com/HongbiaoZ/autonomous_exploration_development_environment" TargetMode="External"/><Relationship Id="rId14" Type="http://schemas.openxmlformats.org/officeDocument/2006/relationships/hyperlink" Target="https://github.com/jianzhuozhuTHU/putn" TargetMode="External"/><Relationship Id="rId15" Type="http://schemas.openxmlformats.org/officeDocument/2006/relationships/hyperlink" Target="https://github.com/SleipnirGroup/Choreo" TargetMode="External"/><Relationship Id="rId16" Type="http://schemas.openxmlformats.org/officeDocument/2006/relationships/hyperlink" Target="https://github.com/mjansen4857/pathplanner" TargetMode="External"/><Relationship Id="rId17" Type="http://schemas.openxmlformats.org/officeDocument/2006/relationships/hyperlink" Target="https://github.com/jimmyyhwu/tidybot2" TargetMode="Externa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6.xml"/><Relationship Id="rId3" Type="http://schemas.openxmlformats.org/officeDocument/2006/relationships/hyperlink" Target="https://github.com/vita-epfl/CrowdNav" TargetMode="External"/><Relationship Id="rId4" Type="http://schemas.openxmlformats.org/officeDocument/2006/relationships/hyperlink" Target="https://github.com/TempleRAIL/drl_vo_nav" TargetMode="External"/><Relationship Id="rId5" Type="http://schemas.openxmlformats.org/officeDocument/2006/relationships/hyperlink" Target="https://github.com/snape/RVO2" TargetMode="External"/><Relationship Id="rId6" Type="http://schemas.openxmlformats.org/officeDocument/2006/relationships/hyperlink" Target="https://github.com/NVlabs/X-MOBILITY" TargetMode="External"/><Relationship Id="rId7" Type="http://schemas.openxmlformats.org/officeDocument/2006/relationships/hyperlink" Target="https://github.com/NVlabs/COMPASS" TargetMode="External"/><Relationship Id="rId8" Type="http://schemas.openxmlformats.org/officeDocument/2006/relationships/hyperlink" Target="https://github.com/open-rmf/rmf" TargetMode="External"/><Relationship Id="rId9" Type="http://schemas.openxmlformats.org/officeDocument/2006/relationships/hyperlink" Target="https://github.com/ros-navigation/navigation2" TargetMode="External"/><Relationship Id="rId10" Type="http://schemas.openxmlformats.org/officeDocument/2006/relationships/hyperlink" Target="https://arxiv.org/abs/2305.20026" TargetMode="External"/><Relationship Id="rId11" Type="http://schemas.openxmlformats.org/officeDocument/2006/relationships/hyperlink" Target="https://github.com/botbotrobotics/BotBrain" TargetMode="External"/><Relationship Id="rId12" Type="http://schemas.openxmlformats.org/officeDocument/2006/relationships/hyperlink" Target="https://youtu.be/L7nLiKkLVP4" TargetMode="Externa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7.xml"/><Relationship Id="rId3" Type="http://schemas.openxmlformats.org/officeDocument/2006/relationships/hyperlink" Target="https://github.com/dfl-rlab/dddmr_navigation" TargetMode="Externa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8.xml"/><Relationship Id="rId3" Type="http://schemas.openxmlformats.org/officeDocument/2006/relationships/image" Target="../media/image146.jpg"/></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0.xml"/><Relationship Id="rId3" Type="http://schemas.openxmlformats.org/officeDocument/2006/relationships/image" Target="../media/image147.png"/><Relationship Id="rId4" Type="http://schemas.openxmlformats.org/officeDocument/2006/relationships/image" Target="../media/image148.png"/></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1.xml"/><Relationship Id="rId3" Type="http://schemas.openxmlformats.org/officeDocument/2006/relationships/hyperlink" Target="https://github.com/SleipnirGroup/Choreo" TargetMode="External"/><Relationship Id="rId4" Type="http://schemas.openxmlformats.org/officeDocument/2006/relationships/hyperlink" Target="https://choreo.autos/" TargetMode="Externa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2.xml"/><Relationship Id="rId3" Type="http://schemas.openxmlformats.org/officeDocument/2006/relationships/image" Target="../media/image149.jpg"/></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3.xml"/><Relationship Id="rId3" Type="http://schemas.openxmlformats.org/officeDocument/2006/relationships/image" Target="../media/image150.png"/><Relationship Id="rId4" Type="http://schemas.openxmlformats.org/officeDocument/2006/relationships/image" Target="../media/image151.png"/><Relationship Id="rId5" Type="http://schemas.openxmlformats.org/officeDocument/2006/relationships/image" Target="../media/image152.png"/><Relationship Id="rId6" Type="http://schemas.openxmlformats.org/officeDocument/2006/relationships/image" Target="../media/image153.png"/></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4.xml"/><Relationship Id="rId3" Type="http://schemas.openxmlformats.org/officeDocument/2006/relationships/hyperlink" Target="https://arxiv.org/abs/2412.10447" TargetMode="External"/><Relationship Id="rId4" Type="http://schemas.openxmlformats.org/officeDocument/2006/relationships/hyperlink" Target="https://github.com/jimmyyhwu/tidybot2" TargetMode="External"/><Relationship Id="rId5" Type="http://schemas.openxmlformats.org/officeDocument/2006/relationships/hyperlink" Target="https://doi.org/10.1177/02783640022067977" TargetMode="Externa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5.xml"/><Relationship Id="rId3" Type="http://schemas.openxmlformats.org/officeDocument/2006/relationships/image" Target="../media/image154.jpg"/></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7.xml"/><Relationship Id="rId3" Type="http://schemas.openxmlformats.org/officeDocument/2006/relationships/image" Target="../media/image155.png"/><Relationship Id="rId4" Type="http://schemas.openxmlformats.org/officeDocument/2006/relationships/image" Target="../media/image156.png"/></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8.xml"/><Relationship Id="rId3" Type="http://schemas.openxmlformats.org/officeDocument/2006/relationships/hyperlink" Target="https://arxiv.org/abs/2203.04541" TargetMode="External"/><Relationship Id="rId4" Type="http://schemas.openxmlformats.org/officeDocument/2006/relationships/hyperlink" Target="https://github.com/jianzhuozhuTHU/putn" TargetMode="Externa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9.xml"/><Relationship Id="rId3" Type="http://schemas.openxmlformats.org/officeDocument/2006/relationships/image" Target="../media/image157.jpg"/></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0.xml"/><Relationship Id="rId3" Type="http://schemas.openxmlformats.org/officeDocument/2006/relationships/image" Target="../media/image158.png"/><Relationship Id="rId4" Type="http://schemas.openxmlformats.org/officeDocument/2006/relationships/image" Target="../media/image159.png"/></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1.xml"/><Relationship Id="rId3" Type="http://schemas.openxmlformats.org/officeDocument/2006/relationships/hyperlink" Target="https://arxiv.org/abs/1809.08835" TargetMode="External"/><Relationship Id="rId4" Type="http://schemas.openxmlformats.org/officeDocument/2006/relationships/hyperlink" Target="https://arxiv.org/abs/2301.06512" TargetMode="External"/><Relationship Id="rId5" Type="http://schemas.openxmlformats.org/officeDocument/2006/relationships/hyperlink" Target="https://doi.org/10.1007/978-3-642-19457-3_1" TargetMode="External"/><Relationship Id="rId6" Type="http://schemas.openxmlformats.org/officeDocument/2006/relationships/hyperlink" Target="https://arxiv.org/abs/2410.17491" TargetMode="External"/><Relationship Id="rId7" Type="http://schemas.openxmlformats.org/officeDocument/2006/relationships/hyperlink" Target="https://arxiv.org/abs/2502.16372" TargetMode="Externa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2.xml"/><Relationship Id="rId3" Type="http://schemas.openxmlformats.org/officeDocument/2006/relationships/image" Target="../media/image160.jpg"/></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6.xml"/><Relationship Id="rId3" Type="http://schemas.openxmlformats.org/officeDocument/2006/relationships/image" Target="../media/image161.jpg"/></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8.xml"/><Relationship Id="rId3" Type="http://schemas.openxmlformats.org/officeDocument/2006/relationships/hyperlink" Target="https://doi.org/10.3929/ethz-b-000272110" TargetMode="External"/><Relationship Id="rId4" Type="http://schemas.openxmlformats.org/officeDocument/2006/relationships/hyperlink" Target="https://doi.org/10.3929/ethz-a-010173654" TargetMode="External"/><Relationship Id="rId5" Type="http://schemas.openxmlformats.org/officeDocument/2006/relationships/hyperlink" Target="https://github.com/ANYbotics/elevation_mapping" TargetMode="Externa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9.xml"/><Relationship Id="rId3" Type="http://schemas.openxmlformats.org/officeDocument/2006/relationships/image" Target="../media/image162.jpg"/></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0.xml"/><Relationship Id="rId3" Type="http://schemas.openxmlformats.org/officeDocument/2006/relationships/image" Target="../media/image163.png"/><Relationship Id="rId4" Type="http://schemas.openxmlformats.org/officeDocument/2006/relationships/image" Target="../media/image164.png"/></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1.xml"/><Relationship Id="rId3" Type="http://schemas.openxmlformats.org/officeDocument/2006/relationships/hyperlink" Target="https://arxiv.org/abs/1901.08652" TargetMode="Externa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2.xml"/><Relationship Id="rId3" Type="http://schemas.openxmlformats.org/officeDocument/2006/relationships/image" Target="../media/image165.jpg"/><Relationship Id="rId4" Type="http://schemas.openxmlformats.org/officeDocument/2006/relationships/image" Target="../media/image166.jpg"/></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3.xml"/><Relationship Id="rId3" Type="http://schemas.openxmlformats.org/officeDocument/2006/relationships/image" Target="../media/image167.png"/></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4.xml"/><Relationship Id="rId3" Type="http://schemas.openxmlformats.org/officeDocument/2006/relationships/hyperlink" Target="https://arxiv.org/abs/2010.11251" TargetMode="External"/><Relationship Id="rId4" Type="http://schemas.openxmlformats.org/officeDocument/2006/relationships/hyperlink" Target="https://leggedrobotics.github.io/rl-blindloco/" TargetMode="External"/><Relationship Id="rId5" Type="http://schemas.openxmlformats.org/officeDocument/2006/relationships/hyperlink" Target="https://github.com/leggedrobotics/learning_quadrupedal_locomotion_over_challenging_terrain_supplementary" TargetMode="Externa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5.xml"/><Relationship Id="rId3" Type="http://schemas.openxmlformats.org/officeDocument/2006/relationships/image" Target="../media/image168.jpg"/></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7.xml"/><Relationship Id="rId3" Type="http://schemas.openxmlformats.org/officeDocument/2006/relationships/hyperlink" Target="https://arxiv.org/abs/2109.11978" TargetMode="External"/><Relationship Id="rId4" Type="http://schemas.openxmlformats.org/officeDocument/2006/relationships/hyperlink" Target="https://leggedrobotics.github.io/legged_gym/" TargetMode="External"/><Relationship Id="rId5" Type="http://schemas.openxmlformats.org/officeDocument/2006/relationships/hyperlink" Target="https://github.com/leggedrobotics/legged_gym" TargetMode="Externa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8.xml"/><Relationship Id="rId3" Type="http://schemas.openxmlformats.org/officeDocument/2006/relationships/image" Target="../media/image169.jpg"/><Relationship Id="rId4" Type="http://schemas.openxmlformats.org/officeDocument/2006/relationships/image" Target="../media/image170.jpg"/></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9.xml"/><Relationship Id="rId3" Type="http://schemas.openxmlformats.org/officeDocument/2006/relationships/image" Target="../media/image171.png"/><Relationship Id="rId4" Type="http://schemas.openxmlformats.org/officeDocument/2006/relationships/image" Target="../media/image172.png"/></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0.xml"/><Relationship Id="rId3" Type="http://schemas.openxmlformats.org/officeDocument/2006/relationships/hyperlink" Target="https://arxiv.org/abs/2201.08117" TargetMode="Externa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1.xml"/><Relationship Id="rId3" Type="http://schemas.openxmlformats.org/officeDocument/2006/relationships/image" Target="../media/image173.jpg"/></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3.xml"/><Relationship Id="rId3" Type="http://schemas.openxmlformats.org/officeDocument/2006/relationships/hyperlink" Target="https://arxiv.org/abs/2309.15462" TargetMode="External"/><Relationship Id="rId4" Type="http://schemas.openxmlformats.org/officeDocument/2006/relationships/hyperlink" Target="https://doi.org/10.5061/dryad.b5mkkwhkq" TargetMode="Externa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4.xml"/><Relationship Id="rId3" Type="http://schemas.openxmlformats.org/officeDocument/2006/relationships/image" Target="../media/image174.jpg"/><Relationship Id="rId4" Type="http://schemas.openxmlformats.org/officeDocument/2006/relationships/image" Target="../media/image175.jpg"/></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5.xml"/><Relationship Id="rId3" Type="http://schemas.openxmlformats.org/officeDocument/2006/relationships/hyperlink" Target="https://arxiv.org/abs/2206.14049" TargetMode="Externa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6.xml"/><Relationship Id="rId3" Type="http://schemas.openxmlformats.org/officeDocument/2006/relationships/hyperlink" Target="https://arxiv.org/abs/2306.14874" TargetMode="External"/><Relationship Id="rId4" Type="http://schemas.openxmlformats.org/officeDocument/2006/relationships/hyperlink" Target="https://sites.google.com/leggedrobotics.com/agile-navigation" TargetMode="Externa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7.xml"/><Relationship Id="rId3" Type="http://schemas.openxmlformats.org/officeDocument/2006/relationships/image" Target="../media/image176.jpg"/></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8.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9.xml"/><Relationship Id="rId3" Type="http://schemas.openxmlformats.org/officeDocument/2006/relationships/hyperlink" Target="https://arxiv.org/abs/2303.01420" TargetMode="External"/><Relationship Id="rId4" Type="http://schemas.openxmlformats.org/officeDocument/2006/relationships/hyperlink" Target="https://github.com/leggedrobotics/art_planner" TargetMode="External"/><Relationship Id="rId5" Type="http://schemas.openxmlformats.org/officeDocument/2006/relationships/hyperlink" Target="https://arxiv.org/abs/2207.04914" TargetMode="External"/><Relationship Id="rId6" Type="http://schemas.openxmlformats.org/officeDocument/2006/relationships/hyperlink" Target="https://doi.org/10.1126/scirobotics.abp9742" TargetMode="Externa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0.xml"/><Relationship Id="rId3" Type="http://schemas.openxmlformats.org/officeDocument/2006/relationships/image" Target="../media/image177.jpg"/></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1.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2.xml"/><Relationship Id="rId3" Type="http://schemas.openxmlformats.org/officeDocument/2006/relationships/hyperlink" Target="https://arxiv.org/abs/2305.08510" TargetMode="External"/><Relationship Id="rId4" Type="http://schemas.openxmlformats.org/officeDocument/2006/relationships/hyperlink" Target="https://github.com/leggedrobotics/wild_visual_navigation" TargetMode="External"/><Relationship Id="rId5" Type="http://schemas.openxmlformats.org/officeDocument/2006/relationships/hyperlink" Target="https://arxiv.org/abs/2404.07110" TargetMode="Externa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3.xml"/><Relationship Id="rId3" Type="http://schemas.openxmlformats.org/officeDocument/2006/relationships/image" Target="../media/image178.jpg"/></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4.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5.xml"/><Relationship Id="rId3" Type="http://schemas.openxmlformats.org/officeDocument/2006/relationships/hyperlink" Target="https://arxiv.org/abs/2310.00982" TargetMode="External"/><Relationship Id="rId4" Type="http://schemas.openxmlformats.org/officeDocument/2006/relationships/hyperlink" Target="https://github.com/leggedrobotics/viplanner" TargetMode="External"/><Relationship Id="rId5" Type="http://schemas.openxmlformats.org/officeDocument/2006/relationships/hyperlink" Target="https://leggedrobotics.github.io/viplanner.github.io/" TargetMode="External"/><Relationship Id="rId6" Type="http://schemas.openxmlformats.org/officeDocument/2006/relationships/image" Target="../media/image179.jpg"/></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6.xml"/><Relationship Id="rId3" Type="http://schemas.openxmlformats.org/officeDocument/2006/relationships/image" Target="../media/image180.png"/><Relationship Id="rId4" Type="http://schemas.openxmlformats.org/officeDocument/2006/relationships/image" Target="../media/image181.png"/><Relationship Id="rId5" Type="http://schemas.openxmlformats.org/officeDocument/2006/relationships/image" Target="../media/image182.png"/></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7.xml"/><Relationship Id="rId3" Type="http://schemas.openxmlformats.org/officeDocument/2006/relationships/hyperlink" Target="https://arxiv.org/abs/2504.19322" TargetMode="External"/><Relationship Id="rId4" Type="http://schemas.openxmlformats.org/officeDocument/2006/relationships/hyperlink" Target="https://leggedrobotics.github.io/fdm.github.io/" TargetMode="External"/><Relationship Id="rId5" Type="http://schemas.openxmlformats.org/officeDocument/2006/relationships/hyperlink" Target="https://github.com/leggedrobotics/fdm" TargetMode="Externa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8.xml"/><Relationship Id="rId3" Type="http://schemas.openxmlformats.org/officeDocument/2006/relationships/image" Target="../media/image183.jpg"/><Relationship Id="rId4" Type="http://schemas.openxmlformats.org/officeDocument/2006/relationships/image" Target="../media/image184.jpg"/></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9.xml"/><Relationship Id="rId3" Type="http://schemas.openxmlformats.org/officeDocument/2006/relationships/image" Target="../media/image185.png"/><Relationship Id="rId4" Type="http://schemas.openxmlformats.org/officeDocument/2006/relationships/image" Target="../media/image186.png"/></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0.xml"/><Relationship Id="rId3" Type="http://schemas.openxmlformats.org/officeDocument/2006/relationships/hyperlink" Target="https://arxiv.org/abs/2506.05997" TargetMode="External"/><Relationship Id="rId4" Type="http://schemas.openxmlformats.org/officeDocument/2006/relationships/hyperlink" Target="https://michaelfyang.github.io/sru-project-website/" TargetMode="External"/><Relationship Id="rId5" Type="http://schemas.openxmlformats.org/officeDocument/2006/relationships/hyperlink" Target="https://github.com/leggedrobotics/sru-pytorch-spatial-learning" TargetMode="Externa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1.xml"/><Relationship Id="rId3" Type="http://schemas.openxmlformats.org/officeDocument/2006/relationships/image" Target="../media/image187.jpg"/><Relationship Id="rId4" Type="http://schemas.openxmlformats.org/officeDocument/2006/relationships/image" Target="../media/image188.jpg"/></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2.xml"/><Relationship Id="rId3" Type="http://schemas.openxmlformats.org/officeDocument/2006/relationships/image" Target="../media/image189.png"/><Relationship Id="rId4" Type="http://schemas.openxmlformats.org/officeDocument/2006/relationships/image" Target="../media/image190.png"/></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3.xml"/><Relationship Id="rId3" Type="http://schemas.openxmlformats.org/officeDocument/2006/relationships/hyperlink" Target="https://arxiv.org/abs/2603.13888" TargetMode="External"/><Relationship Id="rId4" Type="http://schemas.openxmlformats.org/officeDocument/2006/relationships/hyperlink" Target="https://github.com/leggedrobotics/sru-path-aware-rl" TargetMode="External"/><Relationship Id="rId5" Type="http://schemas.openxmlformats.org/officeDocument/2006/relationships/hyperlink" Target="https://leggedrobotics.github.io/rl-path-following/" TargetMode="External"/><Relationship Id="rId6" Type="http://schemas.openxmlformats.org/officeDocument/2006/relationships/image" Target="../media/image191.jpg"/></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4.xml"/><Relationship Id="rId3" Type="http://schemas.openxmlformats.org/officeDocument/2006/relationships/image" Target="../media/image192.jpg"/></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5.xml"/><Relationship Id="rId3" Type="http://schemas.openxmlformats.org/officeDocument/2006/relationships/hyperlink" Target="https://doi.org/10.3929/ethz-b-000515694" TargetMode="External"/><Relationship Id="rId4" Type="http://schemas.openxmlformats.org/officeDocument/2006/relationships/hyperlink" Target="https://arxiv.org/abs/2405.01792" TargetMode="Externa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6.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7.xml"/><Relationship Id="rId3" Type="http://schemas.openxmlformats.org/officeDocument/2006/relationships/hyperlink" Target="https://arxiv.org/abs/1809.03557" TargetMode="External"/><Relationship Id="rId4" Type="http://schemas.openxmlformats.org/officeDocument/2006/relationships/hyperlink" Target="https://youtu.be/nGLUsyx9Vvc" TargetMode="Externa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8.xml"/><Relationship Id="rId3" Type="http://schemas.openxmlformats.org/officeDocument/2006/relationships/image" Target="../media/image193.jpg"/><Relationship Id="rId4" Type="http://schemas.openxmlformats.org/officeDocument/2006/relationships/image" Target="../media/image194.jpg"/></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9.xml"/><Relationship Id="rId3" Type="http://schemas.openxmlformats.org/officeDocument/2006/relationships/image" Target="../media/image195.png"/><Relationship Id="rId4" Type="http://schemas.openxmlformats.org/officeDocument/2006/relationships/image" Target="../media/image196.png"/><Relationship Id="rId5" Type="http://schemas.openxmlformats.org/officeDocument/2006/relationships/image" Target="../media/image197.png"/></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0.xml"/><Relationship Id="rId3" Type="http://schemas.openxmlformats.org/officeDocument/2006/relationships/hyperlink" Target="https://arxiv.org/abs/1909.07193" TargetMode="External"/><Relationship Id="rId4" Type="http://schemas.openxmlformats.org/officeDocument/2006/relationships/hyperlink" Target="https://youtu.be/ukY0vyM-yfY" TargetMode="Externa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1.xml"/><Relationship Id="rId3" Type="http://schemas.openxmlformats.org/officeDocument/2006/relationships/image" Target="../media/image198.jpg"/><Relationship Id="rId4" Type="http://schemas.openxmlformats.org/officeDocument/2006/relationships/image" Target="../media/image199.jpg"/></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2.xml"/><Relationship Id="rId3" Type="http://schemas.openxmlformats.org/officeDocument/2006/relationships/image" Target="../media/image200.png"/><Relationship Id="rId4" Type="http://schemas.openxmlformats.org/officeDocument/2006/relationships/image" Target="../media/image201.png"/><Relationship Id="rId5" Type="http://schemas.openxmlformats.org/officeDocument/2006/relationships/image" Target="../media/image202.png"/></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3.xml"/><Relationship Id="rId3" Type="http://schemas.openxmlformats.org/officeDocument/2006/relationships/hyperlink" Target="https://arxiv.org/abs/2010.06322" TargetMode="External"/><Relationship Id="rId4" Type="http://schemas.openxmlformats.org/officeDocument/2006/relationships/hyperlink" Target="https://youtu.be/_rPvKlvyw2w" TargetMode="Externa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4.xml"/><Relationship Id="rId3" Type="http://schemas.openxmlformats.org/officeDocument/2006/relationships/image" Target="../media/image203.jpg"/><Relationship Id="rId4" Type="http://schemas.openxmlformats.org/officeDocument/2006/relationships/image" Target="../media/image204.jpg"/></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5.xml"/><Relationship Id="rId3" Type="http://schemas.openxmlformats.org/officeDocument/2006/relationships/image" Target="../media/image205.png"/><Relationship Id="rId4" Type="http://schemas.openxmlformats.org/officeDocument/2006/relationships/image" Target="../media/image206.png"/><Relationship Id="rId5" Type="http://schemas.openxmlformats.org/officeDocument/2006/relationships/image" Target="../media/image207.png"/></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6.xml"/><Relationship Id="rId3" Type="http://schemas.openxmlformats.org/officeDocument/2006/relationships/hyperlink" Target="https://doi.org/10.1177/02783649221102473" TargetMode="External"/><Relationship Id="rId4" Type="http://schemas.openxmlformats.org/officeDocument/2006/relationships/hyperlink" Target="https://doi.org/10.3929/ethz-b-000551315" TargetMode="External"/><Relationship Id="rId5" Type="http://schemas.openxmlformats.org/officeDocument/2006/relationships/hyperlink" Target="https://youtu.be/39rRhTqcQc0" TargetMode="Externa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7.xml"/><Relationship Id="rId3" Type="http://schemas.openxmlformats.org/officeDocument/2006/relationships/image" Target="../media/image208.jpg"/></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8.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9.xml"/><Relationship Id="rId3" Type="http://schemas.openxmlformats.org/officeDocument/2006/relationships/hyperlink" Target="https://arxiv.org/abs/2203.14912" TargetMode="External"/><Relationship Id="rId4" Type="http://schemas.openxmlformats.org/officeDocument/2006/relationships/hyperlink" Target="https://youtu.be/kEdr0ARq48A" TargetMode="Externa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0.xml"/><Relationship Id="rId3" Type="http://schemas.openxmlformats.org/officeDocument/2006/relationships/image" Target="../media/image209.jpg"/></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1.xml"/><Relationship Id="rId3" Type="http://schemas.openxmlformats.org/officeDocument/2006/relationships/image" Target="../media/image210.png"/></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2.xml"/><Relationship Id="rId3" Type="http://schemas.openxmlformats.org/officeDocument/2006/relationships/hyperlink" Target="https://arxiv.org/abs/2405.01792" TargetMode="External"/><Relationship Id="rId4" Type="http://schemas.openxmlformats.org/officeDocument/2006/relationships/hyperlink" Target="https://junja94.github.io/learning_robust_autonomous_navigation_and_locomotion_for_wheeled_legged_robots/" TargetMode="External"/><Relationship Id="rId5" Type="http://schemas.openxmlformats.org/officeDocument/2006/relationships/hyperlink" Target="https://doi.org/10.1126/scirobotics.adi9641" TargetMode="Externa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3.xml"/><Relationship Id="rId3" Type="http://schemas.openxmlformats.org/officeDocument/2006/relationships/image" Target="../media/image211.jpg"/><Relationship Id="rId4" Type="http://schemas.openxmlformats.org/officeDocument/2006/relationships/image" Target="../media/image212.jpg"/></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4.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5.xml"/><Relationship Id="rId3" Type="http://schemas.openxmlformats.org/officeDocument/2006/relationships/hyperlink" Target="https://www.rivr.ai" TargetMode="External"/><Relationship Id="rId4" Type="http://schemas.openxmlformats.org/officeDocument/2006/relationships/hyperlink" Target="https://www.therobotreport.com/amazon-acquires-robotic-doorstep-delivery-provider-rivr/" TargetMode="External"/><Relationship Id="rId5" Type="http://schemas.openxmlformats.org/officeDocument/2006/relationships/hyperlink" Target="https://startupticker.ch/en/news/swiss-mile-launches-a-new-breed-of-robots-powered-by-ai" TargetMode="Externa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6.xml"/><Relationship Id="rId3" Type="http://schemas.openxmlformats.org/officeDocument/2006/relationships/image" Target="../media/image213.jpg"/></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7.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8.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9.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0.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1.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2.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3.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4.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5.xml"/><Relationship Id="rId3" Type="http://schemas.openxmlformats.org/officeDocument/2006/relationships/image" Target="../media/image214.jpg"/><Relationship Id="rId4" Type="http://schemas.openxmlformats.org/officeDocument/2006/relationships/image" Target="../media/image215.jpg"/></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6.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7.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8.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9.xml"/><Relationship Id="rId3" Type="http://schemas.openxmlformats.org/officeDocument/2006/relationships/hyperlink" Target="https://arxiv.org/abs/2108.10470" TargetMode="External"/><Relationship Id="rId4" Type="http://schemas.openxmlformats.org/officeDocument/2006/relationships/hyperlink" Target="https://developer.nvidia.com/isaac-gym" TargetMode="External"/><Relationship Id="rId5" Type="http://schemas.openxmlformats.org/officeDocument/2006/relationships/hyperlink" Target="https://arxiv.org/abs/2301.04195" TargetMode="External"/><Relationship Id="rId6" Type="http://schemas.openxmlformats.org/officeDocument/2006/relationships/hyperlink" Target="https://arxiv.org/abs/2511.04831" TargetMode="External"/><Relationship Id="rId7" Type="http://schemas.openxmlformats.org/officeDocument/2006/relationships/hyperlink" Target="https://github.com/isaac-sim/IsaacLab" TargetMode="External"/><Relationship Id="rId8" Type="http://schemas.openxmlformats.org/officeDocument/2006/relationships/hyperlink" Target="https://arxiv.org/abs/1810.05762" TargetMode="Externa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0.xml"/><Relationship Id="rId3" Type="http://schemas.openxmlformats.org/officeDocument/2006/relationships/image" Target="../media/image216.jpg"/></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1.xml"/><Relationship Id="rId3" Type="http://schemas.openxmlformats.org/officeDocument/2006/relationships/hyperlink" Target="https://arxiv.org/abs/2206.08077" TargetMode="External"/><Relationship Id="rId4" Type="http://schemas.openxmlformats.org/officeDocument/2006/relationships/hyperlink" Target="https://arxiv.org/abs/2310.12931" TargetMode="External"/><Relationship Id="rId5" Type="http://schemas.openxmlformats.org/officeDocument/2006/relationships/hyperlink" Target="https://eureka-research.github.io/" TargetMode="External"/><Relationship Id="rId6" Type="http://schemas.openxmlformats.org/officeDocument/2006/relationships/hyperlink" Target="https://github.com/eureka-research/Eureka" TargetMode="Externa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2.xml"/><Relationship Id="rId3" Type="http://schemas.openxmlformats.org/officeDocument/2006/relationships/image" Target="../media/image217.jpg"/></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3.xml"/><Relationship Id="rId3" Type="http://schemas.openxmlformats.org/officeDocument/2006/relationships/hyperlink" Target="https://arxiv.org/abs/2406.01967" TargetMode="External"/><Relationship Id="rId4" Type="http://schemas.openxmlformats.org/officeDocument/2006/relationships/hyperlink" Target="https://eureka-research.github.io/dr-eureka/" TargetMode="External"/><Relationship Id="rId5" Type="http://schemas.openxmlformats.org/officeDocument/2006/relationships/hyperlink" Target="https://github.com/eureka-research/DrEureka" TargetMode="Externa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4.xml"/><Relationship Id="rId3" Type="http://schemas.openxmlformats.org/officeDocument/2006/relationships/image" Target="../media/image218.jpg"/><Relationship Id="rId4" Type="http://schemas.openxmlformats.org/officeDocument/2006/relationships/image" Target="../media/image219.jpg"/></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5.xml"/><Relationship Id="rId3" Type="http://schemas.openxmlformats.org/officeDocument/2006/relationships/image" Target="../media/image220.png"/><Relationship Id="rId4" Type="http://schemas.openxmlformats.org/officeDocument/2006/relationships/image" Target="../media/image221.png"/><Relationship Id="rId5" Type="http://schemas.openxmlformats.org/officeDocument/2006/relationships/image" Target="../media/image222.png"/></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6.xml"/><Relationship Id="rId3" Type="http://schemas.openxmlformats.org/officeDocument/2006/relationships/hyperlink" Target="https://arxiv.org/abs/2411.01775" TargetMode="External"/><Relationship Id="rId4" Type="http://schemas.openxmlformats.org/officeDocument/2006/relationships/hyperlink" Target="https://github.com/eureka-research/eurekaverse" TargetMode="External"/><Relationship Id="rId5" Type="http://schemas.openxmlformats.org/officeDocument/2006/relationships/hyperlink" Target="https://arxiv.org/abs/2205.01906" TargetMode="External"/><Relationship Id="rId6" Type="http://schemas.openxmlformats.org/officeDocument/2006/relationships/hyperlink" Target="https://github.com/nv-tlabs/ASE" TargetMode="External"/><Relationship Id="rId7" Type="http://schemas.openxmlformats.org/officeDocument/2006/relationships/hyperlink" Target="https://arxiv.org/abs/2305.06456" TargetMode="External"/><Relationship Id="rId8" Type="http://schemas.openxmlformats.org/officeDocument/2006/relationships/hyperlink" Target="https://github.com/ZhengyiLuo/PHC" TargetMode="External"/><Relationship Id="rId9" Type="http://schemas.openxmlformats.org/officeDocument/2006/relationships/hyperlink" Target="https://arxiv.org/abs/2409.14393" TargetMode="External"/><Relationship Id="rId10" Type="http://schemas.openxmlformats.org/officeDocument/2006/relationships/hyperlink" Target="https://github.com/NVlabs/ProtoMotions" TargetMode="External"/><Relationship Id="rId11" Type="http://schemas.openxmlformats.org/officeDocument/2006/relationships/hyperlink" Target="https://arxiv.org/abs/2305.02195" TargetMode="External"/><Relationship Id="rId12" Type="http://schemas.openxmlformats.org/officeDocument/2006/relationships/hyperlink" Target="https://arxiv.org/abs/2505.19086" TargetMode="Externa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7.xml"/><Relationship Id="rId3" Type="http://schemas.openxmlformats.org/officeDocument/2006/relationships/image" Target="../media/image223.jpg"/></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8.xml"/><Relationship Id="rId3" Type="http://schemas.openxmlformats.org/officeDocument/2006/relationships/hyperlink" Target="https://arxiv.org/abs/2304.01893" TargetMode="External"/><Relationship Id="rId4" Type="http://schemas.openxmlformats.org/officeDocument/2006/relationships/hyperlink" Target="https://research.nvidia.com/labs/toronto-ai/trace-pace/" TargetMode="External"/><Relationship Id="rId5" Type="http://schemas.openxmlformats.org/officeDocument/2006/relationships/hyperlink" Target="https://github.com/nv-tlabs/trace" TargetMode="External"/><Relationship Id="rId6" Type="http://schemas.openxmlformats.org/officeDocument/2006/relationships/hyperlink" Target="https://github.com/nv-tlabs/pacer" TargetMode="Externa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9.xml"/><Relationship Id="rId3" Type="http://schemas.openxmlformats.org/officeDocument/2006/relationships/image" Target="../media/image224.jpg"/><Relationship Id="rId4" Type="http://schemas.openxmlformats.org/officeDocument/2006/relationships/hyperlink" Target="https://arxiv.org/abs/2505.04002" TargetMode="External"/><Relationship Id="rId5" Type="http://schemas.openxmlformats.org/officeDocument/2006/relationships/hyperlink" Target="https://xbpeng.github.io/projects/PARC/index.html" TargetMode="External"/><Relationship Id="rId6" Type="http://schemas.openxmlformats.org/officeDocument/2006/relationships/hyperlink" Target="https://github.com/mshoe/PARC" TargetMode="Externa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0.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1.xml"/><Relationship Id="rId3" Type="http://schemas.openxmlformats.org/officeDocument/2006/relationships/image" Target="../media/image225.jpg"/></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2.xml"/><Relationship Id="rId3" Type="http://schemas.openxmlformats.org/officeDocument/2006/relationships/hyperlink" Target="https://arxiv.org/abs/2410.21229" TargetMode="External"/><Relationship Id="rId4" Type="http://schemas.openxmlformats.org/officeDocument/2006/relationships/hyperlink" Target="https://hover-versatile-humanoid.github.io/" TargetMode="External"/><Relationship Id="rId5" Type="http://schemas.openxmlformats.org/officeDocument/2006/relationships/hyperlink" Target="https://github.com/NVlabs/HOVER" TargetMode="Externa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3.xml"/><Relationship Id="rId3" Type="http://schemas.openxmlformats.org/officeDocument/2006/relationships/image" Target="../media/image226.jpg"/><Relationship Id="rId4" Type="http://schemas.openxmlformats.org/officeDocument/2006/relationships/image" Target="../media/image227.jpg"/></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4.xml"/><Relationship Id="rId3" Type="http://schemas.openxmlformats.org/officeDocument/2006/relationships/image" Target="../media/image228.png"/><Relationship Id="rId4" Type="http://schemas.openxmlformats.org/officeDocument/2006/relationships/image" Target="../media/image229.png"/></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5.xml"/><Relationship Id="rId3" Type="http://schemas.openxmlformats.org/officeDocument/2006/relationships/hyperlink" Target="https://arxiv.org/abs/2511.07820" TargetMode="External"/><Relationship Id="rId4" Type="http://schemas.openxmlformats.org/officeDocument/2006/relationships/hyperlink" Target="https://nvlabs.github.io/GEAR-SONIC/" TargetMode="External"/><Relationship Id="rId5" Type="http://schemas.openxmlformats.org/officeDocument/2006/relationships/hyperlink" Target="https://github.com/NVlabs/GR00T-WholeBodyControl" TargetMode="Externa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6.xml"/><Relationship Id="rId3" Type="http://schemas.openxmlformats.org/officeDocument/2006/relationships/image" Target="../media/image230.jpg"/></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7.xml"/><Relationship Id="rId3" Type="http://schemas.openxmlformats.org/officeDocument/2006/relationships/hyperlink" Target="https://arxiv.org/abs/2503.14734" TargetMode="External"/><Relationship Id="rId4" Type="http://schemas.openxmlformats.org/officeDocument/2006/relationships/hyperlink" Target="https://github.com/NVIDIA/Isaac-GR00T" TargetMode="Externa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8.xml"/><Relationship Id="rId3" Type="http://schemas.openxmlformats.org/officeDocument/2006/relationships/image" Target="../media/image231.jpg"/></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9.xml"/><Relationship Id="rId3" Type="http://schemas.openxmlformats.org/officeDocument/2006/relationships/hyperlink" Target="https://arxiv.org/abs/2511.15200" TargetMode="External"/><Relationship Id="rId4" Type="http://schemas.openxmlformats.org/officeDocument/2006/relationships/hyperlink" Target="https://viral-humanoid.github.io/" TargetMode="External"/><Relationship Id="rId5" Type="http://schemas.openxmlformats.org/officeDocument/2006/relationships/hyperlink" Target="https://github.com/NVlabs/GR00T-VisualSim2Real" TargetMode="External"/><Relationship Id="rId6" Type="http://schemas.openxmlformats.org/officeDocument/2006/relationships/hyperlink" Target="https://arxiv.org/abs/2502.13013" TargetMode="Externa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0.xml"/><Relationship Id="rId3" Type="http://schemas.openxmlformats.org/officeDocument/2006/relationships/image" Target="../media/image232.jpg"/></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1.xml"/><Relationship Id="rId3" Type="http://schemas.openxmlformats.org/officeDocument/2006/relationships/hyperlink" Target="https://arxiv.org/abs/2512.01061" TargetMode="External"/><Relationship Id="rId4" Type="http://schemas.openxmlformats.org/officeDocument/2006/relationships/hyperlink" Target="https://doorman-humanoid.github.io/" TargetMode="External"/><Relationship Id="rId5" Type="http://schemas.openxmlformats.org/officeDocument/2006/relationships/hyperlink" Target="https://github.com/NVlabs/GR00T-VisualSim2Real" TargetMode="Externa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2.xml"/><Relationship Id="rId3" Type="http://schemas.openxmlformats.org/officeDocument/2006/relationships/image" Target="../media/image233.jpg"/></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3.xml"/><Relationship Id="rId3" Type="http://schemas.openxmlformats.org/officeDocument/2006/relationships/hyperlink" Target="https://arxiv.org/abs/2606.05160" TargetMode="External"/><Relationship Id="rId4" Type="http://schemas.openxmlformats.org/officeDocument/2006/relationships/hyperlink" Target="https://research.nvidia.com/labs/dair/grail/" TargetMode="External"/><Relationship Id="rId5" Type="http://schemas.openxmlformats.org/officeDocument/2006/relationships/hyperlink" Target="https://github.com/NVlabs/GRAIL" TargetMode="Externa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4.xml"/><Relationship Id="rId3" Type="http://schemas.openxmlformats.org/officeDocument/2006/relationships/image" Target="../media/image234.jpg"/></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5.xml"/><Relationship Id="rId3" Type="http://schemas.openxmlformats.org/officeDocument/2006/relationships/hyperlink" Target="https://arxiv.org/abs/2512.14689" TargetMode="External"/><Relationship Id="rId4" Type="http://schemas.openxmlformats.org/officeDocument/2006/relationships/hyperlink" Target="https://arxiv.org/abs/2604.24833" TargetMode="External"/><Relationship Id="rId5" Type="http://schemas.openxmlformats.org/officeDocument/2006/relationships/hyperlink" Target="https://arxiv.org/abs/2605.27724" TargetMode="External"/><Relationship Id="rId6" Type="http://schemas.openxmlformats.org/officeDocument/2006/relationships/hyperlink" Target="https://arxiv.org/abs/2505.12278" TargetMode="External"/><Relationship Id="rId7" Type="http://schemas.openxmlformats.org/officeDocument/2006/relationships/hyperlink" Target="https://arxiv.org/abs/2508.15755" TargetMode="Externa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6.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7.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8.xml"/><Relationship Id="rId3" Type="http://schemas.openxmlformats.org/officeDocument/2006/relationships/hyperlink" Target="https://arxiv.org/abs/1804.10332" TargetMode="External"/><Relationship Id="rId4" Type="http://schemas.openxmlformats.org/officeDocument/2006/relationships/hyperlink" Target="https://github.com/bulletphysics/bullet3/tree/master/examples/pybullet/gym/pybullet_envs/minitaur" TargetMode="Externa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9.xml"/><Relationship Id="rId3" Type="http://schemas.openxmlformats.org/officeDocument/2006/relationships/image" Target="../media/image235.jpg"/><Relationship Id="rId4" Type="http://schemas.openxmlformats.org/officeDocument/2006/relationships/image" Target="../media/image236.jpg"/></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0.xml"/><Relationship Id="rId3" Type="http://schemas.openxmlformats.org/officeDocument/2006/relationships/image" Target="../media/image237.png"/><Relationship Id="rId4" Type="http://schemas.openxmlformats.org/officeDocument/2006/relationships/image" Target="../media/image238.png"/><Relationship Id="rId5" Type="http://schemas.openxmlformats.org/officeDocument/2006/relationships/image" Target="../media/image239.png"/></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1.xml"/><Relationship Id="rId3" Type="http://schemas.openxmlformats.org/officeDocument/2006/relationships/hyperlink" Target="https://arxiv.org/abs/1812.11103" TargetMode="External"/><Relationship Id="rId4" Type="http://schemas.openxmlformats.org/officeDocument/2006/relationships/hyperlink" Target="https://sites.google.com/view/minitaur-locomotion/" TargetMode="External"/><Relationship Id="rId5" Type="http://schemas.openxmlformats.org/officeDocument/2006/relationships/hyperlink" Target="https://github.com/rail-berkeley/softlearning" TargetMode="Externa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2.xml"/><Relationship Id="rId3" Type="http://schemas.openxmlformats.org/officeDocument/2006/relationships/image" Target="../media/image240.jpg"/></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3.xml"/><Relationship Id="rId3" Type="http://schemas.openxmlformats.org/officeDocument/2006/relationships/hyperlink" Target="https://arxiv.org/abs/1907.03613" TargetMode="Externa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4.xml"/><Relationship Id="rId3" Type="http://schemas.openxmlformats.org/officeDocument/2006/relationships/image" Target="../media/image241.jpg"/></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5.xml"/><Relationship Id="rId3" Type="http://schemas.openxmlformats.org/officeDocument/2006/relationships/hyperlink" Target="https://arxiv.org/abs/2002.08550" TargetMode="Externa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6.xml"/><Relationship Id="rId3" Type="http://schemas.openxmlformats.org/officeDocument/2006/relationships/image" Target="../media/image242.jpg"/></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7.xml"/><Relationship Id="rId3" Type="http://schemas.openxmlformats.org/officeDocument/2006/relationships/hyperlink" Target="https://arxiv.org/abs/2004.00784" TargetMode="External"/><Relationship Id="rId4" Type="http://schemas.openxmlformats.org/officeDocument/2006/relationships/hyperlink" Target="https://xbpeng.github.io/projects/Robotic_Imitation/" TargetMode="External"/><Relationship Id="rId5" Type="http://schemas.openxmlformats.org/officeDocument/2006/relationships/hyperlink" Target="https://github.com/erwincoumans/motion_imitation" TargetMode="Externa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8.xml"/><Relationship Id="rId3" Type="http://schemas.openxmlformats.org/officeDocument/2006/relationships/image" Target="../media/image243.jpg"/><Relationship Id="rId4" Type="http://schemas.openxmlformats.org/officeDocument/2006/relationships/image" Target="../media/image244.jpg"/></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9.xml"/><Relationship Id="rId3" Type="http://schemas.openxmlformats.org/officeDocument/2006/relationships/image" Target="../media/image245.png"/><Relationship Id="rId4" Type="http://schemas.openxmlformats.org/officeDocument/2006/relationships/image" Target="../media/image246.png"/><Relationship Id="rId5" Type="http://schemas.openxmlformats.org/officeDocument/2006/relationships/image" Target="../media/image247.png"/></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0.xml"/><Relationship Id="rId3" Type="http://schemas.openxmlformats.org/officeDocument/2006/relationships/hyperlink" Target="https://arxiv.org/abs/2110.05457" TargetMode="External"/><Relationship Id="rId4" Type="http://schemas.openxmlformats.org/officeDocument/2006/relationships/hyperlink" Target="https://sites.google.com/berkeley.edu/fine-tuning-locomotion" TargetMode="External"/><Relationship Id="rId5" Type="http://schemas.openxmlformats.org/officeDocument/2006/relationships/hyperlink" Target="https://github.com/lauramsmith/fine-tuning-locomotion" TargetMode="Externa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1.xml"/><Relationship Id="rId3" Type="http://schemas.openxmlformats.org/officeDocument/2006/relationships/image" Target="../media/image248.jpg"/></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2.xml"/><Relationship Id="rId3" Type="http://schemas.openxmlformats.org/officeDocument/2006/relationships/hyperlink" Target="https://proceedings.mlr.press/v164/yang22d.html" TargetMode="External"/><Relationship Id="rId4" Type="http://schemas.openxmlformats.org/officeDocument/2006/relationships/hyperlink" Target="https://proceedings.mlr.press/v164/yu22a.html" TargetMode="External"/><Relationship Id="rId5" Type="http://schemas.openxmlformats.org/officeDocument/2006/relationships/hyperlink" Target="https://openreview.net/forum?id=NDYbXf-DvwZ" TargetMode="Externa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3.xml"/><Relationship Id="rId3" Type="http://schemas.openxmlformats.org/officeDocument/2006/relationships/image" Target="../media/image249.jpg"/><Relationship Id="rId4" Type="http://schemas.openxmlformats.org/officeDocument/2006/relationships/hyperlink" Target="https://arxiv.org/abs/2203.02638" TargetMode="External"/><Relationship Id="rId5" Type="http://schemas.openxmlformats.org/officeDocument/2006/relationships/hyperlink" Target="https://sites.google.com/view/saferlleggedlocomotion/" TargetMode="External"/><Relationship Id="rId6" Type="http://schemas.openxmlformats.org/officeDocument/2006/relationships/hyperlink" Target="https://arxiv.org/abs/2405.00846" TargetMode="Externa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4.xml"/><Relationship Id="rId3" Type="http://schemas.openxmlformats.org/officeDocument/2006/relationships/image" Target="../media/image250.jpg"/><Relationship Id="rId4" Type="http://schemas.openxmlformats.org/officeDocument/2006/relationships/hyperlink" Target="https://arxiv.org/abs/2206.13631" TargetMode="External"/></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5.xml"/><Relationship Id="rId3" Type="http://schemas.openxmlformats.org/officeDocument/2006/relationships/image" Target="../media/image251.jpg"/><Relationship Id="rId4" Type="http://schemas.openxmlformats.org/officeDocument/2006/relationships/hyperlink" Target="https://proceedings.mlr.press/v164/bloesch22a.html" TargetMode="External"/><Relationship Id="rId5" Type="http://schemas.openxmlformats.org/officeDocument/2006/relationships/hyperlink" Target="https://arxiv.org/abs/2203.17138" TargetMode="External"/><Relationship Id="rId6" Type="http://schemas.openxmlformats.org/officeDocument/2006/relationships/hyperlink" Target="https://arxiv.org/abs/2210.04932" TargetMode="External"/></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6.xml"/><Relationship Id="rId3" Type="http://schemas.openxmlformats.org/officeDocument/2006/relationships/hyperlink" Target="https://arxiv.org/abs/2304.13653" TargetMode="External"/><Relationship Id="rId4" Type="http://schemas.openxmlformats.org/officeDocument/2006/relationships/hyperlink" Target="https://doi.org/10.1126/scirobotics.adi8022" TargetMode="External"/><Relationship Id="rId5" Type="http://schemas.openxmlformats.org/officeDocument/2006/relationships/hyperlink" Target="https://sites.google.com/view/op3-soccer" TargetMode="External"/><Relationship Id="rId6" Type="http://schemas.openxmlformats.org/officeDocument/2006/relationships/hyperlink" Target="https://zenodo.org/records/10793725" TargetMode="External"/></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7.xml"/><Relationship Id="rId3" Type="http://schemas.openxmlformats.org/officeDocument/2006/relationships/image" Target="../media/image252.jpg"/><Relationship Id="rId4" Type="http://schemas.openxmlformats.org/officeDocument/2006/relationships/image" Target="../media/image253.jpg"/></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8.xml"/><Relationship Id="rId3" Type="http://schemas.openxmlformats.org/officeDocument/2006/relationships/image" Target="../media/image254.png"/></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9.xml"/><Relationship Id="rId3" Type="http://schemas.openxmlformats.org/officeDocument/2006/relationships/hyperlink" Target="https://arxiv.org/abs/2405.02425" TargetMode="External"/><Relationship Id="rId4" Type="http://schemas.openxmlformats.org/officeDocument/2006/relationships/hyperlink" Target="https://sites.google.com/view/vision-soccer" TargetMode="External"/></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0.xml"/><Relationship Id="rId3" Type="http://schemas.openxmlformats.org/officeDocument/2006/relationships/image" Target="../media/image255.jpg"/></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1.xml"/><Relationship Id="rId3" Type="http://schemas.openxmlformats.org/officeDocument/2006/relationships/hyperlink" Target="https://arxiv.org/abs/2305.14654" TargetMode="External"/><Relationship Id="rId4" Type="http://schemas.openxmlformats.org/officeDocument/2006/relationships/hyperlink" Target="https://sites.google.com/view/barkour" TargetMode="External"/><Relationship Id="rId5" Type="http://schemas.openxmlformats.org/officeDocument/2006/relationships/hyperlink" Target="https://github.com/google-deepmind/mujoco_menagerie/tree/main/google_barkour_v0" TargetMode="External"/><Relationship Id="rId6" Type="http://schemas.openxmlformats.org/officeDocument/2006/relationships/hyperlink" Target="https://github.com/google-deepmind/barkour_robot" TargetMode="External"/></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2.xml"/><Relationship Id="rId3" Type="http://schemas.openxmlformats.org/officeDocument/2006/relationships/image" Target="../media/image256.jpg"/><Relationship Id="rId4" Type="http://schemas.openxmlformats.org/officeDocument/2006/relationships/image" Target="../media/image257.jpg"/></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3.xml"/><Relationship Id="rId3" Type="http://schemas.openxmlformats.org/officeDocument/2006/relationships/image" Target="../media/image258.png"/></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4.xml"/><Relationship Id="rId3" Type="http://schemas.openxmlformats.org/officeDocument/2006/relationships/hyperlink" Target="https://arxiv.org/abs/2306.07580" TargetMode="External"/><Relationship Id="rId4" Type="http://schemas.openxmlformats.org/officeDocument/2006/relationships/hyperlink" Target="https://saytap.github.io/" TargetMode="External"/></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5.xml"/><Relationship Id="rId3" Type="http://schemas.openxmlformats.org/officeDocument/2006/relationships/image" Target="../media/image259.jpg"/></Relationships>
</file>

<file path=ppt/slides/_rels/slide3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6.xml"/><Relationship Id="rId3" Type="http://schemas.openxmlformats.org/officeDocument/2006/relationships/hyperlink" Target="https://arxiv.org/abs/2306.08647" TargetMode="External"/><Relationship Id="rId4" Type="http://schemas.openxmlformats.org/officeDocument/2006/relationships/hyperlink" Target="https://language-to-reward.github.io/" TargetMode="External"/><Relationship Id="rId5" Type="http://schemas.openxmlformats.org/officeDocument/2006/relationships/hyperlink" Target="https://github.com/google-deepmind/language_to_reward_2023" TargetMode="External"/><Relationship Id="rId6" Type="http://schemas.openxmlformats.org/officeDocument/2006/relationships/hyperlink" Target="https://arxiv.org/abs/2402.11450" TargetMode="External"/></Relationships>
</file>

<file path=ppt/slides/_rels/slide3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7.xml"/><Relationship Id="rId3" Type="http://schemas.openxmlformats.org/officeDocument/2006/relationships/image" Target="../media/image260.jpg"/></Relationships>
</file>

<file path=ppt/slides/_rels/slide3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8.xml"/><Relationship Id="rId3" Type="http://schemas.openxmlformats.org/officeDocument/2006/relationships/hyperlink" Target="https://arxiv.org/abs/2212.00541" TargetMode="External"/><Relationship Id="rId4" Type="http://schemas.openxmlformats.org/officeDocument/2006/relationships/hyperlink" Target="https://github.com/google-deepmind/mujoco_mpc" TargetMode="External"/><Relationship Id="rId5" Type="http://schemas.openxmlformats.org/officeDocument/2006/relationships/hyperlink" Target="https://github.com/google-deepmind/mujoco/releases/tag/3.0.0" TargetMode="External"/><Relationship Id="rId6" Type="http://schemas.openxmlformats.org/officeDocument/2006/relationships/hyperlink" Target="https://arxiv.org/abs/2502.08844" TargetMode="External"/><Relationship Id="rId7" Type="http://schemas.openxmlformats.org/officeDocument/2006/relationships/hyperlink" Target="https://github.com/google-deepmind/mujoco_playground" TargetMode="External"/><Relationship Id="rId8" Type="http://schemas.openxmlformats.org/officeDocument/2006/relationships/hyperlink" Target="https://arxiv.org/abs/2106.13281" TargetMode="External"/><Relationship Id="rId9" Type="http://schemas.openxmlformats.org/officeDocument/2006/relationships/hyperlink" Target="https://github.com/google/brax" TargetMode="External"/></Relationships>
</file>

<file path=ppt/slides/_rels/slide3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9.xml"/><Relationship Id="rId3" Type="http://schemas.openxmlformats.org/officeDocument/2006/relationships/image" Target="../media/image261.jpg"/></Relationships>
</file>

<file path=ppt/slides/_rels/slide3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0.xml"/><Relationship Id="rId3" Type="http://schemas.openxmlformats.org/officeDocument/2006/relationships/hyperlink" Target="https://arxiv.org/abs/2503.08593" TargetMode="External"/><Relationship Id="rId4" Type="http://schemas.openxmlformats.org/officeDocument/2006/relationships/hyperlink" Target="https://arxiv.org/abs/2503.20020" TargetMode="External"/><Relationship Id="rId5" Type="http://schemas.openxmlformats.org/officeDocument/2006/relationships/hyperlink" Target="https://arxiv.org/abs/2510.03342" TargetMode="External"/><Relationship Id="rId6" Type="http://schemas.openxmlformats.org/officeDocument/2006/relationships/hyperlink" Target="https://deepmind.google/blog/gemini-robotics-2-brings-whole-body-intelligence-to-robots/" TargetMode="External"/></Relationships>
</file>

<file path=ppt/slides/_rels/slide3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1.xml"/><Relationship Id="rId3" Type="http://schemas.openxmlformats.org/officeDocument/2006/relationships/image" Target="../media/image262.jpg"/></Relationships>
</file>

<file path=ppt/slides/_rels/slide3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2.xml"/></Relationships>
</file>

<file path=ppt/slides/_rels/slide3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3.xml"/></Relationships>
</file>

<file path=ppt/slides/_rels/slide3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4.xml"/><Relationship Id="rId3" Type="http://schemas.openxmlformats.org/officeDocument/2006/relationships/hyperlink" Target="https://flexion.ai" TargetMode="External"/><Relationship Id="rId4" Type="http://schemas.openxmlformats.org/officeDocument/2006/relationships/hyperlink" Target="https://flexion.ai/about" TargetMode="External"/><Relationship Id="rId5" Type="http://schemas.openxmlformats.org/officeDocument/2006/relationships/hyperlink" Target="https://flexion.ai/news/the-hard-part-of-robotics-is-robotics" TargetMode="External"/><Relationship Id="rId6" Type="http://schemas.openxmlformats.org/officeDocument/2006/relationships/hyperlink" Target="https://flexion.ai/news/flexion-raises-50m-to-build-the-brain-of-humanoid-robots-at-scale" TargetMode="External"/><Relationship Id="rId7" Type="http://schemas.openxmlformats.org/officeDocument/2006/relationships/hyperlink" Target="https://flexion.ai/news/flexion-reflect-v0-towards-generalizable-robot-autonomy" TargetMode="External"/><Relationship Id="rId8" Type="http://schemas.openxmlformats.org/officeDocument/2006/relationships/hyperlink" Target="https://flexion.ai/news/flexion-reflect-v1.0" TargetMode="External"/><Relationship Id="rId9" Type="http://schemas.openxmlformats.org/officeDocument/2006/relationships/hyperlink" Target="https://www.zefix.ch/en/search/entity/list/firm/1669416" TargetMode="External"/></Relationships>
</file>

<file path=ppt/slides/_rels/slide3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5.xml"/><Relationship Id="rId3" Type="http://schemas.openxmlformats.org/officeDocument/2006/relationships/image" Target="../media/image263.jpg"/><Relationship Id="rId4" Type="http://schemas.openxmlformats.org/officeDocument/2006/relationships/image" Target="../media/image264.jpg"/><Relationship Id="rId5" Type="http://schemas.openxmlformats.org/officeDocument/2006/relationships/hyperlink" Target="https://flexion.ai/news/flexion-reflect-v1.0" TargetMode="External"/></Relationships>
</file>

<file path=ppt/slides/_rels/slide3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6.xml"/><Relationship Id="rId3" Type="http://schemas.openxmlformats.org/officeDocument/2006/relationships/hyperlink" Target="https://www.wired.com/story/this-robot-is-going-to-replace-your-interns-flexion/" TargetMode="External"/></Relationships>
</file>

<file path=ppt/slides/_rels/slide3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7.xml"/><Relationship Id="rId3" Type="http://schemas.openxmlformats.org/officeDocument/2006/relationships/image" Target="../media/image265.jpg"/></Relationships>
</file>

<file path=ppt/slides/_rels/slide3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8.xml"/></Relationships>
</file>

<file path=ppt/slides/_rels/slide3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9.xml"/></Relationships>
</file>

<file path=ppt/slides/_rels/slide3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0.xml"/><Relationship Id="rId3" Type="http://schemas.openxmlformats.org/officeDocument/2006/relationships/hyperlink" Target="https://doi.org/10.15607/RSS.2024.XX.103" TargetMode="External"/><Relationship Id="rId4" Type="http://schemas.openxmlformats.org/officeDocument/2006/relationships/hyperlink" Target="https://arxiv.org/abs/2501.05204" TargetMode="External"/><Relationship Id="rId5" Type="http://schemas.openxmlformats.org/officeDocument/2006/relationships/hyperlink" Target="https://la.disneyresearch.com/publication/design-and-control-of-a-bipedal-robotic-character/" TargetMode="External"/><Relationship Id="rId6" Type="http://schemas.openxmlformats.org/officeDocument/2006/relationships/hyperlink" Target="https://spectrum.ieee.org/disney-robot" TargetMode="External"/><Relationship Id="rId7" Type="http://schemas.openxmlformats.org/officeDocument/2006/relationships/hyperlink" Target="https://la.disneyresearch.com/bdx-droids/" TargetMode="External"/></Relationships>
</file>

<file path=ppt/slides/_rels/slide3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1.xml"/><Relationship Id="rId3" Type="http://schemas.openxmlformats.org/officeDocument/2006/relationships/image" Target="../media/image266.jpg"/><Relationship Id="rId4" Type="http://schemas.openxmlformats.org/officeDocument/2006/relationships/image" Target="../media/image267.jpg"/></Relationships>
</file>

<file path=ppt/slides/_rels/slide3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2.xml"/><Relationship Id="rId3" Type="http://schemas.openxmlformats.org/officeDocument/2006/relationships/image" Target="../media/image268.png"/><Relationship Id="rId4" Type="http://schemas.openxmlformats.org/officeDocument/2006/relationships/image" Target="../media/image269.png"/></Relationships>
</file>

<file path=ppt/slides/_rels/slide3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3.xml"/><Relationship Id="rId3" Type="http://schemas.openxmlformats.org/officeDocument/2006/relationships/hyperlink" Target="https://doi.org/10.1145/3680528.3687626" TargetMode="External"/><Relationship Id="rId4" Type="http://schemas.openxmlformats.org/officeDocument/2006/relationships/hyperlink" Target="https://la.disneyresearch.com/publication/robot-motion-diffusion-model-motion-generation-for-robotic-characters/" TargetMode="External"/><Relationship Id="rId5" Type="http://schemas.openxmlformats.org/officeDocument/2006/relationships/image" Target="../media/image270.png"/></Relationships>
</file>

<file path=ppt/slides/_rels/slide3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4.xml"/><Relationship Id="rId3" Type="http://schemas.openxmlformats.org/officeDocument/2006/relationships/image" Target="../media/image271.jpg"/></Relationships>
</file>

<file path=ppt/slides/_rels/slide3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5.xml"/><Relationship Id="rId3" Type="http://schemas.openxmlformats.org/officeDocument/2006/relationships/hyperlink" Target="https://arxiv.org/abs/2512.16705" TargetMode="External"/><Relationship Id="rId4" Type="http://schemas.openxmlformats.org/officeDocument/2006/relationships/hyperlink" Target="https://doi.org/10.1109/LRA.2026.3685938" TargetMode="External"/><Relationship Id="rId5" Type="http://schemas.openxmlformats.org/officeDocument/2006/relationships/hyperlink" Target="https://la.disneyresearch.com/publication/olaf-bringing-an-animated-character-to-life-in-the-physical-world/" TargetMode="External"/><Relationship Id="rId6" Type="http://schemas.openxmlformats.org/officeDocument/2006/relationships/hyperlink" Target="https://disneyparksblog.com/disney-experiences/robotic-olaf-marks-new-era-of-disney-innovation/" TargetMode="External"/></Relationships>
</file>

<file path=ppt/slides/_rels/slide3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6.xml"/><Relationship Id="rId3" Type="http://schemas.openxmlformats.org/officeDocument/2006/relationships/image" Target="../media/image272.jpg"/></Relationships>
</file>

<file path=ppt/slides/_rels/slide3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7.xml"/><Relationship Id="rId3" Type="http://schemas.openxmlformats.org/officeDocument/2006/relationships/image" Target="../media/image273.png"/></Relationships>
</file>

<file path=ppt/slides/_rels/slide3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8.xml"/><Relationship Id="rId3" Type="http://schemas.openxmlformats.org/officeDocument/2006/relationships/hyperlink" Target="https://arxiv.org/abs/2310.03581" TargetMode="External"/><Relationship Id="rId4" Type="http://schemas.openxmlformats.org/officeDocument/2006/relationships/hyperlink" Target="https://doi.org/10.1109/ICRA57147.2024.10611254" TargetMode="External"/><Relationship Id="rId5" Type="http://schemas.openxmlformats.org/officeDocument/2006/relationships/hyperlink" Target="https://doi.org/10.1109/ICRA57147.2024.10610271" TargetMode="External"/><Relationship Id="rId6" Type="http://schemas.openxmlformats.org/officeDocument/2006/relationships/hyperlink" Target="https://arxiv.org/abs/2403.00187" TargetMode="External"/></Relationships>
</file>

<file path=ppt/slides/_rels/slide3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9.xml"/><Relationship Id="rId3" Type="http://schemas.openxmlformats.org/officeDocument/2006/relationships/image" Target="../media/image274.jpg"/></Relationships>
</file>

<file path=ppt/slides/_rels/slide3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0.xml"/><Relationship Id="rId3" Type="http://schemas.openxmlformats.org/officeDocument/2006/relationships/hyperlink" Target="https://arxiv.org/abs/2505.11164" TargetMode="External"/><Relationship Id="rId4" Type="http://schemas.openxmlformats.org/officeDocument/2006/relationships/hyperlink" Target="https://doi.org/10.1177/02783649261455067" TargetMode="External"/><Relationship Id="rId5" Type="http://schemas.openxmlformats.org/officeDocument/2006/relationships/hyperlink" Target="https://doi.org/10.1109/IROS58592.2024.10801909" TargetMode="External"/><Relationship Id="rId6" Type="http://schemas.openxmlformats.org/officeDocument/2006/relationships/hyperlink" Target="https://arxiv.org/abs/2311.10484" TargetMode="External"/></Relationships>
</file>

<file path=ppt/slides/_rels/slide3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1.xml"/><Relationship Id="rId3" Type="http://schemas.openxmlformats.org/officeDocument/2006/relationships/image" Target="../media/image275.jpg"/></Relationships>
</file>

<file path=ppt/slides/_rels/slide3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2.xml"/></Relationships>
</file>

<file path=ppt/slides/_rels/slide3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3.xml"/><Relationship Id="rId3" Type="http://schemas.openxmlformats.org/officeDocument/2006/relationships/hyperlink" Target="https://arxiv.org/abs/2509.06342" TargetMode="External"/><Relationship Id="rId4" Type="http://schemas.openxmlformats.org/officeDocument/2006/relationships/hyperlink" Target="https://doi.org/10.1177/02783649261459628" TargetMode="External"/><Relationship Id="rId5" Type="http://schemas.openxmlformats.org/officeDocument/2006/relationships/hyperlink" Target="https://github.com/leggedrobotics/pace-sim2real" TargetMode="External"/><Relationship Id="rId6" Type="http://schemas.openxmlformats.org/officeDocument/2006/relationships/hyperlink" Target="https://doi.org/10.1109/LRA.2023.3313923" TargetMode="External"/></Relationships>
</file>

<file path=ppt/slides/_rels/slide3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4.xml"/><Relationship Id="rId3" Type="http://schemas.openxmlformats.org/officeDocument/2006/relationships/image" Target="../media/image276.jpg"/></Relationships>
</file>

<file path=ppt/slides/_rels/slide3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5.xml"/><Relationship Id="rId3" Type="http://schemas.openxmlformats.org/officeDocument/2006/relationships/hyperlink" Target="https://arxiv.org/abs/2601.08485" TargetMode="External"/><Relationship Id="rId4" Type="http://schemas.openxmlformats.org/officeDocument/2006/relationships/hyperlink" Target="https://doi.org/10.1126/scirobotics.adv3604" TargetMode="External"/><Relationship Id="rId5" Type="http://schemas.openxmlformats.org/officeDocument/2006/relationships/hyperlink" Target="https://arxiv.org/abs/2506.09588" TargetMode="External"/><Relationship Id="rId6" Type="http://schemas.openxmlformats.org/officeDocument/2006/relationships/hyperlink" Target="https://arxiv.org/abs/2608.29769" TargetMode="External"/></Relationships>
</file>

<file path=ppt/slides/_rels/slide3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6.xml"/><Relationship Id="rId3" Type="http://schemas.openxmlformats.org/officeDocument/2006/relationships/image" Target="../media/image277.jpg"/></Relationships>
</file>

<file path=ppt/slides/_rels/slide3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7.xml"/><Relationship Id="rId3" Type="http://schemas.openxmlformats.org/officeDocument/2006/relationships/image" Target="../media/image278.png"/><Relationship Id="rId4" Type="http://schemas.openxmlformats.org/officeDocument/2006/relationships/image" Target="../media/image279.png"/></Relationships>
</file>

<file path=ppt/slides/_rels/slide3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8.xml"/><Relationship Id="rId3" Type="http://schemas.openxmlformats.org/officeDocument/2006/relationships/hyperlink" Target="https://arxiv.org/abs/2610.29612" TargetMode="External"/><Relationship Id="rId4" Type="http://schemas.openxmlformats.org/officeDocument/2006/relationships/hyperlink" Target="https://leggedrobotics.github.io/watch-your-step/" TargetMode="External"/><Relationship Id="rId5" Type="http://schemas.openxmlformats.org/officeDocument/2006/relationships/hyperlink" Target="https://www.youtube.com/watch?v=3bLU6_OPv6s" TargetMode="External"/><Relationship Id="rId6" Type="http://schemas.openxmlformats.org/officeDocument/2006/relationships/hyperlink" Target="https://github.com/leggedrobotics/foothold-prediction-model" TargetMode="External"/></Relationships>
</file>

<file path=ppt/slides/_rels/slide3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9.xml"/><Relationship Id="rId3" Type="http://schemas.openxmlformats.org/officeDocument/2006/relationships/image" Target="../media/image280.jpg"/><Relationship Id="rId4" Type="http://schemas.openxmlformats.org/officeDocument/2006/relationships/image" Target="../media/image281.jpg"/></Relationships>
</file>

<file path=ppt/slides/_rels/slide3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0.xml"/><Relationship Id="rId3" Type="http://schemas.openxmlformats.org/officeDocument/2006/relationships/image" Target="../media/image282.png"/><Relationship Id="rId4" Type="http://schemas.openxmlformats.org/officeDocument/2006/relationships/image" Target="../media/image283.png"/></Relationships>
</file>

<file path=ppt/slides/_rels/slide3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1.xml"/><Relationship Id="rId3" Type="http://schemas.openxmlformats.org/officeDocument/2006/relationships/hyperlink" Target="https://arxiv.org/abs/2604.17335" TargetMode="External"/><Relationship Id="rId4" Type="http://schemas.openxmlformats.org/officeDocument/2006/relationships/hyperlink" Target="https://doi.org/10.1109/LRA.2026.3710365" TargetMode="External"/></Relationships>
</file>

<file path=ppt/slides/_rels/slide3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2.xml"/><Relationship Id="rId3" Type="http://schemas.openxmlformats.org/officeDocument/2006/relationships/image" Target="../media/image284.jpg"/></Relationships>
</file>

<file path=ppt/slides/_rels/slide3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3.xml"/><Relationship Id="rId3" Type="http://schemas.openxmlformats.org/officeDocument/2006/relationships/hyperlink" Target="https://arxiv.org/abs/2005.11435" TargetMode="External"/><Relationship Id="rId4" Type="http://schemas.openxmlformats.org/officeDocument/2006/relationships/hyperlink" Target="https://arxiv.org/abs/2005.11431" TargetMode="External"/><Relationship Id="rId5" Type="http://schemas.openxmlformats.org/officeDocument/2006/relationships/hyperlink" Target="https://arxiv.org/abs/2402.06143" TargetMode="External"/><Relationship Id="rId6" Type="http://schemas.openxmlformats.org/officeDocument/2006/relationships/hyperlink" Target="https://www.ascento.ai" TargetMode="External"/><Relationship Id="rId7" Type="http://schemas.openxmlformats.org/officeDocument/2006/relationships/hyperlink" Target="https://arxiv.org/abs/2606.31807" TargetMode="External"/></Relationships>
</file>

<file path=ppt/slides/_rels/slide3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4.xml"/><Relationship Id="rId3" Type="http://schemas.openxmlformats.org/officeDocument/2006/relationships/image" Target="../media/image285.jpg"/></Relationships>
</file>

<file path=ppt/slides/_rels/slide3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5.xml"/><Relationship Id="rId3" Type="http://schemas.openxmlformats.org/officeDocument/2006/relationships/hyperlink" Target="https://arxiv.org/abs/2503.10028" TargetMode="External"/><Relationship Id="rId4" Type="http://schemas.openxmlformats.org/officeDocument/2006/relationships/hyperlink" Target="https://doi.org/10.1109/ICRA55743.2025.11128847" TargetMode="External"/></Relationships>
</file>

<file path=ppt/slides/_rels/slide3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6.xml"/><Relationship Id="rId3" Type="http://schemas.openxmlformats.org/officeDocument/2006/relationships/image" Target="../media/image286.jpg"/></Relationships>
</file>

<file path=ppt/slides/_rels/slide3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7.xml"/><Relationship Id="rId3" Type="http://schemas.openxmlformats.org/officeDocument/2006/relationships/hyperlink" Target="https://arxiv.org/abs/2305.17842" TargetMode="External"/><Relationship Id="rId4" Type="http://schemas.openxmlformats.org/officeDocument/2006/relationships/hyperlink" Target="https://doi.org/10.1109/LRA.2023.3307008" TargetMode="External"/><Relationship Id="rId5" Type="http://schemas.openxmlformats.org/officeDocument/2006/relationships/hyperlink" Target="https://arxiv.org/abs/2504.06662" TargetMode="External"/><Relationship Id="rId6" Type="http://schemas.openxmlformats.org/officeDocument/2006/relationships/hyperlink" Target="https://doi.org/10.1109/LRA.2025.3594984" TargetMode="External"/></Relationships>
</file>

<file path=ppt/slides/_rels/slide3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8.xml"/><Relationship Id="rId3" Type="http://schemas.openxmlformats.org/officeDocument/2006/relationships/image" Target="../media/image287.jpg"/></Relationships>
</file>

<file path=ppt/slides/_rels/slide3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9.xml"/><Relationship Id="rId3" Type="http://schemas.openxmlformats.org/officeDocument/2006/relationships/hyperlink" Target="https://arxiv.org/abs/2402.13820" TargetMode="External"/><Relationship Id="rId4" Type="http://schemas.openxmlformats.org/officeDocument/2006/relationships/image" Target="../media/image288.png"/></Relationships>
</file>

<file path=ppt/slides/_rels/slide3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0.xml"/><Relationship Id="rId3" Type="http://schemas.openxmlformats.org/officeDocument/2006/relationships/image" Target="../media/image289.jpg"/></Relationships>
</file>

<file path=ppt/slides/_rels/slide3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1.xml"/><Relationship Id="rId3" Type="http://schemas.openxmlformats.org/officeDocument/2006/relationships/hyperlink" Target="https://arxiv.org/abs/2501.10100" TargetMode="External"/><Relationship Id="rId4" Type="http://schemas.openxmlformats.org/officeDocument/2006/relationships/hyperlink" Target="https://github.com/leggedrobotics/rsl_rl_rwm" TargetMode="External"/><Relationship Id="rId5" Type="http://schemas.openxmlformats.org/officeDocument/2006/relationships/hyperlink" Target="https://arxiv.org/abs/2504.16680" TargetMode="External"/><Relationship Id="rId6" Type="http://schemas.openxmlformats.org/officeDocument/2006/relationships/image" Target="../media/image290.png"/></Relationships>
</file>

<file path=ppt/slides/_rels/slide3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2.xml"/><Relationship Id="rId3" Type="http://schemas.openxmlformats.org/officeDocument/2006/relationships/image" Target="../media/image291.jpg"/></Relationships>
</file>

<file path=ppt/slides/_rels/slide3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3.xml"/></Relationships>
</file>

<file path=ppt/slides/_rels/slide3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4.xml"/></Relationships>
</file>

<file path=ppt/slides/_rels/slide3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5.xml"/></Relationships>
</file>

<file path=ppt/slides/_rels/slide3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6.xml"/><Relationship Id="rId3" Type="http://schemas.openxmlformats.org/officeDocument/2006/relationships/hyperlink" Target="https://arxiv.org/abs/2506.17184" TargetMode="External"/><Relationship Id="rId4" Type="http://schemas.openxmlformats.org/officeDocument/2006/relationships/hyperlink" Target="https://rai-inst.com/wp-content/uploads/2026/03/ICRA2026__Judo-1.pdf" TargetMode="External"/><Relationship Id="rId5" Type="http://schemas.openxmlformats.org/officeDocument/2006/relationships/hyperlink" Target="https://github.com/rai-opensource/judo" TargetMode="External"/><Relationship Id="rId6" Type="http://schemas.openxmlformats.org/officeDocument/2006/relationships/hyperlink" Target="https://pages.rai-inst.com/judo/" TargetMode="External"/><Relationship Id="rId7" Type="http://schemas.openxmlformats.org/officeDocument/2006/relationships/hyperlink" Target="https://arxiv.org/abs/2409.15610" TargetMode="External"/><Relationship Id="rId8" Type="http://schemas.openxmlformats.org/officeDocument/2006/relationships/hyperlink" Target="https://github.com/LeCAR-Lab/dial-mpc" TargetMode="External"/></Relationships>
</file>

<file path=ppt/slides/_rels/slide3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7.xml"/><Relationship Id="rId3" Type="http://schemas.openxmlformats.org/officeDocument/2006/relationships/image" Target="../media/image292.jpg"/></Relationships>
</file>

<file path=ppt/slides/_rels/slide3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8.xml"/><Relationship Id="rId3" Type="http://schemas.openxmlformats.org/officeDocument/2006/relationships/hyperlink" Target="https://arxiv.org/abs/2604.08508" TargetMode="External"/><Relationship Id="rId4" Type="http://schemas.openxmlformats.org/officeDocument/2006/relationships/hyperlink" Target="https://sumo.rai-inst.com" TargetMode="External"/><Relationship Id="rId5" Type="http://schemas.openxmlformats.org/officeDocument/2006/relationships/hyperlink" Target="https://github.com/rai-opensource/sumo" TargetMode="External"/></Relationships>
</file>

<file path=ppt/slides/_rels/slide3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9.xml"/><Relationship Id="rId3" Type="http://schemas.openxmlformats.org/officeDocument/2006/relationships/image" Target="../media/image293.jpg"/><Relationship Id="rId4" Type="http://schemas.openxmlformats.org/officeDocument/2006/relationships/image" Target="../media/image294.jpg"/></Relationships>
</file>

<file path=ppt/slides/_rels/slide3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0.xml"/></Relationships>
</file>

<file path=ppt/slides/_rels/slide3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1.xml"/></Relationships>
</file>

<file path=ppt/slides/_rels/slide3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2.xml"/><Relationship Id="rId3" Type="http://schemas.openxmlformats.org/officeDocument/2006/relationships/hyperlink" Target="https://arxiv.org/abs/2608.12063" TargetMode="External"/><Relationship Id="rId4" Type="http://schemas.openxmlformats.org/officeDocument/2006/relationships/hyperlink" Target="https://pages.rai-inst.com/smpc2rl/" TargetMode="External"/></Relationships>
</file>

<file path=ppt/slides/_rels/slide3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3.xml"/><Relationship Id="rId3" Type="http://schemas.openxmlformats.org/officeDocument/2006/relationships/image" Target="../media/image295.jpg"/></Relationships>
</file>

<file path=ppt/slides/_rels/slide3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4.xml"/><Relationship Id="rId3" Type="http://schemas.openxmlformats.org/officeDocument/2006/relationships/hyperlink" Target="https://arxiv.org/abs/2311.06234" TargetMode="External"/><Relationship Id="rId4" Type="http://schemas.openxmlformats.org/officeDocument/2006/relationships/hyperlink" Target="https://xiaoyi-cai.github.io/evora/" TargetMode="External"/><Relationship Id="rId5" Type="http://schemas.openxmlformats.org/officeDocument/2006/relationships/hyperlink" Target="https://github.com/mit-acl/mppi_numba" TargetMode="External"/><Relationship Id="rId6" Type="http://schemas.openxmlformats.org/officeDocument/2006/relationships/image" Target="../media/image296.png"/></Relationships>
</file>

<file path=ppt/slides/_rels/slide3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5.xml"/><Relationship Id="rId3" Type="http://schemas.openxmlformats.org/officeDocument/2006/relationships/image" Target="../media/image297.jpg"/></Relationships>
</file>

<file path=ppt/slides/_rels/slide3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6.xml"/><Relationship Id="rId3" Type="http://schemas.openxmlformats.org/officeDocument/2006/relationships/hyperlink" Target="https://bostondynamics.com/blog/starting-on-the-right-foot-with-reinforcement-learning/" TargetMode="External"/><Relationship Id="rId4" Type="http://schemas.openxmlformats.org/officeDocument/2006/relationships/hyperlink" Target="https://bostondynamics.com/reinforcement-learning-researcher-kit/" TargetMode="External"/><Relationship Id="rId5" Type="http://schemas.openxmlformats.org/officeDocument/2006/relationships/image" Target="../media/image298.jpg"/></Relationships>
</file>

<file path=ppt/slides/_rels/slide3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7.xml"/><Relationship Id="rId3" Type="http://schemas.openxmlformats.org/officeDocument/2006/relationships/hyperlink" Target="https://arxiv.org/abs/2504.17857" TargetMode="External"/><Relationship Id="rId4" Type="http://schemas.openxmlformats.org/officeDocument/2006/relationships/hyperlink" Target="https://rai-inst.com/resources/papers/high-performance-reinforcement-learning-on-spot/" TargetMode="External"/><Relationship Id="rId5" Type="http://schemas.openxmlformats.org/officeDocument/2006/relationships/hyperlink" Target="https://github.com/isaac-sim/IsaacLab/tree/main/source/isaaclab_tasks/isaaclab_tasks/manager_based/locomotion/velocity/config/spot" TargetMode="External"/></Relationships>
</file>

<file path=ppt/slides/_rels/slide3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8.xml"/><Relationship Id="rId3" Type="http://schemas.openxmlformats.org/officeDocument/2006/relationships/image" Target="../media/image299.jpg"/></Relationships>
</file>

<file path=ppt/slides/_rels/slide3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9.xml"/><Relationship Id="rId3" Type="http://schemas.openxmlformats.org/officeDocument/2006/relationships/hyperlink" Target="https://arxiv.org/abs/2602.00401" TargetMode="External"/><Relationship Id="rId4" Type="http://schemas.openxmlformats.org/officeDocument/2006/relationships/hyperlink" Target="https://doi.org/10.1126/scirobotics.aec7695" TargetMode="External"/><Relationship Id="rId5" Type="http://schemas.openxmlformats.org/officeDocument/2006/relationships/hyperlink" Target="https://rai-inst.com/resources/press-release/boston-dynamics-atlas-partnership/" TargetMode="External"/></Relationships>
</file>

<file path=ppt/slides/_rels/slide3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0.xml"/><Relationship Id="rId3" Type="http://schemas.openxmlformats.org/officeDocument/2006/relationships/image" Target="../media/image300.jpg"/></Relationships>
</file>

<file path=ppt/slides/_rels/slide3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1.xml"/><Relationship Id="rId3" Type="http://schemas.openxmlformats.org/officeDocument/2006/relationships/hyperlink" Target="https://bostondynamics.com/blog/large-behavior-models-atlas-find-new-footing/" TargetMode="External"/></Relationships>
</file>

<file path=ppt/slides/_rels/slide3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2.xml"/><Relationship Id="rId3" Type="http://schemas.openxmlformats.org/officeDocument/2006/relationships/image" Target="../media/image301.jpg"/></Relationships>
</file>

<file path=ppt/slides/_rels/slide3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3.xml"/><Relationship Id="rId3" Type="http://schemas.openxmlformats.org/officeDocument/2006/relationships/hyperlink" Target="https://arxiv.org/abs/2602.22118" TargetMode="External"/><Relationship Id="rId4" Type="http://schemas.openxmlformats.org/officeDocument/2006/relationships/hyperlink" Target="https://rai-inst.com/resources/videos/meet-roadrunner-a-bipedal-wheeled-robot-for-multi-modal-locomotion/" TargetMode="External"/></Relationships>
</file>

<file path=ppt/slides/_rels/slide3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4.xml"/><Relationship Id="rId3" Type="http://schemas.openxmlformats.org/officeDocument/2006/relationships/image" Target="../media/image302.jpg"/></Relationships>
</file>

<file path=ppt/slides/_rels/slide3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5.xml"/></Relationships>
</file>

<file path=ppt/slides/_rels/slide3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6.xml"/></Relationships>
</file>

<file path=ppt/slides/_rels/slide3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7.xml"/><Relationship Id="rId3" Type="http://schemas.openxmlformats.org/officeDocument/2006/relationships/hyperlink" Target="https://arxiv.org/abs/2107.04034" TargetMode="External"/><Relationship Id="rId4" Type="http://schemas.openxmlformats.org/officeDocument/2006/relationships/hyperlink" Target="https://ashish-kmr.github.io/rma-legged-robots/" TargetMode="External"/><Relationship Id="rId5" Type="http://schemas.openxmlformats.org/officeDocument/2006/relationships/hyperlink" Target="https://github.com/antonilo/rl_locomotion" TargetMode="External"/><Relationship Id="rId6" Type="http://schemas.openxmlformats.org/officeDocument/2006/relationships/hyperlink" Target="https://arxiv.org/abs/2111.01674" TargetMode="External"/><Relationship Id="rId7" Type="http://schemas.openxmlformats.org/officeDocument/2006/relationships/hyperlink" Target="https://arxiv.org/abs/2312.11460" TargetMode="External"/><Relationship Id="rId8" Type="http://schemas.openxmlformats.org/officeDocument/2006/relationships/hyperlink" Target="https://github.com/InternRobotics/HIMLoco" TargetMode="External"/></Relationships>
</file>

<file path=ppt/slides/_rels/slide3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8.xml"/><Relationship Id="rId3" Type="http://schemas.openxmlformats.org/officeDocument/2006/relationships/image" Target="../media/image303.jpg"/><Relationship Id="rId4" Type="http://schemas.openxmlformats.org/officeDocument/2006/relationships/image" Target="../media/image304.jpg"/></Relationships>
</file>

<file path=ppt/slides/_rels/slide3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9.xml"/></Relationships>
</file>

<file path=ppt/slides/_rels/slide3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0.xml"/><Relationship Id="rId3" Type="http://schemas.openxmlformats.org/officeDocument/2006/relationships/hyperlink" Target="https://arxiv.org/abs/2112.02094" TargetMode="External"/><Relationship Id="rId4" Type="http://schemas.openxmlformats.org/officeDocument/2006/relationships/hyperlink" Target="https://navigation-locomotion.github.io/" TargetMode="External"/><Relationship Id="rId5" Type="http://schemas.openxmlformats.org/officeDocument/2006/relationships/hyperlink" Target="https://github.com/MarkFzp/navigation-locomotion" TargetMode="External"/></Relationships>
</file>

<file path=ppt/slides/_rels/slide3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1.xml"/><Relationship Id="rId3" Type="http://schemas.openxmlformats.org/officeDocument/2006/relationships/image" Target="../media/image305.jpg"/></Relationships>
</file>

<file path=ppt/slides/_rels/slide3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2.xml"/><Relationship Id="rId3" Type="http://schemas.openxmlformats.org/officeDocument/2006/relationships/hyperlink" Target="https://arxiv.org/abs/2211.07638" TargetMode="External"/><Relationship Id="rId4" Type="http://schemas.openxmlformats.org/officeDocument/2006/relationships/hyperlink" Target="https://vision-locomotion.github.io/" TargetMode="External"/><Relationship Id="rId5" Type="http://schemas.openxmlformats.org/officeDocument/2006/relationships/hyperlink" Target="https://arxiv.org/abs/2309.14341" TargetMode="External"/><Relationship Id="rId6" Type="http://schemas.openxmlformats.org/officeDocument/2006/relationships/hyperlink" Target="https://arxiv.org/abs/2309.05665" TargetMode="External"/></Relationships>
</file>

<file path=ppt/slides/_rels/slide3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3.xml"/><Relationship Id="rId3" Type="http://schemas.openxmlformats.org/officeDocument/2006/relationships/image" Target="../media/image306.jpg"/></Relationships>
</file>

<file path=ppt/slides/_rels/slide3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4.xml"/><Relationship Id="rId3" Type="http://schemas.openxmlformats.org/officeDocument/2006/relationships/hyperlink" Target="https://arxiv.org/abs/2509.23745" TargetMode="External"/><Relationship Id="rId4" Type="http://schemas.openxmlformats.org/officeDocument/2006/relationships/hyperlink" Target="https://generalist-locomotion.github.io/" TargetMode="External"/><Relationship Id="rId5" Type="http://schemas.openxmlformats.org/officeDocument/2006/relationships/hyperlink" Target="https://youtu.be/_fQ1FwRj4ME" TargetMode="External"/><Relationship Id="rId6" Type="http://schemas.openxmlformats.org/officeDocument/2006/relationships/image" Target="../media/image307.jpg"/><Relationship Id="rId7" Type="http://schemas.openxmlformats.org/officeDocument/2006/relationships/image" Target="../media/image308.jpg"/></Relationships>
</file>

<file path=ppt/slides/_rels/slide3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5.xml"/><Relationship Id="rId3" Type="http://schemas.openxmlformats.org/officeDocument/2006/relationships/image" Target="../media/image309.png"/><Relationship Id="rId4" Type="http://schemas.openxmlformats.org/officeDocument/2006/relationships/image" Target="../media/image310.png"/><Relationship Id="rId5" Type="http://schemas.openxmlformats.org/officeDocument/2006/relationships/image" Target="../media/image311.png"/></Relationships>
</file>

<file path=ppt/slides/_rels/slide3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6.xml"/><Relationship Id="rId3" Type="http://schemas.openxmlformats.org/officeDocument/2006/relationships/hyperlink" Target="https://github.com/lucidrains/locoformer" TargetMode="External"/><Relationship Id="rId4" Type="http://schemas.openxmlformats.org/officeDocument/2006/relationships/hyperlink" Target="https://github.com/linden713/BabyLocoFormer" TargetMode="External"/><Relationship Id="rId5" Type="http://schemas.openxmlformats.org/officeDocument/2006/relationships/hyperlink" Target="https://arxiv.org/abs/2409.15783" TargetMode="External"/><Relationship Id="rId6" Type="http://schemas.openxmlformats.org/officeDocument/2006/relationships/hyperlink" Target="https://github.com/LeCAR-Lab/anycar" TargetMode="External"/></Relationships>
</file>

<file path=ppt/slides/_rels/slide3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7.xml"/><Relationship Id="rId3" Type="http://schemas.openxmlformats.org/officeDocument/2006/relationships/hyperlink" Target="https://arxiv.org/abs/2608.01506" TargetMode="External"/><Relationship Id="rId4" Type="http://schemas.openxmlformats.org/officeDocument/2006/relationships/hyperlink" Target="https://arxiv.org/abs/2609.23432" TargetMode="External"/><Relationship Id="rId5" Type="http://schemas.openxmlformats.org/officeDocument/2006/relationships/hyperlink" Target="https://arxiv.org/abs/2610.19615" TargetMode="External"/></Relationships>
</file>

<file path=ppt/slides/_rels/slide3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8.xml"/><Relationship Id="rId3" Type="http://schemas.openxmlformats.org/officeDocument/2006/relationships/image" Target="../media/image312.jpg"/><Relationship Id="rId4" Type="http://schemas.openxmlformats.org/officeDocument/2006/relationships/image" Target="../media/image313.jpg"/></Relationships>
</file>

<file path=ppt/slides/_rels/slide3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9.xml"/><Relationship Id="rId3" Type="http://schemas.openxmlformats.org/officeDocument/2006/relationships/hyperlink" Target="https://arxiv.org/abs/2605.01516" TargetMode="External"/></Relationships>
</file>

<file path=ppt/slides/_rels/slide4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0.xml"/></Relationships>
</file>

<file path=ppt/slides/_rels/slide4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1.xml"/><Relationship Id="rId3" Type="http://schemas.openxmlformats.org/officeDocument/2006/relationships/hyperlink" Target="https://www.skild.ai/" TargetMode="External"/><Relationship Id="rId4" Type="http://schemas.openxmlformats.org/officeDocument/2006/relationships/hyperlink" Target="https://www.skild.ai/blogs/building-the-general-purpose-robotic-brain" TargetMode="External"/><Relationship Id="rId5" Type="http://schemas.openxmlformats.org/officeDocument/2006/relationships/hyperlink" Target="https://www.skild.ai/blogs/one-policy-all-scenarios" TargetMode="External"/><Relationship Id="rId6" Type="http://schemas.openxmlformats.org/officeDocument/2006/relationships/hyperlink" Target="https://www.skild.ai/blogs/omni-bodied" TargetMode="External"/><Relationship Id="rId7" Type="http://schemas.openxmlformats.org/officeDocument/2006/relationships/hyperlink" Target="https://techcrunch.com/2026/01/14/robotic-software-maker-skild-ai-hits-14b-valuation/" TargetMode="External"/><Relationship Id="rId8" Type="http://schemas.openxmlformats.org/officeDocument/2006/relationships/hyperlink" Target="https://www.skild.ai/blogs/s1" TargetMode="External"/></Relationships>
</file>

<file path=ppt/slides/_rels/slide4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2.xml"/></Relationships>
</file>

<file path=ppt/slides/_rels/slide4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3.xml"/><Relationship Id="rId3" Type="http://schemas.openxmlformats.org/officeDocument/2006/relationships/image" Target="../media/image314.jpg"/></Relationships>
</file>

<file path=ppt/slides/_rels/slide4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4.xml"/></Relationships>
</file>

<file path=ppt/slides/_rels/slide4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5.xml"/><Relationship Id="rId3" Type="http://schemas.openxmlformats.org/officeDocument/2006/relationships/hyperlink" Target="https://doi.org/10.1109/ICRA.2019.8793865" TargetMode="External"/><Relationship Id="rId4" Type="http://schemas.openxmlformats.org/officeDocument/2006/relationships/hyperlink" Target="https://github.com/mit-biomimetics/Cheetah-Software" TargetMode="External"/><Relationship Id="rId5" Type="http://schemas.openxmlformats.org/officeDocument/2006/relationships/hyperlink" Target="https://doi.org/10.1109/IROS.2018.8594448" TargetMode="External"/><Relationship Id="rId6" Type="http://schemas.openxmlformats.org/officeDocument/2006/relationships/hyperlink" Target="https://arxiv.org/abs/2205.02824" TargetMode="External"/><Relationship Id="rId7" Type="http://schemas.openxmlformats.org/officeDocument/2006/relationships/hyperlink" Target="https://doi.org/10.1177/02783649231224053" TargetMode="External"/><Relationship Id="rId8" Type="http://schemas.openxmlformats.org/officeDocument/2006/relationships/hyperlink" Target="https://agility.csail.mit.edu/" TargetMode="External"/><Relationship Id="rId9" Type="http://schemas.openxmlformats.org/officeDocument/2006/relationships/hyperlink" Target="https://github.com/Improbable-AI/rapid-locomotion-rl" TargetMode="External"/><Relationship Id="rId10" Type="http://schemas.openxmlformats.org/officeDocument/2006/relationships/hyperlink" Target="https://arxiv.org/abs/2212.03238" TargetMode="External"/></Relationships>
</file>

<file path=ppt/slides/_rels/slide4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6.xml"/><Relationship Id="rId3" Type="http://schemas.openxmlformats.org/officeDocument/2006/relationships/image" Target="../media/image315.jpg"/></Relationships>
</file>

<file path=ppt/slides/_rels/slide4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7.xml"/><Relationship Id="rId3" Type="http://schemas.openxmlformats.org/officeDocument/2006/relationships/hyperlink" Target="https://arxiv.org/abs/2304.01159" TargetMode="External"/><Relationship Id="rId4" Type="http://schemas.openxmlformats.org/officeDocument/2006/relationships/hyperlink" Target="https://gmargo11.github.io/dribblebot/" TargetMode="External"/><Relationship Id="rId5" Type="http://schemas.openxmlformats.org/officeDocument/2006/relationships/hyperlink" Target="https://github.com/Improbable-AI/dribblebot" TargetMode="External"/></Relationships>
</file>

<file path=ppt/slides/_rels/slide4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8.xml"/><Relationship Id="rId3" Type="http://schemas.openxmlformats.org/officeDocument/2006/relationships/image" Target="../media/image316.jpg"/></Relationships>
</file>

<file path=ppt/slides/_rels/slide4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9.xml"/><Relationship Id="rId3" Type="http://schemas.openxmlformats.org/officeDocument/2006/relationships/hyperlink" Target="https://arxiv.org/abs/2311.01405" TargetMode="External"/><Relationship Id="rId4" Type="http://schemas.openxmlformats.org/officeDocument/2006/relationships/hyperlink" Target="https://arxiv.org/abs/2202.05481" TargetMode="External"/><Relationship Id="rId5" Type="http://schemas.openxmlformats.org/officeDocument/2006/relationships/hyperlink" Target="https://arxiv.org/abs/2204.08647" TargetMode="External"/><Relationship Id="rId6" Type="http://schemas.openxmlformats.org/officeDocument/2006/relationships/hyperlink" Target="https://arxiv.org/abs/2309.02745" TargetMode="External"/><Relationship Id="rId7" Type="http://schemas.openxmlformats.org/officeDocument/2006/relationships/hyperlink" Target="https://doi.org/10.1109/LRA.2024.3371910" TargetMode="External"/><Relationship Id="rId8" Type="http://schemas.openxmlformats.org/officeDocument/2006/relationships/hyperlink" Target="https://arxiv.org/abs/2506.02835" TargetMode="External"/><Relationship Id="rId9" Type="http://schemas.openxmlformats.org/officeDocument/2006/relationships/hyperlink" Target="https://doi.org/10.1126/scirobotics.ade2256" TargetMode="External"/><Relationship Id="rId10" Type="http://schemas.openxmlformats.org/officeDocument/2006/relationships/hyperlink" Target="https://news.kaist.ac.kr/newsen/html/news/?mode=V&amp;mng_no=26590" TargetMode="External"/></Relationships>
</file>

<file path=ppt/slides/_rels/slide4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0.xml"/><Relationship Id="rId3" Type="http://schemas.openxmlformats.org/officeDocument/2006/relationships/image" Target="../media/image317.jpg"/><Relationship Id="rId4" Type="http://schemas.openxmlformats.org/officeDocument/2006/relationships/image" Target="../media/image318.jpg"/></Relationships>
</file>

<file path=ppt/slides/_rels/slide4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1.xml"/><Relationship Id="rId3" Type="http://schemas.openxmlformats.org/officeDocument/2006/relationships/hyperlink" Target="https://arxiv.org/abs/2608.19955" TargetMode="External"/></Relationships>
</file>

<file path=ppt/slides/_rels/slide4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2.xml"/><Relationship Id="rId3" Type="http://schemas.openxmlformats.org/officeDocument/2006/relationships/hyperlink" Target="https://doi.org/10.1038/s41586-026-11102-5" TargetMode="External"/><Relationship Id="rId4" Type="http://schemas.openxmlformats.org/officeDocument/2006/relationships/hyperlink" Target="https://doi.org/10.21203/rs.3.rs-6040970/v1" TargetMode="External"/><Relationship Id="rId5" Type="http://schemas.openxmlformats.org/officeDocument/2006/relationships/hyperlink" Target="https://news.kaist.ac.kr/news/html/news/?mode=V&amp;mng_no=67550" TargetMode="External"/><Relationship Id="rId6" Type="http://schemas.openxmlformats.org/officeDocument/2006/relationships/hyperlink" Target="https://github.com/railabatkaist/raisimGym_nature" TargetMode="External"/></Relationships>
</file>

<file path=ppt/slides/_rels/slide4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3.xml"/><Relationship Id="rId3" Type="http://schemas.openxmlformats.org/officeDocument/2006/relationships/image" Target="../media/image319.jpg"/></Relationships>
</file>

<file path=ppt/slides/_rels/slide4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4.xml"/><Relationship Id="rId3" Type="http://schemas.openxmlformats.org/officeDocument/2006/relationships/hyperlink" Target="https://arxiv.org/abs/2401.17583" TargetMode="External"/><Relationship Id="rId4" Type="http://schemas.openxmlformats.org/officeDocument/2006/relationships/hyperlink" Target="https://agile-but-safe.github.io/" TargetMode="External"/><Relationship Id="rId5" Type="http://schemas.openxmlformats.org/officeDocument/2006/relationships/hyperlink" Target="https://github.com/LeCAR-Lab/ABS" TargetMode="External"/></Relationships>
</file>

<file path=ppt/slides/_rels/slide4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5.xml"/><Relationship Id="rId3" Type="http://schemas.openxmlformats.org/officeDocument/2006/relationships/image" Target="../media/image320.jpg"/><Relationship Id="rId4" Type="http://schemas.openxmlformats.org/officeDocument/2006/relationships/image" Target="../media/image321.jpg"/></Relationships>
</file>

<file path=ppt/slides/_rels/slide4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6.xml"/><Relationship Id="rId3" Type="http://schemas.openxmlformats.org/officeDocument/2006/relationships/image" Target="../media/image322.png"/><Relationship Id="rId4" Type="http://schemas.openxmlformats.org/officeDocument/2006/relationships/image" Target="../media/image323.png"/><Relationship Id="rId5" Type="http://schemas.openxmlformats.org/officeDocument/2006/relationships/image" Target="../media/image324.png"/></Relationships>
</file>

<file path=ppt/slides/_rels/slide4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7.xml"/><Relationship Id="rId3" Type="http://schemas.openxmlformats.org/officeDocument/2006/relationships/hyperlink" Target="https://www.unitree.com/go2" TargetMode="External"/><Relationship Id="rId4" Type="http://schemas.openxmlformats.org/officeDocument/2006/relationships/hyperlink" Target="https://www.unitree.com/go2-w" TargetMode="External"/><Relationship Id="rId5" Type="http://schemas.openxmlformats.org/officeDocument/2006/relationships/hyperlink" Target="https://github.com/unitreerobotics/unitree_rl_gym" TargetMode="External"/><Relationship Id="rId6" Type="http://schemas.openxmlformats.org/officeDocument/2006/relationships/hyperlink" Target="https://github.com/unitreerobotics/unitree_rl_lab" TargetMode="External"/></Relationships>
</file>

<file path=ppt/slides/_rels/slide4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8.xml"/><Relationship Id="rId3" Type="http://schemas.openxmlformats.org/officeDocument/2006/relationships/image" Target="../media/image325.jpg"/></Relationships>
</file>

<file path=ppt/slides/_rels/slide4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9.xml"/></Relationships>
</file>

<file path=ppt/slides/_rels/slide4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0.xml"/></Relationships>
</file>

<file path=ppt/slides/_rels/slide4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1.xml"/></Relationships>
</file>

<file path=ppt/slides/_rels/slide4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2.xml"/><Relationship Id="rId3" Type="http://schemas.openxmlformats.org/officeDocument/2006/relationships/hyperlink" Target="https://arxiv.org/abs/2303.03381" TargetMode="External"/><Relationship Id="rId4" Type="http://schemas.openxmlformats.org/officeDocument/2006/relationships/hyperlink" Target="https://doi.org/10.1126/scirobotics.adi9579" TargetMode="External"/><Relationship Id="rId5" Type="http://schemas.openxmlformats.org/officeDocument/2006/relationships/hyperlink" Target="https://learning-humanoid-locomotion.github.io" TargetMode="External"/></Relationships>
</file>

<file path=ppt/slides/_rels/slide4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3.xml"/><Relationship Id="rId3" Type="http://schemas.openxmlformats.org/officeDocument/2006/relationships/image" Target="../media/image326.jpg"/><Relationship Id="rId4" Type="http://schemas.openxmlformats.org/officeDocument/2006/relationships/image" Target="../media/image327.jpg"/></Relationships>
</file>

<file path=ppt/slides/_rels/slide4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4.xml"/><Relationship Id="rId3" Type="http://schemas.openxmlformats.org/officeDocument/2006/relationships/image" Target="../media/image328.png"/></Relationships>
</file>

<file path=ppt/slides/_rels/slide4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5.xml"/><Relationship Id="rId3" Type="http://schemas.openxmlformats.org/officeDocument/2006/relationships/hyperlink" Target="https://arxiv.org/abs/2401.16889" TargetMode="External"/><Relationship Id="rId4" Type="http://schemas.openxmlformats.org/officeDocument/2006/relationships/hyperlink" Target="https://doi.org/10.1177/02783649241285161" TargetMode="External"/><Relationship Id="rId5" Type="http://schemas.openxmlformats.org/officeDocument/2006/relationships/hyperlink" Target="https://github.com/HybridRobotics/cassie_rl_walking" TargetMode="External"/><Relationship Id="rId6" Type="http://schemas.openxmlformats.org/officeDocument/2006/relationships/image" Target="../media/image329.jpg"/></Relationships>
</file>

<file path=ppt/slides/_rels/slide4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6.xml"/><Relationship Id="rId3" Type="http://schemas.openxmlformats.org/officeDocument/2006/relationships/hyperlink" Target="https://arxiv.org/abs/2402.19469" TargetMode="External"/><Relationship Id="rId4" Type="http://schemas.openxmlformats.org/officeDocument/2006/relationships/hyperlink" Target="https://humanoid-next-token-prediction.github.io" TargetMode="External"/></Relationships>
</file>

<file path=ppt/slides/_rels/slide4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7.xml"/><Relationship Id="rId3" Type="http://schemas.openxmlformats.org/officeDocument/2006/relationships/image" Target="../media/image330.jpg"/></Relationships>
</file>

<file path=ppt/slides/_rels/slide4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8.xml"/><Relationship Id="rId3" Type="http://schemas.openxmlformats.org/officeDocument/2006/relationships/hyperlink" Target="https://arxiv.org/abs/2407.21781" TargetMode="External"/><Relationship Id="rId4" Type="http://schemas.openxmlformats.org/officeDocument/2006/relationships/hyperlink" Target="https://berkeley-humanoid.com" TargetMode="External"/><Relationship Id="rId5" Type="http://schemas.openxmlformats.org/officeDocument/2006/relationships/hyperlink" Target="https://github.com/HybridRobotics/isaac_berkeley_humanoid" TargetMode="External"/><Relationship Id="rId6" Type="http://schemas.openxmlformats.org/officeDocument/2006/relationships/hyperlink" Target="https://arxiv.org/abs/2504.17249" TargetMode="External"/></Relationships>
</file>

<file path=ppt/slides/_rels/slide4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9.xml"/><Relationship Id="rId3" Type="http://schemas.openxmlformats.org/officeDocument/2006/relationships/image" Target="../media/image331.jpg"/></Relationships>
</file>

<file path=ppt/slides/_rels/slide4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0.xml"/><Relationship Id="rId3" Type="http://schemas.openxmlformats.org/officeDocument/2006/relationships/hyperlink" Target="https://arxiv.org/abs/2410.03654" TargetMode="External"/><Relationship Id="rId4" Type="http://schemas.openxmlformats.org/officeDocument/2006/relationships/hyperlink" Target="https://humanoid-challenging-terrain.github.io" TargetMode="External"/></Relationships>
</file>

<file path=ppt/slides/_rels/slide4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1.xml"/><Relationship Id="rId3" Type="http://schemas.openxmlformats.org/officeDocument/2006/relationships/image" Target="../media/image332.jpg"/></Relationships>
</file>

<file path=ppt/slides/_rels/slide4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2.xml"/><Relationship Id="rId3" Type="http://schemas.openxmlformats.org/officeDocument/2006/relationships/hyperlink" Target="https://www.agilityrobotics.com/content/crossing-sim2real-gap-with-isaaclab" TargetMode="External"/><Relationship Id="rId4" Type="http://schemas.openxmlformats.org/officeDocument/2006/relationships/hyperlink" Target="https://www.agilityrobotics.com/content/training-a-whole-body-control-foundation-model" TargetMode="External"/><Relationship Id="rId5" Type="http://schemas.openxmlformats.org/officeDocument/2006/relationships/hyperlink" Target="https://www.agilityrobotics.com/content/agility-and-ai" TargetMode="External"/><Relationship Id="rId6" Type="http://schemas.openxmlformats.org/officeDocument/2006/relationships/hyperlink" Target="https://arxiv.org/abs/2011.01387" TargetMode="External"/><Relationship Id="rId7" Type="http://schemas.openxmlformats.org/officeDocument/2006/relationships/hyperlink" Target="https://arxiv.org/abs/2105.08328" TargetMode="External"/></Relationships>
</file>

<file path=ppt/slides/_rels/slide4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3.xml"/><Relationship Id="rId3" Type="http://schemas.openxmlformats.org/officeDocument/2006/relationships/image" Target="../media/image333.jpg"/></Relationships>
</file>

<file path=ppt/slides/_rels/slide4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4.xml"/><Relationship Id="rId3" Type="http://schemas.openxmlformats.org/officeDocument/2006/relationships/hyperlink" Target="https://arxiv.org/abs/2402.16796" TargetMode="External"/><Relationship Id="rId4" Type="http://schemas.openxmlformats.org/officeDocument/2006/relationships/hyperlink" Target="https://expressive-humanoid.github.io" TargetMode="External"/><Relationship Id="rId5" Type="http://schemas.openxmlformats.org/officeDocument/2006/relationships/hyperlink" Target="https://github.com/chengxuxin/expressive-humanoid" TargetMode="External"/></Relationships>
</file>

<file path=ppt/slides/_rels/slide4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5.xml"/><Relationship Id="rId3" Type="http://schemas.openxmlformats.org/officeDocument/2006/relationships/image" Target="../media/image334.jpg"/></Relationships>
</file>

<file path=ppt/slides/_rels/slide4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6.xml"/><Relationship Id="rId3" Type="http://schemas.openxmlformats.org/officeDocument/2006/relationships/hyperlink" Target="https://arxiv.org/abs/2403.04436" TargetMode="External"/><Relationship Id="rId4" Type="http://schemas.openxmlformats.org/officeDocument/2006/relationships/hyperlink" Target="https://human2humanoid.com" TargetMode="External"/><Relationship Id="rId5" Type="http://schemas.openxmlformats.org/officeDocument/2006/relationships/hyperlink" Target="https://github.com/LeCAR-Lab/human2humanoid" TargetMode="External"/></Relationships>
</file>

<file path=ppt/slides/_rels/slide4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7.xml"/><Relationship Id="rId3" Type="http://schemas.openxmlformats.org/officeDocument/2006/relationships/image" Target="../media/image335.jpg"/></Relationships>
</file>

<file path=ppt/slides/_rels/slide4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8.xml"/><Relationship Id="rId3" Type="http://schemas.openxmlformats.org/officeDocument/2006/relationships/hyperlink" Target="https://arxiv.org/abs/2406.08858" TargetMode="External"/><Relationship Id="rId4" Type="http://schemas.openxmlformats.org/officeDocument/2006/relationships/hyperlink" Target="https://omni.human2humanoid.com" TargetMode="External"/><Relationship Id="rId5" Type="http://schemas.openxmlformats.org/officeDocument/2006/relationships/hyperlink" Target="https://github.com/LeCAR-Lab/human2humanoid" TargetMode="External"/><Relationship Id="rId6" Type="http://schemas.openxmlformats.org/officeDocument/2006/relationships/image" Target="../media/image336.jpg"/></Relationships>
</file>

<file path=ppt/slides/_rels/slide4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9.xml"/><Relationship Id="rId3" Type="http://schemas.openxmlformats.org/officeDocument/2006/relationships/hyperlink" Target="https://arxiv.org/abs/2406.10454" TargetMode="External"/><Relationship Id="rId4" Type="http://schemas.openxmlformats.org/officeDocument/2006/relationships/hyperlink" Target="https://humanoid-ai.github.io" TargetMode="External"/><Relationship Id="rId5" Type="http://schemas.openxmlformats.org/officeDocument/2006/relationships/hyperlink" Target="https://github.com/MarkFzp/humanplus" TargetMode="External"/></Relationships>
</file>

<file path=ppt/slides/_rels/slide4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0.xml"/><Relationship Id="rId3" Type="http://schemas.openxmlformats.org/officeDocument/2006/relationships/image" Target="../media/image337.jpg"/></Relationships>
</file>

<file path=ppt/slides/_rels/slide4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1.xml"/><Relationship Id="rId3" Type="http://schemas.openxmlformats.org/officeDocument/2006/relationships/hyperlink" Target="https://arxiv.org/abs/2412.13196" TargetMode="External"/><Relationship Id="rId4" Type="http://schemas.openxmlformats.org/officeDocument/2006/relationships/hyperlink" Target="https://exbody2.github.io" TargetMode="External"/><Relationship Id="rId5" Type="http://schemas.openxmlformats.org/officeDocument/2006/relationships/hyperlink" Target="https://arxiv.org/abs/2505.03738" TargetMode="External"/><Relationship Id="rId6" Type="http://schemas.openxmlformats.org/officeDocument/2006/relationships/hyperlink" Target="https://arxiv.org/abs/2506.14770" TargetMode="External"/></Relationships>
</file>

<file path=ppt/slides/_rels/slide4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2.xml"/><Relationship Id="rId3" Type="http://schemas.openxmlformats.org/officeDocument/2006/relationships/image" Target="../media/image338.jpg"/></Relationships>
</file>

<file path=ppt/slides/_rels/slide4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3.xml"/><Relationship Id="rId3" Type="http://schemas.openxmlformats.org/officeDocument/2006/relationships/hyperlink" Target="https://arxiv.org/abs/2502.01143" TargetMode="External"/><Relationship Id="rId4" Type="http://schemas.openxmlformats.org/officeDocument/2006/relationships/hyperlink" Target="https://agile.human2humanoid.com" TargetMode="External"/><Relationship Id="rId5" Type="http://schemas.openxmlformats.org/officeDocument/2006/relationships/hyperlink" Target="https://github.com/LeCAR-Lab/ASAP" TargetMode="External"/></Relationships>
</file>

<file path=ppt/slides/_rels/slide4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4.xml"/><Relationship Id="rId3" Type="http://schemas.openxmlformats.org/officeDocument/2006/relationships/image" Target="../media/image339.jpg"/><Relationship Id="rId4" Type="http://schemas.openxmlformats.org/officeDocument/2006/relationships/image" Target="../media/image340.jpg"/></Relationships>
</file>

<file path=ppt/slides/_rels/slide4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5.xml"/><Relationship Id="rId3" Type="http://schemas.openxmlformats.org/officeDocument/2006/relationships/image" Target="../media/image341.png"/><Relationship Id="rId4" Type="http://schemas.openxmlformats.org/officeDocument/2006/relationships/image" Target="../media/image342.png"/></Relationships>
</file>

<file path=ppt/slides/_rels/slide4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6.xml"/><Relationship Id="rId3" Type="http://schemas.openxmlformats.org/officeDocument/2006/relationships/hyperlink" Target="https://arxiv.org/abs/2602.02473" TargetMode="External"/><Relationship Id="rId4" Type="http://schemas.openxmlformats.org/officeDocument/2006/relationships/hyperlink" Target="https://wyhuai.github.io/human-x/" TargetMode="External"/><Relationship Id="rId5" Type="http://schemas.openxmlformats.org/officeDocument/2006/relationships/hyperlink" Target="https://github.com/wyhuai/HumanX" TargetMode="External"/></Relationships>
</file>

<file path=ppt/slides/_rels/slide4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7.xml"/><Relationship Id="rId3" Type="http://schemas.openxmlformats.org/officeDocument/2006/relationships/image" Target="../media/image343.jpg"/><Relationship Id="rId4" Type="http://schemas.openxmlformats.org/officeDocument/2006/relationships/image" Target="../media/image344.jpg"/></Relationships>
</file>

<file path=ppt/slides/_rels/slide4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8.xml"/><Relationship Id="rId3" Type="http://schemas.openxmlformats.org/officeDocument/2006/relationships/image" Target="../media/image345.jpg"/></Relationships>
</file>

<file path=ppt/slides/_rels/slide4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9.xml"/><Relationship Id="rId3" Type="http://schemas.openxmlformats.org/officeDocument/2006/relationships/hyperlink" Target="https://arxiv.org/abs/2406.10759" TargetMode="External"/><Relationship Id="rId4" Type="http://schemas.openxmlformats.org/officeDocument/2006/relationships/hyperlink" Target="https://humanoid4parkour.github.io" TargetMode="External"/></Relationships>
</file>

<file path=ppt/slides/_rels/slide4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0.xml"/><Relationship Id="rId3" Type="http://schemas.openxmlformats.org/officeDocument/2006/relationships/image" Target="../media/image346.jpg"/></Relationships>
</file>

<file path=ppt/slides/_rels/slide4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1.xml"/><Relationship Id="rId3" Type="http://schemas.openxmlformats.org/officeDocument/2006/relationships/hyperlink" Target="https://arxiv.org/abs/2505.03729" TargetMode="External"/><Relationship Id="rId4" Type="http://schemas.openxmlformats.org/officeDocument/2006/relationships/hyperlink" Target="https://www.videomimic.net" TargetMode="External"/><Relationship Id="rId5" Type="http://schemas.openxmlformats.org/officeDocument/2006/relationships/hyperlink" Target="https://github.com/hongsukchoi/VideoMimic" TargetMode="External"/></Relationships>
</file>

<file path=ppt/slides/_rels/slide4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2.xml"/><Relationship Id="rId3" Type="http://schemas.openxmlformats.org/officeDocument/2006/relationships/image" Target="../media/image347.jpg"/></Relationships>
</file>

<file path=ppt/slides/_rels/slide4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3.xml"/><Relationship Id="rId3" Type="http://schemas.openxmlformats.org/officeDocument/2006/relationships/hyperlink" Target="https://arxiv.org/abs/2508.08241" TargetMode="External"/><Relationship Id="rId4" Type="http://schemas.openxmlformats.org/officeDocument/2006/relationships/hyperlink" Target="https://doi.org/10.1126/scirobotics.adx8924" TargetMode="External"/><Relationship Id="rId5" Type="http://schemas.openxmlformats.org/officeDocument/2006/relationships/hyperlink" Target="https://beyondmimic.github.io" TargetMode="External"/><Relationship Id="rId6" Type="http://schemas.openxmlformats.org/officeDocument/2006/relationships/hyperlink" Target="https://github.com/HybridRobotics/whole_body_tracking" TargetMode="External"/></Relationships>
</file>

<file path=ppt/slides/_rels/slide4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4.xml"/><Relationship Id="rId3" Type="http://schemas.openxmlformats.org/officeDocument/2006/relationships/image" Target="../media/image348.jpg"/><Relationship Id="rId4" Type="http://schemas.openxmlformats.org/officeDocument/2006/relationships/image" Target="../media/image349.jpg"/></Relationships>
</file>

<file path=ppt/slides/_rels/slide4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5.xml"/><Relationship Id="rId3" Type="http://schemas.openxmlformats.org/officeDocument/2006/relationships/image" Target="../media/image350.png"/></Relationships>
</file>

<file path=ppt/slides/_rels/slide4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6.xml"/><Relationship Id="rId3" Type="http://schemas.openxmlformats.org/officeDocument/2006/relationships/hyperlink" Target="https://arxiv.org/abs/2602.15827" TargetMode="External"/><Relationship Id="rId4" Type="http://schemas.openxmlformats.org/officeDocument/2006/relationships/hyperlink" Target="https://php-parkour.github.io" TargetMode="External"/><Relationship Id="rId5" Type="http://schemas.openxmlformats.org/officeDocument/2006/relationships/hyperlink" Target="https://github.com/amazon-far/php_parkour" TargetMode="External"/></Relationships>
</file>

<file path=ppt/slides/_rels/slide4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7.xml"/><Relationship Id="rId3" Type="http://schemas.openxmlformats.org/officeDocument/2006/relationships/image" Target="../media/image351.jpg"/><Relationship Id="rId4" Type="http://schemas.openxmlformats.org/officeDocument/2006/relationships/image" Target="../media/image352.jpg"/></Relationships>
</file>

<file path=ppt/slides/_rels/slide4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8.xml"/><Relationship Id="rId3" Type="http://schemas.openxmlformats.org/officeDocument/2006/relationships/image" Target="../media/image353.png"/><Relationship Id="rId4" Type="http://schemas.openxmlformats.org/officeDocument/2006/relationships/image" Target="../media/image354.png"/></Relationships>
</file>

<file path=ppt/slides/_rels/slide4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9.xml"/></Relationships>
</file>

<file path=ppt/slides/_rels/slide4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0.xml"/><Relationship Id="rId3" Type="http://schemas.openxmlformats.org/officeDocument/2006/relationships/hyperlink" Target="https://arxiv.org/abs/2609.18732" TargetMode="External"/><Relationship Id="rId4" Type="http://schemas.openxmlformats.org/officeDocument/2006/relationships/hyperlink" Target="https://galaxygeneralrobotics.github.io/PASSAGE/" TargetMode="External"/></Relationships>
</file>

<file path=ppt/slides/_rels/slide4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1.xml"/><Relationship Id="rId3" Type="http://schemas.openxmlformats.org/officeDocument/2006/relationships/image" Target="../media/image355.jpg"/></Relationships>
</file>

<file path=ppt/slides/_rels/slide4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2.xml"/></Relationships>
</file>

<file path=ppt/slides/_rels/slide4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3.xml"/><Relationship Id="rId3" Type="http://schemas.openxmlformats.org/officeDocument/2006/relationships/image" Target="../media/image356.jpg"/></Relationships>
</file>

<file path=ppt/slides/_rels/slide4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4.xml"/><Relationship Id="rId3" Type="http://schemas.openxmlformats.org/officeDocument/2006/relationships/hyperlink" Target="https://arxiv.org/abs/2609.39000" TargetMode="External"/><Relationship Id="rId4" Type="http://schemas.openxmlformats.org/officeDocument/2006/relationships/hyperlink" Target="https://nexus-humanoid.github.io/" TargetMode="External"/><Relationship Id="rId5" Type="http://schemas.openxmlformats.org/officeDocument/2006/relationships/hyperlink" Target="https://github.com/Gamma-Robot/NEXUS" TargetMode="External"/></Relationships>
</file>

<file path=ppt/slides/_rels/slide4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5.xml"/><Relationship Id="rId3" Type="http://schemas.openxmlformats.org/officeDocument/2006/relationships/image" Target="../media/image357.jpg"/><Relationship Id="rId4" Type="http://schemas.openxmlformats.org/officeDocument/2006/relationships/image" Target="../media/image358.jpg"/></Relationships>
</file>

<file path=ppt/slides/_rels/slide4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6.xml"/><Relationship Id="rId3" Type="http://schemas.openxmlformats.org/officeDocument/2006/relationships/image" Target="../media/image359.png"/><Relationship Id="rId4" Type="http://schemas.openxmlformats.org/officeDocument/2006/relationships/image" Target="../media/image360.png"/><Relationship Id="rId5" Type="http://schemas.openxmlformats.org/officeDocument/2006/relationships/image" Target="../media/image361.png"/></Relationships>
</file>

<file path=ppt/slides/_rels/slide4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7.xml"/><Relationship Id="rId3" Type="http://schemas.openxmlformats.org/officeDocument/2006/relationships/hyperlink" Target="https://www.unitree.com/g1/" TargetMode="External"/><Relationship Id="rId4" Type="http://schemas.openxmlformats.org/officeDocument/2006/relationships/hyperlink" Target="https://www.unitree.com/h1/" TargetMode="External"/></Relationships>
</file>

<file path=ppt/slides/_rels/slide4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8.xml"/></Relationships>
</file>

<file path=ppt/slides/_rels/slide4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9.xml"/></Relationships>
</file>

<file path=ppt/slides/_rels/slide4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0.xml"/></Relationships>
</file>

<file path=ppt/slides/_rels/slide4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1.xml"/></Relationships>
</file>

<file path=ppt/slides/_rels/slide4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2.xml"/></Relationships>
</file>

<file path=ppt/slides/_rels/slide4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3.xml"/></Relationships>
</file>

<file path=ppt/slides/_rels/slide4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4.xml"/><Relationship Id="rId3" Type="http://schemas.openxmlformats.org/officeDocument/2006/relationships/hyperlink" Target="https://github.com/jizhang-cmu/autonomy_stack_mecanum_wheel_platform" TargetMode="External"/><Relationship Id="rId4" Type="http://schemas.openxmlformats.org/officeDocument/2006/relationships/hyperlink" Target="https://github.com/jizhang-cmu/autonomy_stack_go2" TargetMode="External"/><Relationship Id="rId5" Type="http://schemas.openxmlformats.org/officeDocument/2006/relationships/hyperlink" Target="https://github.com/jizhang-cmu/autonomy_stack_diablo_setup" TargetMode="External"/></Relationships>
</file>

<file path=ppt/slides/_rels/slide4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5.xml"/><Relationship Id="rId3" Type="http://schemas.openxmlformats.org/officeDocument/2006/relationships/image" Target="../media/image362.jpg"/></Relationships>
</file>

<file path=ppt/slides/_rels/slide4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6.xml"/><Relationship Id="rId3" Type="http://schemas.openxmlformats.org/officeDocument/2006/relationships/hyperlink" Target="https://arxiv.org/abs/2606.23249" TargetMode="External"/></Relationships>
</file>

<file path=ppt/slides/_rels/slide4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7.xml"/><Relationship Id="rId3" Type="http://schemas.openxmlformats.org/officeDocument/2006/relationships/image" Target="../media/image363.jpg"/></Relationships>
</file>

<file path=ppt/slides/_rels/slide4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8.xml"/><Relationship Id="rId3" Type="http://schemas.openxmlformats.org/officeDocument/2006/relationships/hyperlink" Target="https://arxiv.org/abs/2601.12790" TargetMode="External"/><Relationship Id="rId4" Type="http://schemas.openxmlformats.org/officeDocument/2006/relationships/hyperlink" Target="https://arxiv.org/abs/2606.00637" TargetMode="External"/><Relationship Id="rId5" Type="http://schemas.openxmlformats.org/officeDocument/2006/relationships/hyperlink" Target="https://arxiv.org/abs/2601.17440" TargetMode="External"/><Relationship Id="rId6" Type="http://schemas.openxmlformats.org/officeDocument/2006/relationships/hyperlink" Target="https://arxiv.org/abs/2508.07611" TargetMode="External"/></Relationships>
</file>

<file path=ppt/slides/_rels/slide4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9.xml"/><Relationship Id="rId3" Type="http://schemas.openxmlformats.org/officeDocument/2006/relationships/hyperlink" Target="https://doi.org/10.1109/LRA.2026.3734869" TargetMode="External"/><Relationship Id="rId4" Type="http://schemas.openxmlformats.org/officeDocument/2006/relationships/image" Target="../media/image364.png"/><Relationship Id="rId5" Type="http://schemas.openxmlformats.org/officeDocument/2006/relationships/hyperlink" Target="https://arxiv.org/abs/2511.19709" TargetMode="External"/><Relationship Id="rId6" Type="http://schemas.openxmlformats.org/officeDocument/2006/relationships/hyperlink" Target="https://arxiv.org/abs/2604.07457" TargetMode="External"/><Relationship Id="rId7" Type="http://schemas.openxmlformats.org/officeDocument/2006/relationships/hyperlink" Target="https://shepherd1226.github.io/CMP/" TargetMode="External"/><Relationship Id="rId8" Type="http://schemas.openxmlformats.org/officeDocument/2006/relationships/image" Target="../media/image365.png"/></Relationships>
</file>

<file path=ppt/slides/_rels/slide4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0.xml"/><Relationship Id="rId3" Type="http://schemas.openxmlformats.org/officeDocument/2006/relationships/image" Target="../media/image366.jpg"/></Relationships>
</file>

<file path=ppt/slides/_rels/slide4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1.xml"/><Relationship Id="rId3" Type="http://schemas.openxmlformats.org/officeDocument/2006/relationships/hyperlink" Target="https://arxiv.org/abs/2610.24675" TargetMode="External"/><Relationship Id="rId4" Type="http://schemas.openxmlformats.org/officeDocument/2006/relationships/hyperlink" Target="https://fiberaa.github.io/" TargetMode="External"/></Relationships>
</file>

<file path=ppt/slides/_rels/slide4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2.xml"/></Relationships>
</file>

<file path=ppt/slides/_rels/slide4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3.xml"/><Relationship Id="rId3" Type="http://schemas.openxmlformats.org/officeDocument/2006/relationships/hyperlink" Target="https://geonhee-lee.github.io/Elastic-Tracker/lineage.html#domains" TargetMode="External"/></Relationships>
</file>

<file path=ppt/slides/_rels/slide4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4.xml"/><Relationship Id="rId3" Type="http://schemas.openxmlformats.org/officeDocument/2006/relationships/hyperlink" Target="https://arxiv.org/abs/2202.07008" TargetMode="External"/><Relationship Id="rId4" Type="http://schemas.openxmlformats.org/officeDocument/2006/relationships/hyperlink" Target="https://arxiv.org/abs/2602.08571" TargetMode="External"/><Relationship Id="rId5" Type="http://schemas.openxmlformats.org/officeDocument/2006/relationships/hyperlink" Target="https://arxiv.org/abs/2310.18112" TargetMode="External"/><Relationship Id="rId6" Type="http://schemas.openxmlformats.org/officeDocument/2006/relationships/hyperlink" Target="https://arxiv.org/abs/2303.09463" TargetMode="External"/><Relationship Id="rId7" Type="http://schemas.openxmlformats.org/officeDocument/2006/relationships/hyperlink" Target="https://arxiv.org/abs/2403.11784" TargetMode="External"/><Relationship Id="rId8" Type="http://schemas.openxmlformats.org/officeDocument/2006/relationships/hyperlink" Target="https://arxiv.org/abs/2402.18558" TargetMode="External"/><Relationship Id="rId9" Type="http://schemas.openxmlformats.org/officeDocument/2006/relationships/hyperlink" Target="https://www.nature.com/articles/s41586-021-04357-7" TargetMode="External"/><Relationship Id="rId10" Type="http://schemas.openxmlformats.org/officeDocument/2006/relationships/hyperlink" Target="https://www.tii.ae/news/world-first-autonomous-racing-leaps-forward-abu-dhabi-a2rl-season-2-showcases-record-speed" TargetMode="External"/><Relationship Id="rId11" Type="http://schemas.openxmlformats.org/officeDocument/2006/relationships/hyperlink" Target="https://arxiv.org/abs/2607.25388" TargetMode="External"/><Relationship Id="rId12" Type="http://schemas.openxmlformats.org/officeDocument/2006/relationships/hyperlink" Target="https://arxiv.org/abs/2501.17311" TargetMode="External"/><Relationship Id="rId13" Type="http://schemas.openxmlformats.org/officeDocument/2006/relationships/hyperlink" Target="https://arxiv.org/abs/2608.10618" TargetMode="External"/><Relationship Id="rId14" Type="http://schemas.openxmlformats.org/officeDocument/2006/relationships/hyperlink" Target="https://arxiv.org/abs/2512.06892" TargetMode="External"/></Relationships>
</file>

<file path=ppt/slides/_rels/slide4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5.xml"/><Relationship Id="rId3" Type="http://schemas.openxmlformats.org/officeDocument/2006/relationships/hyperlink" Target="https://arxiv.org/abs/2401.13078" TargetMode="External"/><Relationship Id="rId4" Type="http://schemas.openxmlformats.org/officeDocument/2006/relationships/hyperlink" Target="https://github.com/ros-navigation/navigation2/blob/main/nav2_bringup/params/nav2_params.yaml" TargetMode="External"/><Relationship Id="rId5" Type="http://schemas.openxmlformats.org/officeDocument/2006/relationships/hyperlink" Target="https://arxiv.org/abs/2404.16162" TargetMode="External"/><Relationship Id="rId6" Type="http://schemas.openxmlformats.org/officeDocument/2006/relationships/hyperlink" Target="https://github.com/MAPF-Competition/Start-Kit" TargetMode="External"/><Relationship Id="rId7" Type="http://schemas.openxmlformats.org/officeDocument/2006/relationships/hyperlink" Target="https://arxiv.org/abs/2407.01862" TargetMode="External"/><Relationship Id="rId8" Type="http://schemas.openxmlformats.org/officeDocument/2006/relationships/hyperlink" Target="https://people.cs.gmu.edu/~xiao/Research/BARN_Challenge/BARN_Challenge25.html" TargetMode="External"/><Relationship Id="rId9" Type="http://schemas.openxmlformats.org/officeDocument/2006/relationships/hyperlink" Target="https://arxiv.org/abs/2410.21415" TargetMode="External"/><Relationship Id="rId10" Type="http://schemas.openxmlformats.org/officeDocument/2006/relationships/hyperlink" Target="https://arxiv.org/abs/2310.07896" TargetMode="External"/><Relationship Id="rId11" Type="http://schemas.openxmlformats.org/officeDocument/2006/relationships/hyperlink" Target="https://arxiv.org/abs/2505.08712" TargetMode="External"/><Relationship Id="rId12" Type="http://schemas.openxmlformats.org/officeDocument/2006/relationships/hyperlink" Target="https://arxiv.org/abs/2412.04453" TargetMode="External"/><Relationship Id="rId13" Type="http://schemas.openxmlformats.org/officeDocument/2006/relationships/hyperlink" Target="https://arxiv.org/abs/2508.08574" TargetMode="External"/><Relationship Id="rId14" Type="http://schemas.openxmlformats.org/officeDocument/2006/relationships/hyperlink" Target="https://www.darpa.mil/news/2026/racer-finish-line" TargetMode="External"/><Relationship Id="rId15" Type="http://schemas.openxmlformats.org/officeDocument/2006/relationships/hyperlink" Target="https://arxiv.org/abs/2306.07962" TargetMode="External"/><Relationship Id="rId16" Type="http://schemas.openxmlformats.org/officeDocument/2006/relationships/hyperlink" Target="https://arxiv.org/abs/2411.15139" TargetMode="External"/><Relationship Id="rId17" Type="http://schemas.openxmlformats.org/officeDocument/2006/relationships/hyperlink" Target="https://arxiv.org/abs/2506.06664" TargetMode="External"/><Relationship Id="rId18" Type="http://schemas.openxmlformats.org/officeDocument/2006/relationships/hyperlink" Target="https://www.xpeng.com/news/019a56f54fe99a2a0a8d8a0282e402b7" TargetMode="External"/><Relationship Id="rId19" Type="http://schemas.openxmlformats.org/officeDocument/2006/relationships/hyperlink" Target="https://waymo.com/blog/2025/12/demonstrably-safe-ai-for-autonomous-driving/" TargetMode="External"/><Relationship Id="rId20" Type="http://schemas.openxmlformats.org/officeDocument/2006/relationships/hyperlink" Target="https://waymo.com/blog/2026/08/10ailessons" TargetMode="External"/><Relationship Id="rId21" Type="http://schemas.openxmlformats.org/officeDocument/2006/relationships/hyperlink" Target="https://blogs.nvidia.com/blog/drive-av-mercedes-benz-cla/" TargetMode="External"/><Relationship Id="rId22" Type="http://schemas.openxmlformats.org/officeDocument/2006/relationships/hyperlink" Target="https://github.com/autowarefoundation/autoware_universe/tree/main/planning/autoware_diffusion_planner" TargetMode="External"/><Relationship Id="rId23" Type="http://schemas.openxmlformats.org/officeDocument/2006/relationships/hyperlink" Target="https://arxiv.org/abs/2506.11234" TargetMode="External"/><Relationship Id="rId24" Type="http://schemas.openxmlformats.org/officeDocument/2006/relationships/hyperlink" Target="https://proceedings.mlr.press/v305/jaeger25a.html" TargetMode="External"/><Relationship Id="rId25" Type="http://schemas.openxmlformats.org/officeDocument/2006/relationships/hyperlink" Target="https://arxiv.org/abs/2608.04896" TargetMode="External"/></Relationships>
</file>

<file path=ppt/slides/_rels/slide4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6.xml"/><Relationship Id="rId3" Type="http://schemas.openxmlformats.org/officeDocument/2006/relationships/hyperlink" Target="https://arxiv.org/abs/2208.08373" TargetMode="External"/><Relationship Id="rId4" Type="http://schemas.openxmlformats.org/officeDocument/2006/relationships/hyperlink" Target="https://arxiv.org/abs/1901.08652" TargetMode="External"/><Relationship Id="rId5" Type="http://schemas.openxmlformats.org/officeDocument/2006/relationships/hyperlink" Target="https://proceedings.mlr.press/v164/rudin22a.html" TargetMode="External"/><Relationship Id="rId6" Type="http://schemas.openxmlformats.org/officeDocument/2006/relationships/hyperlink" Target="https://www.anybotics.com/news/superior-robot-mobility-where-ai-meets-the-real-world/" TargetMode="External"/><Relationship Id="rId7" Type="http://schemas.openxmlformats.org/officeDocument/2006/relationships/hyperlink" Target="https://bostondynamics.com/blog/starting-on-the-right-foot-with-reinforcement-learning/" TargetMode="External"/><Relationship Id="rId8" Type="http://schemas.openxmlformats.org/officeDocument/2006/relationships/hyperlink" Target="https://arxiv.org/abs/2607.13579" TargetMode="External"/><Relationship Id="rId9" Type="http://schemas.openxmlformats.org/officeDocument/2006/relationships/hyperlink" Target="https://arxiv.org/abs/2409.15610" TargetMode="External"/><Relationship Id="rId10" Type="http://schemas.openxmlformats.org/officeDocument/2006/relationships/hyperlink" Target="https://bostondynamics.com/blog/put-it-in-context-with-visual-foundation-models/" TargetMode="External"/><Relationship Id="rId11" Type="http://schemas.openxmlformats.org/officeDocument/2006/relationships/hyperlink" Target="https://arxiv.org/abs/2303.03381" TargetMode="External"/><Relationship Id="rId12" Type="http://schemas.openxmlformats.org/officeDocument/2006/relationships/hyperlink" Target="https://arxiv.org/abs/2502.01143" TargetMode="External"/><Relationship Id="rId13" Type="http://schemas.openxmlformats.org/officeDocument/2006/relationships/hyperlink" Target="https://arxiv.org/abs/2511.07820" TargetMode="External"/><Relationship Id="rId14" Type="http://schemas.openxmlformats.org/officeDocument/2006/relationships/hyperlink" Target="https://arxiv.org/abs/2601.07718" TargetMode="External"/><Relationship Id="rId15" Type="http://schemas.openxmlformats.org/officeDocument/2006/relationships/hyperlink" Target="https://www.figure.ai/news/helix-02" TargetMode="External"/><Relationship Id="rId16" Type="http://schemas.openxmlformats.org/officeDocument/2006/relationships/hyperlink" Target="https://www.figure.ai/news/reinforcement-learning-walking" TargetMode="External"/><Relationship Id="rId17" Type="http://schemas.openxmlformats.org/officeDocument/2006/relationships/hyperlink" Target="https://www.agilityrobotics.com/content/training-a-whole-body-control-foundation-model" TargetMode="External"/><Relationship Id="rId18" Type="http://schemas.openxmlformats.org/officeDocument/2006/relationships/hyperlink" Target="https://developer.nvidia.com/blog/building-generalist-humanoid-capabilities-with-nvidia-isaac-gr00t-n1-6-using-a-sim-to-real-workflow/" TargetMode="External"/><Relationship Id="rId19" Type="http://schemas.openxmlformats.org/officeDocument/2006/relationships/hyperlink" Target="https://bostondynamics.com/blog/large-behavior-models-atlas-find-new-footing/" TargetMode="External"/><Relationship Id="rId20" Type="http://schemas.openxmlformats.org/officeDocument/2006/relationships/hyperlink" Target="https://arxiv.org/abs/2505.03738" TargetMode="External"/><Relationship Id="rId21" Type="http://schemas.openxmlformats.org/officeDocument/2006/relationships/hyperlink" Target="https://arxiv.org/abs/2606.05687" TargetMode="External"/><Relationship Id="rId22" Type="http://schemas.openxmlformats.org/officeDocument/2006/relationships/hyperlink" Target="https://arxiv.org/abs/2509.04722" TargetMode="External"/><Relationship Id="rId23" Type="http://schemas.openxmlformats.org/officeDocument/2006/relationships/hyperlink" Target="https://en.wikipedia.org/wiki/Beijing_E-Town_Half-Marathon" TargetMode="External"/><Relationship Id="rId24" Type="http://schemas.openxmlformats.org/officeDocument/2006/relationships/hyperlink" Target="https://en.wikipedia.org/wiki/World_Humanoid_Robot_Games" TargetMode="External"/><Relationship Id="rId25" Type="http://schemas.openxmlformats.org/officeDocument/2006/relationships/hyperlink" Target="https://arxiv.org/abs/2511.04831" TargetMode="External"/><Relationship Id="rId26" Type="http://schemas.openxmlformats.org/officeDocument/2006/relationships/hyperlink" Target="https://arxiv.org/abs/2502.08844" TargetMode="External"/><Relationship Id="rId27" Type="http://schemas.openxmlformats.org/officeDocument/2006/relationships/hyperlink" Target="https://arxiv.org/abs/2310.10943" TargetMode="External"/><Relationship Id="rId28" Type="http://schemas.openxmlformats.org/officeDocument/2006/relationships/hyperlink" Target="https://developer.nvidia.com/blog/newton-adds-contact-rich-manipulation-and-locomotion-capabilities-for-industrial-robotics/" TargetMode="External"/><Relationship Id="rId29" Type="http://schemas.openxmlformats.org/officeDocument/2006/relationships/hyperlink" Target="https://github.com/unitreerobotics/unitree_rl_mjlab" TargetMode="External"/><Relationship Id="rId30" Type="http://schemas.openxmlformats.org/officeDocument/2006/relationships/hyperlink" Target="https://arxiv.org/abs/2309.15462" TargetMode="External"/><Relationship Id="rId31" Type="http://schemas.openxmlformats.org/officeDocument/2006/relationships/hyperlink" Target="https://waymo.com/blog/2026/08/10ailessons" TargetMode="External"/><Relationship Id="rId32" Type="http://schemas.openxmlformats.org/officeDocument/2006/relationships/hyperlink" Target="https://www.science.org/doi/10.1126/scirobotics.ado6187" TargetMode="External"/></Relationships>
</file>

<file path=ppt/slides/_rels/slide4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7.xml"/><Relationship Id="rId3" Type="http://schemas.openxmlformats.org/officeDocument/2006/relationships/hyperlink" Target="https://github.com/ros-navigation/navigation2/tree/main/nav2_mppi_controller" TargetMode="External"/><Relationship Id="rId4" Type="http://schemas.openxmlformats.org/officeDocument/2006/relationships/hyperlink" Target="https://arxiv.org/abs/2409.15610" TargetMode="External"/><Relationship Id="rId5" Type="http://schemas.openxmlformats.org/officeDocument/2006/relationships/hyperlink" Target="https://arxiv.org/abs/2506.06664" TargetMode="External"/><Relationship Id="rId6" Type="http://schemas.openxmlformats.org/officeDocument/2006/relationships/hyperlink" Target="https://arxiv.org/abs/2407.01573" TargetMode="External"/><Relationship Id="rId7" Type="http://schemas.openxmlformats.org/officeDocument/2006/relationships/hyperlink" Target="https://arxiv.org/abs/2303.04137" TargetMode="External"/><Relationship Id="rId8" Type="http://schemas.openxmlformats.org/officeDocument/2006/relationships/hyperlink" Target="https://arxiv.org/abs/2410.24164" TargetMode="External"/><Relationship Id="rId9" Type="http://schemas.openxmlformats.org/officeDocument/2006/relationships/hyperlink" Target="https://www.figure.ai/news/helix-02" TargetMode="External"/><Relationship Id="rId10" Type="http://schemas.openxmlformats.org/officeDocument/2006/relationships/hyperlink" Target="https://developer.nvidia.com/blog/building-generalist-humanoid-capabilities-with-nvidia-isaac-gr00t-n1-6-using-a-sim-to-real-workflow/" TargetMode="External"/><Relationship Id="rId11" Type="http://schemas.openxmlformats.org/officeDocument/2006/relationships/hyperlink" Target="https://bostondynamics.com/blog/large-behavior-models-atlas-find-new-footing/" TargetMode="External"/><Relationship Id="rId12" Type="http://schemas.openxmlformats.org/officeDocument/2006/relationships/hyperlink" Target="https://arxiv.org/abs/2412.04453" TargetMode="External"/><Relationship Id="rId13" Type="http://schemas.openxmlformats.org/officeDocument/2006/relationships/hyperlink" Target="https://arxiv.org/abs/2402.12289" TargetMode="External"/><Relationship Id="rId14" Type="http://schemas.openxmlformats.org/officeDocument/2006/relationships/hyperlink" Target="https://waymo.com/blog/2026/02/the-waymo-world-model-a-new-frontier-for-autonomous-driving-simulation/" TargetMode="External"/><Relationship Id="rId15" Type="http://schemas.openxmlformats.org/officeDocument/2006/relationships/hyperlink" Target="https://arxiv.org/abs/2501.03575" TargetMode="External"/><Relationship Id="rId16" Type="http://schemas.openxmlformats.org/officeDocument/2006/relationships/hyperlink" Target="https://arxiv.org/abs/2512.10675" TargetMode="External"/><Relationship Id="rId17" Type="http://schemas.openxmlformats.org/officeDocument/2006/relationships/hyperlink" Target="https://www.nature.com/articles/s41586-025-08744-2" TargetMode="External"/><Relationship Id="rId18" Type="http://schemas.openxmlformats.org/officeDocument/2006/relationships/hyperlink" Target="https://arxiv.org/abs/2412.03572" TargetMode="External"/><Relationship Id="rId19" Type="http://schemas.openxmlformats.org/officeDocument/2006/relationships/hyperlink" Target="https://arxiv.org/abs/2511.07820" TargetMode="External"/><Relationship Id="rId20" Type="http://schemas.openxmlformats.org/officeDocument/2006/relationships/hyperlink" Target="https://arxiv.org/abs/2505.05753" TargetMode="External"/><Relationship Id="rId21" Type="http://schemas.openxmlformats.org/officeDocument/2006/relationships/hyperlink" Target="https://arxiv.org/abs/2509.19480" TargetMode="External"/><Relationship Id="rId22" Type="http://schemas.openxmlformats.org/officeDocument/2006/relationships/hyperlink" Target="https://arxiv.org/abs/2506.08228" TargetMode="External"/><Relationship Id="rId23" Type="http://schemas.openxmlformats.org/officeDocument/2006/relationships/hyperlink" Target="https://single-market-economy.ec.europa.eu/sectors/mechanical-engineering/machinery_en" TargetMode="External"/><Relationship Id="rId24" Type="http://schemas.openxmlformats.org/officeDocument/2006/relationships/hyperlink" Target="https://downloads.ctfassets.net/9i0s3p5vkth9/Gx5t3M6aWWUk8yEsXIZ8N/bf9767dfeb33360114438df17739d8be/Aurora_Driverless_Safety_Report_2025_with_Addendum.pdf" TargetMode="External"/><Relationship Id="rId25" Type="http://schemas.openxmlformats.org/officeDocument/2006/relationships/hyperlink" Target="https://arxiv.org/abs/2608.04896" TargetMode="External"/><Relationship Id="rId26" Type="http://schemas.openxmlformats.org/officeDocument/2006/relationships/hyperlink" Target="https://www.tii.ae/news/world-first-autonomous-racing-leaps-forward-abu-dhabi-a2rl-season-2-showcases-record-speed" TargetMode="External"/><Relationship Id="rId27" Type="http://schemas.openxmlformats.org/officeDocument/2006/relationships/hyperlink" Target="https://github.com/MAPF-Competition/Start-Kit" TargetMode="External"/><Relationship Id="rId28" Type="http://schemas.openxmlformats.org/officeDocument/2006/relationships/hyperlink" Target="https://en.wikipedia.org/wiki/World_Humanoid_Robot_Games" TargetMode="External"/><Relationship Id="rId29" Type="http://schemas.openxmlformats.org/officeDocument/2006/relationships/hyperlink" Target="https://artificialintelligenceact.eu/article/6/" TargetMode="External"/><Relationship Id="rId30" Type="http://schemas.openxmlformats.org/officeDocument/2006/relationships/hyperlink" Target="https://arxiv.org/abs/2309.05837" TargetMode="External"/><Relationship Id="rId31" Type="http://schemas.openxmlformats.org/officeDocument/2006/relationships/hyperlink" Target="https://arxiv.org/abs/2608.02809" TargetMode="External"/><Relationship Id="rId32" Type="http://schemas.openxmlformats.org/officeDocument/2006/relationships/hyperlink" Target="https://nvidianews.nvidia.com/news/nvidia-announces-halos-for-robotics-the-industrys-first-full-stack-safety-system-for-physical-ai" TargetMode="External"/></Relationships>
</file>

<file path=ppt/slides/_rels/slide4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8.xml"/><Relationship Id="rId3" Type="http://schemas.openxmlformats.org/officeDocument/2006/relationships/hyperlink" Target="https://waymo.com/blog/2024/05/fleet-response/" TargetMode="External"/><Relationship Id="rId4" Type="http://schemas.openxmlformats.org/officeDocument/2006/relationships/hyperlink" Target="https://waymo.com/blog/shorts/advice-not-control-the-role-of-remote-assistance/" TargetMode="External"/><Relationship Id="rId5" Type="http://schemas.openxmlformats.org/officeDocument/2006/relationships/hyperlink" Target="https://techcrunch.com/2026/03/31/robotaxi-companies-refuse-to-say-how-often-their-avs-need-remote-help/" TargetMode="External"/><Relationship Id="rId6" Type="http://schemas.openxmlformats.org/officeDocument/2006/relationships/hyperlink" Target="https://www.dmv.ca.gov/portal/news-and-media/new-autonomous-vehicle-regulations-strengthen-oversight-and-enforcement-authorize-trucks-and-transit/" TargetMode="External"/><Relationship Id="rId7" Type="http://schemas.openxmlformats.org/officeDocument/2006/relationships/hyperlink" Target="https://www.ntsb.gov/investigations/Pages/HWY26FH007.aspx" TargetMode="External"/><Relationship Id="rId8" Type="http://schemas.openxmlformats.org/officeDocument/2006/relationships/hyperlink" Target="https://www.jpl.nasa.gov/news/nasas-perseverance-mars-rover-ready-to-roll-for-miles-in-years-ahead/" TargetMode="External"/><Relationship Id="rId9" Type="http://schemas.openxmlformats.org/officeDocument/2006/relationships/hyperlink" Target="https://ieeexplore.ieee.org/document/11265757" TargetMode="External"/><Relationship Id="rId10" Type="http://schemas.openxmlformats.org/officeDocument/2006/relationships/hyperlink" Target="https://www.jpl.nasa.gov/news/nasas-perseverance-rover-completes-first-ai-planned-drive-on-mars/" TargetMode="External"/><Relationship Id="rId11" Type="http://schemas.openxmlformats.org/officeDocument/2006/relationships/hyperlink" Target="https://www.anthropic.com/features/claude-on-mars" TargetMode="External"/><Relationship Id="rId12" Type="http://schemas.openxmlformats.org/officeDocument/2006/relationships/hyperlink" Target="https://www.komatsu.jp/en/newsroom/2026/20260422" TargetMode="External"/><Relationship Id="rId13" Type="http://schemas.openxmlformats.org/officeDocument/2006/relationships/hyperlink" Target="https://www.eacon.com/news/827.html" TargetMode="External"/><Relationship Id="rId14" Type="http://schemas.openxmlformats.org/officeDocument/2006/relationships/hyperlink" Target="https://ir.aurora.tech/news-events/press-releases/detail/132" TargetMode="External"/><Relationship Id="rId15" Type="http://schemas.openxmlformats.org/officeDocument/2006/relationships/hyperlink" Target="https://www.deere.com/en-us/products-solutions/tractors/autonomous-tractor/" TargetMode="External"/><Relationship Id="rId16" Type="http://schemas.openxmlformats.org/officeDocument/2006/relationships/hyperlink" Target="https://arxiv.org/abs/2410.21415" TargetMode="External"/><Relationship Id="rId17" Type="http://schemas.openxmlformats.org/officeDocument/2006/relationships/hyperlink" Target="https://github.com/MAPF-Competition/Start-Kit" TargetMode="External"/><Relationship Id="rId18" Type="http://schemas.openxmlformats.org/officeDocument/2006/relationships/hyperlink" Target="https://www.science.org/doi/10.1126/scirobotics.ade2256" TargetMode="External"/><Relationship Id="rId19" Type="http://schemas.openxmlformats.org/officeDocument/2006/relationships/hyperlink" Target="https://arxiv.org/abs/2506.02835" TargetMode="External"/><Relationship Id="rId20" Type="http://schemas.openxmlformats.org/officeDocument/2006/relationships/hyperlink" Target="https://news.kaist.ac.kr/newsen/html/news/?mode=V&amp;mng_no=41590" TargetMode="External"/><Relationship Id="rId21" Type="http://schemas.openxmlformats.org/officeDocument/2006/relationships/hyperlink" Target="https://www.science.org/doi/10.1126/scirobotics.add1017" TargetMode="External"/><Relationship Id="rId22" Type="http://schemas.openxmlformats.org/officeDocument/2006/relationships/hyperlink" Target="https://arxiv.org/abs/2312.08961" TargetMode="External"/><Relationship Id="rId23" Type="http://schemas.openxmlformats.org/officeDocument/2006/relationships/hyperlink" Target="https://arxiv.org/abs/2607.13579" TargetMode="External"/><Relationship Id="rId24" Type="http://schemas.openxmlformats.org/officeDocument/2006/relationships/hyperlink" Target="https://arxiv.org/abs/2301.10602" TargetMode="External"/><Relationship Id="rId25" Type="http://schemas.openxmlformats.org/officeDocument/2006/relationships/hyperlink" Target="https://arxiv.org/abs/2409.19709" TargetMode="External"/><Relationship Id="rId26" Type="http://schemas.openxmlformats.org/officeDocument/2006/relationships/hyperlink" Target="https://researchwith.njit.edu/en/publications/torque-based-deep-reinforcement-learning-for-task-and-robot-agnos" TargetMode="External"/><Relationship Id="rId27" Type="http://schemas.openxmlformats.org/officeDocument/2006/relationships/hyperlink" Target="https://rainbow-robotics.com/%EC%A0%9C%ED%92%88%EC%86%94%EB%A3%A8%EC%85%98/%EC%82%AC%EC%A1%B1%EB%B3%B4%ED%96%89-%EB%A1%9C%EB%B4%87/rbq-series" TargetMode="External"/><Relationship Id="rId28" Type="http://schemas.openxmlformats.org/officeDocument/2006/relationships/hyperlink" Target="https://bostondynamics.com/blog/starting-on-the-right-foot-with-reinforcement-learning/" TargetMode="External"/><Relationship Id="rId29" Type="http://schemas.openxmlformats.org/officeDocument/2006/relationships/hyperlink" Target="https://bostondynamics.com/blog/large-behavior-models-atlas-find-new-footing/" TargetMode="External"/><Relationship Id="rId30" Type="http://schemas.openxmlformats.org/officeDocument/2006/relationships/hyperlink" Target="https://bostondynamics.com/blog/boston-dynamics-unveils-new-atlas-robot-to-revolutionize-industry/" TargetMode="External"/><Relationship Id="rId31" Type="http://schemas.openxmlformats.org/officeDocument/2006/relationships/hyperlink" Target="https://www.motir.go.kr/kor/article/ATCL3f49a5a8c/170404/view?mno=&amp;pageIndex=1&amp;rowPageC=0&amp;displayAuthor=&amp;searchCategory=0&amp;schClear=on&amp;startDtD=&amp;endDtD=&amp;searchCondition=1&amp;searchKeyword=%ED%9C%B4%EB%A8%B8%EB%85%B8%EC%9D%B4%EB%93%9C" TargetMode="External"/><Relationship Id="rId32" Type="http://schemas.openxmlformats.org/officeDocument/2006/relationships/hyperlink" Target="https://www.korea.kr/news/policyNewsView.do?newsId=148964548" TargetMode="External"/></Relationships>
</file>

<file path=ppt/slides/_rels/slide4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9.xml"/><Relationship Id="rId3" Type="http://schemas.openxmlformats.org/officeDocument/2006/relationships/hyperlink" Target="https://www.korea.kr/news/policyNewsView.do?newsId=148922726" TargetMode="External"/><Relationship Id="rId4" Type="http://schemas.openxmlformats.org/officeDocument/2006/relationships/hyperlink" Target="https://www.kmcc.go.kr/download.do?fileSeq=62128" TargetMode="External"/><Relationship Id="rId5" Type="http://schemas.openxmlformats.org/officeDocument/2006/relationships/hyperlink" Target="https://zdnet.co.kr/view/?no=20230728173101" TargetMode="External"/><Relationship Id="rId6" Type="http://schemas.openxmlformats.org/officeDocument/2006/relationships/hyperlink" Target="https://www.kiria.org/portal/cert/portalCertEstiStats.do" TargetMode="External"/><Relationship Id="rId7" Type="http://schemas.openxmlformats.org/officeDocument/2006/relationships/hyperlink" Target="https://www.hellot.net/news/article.html?no=111539" TargetMode="External"/><Relationship Id="rId8" Type="http://schemas.openxmlformats.org/officeDocument/2006/relationships/hyperlink" Target="https://zdnet.co.kr/view/?no=20251223101843" TargetMode="External"/><Relationship Id="rId9" Type="http://schemas.openxmlformats.org/officeDocument/2006/relationships/hyperlink" Target="https://zdnet.co.kr/view/?no=20260529134003" TargetMode="External"/><Relationship Id="rId10" Type="http://schemas.openxmlformats.org/officeDocument/2006/relationships/hyperlink" Target="https://zdnet.co.kr/view/?no=20251218101741" TargetMode="External"/><Relationship Id="rId11" Type="http://schemas.openxmlformats.org/officeDocument/2006/relationships/hyperlink" Target="https://www.newstomato.com/ReadNews.aspx?no=1243901" TargetMode="External"/><Relationship Id="rId12" Type="http://schemas.openxmlformats.org/officeDocument/2006/relationships/hyperlink" Target="https://edaily.co.kr/News/Read?mediaCodeNo=257&amp;newsId=03978646645485328" TargetMode="External"/><Relationship Id="rId13" Type="http://schemas.openxmlformats.org/officeDocument/2006/relationships/hyperlink" Target="https://www.hyundaimotorgroup.com/ko/news/CONT0000000000158712" TargetMode="External"/><Relationship Id="rId14" Type="http://schemas.openxmlformats.org/officeDocument/2006/relationships/hyperlink" Target="https://1784.navercorp.com/" TargetMode="External"/><Relationship Id="rId15" Type="http://schemas.openxmlformats.org/officeDocument/2006/relationships/hyperlink" Target="https://www.globenewswire.com/news-release/2025/12/12/3204583/0/en/Serve-Robotics-Builds-2-000-Autonomous-Delivery-Robots-Creating-Largest-Sidewalk-Delivery-Fleet-in-the-U-S.html" TargetMode="External"/><Relationship Id="rId16" Type="http://schemas.openxmlformats.org/officeDocument/2006/relationships/hyperlink" Target="https://arxiv.org/abs/2406.14947" TargetMode="External"/><Relationship Id="rId17" Type="http://schemas.openxmlformats.org/officeDocument/2006/relationships/hyperlink" Target="https://www.science.org/doi/10.1126/scirobotics.ado6187" TargetMode="External"/><Relationship Id="rId18" Type="http://schemas.openxmlformats.org/officeDocument/2006/relationships/hyperlink" Target="https://waymo.com/blog/2025/12/demonstrably-safe-ai-for-autonomous-driving/" TargetMode="External"/><Relationship Id="rId19" Type="http://schemas.openxmlformats.org/officeDocument/2006/relationships/hyperlink" Target="https://arxiv.org/abs/2309.15462" TargetMode="External"/><Relationship Id="rId20" Type="http://schemas.openxmlformats.org/officeDocument/2006/relationships/hyperlink" Target="https://arxiv.org/abs/2607.13579" TargetMode="External"/></Relationships>
</file>

<file path=ppt/slides/_rels/slide4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0.xml"/><Relationship Id="rId3" Type="http://schemas.openxmlformats.org/officeDocument/2006/relationships/hyperlink" Target="https://arxiv.org/abs/2608.15741" TargetMode="External"/><Relationship Id="rId4" Type="http://schemas.openxmlformats.org/officeDocument/2006/relationships/hyperlink" Target="https://www.jpl.nasa.gov/news/nasas-perseverance-rover-completes-first-ai-planned-drive-on-mars/" TargetMode="External"/></Relationships>
</file>

<file path=ppt/slides/_rels/slide4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1.xml"/></Relationships>
</file>

<file path=ppt/slides/_rels/slide4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2.xml"/></Relationships>
</file>

<file path=ppt/slides/_rels/slide4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3.xml"/></Relationships>
</file>

<file path=ppt/slides/_rels/slide4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4.xml"/><Relationship Id="rId3" Type="http://schemas.openxmlformats.org/officeDocument/2006/relationships/hyperlink" Target="https://github.com/VAIL-UCLA/S2E" TargetMode="External"/></Relationships>
</file>

<file path=ppt/slides/_rels/slide4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5.xml"/><Relationship Id="rId3" Type="http://schemas.openxmlformats.org/officeDocument/2006/relationships/hyperlink" Target="https://github.com/GalaxyGeneralRobotics/UrbanVLA" TargetMode="External"/></Relationships>
</file>

<file path=ppt/slides/_rels/slide4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6.xml"/></Relationships>
</file>

<file path=ppt/slides/_rels/slide4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7.xml"/></Relationships>
</file>

<file path=ppt/slides/_rels/slide4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8.xml"/></Relationships>
</file>

<file path=ppt/slides/_rels/slide4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9.xml"/></Relationships>
</file>

<file path=ppt/slides/_rels/slide5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0.xml"/><Relationship Id="rId3" Type="http://schemas.openxmlformats.org/officeDocument/2006/relationships/image" Target="../media/image367.jpg"/></Relationships>
</file>

<file path=ppt/slides/_rels/slide5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1.xml"/></Relationships>
</file>

<file path=ppt/slides/_rels/slide5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2.xml"/></Relationships>
</file>

<file path=ppt/slides/_rels/slide5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3.xml"/><Relationship Id="rId3" Type="http://schemas.openxmlformats.org/officeDocument/2006/relationships/image" Target="../media/image368.jpg"/></Relationships>
</file>

<file path=ppt/slides/_rels/slide5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4.xml"/></Relationships>
</file>

<file path=ppt/slides/_rels/slide5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5.xml"/></Relationships>
</file>

<file path=ppt/slides/_rels/slide5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6.xml"/></Relationships>
</file>

<file path=ppt/slides/_rels/slide5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7.xml"/><Relationship Id="rId3" Type="http://schemas.openxmlformats.org/officeDocument/2006/relationships/image" Target="../media/image369.jpg"/></Relationships>
</file>

<file path=ppt/slides/_rels/slide5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8.xml"/></Relationships>
</file>

<file path=ppt/slides/_rels/slide5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9.xml"/></Relationships>
</file>

<file path=ppt/slides/_rels/slide5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0.xml"/><Relationship Id="rId3" Type="http://schemas.openxmlformats.org/officeDocument/2006/relationships/image" Target="../media/image370.jpg"/></Relationships>
</file>

<file path=ppt/slides/_rels/slide5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1.xml"/></Relationships>
</file>

<file path=ppt/slides/_rels/slide5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2.xml"/><Relationship Id="rId3" Type="http://schemas.openxmlformats.org/officeDocument/2006/relationships/image" Target="../media/image371.png"/><Relationship Id="rId4" Type="http://schemas.openxmlformats.org/officeDocument/2006/relationships/image" Target="../media/image372.png"/></Relationships>
</file>

<file path=ppt/slides/_rels/slide5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3.xml"/><Relationship Id="rId3" Type="http://schemas.openxmlformats.org/officeDocument/2006/relationships/image" Target="../media/image373.jpg"/></Relationships>
</file>

<file path=ppt/slides/_rels/slide5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4.xml"/></Relationships>
</file>

<file path=ppt/slides/_rels/slide5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5.xml"/><Relationship Id="rId3" Type="http://schemas.openxmlformats.org/officeDocument/2006/relationships/image" Target="../media/image374.jpg"/></Relationships>
</file>

<file path=ppt/slides/_rels/slide5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609600" y="762000"/>
            <a:ext cx="10972800" cy="190500"/>
          </a:xfrm>
          <a:prstGeom prst="rect">
            <a:avLst/>
          </a:prstGeom>
          <a:noFill/>
        </p:spPr>
        <p:txBody>
          <a:bodyPr wrap="square" lIns="0" rIns="0" tIns="0" bIns="0" anchor="t">
            <a:spAutoFit/>
            <a:normAutofit/>
          </a:bodyPr>
          <a:lstStyle/>
          <a:p>
            <a:r>
              <a:rPr sz="850" b="1" i="0">
                <a:solidFill>
                  <a:srgbClr val="F59E5B"/>
                </a:solidFill>
                <a:latin typeface="Consolas"/>
                <a:ea typeface="Malgun Gothic"/>
                <a:cs typeface="Malgun Gothic"/>
              </a:rPr>
              <a:t>travplan 리서치 · Planner</a:t>
            </a:r>
          </a:p>
        </p:txBody>
      </p:sp>
      <p:sp>
        <p:nvSpPr>
          <p:cNvPr id="3" name="TextBox 2"/>
          <p:cNvSpPr txBox="1"/>
          <p:nvPr/>
        </p:nvSpPr>
        <p:spPr>
          <a:xfrm>
            <a:off x="609600" y="1079500"/>
            <a:ext cx="10972800" cy="1270000"/>
          </a:xfrm>
          <a:prstGeom prst="rect">
            <a:avLst/>
          </a:prstGeom>
          <a:noFill/>
        </p:spPr>
        <p:txBody>
          <a:bodyPr wrap="square" lIns="0" rIns="0" tIns="0" bIns="0" anchor="t">
            <a:spAutoFit/>
            <a:normAutofit/>
          </a:bodyPr>
          <a:lstStyle/>
          <a:p>
            <a:r>
              <a:rPr sz="3050" b="1" i="0">
                <a:solidFill>
                  <a:srgbClr val="F4F1EA"/>
                </a:solidFill>
                <a:latin typeface="Arial"/>
                <a:ea typeface="Malgun Gothic"/>
                <a:cs typeface="Malgun Gothic"/>
              </a:rPr>
              <a:t>Planner — 경로·궤적을 만드는 쪽 (§B)</a:t>
            </a:r>
          </a:p>
        </p:txBody>
      </p:sp>
      <p:sp>
        <p:nvSpPr>
          <p:cNvPr id="4" name="TextBox 3"/>
          <p:cNvSpPr txBox="1"/>
          <p:nvPr/>
        </p:nvSpPr>
        <p:spPr>
          <a:xfrm>
            <a:off x="609600" y="2540000"/>
            <a:ext cx="9525000" cy="1270000"/>
          </a:xfrm>
          <a:prstGeom prst="rect">
            <a:avLst/>
          </a:prstGeom>
          <a:noFill/>
        </p:spPr>
        <p:txBody>
          <a:bodyPr wrap="square" lIns="0" rIns="0" tIns="0" bIns="0" anchor="t">
            <a:spAutoFit/>
            <a:normAutofit/>
          </a:bodyPr>
          <a:lstStyle/>
          <a:p>
            <a:r>
              <a:rPr sz="1250" b="0" i="0">
                <a:solidFill>
                  <a:srgbClr val="C9D1E0"/>
                </a:solidFill>
                <a:latin typeface="Arial"/>
                <a:ea typeface="Malgun Gothic"/>
                <a:cs typeface="Malgun Gothic"/>
              </a:rPr>
              <a:t>Planner 문서 · 탭 10개</a:t>
            </a:r>
          </a:p>
          <a:p>
            <a:r>
              <a:rPr sz="1250" b="0" i="0">
                <a:solidFill>
                  <a:srgbClr val="C9D1E0"/>
                </a:solidFill>
                <a:latin typeface="Arial"/>
                <a:ea typeface="Malgun Gothic"/>
                <a:cs typeface="Malgun Gothic"/>
              </a:rPr>
              <a:t>travplan과 고전 기준선 · 학습 로컬 Planner · 생성형 궤적 · Foundation·VLA·언어 · 위험 인지·로컬 내비 · 자율주행 자동차 · 다리·바퀴 로봇과 계보 · 분야별 지형 · 최근 연구 비교 · 작업 기록</a:t>
            </a:r>
          </a:p>
        </p:txBody>
      </p:sp>
      <p:sp>
        <p:nvSpPr>
          <p:cNvPr id="5" name="TextBox 4"/>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9AA6BC"/>
                </a:solidFill>
                <a:latin typeface="Arial"/>
                <a:ea typeface="Malgun Gothic"/>
                <a:cs typeface="Malgun Gothic"/>
              </a:rPr>
              <a:t>travplan 리서치 · Planner (docs/research-planner.md)    1 / 516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개요</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Planner — 경로·궤적을 만드는 쪽 (§B)</a:t>
            </a:r>
            <a:r>
              <a:rPr sz="1050" b="0" i="0">
                <a:solidFill>
                  <a:srgbClr val="5A6478"/>
                </a:solidFill>
                <a:latin typeface="Arial"/>
                <a:ea typeface="Malgun Gothic"/>
                <a:cs typeface="Malgun Gothic"/>
              </a:rPr>
              <a:t>  1/4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2 / 516</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Planner는 로봇 상태, TravMap, 목표를 받아 경로나 시간 인덱스 궤적을 낸다.</a:t>
            </a:r>
            <a:r>
              <a:rPr sz="1050" b="0" i="0">
                <a:solidFill>
                  <a:srgbClr val="16213A"/>
                </a:solidFill>
                <a:latin typeface="Arial"/>
                <a:ea typeface="Malgun Gothic"/>
                <a:cs typeface="Malgun Gothic"/>
              </a:rPr>
              <a:t> 제어 명령은 내지 않는다. 탭은 </a:t>
            </a:r>
            <a:r>
              <a:rPr sz="1050" b="1" i="0">
                <a:solidFill>
                  <a:srgbClr val="16213A"/>
                </a:solidFill>
                <a:latin typeface="Arial"/>
                <a:ea typeface="Malgun Gothic"/>
                <a:cs typeface="Malgun Gothic"/>
              </a:rPr>
              <a:t>두 묶음</a:t>
            </a:r>
            <a:r>
              <a:rPr sz="1050" b="0" i="0">
                <a:solidFill>
                  <a:srgbClr val="16213A"/>
                </a:solidFill>
                <a:latin typeface="Arial"/>
                <a:ea typeface="Malgun Gothic"/>
                <a:cs typeface="Malgun Gothic"/>
              </a:rPr>
              <a:t>이다. </a:t>
            </a:r>
            <a:r>
              <a:rPr sz="1050" b="1" i="0">
                <a:solidFill>
                  <a:srgbClr val="C2410C"/>
                </a:solidFill>
                <a:latin typeface="Arial"/>
                <a:ea typeface="Malgun Gothic"/>
                <a:cs typeface="Malgun Gothic"/>
              </a:rPr>
              <a:t>앞의 다섯은 </a:t>
            </a:r>
            <a:r>
              <a:rPr sz="1050" b="1" i="0">
                <a:solidFill>
                  <a:srgbClr val="C2410C"/>
                </a:solidFill>
                <a:latin typeface="Arial"/>
                <a:ea typeface="Malgun Gothic"/>
                <a:cs typeface="Malgun Gothic"/>
              </a:rPr>
              <a:t>방법</a:t>
            </a:r>
            <a:r>
              <a:rPr sz="1050" b="1" i="0">
                <a:solidFill>
                  <a:srgbClr val="C2410C"/>
                </a:solidFill>
                <a:latin typeface="Arial"/>
                <a:ea typeface="Malgun Gothic"/>
                <a:cs typeface="Malgun Gothic"/>
              </a:rPr>
              <a:t>(어떻게 계획하나), 뒤의 둘은 </a:t>
            </a:r>
            <a:r>
              <a:rPr sz="1050" b="1" i="0">
                <a:solidFill>
                  <a:srgbClr val="C2410C"/>
                </a:solidFill>
                <a:latin typeface="Arial"/>
                <a:ea typeface="Malgun Gothic"/>
                <a:cs typeface="Malgun Gothic"/>
              </a:rPr>
              <a:t>현황</a:t>
            </a:r>
            <a:r>
              <a:rPr sz="1050" b="1" i="0">
                <a:solidFill>
                  <a:srgbClr val="C2410C"/>
                </a:solidFill>
                <a:latin typeface="Arial"/>
                <a:ea typeface="Malgun Gothic"/>
                <a:cs typeface="Malgun Gothic"/>
              </a:rPr>
              <a:t>(누가 무엇을 내놨나)이다.</a:t>
            </a:r>
            <a:r>
              <a:rPr sz="1050" b="0" i="0">
                <a:solidFill>
                  <a:srgbClr val="16213A"/>
                </a:solidFill>
                <a:latin typeface="Arial"/>
                <a:ea typeface="Malgun Gothic"/>
                <a:cs typeface="Malgun Gothic"/>
              </a:rPr>
              <a:t> 2026-10-01에 이렇게 다시 묶었다 — 그 전에는 방법·도메인·관심사·계보 네 축이 섞여 있어서 자율주행 내용만 세 탭(E2E 주행 · 역사·상용화 · 로봇별 오픈소스)에 흩어져 있었다.</a:t>
            </a:r>
          </a:p>
        </p:txBody>
      </p:sp>
      <p:sp>
        <p:nvSpPr>
          <p:cNvPr id="6" name="TextBox 5"/>
          <p:cNvSpPr txBox="1"/>
          <p:nvPr/>
        </p:nvSpPr>
        <p:spPr>
          <a:xfrm>
            <a:off x="609600" y="176649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 방법 — 어떻게 계획하나</a:t>
            </a:r>
          </a:p>
        </p:txBody>
      </p:sp>
      <p:graphicFrame>
        <p:nvGraphicFramePr>
          <p:cNvPr id="7" name="Table 6"/>
          <p:cNvGraphicFramePr>
            <a:graphicFrameLocks noGrp="1"/>
          </p:cNvGraphicFramePr>
          <p:nvPr/>
        </p:nvGraphicFramePr>
        <p:xfrm>
          <a:off x="609600" y="2071886"/>
          <a:ext cx="10966451" cy="1379616"/>
        </p:xfrm>
        <a:graphic>
          <a:graphicData uri="http://schemas.openxmlformats.org/drawingml/2006/table">
            <a:tbl>
              <a:tblPr firstRow="1" bandRow="1">
                <a:tableStyleId>{5C22544A-7EE6-4342-B048-85BDC9FD1C3A}</a:tableStyleId>
              </a:tblPr>
              <a:tblGrid>
                <a:gridCol w="1287066"/>
                <a:gridCol w="5481241"/>
                <a:gridCol w="1133971"/>
                <a:gridCol w="3064173"/>
              </a:tblGrid>
              <a:tr h="197088">
                <a:tc>
                  <a:txBody>
                    <a:bodyPr wrap="square"/>
                    <a:lstStyle/>
                    <a:p>
                      <a:r>
                        <a:rPr sz="800" b="1" i="0">
                          <a:solidFill>
                            <a:srgbClr val="F4F1EA"/>
                          </a:solidFill>
                          <a:latin typeface="Arial"/>
                          <a:ea typeface="Malgun Gothic"/>
                          <a:cs typeface="Malgun Gothic"/>
                        </a:rPr>
                        <a:t>탭</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다루는 것</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절</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travplan과의 관계</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travplan과 고전 기준선</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travplan Planner의 현재 구조, 그리고 그래프 탐색·로컬 플래너·궤적 최적화</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 B.10</a:t>
                      </a:r>
                    </a:p>
                  </a:txBody>
                  <a:tcPr marL="63500" marR="63500" marT="12700" marB="12700">
                    <a:solidFill>
                      <a:srgbClr val="FFFDF8"/>
                    </a:solidFill>
                  </a:tcPr>
                </a:tc>
                <a:tc>
                  <a:txBody>
                    <a:bodyPr wrap="square"/>
                    <a:lstStyle/>
                    <a:p>
                      <a:r>
                        <a:rPr sz="800" b="0" i="0">
                          <a:solidFill>
                            <a:srgbClr val="16213A"/>
                          </a:solidFill>
                          <a:latin typeface="Consolas"/>
                          <a:ea typeface="Malgun Gothic"/>
                          <a:cs typeface="Malgun Gothic"/>
                        </a:rPr>
                        <a:t>GuidancePlanner</a:t>
                      </a:r>
                      <a:r>
                        <a:rPr sz="800" b="0" i="0">
                          <a:solidFill>
                            <a:srgbClr val="16213A"/>
                          </a:solidFill>
                          <a:latin typeface="Arial"/>
                          <a:ea typeface="Malgun Gothic"/>
                          <a:cs typeface="Malgun Gothic"/>
                        </a:rPr>
                        <a:t>(Dijkstra)가 기준선이자 subgoal 공급원</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학습 로컬 Planner</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로봇 주변만 보고 가까운 경로를 내는 학습 모듈(waypoint 회귀, diffusion 궤적, RL 직접 매핑, 비용 지도로 학습)</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B.2–B.4, B.4b, B.7</a:t>
                      </a:r>
                    </a:p>
                  </a:txBody>
                  <a:tcPr marL="63500" marR="63500" marT="12700" marB="12700">
                    <a:solidFill>
                      <a:srgbClr val="F3F0E8"/>
                    </a:solidFill>
                  </a:tcPr>
                </a:tc>
                <a:tc>
                  <a:txBody>
                    <a:bodyPr wrap="square"/>
                    <a:lstStyle/>
                    <a:p>
                      <a:r>
                        <a:rPr sz="800" b="0" i="0">
                          <a:solidFill>
                            <a:srgbClr val="16213A"/>
                          </a:solidFill>
                          <a:latin typeface="Consolas"/>
                          <a:ea typeface="Malgun Gothic"/>
                          <a:cs typeface="Malgun Gothic"/>
                        </a:rPr>
                        <a:t>LearnedPlanner</a:t>
                      </a:r>
                      <a:r>
                        <a:rPr sz="800" b="0" i="0">
                          <a:solidFill>
                            <a:srgbClr val="16213A"/>
                          </a:solidFill>
                          <a:latin typeface="Arial"/>
                          <a:ea typeface="Malgun Gothic"/>
                          <a:cs typeface="Malgun Gothic"/>
                        </a:rPr>
                        <a:t>(Planner B)의 계보</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생성형 궤적</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시간 인덱스 궤적 여러 개를 생성 모델에서 샘플한다(Diffuser에서 Diffusion Planner까지, 후속 연구, Planner D)</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B.8.0, B.8</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Planner D</a:t>
                      </a:r>
                      <a:r>
                        <a:rPr sz="800" b="0" i="0">
                          <a:solidFill>
                            <a:srgbClr val="16213A"/>
                          </a:solidFill>
                          <a:latin typeface="Arial"/>
                          <a:ea typeface="Malgun Gothic"/>
                          <a:cs typeface="Malgun Gothic"/>
                        </a:rPr>
                        <a:t>(flow matching)의 직계 설계</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Foundation·VLA·언어</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시각 내비 기반 모델, VLA, 도시 보행 내비, 시연 로그 학습</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B.6, B.6b–B.6d</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Planner 위의 </a:t>
                      </a:r>
                      <a:r>
                        <a:rPr sz="800" b="1" i="0">
                          <a:solidFill>
                            <a:srgbClr val="16213A"/>
                          </a:solidFill>
                          <a:latin typeface="Arial"/>
                          <a:ea typeface="Malgun Gothic"/>
                          <a:cs typeface="Malgun Gothic"/>
                        </a:rPr>
                        <a:t>목표 선택 층</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위험 인지·로컬 내비</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지형 위험 그래프, 보이지 않는 지형 상상, CVaR 여유</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B.9</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위험 비용 설계</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최근 연구 비교</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2025–2026 학습 로컬 Planner·생성형 궤적·위험 인지 계획의 비교표, 공통점과 차이점</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B.17</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Planner D 다음 시도 순서</a:t>
                      </a:r>
                    </a:p>
                  </a:txBody>
                  <a:tcPr marL="63500" marR="63500" marT="12700" marB="12700">
                    <a:solidFill>
                      <a:srgbClr val="F3F0E8"/>
                    </a:solidFill>
                  </a:tcPr>
                </a:tc>
              </a:tr>
            </a:tbl>
          </a:graphicData>
        </a:graphic>
      </p:graphicFrame>
      <p:sp>
        <p:nvSpPr>
          <p:cNvPr id="8" name="TextBox 7"/>
          <p:cNvSpPr txBox="1"/>
          <p:nvPr/>
        </p:nvSpPr>
        <p:spPr>
          <a:xfrm>
            <a:off x="609600" y="3891657"/>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 현황 — 누가 무엇을 내놨나</a:t>
            </a:r>
          </a:p>
        </p:txBody>
      </p:sp>
      <p:graphicFrame>
        <p:nvGraphicFramePr>
          <p:cNvPr id="9" name="Table 8"/>
          <p:cNvGraphicFramePr>
            <a:graphicFrameLocks noGrp="1"/>
          </p:cNvGraphicFramePr>
          <p:nvPr/>
        </p:nvGraphicFramePr>
        <p:xfrm>
          <a:off x="609600" y="4197052"/>
          <a:ext cx="10966450" cy="833040"/>
        </p:xfrm>
        <a:graphic>
          <a:graphicData uri="http://schemas.openxmlformats.org/drawingml/2006/table">
            <a:tbl>
              <a:tblPr firstRow="1" bandRow="1">
                <a:tableStyleId>{5C22544A-7EE6-4342-B048-85BDC9FD1C3A}</a:tableStyleId>
              </a:tblPr>
              <a:tblGrid>
                <a:gridCol w="954881"/>
                <a:gridCol w="6271419"/>
                <a:gridCol w="947936"/>
                <a:gridCol w="2792214"/>
              </a:tblGrid>
              <a:tr h="197088">
                <a:tc>
                  <a:txBody>
                    <a:bodyPr wrap="square"/>
                    <a:lstStyle/>
                    <a:p>
                      <a:r>
                        <a:rPr sz="800" b="1" i="0">
                          <a:solidFill>
                            <a:srgbClr val="F4F1EA"/>
                          </a:solidFill>
                          <a:latin typeface="Arial"/>
                          <a:ea typeface="Malgun Gothic"/>
                          <a:cs typeface="Malgun Gothic"/>
                        </a:rPr>
                        <a:t>탭</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다루는 것</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절</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travplan과의 관계</a:t>
                      </a:r>
                    </a:p>
                  </a:txBody>
                  <a:tcPr marL="63500" marR="63500" marT="12700" marB="12700">
                    <a:solidFill>
                      <a:srgbClr val="16213A"/>
                    </a:solidFill>
                  </a:tcPr>
                </a:tc>
              </a:tr>
              <a:tr h="317976">
                <a:tc>
                  <a:txBody>
                    <a:bodyPr wrap="square"/>
                    <a:lstStyle/>
                    <a:p>
                      <a:r>
                        <a:rPr sz="800" b="0" i="0">
                          <a:solidFill>
                            <a:srgbClr val="16213A"/>
                          </a:solidFill>
                          <a:latin typeface="Arial"/>
                          <a:ea typeface="Malgun Gothic"/>
                          <a:cs typeface="Malgun Gothic"/>
                        </a:rPr>
                        <a:t>자율주행 자동차</a:t>
                      </a:r>
                    </a:p>
                  </a:txBody>
                  <a:tcPr marL="63500" marR="63500" marT="12700" marB="12700">
                    <a:solidFill>
                      <a:srgbClr val="FFFDF8"/>
                    </a:solidFill>
                  </a:tcPr>
                </a:tc>
                <a:tc>
                  <a:txBody>
                    <a:bodyPr wrap="square"/>
                    <a:lstStyle/>
                    <a:p>
                      <a:r>
                        <a:rPr sz="800" b="1" i="0">
                          <a:solidFill>
                            <a:srgbClr val="C2410C"/>
                          </a:solidFill>
                          <a:latin typeface="Arial"/>
                          <a:ea typeface="Malgun Gothic"/>
                          <a:cs typeface="Malgun Gothic"/>
                        </a:rPr>
                        <a:t>한자리에 모았다</a:t>
                      </a:r>
                      <a:r>
                        <a:rPr sz="800" b="0" i="0">
                          <a:solidFill>
                            <a:srgbClr val="16213A"/>
                          </a:solidFill>
                          <a:latin typeface="Arial"/>
                          <a:ea typeface="Malgun Gothic"/>
                          <a:cs typeface="Malgun Gothic"/>
                        </a:rPr>
                        <a:t> — 공개 스택(Autoware·Apollo), 종단간(E2E), 연구 역사와 2026 상용화</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B.12.1, B.11, B.13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후보 생성·검증·선택 구조, 폐루프 평가 지표, 규칙 안전 층</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다리·바퀴 로봇과 계보</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사족·휴머노이드·바퀴 로봇의 공개 Planner, ETH RSL 한 연구실의 층별 계보, NVIDIA·Google DeepMind·취리히·RAI Institute와 다른 연구실의 사족·휴머노이드 계보</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B.12, B.14, B.16</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스워브 모듈 모델, ROS 2 통합, 인식 도구의 출처, 학습 절차와 plant 보정</a:t>
                      </a:r>
                    </a:p>
                  </a:txBody>
                  <a:tcPr marL="63500" marR="63500" marT="12700" marB="12700">
                    <a:solidFill>
                      <a:srgbClr val="F3F0E8"/>
                    </a:solidFill>
                  </a:tcPr>
                </a:tc>
              </a:tr>
            </a:tbl>
          </a:graphicData>
        </a:graphic>
      </p:graphicFrame>
      <p:sp>
        <p:nvSpPr>
          <p:cNvPr id="10" name="TextBox 9"/>
          <p:cNvSpPr txBox="1"/>
          <p:nvPr/>
        </p:nvSpPr>
        <p:spPr>
          <a:xfrm>
            <a:off x="609600" y="5333603"/>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계보 한눈에 보기.</a:t>
            </a:r>
            <a:r>
              <a:rPr sz="1050" b="0" i="0">
                <a:solidFill>
                  <a:srgbClr val="16213A"/>
                </a:solidFill>
                <a:latin typeface="Arial"/>
                <a:ea typeface="Malgun Gothic"/>
                <a:cs typeface="Malgun Gothic"/>
              </a:rPr>
              <a:t> 각 이름의 설명은 해당 탭에 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개요</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Planner — 경로·궤적을 만드는 쪽 (§B)</a:t>
            </a:r>
            <a:r>
              <a:rPr sz="1050" b="0" i="0">
                <a:solidFill>
                  <a:srgbClr val="5A6478"/>
                </a:solidFill>
                <a:latin typeface="Arial"/>
                <a:ea typeface="Malgun Gothic"/>
                <a:cs typeface="Malgun Gothic"/>
              </a:rPr>
              <a:t>  2/4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3 / 516</a:t>
            </a:r>
          </a:p>
        </p:txBody>
      </p:sp>
      <p:graphicFrame>
        <p:nvGraphicFramePr>
          <p:cNvPr id="5" name="Table 4"/>
          <p:cNvGraphicFramePr>
            <a:graphicFrameLocks noGrp="1"/>
          </p:cNvGraphicFramePr>
          <p:nvPr/>
        </p:nvGraphicFramePr>
        <p:xfrm>
          <a:off x="609600" y="1244600"/>
          <a:ext cx="10966451" cy="2302032"/>
        </p:xfrm>
        <a:graphic>
          <a:graphicData uri="http://schemas.openxmlformats.org/drawingml/2006/table">
            <a:tbl>
              <a:tblPr firstRow="1" bandRow="1">
                <a:tableStyleId>{5C22544A-7EE6-4342-B048-85BDC9FD1C3A}</a:tableStyleId>
              </a:tblPr>
              <a:tblGrid>
                <a:gridCol w="610791"/>
                <a:gridCol w="1495723"/>
                <a:gridCol w="2311301"/>
                <a:gridCol w="1730276"/>
                <a:gridCol w="1581745"/>
                <a:gridCol w="1516658"/>
                <a:gridCol w="1719957"/>
              </a:tblGrid>
              <a:tr h="197088">
                <a:tc>
                  <a:txBody>
                    <a:bodyPr wrap="square"/>
                    <a:lstStyle/>
                    <a:p>
                      <a:r>
                        <a:rPr sz="800" b="1" i="0">
                          <a:solidFill>
                            <a:srgbClr val="F4F1EA"/>
                          </a:solidFill>
                          <a:latin typeface="Arial"/>
                          <a:ea typeface="Malgun Gothic"/>
                          <a:cs typeface="Malgun Gothic"/>
                        </a:rPr>
                        <a:t>연도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고전·최적화</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로봇별 공개 스택</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학습 로컬 Planner</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생성형 궤적</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foundation model·VLA</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E2E 주행</a:t>
                      </a:r>
                    </a:p>
                  </a:txBody>
                  <a:tcPr marL="63500" marR="63500" marT="12700" marB="12700">
                    <a:solidFill>
                      <a:srgbClr val="16213A"/>
                    </a:solidFill>
                  </a:tcPr>
                </a:tc>
              </a:tr>
              <a:tr h="317976">
                <a:tc>
                  <a:txBody>
                    <a:bodyPr wrap="square"/>
                    <a:lstStyle/>
                    <a:p>
                      <a:r>
                        <a:rPr sz="800" b="0" i="0">
                          <a:solidFill>
                            <a:srgbClr val="16213A"/>
                          </a:solidFill>
                          <a:latin typeface="Arial"/>
                          <a:ea typeface="Malgun Gothic"/>
                          <a:cs typeface="Malgun Gothic"/>
                        </a:rPr>
                        <a:t>1959–1997</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Dijkstra, A*, DWA</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2008–2018</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Hybrid A*, TEB</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ROS navigation, OMPL, 휴머노이드 발자국 계획, ORCA, Apollo EM planner, TOWR</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2019–2022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Nav2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CrowdNav, Crocoddyl, EPSILON, FAR, TARE, PUTN</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Diffuser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GNM</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2023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PDM-Closed, ArtPlanner, DRL-VO</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iPlanner</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Diffusion Policy, MPD</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ViNT, NoMaD</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UniAD, VAD</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2024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Smac Planner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X-Mobility, HOVER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ViPlanner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π0, DiffusionDrive</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OpenVLA, NaVILA, Uni-NaVid, CityWalker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SparseDrive, NAVSIM, Hydra-MDP, DriveVLM, EMMA</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2025</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CaRL, Alpamayo, COMPASS, ASAP, Gallant, HEAD</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NavDP, Skill-Nav, S2E, LoGoPlanner, LogoNav, CARE</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Diffusion Planner, GoalFlow, ReinFlow</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UrbanVLA</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2026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Occlusion-Aware Stability-Oriented Planning</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Click-and-Traverse, Alpamayo 1.5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AgniNav, CORE, MILER, X-NavDP, Beyond Imitation</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PC-Diffuser, FeaXDrive, MISTY, JPPD, GRACE</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Can VFMs Navigate?, Slow Brain Fast Planner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r>
            </a:tbl>
          </a:graphicData>
        </a:graphic>
      </p:graphicFrame>
      <p:sp>
        <p:nvSpPr>
          <p:cNvPr id="6" name="TextBox 5"/>
          <p:cNvSpPr txBox="1"/>
          <p:nvPr/>
        </p:nvSpPr>
        <p:spPr>
          <a:xfrm>
            <a:off x="609600" y="4217392"/>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공개 코드와 모델.</a:t>
            </a:r>
            <a:r>
              <a:rPr sz="1050" b="0" i="0">
                <a:solidFill>
                  <a:srgbClr val="16213A"/>
                </a:solidFill>
                <a:latin typeface="Arial"/>
                <a:ea typeface="Malgun Gothic"/>
                <a:cs typeface="Malgun Gothic"/>
              </a:rPr>
              <a:t> GitHub 별 순이다(2026-09). HF 다운로드는 대표 가중치의 최근 30일 값이다.</a:t>
            </a:r>
          </a:p>
        </p:txBody>
      </p:sp>
      <p:graphicFrame>
        <p:nvGraphicFramePr>
          <p:cNvPr id="7" name="Table 6"/>
          <p:cNvGraphicFramePr>
            <a:graphicFrameLocks noGrp="1"/>
          </p:cNvGraphicFramePr>
          <p:nvPr/>
        </p:nvGraphicFramePr>
        <p:xfrm>
          <a:off x="609600" y="4522788"/>
          <a:ext cx="10966449" cy="1182528"/>
        </p:xfrm>
        <a:graphic>
          <a:graphicData uri="http://schemas.openxmlformats.org/drawingml/2006/table">
            <a:tbl>
              <a:tblPr firstRow="1" bandRow="1">
                <a:tableStyleId>{5C22544A-7EE6-4342-B048-85BDC9FD1C3A}</a:tableStyleId>
              </a:tblPr>
              <a:tblGrid>
                <a:gridCol w="756841"/>
                <a:gridCol w="2994025"/>
                <a:gridCol w="707330"/>
                <a:gridCol w="1349970"/>
                <a:gridCol w="2541885"/>
                <a:gridCol w="2616398"/>
              </a:tblGrid>
              <a:tr h="197088">
                <a:tc>
                  <a:txBody>
                    <a:bodyPr wrap="square"/>
                    <a:lstStyle/>
                    <a:p>
                      <a:r>
                        <a:rPr sz="800" b="1" i="0">
                          <a:solidFill>
                            <a:srgbClr val="F4F1EA"/>
                          </a:solidFill>
                          <a:latin typeface="Arial"/>
                          <a:ea typeface="Malgun Gothic"/>
                          <a:cs typeface="Malgun Gothic"/>
                        </a:rPr>
                        <a:t>분야</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이름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코드(★)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HF 다운로드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라이선스</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travplan에서</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VLA</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3"/>
                        </a:rPr>
                        <a:t>openpi (π0)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14.0k</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0.04M (pi0_base)</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코드 Apache-2.0, 가중치 Gemma 약관</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flow matching 규칙이 Planner D와 같다</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VLA</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4"/>
                        </a:rPr>
                        <a:t>OpenVLA</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7.1k</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0.44M (7B)</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MIT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참고</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E2E</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5"/>
                        </a:rPr>
                        <a:t>UniAD</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4.8k</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Apache-2.0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참고</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스택</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6"/>
                        </a:rPr>
                        <a:t>Nav2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4.7k</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패키지별 혼합</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ROS 2 통합 시 기준 스택</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생성형</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7"/>
                        </a:rPr>
                        <a:t>Diffusion Policy</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4.6k</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MIT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행동 열 생성의 원형</a:t>
                      </a:r>
                    </a:p>
                  </a:txBody>
                  <a:tcPr marL="63500" marR="63500" marT="12700" marB="12700">
                    <a:solidFill>
                      <a:srgbClr val="FFFDF8"/>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개요</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Planner — 경로·궤적을 만드는 쪽 (§B)</a:t>
            </a:r>
            <a:r>
              <a:rPr sz="1050" b="0" i="0">
                <a:solidFill>
                  <a:srgbClr val="5A6478"/>
                </a:solidFill>
                <a:latin typeface="Arial"/>
                <a:ea typeface="Malgun Gothic"/>
                <a:cs typeface="Malgun Gothic"/>
              </a:rPr>
              <a:t>  3/4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4 / 516</a:t>
            </a:r>
          </a:p>
        </p:txBody>
      </p:sp>
      <p:graphicFrame>
        <p:nvGraphicFramePr>
          <p:cNvPr id="5" name="Table 4"/>
          <p:cNvGraphicFramePr>
            <a:graphicFrameLocks noGrp="1"/>
          </p:cNvGraphicFramePr>
          <p:nvPr/>
        </p:nvGraphicFramePr>
        <p:xfrm>
          <a:off x="609600" y="1244600"/>
          <a:ext cx="10966449" cy="3547584"/>
        </p:xfrm>
        <a:graphic>
          <a:graphicData uri="http://schemas.openxmlformats.org/drawingml/2006/table">
            <a:tbl>
              <a:tblPr firstRow="1" bandRow="1">
                <a:tableStyleId>{5C22544A-7EE6-4342-B048-85BDC9FD1C3A}</a:tableStyleId>
              </a:tblPr>
              <a:tblGrid>
                <a:gridCol w="756841"/>
                <a:gridCol w="2994025"/>
                <a:gridCol w="707330"/>
                <a:gridCol w="1349970"/>
                <a:gridCol w="2541885"/>
                <a:gridCol w="2616398"/>
              </a:tblGrid>
              <a:tr h="197088">
                <a:tc>
                  <a:txBody>
                    <a:bodyPr wrap="square"/>
                    <a:lstStyle/>
                    <a:p>
                      <a:r>
                        <a:rPr sz="800" b="1" i="0">
                          <a:solidFill>
                            <a:srgbClr val="F4F1EA"/>
                          </a:solidFill>
                          <a:latin typeface="Arial"/>
                          <a:ea typeface="Malgun Gothic"/>
                          <a:cs typeface="Malgun Gothic"/>
                        </a:rPr>
                        <a:t>분야</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이름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코드(★)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HF 다운로드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라이선스</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travplan에서</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생성형</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3"/>
                        </a:rPr>
                        <a:t>DiffusionDrive</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1.5k</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MIT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anchor 시작 아이디어(B.8.2)</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E2E</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4"/>
                        </a:rPr>
                        <a:t>VAD</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1.4k</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Apache-2.0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참고</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로컬</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5"/>
                        </a:rPr>
                        <a:t>TEB</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1.4k</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BSD-3-Clause</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고전 비교 대상</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기반 모델</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6"/>
                        </a:rPr>
                        <a:t>visualnav-transformer (GNM, ViNT, NoMaD)</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1.3k</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MIT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탐색 참고(B.6)</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생성형</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7"/>
                        </a:rPr>
                        <a:t>Diffuser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1.3k</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MIT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참고</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기반 모델</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8"/>
                        </a:rPr>
                        <a:t>InternNav</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1.1k</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MIT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내비 기반 모델을 만드는 공개 플랫폼</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E2E</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9"/>
                        </a:rPr>
                        <a:t>NAVSIM</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1.1k</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Apache-2.0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평가 지표 참고</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생성형</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0"/>
                        </a:rPr>
                        <a:t>Diffusion Planner</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1.1k</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표기 없음</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Planner D 출발점(B.8)</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E2E</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1"/>
                        </a:rPr>
                        <a:t>SparseDrive</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1.0k</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MIT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참고</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VLA</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2"/>
                        </a:rPr>
                        <a:t>NaVILA</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0.7k</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0.01M 미만</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Apache-2.0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두 층 구조 참고</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학습 로컬</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3"/>
                        </a:rPr>
                        <a:t>ViPlanner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0.7k</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BSD-3-Clause</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LearnedPlanner 손실의 원형</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생성형</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4"/>
                        </a:rPr>
                        <a:t>GoalFlow</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0.4k</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Apache-2.0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Planner D와 같은 구조</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E2E</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5"/>
                        </a:rPr>
                        <a:t>Hydra-MDP</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0.4k</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표기 없음</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점수 증류 참고</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학습 로컬</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6"/>
                        </a:rPr>
                        <a:t>iPlanner</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0.4k</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MIT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LearnedPlanner 손실의 원형</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VLA</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7"/>
                        </a:rPr>
                        <a:t>Uni-NaVid</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0.4k</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MIT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참고</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생성형</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8"/>
                        </a:rPr>
                        <a:t>MPD</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0.3k</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MIT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비용 guidance 참고</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도시 내비</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9"/>
                        </a:rPr>
                        <a:t>CityWalker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0.2k</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Apache-2.0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보도 영상 라벨링 참고</a:t>
                      </a:r>
                    </a:p>
                  </a:txBody>
                  <a:tcPr marL="63500" marR="63500" marT="12700" marB="12700">
                    <a:solidFill>
                      <a:srgbClr val="FFFDF8"/>
                    </a:solidFill>
                  </a:tcPr>
                </a:tc>
              </a:tr>
            </a:tbl>
          </a:graphicData>
        </a:graphic>
      </p:graphicFrame>
      <p:sp>
        <p:nvSpPr>
          <p:cNvPr id="6" name="TextBox 5"/>
          <p:cNvSpPr txBox="1"/>
          <p:nvPr/>
        </p:nvSpPr>
        <p:spPr>
          <a:xfrm>
            <a:off x="609600" y="5774333"/>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로봇 종류별 공개 스택(Autoware, Apollo, openpilot, OCS2, Nav2, Choreo 등)의 별 수와 라이선스는 B.12에 따로 모았다.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개요</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Planner — 경로·궤적을 만드는 쪽 (§B)</a:t>
            </a:r>
            <a:r>
              <a:rPr sz="1050" b="0" i="0">
                <a:solidFill>
                  <a:srgbClr val="5A6478"/>
                </a:solidFill>
                <a:latin typeface="Arial"/>
                <a:ea typeface="Malgun Gothic"/>
                <a:cs typeface="Malgun Gothic"/>
              </a:rPr>
              <a:t>  4/4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5 / 516</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travplan의 위치.</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travplan Planner는 "고전 전역 경로 + 학습 로컬 궤적 생성 + 규칙 점수 선택"의 세 층이다.</a:t>
            </a:r>
            <a:r>
              <a:rPr sz="1050" b="0" i="0">
                <a:solidFill>
                  <a:srgbClr val="16213A"/>
                </a:solidFill>
                <a:latin typeface="Arial"/>
                <a:ea typeface="Malgun Gothic"/>
                <a:cs typeface="Malgun Gothic"/>
              </a:rPr>
              <a:t> GuidancePlanner가 TravMap 위 Dijkstra로 subgoal과 cost-to-go를 주고(B.10), Planner D가 flow matching으로 후보 궤적을 만들고(B.8.3), 규칙 점수가 하나를 고른다. LearnedPlanner는 iPlanner 계열의 자기지도 손실로 학습한 waypoint Planner다(B.4b). VLA와 VLM은 이 세 층 위에서 목표를 정하는 층으로 쓰고(B.6b), E2E 주행에서는 평가와 선택 설계를 가져온다(B.11). 네 종류 로봇의 공개 스택에서 가져올 것은 B.12.5에 정리했다.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F59E5B"/>
                </a:solidFill>
                <a:latin typeface="Consolas"/>
                <a:ea typeface="Malgun Gothic"/>
                <a:cs typeface="Malgun Gothic"/>
              </a:rPr>
              <a:t>Planner · 탭</a:t>
            </a:r>
          </a:p>
        </p:txBody>
      </p:sp>
      <p:sp>
        <p:nvSpPr>
          <p:cNvPr id="3" name="TextBox 2"/>
          <p:cNvSpPr txBox="1"/>
          <p:nvPr/>
        </p:nvSpPr>
        <p:spPr>
          <a:xfrm>
            <a:off x="609600" y="609600"/>
            <a:ext cx="10972800" cy="381000"/>
          </a:xfrm>
          <a:prstGeom prst="rect">
            <a:avLst/>
          </a:prstGeom>
          <a:noFill/>
        </p:spPr>
        <p:txBody>
          <a:bodyPr wrap="square" lIns="0" rIns="0" tIns="0" bIns="0" anchor="t">
            <a:spAutoFit/>
            <a:normAutofit/>
          </a:bodyPr>
          <a:lstStyle/>
          <a:p>
            <a:r>
              <a:rPr sz="2650" b="1" i="0">
                <a:solidFill>
                  <a:srgbClr val="F4F1EA"/>
                </a:solidFill>
                <a:latin typeface="Arial"/>
                <a:ea typeface="Malgun Gothic"/>
                <a:cs typeface="Malgun Gothic"/>
              </a:rPr>
              <a:t>travplan과 고전 기준선</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9AA6BC"/>
                </a:solidFill>
                <a:latin typeface="Arial"/>
                <a:ea typeface="Malgun Gothic"/>
                <a:cs typeface="Malgun Gothic"/>
              </a:rPr>
              <a:t>travplan 리서치 · Planner (docs/research-planner.md)    6 / 516</a:t>
            </a:r>
          </a:p>
        </p:txBody>
      </p:sp>
      <p:sp>
        <p:nvSpPr>
          <p:cNvPr id="5" name="TextBox 4"/>
          <p:cNvSpPr txBox="1"/>
          <p:nvPr/>
        </p:nvSpPr>
        <p:spPr>
          <a:xfrm>
            <a:off x="609600" y="1244600"/>
            <a:ext cx="5283200" cy="5080000"/>
          </a:xfrm>
          <a:prstGeom prst="rect">
            <a:avLst/>
          </a:prstGeom>
          <a:noFill/>
        </p:spPr>
        <p:txBody>
          <a:bodyPr wrap="square" lIns="0" rIns="0" tIns="0" bIns="0" anchor="t">
            <a:spAutoFit/>
            <a:normAutofit/>
          </a:bodyPr>
          <a:lstStyle/>
          <a:p>
            <a:pPr>
              <a:spcAft>
                <a:spcPts val="400"/>
              </a:spcAft>
            </a:pPr>
            <a:r>
              <a:rPr sz="1000" b="0" i="0">
                <a:solidFill>
                  <a:srgbClr val="C9D1E0"/>
                </a:solidFill>
                <a:latin typeface="Arial"/>
                <a:ea typeface="Malgun Gothic"/>
                <a:cs typeface="Malgun Gothic"/>
              </a:rPr>
              <a:t>B.1 travplan의 현재 구조</a:t>
            </a:r>
          </a:p>
        </p:txBody>
      </p:sp>
      <p:sp>
        <p:nvSpPr>
          <p:cNvPr id="6" name="TextBox 5"/>
          <p:cNvSpPr txBox="1"/>
          <p:nvPr/>
        </p:nvSpPr>
        <p:spPr>
          <a:xfrm>
            <a:off x="6299200" y="1244600"/>
            <a:ext cx="5283200" cy="5080000"/>
          </a:xfrm>
          <a:prstGeom prst="rect">
            <a:avLst/>
          </a:prstGeom>
          <a:noFill/>
        </p:spPr>
        <p:txBody>
          <a:bodyPr wrap="square" lIns="0" rIns="0" tIns="0" bIns="0" anchor="t">
            <a:spAutoFit/>
            <a:normAutofit/>
          </a:bodyPr>
          <a:lstStyle/>
          <a:p>
            <a:pPr>
              <a:spcAft>
                <a:spcPts val="400"/>
              </a:spcAft>
            </a:pPr>
            <a:r>
              <a:rPr sz="1000" b="0" i="0">
                <a:solidFill>
                  <a:srgbClr val="C9D1E0"/>
                </a:solidFill>
                <a:latin typeface="Arial"/>
                <a:ea typeface="Malgun Gothic"/>
                <a:cs typeface="Malgun Gothic"/>
              </a:rPr>
              <a:t>B.10 고전 기준선: 그래프 탐색, 로컬 플래너, 궤적 최적화</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travplan과 고전 기준선</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 travplan의 현재 구조</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7 / 516</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travplan은 2026-09-25부터 Planner와 Controller를 나눴다. </a:t>
            </a:r>
            <a:r>
              <a:rPr sz="1050" b="1" i="0">
                <a:solidFill>
                  <a:srgbClr val="16213A"/>
                </a:solidFill>
                <a:latin typeface="Arial"/>
                <a:ea typeface="Malgun Gothic"/>
                <a:cs typeface="Malgun Gothic"/>
              </a:rPr>
              <a:t>Planner는 학습 기반으로 개발하고, MPPI는 Planner의 경로나 궤적을 받아 실행하는 Controller로 둔다.</a:t>
            </a:r>
          </a:p>
        </p:txBody>
      </p:sp>
      <p:sp>
        <p:nvSpPr>
          <p:cNvPr id="6" name="TextBox 5"/>
          <p:cNvSpPr txBox="1"/>
          <p:nvPr/>
        </p:nvSpPr>
        <p:spPr>
          <a:xfrm>
            <a:off x="609600" y="1549995"/>
            <a:ext cx="10972800" cy="766762"/>
          </a:xfrm>
          <a:prstGeom prst="rect">
            <a:avLst/>
          </a:prstGeom>
          <a:solidFill>
            <a:srgbClr val="16213A"/>
          </a:solidFill>
        </p:spPr>
        <p:txBody>
          <a:bodyPr wrap="square" lIns="114300" rIns="114300" tIns="88900" bIns="88900" anchor="t">
            <a:spAutoFit/>
            <a:normAutofit/>
          </a:bodyPr>
          <a:lstStyle/>
          <a:p>
            <a:r>
              <a:rPr sz="750" b="0" i="0">
                <a:solidFill>
                  <a:srgbClr val="F4F1EA"/>
                </a:solidFill>
                <a:latin typeface="Consolas"/>
                <a:ea typeface="Malgun Gothic"/>
                <a:cs typeface="Malgun Gothic"/>
              </a:rPr>
              <a:t>Planner (개발 대상)                                              Controller (유지보수만)</a:t>
            </a:r>
          </a:p>
          <a:p>
            <a:r>
              <a:rPr sz="750" b="0" i="0">
                <a:solidFill>
                  <a:srgbClr val="F4F1EA"/>
                </a:solidFill>
                <a:latin typeface="Consolas"/>
                <a:ea typeface="Malgun Gothic"/>
                <a:cs typeface="Malgun Gothic"/>
              </a:rPr>
              <a:t>  LearnedPlanner   로봇 중심 크롭 + subgoal → WaypointNet → waypoint 8개 ─┐</a:t>
            </a:r>
          </a:p>
          <a:p>
            <a:r>
              <a:rPr sz="750" b="0" i="0">
                <a:solidFill>
                  <a:srgbClr val="F4F1EA"/>
                </a:solidFill>
                <a:latin typeface="Consolas"/>
                <a:ea typeface="Malgun Gothic"/>
                <a:cs typeface="Malgun Gothic"/>
              </a:rPr>
              <a:t>  GuidancePlanner  Dijkstra 경로 (비학습 기준선)                           ├─▶ MPPIController / TrackerController ─▶ body twist</a:t>
            </a:r>
          </a:p>
          <a:p>
            <a:r>
              <a:rPr sz="750" b="0" i="0">
                <a:solidFill>
                  <a:srgbClr val="F4F1EA"/>
                </a:solidFill>
                <a:latin typeface="Consolas"/>
                <a:ea typeface="Malgun Gothic"/>
                <a:cs typeface="Malgun Gothic"/>
              </a:rPr>
              <a:t>  Planner D        flow matching 시간 인덱스 궤적 (§B.8.3)                 ─┘</a:t>
            </a:r>
          </a:p>
        </p:txBody>
      </p:sp>
      <p:sp>
        <p:nvSpPr>
          <p:cNvPr id="7" name="TextBox 6"/>
          <p:cNvSpPr txBox="1"/>
          <p:nvPr/>
        </p:nvSpPr>
        <p:spPr>
          <a:xfrm>
            <a:off x="609600" y="2405658"/>
            <a:ext cx="10972800" cy="649486"/>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조사를 시작할 때는 세 트랙이었다. A는 MPPI3D(계획과 제어를 함께), B는 LearnedPlanner, C는 HybridPlanner(B의 경로를 MPPI 샘플링의 prior로 쓰는 방식)였다. 아래 절들은 이 가운데 학습 Planner를 대체하거나 강화할 후보(§B.2–B.4, §B.4b, §B.6, §B.8, §B.9)다. 비교 기준인 고전 계획은 §B.10, 로봇 종류별 공개 스택은 §B.12, 자율주행 E2E 계획은 §B.11에 있다. §B.5(MPPI 샘플링 개선)는 Controller·안전 문서의 MPPI 탭에 있다.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travplan과 고전 기준선</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B.10 고전 기준선: 그래프 탐색, 로컬 플래너, 궤적 최적화</a:t>
            </a:r>
            <a:r>
              <a:rPr sz="1050" b="0" i="0">
                <a:solidFill>
                  <a:srgbClr val="5A6478"/>
                </a:solidFill>
                <a:latin typeface="Arial"/>
                <a:ea typeface="Malgun Gothic"/>
                <a:cs typeface="Malgun Gothic"/>
              </a:rPr>
              <a:t>  1/3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8 / 516</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학습 Planner는 고전 기준선을 이겨야 의미가 있다.</a:t>
            </a:r>
            <a:r>
              <a:rPr sz="1050" b="0" i="0">
                <a:solidFill>
                  <a:srgbClr val="16213A"/>
                </a:solidFill>
                <a:latin typeface="Arial"/>
                <a:ea typeface="Malgun Gothic"/>
                <a:cs typeface="Malgun Gothic"/>
              </a:rPr>
              <a:t> travplan의 비학습 기준선은 </a:t>
            </a:r>
            <a:r>
              <a:rPr sz="1050" b="0" i="0">
                <a:solidFill>
                  <a:srgbClr val="16213A"/>
                </a:solidFill>
                <a:latin typeface="Consolas"/>
                <a:ea typeface="Malgun Gothic"/>
                <a:cs typeface="Malgun Gothic"/>
              </a:rPr>
              <a:t>GuidancePlanner</a:t>
            </a:r>
            <a:r>
              <a:rPr sz="1050" b="0" i="0">
                <a:solidFill>
                  <a:srgbClr val="16213A"/>
                </a:solidFill>
                <a:latin typeface="Arial"/>
                <a:ea typeface="Malgun Gothic"/>
                <a:cs typeface="Malgun Gothic"/>
              </a:rPr>
              <a:t>다. TravMap 비용 위에서 Dijkstra로 목표까지의 경로를 구하고, 3 seed 운동학 벤치마크에서 guidance+mppi 스택이 12/12를 기록했다. 고전 계획은 세 층으로 나뉜다. 전역 경로를 찾는 그래프 탐색, 몇 초 앞의 속도를 고르는 로컬 플래너, 경로를 매끄럽고 실행 가능한 궤적으로 다듬는 최적화다. ROS 2의 Nav2가 이 세 층을 한 스택으로 묶는다.</a:t>
            </a:r>
          </a:p>
        </p:txBody>
      </p:sp>
      <p:graphicFrame>
        <p:nvGraphicFramePr>
          <p:cNvPr id="6" name="Table 5"/>
          <p:cNvGraphicFramePr>
            <a:graphicFrameLocks noGrp="1"/>
          </p:cNvGraphicFramePr>
          <p:nvPr/>
        </p:nvGraphicFramePr>
        <p:xfrm>
          <a:off x="609600" y="1982986"/>
          <a:ext cx="10966450" cy="1576704"/>
        </p:xfrm>
        <a:graphic>
          <a:graphicData uri="http://schemas.openxmlformats.org/drawingml/2006/table">
            <a:tbl>
              <a:tblPr firstRow="1" bandRow="1">
                <a:tableStyleId>{5C22544A-7EE6-4342-B048-85BDC9FD1C3A}</a:tableStyleId>
              </a:tblPr>
              <a:tblGrid>
                <a:gridCol w="1085354"/>
                <a:gridCol w="1212255"/>
                <a:gridCol w="514945"/>
                <a:gridCol w="5663902"/>
                <a:gridCol w="2489994"/>
              </a:tblGrid>
              <a:tr h="197088">
                <a:tc>
                  <a:txBody>
                    <a:bodyPr wrap="square"/>
                    <a:lstStyle/>
                    <a:p>
                      <a:r>
                        <a:rPr sz="800" b="1" i="0">
                          <a:solidFill>
                            <a:srgbClr val="F4F1EA"/>
                          </a:solidFill>
                          <a:latin typeface="Arial"/>
                          <a:ea typeface="Malgun Gothic"/>
                          <a:cs typeface="Malgun Gothic"/>
                        </a:rPr>
                        <a:t>연도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이름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층</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핵심</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구현</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1959</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Dijkstra</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전역</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누적 비용이 가장 작은 칸부터 확정하는 최단 경로</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travplan </a:t>
                      </a:r>
                      <a:r>
                        <a:rPr sz="800" b="0" i="0">
                          <a:solidFill>
                            <a:srgbClr val="16213A"/>
                          </a:solidFill>
                          <a:latin typeface="Consolas"/>
                          <a:ea typeface="Malgun Gothic"/>
                          <a:cs typeface="Malgun Gothic"/>
                        </a:rPr>
                        <a:t>GuidancePlanner</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1968</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전역</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남은 비용의 추정(휴리스틱)으로 탐색 순서를 정한다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Nav2 Smac(2D)</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1997</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DWA</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로컬</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가속 한계 안의 속도 창에서 목적함수가 가장 큰 속도를 고른다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Nav2 DWB</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2008–2010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Hybrid A*</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전역</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칸마다 연속 자세를 저장하는 A*, 차량 기구학을 지키는 경로</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Nav2 Smac Hybrid-A*</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2012–2017</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TEB</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로컬</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시간 간격을 가진 궤적을 희소 그래프 최적화로 다듬고, 여러 위상의 후보를 함께 최적화</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3"/>
                        </a:rPr>
                        <a:t>teb_local_planner</a:t>
                      </a:r>
                      <a:r>
                        <a:rPr sz="800" b="0" i="0">
                          <a:solidFill>
                            <a:srgbClr val="16213A"/>
                          </a:solidFill>
                          <a:latin typeface="Arial"/>
                          <a:ea typeface="Malgun Gothic"/>
                          <a:cs typeface="Malgun Gothic"/>
                        </a:rPr>
                        <a:t> 1.4k</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2020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Nav2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스택</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behavior tree로 전역 계획, 로컬 제어, 복구를 조율하는 ROS 2 내비 스택</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4"/>
                        </a:rPr>
                        <a:t>ros-navigation/navigation2</a:t>
                      </a:r>
                      <a:r>
                        <a:rPr sz="800" b="0" i="0">
                          <a:solidFill>
                            <a:srgbClr val="16213A"/>
                          </a:solidFill>
                          <a:latin typeface="Arial"/>
                          <a:ea typeface="Malgun Gothic"/>
                          <a:cs typeface="Malgun Gothic"/>
                        </a:rPr>
                        <a:t> 4.7k</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2024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Smac Planner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전역</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비용 인식 A*, Hybrid-A*, State Lattice를 한 프레임워크로</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Nav2 기본 계획기</a:t>
                      </a:r>
                    </a:p>
                  </a:txBody>
                  <a:tcPr marL="63500" marR="63500" marT="12700" marB="12700">
                    <a:solidFill>
                      <a:srgbClr val="FFFDF8"/>
                    </a:solidFill>
                  </a:tcPr>
                </a:tc>
              </a:tr>
            </a:tbl>
          </a:graphicData>
        </a:graphic>
      </p:graphicFrame>
      <p:sp>
        <p:nvSpPr>
          <p:cNvPr id="7" name="TextBox 6"/>
          <p:cNvSpPr txBox="1"/>
          <p:nvPr/>
        </p:nvSpPr>
        <p:spPr>
          <a:xfrm>
            <a:off x="609600" y="4049117"/>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Dijkstra와 A* — 격자 위 최단 경로</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5"/>
              </a:rPr>
              <a:t>Dijkstra 1959</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6"/>
              </a:rPr>
              <a:t>Hart, Nilsson, Raphael 1968</a:t>
            </a:r>
            <a:r>
              <a:rPr sz="1050" b="0" i="0">
                <a:solidFill>
                  <a:srgbClr val="16213A"/>
                </a:solidFill>
                <a:latin typeface="Arial"/>
                <a:ea typeface="Malgun Gothic"/>
                <a:cs typeface="Malgun Gothic"/>
              </a:rPr>
              <a:t>). Dijkstra는 누적 비용이 가장 작은 칸부터 확정해 나간다. 간선 비용이 음이 아니면 최단 경로를 보장한다. A*는 누적 비용에 목표까지 남은 비용의 추정을 더한 값 순서로 칸을 연다. 추정이 실제 비용을 넘지 않으면 최적성을 유지하면서 훨씬 적은 칸만 연다. travplan의 </a:t>
            </a:r>
            <a:r>
              <a:rPr sz="1050" b="0" i="0">
                <a:solidFill>
                  <a:srgbClr val="16213A"/>
                </a:solidFill>
                <a:latin typeface="Consolas"/>
                <a:ea typeface="Malgun Gothic"/>
                <a:cs typeface="Malgun Gothic"/>
              </a:rPr>
              <a:t>GuidancePlanner</a:t>
            </a:r>
            <a:r>
              <a:rPr sz="1050" b="0" i="0">
                <a:solidFill>
                  <a:srgbClr val="16213A"/>
                </a:solidFill>
                <a:latin typeface="Arial"/>
                <a:ea typeface="Malgun Gothic"/>
                <a:cs typeface="Malgun Gothic"/>
              </a:rPr>
              <a:t>는 목표에서 출발하는 Dijkstra로 모든 칸의 cost-to-go를 한 번에 구한다. 학습 Planner(LearnedPlanner, Planner D)는 이 cost-to-go 경로 위 4 m 앞의 점을 subgoal로 받는다.</a:t>
            </a:r>
          </a:p>
        </p:txBody>
      </p:sp>
      <p:sp>
        <p:nvSpPr>
          <p:cNvPr id="8" name="TextBox 7"/>
          <p:cNvSpPr txBox="1"/>
          <p:nvPr/>
        </p:nvSpPr>
        <p:spPr>
          <a:xfrm>
            <a:off x="609600" y="4787503"/>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Hybrid A* — 격자 탐색에 차량 기구학을 넣었다</a:t>
            </a:r>
            <a:r>
              <a:rPr sz="1050" b="0" i="0">
                <a:solidFill>
                  <a:srgbClr val="16213A"/>
                </a:solidFill>
                <a:latin typeface="Arial"/>
                <a:ea typeface="Malgun Gothic"/>
                <a:cs typeface="Malgun Gothic"/>
              </a:rPr>
              <a:t>(Dolgov 등, 2008 워크숍, </a:t>
            </a:r>
            <a:r>
              <a:rPr sz="1050" b="0" i="0">
                <a:solidFill>
                  <a:srgbClr val="1D4ED8"/>
                </a:solidFill>
                <a:latin typeface="Arial"/>
                <a:ea typeface="Malgun Gothic"/>
                <a:cs typeface="Malgun Gothic"/>
                <a:hlinkClick r:id="rId7"/>
              </a:rPr>
              <a:t>IJRR 2010</a:t>
            </a:r>
            <a:r>
              <a:rPr sz="1050" b="0" i="0">
                <a:solidFill>
                  <a:srgbClr val="16213A"/>
                </a:solidFill>
                <a:latin typeface="Arial"/>
                <a:ea typeface="Malgun Gothic"/>
                <a:cs typeface="Malgun Gothic"/>
              </a:rPr>
              <a:t>, Stanford). DARPA Urban Challenge 차량 Junior의 주차장 계획에서 나왔다. 격자 칸마다 연속 자세 </a:t>
            </a:r>
            <a:r>
              <a:rPr sz="1050" b="0" i="1">
                <a:solidFill>
                  <a:srgbClr val="16213A"/>
                </a:solidFill>
                <a:latin typeface="Arial"/>
                <a:ea typeface="Malgun Gothic"/>
                <a:cs typeface="Malgun Gothic"/>
              </a:rPr>
              <a:t>(x, y, θ)</a:t>
            </a:r>
            <a:r>
              <a:rPr sz="1050" b="0" i="0">
                <a:solidFill>
                  <a:srgbClr val="16213A"/>
                </a:solidFill>
                <a:latin typeface="Arial"/>
                <a:ea typeface="Malgun Gothic"/>
                <a:cs typeface="Malgun Gothic"/>
              </a:rPr>
              <a:t>를 저장하고, 조향 원호로 이웃을 확장한다. 그래서 결과 경로가 차량이 실제로 따라갈 수 있다. 장애물을 무시한 비홀로노믹 거리와 장애물을 고려한 2D 최단 거리 가운데 큰 값을 휴리스틱으로 쓰고, 탐색 중간에 목표까지 Reeds-Shepp 곡선을 바로 이어 보는 해석적 확장으로 속도를 높였다. Nav2의 Smac Planner(2024)가 비용 인식 판을 기본 계획기로 제공한다.</a:t>
            </a:r>
          </a:p>
        </p:txBody>
      </p:sp>
      <p:sp>
        <p:nvSpPr>
          <p:cNvPr id="9" name="TextBox 8"/>
          <p:cNvSpPr txBox="1"/>
          <p:nvPr/>
        </p:nvSpPr>
        <p:spPr>
          <a:xfrm>
            <a:off x="609600" y="5525889"/>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DWA — 다음 순간의 속도를 고른다</a:t>
            </a:r>
            <a:r>
              <a:rPr sz="1050" b="0" i="0">
                <a:solidFill>
                  <a:srgbClr val="16213A"/>
                </a:solidFill>
                <a:latin typeface="Arial"/>
                <a:ea typeface="Malgun Gothic"/>
                <a:cs typeface="Malgun Gothic"/>
              </a:rPr>
              <a:t>(Fox, Burgard, Thrun, </a:t>
            </a:r>
            <a:r>
              <a:rPr sz="1050" b="0" i="0">
                <a:solidFill>
                  <a:srgbClr val="1D4ED8"/>
                </a:solidFill>
                <a:latin typeface="Arial"/>
                <a:ea typeface="Malgun Gothic"/>
                <a:cs typeface="Malgun Gothic"/>
                <a:hlinkClick r:id="rId8"/>
              </a:rPr>
              <a:t>IEEE RAM 1997</a:t>
            </a:r>
            <a:r>
              <a:rPr sz="1050" b="0" i="0">
                <a:solidFill>
                  <a:srgbClr val="16213A"/>
                </a:solidFill>
                <a:latin typeface="Arial"/>
                <a:ea typeface="Malgun Gothic"/>
                <a:cs typeface="Malgun Gothic"/>
              </a:rPr>
              <a:t>). 로봇이 짧은 시간 안에 낼 수 있는 속도 창(dynamic window)만 탐색한다. 창 안의 각 </a:t>
            </a:r>
            <a:r>
              <a:rPr sz="1050" b="0" i="1">
                <a:solidFill>
                  <a:srgbClr val="16213A"/>
                </a:solidFill>
                <a:latin typeface="Arial"/>
                <a:ea typeface="Malgun Gothic"/>
                <a:cs typeface="Malgun Gothic"/>
              </a:rPr>
              <a:t>(v, ω)</a:t>
            </a:r>
            <a:r>
              <a:rPr sz="1050" b="0" i="0">
                <a:solidFill>
                  <a:srgbClr val="16213A"/>
                </a:solidFill>
                <a:latin typeface="Arial"/>
                <a:ea typeface="Malgun Gothic"/>
                <a:cs typeface="Malgun Gothic"/>
              </a:rPr>
              <a:t>가 그리는 원호를 따라, 목표 방향, 장애물까지 거리, 속도의 가중합을 평가해 가장 좋은 것을 고른다. 장애물 앞에서 멈출 수 없는 속도는 처음부터 뺀다. 계산이 매우 가볍고, Nav2의 DWB가 이 계열이다.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travplan과 고전 기준선</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B.10 고전 기준선: 그래프 탐색, 로컬 플래너, 궤적 최적화</a:t>
            </a:r>
            <a:r>
              <a:rPr sz="1050" b="0" i="0">
                <a:solidFill>
                  <a:srgbClr val="5A6478"/>
                </a:solidFill>
                <a:latin typeface="Arial"/>
                <a:ea typeface="Malgun Gothic"/>
                <a:cs typeface="Malgun Gothic"/>
              </a:rPr>
              <a:t>  2/3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9 / 516</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TEB — 시간이 붙은 궤적을 최적화한다</a:t>
            </a:r>
            <a:r>
              <a:rPr sz="1050" b="0" i="0">
                <a:solidFill>
                  <a:srgbClr val="16213A"/>
                </a:solidFill>
                <a:latin typeface="Arial"/>
                <a:ea typeface="Malgun Gothic"/>
                <a:cs typeface="Malgun Gothic"/>
              </a:rPr>
              <a:t>(Rösmann 등, 2012–2017, </a:t>
            </a:r>
            <a:r>
              <a:rPr sz="1050" b="0" i="0">
                <a:solidFill>
                  <a:srgbClr val="1D4ED8"/>
                </a:solidFill>
                <a:latin typeface="Arial"/>
                <a:ea typeface="Malgun Gothic"/>
                <a:cs typeface="Malgun Gothic"/>
                <a:hlinkClick r:id="rId3"/>
              </a:rPr>
              <a:t>RAS 2017</a:t>
            </a:r>
            <a:r>
              <a:rPr sz="1050" b="0" i="0">
                <a:solidFill>
                  <a:srgbClr val="16213A"/>
                </a:solidFill>
                <a:latin typeface="Arial"/>
                <a:ea typeface="Malgun Gothic"/>
                <a:cs typeface="Malgun Gothic"/>
              </a:rPr>
              <a:t>, TU Dortmund, </a:t>
            </a:r>
            <a:r>
              <a:rPr sz="1050" b="0" i="0">
                <a:solidFill>
                  <a:srgbClr val="1D4ED8"/>
                </a:solidFill>
                <a:latin typeface="Arial"/>
                <a:ea typeface="Malgun Gothic"/>
                <a:cs typeface="Malgun Gothic"/>
                <a:hlinkClick r:id="rId4"/>
              </a:rPr>
              <a:t>코드</a:t>
            </a:r>
            <a:r>
              <a:rPr sz="1050" b="0" i="0">
                <a:solidFill>
                  <a:srgbClr val="16213A"/>
                </a:solidFill>
                <a:latin typeface="Arial"/>
                <a:ea typeface="Malgun Gothic"/>
                <a:cs typeface="Malgun Gothic"/>
              </a:rPr>
              <a:t>). 궤적을 자세 열과 그 사이 시간 간격 </a:t>
            </a:r>
            <a:r>
              <a:rPr sz="1050" b="0" i="1">
                <a:solidFill>
                  <a:srgbClr val="16213A"/>
                </a:solidFill>
                <a:latin typeface="Arial"/>
                <a:ea typeface="Malgun Gothic"/>
                <a:cs typeface="Malgun Gothic"/>
              </a:rPr>
              <a:t>Δ T</a:t>
            </a:r>
            <a:r>
              <a:rPr sz="1050" b="0" i="0">
                <a:solidFill>
                  <a:srgbClr val="16213A"/>
                </a:solidFill>
                <a:latin typeface="Arial"/>
                <a:ea typeface="Malgun Gothic"/>
                <a:cs typeface="Malgun Gothic"/>
              </a:rPr>
              <a:t>로 표현하고, 속도·가속도 한계, 장애물 거리, 기구학 제약을 벌점으로, 전체 시간을 목적함수로 둔 희소 그래프 최적화(g2o)로 푼다. 장애물의 왼쪽과 오른쪽처럼 위상이 다른 후보 궤적 여러 개를 병렬로 최적화해 가장 좋은 것을 고른다. 홀로노믹 로봇의 옆 방향 속도도 다룬다.</a:t>
            </a:r>
          </a:p>
        </p:txBody>
      </p:sp>
      <p:sp>
        <p:nvSpPr>
          <p:cNvPr id="6" name="TextBox 5"/>
          <p:cNvSpPr txBox="1"/>
          <p:nvPr/>
        </p:nvSpPr>
        <p:spPr>
          <a:xfrm>
            <a:off x="609600" y="1982986"/>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Nav2 — ROS 2 내비게이션 스택</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5"/>
              </a:rPr>
              <a:t>arXiv:2003.00368</a:t>
            </a:r>
            <a:r>
              <a:rPr sz="1050" b="0" i="0">
                <a:solidFill>
                  <a:srgbClr val="16213A"/>
                </a:solidFill>
                <a:latin typeface="Arial"/>
                <a:ea typeface="Malgun Gothic"/>
                <a:cs typeface="Malgun Gothic"/>
              </a:rPr>
              <a:t>, IROS 2020, </a:t>
            </a:r>
            <a:r>
              <a:rPr sz="1050" b="0" i="0">
                <a:solidFill>
                  <a:srgbClr val="1D4ED8"/>
                </a:solidFill>
                <a:latin typeface="Arial"/>
                <a:ea typeface="Malgun Gothic"/>
                <a:cs typeface="Malgun Gothic"/>
                <a:hlinkClick r:id="rId6"/>
              </a:rPr>
              <a:t>코드</a:t>
            </a:r>
            <a:r>
              <a:rPr sz="1050" b="0" i="0">
                <a:solidFill>
                  <a:srgbClr val="16213A"/>
                </a:solidFill>
                <a:latin typeface="Arial"/>
                <a:ea typeface="Malgun Gothic"/>
                <a:cs typeface="Malgun Gothic"/>
              </a:rPr>
              <a:t>). ROS Navigation의 후속으로, behavior tree가 전역 계획, 로컬 제어, 복구 행동을 조율하고 ROS 2의 lifecycle 관리 위에서 돈다. 대학 캠퍼스에서 학생들 사이를 마라톤 거리만큼 주행하는 실험으로 검증했다. 이후 비용 인식 Hybrid-A*와 State Lattice를 담은 Smac Planner (</a:t>
            </a:r>
            <a:r>
              <a:rPr sz="1050" b="0" i="0">
                <a:solidFill>
                  <a:srgbClr val="1D4ED8"/>
                </a:solidFill>
                <a:latin typeface="Arial"/>
                <a:ea typeface="Malgun Gothic"/>
                <a:cs typeface="Malgun Gothic"/>
                <a:hlinkClick r:id="rId7"/>
              </a:rPr>
              <a:t>arXiv:2401.13078</a:t>
            </a:r>
            <a:r>
              <a:rPr sz="1050" b="0" i="0">
                <a:solidFill>
                  <a:srgbClr val="16213A"/>
                </a:solidFill>
                <a:latin typeface="Arial"/>
                <a:ea typeface="Malgun Gothic"/>
                <a:cs typeface="Malgun Gothic"/>
              </a:rPr>
              <a:t>)가 기본 계획기가 됐고, MPPI Controller와 Regulated Pure Pursuit도 기본으로 들어 있다. 유지보수자들이 쓴 개관(</a:t>
            </a:r>
            <a:r>
              <a:rPr sz="1050" b="0" i="0">
                <a:solidFill>
                  <a:srgbClr val="1D4ED8"/>
                </a:solidFill>
                <a:latin typeface="Arial"/>
                <a:ea typeface="Malgun Gothic"/>
                <a:cs typeface="Malgun Gothic"/>
                <a:hlinkClick r:id="rId8"/>
              </a:rPr>
              <a:t>arXiv:2307.15236</a:t>
            </a:r>
            <a:r>
              <a:rPr sz="1050" b="0" i="0">
                <a:solidFill>
                  <a:srgbClr val="16213A"/>
                </a:solidFill>
                <a:latin typeface="Arial"/>
                <a:ea typeface="Malgun Gothic"/>
                <a:cs typeface="Malgun Gothic"/>
              </a:rPr>
              <a:t>)이 각 알고리즘을 비교한다.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travplan과 고전 기준선</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B.10 고전 기준선: 그래프 탐색, 로컬 플래너, 궤적 최적화</a:t>
            </a:r>
            <a:r>
              <a:rPr sz="1050" b="0" i="0">
                <a:solidFill>
                  <a:srgbClr val="5A6478"/>
                </a:solidFill>
                <a:latin typeface="Arial"/>
                <a:ea typeface="Malgun Gothic"/>
                <a:cs typeface="Malgun Gothic"/>
              </a:rPr>
              <a:t>  3/3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10 / 516</a:t>
            </a:r>
          </a:p>
        </p:txBody>
      </p:sp>
      <p:pic>
        <p:nvPicPr>
          <p:cNvPr id="5" name="Picture 4" descr="image.jpg"/>
          <p:cNvPicPr>
            <a:picLocks noChangeAspect="1"/>
          </p:cNvPicPr>
          <p:nvPr/>
        </p:nvPicPr>
        <p:blipFill>
          <a:blip r:embed="rId3"/>
          <a:stretch>
            <a:fillRect/>
          </a:stretch>
        </p:blipFill>
        <p:spPr>
          <a:xfrm>
            <a:off x="3409950" y="1244600"/>
            <a:ext cx="5372100" cy="4445000"/>
          </a:xfrm>
          <a:prstGeom prst="rect">
            <a:avLst/>
          </a:prstGeom>
        </p:spPr>
      </p:pic>
      <p:sp>
        <p:nvSpPr>
          <p:cNvPr id="6" name="TextBox 5"/>
          <p:cNvSpPr txBox="1"/>
          <p:nvPr/>
        </p:nvSpPr>
        <p:spPr>
          <a:xfrm>
            <a:off x="3409950" y="5727700"/>
            <a:ext cx="53721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Smac Planner (Fig. 1): Smac Planner로 Nav2를 쓰는 산업용·수상 로봇들. 원형이 아닌 큰 몸체와 기구학 제약이 있는 로봇에 맞춘 계획기다. 출처: arXiv:2401.13078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travplan과 고전 기준선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B.10 고전 기준선: 그래프 탐색, 로컬 플래너, 궤적 최적화</a:t>
            </a:r>
            <a:r>
              <a:rPr sz="1050" b="0" i="0">
                <a:solidFill>
                  <a:srgbClr val="5A6478"/>
                </a:solidFill>
                <a:latin typeface="Arial"/>
                <a:ea typeface="Malgun Gothic"/>
                <a:cs typeface="Malgun Gothic"/>
              </a:rPr>
              <a:t>  자세히: A*, Hybrid A*, DWA의 수식과 GuidancePlanner의 간선 비용</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11 / 516</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A*.</a:t>
            </a:r>
            <a:r>
              <a:rPr sz="1050" b="0" i="0">
                <a:solidFill>
                  <a:srgbClr val="16213A"/>
                </a:solidFill>
                <a:latin typeface="Arial"/>
                <a:ea typeface="Malgun Gothic"/>
                <a:cs typeface="Malgun Gothic"/>
              </a:rPr>
              <a:t> 칸 </a:t>
            </a:r>
            <a:r>
              <a:rPr sz="1050" b="0" i="1">
                <a:solidFill>
                  <a:srgbClr val="16213A"/>
                </a:solidFill>
                <a:latin typeface="Arial"/>
                <a:ea typeface="Malgun Gothic"/>
                <a:cs typeface="Malgun Gothic"/>
              </a:rPr>
              <a:t>n</a:t>
            </a:r>
            <a:r>
              <a:rPr sz="1050" b="0" i="0">
                <a:solidFill>
                  <a:srgbClr val="16213A"/>
                </a:solidFill>
                <a:latin typeface="Arial"/>
                <a:ea typeface="Malgun Gothic"/>
                <a:cs typeface="Malgun Gothic"/>
              </a:rPr>
              <a:t>의 우선순위는 시작부터의 누적 비용 </a:t>
            </a:r>
            <a:r>
              <a:rPr sz="1050" b="0" i="1">
                <a:solidFill>
                  <a:srgbClr val="16213A"/>
                </a:solidFill>
                <a:latin typeface="Arial"/>
                <a:ea typeface="Malgun Gothic"/>
                <a:cs typeface="Malgun Gothic"/>
              </a:rPr>
              <a:t>g(n)</a:t>
            </a:r>
            <a:r>
              <a:rPr sz="1050" b="0" i="0">
                <a:solidFill>
                  <a:srgbClr val="16213A"/>
                </a:solidFill>
                <a:latin typeface="Arial"/>
                <a:ea typeface="Malgun Gothic"/>
                <a:cs typeface="Malgun Gothic"/>
              </a:rPr>
              <a:t>과 목표까지의 추정 </a:t>
            </a:r>
            <a:r>
              <a:rPr sz="1050" b="0" i="1">
                <a:solidFill>
                  <a:srgbClr val="16213A"/>
                </a:solidFill>
                <a:latin typeface="Arial"/>
                <a:ea typeface="Malgun Gothic"/>
                <a:cs typeface="Malgun Gothic"/>
              </a:rPr>
              <a:t>h(n)</a:t>
            </a:r>
            <a:r>
              <a:rPr sz="1050" b="0" i="0">
                <a:solidFill>
                  <a:srgbClr val="16213A"/>
                </a:solidFill>
                <a:latin typeface="Arial"/>
                <a:ea typeface="Malgun Gothic"/>
                <a:cs typeface="Malgun Gothic"/>
              </a:rPr>
              <a:t>의 합이다. </a:t>
            </a:r>
            <a:r>
              <a:rPr sz="1050" b="0" i="1">
                <a:solidFill>
                  <a:srgbClr val="16213A"/>
                </a:solidFill>
                <a:latin typeface="Arial"/>
                <a:ea typeface="Malgun Gothic"/>
                <a:cs typeface="Malgun Gothic"/>
              </a:rPr>
              <a:t>h</a:t>
            </a:r>
            <a:r>
              <a:rPr sz="1050" b="0" i="0">
                <a:solidFill>
                  <a:srgbClr val="16213A"/>
                </a:solidFill>
                <a:latin typeface="Arial"/>
                <a:ea typeface="Malgun Gothic"/>
                <a:cs typeface="Malgun Gothic"/>
              </a:rPr>
              <a:t>가 실제 남은 비용 </a:t>
            </a:r>
            <a:r>
              <a:rPr sz="1050" b="0" i="1">
                <a:solidFill>
                  <a:srgbClr val="16213A"/>
                </a:solidFill>
                <a:latin typeface="Arial"/>
                <a:ea typeface="Malgun Gothic"/>
                <a:cs typeface="Malgun Gothic"/>
              </a:rPr>
              <a:t>h*(n)</a:t>
            </a:r>
            <a:r>
              <a:rPr sz="1050" b="0" i="0">
                <a:solidFill>
                  <a:srgbClr val="16213A"/>
                </a:solidFill>
                <a:latin typeface="Arial"/>
                <a:ea typeface="Malgun Gothic"/>
                <a:cs typeface="Malgun Gothic"/>
              </a:rPr>
              <a:t>을 넘지 않으면(admissible) 처음 꺼낸 목표 경로가 최적이다. </a:t>
            </a:r>
            <a:r>
              <a:rPr sz="1050" b="0" i="1">
                <a:solidFill>
                  <a:srgbClr val="16213A"/>
                </a:solidFill>
                <a:latin typeface="Arial"/>
                <a:ea typeface="Malgun Gothic"/>
                <a:cs typeface="Malgun Gothic"/>
              </a:rPr>
              <a:t>h = 0</a:t>
            </a:r>
            <a:r>
              <a:rPr sz="1050" b="0" i="0">
                <a:solidFill>
                  <a:srgbClr val="16213A"/>
                </a:solidFill>
                <a:latin typeface="Arial"/>
                <a:ea typeface="Malgun Gothic"/>
                <a:cs typeface="Malgun Gothic"/>
              </a:rPr>
              <a:t>이면 Dijkstra와 같다.</a:t>
            </a:r>
          </a:p>
        </p:txBody>
      </p:sp>
      <p:pic>
        <p:nvPicPr>
          <p:cNvPr id="6" name="Picture 5" descr="image.png"/>
          <p:cNvPicPr>
            <a:picLocks noChangeAspect="1"/>
          </p:cNvPicPr>
          <p:nvPr/>
        </p:nvPicPr>
        <p:blipFill>
          <a:blip r:embed="rId3"/>
          <a:stretch>
            <a:fillRect/>
          </a:stretch>
        </p:blipFill>
        <p:spPr>
          <a:xfrm>
            <a:off x="609600" y="1766491"/>
            <a:ext cx="2806700" cy="238125"/>
          </a:xfrm>
          <a:prstGeom prst="rect">
            <a:avLst/>
          </a:prstGeom>
        </p:spPr>
      </p:pic>
      <p:sp>
        <p:nvSpPr>
          <p:cNvPr id="7" name="TextBox 6"/>
          <p:cNvSpPr txBox="1"/>
          <p:nvPr/>
        </p:nvSpPr>
        <p:spPr>
          <a:xfrm>
            <a:off x="609600" y="2044005"/>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Hybrid A*의 휴리스틱.</a:t>
            </a:r>
            <a:r>
              <a:rPr sz="1050" b="0" i="0">
                <a:solidFill>
                  <a:srgbClr val="16213A"/>
                </a:solidFill>
                <a:latin typeface="Arial"/>
                <a:ea typeface="Malgun Gothic"/>
                <a:cs typeface="Malgun Gothic"/>
              </a:rPr>
              <a:t> 장애물을 무시하고 기구학만 지킨 거리(Reeds-Shepp 길이)와, 기구학을 무시하고 장애물만 본 2D 최단 거리의 큰 값을 쓴다. 둘 다 실제 비용을 넘지 않으므로 큰 값도 admissible이다.</a:t>
            </a:r>
          </a:p>
        </p:txBody>
      </p:sp>
      <p:pic>
        <p:nvPicPr>
          <p:cNvPr id="8" name="Picture 7" descr="image.png"/>
          <p:cNvPicPr>
            <a:picLocks noChangeAspect="1"/>
          </p:cNvPicPr>
          <p:nvPr/>
        </p:nvPicPr>
        <p:blipFill>
          <a:blip r:embed="rId4"/>
          <a:stretch>
            <a:fillRect/>
          </a:stretch>
        </p:blipFill>
        <p:spPr>
          <a:xfrm>
            <a:off x="609600" y="2565896"/>
            <a:ext cx="3292475" cy="241300"/>
          </a:xfrm>
          <a:prstGeom prst="rect">
            <a:avLst/>
          </a:prstGeom>
        </p:spPr>
      </p:pic>
      <p:sp>
        <p:nvSpPr>
          <p:cNvPr id="9" name="TextBox 8"/>
          <p:cNvSpPr txBox="1"/>
          <p:nvPr/>
        </p:nvSpPr>
        <p:spPr>
          <a:xfrm>
            <a:off x="609600" y="284341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DWA의 목적함수.</a:t>
            </a:r>
            <a:r>
              <a:rPr sz="1050" b="0" i="0">
                <a:solidFill>
                  <a:srgbClr val="16213A"/>
                </a:solidFill>
                <a:latin typeface="Arial"/>
                <a:ea typeface="Malgun Gothic"/>
                <a:cs typeface="Malgun Gothic"/>
              </a:rPr>
              <a:t> 가능한 속도 </a:t>
            </a:r>
            <a:r>
              <a:rPr sz="1050" b="0" i="1">
                <a:solidFill>
                  <a:srgbClr val="16213A"/>
                </a:solidFill>
                <a:latin typeface="Arial"/>
                <a:ea typeface="Malgun Gothic"/>
                <a:cs typeface="Malgun Gothic"/>
              </a:rPr>
              <a:t>Vₛ</a:t>
            </a:r>
            <a:r>
              <a:rPr sz="1050" b="0" i="0">
                <a:solidFill>
                  <a:srgbClr val="16213A"/>
                </a:solidFill>
                <a:latin typeface="Arial"/>
                <a:ea typeface="Malgun Gothic"/>
                <a:cs typeface="Malgun Gothic"/>
              </a:rPr>
              <a:t>, 장애물 앞에서 멈출 수 있는 속도 </a:t>
            </a:r>
            <a:r>
              <a:rPr sz="1050" b="0" i="1">
                <a:solidFill>
                  <a:srgbClr val="16213A"/>
                </a:solidFill>
                <a:latin typeface="Arial"/>
                <a:ea typeface="Malgun Gothic"/>
                <a:cs typeface="Malgun Gothic"/>
              </a:rPr>
              <a:t>Vₐ</a:t>
            </a:r>
            <a:r>
              <a:rPr sz="1050" b="0" i="0">
                <a:solidFill>
                  <a:srgbClr val="16213A"/>
                </a:solidFill>
                <a:latin typeface="Arial"/>
                <a:ea typeface="Malgun Gothic"/>
                <a:cs typeface="Malgun Gothic"/>
              </a:rPr>
              <a:t>, 현재 속도에서 가속 한계로 도달할 수 있는 창 </a:t>
            </a:r>
            <a:r>
              <a:rPr sz="1050" b="0" i="1">
                <a:solidFill>
                  <a:srgbClr val="16213A"/>
                </a:solidFill>
                <a:latin typeface="Arial"/>
                <a:ea typeface="Malgun Gothic"/>
                <a:cs typeface="Malgun Gothic"/>
              </a:rPr>
              <a:t>V_d</a:t>
            </a:r>
            <a:r>
              <a:rPr sz="1050" b="0" i="0">
                <a:solidFill>
                  <a:srgbClr val="16213A"/>
                </a:solidFill>
                <a:latin typeface="Arial"/>
                <a:ea typeface="Malgun Gothic"/>
                <a:cs typeface="Malgun Gothic"/>
              </a:rPr>
              <a:t>의 교집합에서 고른다. heading은 목표 방향과의 정렬, dist는 원호 위 가장 가까운 장애물까지 거리, vel은 전진 속도다.</a:t>
            </a:r>
          </a:p>
        </p:txBody>
      </p:sp>
      <p:pic>
        <p:nvPicPr>
          <p:cNvPr id="10" name="Picture 9" descr="image.png"/>
          <p:cNvPicPr>
            <a:picLocks noChangeAspect="1"/>
          </p:cNvPicPr>
          <p:nvPr/>
        </p:nvPicPr>
        <p:blipFill>
          <a:blip r:embed="rId5"/>
          <a:stretch>
            <a:fillRect/>
          </a:stretch>
        </p:blipFill>
        <p:spPr>
          <a:xfrm>
            <a:off x="609600" y="3365302"/>
            <a:ext cx="5222875" cy="342900"/>
          </a:xfrm>
          <a:prstGeom prst="rect">
            <a:avLst/>
          </a:prstGeom>
        </p:spPr>
      </p:pic>
      <p:sp>
        <p:nvSpPr>
          <p:cNvPr id="11" name="TextBox 10"/>
          <p:cNvSpPr txBox="1"/>
          <p:nvPr/>
        </p:nvSpPr>
        <p:spPr>
          <a:xfrm>
            <a:off x="609600" y="3729236"/>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GuidancePlanner의 간선 비용.</a:t>
            </a:r>
            <a:r>
              <a:rPr sz="1050" b="0" i="0">
                <a:solidFill>
                  <a:srgbClr val="16213A"/>
                </a:solidFill>
                <a:latin typeface="Arial"/>
                <a:ea typeface="Malgun Gothic"/>
                <a:cs typeface="Malgun Gothic"/>
              </a:rPr>
              <a:t> 8방향 격자에서 칸 </a:t>
            </a:r>
            <a:r>
              <a:rPr sz="1050" b="0" i="1">
                <a:solidFill>
                  <a:srgbClr val="16213A"/>
                </a:solidFill>
                <a:latin typeface="Arial"/>
                <a:ea typeface="Malgun Gothic"/>
                <a:cs typeface="Malgun Gothic"/>
              </a:rPr>
              <a:t>i</a:t>
            </a:r>
            <a:r>
              <a:rPr sz="1050" b="0" i="0">
                <a:solidFill>
                  <a:srgbClr val="16213A"/>
                </a:solidFill>
                <a:latin typeface="Arial"/>
                <a:ea typeface="Malgun Gothic"/>
                <a:cs typeface="Malgun Gothic"/>
              </a:rPr>
              <a:t>와 </a:t>
            </a:r>
            <a:r>
              <a:rPr sz="1050" b="0" i="1">
                <a:solidFill>
                  <a:srgbClr val="16213A"/>
                </a:solidFill>
                <a:latin typeface="Arial"/>
                <a:ea typeface="Malgun Gothic"/>
                <a:cs typeface="Malgun Gothic"/>
              </a:rPr>
              <a:t>j</a:t>
            </a:r>
            <a:r>
              <a:rPr sz="1050" b="0" i="0">
                <a:solidFill>
                  <a:srgbClr val="16213A"/>
                </a:solidFill>
                <a:latin typeface="Arial"/>
                <a:ea typeface="Malgun Gothic"/>
                <a:cs typeface="Malgun Gothic"/>
              </a:rPr>
              <a:t> 사이 간선의 비용은 거리 </a:t>
            </a:r>
            <a:r>
              <a:rPr sz="1050" b="0" i="1">
                <a:solidFill>
                  <a:srgbClr val="16213A"/>
                </a:solidFill>
                <a:latin typeface="Arial"/>
                <a:ea typeface="Malgun Gothic"/>
                <a:cs typeface="Malgun Gothic"/>
              </a:rPr>
              <a:t>ℓ_(ij)</a:t>
            </a:r>
            <a:r>
              <a:rPr sz="1050" b="0" i="0">
                <a:solidFill>
                  <a:srgbClr val="16213A"/>
                </a:solidFill>
                <a:latin typeface="Arial"/>
                <a:ea typeface="Malgun Gothic"/>
                <a:cs typeface="Malgun Gothic"/>
              </a:rPr>
              <a:t>에 두 칸 가중치의 평균을 곱한 값이다. 칸 가중치는 TravMap 비용과 σ로 정하고(</a:t>
            </a:r>
            <a:r>
              <a:rPr sz="1050" b="0" i="0">
                <a:solidFill>
                  <a:srgbClr val="16213A"/>
                </a:solidFill>
                <a:latin typeface="Consolas"/>
                <a:ea typeface="Malgun Gothic"/>
                <a:cs typeface="Malgun Gothic"/>
              </a:rPr>
              <a:t>GuidanceConfig</a:t>
            </a:r>
            <a:r>
              <a:rPr sz="1050" b="0" i="0">
                <a:solidFill>
                  <a:srgbClr val="16213A"/>
                </a:solidFill>
                <a:latin typeface="Arial"/>
                <a:ea typeface="Malgun Gothic"/>
                <a:cs typeface="Malgun Gothic"/>
              </a:rPr>
              <a:t>의 기본값 </a:t>
            </a:r>
            <a:r>
              <a:rPr sz="1050" b="0" i="1">
                <a:solidFill>
                  <a:srgbClr val="16213A"/>
                </a:solidFill>
                <a:latin typeface="Arial"/>
                <a:ea typeface="Malgun Gothic"/>
                <a:cs typeface="Malgun Gothic"/>
              </a:rPr>
              <a:t>w_c = 4</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w_σ = 0.5</a:t>
            </a:r>
            <a:r>
              <a:rPr sz="1050" b="0" i="0">
                <a:solidFill>
                  <a:srgbClr val="16213A"/>
                </a:solidFill>
                <a:latin typeface="Arial"/>
                <a:ea typeface="Malgun Gothic"/>
                <a:cs typeface="Malgun Gothic"/>
              </a:rPr>
              <a:t>), 비용이 0.95 이상인 치명 셀은 그래프에서 뺀다.</a:t>
            </a:r>
          </a:p>
        </p:txBody>
      </p:sp>
      <p:pic>
        <p:nvPicPr>
          <p:cNvPr id="12" name="Picture 11" descr="image.png"/>
          <p:cNvPicPr>
            <a:picLocks noChangeAspect="1"/>
          </p:cNvPicPr>
          <p:nvPr/>
        </p:nvPicPr>
        <p:blipFill>
          <a:blip r:embed="rId6"/>
          <a:stretch>
            <a:fillRect/>
          </a:stretch>
        </p:blipFill>
        <p:spPr>
          <a:xfrm>
            <a:off x="609600" y="4251127"/>
            <a:ext cx="3654425" cy="241300"/>
          </a:xfrm>
          <a:prstGeom prst="rect">
            <a:avLst/>
          </a:prstGeom>
        </p:spPr>
      </p:pic>
      <p:sp>
        <p:nvSpPr>
          <p:cNvPr id="13" name="TextBox 12"/>
          <p:cNvSpPr txBox="1"/>
          <p:nvPr/>
        </p:nvSpPr>
        <p:spPr>
          <a:xfrm>
            <a:off x="609600" y="4529534"/>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목표에서 Dijkstra를 한 번 돌리면 모든 칸의 cost-to-go가 나온다. 경로는 로봇 칸에서 선행 칸을 따라가 얻는다.</a:t>
            </a:r>
          </a:p>
        </p:txBody>
      </p:sp>
      <p:sp>
        <p:nvSpPr>
          <p:cNvPr id="14" name="TextBox 13"/>
          <p:cNvSpPr txBox="1"/>
          <p:nvPr/>
        </p:nvSpPr>
        <p:spPr>
          <a:xfrm>
            <a:off x="609600" y="483493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것.</a:t>
            </a:r>
            <a:r>
              <a:rPr sz="1050" b="0" i="0">
                <a:solidFill>
                  <a:srgbClr val="16213A"/>
                </a:solidFill>
                <a:latin typeface="Arial"/>
                <a:ea typeface="Malgun Gothic"/>
                <a:cs typeface="Malgun Gothic"/>
              </a:rPr>
              <a:t> cost-to-go 지도는 경로 하나보다 쓸모가 많다. Planner D는 후보 궤적의 끝점에서 이 값을 읽어 진행도 점수로 쓴다(B.8.3). 스워브 로봇은 옆으로도 움직일 수 있어, 자동차용 Hybrid A*의 원호 확장은 기구학을 너무 좁게 본다. 몸체 방향이 중요한 좁은 통로가 문제가 되면, 로봇별 운동 원시(control set)를 받는 Smac의 State Lattice가 다음 후보다.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travplan과 고전 기준선</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B.10 고전 기준선: 그래프 탐색, 로컬 플래너, 궤적 최적화</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12 / 516</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학습 Planner의 성능은 언제나 GuidancePlanner(TravMap 위 Dijkstra)와 같은 벤치마크에서 비교한다.</a:t>
            </a:r>
            <a:r>
              <a:rPr sz="1050" b="0" i="0">
                <a:solidFill>
                  <a:srgbClr val="16213A"/>
                </a:solidFill>
                <a:latin typeface="Arial"/>
                <a:ea typeface="Malgun Gothic"/>
                <a:cs typeface="Malgun Gothic"/>
              </a:rPr>
              <a:t> 고전 기준선은 느리게 변하는 전역 구조(어느 연석 경사로로 갈지)를 싸게 풀고, 학습 Planner는 그 위에서 시간과 동적 장애물을 다룬다. Nav2의 전역 계획기와 MPPI Controller 조합은 travplan의 GuidancePlanner와 </a:t>
            </a:r>
            <a:r>
              <a:rPr sz="1050" b="0" i="0">
                <a:solidFill>
                  <a:srgbClr val="16213A"/>
                </a:solidFill>
                <a:latin typeface="Consolas"/>
                <a:ea typeface="Malgun Gothic"/>
                <a:cs typeface="Malgun Gothic"/>
              </a:rPr>
              <a:t>MPPIController</a:t>
            </a:r>
            <a:r>
              <a:rPr sz="1050" b="0" i="0">
                <a:solidFill>
                  <a:srgbClr val="16213A"/>
                </a:solidFill>
                <a:latin typeface="Arial"/>
                <a:ea typeface="Malgun Gothic"/>
                <a:cs typeface="Malgun Gothic"/>
              </a:rPr>
              <a:t> 조합과 같은 구조다. 그래서 제품에서 Nav2와 섞어 쓸 때도 경계가 분명하다.</a:t>
            </a:r>
          </a:p>
        </p:txBody>
      </p:sp>
      <p:sp>
        <p:nvSpPr>
          <p:cNvPr id="6" name="TextBox 5"/>
          <p:cNvSpPr txBox="1"/>
          <p:nvPr/>
        </p:nvSpPr>
        <p:spPr>
          <a:xfrm>
            <a:off x="717550" y="1982986"/>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B.10.1 궤적 다발을 한꺼번에 미는 최적화: MPOT</a:t>
            </a:r>
          </a:p>
        </p:txBody>
      </p:sp>
      <p:sp>
        <p:nvSpPr>
          <p:cNvPr id="7" name="TextBox 6"/>
          <p:cNvSpPr txBox="1"/>
          <p:nvPr/>
        </p:nvSpPr>
        <p:spPr>
          <a:xfrm>
            <a:off x="609600" y="2286198"/>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MPOT</a:t>
            </a:r>
            <a:r>
              <a:rPr sz="1050" b="0" i="0">
                <a:solidFill>
                  <a:srgbClr val="16213A"/>
                </a:solidFill>
                <a:latin typeface="Arial"/>
                <a:ea typeface="Malgun Gothic"/>
                <a:cs typeface="Malgun Gothic"/>
              </a:rPr>
              <a:t>(</a:t>
            </a:r>
            <a:r>
              <a:rPr sz="1050" b="0" i="1">
                <a:solidFill>
                  <a:srgbClr val="16213A"/>
                </a:solidFill>
                <a:latin typeface="Arial"/>
                <a:ea typeface="Malgun Gothic"/>
                <a:cs typeface="Malgun Gothic"/>
              </a:rPr>
              <a:t>Accelerating Motion Planning via Optimal Transport</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3"/>
              </a:rPr>
              <a:t>arXiv:2309.15970</a:t>
            </a:r>
            <a:r>
              <a:rPr sz="1050" b="0" i="0">
                <a:solidFill>
                  <a:srgbClr val="16213A"/>
                </a:solidFill>
                <a:latin typeface="Arial"/>
                <a:ea typeface="Malgun Gothic"/>
                <a:cs typeface="Malgun Gothic"/>
              </a:rPr>
              <a:t>, NeurIPS 2023, TU Darmstadt)는 위 표의 "궤적 최적화" 층에 들어가지만 </a:t>
            </a:r>
            <a:r>
              <a:rPr sz="1050" b="1" i="0">
                <a:solidFill>
                  <a:srgbClr val="16213A"/>
                </a:solidFill>
                <a:latin typeface="Arial"/>
                <a:ea typeface="Malgun Gothic"/>
                <a:cs typeface="Malgun Gothic"/>
              </a:rPr>
              <a:t>기울기를 쓰지 않는다.</a:t>
            </a:r>
            <a:r>
              <a:rPr sz="1050" b="0" i="0">
                <a:solidFill>
                  <a:srgbClr val="16213A"/>
                </a:solidFill>
                <a:latin typeface="Arial"/>
                <a:ea typeface="Malgun Gothic"/>
                <a:cs typeface="Malgun Gothic"/>
              </a:rPr>
              <a:t> waypoint마다 무작위로 회전시킨 다포체의 꼭짓점 방향으로 비용을 찍어 보고, 그 비용 행렬에 엔트로피 정규화 최적 수송을 한 번 풀어 </a:t>
            </a:r>
            <a:r>
              <a:rPr sz="1050" b="1" i="0">
                <a:solidFill>
                  <a:srgbClr val="16213A"/>
                </a:solidFill>
                <a:latin typeface="Arial"/>
                <a:ea typeface="Malgun Gothic"/>
                <a:cs typeface="Malgun Gothic"/>
              </a:rPr>
              <a:t>방향 가중치</a:t>
            </a:r>
            <a:r>
              <a:rPr sz="1050" b="0" i="0">
                <a:solidFill>
                  <a:srgbClr val="16213A"/>
                </a:solidFill>
                <a:latin typeface="Arial"/>
                <a:ea typeface="Malgun Gothic"/>
                <a:cs typeface="Malgun Gothic"/>
              </a:rPr>
              <a:t>를 얻는다(</a:t>
            </a:r>
            <a:r>
              <a:rPr sz="1050" b="1" i="0">
                <a:solidFill>
                  <a:srgbClr val="16213A"/>
                </a:solidFill>
                <a:latin typeface="Arial"/>
                <a:ea typeface="Malgun Gothic"/>
                <a:cs typeface="Malgun Gothic"/>
              </a:rPr>
              <a:t>Sinkhorn Step</a:t>
            </a:r>
            <a:r>
              <a:rPr sz="1050" b="0" i="0">
                <a:solidFill>
                  <a:srgbClr val="16213A"/>
                </a:solidFill>
                <a:latin typeface="Arial"/>
                <a:ea typeface="Malgun Gothic"/>
                <a:cs typeface="Malgun Gothic"/>
              </a:rPr>
              <a:t>). 이름에 OT가 있지만 </a:t>
            </a:r>
            <a:r>
              <a:rPr sz="1050" b="1" i="0">
                <a:solidFill>
                  <a:srgbClr val="C2410C"/>
                </a:solidFill>
                <a:latin typeface="Arial"/>
                <a:ea typeface="Malgun Gothic"/>
                <a:cs typeface="Malgun Gothic"/>
              </a:rPr>
              <a:t>수송은 시작점과 목표점 사이가 아니라 </a:t>
            </a:r>
            <a:r>
              <a:rPr sz="1050" b="1" i="0">
                <a:solidFill>
                  <a:srgbClr val="C2410C"/>
                </a:solidFill>
                <a:latin typeface="Arial"/>
                <a:ea typeface="Malgun Gothic"/>
                <a:cs typeface="Malgun Gothic"/>
              </a:rPr>
              <a:t>waypoint와 탐색 방향 사이</a:t>
            </a:r>
            <a:r>
              <a:rPr sz="1050" b="0" i="0">
                <a:solidFill>
                  <a:srgbClr val="16213A"/>
                </a:solidFill>
                <a:latin typeface="Arial"/>
                <a:ea typeface="Malgun Gothic"/>
                <a:cs typeface="Malgun Gothic"/>
              </a:rPr>
              <a:t> 다. 수식과 흔한 오독은 배경 0.2b에 모았다.</a:t>
            </a:r>
          </a:p>
        </p:txBody>
      </p:sp>
      <p:graphicFrame>
        <p:nvGraphicFramePr>
          <p:cNvPr id="8" name="Table 7"/>
          <p:cNvGraphicFramePr>
            <a:graphicFrameLocks noGrp="1"/>
          </p:cNvGraphicFramePr>
          <p:nvPr/>
        </p:nvGraphicFramePr>
        <p:xfrm>
          <a:off x="609600" y="3024584"/>
          <a:ext cx="10966450" cy="788352"/>
        </p:xfrm>
        <a:graphic>
          <a:graphicData uri="http://schemas.openxmlformats.org/drawingml/2006/table">
            <a:tbl>
              <a:tblPr firstRow="1" bandRow="1">
                <a:tableStyleId>{5C22544A-7EE6-4342-B048-85BDC9FD1C3A}</a:tableStyleId>
              </a:tblPr>
              <a:tblGrid>
                <a:gridCol w="2338784"/>
                <a:gridCol w="647105"/>
                <a:gridCol w="687288"/>
                <a:gridCol w="7293273"/>
              </a:tblGrid>
              <a:tr h="197088">
                <a:tc>
                  <a:txBody>
                    <a:bodyPr wrap="square"/>
                    <a:lstStyle/>
                    <a:p>
                      <a:r>
                        <a:rPr sz="800" b="1" i="0">
                          <a:solidFill>
                            <a:srgbClr val="F4F1EA"/>
                          </a:solidFill>
                          <a:latin typeface="Arial"/>
                          <a:ea typeface="Malgun Gothic"/>
                          <a:cs typeface="Malgun Gothic"/>
                        </a:rPr>
                        <a:t>환경</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시간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성공률</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비교</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point-mass(2D 밀집 장애물)</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0.4 s</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99.2%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기울기 기반 기준선(CHOMP·GPMP2)보다 빠르고 성공률도 높다. RRT*·I-RRT*는 성공률 100%지만 43 s가 걸린다</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Panda(7-DoF)</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0.8 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71.6%</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병렬로 민 계획 가운데 성공 60.2%(논문의 GOOD)</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TIAGo++(mobile manipulation)</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1.49 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55%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GPMP2 40.11 s / 40%, RRT*는 1000 s 예산에도 실패</a:t>
                      </a:r>
                    </a:p>
                  </a:txBody>
                  <a:tcPr marL="63500" marR="63500" marT="12700" marB="12700">
                    <a:solidFill>
                      <a:srgbClr val="FFFDF8"/>
                    </a:solidFill>
                  </a:tcPr>
                </a:tc>
              </a:tr>
            </a:tbl>
          </a:graphicData>
        </a:graphic>
      </p:graphicFrame>
      <p:sp>
        <p:nvSpPr>
          <p:cNvPr id="9" name="TextBox 8"/>
          <p:cNvSpPr txBox="1"/>
          <p:nvPr/>
        </p:nvSpPr>
        <p:spPr>
          <a:xfrm>
            <a:off x="609600" y="4105275"/>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Controller 자리에는 원형 그대로 쓸 수 없다.</a:t>
            </a:r>
            <a:r>
              <a:rPr sz="1050" b="0" i="0">
                <a:solidFill>
                  <a:srgbClr val="16213A"/>
                </a:solidFill>
                <a:latin typeface="Arial"/>
                <a:ea typeface="Malgun Gothic"/>
                <a:cs typeface="Malgun Gothic"/>
              </a:rPr>
              <a:t> 원형은 제어열 대신 상태 waypoint를 직접 밀고 동역학·가속 한계를 비용으로만 넣어 </a:t>
            </a:r>
            <a:r>
              <a:rPr sz="1050" b="0" i="0">
                <a:solidFill>
                  <a:srgbClr val="16213A"/>
                </a:solidFill>
                <a:latin typeface="Consolas"/>
                <a:ea typeface="Malgun Gothic"/>
                <a:cs typeface="Malgun Gothic"/>
              </a:rPr>
              <a:t>Controller</a:t>
            </a:r>
            <a:r>
              <a:rPr sz="1050" b="0" i="0">
                <a:solidFill>
                  <a:srgbClr val="16213A"/>
                </a:solidFill>
                <a:latin typeface="Arial"/>
                <a:ea typeface="Malgun Gothic"/>
                <a:cs typeface="Malgun Gothic"/>
              </a:rPr>
              <a:t> 프로토콜이 요구하는 twist를 내지 않으며, 가장 빠른 숫자 0.4 s가 제어 주기 0.1 s의 4배, 계획 게이트 10 ms의 40배다. </a:t>
            </a:r>
            <a:r>
              <a:rPr sz="1050" b="1" i="0">
                <a:solidFill>
                  <a:srgbClr val="C2410C"/>
                </a:solidFill>
                <a:latin typeface="Arial"/>
                <a:ea typeface="Malgun Gothic"/>
                <a:cs typeface="Malgun Gothic"/>
              </a:rPr>
              <a:t>다만 제어열 판은 만들 수 있다</a:t>
            </a:r>
            <a:r>
              <a:rPr sz="1050" b="0" i="0">
                <a:solidFill>
                  <a:srgbClr val="16213A"/>
                </a:solidFill>
                <a:latin typeface="Arial"/>
                <a:ea typeface="Malgun Gothic"/>
                <a:cs typeface="Malgun Gothic"/>
              </a:rPr>
              <a:t> — Controller 문서 E.11이 입자를 제어열로, OT의 점을 twist 매듭점으로 바꾼 판을 세워 멈춘 장면에서 같은 예산의 MPPI와 맞대 봤고, 넘지 못했다(TP-0130). 분류와 비교표는 배경 0.2b, 실측은 E.11이다.</a:t>
            </a:r>
          </a:p>
        </p:txBody>
      </p:sp>
      <p:sp>
        <p:nvSpPr>
          <p:cNvPr id="10" name="TextBox 9"/>
          <p:cNvSpPr txBox="1"/>
          <p:nvPr/>
        </p:nvSpPr>
        <p:spPr>
          <a:xfrm>
            <a:off x="609600" y="4843661"/>
            <a:ext cx="10972800" cy="1082477"/>
          </a:xfrm>
          <a:prstGeom prst="rect">
            <a:avLst/>
          </a:prstGeom>
          <a:noFill/>
        </p:spPr>
        <p:txBody>
          <a:bodyPr wrap="square" lIns="0" rIns="0" tIns="0" bIns="0" anchor="t">
            <a:spAutoFit/>
            <a:normAutofit/>
          </a:bodyPr>
          <a:lstStyle/>
          <a:p>
            <a:r>
              <a:rPr sz="1050" b="1" i="0">
                <a:solidFill>
                  <a:srgbClr val="C2410C"/>
                </a:solidFill>
                <a:latin typeface="Arial"/>
                <a:ea typeface="Malgun Gothic"/>
                <a:cs typeface="Malgun Gothic"/>
              </a:rPr>
              <a:t>쓸 자리는 Planner D의 교사다.</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scripts/train_planner_d.py</a:t>
            </a:r>
            <a:r>
              <a:rPr sz="1050" b="0" i="0">
                <a:solidFill>
                  <a:srgbClr val="16213A"/>
                </a:solidFill>
                <a:latin typeface="Arial"/>
                <a:ea typeface="Malgun Gothic"/>
                <a:cs typeface="Malgun Gothic"/>
              </a:rPr>
              <a:t>는 상태마다 </a:t>
            </a:r>
            <a:r>
              <a:rPr sz="1050" b="0" i="0">
                <a:solidFill>
                  <a:srgbClr val="16213A"/>
                </a:solidFill>
                <a:latin typeface="Consolas"/>
                <a:ea typeface="Malgun Gothic"/>
                <a:cs typeface="Malgun Gothic"/>
              </a:rPr>
              <a:t>GlobalGuidance</a:t>
            </a:r>
            <a:r>
              <a:rPr sz="1050" b="0" i="0">
                <a:solidFill>
                  <a:srgbClr val="16213A"/>
                </a:solidFill>
                <a:latin typeface="Arial"/>
                <a:ea typeface="Malgun Gothic"/>
                <a:cs typeface="Malgun Gothic"/>
              </a:rPr>
              <a:t> + </a:t>
            </a:r>
            <a:r>
              <a:rPr sz="1050" b="0" i="0">
                <a:solidFill>
                  <a:srgbClr val="16213A"/>
                </a:solidFill>
                <a:latin typeface="Consolas"/>
                <a:ea typeface="Malgun Gothic"/>
                <a:cs typeface="Malgun Gothic"/>
              </a:rPr>
              <a:t>MPPIController</a:t>
            </a:r>
            <a:r>
              <a:rPr sz="1050" b="0" i="0">
                <a:solidFill>
                  <a:srgbClr val="16213A"/>
                </a:solidFill>
                <a:latin typeface="Arial"/>
                <a:ea typeface="Malgun Gothic"/>
                <a:cs typeface="Malgun Gothic"/>
              </a:rPr>
              <a:t>로 </a:t>
            </a:r>
            <a:r>
              <a:rPr sz="1050" b="1" i="0">
                <a:solidFill>
                  <a:srgbClr val="16213A"/>
                </a:solidFill>
                <a:latin typeface="Arial"/>
                <a:ea typeface="Malgun Gothic"/>
                <a:cs typeface="Malgun Gothic"/>
              </a:rPr>
              <a:t>4초 제어열 하나</a:t>
            </a:r>
            <a:r>
              <a:rPr sz="1050" b="0" i="0">
                <a:solidFill>
                  <a:srgbClr val="16213A"/>
                </a:solidFill>
                <a:latin typeface="Arial"/>
                <a:ea typeface="Malgun Gothic"/>
                <a:cs typeface="Malgun Gothic"/>
              </a:rPr>
              <a:t>를 만들어 라벨로 쓴다 — 단일 모드 교사다. MPOT는 </a:t>
            </a:r>
            <a:r>
              <a:rPr sz="1050" b="1" i="0">
                <a:solidFill>
                  <a:srgbClr val="16213A"/>
                </a:solidFill>
                <a:latin typeface="Arial"/>
                <a:ea typeface="Malgun Gothic"/>
                <a:cs typeface="Malgun Gothic"/>
              </a:rPr>
              <a:t>여러 궤적을 한 배치로</a:t>
            </a:r>
            <a:r>
              <a:rPr sz="1050" b="0" i="0">
                <a:solidFill>
                  <a:srgbClr val="16213A"/>
                </a:solidFill>
                <a:latin typeface="Arial"/>
                <a:ea typeface="Malgun Gothic"/>
                <a:cs typeface="Malgun Gothic"/>
              </a:rPr>
              <a:t> 밀어 서로 다른 위상(장애물 왼쪽·오른쪽)의 답을 한 번에 내고, 논문이 스스로 밝히는 용도도 </a:t>
            </a:r>
            <a:r>
              <a:rPr sz="1050" b="0" i="1">
                <a:solidFill>
                  <a:srgbClr val="16213A"/>
                </a:solidFill>
                <a:latin typeface="Arial"/>
                <a:ea typeface="Malgun Gothic"/>
                <a:cs typeface="Malgun Gothic"/>
              </a:rPr>
              <a:t>"a strong oracle for collecting datasets ... capturing homotopy classes"</a:t>
            </a:r>
            <a:r>
              <a:rPr sz="1050" b="0" i="0">
                <a:solidFill>
                  <a:srgbClr val="16213A"/>
                </a:solidFill>
                <a:latin typeface="Arial"/>
                <a:ea typeface="Malgun Gothic"/>
                <a:cs typeface="Malgun Gothic"/>
              </a:rPr>
              <a:t>다. </a:t>
            </a:r>
            <a:r>
              <a:rPr sz="1050" b="1" i="0">
                <a:solidFill>
                  <a:srgbClr val="C2410C"/>
                </a:solidFill>
                <a:latin typeface="Arial"/>
                <a:ea typeface="Malgun Gothic"/>
                <a:cs typeface="Malgun Gothic"/>
              </a:rPr>
              <a:t>오프라인 수집은 0.4 s를 신경 쓰지 않는다.</a:t>
            </a:r>
            <a:r>
              <a:rPr sz="1050" b="0" i="0">
                <a:solidFill>
                  <a:srgbClr val="16213A"/>
                </a:solidFill>
                <a:latin typeface="Arial"/>
                <a:ea typeface="Malgun Gothic"/>
                <a:cs typeface="Malgun Gothic"/>
              </a:rPr>
              <a:t> 코드는 </a:t>
            </a:r>
            <a:r>
              <a:rPr sz="1050" b="0" i="0">
                <a:solidFill>
                  <a:srgbClr val="1D4ED8"/>
                </a:solidFill>
                <a:latin typeface="Arial"/>
                <a:ea typeface="Malgun Gothic"/>
                <a:cs typeface="Malgun Gothic"/>
                <a:hlinkClick r:id="rId4"/>
              </a:rPr>
              <a:t>anindex/mpot</a:t>
            </a:r>
            <a:r>
              <a:rPr sz="1050" b="0" i="0">
                <a:solidFill>
                  <a:srgbClr val="16213A"/>
                </a:solidFill>
                <a:latin typeface="Arial"/>
                <a:ea typeface="Malgun Gothic"/>
                <a:cs typeface="Malgun Gothic"/>
              </a:rPr>
              <a:t> ★71 </a:t>
            </a:r>
            <a:r>
              <a:rPr sz="1050" b="1" i="0">
                <a:solidFill>
                  <a:srgbClr val="16213A"/>
                </a:solidFill>
                <a:latin typeface="Arial"/>
                <a:ea typeface="Malgun Gothic"/>
                <a:cs typeface="Malgun Gothic"/>
              </a:rPr>
              <a:t>MIT</a:t>
            </a:r>
            <a:r>
              <a:rPr sz="1050" b="0" i="0">
                <a:solidFill>
                  <a:srgbClr val="16213A"/>
                </a:solidFill>
                <a:latin typeface="Arial"/>
                <a:ea typeface="Malgun Gothic"/>
                <a:cs typeface="Malgun Gothic"/>
              </a:rPr>
              <a:t>(PyTorch)와 </a:t>
            </a:r>
            <a:r>
              <a:rPr sz="1050" b="0" i="0">
                <a:solidFill>
                  <a:srgbClr val="1D4ED8"/>
                </a:solidFill>
                <a:latin typeface="Arial"/>
                <a:ea typeface="Malgun Gothic"/>
                <a:cs typeface="Malgun Gothic"/>
                <a:hlinkClick r:id="rId5"/>
              </a:rPr>
              <a:t>anindex/ssax</a:t>
            </a:r>
            <a:r>
              <a:rPr sz="1050" b="0" i="0">
                <a:solidFill>
                  <a:srgbClr val="16213A"/>
                </a:solidFill>
                <a:latin typeface="Arial"/>
                <a:ea typeface="Malgun Gothic"/>
                <a:cs typeface="Malgun Gothic"/>
              </a:rPr>
              <a:t> ★50 </a:t>
            </a:r>
            <a:r>
              <a:rPr sz="1050" b="1" i="0">
                <a:solidFill>
                  <a:srgbClr val="16213A"/>
                </a:solidFill>
                <a:latin typeface="Arial"/>
                <a:ea typeface="Malgun Gothic"/>
                <a:cs typeface="Malgun Gothic"/>
              </a:rPr>
              <a:t>MIT</a:t>
            </a:r>
            <a:r>
              <a:rPr sz="1050" b="0" i="0">
                <a:solidFill>
                  <a:srgbClr val="16213A"/>
                </a:solidFill>
                <a:latin typeface="Arial"/>
                <a:ea typeface="Malgun Gothic"/>
                <a:cs typeface="Malgun Gothic"/>
              </a:rPr>
              <a:t>(JAX)다. 다만 </a:t>
            </a:r>
            <a:r>
              <a:rPr sz="1050" b="1" i="0">
                <a:solidFill>
                  <a:srgbClr val="16213A"/>
                </a:solidFill>
                <a:latin typeface="Arial"/>
                <a:ea typeface="Malgun Gothic"/>
                <a:cs typeface="Malgun Gothic"/>
              </a:rPr>
              <a:t>지형 비용이 TravMap에서 와야 하므로</a:t>
            </a:r>
            <a:r>
              <a:rPr sz="1050" b="0" i="0">
                <a:solidFill>
                  <a:srgbClr val="16213A"/>
                </a:solidFill>
                <a:latin typeface="Arial"/>
                <a:ea typeface="Malgun Gothic"/>
                <a:cs typeface="Malgun Gothic"/>
              </a:rPr>
              <a:t> 비용·probe 평가를 travplan 쪽으로 바꿔 끼워야 한다. </a:t>
            </a:r>
            <a:r>
              <a:rPr sz="1050" b="1" i="0">
                <a:solidFill>
                  <a:srgbClr val="C2410C"/>
                </a:solidFill>
                <a:latin typeface="Arial"/>
                <a:ea typeface="Malgun Gothic"/>
                <a:cs typeface="Malgun Gothic"/>
              </a:rPr>
              <a:t>그 일을 TP-0136이 Playground에서 했다</a:t>
            </a:r>
            <a:r>
              <a:rPr sz="1050" b="0" i="0">
                <a:solidFill>
                  <a:srgbClr val="16213A"/>
                </a:solidFill>
                <a:latin typeface="Arial"/>
                <a:ea typeface="Malgun Gothic"/>
                <a:cs typeface="Malgun Gothic"/>
              </a:rPr>
              <a:t> — Sinkhorn Step을 </a:t>
            </a:r>
            <a:r>
              <a:rPr sz="1050" b="1" i="0">
                <a:solidFill>
                  <a:srgbClr val="16213A"/>
                </a:solidFill>
                <a:latin typeface="Arial"/>
                <a:ea typeface="Malgun Gothic"/>
                <a:cs typeface="Malgun Gothic"/>
              </a:rPr>
              <a:t>Planner 자리</a:t>
            </a:r>
            <a:r>
              <a:rPr sz="1050" b="0" i="0">
                <a:solidFill>
                  <a:srgbClr val="16213A"/>
                </a:solidFill>
                <a:latin typeface="Arial"/>
                <a:ea typeface="Malgun Gothic"/>
                <a:cs typeface="Malgun Gothic"/>
              </a:rPr>
              <a:t>에 놓고 probe 비용을 TravMap 칸 가중치로 바꿔 끼운 판이 Controller 문서 작업 기록 </a:t>
            </a:r>
            <a:r>
              <a:rPr sz="1050" b="1" i="0">
                <a:solidFill>
                  <a:srgbClr val="16213A"/>
                </a:solidFill>
                <a:latin typeface="Arial"/>
                <a:ea typeface="Malgun Gothic"/>
                <a:cs typeface="Malgun Gothic"/>
              </a:rPr>
              <a:t>E.14</a:t>
            </a:r>
            <a:r>
              <a:rPr sz="1050" b="0" i="0">
                <a:solidFill>
                  <a:srgbClr val="16213A"/>
                </a:solidFill>
                <a:latin typeface="Arial"/>
                <a:ea typeface="Malgun Gothic"/>
                <a:cs typeface="Malgun Gothic"/>
              </a:rPr>
              <a:t>에 있다(저장소 파이썬이 아니라 브라우저 JS 재구성이다).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F59E5B"/>
                </a:solidFill>
                <a:latin typeface="Consolas"/>
                <a:ea typeface="Malgun Gothic"/>
                <a:cs typeface="Malgun Gothic"/>
              </a:rPr>
              <a:t>Planner · 탭</a:t>
            </a:r>
          </a:p>
        </p:txBody>
      </p:sp>
      <p:sp>
        <p:nvSpPr>
          <p:cNvPr id="3" name="TextBox 2"/>
          <p:cNvSpPr txBox="1"/>
          <p:nvPr/>
        </p:nvSpPr>
        <p:spPr>
          <a:xfrm>
            <a:off x="609600" y="609600"/>
            <a:ext cx="10972800" cy="381000"/>
          </a:xfrm>
          <a:prstGeom prst="rect">
            <a:avLst/>
          </a:prstGeom>
          <a:noFill/>
        </p:spPr>
        <p:txBody>
          <a:bodyPr wrap="square" lIns="0" rIns="0" tIns="0" bIns="0" anchor="t">
            <a:spAutoFit/>
            <a:normAutofit/>
          </a:bodyPr>
          <a:lstStyle/>
          <a:p>
            <a:r>
              <a:rPr sz="2650" b="1" i="0">
                <a:solidFill>
                  <a:srgbClr val="F4F1EA"/>
                </a:solidFill>
                <a:latin typeface="Arial"/>
                <a:ea typeface="Malgun Gothic"/>
                <a:cs typeface="Malgun Gothic"/>
              </a:rPr>
              <a:t>학습 로컬 Planner</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9AA6BC"/>
                </a:solidFill>
                <a:latin typeface="Arial"/>
                <a:ea typeface="Malgun Gothic"/>
                <a:cs typeface="Malgun Gothic"/>
              </a:rPr>
              <a:t>travplan 리서치 · Planner (docs/research-planner.md)    13 / 516</a:t>
            </a:r>
          </a:p>
        </p:txBody>
      </p:sp>
      <p:sp>
        <p:nvSpPr>
          <p:cNvPr id="5" name="TextBox 4"/>
          <p:cNvSpPr txBox="1"/>
          <p:nvPr/>
        </p:nvSpPr>
        <p:spPr>
          <a:xfrm>
            <a:off x="609600" y="1244600"/>
            <a:ext cx="5283200" cy="5080000"/>
          </a:xfrm>
          <a:prstGeom prst="rect">
            <a:avLst/>
          </a:prstGeom>
          <a:noFill/>
        </p:spPr>
        <p:txBody>
          <a:bodyPr wrap="square" lIns="0" rIns="0" tIns="0" bIns="0" anchor="t">
            <a:spAutoFit/>
            <a:normAutofit/>
          </a:bodyPr>
          <a:lstStyle/>
          <a:p>
            <a:pPr>
              <a:spcAft>
                <a:spcPts val="400"/>
              </a:spcAft>
            </a:pPr>
            <a:r>
              <a:rPr sz="1000" b="0" i="0">
                <a:solidFill>
                  <a:srgbClr val="C9D1E0"/>
                </a:solidFill>
                <a:latin typeface="Arial"/>
                <a:ea typeface="Malgun Gothic"/>
                <a:cs typeface="Malgun Gothic"/>
              </a:rPr>
              <a:t>B.2 waypoint를 직접 회귀하는 방식</a:t>
            </a:r>
          </a:p>
          <a:p>
            <a:pPr>
              <a:spcAft>
                <a:spcPts val="400"/>
              </a:spcAft>
            </a:pPr>
            <a:r>
              <a:rPr sz="1000" b="0" i="0">
                <a:solidFill>
                  <a:srgbClr val="C9D1E0"/>
                </a:solidFill>
                <a:latin typeface="Arial"/>
                <a:ea typeface="Malgun Gothic"/>
                <a:cs typeface="Malgun Gothic"/>
              </a:rPr>
              <a:t>B.3 diffusion으로 궤적 분포를 만드는 방식</a:t>
            </a:r>
          </a:p>
          <a:p>
            <a:pPr>
              <a:spcAft>
                <a:spcPts val="400"/>
              </a:spcAft>
            </a:pPr>
            <a:r>
              <a:rPr sz="1000" b="0" i="0">
                <a:solidFill>
                  <a:srgbClr val="C9D1E0"/>
                </a:solidFill>
                <a:latin typeface="Arial"/>
                <a:ea typeface="Malgun Gothic"/>
                <a:cs typeface="Malgun Gothic"/>
              </a:rPr>
              <a:t>B.4 인식에서 속도 명령까지 RL로 곧장 가는 방식</a:t>
            </a:r>
          </a:p>
        </p:txBody>
      </p:sp>
      <p:sp>
        <p:nvSpPr>
          <p:cNvPr id="6" name="TextBox 5"/>
          <p:cNvSpPr txBox="1"/>
          <p:nvPr/>
        </p:nvSpPr>
        <p:spPr>
          <a:xfrm>
            <a:off x="6299200" y="1244600"/>
            <a:ext cx="5283200" cy="5080000"/>
          </a:xfrm>
          <a:prstGeom prst="rect">
            <a:avLst/>
          </a:prstGeom>
          <a:noFill/>
        </p:spPr>
        <p:txBody>
          <a:bodyPr wrap="square" lIns="0" rIns="0" tIns="0" bIns="0" anchor="t">
            <a:spAutoFit/>
            <a:normAutofit/>
          </a:bodyPr>
          <a:lstStyle/>
          <a:p>
            <a:pPr>
              <a:spcAft>
                <a:spcPts val="400"/>
              </a:spcAft>
            </a:pPr>
            <a:r>
              <a:rPr sz="1000" b="0" i="0">
                <a:solidFill>
                  <a:srgbClr val="C9D1E0"/>
                </a:solidFill>
                <a:latin typeface="Arial"/>
                <a:ea typeface="Malgun Gothic"/>
                <a:cs typeface="Malgun Gothic"/>
              </a:rPr>
              <a:t>B.4b 비용 지도로 직접 학습하는 Planner: iPlanner와 ViPlanner</a:t>
            </a:r>
          </a:p>
          <a:p>
            <a:pPr>
              <a:spcAft>
                <a:spcPts val="400"/>
              </a:spcAft>
            </a:pPr>
            <a:r>
              <a:rPr sz="1000" b="0" i="0">
                <a:solidFill>
                  <a:srgbClr val="C9D1E0"/>
                </a:solidFill>
                <a:latin typeface="Arial"/>
                <a:ea typeface="Malgun Gothic"/>
                <a:cs typeface="Malgun Gothic"/>
              </a:rPr>
              <a:t>B.7 비교</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학습 로컬 Planner</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B.2 waypoint를 직접 회귀하는 방식</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14 / 516</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LearnedPlanner처럼 관측에서 waypoint나 그에 준하는 중간 표현을 한 번에 내는 계열이다. 빠르고 가볍지만, 한 가지 답만 내므로 갈림길에서 약하다.</a:t>
            </a:r>
          </a:p>
        </p:txBody>
      </p:sp>
      <p:sp>
        <p:nvSpPr>
          <p:cNvPr id="6" name="TextBox 5"/>
          <p:cNvSpPr txBox="1"/>
          <p:nvPr/>
        </p:nvSpPr>
        <p:spPr>
          <a:xfrm>
            <a:off x="609600" y="1549995"/>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AgniNav</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arXiv:2606.10903</a:t>
            </a:r>
            <a:r>
              <a:rPr sz="1050" b="0" i="0">
                <a:solidFill>
                  <a:srgbClr val="16213A"/>
                </a:solidFill>
                <a:latin typeface="Arial"/>
                <a:ea typeface="Malgun Gothic"/>
                <a:cs typeface="Malgun Gothic"/>
              </a:rPr>
              <a:t>) — 단안 이미지와 로봇 몸체 치수 네 개(앞·뒤 길이, 반폭, 높이)로 </a:t>
            </a:r>
            <a:r>
              <a:rPr sz="1050" b="1" i="0">
                <a:solidFill>
                  <a:srgbClr val="16213A"/>
                </a:solidFill>
                <a:latin typeface="Arial"/>
                <a:ea typeface="Malgun Gothic"/>
                <a:cs typeface="Malgun Gothic"/>
              </a:rPr>
              <a:t>1D 가상 레이저 스캔</a:t>
            </a:r>
            <a:r>
              <a:rPr sz="1050" b="0" i="0">
                <a:solidFill>
                  <a:srgbClr val="16213A"/>
                </a:solidFill>
                <a:latin typeface="Arial"/>
                <a:ea typeface="Malgun Gothic"/>
                <a:cs typeface="Malgun Gothic"/>
              </a:rPr>
              <a:t>을 예측하고, 이를 고전 로컬 플래너에 넘긴다. 한 모델을 여러 몸체에 그대로 쓴다. Turtlebot2, Go2, K1 실물에서 Jetson Orin FP16 30 Hz로 돌렸다. 임베디드 실측이 있는 드문 사례다.</a:t>
            </a:r>
          </a:p>
        </p:txBody>
      </p:sp>
      <p:pic>
        <p:nvPicPr>
          <p:cNvPr id="7" name="Picture 6" descr="image.jpg"/>
          <p:cNvPicPr>
            <a:picLocks noChangeAspect="1"/>
          </p:cNvPicPr>
          <p:nvPr/>
        </p:nvPicPr>
        <p:blipFill>
          <a:blip r:embed="rId4"/>
          <a:stretch>
            <a:fillRect/>
          </a:stretch>
        </p:blipFill>
        <p:spPr>
          <a:xfrm>
            <a:off x="609600" y="2071886"/>
            <a:ext cx="3556000" cy="1428750"/>
          </a:xfrm>
          <a:prstGeom prst="rect">
            <a:avLst/>
          </a:prstGeom>
        </p:spPr>
      </p:pic>
      <p:sp>
        <p:nvSpPr>
          <p:cNvPr id="8" name="TextBox 7"/>
          <p:cNvSpPr txBox="1"/>
          <p:nvPr/>
        </p:nvSpPr>
        <p:spPr>
          <a:xfrm>
            <a:off x="609600" y="3538736"/>
            <a:ext cx="35560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AgniNav (Fig. 1): 단안 이미지 → 1D 가상 레이저 스캔(로봇 높이 조건) → 풋프린트 기반 고전 로컬 플래너. 출처: arXiv:2606.10903</a:t>
            </a:r>
          </a:p>
        </p:txBody>
      </p:sp>
      <p:pic>
        <p:nvPicPr>
          <p:cNvPr id="9" name="Picture 8" descr="image.jpg"/>
          <p:cNvPicPr>
            <a:picLocks noChangeAspect="1"/>
          </p:cNvPicPr>
          <p:nvPr/>
        </p:nvPicPr>
        <p:blipFill>
          <a:blip r:embed="rId5"/>
          <a:stretch>
            <a:fillRect/>
          </a:stretch>
        </p:blipFill>
        <p:spPr>
          <a:xfrm>
            <a:off x="4318000" y="2071886"/>
            <a:ext cx="3556000" cy="1003300"/>
          </a:xfrm>
          <a:prstGeom prst="rect">
            <a:avLst/>
          </a:prstGeom>
        </p:spPr>
      </p:pic>
      <p:sp>
        <p:nvSpPr>
          <p:cNvPr id="10" name="TextBox 9"/>
          <p:cNvSpPr txBox="1"/>
          <p:nvPr/>
        </p:nvSpPr>
        <p:spPr>
          <a:xfrm>
            <a:off x="4318000" y="3113286"/>
            <a:ext cx="3556000" cy="42654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AgniNav: 몸체 높이를 조건으로 주면 같은 장면에서 다른 스캔이 나온다 — 낮은 로봇은 매달린 장애물 아래로 지나가고 높은 로봇은 막힌다. travplan의 오버행 한계와 clearance 채널(A.2b.6) 논의에 직접 닿는다. 출처: arXiv:2606.10903</a:t>
            </a:r>
          </a:p>
        </p:txBody>
      </p:sp>
      <p:pic>
        <p:nvPicPr>
          <p:cNvPr id="11" name="Picture 10" descr="image.jpg"/>
          <p:cNvPicPr>
            <a:picLocks noChangeAspect="1"/>
          </p:cNvPicPr>
          <p:nvPr/>
        </p:nvPicPr>
        <p:blipFill>
          <a:blip r:embed="rId6"/>
          <a:stretch>
            <a:fillRect/>
          </a:stretch>
        </p:blipFill>
        <p:spPr>
          <a:xfrm>
            <a:off x="8026400" y="2071886"/>
            <a:ext cx="3556000" cy="1003300"/>
          </a:xfrm>
          <a:prstGeom prst="rect">
            <a:avLst/>
          </a:prstGeom>
        </p:spPr>
      </p:pic>
      <p:sp>
        <p:nvSpPr>
          <p:cNvPr id="12" name="TextBox 11"/>
          <p:cNvSpPr txBox="1"/>
          <p:nvPr/>
        </p:nvSpPr>
        <p:spPr>
          <a:xfrm>
            <a:off x="8026400" y="3113286"/>
            <a:ext cx="35560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AgniNav: Turtlebot2·Go2·K1 실물 사례. 한 모델을 몸체 치수만 바꿔 세 로봇에 쓴다. 출처: arXiv:2606.10903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학습 로컬 Planner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B.2 waypoint를 직접 회귀하는 방식</a:t>
            </a:r>
            <a:r>
              <a:rPr sz="1050" b="0" i="0">
                <a:solidFill>
                  <a:srgbClr val="5A6478"/>
                </a:solidFill>
                <a:latin typeface="Arial"/>
                <a:ea typeface="Malgun Gothic"/>
                <a:cs typeface="Malgun Gothic"/>
              </a:rPr>
              <a:t>  자세히: AgniNav의 방법과 수식</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15 / 516</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몸체를 네 숫자로 요약한다.</a:t>
            </a:r>
            <a:r>
              <a:rPr sz="1050" b="0" i="0">
                <a:solidFill>
                  <a:srgbClr val="16213A"/>
                </a:solidFill>
                <a:latin typeface="Arial"/>
                <a:ea typeface="Malgun Gothic"/>
                <a:cs typeface="Malgun Gothic"/>
              </a:rPr>
              <a:t> 로봇마다 모델을 다시 학습하지 않으려고, 충돌에 관련된 몸체 정보만 네 값으로 둔다. 인식은 높이만, 계획은 나머지를 쓴다.</a:t>
            </a:r>
          </a:p>
        </p:txBody>
      </p:sp>
      <p:pic>
        <p:nvPicPr>
          <p:cNvPr id="6" name="Picture 5" descr="image.png"/>
          <p:cNvPicPr>
            <a:picLocks noChangeAspect="1"/>
          </p:cNvPicPr>
          <p:nvPr/>
        </p:nvPicPr>
        <p:blipFill>
          <a:blip r:embed="rId3"/>
          <a:stretch>
            <a:fillRect/>
          </a:stretch>
        </p:blipFill>
        <p:spPr>
          <a:xfrm>
            <a:off x="609600" y="1549995"/>
            <a:ext cx="6045200" cy="247650"/>
          </a:xfrm>
          <a:prstGeom prst="rect">
            <a:avLst/>
          </a:prstGeom>
        </p:spPr>
      </p:pic>
      <p:sp>
        <p:nvSpPr>
          <p:cNvPr id="7" name="TextBox 6"/>
          <p:cNvSpPr txBox="1"/>
          <p:nvPr/>
        </p:nvSpPr>
        <p:spPr>
          <a:xfrm>
            <a:off x="609600" y="1833066"/>
            <a:ext cx="10972800" cy="216495"/>
          </a:xfrm>
          <a:prstGeom prst="rect">
            <a:avLst/>
          </a:prstGeom>
          <a:noFill/>
        </p:spPr>
        <p:txBody>
          <a:bodyPr wrap="square" lIns="0" rIns="0" tIns="0" bIns="0" anchor="t">
            <a:spAutoFit/>
            <a:normAutofit/>
          </a:bodyPr>
          <a:lstStyle/>
          <a:p>
            <a:r>
              <a:rPr sz="1050" b="0" i="1">
                <a:solidFill>
                  <a:srgbClr val="16213A"/>
                </a:solidFill>
                <a:latin typeface="Arial"/>
                <a:ea typeface="Malgun Gothic"/>
                <a:cs typeface="Malgun Gothic"/>
              </a:rPr>
              <a:t>Hₘₐₓ</a:t>
            </a:r>
            <a:r>
              <a:rPr sz="1050" b="0" i="0">
                <a:solidFill>
                  <a:srgbClr val="16213A"/>
                </a:solidFill>
                <a:latin typeface="Arial"/>
                <a:ea typeface="Malgun Gothic"/>
                <a:cs typeface="Malgun Gothic"/>
              </a:rPr>
              <a:t>는 보호해야 할 높이(그보다 높은 장애물은 무시), </a:t>
            </a:r>
            <a:r>
              <a:rPr sz="1050" b="0" i="1">
                <a:solidFill>
                  <a:srgbClr val="16213A"/>
                </a:solidFill>
                <a:latin typeface="Arial"/>
                <a:ea typeface="Malgun Gothic"/>
                <a:cs typeface="Malgun Gothic"/>
              </a:rPr>
              <a:t>L₁, L₂</a:t>
            </a:r>
            <a:r>
              <a:rPr sz="1050" b="0" i="0">
                <a:solidFill>
                  <a:srgbClr val="16213A"/>
                </a:solidFill>
                <a:latin typeface="Arial"/>
                <a:ea typeface="Malgun Gothic"/>
                <a:cs typeface="Malgun Gothic"/>
              </a:rPr>
              <a:t>는 앞·뒤 여유 길이, </a:t>
            </a:r>
            <a:r>
              <a:rPr sz="1050" b="0" i="1">
                <a:solidFill>
                  <a:srgbClr val="16213A"/>
                </a:solidFill>
                <a:latin typeface="Arial"/>
                <a:ea typeface="Malgun Gothic"/>
                <a:cs typeface="Malgun Gothic"/>
              </a:rPr>
              <a:t>W/2</a:t>
            </a:r>
            <a:r>
              <a:rPr sz="1050" b="0" i="0">
                <a:solidFill>
                  <a:srgbClr val="16213A"/>
                </a:solidFill>
                <a:latin typeface="Arial"/>
                <a:ea typeface="Malgun Gothic"/>
                <a:cs typeface="Malgun Gothic"/>
              </a:rPr>
              <a:t>는 반폭, </a:t>
            </a:r>
            <a:r>
              <a:rPr sz="1050" b="0" i="1">
                <a:solidFill>
                  <a:srgbClr val="16213A"/>
                </a:solidFill>
                <a:latin typeface="Arial"/>
                <a:ea typeface="Malgun Gothic"/>
                <a:cs typeface="Malgun Gothic"/>
              </a:rPr>
              <a:t>κₑ</a:t>
            </a:r>
            <a:r>
              <a:rPr sz="1050" b="0" i="0">
                <a:solidFill>
                  <a:srgbClr val="16213A"/>
                </a:solidFill>
                <a:latin typeface="Arial"/>
                <a:ea typeface="Malgun Gothic"/>
                <a:cs typeface="Malgun Gothic"/>
              </a:rPr>
              <a:t>는 속도·각속도·가속 한계다.</a:t>
            </a:r>
          </a:p>
        </p:txBody>
      </p:sp>
      <p:sp>
        <p:nvSpPr>
          <p:cNvPr id="8" name="TextBox 7"/>
          <p:cNvSpPr txBox="1"/>
          <p:nvPr/>
        </p:nvSpPr>
        <p:spPr>
          <a:xfrm>
            <a:off x="609600" y="2138462"/>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라벨: 열(column) 최솟값 가상 스캔.</a:t>
            </a:r>
            <a:r>
              <a:rPr sz="1050" b="0" i="0">
                <a:solidFill>
                  <a:srgbClr val="16213A"/>
                </a:solidFill>
                <a:latin typeface="Arial"/>
                <a:ea typeface="Malgun Gothic"/>
                <a:cs typeface="Malgun Gothic"/>
              </a:rPr>
              <a:t> 깊이 영상에서 광학 중심 한 줄만 보면 그 높이 밖의 장애물을 놓친다. 그래서 영상의 </a:t>
            </a:r>
            <a:r>
              <a:rPr sz="1050" b="1" i="0">
                <a:solidFill>
                  <a:srgbClr val="16213A"/>
                </a:solidFill>
                <a:latin typeface="Arial"/>
                <a:ea typeface="Malgun Gothic"/>
                <a:cs typeface="Malgun Gothic"/>
              </a:rPr>
              <a:t>각 열 전체</a:t>
            </a:r>
            <a:r>
              <a:rPr sz="1050" b="0" i="0">
                <a:solidFill>
                  <a:srgbClr val="16213A"/>
                </a:solidFill>
                <a:latin typeface="Arial"/>
                <a:ea typeface="Malgun Gothic"/>
                <a:cs typeface="Malgun Gothic"/>
              </a:rPr>
              <a:t>에서 높이 </a:t>
            </a:r>
            <a:r>
              <a:rPr sz="1050" b="0" i="1">
                <a:solidFill>
                  <a:srgbClr val="16213A"/>
                </a:solidFill>
                <a:latin typeface="Arial"/>
                <a:ea typeface="Malgun Gothic"/>
                <a:cs typeface="Malgun Gothic"/>
              </a:rPr>
              <a:t>Hₘₐₓ</a:t>
            </a:r>
            <a:r>
              <a:rPr sz="1050" b="0" i="0">
                <a:solidFill>
                  <a:srgbClr val="16213A"/>
                </a:solidFill>
                <a:latin typeface="Arial"/>
                <a:ea typeface="Malgun Gothic"/>
                <a:cs typeface="Malgun Gothic"/>
              </a:rPr>
              <a:t> 아래에 있는 가장 가까운 점을 골라 1D 스캔 라벨 </a:t>
            </a:r>
            <a:r>
              <a:rPr sz="1050" b="0" i="1">
                <a:solidFill>
                  <a:srgbClr val="16213A"/>
                </a:solidFill>
                <a:latin typeface="Arial"/>
                <a:ea typeface="Malgun Gothic"/>
                <a:cs typeface="Malgun Gothic"/>
              </a:rPr>
              <a:t>S*ₜ = {(xᵢ*, zᵢ*)}</a:t>
            </a:r>
            <a:r>
              <a:rPr sz="1050" b="0" i="0">
                <a:solidFill>
                  <a:srgbClr val="16213A"/>
                </a:solidFill>
                <a:latin typeface="Arial"/>
                <a:ea typeface="Malgun Gothic"/>
                <a:cs typeface="Malgun Gothic"/>
              </a:rPr>
              <a:t>을 만든다. 쌍을 이룬 RGB–깊이 데이터만 있으면 되고, 로봇별 데이터는 필요 없다.</a:t>
            </a:r>
          </a:p>
        </p:txBody>
      </p:sp>
      <p:sp>
        <p:nvSpPr>
          <p:cNvPr id="9" name="TextBox 8"/>
          <p:cNvSpPr txBox="1"/>
          <p:nvPr/>
        </p:nvSpPr>
        <p:spPr>
          <a:xfrm>
            <a:off x="609600" y="2660352"/>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구조와 계획.</a:t>
            </a:r>
            <a:r>
              <a:rPr sz="1050" b="0" i="0">
                <a:solidFill>
                  <a:srgbClr val="16213A"/>
                </a:solidFill>
                <a:latin typeface="Arial"/>
                <a:ea typeface="Malgun Gothic"/>
                <a:cs typeface="Malgun Gothic"/>
              </a:rPr>
              <a:t> ViT 백본 + ScanFormer 디코더가 RGB와 </a:t>
            </a:r>
            <a:r>
              <a:rPr sz="1050" b="0" i="1">
                <a:solidFill>
                  <a:srgbClr val="16213A"/>
                </a:solidFill>
                <a:latin typeface="Arial"/>
                <a:ea typeface="Malgun Gothic"/>
                <a:cs typeface="Malgun Gothic"/>
              </a:rPr>
              <a:t>Hₘₐₓ</a:t>
            </a:r>
            <a:r>
              <a:rPr sz="1050" b="0" i="0">
                <a:solidFill>
                  <a:srgbClr val="16213A"/>
                </a:solidFill>
                <a:latin typeface="Arial"/>
                <a:ea typeface="Malgun Gothic"/>
                <a:cs typeface="Malgun Gothic"/>
              </a:rPr>
              <a:t>를 받아 한 번에 스캔을 낸다. 계획은 이 스캔과 몸체 치수를 상태로 받는 MDP로 정의한 RL 정책이다(성공 보상, 충돌 벌점, 진행 보상).</a:t>
            </a:r>
          </a:p>
        </p:txBody>
      </p:sp>
      <p:sp>
        <p:nvSpPr>
          <p:cNvPr id="10" name="TextBox 9"/>
          <p:cNvSpPr txBox="1"/>
          <p:nvPr/>
        </p:nvSpPr>
        <p:spPr>
          <a:xfrm>
            <a:off x="609600" y="2965748"/>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것.</a:t>
            </a:r>
            <a:r>
              <a:rPr sz="1050" b="0" i="0">
                <a:solidFill>
                  <a:srgbClr val="16213A"/>
                </a:solidFill>
                <a:latin typeface="Arial"/>
                <a:ea typeface="Malgun Gothic"/>
                <a:cs typeface="Malgun Gothic"/>
              </a:rPr>
              <a:t> LiDAR 없이 카메라만 쓸 때 TravMap 대신 쓸 수 있는 가장 가벼운 중간 표현이다. 다만 1D 스캔이라 턱·경사 같은 높이 정보는 잃는다.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학습 로컬 Planner</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B.2 waypoint를 직접 회귀하는 방식</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16 / 516</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Skill-Nav</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arXiv:2506.21853</a:t>
            </a:r>
            <a:r>
              <a:rPr sz="1050" b="0" i="0">
                <a:solidFill>
                  <a:srgbClr val="16213A"/>
                </a:solidFill>
                <a:latin typeface="Arial"/>
                <a:ea typeface="Malgun Gothic"/>
                <a:cs typeface="Malgun Gothic"/>
              </a:rPr>
              <a:t>) — 상위 플래너(LLM이나 경로 계획기)가 waypoint를 주면, 하위 RL 보행 정책이 지형에 맞춰 기술을 바꿔 가며 따라간다. waypoint를 계획과 제어 사이의 인터페이스로 쓰는 계층형이다. 코드 공개 여부는 확인하지 못했다.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학습 로컬 Planner</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B.2 waypoint를 직접 회귀하는 방식</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17 / 516</a:t>
            </a:r>
          </a:p>
        </p:txBody>
      </p:sp>
      <p:pic>
        <p:nvPicPr>
          <p:cNvPr id="5" name="Picture 4" descr="image.jpg"/>
          <p:cNvPicPr>
            <a:picLocks noChangeAspect="1"/>
          </p:cNvPicPr>
          <p:nvPr/>
        </p:nvPicPr>
        <p:blipFill>
          <a:blip r:embed="rId3"/>
          <a:stretch>
            <a:fillRect/>
          </a:stretch>
        </p:blipFill>
        <p:spPr>
          <a:xfrm>
            <a:off x="3584575" y="1244600"/>
            <a:ext cx="5022850" cy="4445000"/>
          </a:xfrm>
          <a:prstGeom prst="rect">
            <a:avLst/>
          </a:prstGeom>
        </p:spPr>
      </p:pic>
      <p:sp>
        <p:nvSpPr>
          <p:cNvPr id="6" name="TextBox 5"/>
          <p:cNvSpPr txBox="1"/>
          <p:nvPr/>
        </p:nvSpPr>
        <p:spPr>
          <a:xfrm>
            <a:off x="3584575" y="5727700"/>
            <a:ext cx="502285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Skill-Nav (Fig. 1): 상위 플래너가 waypoint를 주고 하위 RL 보행 정책이 지형에 맞춰 따라간다. 출처: arXiv:2506.21853</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학습 로컬 Planner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B.2 waypoint를 직접 회귀하는 방식</a:t>
            </a:r>
            <a:r>
              <a:rPr sz="1050" b="0" i="0">
                <a:solidFill>
                  <a:srgbClr val="5A6478"/>
                </a:solidFill>
                <a:latin typeface="Arial"/>
                <a:ea typeface="Malgun Gothic"/>
                <a:cs typeface="Malgun Gothic"/>
              </a:rPr>
              <a:t>  자세히: Skill-Nav의 방법과 수식</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18 / 516</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계층.</a:t>
            </a:r>
            <a:r>
              <a:rPr sz="1050" b="0" i="0">
                <a:solidFill>
                  <a:srgbClr val="16213A"/>
                </a:solidFill>
                <a:latin typeface="Arial"/>
                <a:ea typeface="Malgun Gothic"/>
                <a:cs typeface="Malgun Gothic"/>
              </a:rPr>
              <a:t> 상위 플래너(LLM이나 기존 경로 계획기)가 waypoint를 내고, 하위 보행 정책이 PPO로 학습한 waypoint 추종 정책이다. 속도 명령 대신 </a:t>
            </a:r>
            <a:r>
              <a:rPr sz="1050" b="1" i="0">
                <a:solidFill>
                  <a:srgbClr val="16213A"/>
                </a:solidFill>
                <a:latin typeface="Arial"/>
                <a:ea typeface="Malgun Gothic"/>
                <a:cs typeface="Malgun Gothic"/>
              </a:rPr>
              <a:t>목표 위치</a:t>
            </a:r>
            <a:r>
              <a:rPr sz="1050" b="0" i="0">
                <a:solidFill>
                  <a:srgbClr val="16213A"/>
                </a:solidFill>
                <a:latin typeface="Arial"/>
                <a:ea typeface="Malgun Gothic"/>
                <a:cs typeface="Malgun Gothic"/>
              </a:rPr>
              <a:t>를 명령으로 주면 정책이 점프·오르기·회피 같은 기술을 스스로 고를 여지가 커진다.</a:t>
            </a:r>
          </a:p>
        </p:txBody>
      </p:sp>
      <p:sp>
        <p:nvSpPr>
          <p:cNvPr id="6" name="TextBox 5"/>
          <p:cNvSpPr txBox="1"/>
          <p:nvPr/>
        </p:nvSpPr>
        <p:spPr>
          <a:xfrm>
            <a:off x="609600" y="176649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teacher–student</a:t>
            </a:r>
            <a:r>
              <a:rPr sz="1050" b="0" i="0">
                <a:solidFill>
                  <a:srgbClr val="16213A"/>
                </a:solidFill>
                <a:latin typeface="Arial"/>
                <a:ea typeface="Malgun Gothic"/>
                <a:cs typeface="Malgun Gothic"/>
              </a:rPr>
              <a:t>(배경 0.12). 교사 정책의 상태는 proprioception </a:t>
            </a:r>
            <a:r>
              <a:rPr sz="1050" b="0" i="1">
                <a:solidFill>
                  <a:srgbClr val="16213A"/>
                </a:solidFill>
                <a:latin typeface="Arial"/>
                <a:ea typeface="Malgun Gothic"/>
                <a:cs typeface="Malgun Gothic"/>
              </a:rPr>
              <a:t>pₜ</a:t>
            </a:r>
            <a:r>
              <a:rPr sz="1050" b="0" i="0">
                <a:solidFill>
                  <a:srgbClr val="16213A"/>
                </a:solidFill>
                <a:latin typeface="Arial"/>
                <a:ea typeface="Malgun Gothic"/>
                <a:cs typeface="Malgun Gothic"/>
              </a:rPr>
              <a:t>, 추정 속도 </a:t>
            </a:r>
            <a:r>
              <a:rPr sz="1050" b="0" i="1">
                <a:solidFill>
                  <a:srgbClr val="16213A"/>
                </a:solidFill>
                <a:latin typeface="Arial"/>
                <a:ea typeface="Malgun Gothic"/>
                <a:cs typeface="Malgun Gothic"/>
              </a:rPr>
              <a:t>v̂ₜ</a:t>
            </a:r>
            <a:r>
              <a:rPr sz="1050" b="0" i="0">
                <a:solidFill>
                  <a:srgbClr val="16213A"/>
                </a:solidFill>
                <a:latin typeface="Arial"/>
                <a:ea typeface="Malgun Gothic"/>
                <a:cs typeface="Malgun Gothic"/>
              </a:rPr>
              <a:t>, waypoint 명령 </a:t>
            </a:r>
            <a:r>
              <a:rPr sz="1050" b="0" i="1">
                <a:solidFill>
                  <a:srgbClr val="16213A"/>
                </a:solidFill>
                <a:latin typeface="Arial"/>
                <a:ea typeface="Malgun Gothic"/>
                <a:cs typeface="Malgun Gothic"/>
              </a:rPr>
              <a:t>wₜ</a:t>
            </a:r>
            <a:r>
              <a:rPr sz="1050" b="0" i="0">
                <a:solidFill>
                  <a:srgbClr val="16213A"/>
                </a:solidFill>
                <a:latin typeface="Arial"/>
                <a:ea typeface="Malgun Gothic"/>
                <a:cs typeface="Malgun Gothic"/>
              </a:rPr>
              <a:t>, 특권 정보 인코딩 </a:t>
            </a:r>
            <a:r>
              <a:rPr sz="1050" b="0" i="1">
                <a:solidFill>
                  <a:srgbClr val="16213A"/>
                </a:solidFill>
                <a:latin typeface="Arial"/>
                <a:ea typeface="Malgun Gothic"/>
                <a:cs typeface="Malgun Gothic"/>
              </a:rPr>
              <a:t>eₜ</a:t>
            </a:r>
            <a:r>
              <a:rPr sz="1050" b="0" i="0">
                <a:solidFill>
                  <a:srgbClr val="16213A"/>
                </a:solidFill>
                <a:latin typeface="Arial"/>
                <a:ea typeface="Malgun Gothic"/>
                <a:cs typeface="Malgun Gothic"/>
              </a:rPr>
              <a:t>, 지형 스캔 점 </a:t>
            </a:r>
            <a:r>
              <a:rPr sz="1050" b="0" i="1">
                <a:solidFill>
                  <a:srgbClr val="16213A"/>
                </a:solidFill>
                <a:latin typeface="Arial"/>
                <a:ea typeface="Malgun Gothic"/>
                <a:cs typeface="Malgun Gothic"/>
              </a:rPr>
              <a:t>mₜ</a:t>
            </a:r>
            <a:r>
              <a:rPr sz="1050" b="0" i="0">
                <a:solidFill>
                  <a:srgbClr val="16213A"/>
                </a:solidFill>
                <a:latin typeface="Arial"/>
                <a:ea typeface="Malgun Gothic"/>
                <a:cs typeface="Malgun Gothic"/>
              </a:rPr>
              <a:t>다. 학생은 </a:t>
            </a:r>
            <a:r>
              <a:rPr sz="1050" b="0" i="1">
                <a:solidFill>
                  <a:srgbClr val="16213A"/>
                </a:solidFill>
                <a:latin typeface="Arial"/>
                <a:ea typeface="Malgun Gothic"/>
                <a:cs typeface="Malgun Gothic"/>
              </a:rPr>
              <a:t>eₜ</a:t>
            </a:r>
            <a:r>
              <a:rPr sz="1050" b="0" i="0">
                <a:solidFill>
                  <a:srgbClr val="16213A"/>
                </a:solidFill>
                <a:latin typeface="Arial"/>
                <a:ea typeface="Malgun Gothic"/>
                <a:cs typeface="Malgun Gothic"/>
              </a:rPr>
              <a:t>와 </a:t>
            </a:r>
            <a:r>
              <a:rPr sz="1050" b="0" i="1">
                <a:solidFill>
                  <a:srgbClr val="16213A"/>
                </a:solidFill>
                <a:latin typeface="Arial"/>
                <a:ea typeface="Malgun Gothic"/>
                <a:cs typeface="Malgun Gothic"/>
              </a:rPr>
              <a:t>mₜ</a:t>
            </a:r>
            <a:r>
              <a:rPr sz="1050" b="0" i="0">
                <a:solidFill>
                  <a:srgbClr val="16213A"/>
                </a:solidFill>
                <a:latin typeface="Arial"/>
                <a:ea typeface="Malgun Gothic"/>
                <a:cs typeface="Malgun Gothic"/>
              </a:rPr>
              <a:t>를 과거 proprioception과 깊이 영상으로 복원한다.</a:t>
            </a:r>
          </a:p>
        </p:txBody>
      </p:sp>
      <p:pic>
        <p:nvPicPr>
          <p:cNvPr id="7" name="Picture 6" descr="image.png"/>
          <p:cNvPicPr>
            <a:picLocks noChangeAspect="1"/>
          </p:cNvPicPr>
          <p:nvPr/>
        </p:nvPicPr>
        <p:blipFill>
          <a:blip r:embed="rId3"/>
          <a:stretch>
            <a:fillRect/>
          </a:stretch>
        </p:blipFill>
        <p:spPr>
          <a:xfrm>
            <a:off x="609600" y="2288381"/>
            <a:ext cx="1771650" cy="241300"/>
          </a:xfrm>
          <a:prstGeom prst="rect">
            <a:avLst/>
          </a:prstGeom>
        </p:spPr>
      </p:pic>
      <p:sp>
        <p:nvSpPr>
          <p:cNvPr id="8" name="TextBox 7"/>
          <p:cNvSpPr txBox="1"/>
          <p:nvPr/>
        </p:nvSpPr>
        <p:spPr>
          <a:xfrm>
            <a:off x="609600" y="2565896"/>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것.</a:t>
            </a:r>
            <a:r>
              <a:rPr sz="1050" b="0" i="0">
                <a:solidFill>
                  <a:srgbClr val="16213A"/>
                </a:solidFill>
                <a:latin typeface="Arial"/>
                <a:ea typeface="Malgun Gothic"/>
                <a:cs typeface="Malgun Gothic"/>
              </a:rPr>
              <a:t> waypoint를 계획과 제어 사이의 인터페이스로 쓰는 것은 travplan의 </a:t>
            </a:r>
            <a:r>
              <a:rPr sz="1050" b="0" i="0">
                <a:solidFill>
                  <a:srgbClr val="16213A"/>
                </a:solidFill>
                <a:latin typeface="Consolas"/>
                <a:ea typeface="Malgun Gothic"/>
                <a:cs typeface="Malgun Gothic"/>
              </a:rPr>
              <a:t>PlanResult.path</a:t>
            </a:r>
            <a:r>
              <a:rPr sz="1050" b="0" i="0">
                <a:solidFill>
                  <a:srgbClr val="16213A"/>
                </a:solidFill>
                <a:latin typeface="Arial"/>
                <a:ea typeface="Malgun Gothic"/>
                <a:cs typeface="Malgun Gothic"/>
              </a:rPr>
              <a:t>와 같다.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학습 로컬 Planner</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B.3 diffusion으로 궤적 분포를 만드는 방식</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19 / 516</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한 경로만 회귀하지 않고, </a:t>
            </a:r>
            <a:r>
              <a:rPr sz="1050" b="1" i="0">
                <a:solidFill>
                  <a:srgbClr val="16213A"/>
                </a:solidFill>
                <a:latin typeface="Arial"/>
                <a:ea typeface="Malgun Gothic"/>
                <a:cs typeface="Malgun Gothic"/>
              </a:rPr>
              <a:t>궤적의 분포</a:t>
            </a:r>
            <a:r>
              <a:rPr sz="1050" b="0" i="0">
                <a:solidFill>
                  <a:srgbClr val="16213A"/>
                </a:solidFill>
                <a:latin typeface="Arial"/>
                <a:ea typeface="Malgun Gothic"/>
                <a:cs typeface="Malgun Gothic"/>
              </a:rPr>
              <a:t>를 배워 노이즈를 걷어내며 여러 후보를 만든 뒤 critic이 고른다. 갈림길처럼 답이 여럿인 상황에 강하다.</a:t>
            </a:r>
          </a:p>
        </p:txBody>
      </p:sp>
      <p:sp>
        <p:nvSpPr>
          <p:cNvPr id="6" name="TextBox 5"/>
          <p:cNvSpPr txBox="1"/>
          <p:nvPr/>
        </p:nvSpPr>
        <p:spPr>
          <a:xfrm>
            <a:off x="609600" y="1549995"/>
            <a:ext cx="10972800" cy="1061244"/>
          </a:xfrm>
          <a:prstGeom prst="rect">
            <a:avLst/>
          </a:prstGeom>
          <a:solidFill>
            <a:srgbClr val="16213A"/>
          </a:solidFill>
        </p:spPr>
        <p:txBody>
          <a:bodyPr wrap="square" lIns="114300" rIns="114300" tIns="88900" bIns="88900" anchor="t">
            <a:spAutoFit/>
            <a:normAutofit/>
          </a:bodyPr>
          <a:lstStyle/>
          <a:p>
            <a:r>
              <a:rPr sz="750" b="0" i="0">
                <a:solidFill>
                  <a:srgbClr val="F4F1EA"/>
                </a:solidFill>
                <a:latin typeface="Consolas"/>
                <a:ea typeface="Malgun Gothic"/>
                <a:cs typeface="Malgun Gothic"/>
              </a:rPr>
              <a:t># 개념 pseudocode (NavDP 계열)</a:t>
            </a:r>
          </a:p>
          <a:p>
            <a:r>
              <a:rPr sz="750" b="0" i="0">
                <a:solidFill>
                  <a:srgbClr val="F4F1EA"/>
                </a:solidFill>
                <a:latin typeface="Consolas"/>
                <a:ea typeface="Malgun Gothic"/>
                <a:cs typeface="Malgun Gothic"/>
              </a:rPr>
              <a:t>trajectory = sample_gaussian_noise()</a:t>
            </a:r>
          </a:p>
          <a:p>
            <a:r>
              <a:rPr sz="750" b="0" i="0">
                <a:solidFill>
                  <a:srgbClr val="F4F1EA"/>
                </a:solidFill>
                <a:latin typeface="Consolas"/>
                <a:ea typeface="Malgun Gothic"/>
                <a:cs typeface="Malgun Gothic"/>
              </a:rPr>
              <a:t>for t in reversed(range(num_diffusion_steps)):</a:t>
            </a:r>
          </a:p>
          <a:p>
            <a:r>
              <a:rPr sz="750" b="0" i="0">
                <a:solidFill>
                  <a:srgbClr val="F4F1EA"/>
                </a:solidFill>
                <a:latin typeface="Consolas"/>
                <a:ea typeface="Malgun Gothic"/>
                <a:cs typeface="Malgun Gothic"/>
              </a:rPr>
              <a:t>    trajectory = denoise_step(trajectory, obs, goal, t)   # 학습된 denoiser</a:t>
            </a:r>
          </a:p>
          <a:p>
            <a:r>
              <a:rPr sz="750" b="0" i="0">
                <a:solidFill>
                  <a:srgbClr val="F4F1EA"/>
                </a:solidFill>
                <a:latin typeface="Consolas"/>
                <a:ea typeface="Malgun Gothic"/>
                <a:cs typeface="Malgun Gothic"/>
              </a:rPr>
              <a:t>candidates = [trajectory for _ in range(K)]               # 후보 K개</a:t>
            </a:r>
          </a:p>
          <a:p>
            <a:r>
              <a:rPr sz="750" b="0" i="0">
                <a:solidFill>
                  <a:srgbClr val="F4F1EA"/>
                </a:solidFill>
                <a:latin typeface="Consolas"/>
                <a:ea typeface="Malgun Gothic"/>
                <a:cs typeface="Malgun Gothic"/>
              </a:rPr>
              <a:t>best = max(candidates, key=lambda tau: critic(tau, obs))  # critic이 고른다</a:t>
            </a:r>
          </a:p>
        </p:txBody>
      </p:sp>
      <p:sp>
        <p:nvSpPr>
          <p:cNvPr id="7" name="TextBox 6"/>
          <p:cNvSpPr txBox="1"/>
          <p:nvPr/>
        </p:nvSpPr>
        <p:spPr>
          <a:xfrm>
            <a:off x="609600" y="2700139"/>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NavDP</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arXiv:2505.08712</a:t>
            </a:r>
            <a:r>
              <a:rPr sz="1050" b="0" i="0">
                <a:solidFill>
                  <a:srgbClr val="16213A"/>
                </a:solidFill>
                <a:latin typeface="Arial"/>
                <a:ea typeface="Malgun Gothic"/>
                <a:cs typeface="Malgun Gothic"/>
              </a:rPr>
              <a:t>, ICRA 2026, </a:t>
            </a:r>
            <a:r>
              <a:rPr sz="1050" b="0" i="0">
                <a:solidFill>
                  <a:srgbClr val="1D4ED8"/>
                </a:solidFill>
                <a:latin typeface="Arial"/>
                <a:ea typeface="Malgun Gothic"/>
                <a:cs typeface="Malgun Gothic"/>
                <a:hlinkClick r:id="rId4"/>
              </a:rPr>
              <a:t>코드</a:t>
            </a:r>
            <a:r>
              <a:rPr sz="1050" b="0" i="0">
                <a:solidFill>
                  <a:srgbClr val="16213A"/>
                </a:solidFill>
                <a:latin typeface="Arial"/>
                <a:ea typeface="Malgun Gothic"/>
                <a:cs typeface="Malgun Gothic"/>
              </a:rPr>
              <a:t>) — 이 계열에서 가장 강력한 사례다. RGB-D를 입력으로 궤적 후보를 생성하고, 시뮬레이션의 특권 정보(ESDF)로 학습한 critic이 안전성을 채점한다. 3,000개 장면에서 모은 1,000 km 이상의 시뮬레이션 주행으로만 학습해 실제 로봇 여러 종류에 추가 학습 없이 옮겼다(v3 초록 기준). Jetson 지연은 보고하지 않았다. 학습 Planner와 입출력 계약이 같고 여러 답을 낼 수 있어, </a:t>
            </a:r>
            <a:r>
              <a:rPr sz="1050" b="1" i="0">
                <a:solidFill>
                  <a:srgbClr val="16213A"/>
                </a:solidFill>
                <a:latin typeface="Arial"/>
                <a:ea typeface="Malgun Gothic"/>
                <a:cs typeface="Malgun Gothic"/>
              </a:rPr>
              <a:t>Planner D의 직접 참고 대상</a:t>
            </a:r>
            <a:r>
              <a:rPr sz="1050" b="0" i="0">
                <a:solidFill>
                  <a:srgbClr val="16213A"/>
                </a:solidFill>
                <a:latin typeface="Arial"/>
                <a:ea typeface="Malgun Gothic"/>
                <a:cs typeface="Malgun Gothic"/>
              </a:rPr>
              <a:t>이다. 특히 critic은 Planner D의 비학습 선택기를 대체할 후보다.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학습 로컬 Planner</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B.3 diffusion으로 궤적 분포를 만드는 방식</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20 / 516</a:t>
            </a:r>
          </a:p>
        </p:txBody>
      </p:sp>
      <p:pic>
        <p:nvPicPr>
          <p:cNvPr id="5" name="Picture 4" descr="image.jpg"/>
          <p:cNvPicPr>
            <a:picLocks noChangeAspect="1"/>
          </p:cNvPicPr>
          <p:nvPr/>
        </p:nvPicPr>
        <p:blipFill>
          <a:blip r:embed="rId3"/>
          <a:stretch>
            <a:fillRect/>
          </a:stretch>
        </p:blipFill>
        <p:spPr>
          <a:xfrm>
            <a:off x="2778125" y="1244600"/>
            <a:ext cx="6635750" cy="4445000"/>
          </a:xfrm>
          <a:prstGeom prst="rect">
            <a:avLst/>
          </a:prstGeom>
        </p:spPr>
      </p:pic>
      <p:sp>
        <p:nvSpPr>
          <p:cNvPr id="6" name="TextBox 5"/>
          <p:cNvSpPr txBox="1"/>
          <p:nvPr/>
        </p:nvSpPr>
        <p:spPr>
          <a:xfrm>
            <a:off x="2778125" y="5727700"/>
            <a:ext cx="6635750" cy="142180"/>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NavDP (Fig. 1): 시뮬 데이터로만 학습해 여러 로봇에 그대로 옮겨 쓴다. 궤적 후보 생성 + critic 채점. 출처: arXiv:2505.08712</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학습 로컬 Planner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B.3 diffusion으로 궤적 분포를 만드는 방식</a:t>
            </a:r>
            <a:r>
              <a:rPr sz="1050" b="0" i="0">
                <a:solidFill>
                  <a:srgbClr val="5A6478"/>
                </a:solidFill>
                <a:latin typeface="Arial"/>
                <a:ea typeface="Malgun Gothic"/>
                <a:cs typeface="Malgun Gothic"/>
              </a:rPr>
              <a:t>  자세히: NavDP의 방법과 수식</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21 / 516</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데이터 엔진(시뮬 전용).</a:t>
            </a:r>
            <a:r>
              <a:rPr sz="1050" b="0" i="0">
                <a:solidFill>
                  <a:srgbClr val="16213A"/>
                </a:solidFill>
                <a:latin typeface="Arial"/>
                <a:ea typeface="Malgun Gothic"/>
                <a:cs typeface="Malgun Gothic"/>
              </a:rPr>
              <a:t> 3,000개 이상 장면(3D-Front, HSSD 등)의 메시를 0.05 m voxel로 바꿔 ESDF를 만든다. 로봇은 반경 0.25 m 원통, 카메라 높이는 0.25–1.25 m, 피치 −30–0°, 시야는 D435i(69°×42°)와 Zed 2(110°×70°) 두 설정으로 무작위화한다. 임의의 시작·목표에서 A* 경로를 구하고, 각 waypoint를 ESDF가 커지는 쪽으로 밀어낸 뒤 cubic spline으로 매끄럽게 해 시연 궤적을 만든다. BlenderProc로 RGB-D를 렌더링한다.</a:t>
            </a:r>
          </a:p>
        </p:txBody>
      </p:sp>
      <p:sp>
        <p:nvSpPr>
          <p:cNvPr id="6" name="TextBox 5"/>
          <p:cNvSpPr txBox="1"/>
          <p:nvPr/>
        </p:nvSpPr>
        <p:spPr>
          <a:xfrm>
            <a:off x="609600" y="1982986"/>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구조.</a:t>
            </a:r>
            <a:r>
              <a:rPr sz="1050" b="0" i="0">
                <a:solidFill>
                  <a:srgbClr val="16213A"/>
                </a:solidFill>
                <a:latin typeface="Arial"/>
                <a:ea typeface="Malgun Gothic"/>
                <a:cs typeface="Malgun Gothic"/>
              </a:rPr>
              <a:t> RGB 이력 </a:t>
            </a:r>
            <a:r>
              <a:rPr sz="1050" b="0" i="1">
                <a:solidFill>
                  <a:srgbClr val="16213A"/>
                </a:solidFill>
                <a:latin typeface="Arial"/>
                <a:ea typeface="Malgun Gothic"/>
                <a:cs typeface="Malgun Gothic"/>
              </a:rPr>
              <a:t>N = 8</a:t>
            </a:r>
            <a:r>
              <a:rPr sz="1050" b="0" i="0">
                <a:solidFill>
                  <a:srgbClr val="16213A"/>
                </a:solidFill>
                <a:latin typeface="Arial"/>
                <a:ea typeface="Malgun Gothic"/>
                <a:cs typeface="Malgun Gothic"/>
              </a:rPr>
              <a:t>프레임은 사전학습 DepthAnything 인코더(프레임당 256 토큰), 깊이 한 장은 처음부터 학습하는 ViT(256 토큰, 0.1–5 m만 사용)로 인코딩하고, 학습 질의로 </a:t>
            </a:r>
            <a:r>
              <a:rPr sz="1050" b="0" i="1">
                <a:solidFill>
                  <a:srgbClr val="16213A"/>
                </a:solidFill>
                <a:latin typeface="Arial"/>
                <a:ea typeface="Malgun Gothic"/>
                <a:cs typeface="Malgun Gothic"/>
              </a:rPr>
              <a:t>N × 16</a:t>
            </a:r>
            <a:r>
              <a:rPr sz="1050" b="0" i="0">
                <a:solidFill>
                  <a:srgbClr val="16213A"/>
                </a:solidFill>
                <a:latin typeface="Arial"/>
                <a:ea typeface="Malgun Gothic"/>
                <a:cs typeface="Malgun Gothic"/>
              </a:rPr>
              <a:t>개 토큰으로 압축한다. 목표는 상대 좌표 </a:t>
            </a:r>
            <a:r>
              <a:rPr sz="1050" b="0" i="1">
                <a:solidFill>
                  <a:srgbClr val="16213A"/>
                </a:solidFill>
                <a:latin typeface="Arial"/>
                <a:ea typeface="Malgun Gothic"/>
                <a:cs typeface="Malgun Gothic"/>
              </a:rPr>
              <a:t>(x_g, y_g)</a:t>
            </a:r>
            <a:r>
              <a:rPr sz="1050" b="0" i="0">
                <a:solidFill>
                  <a:srgbClr val="16213A"/>
                </a:solidFill>
                <a:latin typeface="Arial"/>
                <a:ea typeface="Malgun Gothic"/>
                <a:cs typeface="Malgun Gothic"/>
              </a:rPr>
              <a:t>다. 하나의 transformer가 궤적 생성(행동 헤드)과 궤적 평가 (critic 헤드)를 함께 한다.</a:t>
            </a:r>
          </a:p>
        </p:txBody>
      </p:sp>
      <p:sp>
        <p:nvSpPr>
          <p:cNvPr id="7" name="TextBox 6"/>
          <p:cNvSpPr txBox="1"/>
          <p:nvPr/>
        </p:nvSpPr>
        <p:spPr>
          <a:xfrm>
            <a:off x="609600" y="2504877"/>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행동 손실(확산, 배경 0.5).</a:t>
            </a:r>
            <a:r>
              <a:rPr sz="1050" b="0" i="0">
                <a:solidFill>
                  <a:srgbClr val="16213A"/>
                </a:solidFill>
                <a:latin typeface="Arial"/>
                <a:ea typeface="Malgun Gothic"/>
                <a:cs typeface="Malgun Gothic"/>
              </a:rPr>
              <a:t> 목표가 있는 경우와 없는 경우를 반씩 섞어 학습한다(</a:t>
            </a:r>
            <a:r>
              <a:rPr sz="1050" b="0" i="1">
                <a:solidFill>
                  <a:srgbClr val="16213A"/>
                </a:solidFill>
                <a:latin typeface="Arial"/>
                <a:ea typeface="Malgun Gothic"/>
                <a:cs typeface="Malgun Gothic"/>
              </a:rPr>
              <a:t>α = β = 0.5</a:t>
            </a:r>
            <a:r>
              <a:rPr sz="1050" b="0" i="0">
                <a:solidFill>
                  <a:srgbClr val="16213A"/>
                </a:solidFill>
                <a:latin typeface="Arial"/>
                <a:ea typeface="Malgun Gothic"/>
                <a:cs typeface="Malgun Gothic"/>
              </a:rPr>
              <a:t>, 10스텝, waypoint </a:t>
            </a:r>
            <a:r>
              <a:rPr sz="1050" b="0" i="1">
                <a:solidFill>
                  <a:srgbClr val="16213A"/>
                </a:solidFill>
                <a:latin typeface="Arial"/>
                <a:ea typeface="Malgun Gothic"/>
                <a:cs typeface="Malgun Gothic"/>
              </a:rPr>
              <a:t>M = 24</a:t>
            </a:r>
            <a:r>
              <a:rPr sz="1050" b="0" i="0">
                <a:solidFill>
                  <a:srgbClr val="16213A"/>
                </a:solidFill>
                <a:latin typeface="Arial"/>
                <a:ea typeface="Malgun Gothic"/>
                <a:cs typeface="Malgun Gothic"/>
              </a:rPr>
              <a:t>개).</a:t>
            </a:r>
          </a:p>
        </p:txBody>
      </p:sp>
      <p:pic>
        <p:nvPicPr>
          <p:cNvPr id="8" name="Picture 7" descr="image.png"/>
          <p:cNvPicPr>
            <a:picLocks noChangeAspect="1"/>
          </p:cNvPicPr>
          <p:nvPr/>
        </p:nvPicPr>
        <p:blipFill>
          <a:blip r:embed="rId3"/>
          <a:stretch>
            <a:fillRect/>
          </a:stretch>
        </p:blipFill>
        <p:spPr>
          <a:xfrm>
            <a:off x="609600" y="2810272"/>
            <a:ext cx="6089650" cy="266700"/>
          </a:xfrm>
          <a:prstGeom prst="rect">
            <a:avLst/>
          </a:prstGeom>
        </p:spPr>
      </p:pic>
      <p:sp>
        <p:nvSpPr>
          <p:cNvPr id="9" name="TextBox 8"/>
          <p:cNvSpPr txBox="1"/>
          <p:nvPr/>
        </p:nvSpPr>
        <p:spPr>
          <a:xfrm>
            <a:off x="609600" y="310902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critic 라벨(특권 정보).</a:t>
            </a:r>
            <a:r>
              <a:rPr sz="1050" b="0" i="0">
                <a:solidFill>
                  <a:srgbClr val="16213A"/>
                </a:solidFill>
                <a:latin typeface="Arial"/>
                <a:ea typeface="Malgun Gothic"/>
                <a:cs typeface="Malgun Gothic"/>
              </a:rPr>
              <a:t> 시연 궤적을 흔들어 만든 대조 샘플 </a:t>
            </a:r>
            <a:r>
              <a:rPr sz="1050" b="0" i="1">
                <a:solidFill>
                  <a:srgbClr val="16213A"/>
                </a:solidFill>
                <a:latin typeface="Arial"/>
                <a:ea typeface="Malgun Gothic"/>
                <a:cs typeface="Malgun Gothic"/>
              </a:rPr>
              <a:t>τ̂</a:t>
            </a:r>
            <a:r>
              <a:rPr sz="1050" b="0" i="0">
                <a:solidFill>
                  <a:srgbClr val="16213A"/>
                </a:solidFill>
                <a:latin typeface="Arial"/>
                <a:ea typeface="Malgun Gothic"/>
                <a:cs typeface="Malgun Gothic"/>
              </a:rPr>
              <a:t>마다, waypoint의 ESDF 값 </a:t>
            </a:r>
            <a:r>
              <a:rPr sz="1050" b="0" i="1">
                <a:solidFill>
                  <a:srgbClr val="16213A"/>
                </a:solidFill>
                <a:latin typeface="Arial"/>
                <a:ea typeface="Malgun Gothic"/>
                <a:cs typeface="Malgun Gothic"/>
              </a:rPr>
              <a:t>d^m</a:t>
            </a:r>
            <a:r>
              <a:rPr sz="1050" b="0" i="0">
                <a:solidFill>
                  <a:srgbClr val="16213A"/>
                </a:solidFill>
                <a:latin typeface="Arial"/>
                <a:ea typeface="Malgun Gothic"/>
                <a:cs typeface="Malgun Gothic"/>
              </a:rPr>
              <a:t>으로 "장애물에서 멀어지는 정도"와 "안전 거리 </a:t>
            </a:r>
            <a:r>
              <a:rPr sz="1050" b="0" i="1">
                <a:solidFill>
                  <a:srgbClr val="16213A"/>
                </a:solidFill>
                <a:latin typeface="Arial"/>
                <a:ea typeface="Malgun Gothic"/>
                <a:cs typeface="Malgun Gothic"/>
              </a:rPr>
              <a:t>d_(safe) = 0.5</a:t>
            </a:r>
            <a:r>
              <a:rPr sz="1050" b="0" i="0">
                <a:solidFill>
                  <a:srgbClr val="16213A"/>
                </a:solidFill>
                <a:latin typeface="Arial"/>
                <a:ea typeface="Malgun Gothic"/>
                <a:cs typeface="Malgun Gothic"/>
              </a:rPr>
              <a:t> m 안에 들어간 비율"을 합쳐 점수를 매긴다. 실제 로봇에는 ESDF가 없지만, critic은 영상만 보고 이 점수를 맞히도록 배운다.</a:t>
            </a:r>
          </a:p>
        </p:txBody>
      </p:sp>
      <p:pic>
        <p:nvPicPr>
          <p:cNvPr id="10" name="Picture 9" descr="image.png"/>
          <p:cNvPicPr>
            <a:picLocks noChangeAspect="1"/>
          </p:cNvPicPr>
          <p:nvPr/>
        </p:nvPicPr>
        <p:blipFill>
          <a:blip r:embed="rId4"/>
          <a:stretch>
            <a:fillRect/>
          </a:stretch>
        </p:blipFill>
        <p:spPr>
          <a:xfrm>
            <a:off x="609600" y="3630910"/>
            <a:ext cx="3736975" cy="549275"/>
          </a:xfrm>
          <a:prstGeom prst="rect">
            <a:avLst/>
          </a:prstGeom>
        </p:spPr>
      </p:pic>
      <p:sp>
        <p:nvSpPr>
          <p:cNvPr id="11" name="TextBox 10"/>
          <p:cNvSpPr txBox="1"/>
          <p:nvPr/>
        </p:nvSpPr>
        <p:spPr>
          <a:xfrm>
            <a:off x="609600" y="4173835"/>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결과.</a:t>
            </a:r>
            <a:r>
              <a:rPr sz="1050" b="0" i="0">
                <a:solidFill>
                  <a:srgbClr val="16213A"/>
                </a:solidFill>
                <a:latin typeface="Arial"/>
                <a:ea typeface="Malgun Gothic"/>
                <a:cs typeface="Malgun Gothic"/>
              </a:rPr>
              <a:t> 시뮬 PointGoal 성공률 67.2%(ViPlanner 60.9%), 실물 Turtlebot 9/10, Go2 7/10, G1 7/10. 학습은 A100 32장으로 24시간.</a:t>
            </a:r>
          </a:p>
        </p:txBody>
      </p:sp>
      <p:sp>
        <p:nvSpPr>
          <p:cNvPr id="12" name="TextBox 11"/>
          <p:cNvSpPr txBox="1"/>
          <p:nvPr/>
        </p:nvSpPr>
        <p:spPr>
          <a:xfrm>
            <a:off x="609600" y="447923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것.</a:t>
            </a:r>
            <a:r>
              <a:rPr sz="1050" b="0" i="0">
                <a:solidFill>
                  <a:srgbClr val="16213A"/>
                </a:solidFill>
                <a:latin typeface="Arial"/>
                <a:ea typeface="Malgun Gothic"/>
                <a:cs typeface="Malgun Gothic"/>
              </a:rPr>
              <a:t> Planner D의 비학습 선택기를 이 critic처럼 학습시킬 수 있다. travplan은 시뮬에서 TravMap 정답 비용과 치명 셀을 알므로 라벨을 바로 만들 수 있다.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학습 로컬 Planner</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B.3 diffusion으로 궤적 분포를 만드는 방식</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22 / 516</a:t>
            </a:r>
          </a:p>
        </p:txBody>
      </p:sp>
      <p:sp>
        <p:nvSpPr>
          <p:cNvPr id="5" name="TextBox 4"/>
          <p:cNvSpPr txBox="1"/>
          <p:nvPr/>
        </p:nvSpPr>
        <p:spPr>
          <a:xfrm>
            <a:off x="717550" y="1244600"/>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X-NavDP: 같은 상태의 후보끼리 Q를 정규화해 확산 내비 정책을 RL로 후학습한다</a:t>
            </a:r>
          </a:p>
        </p:txBody>
      </p:sp>
      <p:sp>
        <p:nvSpPr>
          <p:cNvPr id="6" name="TextBox 5"/>
          <p:cNvSpPr txBox="1"/>
          <p:nvPr/>
        </p:nvSpPr>
        <p:spPr>
          <a:xfrm>
            <a:off x="609600" y="1547812"/>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X-NavDP</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arXiv:2607.28560</a:t>
            </a:r>
            <a:r>
              <a:rPr sz="1050" b="0" i="0">
                <a:solidFill>
                  <a:srgbClr val="16213A"/>
                </a:solidFill>
                <a:latin typeface="Arial"/>
                <a:ea typeface="Malgun Gothic"/>
                <a:cs typeface="Malgun Gothic"/>
              </a:rPr>
              <a:t>, 2026-07, Shanghai AI Lab·Fudan·Sun Yat-sen, </a:t>
            </a:r>
            <a:r>
              <a:rPr sz="1050" b="0" i="0">
                <a:solidFill>
                  <a:srgbClr val="1D4ED8"/>
                </a:solidFill>
                <a:latin typeface="Arial"/>
                <a:ea typeface="Malgun Gothic"/>
                <a:cs typeface="Malgun Gothic"/>
                <a:hlinkClick r:id="rId4"/>
              </a:rPr>
              <a:t>프로젝트</a:t>
            </a:r>
            <a:r>
              <a:rPr sz="1050" b="0" i="0">
                <a:solidFill>
                  <a:srgbClr val="16213A"/>
                </a:solidFill>
                <a:latin typeface="Arial"/>
                <a:ea typeface="Malgun Gothic"/>
                <a:cs typeface="Malgun Gothic"/>
              </a:rPr>
              <a:t>, 코드는 NavDP 저장소의 </a:t>
            </a:r>
            <a:r>
              <a:rPr sz="1050" b="0" i="0">
                <a:solidFill>
                  <a:srgbClr val="16213A"/>
                </a:solidFill>
                <a:latin typeface="Consolas"/>
                <a:ea typeface="Malgun Gothic"/>
                <a:cs typeface="Malgun Gothic"/>
              </a:rPr>
              <a:t>baselines/x-navdp</a:t>
            </a:r>
            <a:r>
              <a:rPr sz="1050" b="0" i="0">
                <a:solidFill>
                  <a:srgbClr val="16213A"/>
                </a:solidFill>
                <a:latin typeface="Arial"/>
                <a:ea typeface="Malgun Gothic"/>
                <a:cs typeface="Malgun Gothic"/>
              </a:rPr>
              <a:t>)는 NavDP를 IsaacLab 폐루프 RL로 후학습해 보지 않은 장면 40개의 성공률을 61.20%에서 84.28%로 올렸다. 시연만으로는 배우지 못하는 막다른 길 탈출과 긴 장애물 우회가 RL에서 생겼다. 실물의 어려운 경우는 10%에서 65%가 됐다고 초록에 적었다.</a:t>
            </a:r>
          </a:p>
        </p:txBody>
      </p:sp>
      <p:sp>
        <p:nvSpPr>
          <p:cNvPr id="7" name="TextBox 6"/>
          <p:cNvSpPr txBox="1"/>
          <p:nvPr/>
        </p:nvSpPr>
        <p:spPr>
          <a:xfrm>
            <a:off x="609600" y="2286198"/>
            <a:ext cx="10972800" cy="1082477"/>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확산 정책은 우도를 계산하기 어렵다. 그래서 우도에 기대는 정책 기울기(DPPO 계열)는 불안정하다. X-NavDP는 우도 대신 </a:t>
            </a:r>
            <a:r>
              <a:rPr sz="1050" b="1" i="0">
                <a:solidFill>
                  <a:srgbClr val="16213A"/>
                </a:solidFill>
                <a:latin typeface="Arial"/>
                <a:ea typeface="Malgun Gothic"/>
                <a:cs typeface="Malgun Gothic"/>
              </a:rPr>
              <a:t>재가중 score matching</a:t>
            </a:r>
            <a:r>
              <a:rPr sz="1050" b="0" i="0">
                <a:solidFill>
                  <a:srgbClr val="16213A"/>
                </a:solidFill>
                <a:latin typeface="Arial"/>
                <a:ea typeface="Malgun Gothic"/>
                <a:cs typeface="Malgun Gothic"/>
              </a:rPr>
              <a:t>을 쓴다. 같은 상태에서 후보 64개를 뽑고, twin critic이 배운 Q 값을 그 그룹 안에서 정규화한다. 정규화한 값이 양수인 상위 k개만 지수 가중치로 score matching 손실에 넣는다. 3초 추종 구간 하나가 RL 전이 하나이고, 할인율은 0.99다. 10 denoise 스텝 가운데 마지막 6개만 미세 조정한다. 탐색은 같은 정책의 목표 조건 궤적과 목표 없는 궤적을 섞고, waypoint 좌표의 부호를 무작위로 뒤집어 옆·뒤·우회 행동을 만든다. 로봇 임베딩은 두 곳에 들어간다. 디코더 앞에서는 행동 토큰마다 더하고, 디코더 뒤에서는 FiLM으로 은닉 특징을 조절한다. 이렇게 Dingo(바퀴), Go2, G1 셋을 한 모델로 다룬다. 배포에서는 MPC가 waypoint를 속도 명령으로 바꾼다.</a:t>
            </a:r>
          </a:p>
        </p:txBody>
      </p:sp>
      <p:sp>
        <p:nvSpPr>
          <p:cNvPr id="8" name="TextBox 7"/>
          <p:cNvSpPr txBox="1"/>
          <p:nvPr/>
        </p:nvSpPr>
        <p:spPr>
          <a:xfrm>
            <a:off x="609600" y="3457575"/>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것.</a:t>
            </a:r>
            <a:r>
              <a:rPr sz="1050" b="0" i="0">
                <a:solidFill>
                  <a:srgbClr val="16213A"/>
                </a:solidFill>
                <a:latin typeface="Arial"/>
                <a:ea typeface="Malgun Gothic"/>
                <a:cs typeface="Malgun Gothic"/>
              </a:rPr>
              <a:t> TP-0066의 RL 후학습은 한 계획 시점의 후보 16개를 4초 개루프로 GT 지도에서 한 번 채점했다. TP-0138은 이 보상이 경사로를 지나친 뒤 되돌아가는 몇 초짜리 재탐색을 보상하지 못한다고 진단했다. X-NavDP의 Q critic은 할인된 다단계 보상을 배우므로 그 구멍을 메우는 가장 직접적인 후보다. 그룹 정규화와 상위 k개만 남기는 규칙은 TP-0066의 그룹 상대 이점 가중치와 거의 같다. 그래서 바꿀 곳은 후보 점수의 출처 하나다. 개루프 GT 채점을 폐루프 전이로 배운 Q로 바꾼다. 다만 23점이 모두 Q critic 덕은 아니다. 그룹 정규화만으로 9점(그룹 없는 DPMD 71.57%에서 80.48%)이 더해졌다. 같은 보상으로 비교한 절제에서 DPPO(33.98%)가 모방만 한 모델(53.50%)보다 낮았다는 점도 함께 적어 둔다.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학습 로컬 Planner</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B.3 diffusion으로 궤적 분포를 만드는 방식</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23 / 516</a:t>
            </a:r>
          </a:p>
        </p:txBody>
      </p:sp>
      <p:pic>
        <p:nvPicPr>
          <p:cNvPr id="5" name="Picture 4" descr="image.jpg"/>
          <p:cNvPicPr>
            <a:picLocks noChangeAspect="1"/>
          </p:cNvPicPr>
          <p:nvPr/>
        </p:nvPicPr>
        <p:blipFill>
          <a:blip r:embed="rId3"/>
          <a:stretch>
            <a:fillRect/>
          </a:stretch>
        </p:blipFill>
        <p:spPr>
          <a:xfrm>
            <a:off x="609600" y="1244600"/>
            <a:ext cx="5410200" cy="2368550"/>
          </a:xfrm>
          <a:prstGeom prst="rect">
            <a:avLst/>
          </a:prstGeom>
        </p:spPr>
      </p:pic>
      <p:sp>
        <p:nvSpPr>
          <p:cNvPr id="6" name="TextBox 5"/>
          <p:cNvSpPr txBox="1"/>
          <p:nvPr/>
        </p:nvSpPr>
        <p:spPr>
          <a:xfrm>
            <a:off x="609600" y="3651250"/>
            <a:ext cx="54102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X-NavDP (Fig. 2): NavDP 백본에 로봇 임베딩 FiLM을 넣고, 구조적 섭동으로 탐색하며, 같은 상태 그룹 안에서 Q 점수를 정규화해 여러 몸체를 함께 RL로 후학습한다. 출처: arXiv:2607.28560</a:t>
            </a:r>
          </a:p>
        </p:txBody>
      </p:sp>
      <p:pic>
        <p:nvPicPr>
          <p:cNvPr id="7" name="Picture 6" descr="image.jpg"/>
          <p:cNvPicPr>
            <a:picLocks noChangeAspect="1"/>
          </p:cNvPicPr>
          <p:nvPr/>
        </p:nvPicPr>
        <p:blipFill>
          <a:blip r:embed="rId4"/>
          <a:stretch>
            <a:fillRect/>
          </a:stretch>
        </p:blipFill>
        <p:spPr>
          <a:xfrm>
            <a:off x="6172200" y="1244600"/>
            <a:ext cx="5251450" cy="2667000"/>
          </a:xfrm>
          <a:prstGeom prst="rect">
            <a:avLst/>
          </a:prstGeom>
        </p:spPr>
      </p:pic>
      <p:sp>
        <p:nvSpPr>
          <p:cNvPr id="8" name="TextBox 7"/>
          <p:cNvSpPr txBox="1"/>
          <p:nvPr/>
        </p:nvSpPr>
        <p:spPr>
          <a:xfrm>
            <a:off x="6172200" y="3949700"/>
            <a:ext cx="5410200" cy="142180"/>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X-NavDP (Fig. 3): NavDP에는 없던 회복, 우회, 더 안전한 행동이 후학습 뒤에 나타난다. 출처: arXiv:2607.28560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학습 로컬 Planner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B.3 diffusion으로 궤적 분포를 만드는 방식</a:t>
            </a:r>
            <a:r>
              <a:rPr sz="1050" b="0" i="0">
                <a:solidFill>
                  <a:srgbClr val="5A6478"/>
                </a:solidFill>
                <a:latin typeface="Arial"/>
                <a:ea typeface="Malgun Gothic"/>
                <a:cs typeface="Malgun Gothic"/>
              </a:rPr>
              <a:t>  자세히: X-NavDP의 방법과 수식</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24 / 516</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무엇을 하나.</a:t>
            </a:r>
            <a:r>
              <a:rPr sz="1050" b="0" i="0">
                <a:solidFill>
                  <a:srgbClr val="16213A"/>
                </a:solidFill>
                <a:latin typeface="Arial"/>
                <a:ea typeface="Malgun Gothic"/>
                <a:cs typeface="Malgun Gothic"/>
              </a:rPr>
              <a:t> 확산 정책의 score를 조건부 가우시안 score로 회귀하되, 표본마다 Q로 가중한다(DPMD 방식, 배경 0.5). 다른 점은 Q를 미니배치 전체가 아니라 </a:t>
            </a:r>
            <a:r>
              <a:rPr sz="1050" b="1" i="0">
                <a:solidFill>
                  <a:srgbClr val="16213A"/>
                </a:solidFill>
                <a:latin typeface="Arial"/>
                <a:ea typeface="Malgun Gothic"/>
                <a:cs typeface="Malgun Gothic"/>
              </a:rPr>
              <a:t>같은 상태에서 뽑은 후보 그룹 안에서</a:t>
            </a:r>
            <a:r>
              <a:rPr sz="1050" b="0" i="0">
                <a:solidFill>
                  <a:srgbClr val="16213A"/>
                </a:solidFill>
                <a:latin typeface="Arial"/>
                <a:ea typeface="Malgun Gothic"/>
                <a:cs typeface="Malgun Gothic"/>
              </a:rPr>
              <a:t> 정규화한다는 것이다. 상태마다 Q의 크기가 크게 달라 미니배치 정규화로는 가중치가 한쪽 상태에 몰리기 때문이다.</a:t>
            </a:r>
          </a:p>
        </p:txBody>
      </p:sp>
      <p:pic>
        <p:nvPicPr>
          <p:cNvPr id="6" name="Picture 5" descr="image.png"/>
          <p:cNvPicPr>
            <a:picLocks noChangeAspect="1"/>
          </p:cNvPicPr>
          <p:nvPr/>
        </p:nvPicPr>
        <p:blipFill>
          <a:blip r:embed="rId3"/>
          <a:stretch>
            <a:fillRect/>
          </a:stretch>
        </p:blipFill>
        <p:spPr>
          <a:xfrm>
            <a:off x="609600" y="1766491"/>
            <a:ext cx="7810500" cy="434975"/>
          </a:xfrm>
          <a:prstGeom prst="rect">
            <a:avLst/>
          </a:prstGeom>
        </p:spPr>
      </p:pic>
      <p:sp>
        <p:nvSpPr>
          <p:cNvPr id="7" name="TextBox 6"/>
          <p:cNvSpPr txBox="1"/>
          <p:nvPr/>
        </p:nvSpPr>
        <p:spPr>
          <a:xfrm>
            <a:off x="609600" y="2212280"/>
            <a:ext cx="10972800" cy="865981"/>
          </a:xfrm>
          <a:prstGeom prst="rect">
            <a:avLst/>
          </a:prstGeom>
          <a:noFill/>
        </p:spPr>
        <p:txBody>
          <a:bodyPr wrap="square" lIns="0" rIns="0" tIns="0" bIns="0" anchor="t">
            <a:spAutoFit/>
            <a:normAutofit/>
          </a:bodyPr>
          <a:lstStyle/>
          <a:p>
            <a:r>
              <a:rPr sz="1050" b="0" i="1">
                <a:solidFill>
                  <a:srgbClr val="16213A"/>
                </a:solidFill>
                <a:latin typeface="Arial"/>
                <a:ea typeface="Malgun Gothic"/>
                <a:cs typeface="Malgun Gothic"/>
              </a:rPr>
              <a:t>c</a:t>
            </a:r>
            <a:r>
              <a:rPr sz="1050" b="0" i="0">
                <a:solidFill>
                  <a:srgbClr val="16213A"/>
                </a:solidFill>
                <a:latin typeface="Arial"/>
                <a:ea typeface="Malgun Gothic"/>
                <a:cs typeface="Malgun Gothic"/>
              </a:rPr>
              <a:t>는 정규화한 이점의 크기를 정하고, </a:t>
            </a:r>
            <a:r>
              <a:rPr sz="1050" b="0" i="1">
                <a:solidFill>
                  <a:srgbClr val="16213A"/>
                </a:solidFill>
                <a:latin typeface="Arial"/>
                <a:ea typeface="Malgun Gothic"/>
                <a:cs typeface="Malgun Gothic"/>
              </a:rPr>
              <a:t>h</a:t>
            </a:r>
            <a:r>
              <a:rPr sz="1050" b="0" i="0">
                <a:solidFill>
                  <a:srgbClr val="16213A"/>
                </a:solidFill>
                <a:latin typeface="Arial"/>
                <a:ea typeface="Malgun Gothic"/>
                <a:cs typeface="Malgun Gothic"/>
              </a:rPr>
              <a:t>는 그 상한이며, </a:t>
            </a:r>
            <a:r>
              <a:rPr sz="1050" b="0" i="1">
                <a:solidFill>
                  <a:srgbClr val="16213A"/>
                </a:solidFill>
                <a:latin typeface="Arial"/>
                <a:ea typeface="Malgun Gothic"/>
                <a:cs typeface="Malgun Gothic"/>
              </a:rPr>
              <a:t>ε</a:t>
            </a:r>
            <a:r>
              <a:rPr sz="1050" b="0" i="0">
                <a:solidFill>
                  <a:srgbClr val="16213A"/>
                </a:solidFill>
                <a:latin typeface="Arial"/>
                <a:ea typeface="Malgun Gothic"/>
                <a:cs typeface="Malgun Gothic"/>
              </a:rPr>
              <a:t>은 퇴화한 그룹을 막는 작은 수다. top-k는 5이고, 온도 </a:t>
            </a:r>
            <a:r>
              <a:rPr sz="1050" b="0" i="1">
                <a:solidFill>
                  <a:srgbClr val="16213A"/>
                </a:solidFill>
                <a:latin typeface="Arial"/>
                <a:ea typeface="Malgun Gothic"/>
                <a:cs typeface="Malgun Gothic"/>
              </a:rPr>
              <a:t>λ</a:t>
            </a:r>
            <a:r>
              <a:rPr sz="1050" b="0" i="0">
                <a:solidFill>
                  <a:srgbClr val="16213A"/>
                </a:solidFill>
                <a:latin typeface="Arial"/>
                <a:ea typeface="Malgun Gothic"/>
                <a:cs typeface="Malgun Gothic"/>
              </a:rPr>
              <a:t>는 학습한다(부록 B.2). 부록 B.2는 자르는 범위를 </a:t>
            </a:r>
            <a:r>
              <a:rPr sz="1050" b="0" i="1">
                <a:solidFill>
                  <a:srgbClr val="16213A"/>
                </a:solidFill>
                <a:latin typeface="Arial"/>
                <a:ea typeface="Malgun Gothic"/>
                <a:cs typeface="Malgun Gothic"/>
              </a:rPr>
              <a:t>[-3, 3]</a:t>
            </a:r>
            <a:r>
              <a:rPr sz="1050" b="0" i="0">
                <a:solidFill>
                  <a:srgbClr val="16213A"/>
                </a:solidFill>
                <a:latin typeface="Arial"/>
                <a:ea typeface="Malgun Gothic"/>
                <a:cs typeface="Malgun Gothic"/>
              </a:rPr>
              <a:t>으로 적고 "미니배치 분산으로 정규화한다"고 써서, 본문의 같은 상태 그룹 정규화와 어긋난다. 어느 쪽이 맞는지는 코드로 확인해야 한다. Q는 twin critic의 최솟값을 쓰고, 목표망 갱신률은 0.005다. 보상은 여섯 항이다. 매 시뮬 스텝 생존 벌점 −0.025, 장애물을 아는 경로 진행 0.075, 도착 2.0, 충돌 2.0(벌점), 정지 0.2(벌점), 휴머노이드 안정 −0.4. IsaacLab에서 GRScenes-100의 56개 장면(가정 47, 상업 9)을 448개 병렬 환경으로 약 12시간 후학습했다.</a:t>
            </a:r>
          </a:p>
        </p:txBody>
      </p:sp>
      <p:sp>
        <p:nvSpPr>
          <p:cNvPr id="8" name="TextBox 7"/>
          <p:cNvSpPr txBox="1"/>
          <p:nvPr/>
        </p:nvSpPr>
        <p:spPr>
          <a:xfrm>
            <a:off x="609600" y="3167162"/>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결과.</a:t>
            </a:r>
            <a:r>
              <a:rPr sz="1050" b="0" i="0">
                <a:solidFill>
                  <a:srgbClr val="16213A"/>
                </a:solidFill>
                <a:latin typeface="Arial"/>
                <a:ea typeface="Malgun Gothic"/>
                <a:cs typeface="Malgun Gothic"/>
              </a:rPr>
              <a:t> 시뮬 보지 않은 장면 40개에서 SR/SPL은 iPlanner 33.84/32.60, ViPlanner 43.87/42.84, NavDP 61.20/58.95, X-NavDP 84.28/77.19다. 24개 장면 절제의 SR은 모방만 53.50, DPPO 33.98, DSRL 13.65, 그룹 없는 DPMD 71.57, X-NavDP 80.48이다. 실물은 세 로봇이 세 장소에서 10번씩 달렸다. NavDP는 0–40%, X-NavDP는 50–80%다.</a:t>
            </a:r>
          </a:p>
        </p:txBody>
      </p:sp>
      <p:sp>
        <p:nvSpPr>
          <p:cNvPr id="9" name="TextBox 8"/>
          <p:cNvSpPr txBox="1"/>
          <p:nvPr/>
        </p:nvSpPr>
        <p:spPr>
          <a:xfrm>
            <a:off x="609600" y="3689052"/>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것.</a:t>
            </a:r>
            <a:r>
              <a:rPr sz="1050" b="0" i="0">
                <a:solidFill>
                  <a:srgbClr val="16213A"/>
                </a:solidFill>
                <a:latin typeface="Arial"/>
                <a:ea typeface="Malgun Gothic"/>
                <a:cs typeface="Malgun Gothic"/>
              </a:rPr>
              <a:t> Planner D는 flow matching이라 score 대신 속도장을 회귀한다. 같은 가중치를 flow matching 손실 앞에 곱하면 된다(TP-0066의 AWR 가중치 자리). critic은 TravMap 크롭과 후보를 받아 3–4초 뒤의 할인 보상을 예측하는 작은 망이면 된다. 학습 시간은 재지 않았다. X-NavDP의 12시간은 IsaacLab 448개 환경의 값이라 travplan 운동학 시뮬에 그대로 옮길 수 없다. 위험도 셋 있다. 후보가 16개뿐이면 그중 최댓값 쪽 Q가 과대평가되기 쉽다(X-NavDP는 64개와 twin critic의 최솟값으로 이를 누른다). critic 학습 자료를 따로 모아야 한다. plant 지연을 켜면 같은 후보라도 전이가 달라지므로 plant마다 critic을 다시 배워야 할 수 있다.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학습 로컬 Planner</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B.3 diffusion으로 궤적 분포를 만드는 방식</a:t>
            </a:r>
            <a:r>
              <a:rPr sz="1050" b="0" i="0">
                <a:solidFill>
                  <a:srgbClr val="5A6478"/>
                </a:solidFill>
                <a:latin typeface="Arial"/>
                <a:ea typeface="Malgun Gothic"/>
                <a:cs typeface="Malgun Gothic"/>
              </a:rPr>
              <a:t>  1/4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25 / 516</a:t>
            </a:r>
          </a:p>
        </p:txBody>
      </p:sp>
      <p:sp>
        <p:nvSpPr>
          <p:cNvPr id="5" name="TextBox 4"/>
          <p:cNvSpPr txBox="1"/>
          <p:nvPr/>
        </p:nvSpPr>
        <p:spPr>
          <a:xfrm>
            <a:off x="717550" y="1244600"/>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Beyond Imitation: 인코더를 얼리고 DiT 뒤쪽 층만 에피소드 보상 GRPO로 미세 조정한다</a:t>
            </a:r>
          </a:p>
        </p:txBody>
      </p:sp>
      <p:sp>
        <p:nvSpPr>
          <p:cNvPr id="6" name="TextBox 5"/>
          <p:cNvSpPr txBox="1"/>
          <p:nvPr/>
        </p:nvSpPr>
        <p:spPr>
          <a:xfrm>
            <a:off x="609600" y="1547812"/>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Beyond Imitation</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arXiv:2603.12868</a:t>
            </a:r>
            <a:r>
              <a:rPr sz="1050" b="0" i="0">
                <a:solidFill>
                  <a:srgbClr val="16213A"/>
                </a:solidFill>
                <a:latin typeface="Arial"/>
                <a:ea typeface="Malgun Gothic"/>
                <a:cs typeface="Malgun Gothic"/>
              </a:rPr>
              <a:t>, 2026-03, NTU·NUS·A*STAR)은 NavDP를 critic 없는 GRPO로 미세 조정해 보지 않은 장면의 성공률을 0.520에서 0.587로, SPL을 0.490에서 0.537로 올렸다. 같은 조건의 DPPO는 0.527이었다. 실물 Go2에서는 20번 중 10번에서 14번으로 늘었다. 코드 공개는 확인하지 못했다.</a:t>
            </a:r>
          </a:p>
        </p:txBody>
      </p:sp>
      <p:sp>
        <p:nvSpPr>
          <p:cNvPr id="7" name="TextBox 6"/>
          <p:cNvSpPr txBox="1"/>
          <p:nvPr/>
        </p:nvSpPr>
        <p:spPr>
          <a:xfrm>
            <a:off x="609600" y="2069703"/>
            <a:ext cx="10972800" cy="649486"/>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NavDP(173.59M)에서 시각 인코더 둘과 DiT 앞 11층을 얼리고, 뒤 5층과 행동 머리(11.83M, 6.8%)만 학습한다. 관측마다 궤적 후보 16개를 뽑아 GRPO 그룹으로 쓴다. PPO식 클리핑을 쓰고, 중요도 비는 마지막 7 denoise 스텝에서 계산하며, KL 벌점은 0이다. 보상은 에피소드 결과를 그대로 쓴다. 성공 +10, 진행 +3, 충돌 −5, 팽창 충돌 −1, 거리 −0.1, 부드러움 −0.1, 지그재그 −0.05다. Isaac Sim의 InternScenes-Home 장면에서 Dingo로 8 반복(반복당 130 에피소드)을 돌렸다.</a:t>
            </a:r>
          </a:p>
        </p:txBody>
      </p:sp>
      <p:sp>
        <p:nvSpPr>
          <p:cNvPr id="8" name="TextBox 7"/>
          <p:cNvSpPr txBox="1"/>
          <p:nvPr/>
        </p:nvSpPr>
        <p:spPr>
          <a:xfrm>
            <a:off x="609600" y="2808089"/>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것.</a:t>
            </a:r>
            <a:r>
              <a:rPr sz="1050" b="0" i="0">
                <a:solidFill>
                  <a:srgbClr val="16213A"/>
                </a:solidFill>
                <a:latin typeface="Arial"/>
                <a:ea typeface="Malgun Gothic"/>
                <a:cs typeface="Malgun Gothic"/>
              </a:rPr>
              <a:t> X-NavDP와 출발점(NavDP)이 같아 RL 신호를 비교하기 좋다. 에피소드 보상 GRPO는 성공률을 6.7점, 학습한 Q는 23점 올렸다. 다만 장면과 평가 집합이 달라 두 숫자를 직접 견줄 수는 없다. Planner D는 작은 망이라 층을 얼릴 이유는 작다. 가져올 것은 충돌 근처를 따로 벌하는 "팽창 충돌" 항이다. travplan 보상의 치명 항은 치명 셀을 밟았을 때만 걸린다. 치명 셀과 보행자에서 한 칸 떨어진 띠에 작은 벌점을 두면 아슬아슬한 경우를 줄일 수 있다. 예를 들어 TP-0138 2단계는 보행자 최소 여유가 0.11 m까지 줄었다. 충돌 횟수가 줄었다는 초록의 주장은 본문에 수치가 없어 확인하지 못했다.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학습 로컬 Planner</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B.3 diffusion으로 궤적 분포를 만드는 방식</a:t>
            </a:r>
            <a:r>
              <a:rPr sz="1050" b="0" i="0">
                <a:solidFill>
                  <a:srgbClr val="5A6478"/>
                </a:solidFill>
                <a:latin typeface="Arial"/>
                <a:ea typeface="Malgun Gothic"/>
                <a:cs typeface="Malgun Gothic"/>
              </a:rPr>
              <a:t>  2/4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26 / 516</a:t>
            </a:r>
          </a:p>
        </p:txBody>
      </p:sp>
      <p:pic>
        <p:nvPicPr>
          <p:cNvPr id="5" name="Picture 4" descr="image.jpg"/>
          <p:cNvPicPr>
            <a:picLocks noChangeAspect="1"/>
          </p:cNvPicPr>
          <p:nvPr/>
        </p:nvPicPr>
        <p:blipFill>
          <a:blip r:embed="rId3"/>
          <a:stretch>
            <a:fillRect/>
          </a:stretch>
        </p:blipFill>
        <p:spPr>
          <a:xfrm>
            <a:off x="2679700" y="1244600"/>
            <a:ext cx="6832600" cy="4445000"/>
          </a:xfrm>
          <a:prstGeom prst="rect">
            <a:avLst/>
          </a:prstGeom>
        </p:spPr>
      </p:pic>
      <p:sp>
        <p:nvSpPr>
          <p:cNvPr id="6" name="TextBox 5"/>
          <p:cNvSpPr txBox="1"/>
          <p:nvPr/>
        </p:nvSpPr>
        <p:spPr>
          <a:xfrm>
            <a:off x="2679700" y="5727700"/>
            <a:ext cx="68326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Beyond Imitation (Fig. 1): 사전학습한 NavDP에서 시각 인코더와 앞쪽 DiT 층을 얼리고, 뒤쪽 층과 행동 머리만 GRPO로 미세 조정한다. 출처: arXiv:2603.12868</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학습 로컬 Planner</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B.3 diffusion으로 궤적 분포를 만드는 방식</a:t>
            </a:r>
            <a:r>
              <a:rPr sz="1050" b="0" i="0">
                <a:solidFill>
                  <a:srgbClr val="5A6478"/>
                </a:solidFill>
                <a:latin typeface="Arial"/>
                <a:ea typeface="Malgun Gothic"/>
                <a:cs typeface="Malgun Gothic"/>
              </a:rPr>
              <a:t>  3/4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27 / 516</a:t>
            </a:r>
          </a:p>
        </p:txBody>
      </p:sp>
      <p:sp>
        <p:nvSpPr>
          <p:cNvPr id="5" name="TextBox 4"/>
          <p:cNvSpPr txBox="1"/>
          <p:nvPr/>
        </p:nvSpPr>
        <p:spPr>
          <a:xfrm>
            <a:off x="717550" y="1244600"/>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ReinFlow: flow 정책에 학습하는 잡음을 넣어 가능도를 정확히 계산한다</a:t>
            </a:r>
          </a:p>
        </p:txBody>
      </p:sp>
      <p:sp>
        <p:nvSpPr>
          <p:cNvPr id="6" name="TextBox 5"/>
          <p:cNvSpPr txBox="1"/>
          <p:nvPr/>
        </p:nvSpPr>
        <p:spPr>
          <a:xfrm>
            <a:off x="609600" y="1547812"/>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ReinFlow</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arXiv:2505.22094</a:t>
            </a:r>
            <a:r>
              <a:rPr sz="1050" b="0" i="0">
                <a:solidFill>
                  <a:srgbClr val="16213A"/>
                </a:solidFill>
                <a:latin typeface="Arial"/>
                <a:ea typeface="Malgun Gothic"/>
                <a:cs typeface="Malgun Gothic"/>
              </a:rPr>
              <a:t>, NeurIPS 2025)는 flow matching 정책을 온라인 정책 기울기로 미세 조정한다. 결정적인 flow 적분의 스텝마다 학습하는 잡음을 더해 이산 Markov 과정으로 바꾸므로, 가능도를 정확히 계산할 수 있다. 상세는 강화학습 문서 R.13에 있다.</a:t>
            </a:r>
          </a:p>
        </p:txBody>
      </p:sp>
      <p:sp>
        <p:nvSpPr>
          <p:cNvPr id="7" name="TextBox 6"/>
          <p:cNvSpPr txBox="1"/>
          <p:nvPr/>
        </p:nvSpPr>
        <p:spPr>
          <a:xfrm>
            <a:off x="609600" y="2069703"/>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것.</a:t>
            </a:r>
            <a:r>
              <a:rPr sz="1050" b="0" i="0">
                <a:solidFill>
                  <a:srgbClr val="16213A"/>
                </a:solidFill>
                <a:latin typeface="Arial"/>
                <a:ea typeface="Malgun Gothic"/>
                <a:cs typeface="Malgun Gothic"/>
              </a:rPr>
              <a:t> Planner D는 확산이 아니라 flow matching이다. 그래서 X-NavDP의 재가중 score matching보다 ReinFlow가 Planner D의 손실과 그대로 맞는다. X-NavDP의 Q critic과 ReinFlow의 정책 기울기는 서로 바꿔 끼울 수 있다. Q critic으로 다단계 보상을 만들고, 그 이점으로 ReinFlow의 정확한 가능도 기울기를 주는 조합이 Planner D에 가장 가깝다.</a:t>
            </a:r>
          </a:p>
        </p:txBody>
      </p:sp>
      <p:sp>
        <p:nvSpPr>
          <p:cNvPr id="8" name="TextBox 7"/>
          <p:cNvSpPr txBox="1"/>
          <p:nvPr/>
        </p:nvSpPr>
        <p:spPr>
          <a:xfrm>
            <a:off x="717550" y="2591594"/>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LoGoPlanner: 위치 추정 모듈 없이 기하 백본이 자세와 장면을 함께 낸다</a:t>
            </a:r>
          </a:p>
        </p:txBody>
      </p:sp>
      <p:sp>
        <p:nvSpPr>
          <p:cNvPr id="9" name="TextBox 8"/>
          <p:cNvSpPr txBox="1"/>
          <p:nvPr/>
        </p:nvSpPr>
        <p:spPr>
          <a:xfrm>
            <a:off x="609600" y="2894806"/>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LoGoPlanner</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4"/>
              </a:rPr>
              <a:t>arXiv:2512.19629</a:t>
            </a:r>
            <a:r>
              <a:rPr sz="1050" b="0" i="0">
                <a:solidFill>
                  <a:srgbClr val="16213A"/>
                </a:solidFill>
                <a:latin typeface="Arial"/>
                <a:ea typeface="Malgun Gothic"/>
                <a:cs typeface="Malgun Gothic"/>
              </a:rPr>
              <a:t>, 2025-12, Shanghai AI Lab 등, </a:t>
            </a:r>
            <a:r>
              <a:rPr sz="1050" b="0" i="0">
                <a:solidFill>
                  <a:srgbClr val="1D4ED8"/>
                </a:solidFill>
                <a:latin typeface="Arial"/>
                <a:ea typeface="Malgun Gothic"/>
                <a:cs typeface="Malgun Gothic"/>
                <a:hlinkClick r:id="rId5"/>
              </a:rPr>
              <a:t>프로젝트</a:t>
            </a:r>
            <a:r>
              <a:rPr sz="1050" b="0" i="0">
                <a:solidFill>
                  <a:srgbClr val="16213A"/>
                </a:solidFill>
                <a:latin typeface="Arial"/>
                <a:ea typeface="Malgun Gothic"/>
                <a:cs typeface="Malgun Gothic"/>
              </a:rPr>
              <a:t>, 코드는 NavDP 저장소의 </a:t>
            </a:r>
            <a:r>
              <a:rPr sz="1050" b="0" i="0">
                <a:solidFill>
                  <a:srgbClr val="16213A"/>
                </a:solidFill>
                <a:latin typeface="Consolas"/>
                <a:ea typeface="Malgun Gothic"/>
                <a:cs typeface="Malgun Gothic"/>
              </a:rPr>
              <a:t>baselines/logoplanner</a:t>
            </a:r>
            <a:r>
              <a:rPr sz="1050" b="0" i="0">
                <a:solidFill>
                  <a:srgbClr val="16213A"/>
                </a:solidFill>
                <a:latin typeface="Arial"/>
                <a:ea typeface="Malgun Gothic"/>
                <a:cs typeface="Malgun Gothic"/>
              </a:rPr>
              <a:t>)는 RGB-D 영상에서 미터 스케일 자세와 장면 점군을 함께 추정하고, 그 기하를 조건으로 diffusion 머리가 행동 묶음을 낸다. 실물 20번씩의 성공은 TurtleBot 17, Go2 14, G1 10번이다. 같은 조건의 ViPlanner는 10, 9, 0번이다.</a:t>
            </a:r>
          </a:p>
        </p:txBody>
      </p:sp>
      <p:sp>
        <p:nvSpPr>
          <p:cNvPr id="10" name="TextBox 9"/>
          <p:cNvSpPr txBox="1"/>
          <p:nvPr/>
        </p:nvSpPr>
        <p:spPr>
          <a:xfrm>
            <a:off x="609600" y="3416697"/>
            <a:ext cx="10972800" cy="649486"/>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VGGT 계열 영상 기하 모델에 깊이 영상을 가벼운 ViT로 넣어 스케일 prior를 주입하고, 미터 스케일 출력으로 미세 조정한다. 지난 관측으로 장면을 재구성해 장애물 회피에 쓰고, 상태·기하·목표 query로 만든 계획 문맥에서 (Δx, Δy, Δθ) 묶음을 denoise한다. 학습은 시뮬로 만든 InternData-N1의 20만 궤적, 약 1천만 영상이다. 로봇 높이를 0.25–1.25 m, 카메라 pitch를 0–30°로 무작위화했다. 시뮬 가정 장면의 SR/SPL은 57.3/52.4이고, 위치 정답을 준 ViPlanner는 45.0/43.2다. 초록의 "27.3%"는 이 SR의 상대 향상이다.</a:t>
            </a:r>
          </a:p>
        </p:txBody>
      </p:sp>
      <p:sp>
        <p:nvSpPr>
          <p:cNvPr id="11" name="TextBox 10"/>
          <p:cNvSpPr txBox="1"/>
          <p:nvPr/>
        </p:nvSpPr>
        <p:spPr>
          <a:xfrm>
            <a:off x="609600" y="4155083"/>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것.</a:t>
            </a:r>
            <a:r>
              <a:rPr sz="1050" b="0" i="0">
                <a:solidFill>
                  <a:srgbClr val="16213A"/>
                </a:solidFill>
                <a:latin typeface="Arial"/>
                <a:ea typeface="Malgun Gothic"/>
                <a:cs typeface="Malgun Gothic"/>
              </a:rPr>
              <a:t> Planner D는 TravMap 크롭을 추정 자세 기준으로 잘라 받으므로, 위치 오차는 곧 지도 어긋남이다. TP-0146에서 반 칸 어긋남 하나가 L1 수치를 바꾼 것과 같은 종류다. LoGoPlanner는 이 문제를 학습 안으로 넣었지만, travplan은 기하를 TravMap으로 드러내 두는 쪽을 유지한다. 치명 셀 검사와 Guidance 폴백이 명시적 지도에 기대기 때문이다. 가져올 것은 학습 데이터 무작위화의 발상이다. Planner D 학습 때 크롭 자세에 위치·방향 잡음을 넣으면, 실물의 위치 추정 오차에 덜 민감해진다.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학습 로컬 Planner</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B.3 diffusion으로 궤적 분포를 만드는 방식</a:t>
            </a:r>
            <a:r>
              <a:rPr sz="1050" b="0" i="0">
                <a:solidFill>
                  <a:srgbClr val="5A6478"/>
                </a:solidFill>
                <a:latin typeface="Arial"/>
                <a:ea typeface="Malgun Gothic"/>
                <a:cs typeface="Malgun Gothic"/>
              </a:rPr>
              <a:t>  4/4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28 / 516</a:t>
            </a:r>
          </a:p>
        </p:txBody>
      </p:sp>
      <p:pic>
        <p:nvPicPr>
          <p:cNvPr id="5" name="Picture 4" descr="image.jpg"/>
          <p:cNvPicPr>
            <a:picLocks noChangeAspect="1"/>
          </p:cNvPicPr>
          <p:nvPr/>
        </p:nvPicPr>
        <p:blipFill>
          <a:blip r:embed="rId3"/>
          <a:stretch>
            <a:fillRect/>
          </a:stretch>
        </p:blipFill>
        <p:spPr>
          <a:xfrm>
            <a:off x="1016000" y="1244600"/>
            <a:ext cx="10160000" cy="4203700"/>
          </a:xfrm>
          <a:prstGeom prst="rect">
            <a:avLst/>
          </a:prstGeom>
        </p:spPr>
      </p:pic>
      <p:sp>
        <p:nvSpPr>
          <p:cNvPr id="6" name="TextBox 5"/>
          <p:cNvSpPr txBox="1"/>
          <p:nvPr/>
        </p:nvSpPr>
        <p:spPr>
          <a:xfrm>
            <a:off x="1016000" y="5486400"/>
            <a:ext cx="10160000" cy="142180"/>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LoGoPlanner (Fig. 2): ViT 패치에 깊이 스케일 prior를 넣어 영상 기하 모델을 미터 스케일로 맞추고, query 기반 계획 문맥이 diffusion 행동 머리로 이어진다. 출처: arXiv:2512.19629</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학습 로컬 Planner</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B.4 인식에서 속도 명령까지 RL로 곧장 가는 방식</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29 / 516</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MILER</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arXiv:2609.20747</a:t>
            </a:r>
            <a:r>
              <a:rPr sz="1050" b="0" i="0">
                <a:solidFill>
                  <a:srgbClr val="16213A"/>
                </a:solidFill>
                <a:latin typeface="Arial"/>
                <a:ea typeface="Malgun Gothic"/>
                <a:cs typeface="Malgun Gothic"/>
              </a:rPr>
              <a:t>)와 </a:t>
            </a:r>
            <a:r>
              <a:rPr sz="1050" b="1" i="0">
                <a:solidFill>
                  <a:srgbClr val="16213A"/>
                </a:solidFill>
                <a:latin typeface="Arial"/>
                <a:ea typeface="Malgun Gothic"/>
                <a:cs typeface="Malgun Gothic"/>
              </a:rPr>
              <a:t>CORE Planner</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4"/>
              </a:rPr>
              <a:t>arXiv:2606.29222</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5"/>
              </a:rPr>
              <a:t>코드</a:t>
            </a:r>
            <a:r>
              <a:rPr sz="1050" b="0" i="0">
                <a:solidFill>
                  <a:srgbClr val="16213A"/>
                </a:solidFill>
                <a:latin typeface="Arial"/>
                <a:ea typeface="Malgun Gothic"/>
                <a:cs typeface="Malgun Gothic"/>
              </a:rPr>
              <a:t>)는 인식 결과를 속도 명령으로 곧장 바꾼다. MILER는 Jetson AGX Orin으로 실차 17.3 km를 달렸고, CORE는 소형 UGV에서 검증했다. 임베디드 배포가 검증된 장점이 있지만, 명시적인 궤적이나 비용을 거치지 않아 travplan이 비용 항으로 얻는 해석 가능성을 잃는다. 그래서 채택은 보류한다. 다만 MILER의 </a:t>
            </a:r>
            <a:r>
              <a:rPr sz="1050" b="1" i="0">
                <a:solidFill>
                  <a:srgbClr val="16213A"/>
                </a:solidFill>
                <a:latin typeface="Arial"/>
                <a:ea typeface="Malgun Gothic"/>
                <a:cs typeface="Malgun Gothic"/>
              </a:rPr>
              <a:t>"시뮬과 실제가 같은 중간 표현(시맨틱 BEV)을 보게 해서 sim-to-real을 푼다"</a:t>
            </a:r>
            <a:r>
              <a:rPr sz="1050" b="0" i="0">
                <a:solidFill>
                  <a:srgbClr val="16213A"/>
                </a:solidFill>
                <a:latin typeface="Arial"/>
                <a:ea typeface="Malgun Gothic"/>
                <a:cs typeface="Malgun Gothic"/>
              </a:rPr>
              <a:t>는 발상은 TravMap을 공통 표현으로 쓰는 travplan 설계와 같아서 D.0에서 따로 다룬다.</a:t>
            </a:r>
          </a:p>
        </p:txBody>
      </p:sp>
      <p:pic>
        <p:nvPicPr>
          <p:cNvPr id="6" name="Picture 5" descr="image.jpg"/>
          <p:cNvPicPr>
            <a:picLocks noChangeAspect="1"/>
          </p:cNvPicPr>
          <p:nvPr/>
        </p:nvPicPr>
        <p:blipFill>
          <a:blip r:embed="rId6"/>
          <a:stretch>
            <a:fillRect/>
          </a:stretch>
        </p:blipFill>
        <p:spPr>
          <a:xfrm>
            <a:off x="609600" y="1982986"/>
            <a:ext cx="5410200" cy="2432050"/>
          </a:xfrm>
          <a:prstGeom prst="rect">
            <a:avLst/>
          </a:prstGeom>
        </p:spPr>
      </p:pic>
      <p:sp>
        <p:nvSpPr>
          <p:cNvPr id="7" name="TextBox 6"/>
          <p:cNvSpPr txBox="1"/>
          <p:nvPr/>
        </p:nvSpPr>
        <p:spPr>
          <a:xfrm>
            <a:off x="609600" y="4453136"/>
            <a:ext cx="54102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MILER (Fig. 2): 학습 때는 중간 표현 시뮬레이터, 배포 때는 BEVFusion으로 같은 중간 표현을 만들어 sim-to-real. 출처: arXiv:2609.20747</a:t>
            </a:r>
          </a:p>
        </p:txBody>
      </p:sp>
      <p:pic>
        <p:nvPicPr>
          <p:cNvPr id="8" name="Picture 7" descr="image.jpg"/>
          <p:cNvPicPr>
            <a:picLocks noChangeAspect="1"/>
          </p:cNvPicPr>
          <p:nvPr/>
        </p:nvPicPr>
        <p:blipFill>
          <a:blip r:embed="rId7"/>
          <a:stretch>
            <a:fillRect/>
          </a:stretch>
        </p:blipFill>
        <p:spPr>
          <a:xfrm>
            <a:off x="6172200" y="1982986"/>
            <a:ext cx="5410200" cy="2292350"/>
          </a:xfrm>
          <a:prstGeom prst="rect">
            <a:avLst/>
          </a:prstGeom>
        </p:spPr>
      </p:pic>
      <p:sp>
        <p:nvSpPr>
          <p:cNvPr id="9" name="TextBox 8"/>
          <p:cNvSpPr txBox="1"/>
          <p:nvPr/>
        </p:nvSpPr>
        <p:spPr>
          <a:xfrm>
            <a:off x="6172200" y="4313436"/>
            <a:ext cx="54102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CORE Planner (Fig. 3): LiDAR로 visibility graph를 점진적으로 만들고 transformer가 다음 노드를 고르는 구조. 출처: arXiv:2606.29222</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학습 로컬 Planner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B.4 인식에서 속도 명령까지 RL로 곧장 가는 방식</a:t>
            </a:r>
            <a:r>
              <a:rPr sz="1050" b="0" i="0">
                <a:solidFill>
                  <a:srgbClr val="5A6478"/>
                </a:solidFill>
                <a:latin typeface="Arial"/>
                <a:ea typeface="Malgun Gothic"/>
                <a:cs typeface="Malgun Gothic"/>
              </a:rPr>
              <a:t>  자세히: MILER의 방법과 수식</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30 / 516</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중간 표현(MLR) 시뮬레이터.</a:t>
            </a:r>
            <a:r>
              <a:rPr sz="1050" b="0" i="0">
                <a:solidFill>
                  <a:srgbClr val="16213A"/>
                </a:solidFill>
                <a:latin typeface="Arial"/>
                <a:ea typeface="Malgun Gothic"/>
                <a:cs typeface="Malgun Gothic"/>
              </a:rPr>
              <a:t> 사실적인 렌더링 대신 시맨틱 BEV만 만드는 GPU 시뮬레이터에서 학습한다. 클래스는 주행 가능(포장·자갈), 반주행 가능 (잔디), 주행 불가(장애물·정지 차량), 모름의 넷이다. 지도는 Minecraft처럼 여러 층의 Perlin 노이즈로 절차 생성한다. "3D 환경 → 센서 데이터 → 시맨틱" 투영을 학습 때 통째로 건너뛰는 것이 핵심이다.</a:t>
            </a:r>
          </a:p>
        </p:txBody>
      </p:sp>
      <p:sp>
        <p:nvSpPr>
          <p:cNvPr id="6" name="TextBox 5"/>
          <p:cNvSpPr txBox="1"/>
          <p:nvPr/>
        </p:nvSpPr>
        <p:spPr>
          <a:xfrm>
            <a:off x="609600" y="176649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상태와 행동.</a:t>
            </a:r>
            <a:r>
              <a:rPr sz="1050" b="0" i="0">
                <a:solidFill>
                  <a:srgbClr val="16213A"/>
                </a:solidFill>
                <a:latin typeface="Arial"/>
                <a:ea typeface="Malgun Gothic"/>
                <a:cs typeface="Malgun Gothic"/>
              </a:rPr>
              <a:t> 상태는 60 m × 60 m, 0.25 m 해상도의 원-핫 BEV(목표 waypoint 채널 포함), 차량 상태(속도·가속·조향·조향 속도), 이전 행동, 목표 속도, 1 m 간격 waypoint 80개, 남은 경로 길이다. 행동은 </a:t>
            </a:r>
            <a:r>
              <a:rPr sz="1050" b="1" i="0">
                <a:solidFill>
                  <a:srgbClr val="16213A"/>
                </a:solidFill>
                <a:latin typeface="Arial"/>
                <a:ea typeface="Malgun Gothic"/>
                <a:cs typeface="Malgun Gothic"/>
              </a:rPr>
              <a:t>jerk와 조향 가속</a:t>
            </a:r>
            <a:r>
              <a:rPr sz="1050" b="0" i="0">
                <a:solidFill>
                  <a:srgbClr val="16213A"/>
                </a:solidFill>
                <a:latin typeface="Arial"/>
                <a:ea typeface="Malgun Gothic"/>
                <a:cs typeface="Malgun Gothic"/>
              </a:rPr>
              <a:t>(두 번 적분돼 자세에 반영)이고, 5 × 5 이산 분포로 둔다. PPO로 학습하며 보상은 커리큘럼으로 점점 엄격하게 바꾼다.</a:t>
            </a:r>
          </a:p>
        </p:txBody>
      </p:sp>
      <p:sp>
        <p:nvSpPr>
          <p:cNvPr id="7" name="TextBox 6"/>
          <p:cNvSpPr txBox="1"/>
          <p:nvPr/>
        </p:nvSpPr>
        <p:spPr>
          <a:xfrm>
            <a:off x="609600" y="228838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배포(sim-to-real).</a:t>
            </a:r>
            <a:r>
              <a:rPr sz="1050" b="0" i="0">
                <a:solidFill>
                  <a:srgbClr val="16213A"/>
                </a:solidFill>
                <a:latin typeface="Arial"/>
                <a:ea typeface="Malgun Gothic"/>
                <a:cs typeface="Malgun Gothic"/>
              </a:rPr>
              <a:t> Jetson AGX Orin에서 TensorRT로 1.9 ms. 실제 BEV는 BEVFusion(카메라 + LiDAR)으로 만든다. 실차와 같은 자세에서 시작하는 </a:t>
            </a:r>
            <a:r>
              <a:rPr sz="1050" b="1" i="0">
                <a:solidFill>
                  <a:srgbClr val="16213A"/>
                </a:solidFill>
                <a:latin typeface="Arial"/>
                <a:ea typeface="Malgun Gothic"/>
                <a:cs typeface="Malgun Gothic"/>
              </a:rPr>
              <a:t>가상 차량</a:t>
            </a:r>
            <a:r>
              <a:rPr sz="1050" b="0" i="0">
                <a:solidFill>
                  <a:srgbClr val="16213A"/>
                </a:solidFill>
                <a:latin typeface="Arial"/>
                <a:ea typeface="Malgun Gothic"/>
                <a:cs typeface="Malgun Gothic"/>
              </a:rPr>
              <a:t>을 두고, 실제 BEV를 가상 차량 좌표로 옮겨(회전 흔적을 없애려 원형 crop) 정책이 가상 차량을 몰게 한 뒤, 가상 궤적을 실차가 추종하게 한다.</a:t>
            </a:r>
          </a:p>
        </p:txBody>
      </p:sp>
      <p:pic>
        <p:nvPicPr>
          <p:cNvPr id="8" name="Picture 7" descr="image.png"/>
          <p:cNvPicPr>
            <a:picLocks noChangeAspect="1"/>
          </p:cNvPicPr>
          <p:nvPr/>
        </p:nvPicPr>
        <p:blipFill>
          <a:blip r:embed="rId3"/>
          <a:stretch>
            <a:fillRect/>
          </a:stretch>
        </p:blipFill>
        <p:spPr>
          <a:xfrm>
            <a:off x="609600" y="2810272"/>
            <a:ext cx="3971925" cy="247650"/>
          </a:xfrm>
          <a:prstGeom prst="rect">
            <a:avLst/>
          </a:prstGeom>
        </p:spPr>
      </p:pic>
      <p:sp>
        <p:nvSpPr>
          <p:cNvPr id="9" name="TextBox 8"/>
          <p:cNvSpPr txBox="1"/>
          <p:nvPr/>
        </p:nvSpPr>
        <p:spPr>
          <a:xfrm>
            <a:off x="609600" y="3090168"/>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것.</a:t>
            </a:r>
            <a:r>
              <a:rPr sz="1050" b="0" i="0">
                <a:solidFill>
                  <a:srgbClr val="16213A"/>
                </a:solidFill>
                <a:latin typeface="Arial"/>
                <a:ea typeface="Malgun Gothic"/>
                <a:cs typeface="Malgun Gothic"/>
              </a:rPr>
              <a:t> travplan도 TravMap이라는 중간 표현을 공유한다. 시뮬과 실제가 같은 TravMap을 보게 하면, Planner D를 운동학 시뮬에서만 학습해도 옮길 수 있다는 근거다.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학습 로컬 Planner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B.4 인식에서 속도 명령까지 RL로 곧장 가는 방식</a:t>
            </a:r>
            <a:r>
              <a:rPr sz="1050" b="0" i="0">
                <a:solidFill>
                  <a:srgbClr val="5A6478"/>
                </a:solidFill>
                <a:latin typeface="Arial"/>
                <a:ea typeface="Malgun Gothic"/>
                <a:cs typeface="Malgun Gothic"/>
              </a:rPr>
              <a:t>  자세히: CORE Planner의 방법과 수식</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31 / 516</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문제: 탐색 교착 진동.</a:t>
            </a:r>
            <a:r>
              <a:rPr sz="1050" b="0" i="0">
                <a:solidFill>
                  <a:srgbClr val="16213A"/>
                </a:solidFill>
                <a:latin typeface="Arial"/>
                <a:ea typeface="Malgun Gothic"/>
                <a:cs typeface="Malgun Gothic"/>
              </a:rPr>
              <a:t> 미지 환경에서 다음 waypoint를 </a:t>
            </a:r>
            <a:r>
              <a:rPr sz="1050" b="1" i="0">
                <a:solidFill>
                  <a:srgbClr val="16213A"/>
                </a:solidFill>
                <a:latin typeface="Arial"/>
                <a:ea typeface="Malgun Gothic"/>
                <a:cs typeface="Malgun Gothic"/>
              </a:rPr>
              <a:t>현재 믿음 지도만으로</a:t>
            </a:r>
            <a:r>
              <a:rPr sz="1050" b="0" i="0">
                <a:solidFill>
                  <a:srgbClr val="16213A"/>
                </a:solidFill>
                <a:latin typeface="Arial"/>
                <a:ea typeface="Malgun Gothic"/>
                <a:cs typeface="Malgun Gothic"/>
              </a:rPr>
              <a:t> 고르면, 새 관측이 들어올 때마다 최적 후보가 바뀌어 두 점 사이를 오가는 현상(Navigation Deadlock Oscillation)이 생긴다. 고전 정식화는 다음과 같다(</a:t>
            </a:r>
            <a:r>
              <a:rPr sz="1050" b="0" i="1">
                <a:solidFill>
                  <a:srgbClr val="16213A"/>
                </a:solidFill>
                <a:latin typeface="Arial"/>
                <a:ea typeface="Malgun Gothic"/>
                <a:cs typeface="Malgun Gothic"/>
              </a:rPr>
              <a:t>B</a:t>
            </a:r>
            <a:r>
              <a:rPr sz="1050" b="0" i="0">
                <a:solidFill>
                  <a:srgbClr val="16213A"/>
                </a:solidFill>
                <a:latin typeface="Arial"/>
                <a:ea typeface="Malgun Gothic"/>
                <a:cs typeface="Malgun Gothic"/>
              </a:rPr>
              <a:t>: 믿음 지도).</a:t>
            </a:r>
          </a:p>
        </p:txBody>
      </p:sp>
      <p:pic>
        <p:nvPicPr>
          <p:cNvPr id="6" name="Picture 5" descr="image.png"/>
          <p:cNvPicPr>
            <a:picLocks noChangeAspect="1"/>
          </p:cNvPicPr>
          <p:nvPr/>
        </p:nvPicPr>
        <p:blipFill>
          <a:blip r:embed="rId3"/>
          <a:stretch>
            <a:fillRect/>
          </a:stretch>
        </p:blipFill>
        <p:spPr>
          <a:xfrm>
            <a:off x="609600" y="1766491"/>
            <a:ext cx="3286125" cy="339725"/>
          </a:xfrm>
          <a:prstGeom prst="rect">
            <a:avLst/>
          </a:prstGeom>
        </p:spPr>
      </p:pic>
      <p:sp>
        <p:nvSpPr>
          <p:cNvPr id="7" name="TextBox 6"/>
          <p:cNvSpPr txBox="1"/>
          <p:nvPr/>
        </p:nvSpPr>
        <p:spPr>
          <a:xfrm>
            <a:off x="609600" y="2130425"/>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방법.</a:t>
            </a:r>
            <a:r>
              <a:rPr sz="1050" b="0" i="0">
                <a:solidFill>
                  <a:srgbClr val="16213A"/>
                </a:solidFill>
                <a:latin typeface="Arial"/>
                <a:ea typeface="Malgun Gothic"/>
                <a:cs typeface="Malgun Gothic"/>
              </a:rPr>
              <a:t> LiDAR로 visibility graph를 점진적으로 만들고(밀집 격자 대신 희소 그래프), 그래프를 가지치기한 뒤 transformer가 </a:t>
            </a:r>
            <a:r>
              <a:rPr sz="1050" b="1" i="0">
                <a:solidFill>
                  <a:srgbClr val="16213A"/>
                </a:solidFill>
                <a:latin typeface="Arial"/>
                <a:ea typeface="Malgun Gothic"/>
                <a:cs typeface="Malgun Gothic"/>
              </a:rPr>
              <a:t>과거 행동을 담은 문맥 메모리</a:t>
            </a:r>
            <a:r>
              <a:rPr sz="1050" b="0" i="0">
                <a:solidFill>
                  <a:srgbClr val="16213A"/>
                </a:solidFill>
                <a:latin typeface="Arial"/>
                <a:ea typeface="Malgun Gothic"/>
                <a:cs typeface="Malgun Gothic"/>
              </a:rPr>
              <a:t>와 함께 다음 노드를 고른다. 순차 의사결정으로 바꿔 과거를 기억하게 함으로써 진동을 줄인다. 이미지 기반 환경에서만 학습해 추가 학습 없이 실물로 옮겼다.</a:t>
            </a:r>
          </a:p>
        </p:txBody>
      </p:sp>
      <p:sp>
        <p:nvSpPr>
          <p:cNvPr id="8" name="TextBox 7"/>
          <p:cNvSpPr txBox="1"/>
          <p:nvPr/>
        </p:nvSpPr>
        <p:spPr>
          <a:xfrm>
            <a:off x="609600" y="2652316"/>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것.</a:t>
            </a:r>
            <a:r>
              <a:rPr sz="1050" b="0" i="0">
                <a:solidFill>
                  <a:srgbClr val="16213A"/>
                </a:solidFill>
                <a:latin typeface="Arial"/>
                <a:ea typeface="Malgun Gothic"/>
                <a:cs typeface="Malgun Gothic"/>
              </a:rPr>
              <a:t> Planner가 매 주기 독립적으로 계획하면 같은 진동이 생길 수 있다(curb_ramp의 "갔다가 되돌아오기"). 재계획 간 일관성 장치의 참고다.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학습 로컬 Planner</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B.4 인식에서 속도 명령까지 RL로 곧장 가는 방식</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32 / 516</a:t>
            </a:r>
          </a:p>
        </p:txBody>
      </p:sp>
      <p:sp>
        <p:nvSpPr>
          <p:cNvPr id="5" name="TextBox 4"/>
          <p:cNvSpPr txBox="1"/>
          <p:nvPr/>
        </p:nvSpPr>
        <p:spPr>
          <a:xfrm>
            <a:off x="717550" y="1244600"/>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TAME-Nav: 특권 교사를 시간 Soft-MoE 학생으로 증류한 LiDAR 로컬 내비 정책</a:t>
            </a:r>
          </a:p>
        </p:txBody>
      </p:sp>
      <p:sp>
        <p:nvSpPr>
          <p:cNvPr id="6" name="TextBox 5"/>
          <p:cNvSpPr txBox="1"/>
          <p:nvPr/>
        </p:nvSpPr>
        <p:spPr>
          <a:xfrm>
            <a:off x="609600" y="1547812"/>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TAME-Nav</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arXiv:2610.12877</a:t>
            </a:r>
            <a:r>
              <a:rPr sz="1050" b="0" i="0">
                <a:solidFill>
                  <a:srgbClr val="16213A"/>
                </a:solidFill>
                <a:latin typeface="Arial"/>
                <a:ea typeface="Malgun Gothic"/>
                <a:cs typeface="Malgun Gothic"/>
              </a:rPr>
              <a:t>, 2026-10, SJTU·Eastern Institute of Technology Ningbo(EIT)·PolyU·USTC, </a:t>
            </a:r>
            <a:r>
              <a:rPr sz="1050" b="0" i="0">
                <a:solidFill>
                  <a:srgbClr val="1D4ED8"/>
                </a:solidFill>
                <a:latin typeface="Arial"/>
                <a:ea typeface="Malgun Gothic"/>
                <a:cs typeface="Malgun Gothic"/>
                <a:hlinkClick r:id="rId4"/>
              </a:rPr>
              <a:t>프로젝트</a:t>
            </a:r>
            <a:r>
              <a:rPr sz="1050" b="0" i="0">
                <a:solidFill>
                  <a:srgbClr val="16213A"/>
                </a:solidFill>
                <a:latin typeface="Arial"/>
                <a:ea typeface="Malgun Gothic"/>
                <a:cs typeface="Malgun Gothic"/>
              </a:rPr>
              <a:t>, 코드는 "공개 예정")는 2D LiDAR 41빔과 상대 목표만 보고 몸체 속도 </a:t>
            </a:r>
            <a:r>
              <a:rPr sz="1050" b="0" i="1">
                <a:solidFill>
                  <a:srgbClr val="16213A"/>
                </a:solidFill>
                <a:latin typeface="Arial"/>
                <a:ea typeface="Malgun Gothic"/>
                <a:cs typeface="Malgun Gothic"/>
              </a:rPr>
              <a:t>[vₓ, v_y, ω_z]</a:t>
            </a:r>
            <a:r>
              <a:rPr sz="1050" b="0" i="0">
                <a:solidFill>
                  <a:srgbClr val="16213A"/>
                </a:solidFill>
                <a:latin typeface="Arial"/>
                <a:ea typeface="Malgun Gothic"/>
                <a:cs typeface="Malgun Gothic"/>
              </a:rPr>
              <a:t>를 50 Hz로 내는 RL 정책 하나다. </a:t>
            </a:r>
            <a:r>
              <a:rPr sz="1050" b="1" i="0">
                <a:solidFill>
                  <a:srgbClr val="C2410C"/>
                </a:solidFill>
                <a:latin typeface="Arial"/>
                <a:ea typeface="Malgun Gothic"/>
                <a:cs typeface="Malgun Gothic"/>
              </a:rPr>
              <a:t>이 정책 하나로 장애물 회피, 좁은 통로 통과, 오목한 함정 탈출을 함께 한다.</a:t>
            </a:r>
            <a:r>
              <a:rPr sz="1050" b="0" i="0">
                <a:solidFill>
                  <a:srgbClr val="16213A"/>
                </a:solidFill>
                <a:latin typeface="Arial"/>
                <a:ea typeface="Malgun Gothic"/>
                <a:cs typeface="Malgun Gothic"/>
              </a:rPr>
              <a:t> SEA-Nav·NavRL·DRL-DCLP를 같은 학습 지도 600개와 같은 예산으로 다시 학습해 비교했다. 처음 보는 지도 600개에서 성공률이 78.2 %로, 가장 강한 기준선(SEA-Nav, 52.6 %)보다 25.6 %p 높았다. Unitree Go2 실물에서는 함정 탈출과 돌발 장애물이 있는 좁은 통로를 10회씩 모두 성공했다. 접촉은 20회 중 한 번이었다.</a:t>
            </a:r>
          </a:p>
        </p:txBody>
      </p:sp>
      <p:sp>
        <p:nvSpPr>
          <p:cNvPr id="7" name="TextBox 6"/>
          <p:cNvSpPr txBox="1"/>
          <p:nvPr/>
        </p:nvSpPr>
        <p:spPr>
          <a:xfrm>
            <a:off x="609600" y="2502694"/>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방법의 뼈대는 셋이다.</a:t>
            </a:r>
          </a:p>
        </p:txBody>
      </p:sp>
      <p:sp>
        <p:nvSpPr>
          <p:cNvPr id="8" name="TextBox 7"/>
          <p:cNvSpPr txBox="1"/>
          <p:nvPr/>
        </p:nvSpPr>
        <p:spPr>
          <a:xfrm>
            <a:off x="609600" y="2808089"/>
            <a:ext cx="10972800" cy="700286"/>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교사.</a:t>
            </a:r>
            <a:r>
              <a:rPr sz="1050" b="0" i="0">
                <a:solidFill>
                  <a:srgbClr val="16213A"/>
                </a:solidFill>
                <a:latin typeface="Arial"/>
                <a:ea typeface="Malgun Gothic"/>
                <a:cs typeface="Malgun Gothic"/>
              </a:rPr>
              <a:t> 깨끗한 관측 이력에 동적 장애물 </a:t>
            </a:r>
            <a:r>
              <a:rPr sz="1050" b="1" i="0">
                <a:solidFill>
                  <a:srgbClr val="16213A"/>
                </a:solidFill>
                <a:latin typeface="Arial"/>
                <a:ea typeface="Malgun Gothic"/>
                <a:cs typeface="Malgun Gothic"/>
              </a:rPr>
              <a:t>궤적(track)</a:t>
            </a:r>
            <a:r>
              <a:rPr sz="1050" b="0" i="0">
                <a:solidFill>
                  <a:srgbClr val="16213A"/>
                </a:solidFill>
                <a:latin typeface="Arial"/>
                <a:ea typeface="Malgun Gothic"/>
                <a:cs typeface="Malgun Gothic"/>
              </a:rPr>
              <a:t>을 더해 잠재를 만든다. 궤적은 미래를 보지 않고, 가려지면 마지막 속도로 외삽한다.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학생.</a:t>
            </a:r>
            <a:r>
              <a:rPr sz="1050" b="0" i="0">
                <a:solidFill>
                  <a:srgbClr val="16213A"/>
                </a:solidFill>
                <a:latin typeface="Arial"/>
                <a:ea typeface="Malgun Gothic"/>
                <a:cs typeface="Malgun Gothic"/>
              </a:rPr>
              <a:t> 지연·잡음을 넣은 관측 10프레임을 받는다. 1D CNN과 GRU를 지나 전문가 8개의 Soft-MoE가 잠재를 만들고, 학생은 이 잠재를 교사의 것에 맞춘다.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공유 Actor와 CBF.</a:t>
            </a:r>
            <a:r>
              <a:rPr sz="1050" b="0" i="0">
                <a:solidFill>
                  <a:srgbClr val="16213A"/>
                </a:solidFill>
                <a:latin typeface="Arial"/>
                <a:ea typeface="Malgun Gothic"/>
                <a:cs typeface="Malgun Gothic"/>
              </a:rPr>
              <a:t> 두 잠재는 같은 Actor에 들어간다. Actor가 낸 명목 속도를 미분 가능한 LiDAR CBF(SEA-Nav에서 가져왔다)가 고친다.</a:t>
            </a:r>
          </a:p>
        </p:txBody>
      </p:sp>
      <p:sp>
        <p:nvSpPr>
          <p:cNvPr id="9" name="TextBox 8"/>
          <p:cNvSpPr txBox="1"/>
          <p:nvPr/>
        </p:nvSpPr>
        <p:spPr>
          <a:xfrm>
            <a:off x="609600" y="3597275"/>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학습은 관절 동역학 없이 명령→응답 모델로 로봇을 움직이는 GPU 2D 시뮬레이터에서 한다. 실물에서는 따로 학습한 보행 제어기가 같은 속도 명령을 따른다.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학습 로컬 Planner</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B.4 인식에서 속도 명령까지 RL로 곧장 가는 방식</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33 / 516</a:t>
            </a:r>
          </a:p>
        </p:txBody>
      </p:sp>
      <p:pic>
        <p:nvPicPr>
          <p:cNvPr id="5" name="Picture 4" descr="image.jpg"/>
          <p:cNvPicPr>
            <a:picLocks noChangeAspect="1"/>
          </p:cNvPicPr>
          <p:nvPr/>
        </p:nvPicPr>
        <p:blipFill>
          <a:blip r:embed="rId3"/>
          <a:stretch>
            <a:fillRect/>
          </a:stretch>
        </p:blipFill>
        <p:spPr>
          <a:xfrm>
            <a:off x="609600" y="1244600"/>
            <a:ext cx="3556000" cy="1619250"/>
          </a:xfrm>
          <a:prstGeom prst="rect">
            <a:avLst/>
          </a:prstGeom>
        </p:spPr>
      </p:pic>
      <p:sp>
        <p:nvSpPr>
          <p:cNvPr id="6" name="TextBox 5"/>
          <p:cNvSpPr txBox="1"/>
          <p:nvPr/>
        </p:nvSpPr>
        <p:spPr>
          <a:xfrm>
            <a:off x="609600" y="2901950"/>
            <a:ext cx="3556000" cy="568722"/>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TAME-Nav (Fig. 1): 위가 교사(깨끗한 10프레임 이력 MLP + 동적 궤적 자기·교차 attention), 아래가 학생(LiDAR 1D CNN + 상태 MLP → GRU → 전문가 8개 Soft-MoE). 둘이 Actor를 공유하고 LiDAR CBF가 속도를 고친다. 롤아웃은 교사 75 %, 학생 25 %. 출처: arXiv:2610.12877</a:t>
            </a:r>
          </a:p>
        </p:txBody>
      </p:sp>
      <p:pic>
        <p:nvPicPr>
          <p:cNvPr id="7" name="Picture 6" descr="image.jpg"/>
          <p:cNvPicPr>
            <a:picLocks noChangeAspect="1"/>
          </p:cNvPicPr>
          <p:nvPr/>
        </p:nvPicPr>
        <p:blipFill>
          <a:blip r:embed="rId4"/>
          <a:stretch>
            <a:fillRect/>
          </a:stretch>
        </p:blipFill>
        <p:spPr>
          <a:xfrm>
            <a:off x="4318000" y="1244600"/>
            <a:ext cx="3556000" cy="2216150"/>
          </a:xfrm>
          <a:prstGeom prst="rect">
            <a:avLst/>
          </a:prstGeom>
        </p:spPr>
      </p:pic>
      <p:sp>
        <p:nvSpPr>
          <p:cNvPr id="8" name="TextBox 7"/>
          <p:cNvSpPr txBox="1"/>
          <p:nvPr/>
        </p:nvSpPr>
        <p:spPr>
          <a:xfrm>
            <a:off x="4318000" y="3498850"/>
            <a:ext cx="3556000" cy="42654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TAME-Nav (Fig. 7): 실물 함정 탈출. 오목한 벽이 목표를 막는다. TAME-Nav(노란 선)만 목표 반대쪽으로 크게 돌아 나왔고, 기준선들은 벽 안쪽에서 진동하다 부딪히거나 갇혔다. 출처: arXiv:2610.12877</a:t>
            </a:r>
          </a:p>
        </p:txBody>
      </p:sp>
      <p:pic>
        <p:nvPicPr>
          <p:cNvPr id="9" name="Picture 8" descr="image.jpg"/>
          <p:cNvPicPr>
            <a:picLocks noChangeAspect="1"/>
          </p:cNvPicPr>
          <p:nvPr/>
        </p:nvPicPr>
        <p:blipFill>
          <a:blip r:embed="rId5"/>
          <a:stretch>
            <a:fillRect/>
          </a:stretch>
        </p:blipFill>
        <p:spPr>
          <a:xfrm>
            <a:off x="8026400" y="1244600"/>
            <a:ext cx="3556000" cy="1536700"/>
          </a:xfrm>
          <a:prstGeom prst="rect">
            <a:avLst/>
          </a:prstGeom>
        </p:spPr>
      </p:pic>
      <p:sp>
        <p:nvSpPr>
          <p:cNvPr id="10" name="TextBox 9"/>
          <p:cNvSpPr txBox="1"/>
          <p:nvPr/>
        </p:nvSpPr>
        <p:spPr>
          <a:xfrm>
            <a:off x="8026400" y="2819400"/>
            <a:ext cx="3556000" cy="42654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TAME-Nav (Fig. 3): 처음 보는 지도 600개, 장면 계열 여섯 개의 성공률. 모든 기준선을 같은 지도(OM)에서 다시 학습했다. 차이는 밀집 장애물과 오목 함정에서 가장 크고(35 %p 이상), 좁은 통로에서는 거의 없다. 출처: arXiv:2610.12877</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학습 로컬 Planner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B.4 인식에서 속도 명령까지 RL로 곧장 가는 방식</a:t>
            </a:r>
            <a:r>
              <a:rPr sz="1050" b="0" i="0">
                <a:solidFill>
                  <a:srgbClr val="5A6478"/>
                </a:solidFill>
                <a:latin typeface="Arial"/>
                <a:ea typeface="Malgun Gothic"/>
                <a:cs typeface="Malgun Gothic"/>
              </a:rPr>
              <a:t>  자세히: TAME-Nav의 방법·수식·결과와 한계</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34 / 516</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문제 정의(POMDP).</a:t>
            </a:r>
            <a:r>
              <a:rPr sz="1050" b="0" i="0">
                <a:solidFill>
                  <a:srgbClr val="16213A"/>
                </a:solidFill>
                <a:latin typeface="Arial"/>
                <a:ea typeface="Malgun Gothic"/>
                <a:cs typeface="Malgun Gothic"/>
              </a:rPr>
              <a:t> 관측은 LiDAR, 몸체 좌표의 목표, 운동 상태, 직전 명령이다. 정책은 </a:t>
            </a:r>
            <a:r>
              <a:rPr sz="1050" b="0" i="1">
                <a:solidFill>
                  <a:srgbClr val="16213A"/>
                </a:solidFill>
                <a:latin typeface="Arial"/>
                <a:ea typeface="Malgun Gothic"/>
                <a:cs typeface="Malgun Gothic"/>
              </a:rPr>
              <a:t>H = 10</a:t>
            </a:r>
            <a:r>
              <a:rPr sz="1050" b="0" i="0">
                <a:solidFill>
                  <a:srgbClr val="16213A"/>
                </a:solidFill>
                <a:latin typeface="Arial"/>
                <a:ea typeface="Malgun Gothic"/>
                <a:cs typeface="Malgun Gothic"/>
              </a:rPr>
              <a:t>프레임 이력 </a:t>
            </a:r>
            <a:r>
              <a:rPr sz="1050" b="0" i="1">
                <a:solidFill>
                  <a:srgbClr val="16213A"/>
                </a:solidFill>
                <a:latin typeface="Arial"/>
                <a:ea typeface="Malgun Gothic"/>
                <a:cs typeface="Malgun Gothic"/>
              </a:rPr>
              <a:t>hₜ</a:t>
            </a:r>
            <a:r>
              <a:rPr sz="1050" b="0" i="0">
                <a:solidFill>
                  <a:srgbClr val="16213A"/>
                </a:solidFill>
                <a:latin typeface="Arial"/>
                <a:ea typeface="Malgun Gothic"/>
                <a:cs typeface="Malgun Gothic"/>
              </a:rPr>
              <a:t>를 받아 몸체 속도를 낸다.</a:t>
            </a:r>
          </a:p>
        </p:txBody>
      </p:sp>
      <p:pic>
        <p:nvPicPr>
          <p:cNvPr id="6" name="Picture 5" descr="image.png"/>
          <p:cNvPicPr>
            <a:picLocks noChangeAspect="1"/>
          </p:cNvPicPr>
          <p:nvPr/>
        </p:nvPicPr>
        <p:blipFill>
          <a:blip r:embed="rId3"/>
          <a:stretch>
            <a:fillRect/>
          </a:stretch>
        </p:blipFill>
        <p:spPr>
          <a:xfrm>
            <a:off x="609600" y="1549995"/>
            <a:ext cx="5657850" cy="250825"/>
          </a:xfrm>
          <a:prstGeom prst="rect">
            <a:avLst/>
          </a:prstGeom>
        </p:spPr>
      </p:pic>
      <p:sp>
        <p:nvSpPr>
          <p:cNvPr id="7" name="TextBox 6"/>
          <p:cNvSpPr txBox="1"/>
          <p:nvPr/>
        </p:nvSpPr>
        <p:spPr>
          <a:xfrm>
            <a:off x="609600" y="1836043"/>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학생의 한 프레임 </a:t>
            </a:r>
            <a:r>
              <a:rPr sz="1050" b="0" i="1">
                <a:solidFill>
                  <a:srgbClr val="16213A"/>
                </a:solidFill>
                <a:latin typeface="Arial"/>
                <a:ea typeface="Malgun Gothic"/>
                <a:cs typeface="Malgun Gothic"/>
              </a:rPr>
              <a:t>õ^Sₜ ∈ ℝ⁵⁵</a:t>
            </a:r>
            <a:r>
              <a:rPr sz="1050" b="0" i="0">
                <a:solidFill>
                  <a:srgbClr val="16213A"/>
                </a:solidFill>
                <a:latin typeface="Arial"/>
                <a:ea typeface="Malgun Gothic"/>
                <a:cs typeface="Malgun Gothic"/>
              </a:rPr>
              <a:t>는 LiDAR 41개와 나머지 14개(목표, 선속도, 각속도, 직전 명령, 투영 중력)다. LiDAR는 10 Hz라 이력 창은 스캔이 올 때마다 한 칸씩 밀린다(0.9 s). 그 사이에는 최신 스캔과 목표를 붙잡아 두고, 마지막 칸의 고유수용 상태와 직전 명령만 50 Hz로 갱신한다.</a:t>
            </a:r>
          </a:p>
        </p:txBody>
      </p:sp>
      <p:sp>
        <p:nvSpPr>
          <p:cNvPr id="8" name="TextBox 7"/>
          <p:cNvSpPr txBox="1"/>
          <p:nvPr/>
        </p:nvSpPr>
        <p:spPr>
          <a:xfrm>
            <a:off x="609600" y="2357934"/>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교사 ① 시간 문맥.</a:t>
            </a:r>
            <a:r>
              <a:rPr sz="1050" b="0" i="0">
                <a:solidFill>
                  <a:srgbClr val="16213A"/>
                </a:solidFill>
                <a:latin typeface="Arial"/>
                <a:ea typeface="Malgun Gothic"/>
                <a:cs typeface="Malgun Gothic"/>
              </a:rPr>
              <a:t> 깨끗한 이력 </a:t>
            </a:r>
            <a:r>
              <a:rPr sz="1050" b="0" i="1">
                <a:solidFill>
                  <a:srgbClr val="16213A"/>
                </a:solidFill>
                <a:latin typeface="Arial"/>
                <a:ea typeface="Malgun Gothic"/>
                <a:cs typeface="Malgun Gothic"/>
              </a:rPr>
              <a:t>H̄ᵀₜ ∈ ℝ^(10 × 55)</a:t>
            </a:r>
            <a:r>
              <a:rPr sz="1050" b="0" i="0">
                <a:solidFill>
                  <a:srgbClr val="16213A"/>
                </a:solidFill>
                <a:latin typeface="Arial"/>
                <a:ea typeface="Malgun Gothic"/>
                <a:cs typeface="Malgun Gothic"/>
              </a:rPr>
              <a:t>를 펼쳐 MLP(550→512→256→128→16)에 넣는다.</a:t>
            </a:r>
          </a:p>
        </p:txBody>
      </p:sp>
      <p:sp>
        <p:nvSpPr>
          <p:cNvPr id="9" name="TextBox 8"/>
          <p:cNvSpPr txBox="1"/>
          <p:nvPr/>
        </p:nvSpPr>
        <p:spPr>
          <a:xfrm>
            <a:off x="609600" y="2663329"/>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교사 ② 동적 궤적.</a:t>
            </a:r>
            <a:r>
              <a:rPr sz="1050" b="0" i="0">
                <a:solidFill>
                  <a:srgbClr val="16213A"/>
                </a:solidFill>
                <a:latin typeface="Arial"/>
                <a:ea typeface="Malgun Gothic"/>
                <a:cs typeface="Malgun Gothic"/>
              </a:rPr>
              <a:t> 시뮬레이터가 인과적으로 유지하는 궤적 가운데 가까운 5개를 쓴다. 궤적 하나는 8차원이다.</a:t>
            </a:r>
          </a:p>
        </p:txBody>
      </p:sp>
      <p:pic>
        <p:nvPicPr>
          <p:cNvPr id="10" name="Picture 9" descr="image.png"/>
          <p:cNvPicPr>
            <a:picLocks noChangeAspect="1"/>
          </p:cNvPicPr>
          <p:nvPr/>
        </p:nvPicPr>
        <p:blipFill>
          <a:blip r:embed="rId4"/>
          <a:stretch>
            <a:fillRect/>
          </a:stretch>
        </p:blipFill>
        <p:spPr>
          <a:xfrm>
            <a:off x="609600" y="2968724"/>
            <a:ext cx="3813175" cy="285750"/>
          </a:xfrm>
          <a:prstGeom prst="rect">
            <a:avLst/>
          </a:prstGeom>
        </p:spPr>
      </p:pic>
      <p:sp>
        <p:nvSpPr>
          <p:cNvPr id="11" name="TextBox 10"/>
          <p:cNvSpPr txBox="1"/>
          <p:nvPr/>
        </p:nvSpPr>
        <p:spPr>
          <a:xfrm>
            <a:off x="609600" y="3281462"/>
            <a:ext cx="10972800" cy="649486"/>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로봇 기준 상대 위치·속도, 외접 반경, 나이에 따른 휴리스틱 불확실성, 정규화된 관측 나이, 보임 여부다. 가려진 궤적은 마지막 속도로 외삽하다 만료한다. </a:t>
            </a:r>
            <a:r>
              <a:rPr sz="1050" b="1" i="0">
                <a:solidFill>
                  <a:srgbClr val="C2410C"/>
                </a:solidFill>
                <a:latin typeface="Arial"/>
                <a:ea typeface="Malgun Gothic"/>
                <a:cs typeface="Malgun Gothic"/>
              </a:rPr>
              <a:t>미래 상태는 보지 않는다.</a:t>
            </a:r>
            <a:r>
              <a:rPr sz="1050" b="0" i="0">
                <a:solidFill>
                  <a:srgbClr val="16213A"/>
                </a:solidFill>
                <a:latin typeface="Arial"/>
                <a:ea typeface="Malgun Gothic"/>
                <a:cs typeface="Malgun Gothic"/>
              </a:rPr>
              <a:t> 교사가 학생이 끝내 알 수 없는 것을 쓰면 흉내 낼 수 없는 행동을 배운다는 지적(Student-Informed Teacher)을 의식한 설계다. 공유 MLP(8→32→64) → 두 머리 자기 attention → 로봇 질의(55→64)로 두 머리 교차 attention을 지나 </a:t>
            </a:r>
            <a:r>
              <a:rPr sz="1050" b="0" i="1">
                <a:solidFill>
                  <a:srgbClr val="16213A"/>
                </a:solidFill>
                <a:latin typeface="Arial"/>
                <a:ea typeface="Malgun Gothic"/>
                <a:cs typeface="Malgun Gothic"/>
              </a:rPr>
              <a:t>z^(T,dyn)ₜ ∈ ℝ¹⁶</a:t>
            </a:r>
            <a:r>
              <a:rPr sz="1050" b="0" i="0">
                <a:solidFill>
                  <a:srgbClr val="16213A"/>
                </a:solidFill>
                <a:latin typeface="Arial"/>
                <a:ea typeface="Malgun Gothic"/>
                <a:cs typeface="Malgun Gothic"/>
              </a:rPr>
              <a:t>이 된다. 궤적이 없으면 0이다.</a:t>
            </a:r>
          </a:p>
        </p:txBody>
      </p:sp>
      <p:sp>
        <p:nvSpPr>
          <p:cNvPr id="12" name="TextBox 11"/>
          <p:cNvSpPr txBox="1"/>
          <p:nvPr/>
        </p:nvSpPr>
        <p:spPr>
          <a:xfrm>
            <a:off x="609600" y="4019848"/>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교사 ③ 융합.</a:t>
            </a:r>
            <a:r>
              <a:rPr sz="1050" b="0" i="0">
                <a:solidFill>
                  <a:srgbClr val="16213A"/>
                </a:solidFill>
                <a:latin typeface="Arial"/>
                <a:ea typeface="Malgun Gothic"/>
                <a:cs typeface="Malgun Gothic"/>
              </a:rPr>
              <a:t> 시간 잠재에는 stop-gradient를 걸고, 동적 잠재는 학습 스칼라 </a:t>
            </a:r>
            <a:r>
              <a:rPr sz="1050" b="0" i="1">
                <a:solidFill>
                  <a:srgbClr val="16213A"/>
                </a:solidFill>
                <a:latin typeface="Arial"/>
                <a:ea typeface="Malgun Gothic"/>
                <a:cs typeface="Malgun Gothic"/>
              </a:rPr>
              <a:t>g_(dyn)</a:t>
            </a:r>
            <a:r>
              <a:rPr sz="1050" b="0" i="0">
                <a:solidFill>
                  <a:srgbClr val="16213A"/>
                </a:solidFill>
                <a:latin typeface="Arial"/>
                <a:ea typeface="Malgun Gothic"/>
                <a:cs typeface="Malgun Gothic"/>
              </a:rPr>
              <a:t>(초기값 1)으로 더한다.</a:t>
            </a:r>
          </a:p>
        </p:txBody>
      </p:sp>
      <p:pic>
        <p:nvPicPr>
          <p:cNvPr id="13" name="Picture 12" descr="image.png"/>
          <p:cNvPicPr>
            <a:picLocks noChangeAspect="1"/>
          </p:cNvPicPr>
          <p:nvPr/>
        </p:nvPicPr>
        <p:blipFill>
          <a:blip r:embed="rId5"/>
          <a:stretch>
            <a:fillRect/>
          </a:stretch>
        </p:blipFill>
        <p:spPr>
          <a:xfrm>
            <a:off x="609600" y="4325243"/>
            <a:ext cx="2755900" cy="250825"/>
          </a:xfrm>
          <a:prstGeom prst="rect">
            <a:avLst/>
          </a:prstGeom>
        </p:spPr>
      </p:pic>
      <p:sp>
        <p:nvSpPr>
          <p:cNvPr id="14" name="TextBox 13"/>
          <p:cNvSpPr txBox="1"/>
          <p:nvPr/>
        </p:nvSpPr>
        <p:spPr>
          <a:xfrm>
            <a:off x="609600" y="4611291"/>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시간 인코더는 Actor 기울기를 받지 않고 가치 손실로만 배운다. 동적 인코더와 </a:t>
            </a:r>
            <a:r>
              <a:rPr sz="1050" b="0" i="1">
                <a:solidFill>
                  <a:srgbClr val="16213A"/>
                </a:solidFill>
                <a:latin typeface="Arial"/>
                <a:ea typeface="Malgun Gothic"/>
                <a:cs typeface="Malgun Gothic"/>
              </a:rPr>
              <a:t>g_(dyn)</a:t>
            </a:r>
            <a:r>
              <a:rPr sz="1050" b="0" i="0">
                <a:solidFill>
                  <a:srgbClr val="16213A"/>
                </a:solidFill>
                <a:latin typeface="Arial"/>
                <a:ea typeface="Malgun Gothic"/>
                <a:cs typeface="Malgun Gothic"/>
              </a:rPr>
              <a:t>은 정책 기울기를 받는다.</a:t>
            </a:r>
          </a:p>
        </p:txBody>
      </p:sp>
      <p:sp>
        <p:nvSpPr>
          <p:cNvPr id="15" name="TextBox 14"/>
          <p:cNvSpPr txBox="1"/>
          <p:nvPr/>
        </p:nvSpPr>
        <p:spPr>
          <a:xfrm>
            <a:off x="609600" y="4916686"/>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학생 ① 시간 부호화.</a:t>
            </a:r>
            <a:r>
              <a:rPr sz="1050" b="0" i="0">
                <a:solidFill>
                  <a:srgbClr val="16213A"/>
                </a:solidFill>
                <a:latin typeface="Arial"/>
                <a:ea typeface="Malgun Gothic"/>
                <a:cs typeface="Malgun Gothic"/>
              </a:rPr>
              <a:t> 프레임마다 LiDAR는 3층 1D CNN(41→256), 나머지는 2층 MLP(14→64)를 거쳐 합친다(</a:t>
            </a:r>
            <a:r>
              <a:rPr sz="1050" b="0" i="1">
                <a:solidFill>
                  <a:srgbClr val="16213A"/>
                </a:solidFill>
                <a:latin typeface="Arial"/>
                <a:ea typeface="Malgun Gothic"/>
                <a:cs typeface="Malgun Gothic"/>
              </a:rPr>
              <a:t>fₖ ∈ ℝ³²⁰</a:t>
            </a:r>
            <a:r>
              <a:rPr sz="1050" b="0" i="0">
                <a:solidFill>
                  <a:srgbClr val="16213A"/>
                </a:solidFill>
                <a:latin typeface="Arial"/>
                <a:ea typeface="Malgun Gothic"/>
                <a:cs typeface="Malgun Gothic"/>
              </a:rPr>
              <a:t>). 이것을 1층 GRU에 넣는다.</a:t>
            </a:r>
          </a:p>
        </p:txBody>
      </p:sp>
      <p:pic>
        <p:nvPicPr>
          <p:cNvPr id="16" name="Picture 15" descr="image.png"/>
          <p:cNvPicPr>
            <a:picLocks noChangeAspect="1"/>
          </p:cNvPicPr>
          <p:nvPr/>
        </p:nvPicPr>
        <p:blipFill>
          <a:blip r:embed="rId6"/>
          <a:stretch>
            <a:fillRect/>
          </a:stretch>
        </p:blipFill>
        <p:spPr>
          <a:xfrm>
            <a:off x="609600" y="5222081"/>
            <a:ext cx="2200275" cy="241300"/>
          </a:xfrm>
          <a:prstGeom prst="rect">
            <a:avLst/>
          </a:prstGeom>
        </p:spPr>
      </p:pic>
      <p:sp>
        <p:nvSpPr>
          <p:cNvPr id="17" name="TextBox 16"/>
          <p:cNvSpPr txBox="1"/>
          <p:nvPr/>
        </p:nvSpPr>
        <p:spPr>
          <a:xfrm>
            <a:off x="609600" y="5499596"/>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학생 ② Soft-MoE.</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h^Sₜ</a:t>
            </a:r>
            <a:r>
              <a:rPr sz="1050" b="0" i="0">
                <a:solidFill>
                  <a:srgbClr val="16213A"/>
                </a:solidFill>
                <a:latin typeface="Arial"/>
                <a:ea typeface="Malgun Gothic"/>
                <a:cs typeface="Malgun Gothic"/>
              </a:rPr>
              <a:t>에 최신 항법 문맥 </a:t>
            </a:r>
            <a:r>
              <a:rPr sz="1050" b="0" i="1">
                <a:solidFill>
                  <a:srgbClr val="16213A"/>
                </a:solidFill>
                <a:latin typeface="Arial"/>
                <a:ea typeface="Malgun Gothic"/>
                <a:cs typeface="Malgun Gothic"/>
              </a:rPr>
              <a:t>χ^Sₜ ∈ ℝ¹¹</a:t>
            </a:r>
            <a:r>
              <a:rPr sz="1050" b="0" i="0">
                <a:solidFill>
                  <a:srgbClr val="16213A"/>
                </a:solidFill>
                <a:latin typeface="Arial"/>
                <a:ea typeface="Malgun Gothic"/>
                <a:cs typeface="Malgun Gothic"/>
              </a:rPr>
              <a:t>(목표, 선·각속도, 직전 명령)을 붙여 </a:t>
            </a:r>
            <a:r>
              <a:rPr sz="1050" b="0" i="1">
                <a:solidFill>
                  <a:srgbClr val="16213A"/>
                </a:solidFill>
                <a:latin typeface="Arial"/>
                <a:ea typeface="Malgun Gothic"/>
                <a:cs typeface="Malgun Gothic"/>
              </a:rPr>
              <a:t>x^Sₜ ∈ ℝ²⁶⁷</a:t>
            </a:r>
            <a:r>
              <a:rPr sz="1050" b="0" i="0">
                <a:solidFill>
                  <a:srgbClr val="16213A"/>
                </a:solidFill>
                <a:latin typeface="Arial"/>
                <a:ea typeface="Malgun Gothic"/>
                <a:cs typeface="Malgun Gothic"/>
              </a:rPr>
              <a:t>을 만든다. 전문가 8개(267→256→128→16)의 출력을 라우터(267→128→64→8, softmax)의 가중치로 섞는다.</a:t>
            </a:r>
          </a:p>
        </p:txBody>
      </p:sp>
      <p:sp>
        <p:nvSpPr>
          <p:cNvPr id="18" name="TextBox 17"/>
          <p:cNvSpPr txBox="1"/>
          <p:nvPr/>
        </p:nvSpPr>
        <p:spPr>
          <a:xfrm>
            <a:off x="609600" y="6021487"/>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29개(문단·식·그림)는 대시보드 리서치 탭의 "자세히: TAME-Nav의 방법·수식·결과와 한계" 토글에 있다.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학습 로컬 Planner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B.4 인식에서 속도 명령까지 RL로 곧장 가는 방식</a:t>
            </a:r>
            <a:r>
              <a:rPr sz="1050" b="0" i="0">
                <a:solidFill>
                  <a:srgbClr val="5A6478"/>
                </a:solidFill>
                <a:latin typeface="Arial"/>
                <a:ea typeface="Malgun Gothic"/>
                <a:cs typeface="Malgun Gothic"/>
              </a:rPr>
              <a:t>  자세히: TAME-Nav의 계보와 관련 연구(SEA-Nav CBF 수식, 연구 28편)</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35 / 516</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한 줄로.</a:t>
            </a:r>
            <a:r>
              <a:rPr sz="1050" b="0" i="0">
                <a:solidFill>
                  <a:srgbClr val="16213A"/>
                </a:solidFill>
                <a:latin typeface="Arial"/>
                <a:ea typeface="Malgun Gothic"/>
                <a:cs typeface="Malgun Gothic"/>
              </a:rPr>
              <a:t> TAME-Nav에는 세 갈래가 모인다.</a:t>
            </a:r>
          </a:p>
        </p:txBody>
      </p:sp>
      <p:sp>
        <p:nvSpPr>
          <p:cNvPr id="6" name="TextBox 5"/>
          <p:cNvSpPr txBox="1"/>
          <p:nvPr/>
        </p:nvSpPr>
        <p:spPr>
          <a:xfrm>
            <a:off x="609600" y="1549995"/>
            <a:ext cx="10972800" cy="700286"/>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특권 정보를 쓰는 교사–학생 증류(Asymmetric AC → Learning by Cheating → 다리 로봇의 특권 교사 → CTS)</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학습 정책 안에 넣은 CBF 방패(SEA-Nav)</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같은 연구실(EIT Wei Zhang)의 LiDAR DRL 로컬 플래너 계열(DRL-DCLP → DRL-NSUO → DCLP++)</a:t>
            </a:r>
          </a:p>
        </p:txBody>
      </p:sp>
      <p:sp>
        <p:nvSpPr>
          <p:cNvPr id="7" name="TextBox 6"/>
          <p:cNvSpPr txBox="1"/>
          <p:nvPr/>
        </p:nvSpPr>
        <p:spPr>
          <a:xfrm>
            <a:off x="609600" y="2339181"/>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TAME-Nav가 새로 보탠 것은 둘이다. 교사에게 미래를 보지 않는 동적 궤적을 주는 것, 학생에 밀집 게이팅 MoE를 넣은 것이다.</a:t>
            </a:r>
          </a:p>
        </p:txBody>
      </p:sp>
      <p:sp>
        <p:nvSpPr>
          <p:cNvPr id="8" name="TextBox 7"/>
          <p:cNvSpPr txBox="1"/>
          <p:nvPr/>
        </p:nvSpPr>
        <p:spPr>
          <a:xfrm>
            <a:off x="609600" y="2644577"/>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① 특권 정보와 교사–학생</a:t>
            </a:r>
          </a:p>
        </p:txBody>
      </p:sp>
      <p:graphicFrame>
        <p:nvGraphicFramePr>
          <p:cNvPr id="9" name="Table 8"/>
          <p:cNvGraphicFramePr>
            <a:graphicFrameLocks noGrp="1"/>
          </p:cNvGraphicFramePr>
          <p:nvPr/>
        </p:nvGraphicFramePr>
        <p:xfrm>
          <a:off x="609600" y="2949972"/>
          <a:ext cx="10966449" cy="1939368"/>
        </p:xfrm>
        <a:graphic>
          <a:graphicData uri="http://schemas.openxmlformats.org/drawingml/2006/table">
            <a:tbl>
              <a:tblPr firstRow="1" bandRow="1">
                <a:tableStyleId>{5C22544A-7EE6-4342-B048-85BDC9FD1C3A}</a:tableStyleId>
              </a:tblPr>
              <a:tblGrid>
                <a:gridCol w="3007816"/>
                <a:gridCol w="1677690"/>
                <a:gridCol w="5205809"/>
                <a:gridCol w="1075134"/>
              </a:tblGrid>
              <a:tr h="197088">
                <a:tc>
                  <a:txBody>
                    <a:bodyPr wrap="square"/>
                    <a:lstStyle/>
                    <a:p>
                      <a:r>
                        <a:rPr sz="800" b="1" i="0">
                          <a:solidFill>
                            <a:srgbClr val="F4F1EA"/>
                          </a:solidFill>
                          <a:latin typeface="Arial"/>
                          <a:ea typeface="Malgun Gothic"/>
                          <a:cs typeface="Malgun Gothic"/>
                        </a:rPr>
                        <a:t>연구</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발표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무엇을 했나</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코드</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Asymmetric Actor Critic(Pinto 외, OpenAI)</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RSS 2018, </a:t>
                      </a:r>
                      <a:r>
                        <a:rPr sz="800" b="0" i="0">
                          <a:solidFill>
                            <a:srgbClr val="1D4ED8"/>
                          </a:solidFill>
                          <a:latin typeface="Arial"/>
                          <a:ea typeface="Malgun Gothic"/>
                          <a:cs typeface="Malgun Gothic"/>
                          <a:hlinkClick r:id="rId3"/>
                        </a:rPr>
                        <a:t>arXiv:1710.06542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Critic은 전체 상태, Actor는 영상만 본다. TAME-Nav의 특권 Critic이 이 꼴이다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Learning by Cheating(Chen·Zhou·Koltun·Krähenbühl)</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CoRL 2019, </a:t>
                      </a:r>
                      <a:r>
                        <a:rPr sz="800" b="0" i="0">
                          <a:solidFill>
                            <a:srgbClr val="1D4ED8"/>
                          </a:solidFill>
                          <a:latin typeface="Arial"/>
                          <a:ea typeface="Malgun Gothic"/>
                          <a:cs typeface="Malgun Gothic"/>
                          <a:hlinkClick r:id="rId4"/>
                        </a:rPr>
                        <a:t>arXiv:1912.12294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특권 주행 에이전트를 먼저 학습하고 영상 에이전트로 증류한다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Hoeller 외(ETH RSL)</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RA-L 6(3) 2021, </a:t>
                      </a:r>
                      <a:r>
                        <a:rPr sz="800" b="0" i="0">
                          <a:solidFill>
                            <a:srgbClr val="1D4ED8"/>
                          </a:solidFill>
                          <a:latin typeface="Arial"/>
                          <a:ea typeface="Malgun Gothic"/>
                          <a:cs typeface="Malgun Gothic"/>
                          <a:hlinkClick r:id="rId5"/>
                        </a:rPr>
                        <a:t>arXiv:2103.04351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동적 환경용 상태 표현을 따로 배우고 그 위에서 RL 내비 정책을 학습해 ANYmal에 올렸다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DiPCAN(Monaci 외, NAVER LABS Europe)</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6"/>
                        </a:rPr>
                        <a:t>RSS 2022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보행자 위치를 아는 교사를 좁은 시야 카메라 학생으로 증류. 군중 내비의 특권 증류 원형이다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CTS(Wang 외)</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2024, </a:t>
                      </a:r>
                      <a:r>
                        <a:rPr sz="800" b="0" i="0">
                          <a:solidFill>
                            <a:srgbClr val="1D4ED8"/>
                          </a:solidFill>
                          <a:latin typeface="Arial"/>
                          <a:ea typeface="Malgun Gothic"/>
                          <a:cs typeface="Malgun Gothic"/>
                          <a:hlinkClick r:id="rId7"/>
                        </a:rPr>
                        <a:t>arXiv:2405.10830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교사와 학생을 </a:t>
                      </a:r>
                      <a:r>
                        <a:rPr sz="800" b="1" i="0">
                          <a:solidFill>
                            <a:srgbClr val="16213A"/>
                          </a:solidFill>
                          <a:latin typeface="Arial"/>
                          <a:ea typeface="Malgun Gothic"/>
                          <a:cs typeface="Malgun Gothic"/>
                        </a:rPr>
                        <a:t>동시에</a:t>
                      </a:r>
                      <a:r>
                        <a:rPr sz="800" b="0" i="0">
                          <a:solidFill>
                            <a:srgbClr val="16213A"/>
                          </a:solidFill>
                          <a:latin typeface="Arial"/>
                          <a:ea typeface="Malgun Gothic"/>
                          <a:cs typeface="Malgun Gothic"/>
                        </a:rPr>
                        <a:t> 학습한다. 두 단계 학습보다 속도 추종 오차가 최대 20 % 작다. TAME-Nav의 "교사 75 %·학생 25 % 롤아웃"이 이 방식이다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Student-Informed Teacher Training(Messikommer 외, UZH RPG)</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ICLR 2025, </a:t>
                      </a:r>
                      <a:r>
                        <a:rPr sz="800" b="0" i="0">
                          <a:solidFill>
                            <a:srgbClr val="1D4ED8"/>
                          </a:solidFill>
                          <a:latin typeface="Arial"/>
                          <a:ea typeface="Malgun Gothic"/>
                          <a:cs typeface="Malgun Gothic"/>
                          <a:hlinkClick r:id="rId8"/>
                        </a:rPr>
                        <a:t>arXiv:2412.09149</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교사–학생 행동 차이를 교사 보상에 벌점으로 넣어, 학생이 흉내 낼 수 없는 교사 행동을 막는다</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9"/>
                        </a:rPr>
                        <a:t>uzh-rpg/sitt</a:t>
                      </a:r>
                      <a:r>
                        <a:rPr sz="800" b="0" i="0">
                          <a:solidFill>
                            <a:srgbClr val="16213A"/>
                          </a:solidFill>
                          <a:latin typeface="Arial"/>
                          <a:ea typeface="Malgun Gothic"/>
                          <a:cs typeface="Malgun Gothic"/>
                        </a:rPr>
                        <a:t> (GPL-3.0)</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GPTS-Nav(Zheng 외)</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RA-L 2026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그래프 구조 특권 정보로 LiDAR 내비 학생을 이끈다. </a:t>
                      </a:r>
                      <a:r>
                        <a:rPr sz="800" b="1" i="0">
                          <a:solidFill>
                            <a:srgbClr val="16213A"/>
                          </a:solidFill>
                          <a:latin typeface="Arial"/>
                          <a:ea typeface="Malgun Gothic"/>
                          <a:cs typeface="Malgun Gothic"/>
                        </a:rPr>
                        <a:t>TAME-Nav 참고문헌으로만 확인했다</a:t>
                      </a:r>
                      <a:r>
                        <a:rPr sz="800" b="0" i="0">
                          <a:solidFill>
                            <a:srgbClr val="16213A"/>
                          </a:solidFill>
                          <a:latin typeface="Arial"/>
                          <a:ea typeface="Malgun Gothic"/>
                          <a:cs typeface="Malgun Gothic"/>
                        </a:rPr>
                        <a:t>(arXiv·코드 못 찾음)</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r>
            </a:tbl>
          </a:graphicData>
        </a:graphic>
      </p:graphicFrame>
      <p:sp>
        <p:nvSpPr>
          <p:cNvPr id="10" name="TextBox 9"/>
          <p:cNvSpPr txBox="1"/>
          <p:nvPr/>
        </p:nvSpPr>
        <p:spPr>
          <a:xfrm>
            <a:off x="609600" y="5469434"/>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② 학습 정책과 안전 층</a:t>
            </a:r>
          </a:p>
        </p:txBody>
      </p:sp>
      <p:sp>
        <p:nvSpPr>
          <p:cNvPr id="11" name="TextBox 10"/>
          <p:cNvSpPr txBox="1"/>
          <p:nvPr/>
        </p:nvSpPr>
        <p:spPr>
          <a:xfrm>
            <a:off x="609600" y="5774829"/>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19개(문단·식·그림)는 대시보드 리서치 탭의 "자세히: TAME-Nav의 계보와 관련 연구(SEA-Nav CBF 수식, 연구 28편)" 토글에 있다.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학습 로컬 Planner</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B.4b 비용 지도로 직접 학습하는 Planner: iPlanner와 ViPlanner</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36 / 516</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travplan의 LearnedPlanner(Planner B)는 이 계열이다.</a:t>
            </a:r>
            <a:r>
              <a:rPr sz="1050" b="0" i="0">
                <a:solidFill>
                  <a:srgbClr val="16213A"/>
                </a:solidFill>
                <a:latin typeface="Arial"/>
                <a:ea typeface="Malgun Gothic"/>
                <a:cs typeface="Malgun Gothic"/>
              </a:rPr>
              <a:t> 전문가 시연 없이, 예측한 경로가 비용 지도 위에서 얼마나 싼지를 손실로 삼아 네트워크를 학습한다. 비용 지도를 경로 점에서 미분 가능하게 읽으면, 비용의 기울기가 경로 점을 거쳐 네트워크까지 흐른다. ETH RSL은 이것을 명령형 학습(imperative learning)이라 불렀다.</a:t>
            </a:r>
          </a:p>
        </p:txBody>
      </p:sp>
      <p:graphicFrame>
        <p:nvGraphicFramePr>
          <p:cNvPr id="6" name="Table 5"/>
          <p:cNvGraphicFramePr>
            <a:graphicFrameLocks noGrp="1"/>
          </p:cNvGraphicFramePr>
          <p:nvPr/>
        </p:nvGraphicFramePr>
        <p:xfrm>
          <a:off x="609600" y="1766491"/>
          <a:ext cx="10966449" cy="788352"/>
        </p:xfrm>
        <a:graphic>
          <a:graphicData uri="http://schemas.openxmlformats.org/drawingml/2006/table">
            <a:tbl>
              <a:tblPr firstRow="1" bandRow="1">
                <a:tableStyleId>{5C22544A-7EE6-4342-B048-85BDC9FD1C3A}</a:tableStyleId>
              </a:tblPr>
              <a:tblGrid>
                <a:gridCol w="477341"/>
                <a:gridCol w="1540768"/>
                <a:gridCol w="1603871"/>
                <a:gridCol w="2158702"/>
                <a:gridCol w="2833390"/>
                <a:gridCol w="2352377"/>
              </a:tblGrid>
              <a:tr h="197088">
                <a:tc>
                  <a:txBody>
                    <a:bodyPr wrap="square"/>
                    <a:lstStyle/>
                    <a:p>
                      <a:r>
                        <a:rPr sz="800" b="1" i="0">
                          <a:solidFill>
                            <a:srgbClr val="F4F1EA"/>
                          </a:solidFill>
                          <a:latin typeface="Arial"/>
                          <a:ea typeface="Malgun Gothic"/>
                          <a:cs typeface="Malgun Gothic"/>
                        </a:rPr>
                        <a:t>연도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이름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입력</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비용 지도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결과</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코드(★)</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2023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iPlanner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깊이 영상 + 목표</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복원한 ESDF를 가우시안으로 부드럽게</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고전 파이프라인보다 약 4배 빠름, SPL 26–87% 향상</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3"/>
                        </a:rPr>
                        <a:t>leggedrobotics/iPlanner</a:t>
                      </a:r>
                      <a:r>
                        <a:rPr sz="800" b="0" i="0">
                          <a:solidFill>
                            <a:srgbClr val="16213A"/>
                          </a:solidFill>
                          <a:latin typeface="Arial"/>
                          <a:ea typeface="Malgun Gothic"/>
                          <a:cs typeface="Malgun Gothic"/>
                        </a:rPr>
                        <a:t> 0.4k</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2024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ViPlanner</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깊이 + 의미 분할 영상 + 목표</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30개 의미 클래스의 traversability 비용</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기하만 쓸 때보다 traversability 비용 38.02% 감소</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4"/>
                        </a:rPr>
                        <a:t>leggedrobotics/viplanner</a:t>
                      </a:r>
                      <a:r>
                        <a:rPr sz="800" b="0" i="0">
                          <a:solidFill>
                            <a:srgbClr val="16213A"/>
                          </a:solidFill>
                          <a:latin typeface="Arial"/>
                          <a:ea typeface="Malgun Gothic"/>
                          <a:cs typeface="Malgun Gothic"/>
                        </a:rPr>
                        <a:t> 0.7k</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2026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travplan LearnedPlanner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TravMap 크롭 + subgoal</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TravMap cost와 σ</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3 seed 벤치마크 learned+mppi 8/12</a:t>
                      </a:r>
                    </a:p>
                  </a:txBody>
                  <a:tcPr marL="63500" marR="63500" marT="12700" marB="12700">
                    <a:solidFill>
                      <a:srgbClr val="FFFDF8"/>
                    </a:solidFill>
                  </a:tcPr>
                </a:tc>
                <a:tc>
                  <a:txBody>
                    <a:bodyPr wrap="square"/>
                    <a:lstStyle/>
                    <a:p>
                      <a:r>
                        <a:rPr sz="800" b="0" i="0">
                          <a:solidFill>
                            <a:srgbClr val="16213A"/>
                          </a:solidFill>
                          <a:latin typeface="Consolas"/>
                          <a:ea typeface="Malgun Gothic"/>
                          <a:cs typeface="Malgun Gothic"/>
                        </a:rPr>
                        <a:t>travplan/planners/learned/loss.py</a:t>
                      </a:r>
                    </a:p>
                  </a:txBody>
                  <a:tcPr marL="63500" marR="63500" marT="12700" marB="12700">
                    <a:solidFill>
                      <a:srgbClr val="FFFDF8"/>
                    </a:solidFill>
                  </a:tcPr>
                </a:tc>
              </a:tr>
            </a:tbl>
          </a:graphicData>
        </a:graphic>
      </p:graphicFrame>
      <p:sp>
        <p:nvSpPr>
          <p:cNvPr id="7" name="TextBox 6"/>
          <p:cNvSpPr txBox="1"/>
          <p:nvPr/>
        </p:nvSpPr>
        <p:spPr>
          <a:xfrm>
            <a:off x="609600" y="2847181"/>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iPlanner — 비용의 기울기로 경로를 배운다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5"/>
              </a:rPr>
              <a:t>arXiv:2302.11434</a:t>
            </a:r>
            <a:r>
              <a:rPr sz="1050" b="0" i="0">
                <a:solidFill>
                  <a:srgbClr val="16213A"/>
                </a:solidFill>
                <a:latin typeface="Arial"/>
                <a:ea typeface="Malgun Gothic"/>
                <a:cs typeface="Malgun Gothic"/>
              </a:rPr>
              <a:t>, RSS 2023, ETH RSL, </a:t>
            </a:r>
            <a:r>
              <a:rPr sz="1050" b="0" i="0">
                <a:solidFill>
                  <a:srgbClr val="1D4ED8"/>
                </a:solidFill>
                <a:latin typeface="Arial"/>
                <a:ea typeface="Malgun Gothic"/>
                <a:cs typeface="Malgun Gothic"/>
                <a:hlinkClick r:id="rId3"/>
              </a:rPr>
              <a:t>코드</a:t>
            </a:r>
            <a:r>
              <a:rPr sz="1050" b="0" i="0">
                <a:solidFill>
                  <a:srgbClr val="16213A"/>
                </a:solidFill>
                <a:latin typeface="Arial"/>
                <a:ea typeface="Malgun Gothic"/>
                <a:cs typeface="Malgun Gothic"/>
              </a:rPr>
              <a:t>). 깊이 영상 한 장과 목표를 받아 key point 몇 개로 된 경로를 낸다. 라벨 경로 대신, 경로를 미분 가능한 비용 지도 위에서 평가한 값을 손실로 쓴다. 네트워크 갱신(위 단계)과 비용 기반 궤적 최적화(아래 단계)를 묶은 이층 최적화(BLO)로 학습하고, 비용의 기울기가 궤적 최적화를 거쳐 네트워크까지 역전파된다. 궤적마다 충돌 확률도 함께 예측하는 "fear loss"를 두어, 장애물 비용을 과하게 키우지 않고도 국소 최소에서 빠져나오게 했다. 고전 파이프라인보다 약 4배 빠르게 계획했고, 위치 추정 잡음에 강했으며, 보지 못한 환경에서 학습 기준선보다 SPL을 26–87% 높였다.</a:t>
            </a:r>
          </a:p>
        </p:txBody>
      </p:sp>
      <p:pic>
        <p:nvPicPr>
          <p:cNvPr id="8" name="Picture 7" descr="image.jpg"/>
          <p:cNvPicPr>
            <a:picLocks noChangeAspect="1"/>
          </p:cNvPicPr>
          <p:nvPr/>
        </p:nvPicPr>
        <p:blipFill>
          <a:blip r:embed="rId6"/>
          <a:stretch>
            <a:fillRect/>
          </a:stretch>
        </p:blipFill>
        <p:spPr>
          <a:xfrm>
            <a:off x="1016000" y="3802062"/>
            <a:ext cx="10160000" cy="2235200"/>
          </a:xfrm>
          <a:prstGeom prst="rect">
            <a:avLst/>
          </a:prstGeom>
        </p:spPr>
      </p:pic>
      <p:sp>
        <p:nvSpPr>
          <p:cNvPr id="9" name="TextBox 8"/>
          <p:cNvSpPr txBox="1"/>
          <p:nvPr/>
        </p:nvSpPr>
        <p:spPr>
          <a:xfrm>
            <a:off x="1016000" y="6075362"/>
            <a:ext cx="10160000" cy="142180"/>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iPlanner (Fig. 2): 깊이와 목표로 key point 경로와 충돌 확률을 예측하고, 궤적 비용과 fear loss를 역전파해 인식·계획 네트워크를 함께 학습하는 이층 최적화. 출처: arXiv:2302.11434</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학습 로컬 Planner</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B.4b 비용 지도로 직접 학습하는 Planner: iPlanner와 ViPlanner</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37 / 516</a:t>
            </a:r>
          </a:p>
        </p:txBody>
      </p:sp>
      <p:sp>
        <p:nvSpPr>
          <p:cNvPr id="5" name="TextBox 4"/>
          <p:cNvSpPr txBox="1"/>
          <p:nvPr/>
        </p:nvSpPr>
        <p:spPr>
          <a:xfrm>
            <a:off x="609600" y="1244600"/>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ViPlanner — 의미까지 비용으로 넣는다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arXiv:2310.00982</a:t>
            </a:r>
            <a:r>
              <a:rPr sz="1050" b="0" i="0">
                <a:solidFill>
                  <a:srgbClr val="16213A"/>
                </a:solidFill>
                <a:latin typeface="Arial"/>
                <a:ea typeface="Malgun Gothic"/>
                <a:cs typeface="Malgun Gothic"/>
              </a:rPr>
              <a:t>, ICRA 2024, ETH RSL, </a:t>
            </a:r>
            <a:r>
              <a:rPr sz="1050" b="0" i="0">
                <a:solidFill>
                  <a:srgbClr val="1D4ED8"/>
                </a:solidFill>
                <a:latin typeface="Arial"/>
                <a:ea typeface="Malgun Gothic"/>
                <a:cs typeface="Malgun Gothic"/>
                <a:hlinkClick r:id="rId4"/>
              </a:rPr>
              <a:t>코드</a:t>
            </a:r>
            <a:r>
              <a:rPr sz="1050" b="0" i="0">
                <a:solidFill>
                  <a:srgbClr val="16213A"/>
                </a:solidFill>
                <a:latin typeface="Arial"/>
                <a:ea typeface="Malgun Gothic"/>
                <a:cs typeface="Malgun Gothic"/>
              </a:rPr>
              <a:t>). 기하만 보면 계단은 막혀 보이고, 풀밭과 도로는 구별되지 않는다. ViPlanner는 깊이 영상과 의미 분할 영상을 따로 인코딩해 목표와 합치고, 30개 의미 클래스에 비용을 매긴 의미 비용 지도로 iPlanner식 학습을 한다. 보도, 횡단보도, 바닥, 계단이 가장 싸고, 자갈·모래·눈, 풀·흙, 도로 순으로 비싸지며, 사람, 차, 벽, 기둥은 장애물이다. 클래스는 one-hot 대신 traversability가 비슷할수록 가까운 RGB 색으로 표현했다. CARLA 도시와 Matterport 실내 같은 시뮬레이션 데이터만으로 학습해 실제 4족 로봇에 zero-shot으로 옮겼고, 기하만 쓰는 방법보다 traversability 비용을 38.02% 줄였다.</a:t>
            </a:r>
          </a:p>
        </p:txBody>
      </p:sp>
      <p:pic>
        <p:nvPicPr>
          <p:cNvPr id="6" name="Picture 5" descr="image.jpg"/>
          <p:cNvPicPr>
            <a:picLocks noChangeAspect="1"/>
          </p:cNvPicPr>
          <p:nvPr/>
        </p:nvPicPr>
        <p:blipFill>
          <a:blip r:embed="rId5"/>
          <a:stretch>
            <a:fillRect/>
          </a:stretch>
        </p:blipFill>
        <p:spPr>
          <a:xfrm>
            <a:off x="1016000" y="2199481"/>
            <a:ext cx="10160000" cy="2628900"/>
          </a:xfrm>
          <a:prstGeom prst="rect">
            <a:avLst/>
          </a:prstGeom>
        </p:spPr>
      </p:pic>
      <p:sp>
        <p:nvSpPr>
          <p:cNvPr id="7" name="TextBox 6"/>
          <p:cNvSpPr txBox="1"/>
          <p:nvPr/>
        </p:nvSpPr>
        <p:spPr>
          <a:xfrm>
            <a:off x="1016000" y="4866481"/>
            <a:ext cx="10160000" cy="142180"/>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ViPlanner (Fig. 2): 깊이 영상, 의미 영상, 목표를 받아 대략적인 경로와 충돌 확률을 내고, 네트워크 가중치와 최종 경로를 이층 최적화로 함께 다듬는다. 출처: arXiv:2310.00982</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학습 로컬 Planner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B.4b 비용 지도로 직접 학습하는 Planner: iPlanner와 ViPlanner</a:t>
            </a:r>
            <a:r>
              <a:rPr sz="1050" b="0" i="0">
                <a:solidFill>
                  <a:srgbClr val="5A6478"/>
                </a:solidFill>
                <a:latin typeface="Arial"/>
                <a:ea typeface="Malgun Gothic"/>
                <a:cs typeface="Malgun Gothic"/>
              </a:rPr>
              <a:t>  자세히: 명령형 학습의 손실과 travplan plan_loss</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38 / 516</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이층 최적화.</a:t>
            </a:r>
            <a:r>
              <a:rPr sz="1050" b="0" i="0">
                <a:solidFill>
                  <a:srgbClr val="16213A"/>
                </a:solidFill>
                <a:latin typeface="Arial"/>
                <a:ea typeface="Malgun Gothic"/>
                <a:cs typeface="Malgun Gothic"/>
              </a:rPr>
              <a:t> 위 단계는 네트워크 </a:t>
            </a:r>
            <a:r>
              <a:rPr sz="1050" b="0" i="1">
                <a:solidFill>
                  <a:srgbClr val="16213A"/>
                </a:solidFill>
                <a:latin typeface="Arial"/>
                <a:ea typeface="Malgun Gothic"/>
                <a:cs typeface="Malgun Gothic"/>
              </a:rPr>
              <a:t>f_θ</a:t>
            </a:r>
            <a:r>
              <a:rPr sz="1050" b="0" i="0">
                <a:solidFill>
                  <a:srgbClr val="16213A"/>
                </a:solidFill>
                <a:latin typeface="Arial"/>
                <a:ea typeface="Malgun Gothic"/>
                <a:cs typeface="Malgun Gothic"/>
              </a:rPr>
              <a:t>를 과제 손실 </a:t>
            </a:r>
            <a:r>
              <a:rPr sz="1050" b="0" i="1">
                <a:solidFill>
                  <a:srgbClr val="16213A"/>
                </a:solidFill>
                <a:latin typeface="Arial"/>
                <a:ea typeface="Malgun Gothic"/>
                <a:cs typeface="Malgun Gothic"/>
              </a:rPr>
              <a:t>ℱ</a:t>
            </a:r>
            <a:r>
              <a:rPr sz="1050" b="0" i="0">
                <a:solidFill>
                  <a:srgbClr val="16213A"/>
                </a:solidFill>
                <a:latin typeface="Arial"/>
                <a:ea typeface="Malgun Gothic"/>
                <a:cs typeface="Malgun Gothic"/>
              </a:rPr>
              <a:t>로 갱신하고, 아래 단계는 네트워크가 낸 경로를 비용 </a:t>
            </a:r>
            <a:r>
              <a:rPr sz="1050" b="0" i="1">
                <a:solidFill>
                  <a:srgbClr val="16213A"/>
                </a:solidFill>
                <a:latin typeface="Arial"/>
                <a:ea typeface="Malgun Gothic"/>
                <a:cs typeface="Malgun Gothic"/>
              </a:rPr>
              <a:t>𝒞</a:t>
            </a:r>
            <a:r>
              <a:rPr sz="1050" b="0" i="0">
                <a:solidFill>
                  <a:srgbClr val="16213A"/>
                </a:solidFill>
                <a:latin typeface="Arial"/>
                <a:ea typeface="Malgun Gothic"/>
                <a:cs typeface="Malgun Gothic"/>
              </a:rPr>
              <a:t>로 최적화한다.</a:t>
            </a:r>
          </a:p>
        </p:txBody>
      </p:sp>
      <p:pic>
        <p:nvPicPr>
          <p:cNvPr id="6" name="Picture 5" descr="image.png"/>
          <p:cNvPicPr>
            <a:picLocks noChangeAspect="1"/>
          </p:cNvPicPr>
          <p:nvPr/>
        </p:nvPicPr>
        <p:blipFill>
          <a:blip r:embed="rId3"/>
          <a:stretch>
            <a:fillRect/>
          </a:stretch>
        </p:blipFill>
        <p:spPr>
          <a:xfrm>
            <a:off x="609600" y="1549995"/>
            <a:ext cx="3159125" cy="304800"/>
          </a:xfrm>
          <a:prstGeom prst="rect">
            <a:avLst/>
          </a:prstGeom>
        </p:spPr>
      </p:pic>
      <p:sp>
        <p:nvSpPr>
          <p:cNvPr id="7" name="TextBox 6"/>
          <p:cNvSpPr txBox="1"/>
          <p:nvPr/>
        </p:nvSpPr>
        <p:spPr>
          <a:xfrm>
            <a:off x="609600" y="1882477"/>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궤적 비용.</a:t>
            </a:r>
            <a:r>
              <a:rPr sz="1050" b="0" i="0">
                <a:solidFill>
                  <a:srgbClr val="16213A"/>
                </a:solidFill>
                <a:latin typeface="Arial"/>
                <a:ea typeface="Malgun Gothic"/>
                <a:cs typeface="Malgun Gothic"/>
              </a:rPr>
              <a:t> 장애물 비용 </a:t>
            </a:r>
            <a:r>
              <a:rPr sz="1050" b="0" i="1">
                <a:solidFill>
                  <a:srgbClr val="16213A"/>
                </a:solidFill>
                <a:latin typeface="Arial"/>
                <a:ea typeface="Malgun Gothic"/>
                <a:cs typeface="Malgun Gothic"/>
              </a:rPr>
              <a:t>𝒞^O</a:t>
            </a:r>
            <a:r>
              <a:rPr sz="1050" b="0" i="0">
                <a:solidFill>
                  <a:srgbClr val="16213A"/>
                </a:solidFill>
                <a:latin typeface="Arial"/>
                <a:ea typeface="Malgun Gothic"/>
                <a:cs typeface="Malgun Gothic"/>
              </a:rPr>
              <a:t>는 경로 점 </a:t>
            </a:r>
            <a:r>
              <a:rPr sz="1050" b="0" i="1">
                <a:solidFill>
                  <a:srgbClr val="16213A"/>
                </a:solidFill>
                <a:latin typeface="Arial"/>
                <a:ea typeface="Malgun Gothic"/>
                <a:cs typeface="Malgun Gothic"/>
              </a:rPr>
              <a:t>pᵢ</a:t>
            </a:r>
            <a:r>
              <a:rPr sz="1050" b="0" i="0">
                <a:solidFill>
                  <a:srgbClr val="16213A"/>
                </a:solidFill>
                <a:latin typeface="Arial"/>
                <a:ea typeface="Malgun Gothic"/>
                <a:cs typeface="Malgun Gothic"/>
              </a:rPr>
              <a:t>에서 읽은 비용 지도 값의 합이다. 목표 비용 </a:t>
            </a:r>
            <a:r>
              <a:rPr sz="1050" b="0" i="1">
                <a:solidFill>
                  <a:srgbClr val="16213A"/>
                </a:solidFill>
                <a:latin typeface="Arial"/>
                <a:ea typeface="Malgun Gothic"/>
                <a:cs typeface="Malgun Gothic"/>
              </a:rPr>
              <a:t>𝒞^G</a:t>
            </a:r>
            <a:r>
              <a:rPr sz="1050" b="0" i="0">
                <a:solidFill>
                  <a:srgbClr val="16213A"/>
                </a:solidFill>
                <a:latin typeface="Arial"/>
                <a:ea typeface="Malgun Gothic"/>
                <a:cs typeface="Malgun Gothic"/>
              </a:rPr>
              <a:t>는 경로 끝과 목표 사이 거리이고, 운동 비용 </a:t>
            </a:r>
            <a:r>
              <a:rPr sz="1050" b="0" i="1">
                <a:solidFill>
                  <a:srgbClr val="16213A"/>
                </a:solidFill>
                <a:latin typeface="Arial"/>
                <a:ea typeface="Malgun Gothic"/>
                <a:cs typeface="Malgun Gothic"/>
              </a:rPr>
              <a:t>𝒞^M</a:t>
            </a:r>
            <a:r>
              <a:rPr sz="1050" b="0" i="0">
                <a:solidFill>
                  <a:srgbClr val="16213A"/>
                </a:solidFill>
                <a:latin typeface="Arial"/>
                <a:ea typeface="Malgun Gothic"/>
                <a:cs typeface="Malgun Gothic"/>
              </a:rPr>
              <a:t>은 key point 사이 구간 길이가 고르지 않을수록 커진다.</a:t>
            </a:r>
          </a:p>
        </p:txBody>
      </p:sp>
      <p:pic>
        <p:nvPicPr>
          <p:cNvPr id="8" name="Picture 7" descr="image.png"/>
          <p:cNvPicPr>
            <a:picLocks noChangeAspect="1"/>
          </p:cNvPicPr>
          <p:nvPr/>
        </p:nvPicPr>
        <p:blipFill>
          <a:blip r:embed="rId4"/>
          <a:stretch>
            <a:fillRect/>
          </a:stretch>
        </p:blipFill>
        <p:spPr>
          <a:xfrm>
            <a:off x="609600" y="2187873"/>
            <a:ext cx="3022600" cy="419100"/>
          </a:xfrm>
          <a:prstGeom prst="rect">
            <a:avLst/>
          </a:prstGeom>
        </p:spPr>
      </p:pic>
      <p:sp>
        <p:nvSpPr>
          <p:cNvPr id="9" name="TextBox 8"/>
          <p:cNvSpPr txBox="1"/>
          <p:nvPr/>
        </p:nvSpPr>
        <p:spPr>
          <a:xfrm>
            <a:off x="609600" y="2618184"/>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fear loss.</a:t>
            </a:r>
            <a:r>
              <a:rPr sz="1050" b="0" i="0">
                <a:solidFill>
                  <a:srgbClr val="16213A"/>
                </a:solidFill>
                <a:latin typeface="Arial"/>
                <a:ea typeface="Malgun Gothic"/>
                <a:cs typeface="Malgun Gothic"/>
              </a:rPr>
              <a:t> 경로가 장애물과 부딪히는지를 라벨로, 예측한 충돌 확률 </a:t>
            </a:r>
            <a:r>
              <a:rPr sz="1050" b="0" i="1">
                <a:solidFill>
                  <a:srgbClr val="16213A"/>
                </a:solidFill>
                <a:latin typeface="Arial"/>
                <a:ea typeface="Malgun Gothic"/>
                <a:cs typeface="Malgun Gothic"/>
              </a:rPr>
              <a:t>μ</a:t>
            </a:r>
            <a:r>
              <a:rPr sz="1050" b="0" i="0">
                <a:solidFill>
                  <a:srgbClr val="16213A"/>
                </a:solidFill>
                <a:latin typeface="Arial"/>
                <a:ea typeface="Malgun Gothic"/>
                <a:cs typeface="Malgun Gothic"/>
              </a:rPr>
              <a:t>에 이진 교차 엔트로피를 건다. 배포 때는 </a:t>
            </a:r>
            <a:r>
              <a:rPr sz="1050" b="0" i="1">
                <a:solidFill>
                  <a:srgbClr val="16213A"/>
                </a:solidFill>
                <a:latin typeface="Arial"/>
                <a:ea typeface="Malgun Gothic"/>
                <a:cs typeface="Malgun Gothic"/>
              </a:rPr>
              <a:t>μ</a:t>
            </a:r>
            <a:r>
              <a:rPr sz="1050" b="0" i="0">
                <a:solidFill>
                  <a:srgbClr val="16213A"/>
                </a:solidFill>
                <a:latin typeface="Arial"/>
                <a:ea typeface="Malgun Gothic"/>
                <a:cs typeface="Malgun Gothic"/>
              </a:rPr>
              <a:t>가 임계값보다 낮은 경로만 실행한다. 최종 손실은 </a:t>
            </a:r>
            <a:r>
              <a:rPr sz="1050" b="0" i="1">
                <a:solidFill>
                  <a:srgbClr val="16213A"/>
                </a:solidFill>
                <a:latin typeface="Arial"/>
                <a:ea typeface="Malgun Gothic"/>
                <a:cs typeface="Malgun Gothic"/>
              </a:rPr>
              <a:t>ℱ = 𝒞 + ℒ_(fear)</a:t>
            </a:r>
            <a:r>
              <a:rPr sz="1050" b="0" i="0">
                <a:solidFill>
                  <a:srgbClr val="16213A"/>
                </a:solidFill>
                <a:latin typeface="Arial"/>
                <a:ea typeface="Malgun Gothic"/>
                <a:cs typeface="Malgun Gothic"/>
              </a:rPr>
              <a:t>다.</a:t>
            </a:r>
          </a:p>
        </p:txBody>
      </p:sp>
      <p:sp>
        <p:nvSpPr>
          <p:cNvPr id="10" name="TextBox 9"/>
          <p:cNvSpPr txBox="1"/>
          <p:nvPr/>
        </p:nvSpPr>
        <p:spPr>
          <a:xfrm>
            <a:off x="609600" y="292358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 </a:t>
            </a:r>
            <a:r>
              <a:rPr sz="1050" b="1" i="0">
                <a:solidFill>
                  <a:srgbClr val="16213A"/>
                </a:solidFill>
                <a:latin typeface="Consolas"/>
                <a:ea typeface="Malgun Gothic"/>
                <a:cs typeface="Malgun Gothic"/>
              </a:rPr>
              <a:t>plan_loss</a:t>
            </a:r>
            <a:r>
              <a:rPr sz="1050" b="1" i="0">
                <a:solidFill>
                  <a:srgbClr val="16213A"/>
                </a:solidFill>
                <a:latin typeface="Arial"/>
                <a:ea typeface="Malgun Gothic"/>
                <a:cs typeface="Malgun Gothic"/>
              </a:rPr>
              <a:t>.</a:t>
            </a:r>
            <a:r>
              <a:rPr sz="1050" b="0" i="0">
                <a:solidFill>
                  <a:srgbClr val="16213A"/>
                </a:solidFill>
                <a:latin typeface="Arial"/>
                <a:ea typeface="Malgun Gothic"/>
                <a:cs typeface="Malgun Gothic"/>
              </a:rPr>
              <a:t> LearnedPlanner는 waypoint 8개를 촘촘히 보간한 점에서 TravMap(흐린 비용, 원래 비용, σ)을 </a:t>
            </a:r>
            <a:r>
              <a:rPr sz="1050" b="0" i="0">
                <a:solidFill>
                  <a:srgbClr val="16213A"/>
                </a:solidFill>
                <a:latin typeface="Consolas"/>
                <a:ea typeface="Malgun Gothic"/>
                <a:cs typeface="Malgun Gothic"/>
              </a:rPr>
              <a:t>grid_sample</a:t>
            </a:r>
            <a:r>
              <a:rPr sz="1050" b="0" i="0">
                <a:solidFill>
                  <a:srgbClr val="16213A"/>
                </a:solidFill>
                <a:latin typeface="Arial"/>
                <a:ea typeface="Malgun Gothic"/>
                <a:cs typeface="Malgun Gothic"/>
              </a:rPr>
              <a:t>로 읽는다. 쌍선형 보간이라 점의 위치에 대해 미분 가능하다. 손실은 여섯 항의 가중합이다.</a:t>
            </a:r>
          </a:p>
        </p:txBody>
      </p:sp>
      <p:pic>
        <p:nvPicPr>
          <p:cNvPr id="11" name="Picture 10" descr="image.png"/>
          <p:cNvPicPr>
            <a:picLocks noChangeAspect="1"/>
          </p:cNvPicPr>
          <p:nvPr/>
        </p:nvPicPr>
        <p:blipFill>
          <a:blip r:embed="rId5"/>
          <a:stretch>
            <a:fillRect/>
          </a:stretch>
        </p:blipFill>
        <p:spPr>
          <a:xfrm>
            <a:off x="609600" y="3445470"/>
            <a:ext cx="5153025" cy="247650"/>
          </a:xfrm>
          <a:prstGeom prst="rect">
            <a:avLst/>
          </a:prstGeom>
        </p:spPr>
      </p:pic>
      <p:sp>
        <p:nvSpPr>
          <p:cNvPr id="12" name="TextBox 11"/>
          <p:cNvSpPr txBox="1"/>
          <p:nvPr/>
        </p:nvSpPr>
        <p:spPr>
          <a:xfrm>
            <a:off x="609600" y="3729038"/>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순서대로 평균 비용, 치명 영역 벌점, 불확실성, 목표 거리, 2차 차분(매끄러움), 경로 길이다. iPlanner와 비교하면 아래 단계의 궤적 최적화와 fear 헤드가 없고, 대신 σ 항이 있다.</a:t>
            </a:r>
          </a:p>
        </p:txBody>
      </p:sp>
      <p:sp>
        <p:nvSpPr>
          <p:cNvPr id="13" name="TextBox 12"/>
          <p:cNvSpPr txBox="1"/>
          <p:nvPr/>
        </p:nvSpPr>
        <p:spPr>
          <a:xfrm>
            <a:off x="609600" y="4034433"/>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것.</a:t>
            </a:r>
            <a:r>
              <a:rPr sz="1050" b="0" i="0">
                <a:solidFill>
                  <a:srgbClr val="16213A"/>
                </a:solidFill>
                <a:latin typeface="Arial"/>
                <a:ea typeface="Malgun Gothic"/>
                <a:cs typeface="Malgun Gothic"/>
              </a:rPr>
              <a:t> LearnedPlanner가 실패한 경우는 경로가 치명 셀을 지나 MPPI가 진입을 거부하고 멈춘 경우였다(</a:t>
            </a:r>
            <a:r>
              <a:rPr sz="1050" b="0" i="0">
                <a:solidFill>
                  <a:srgbClr val="16213A"/>
                </a:solidFill>
                <a:latin typeface="Consolas"/>
                <a:ea typeface="Malgun Gothic"/>
                <a:cs typeface="Malgun Gothic"/>
              </a:rPr>
              <a:t>docs/ARCHITECTURE.md</a:t>
            </a:r>
            <a:r>
              <a:rPr sz="1050" b="0" i="0">
                <a:solidFill>
                  <a:srgbClr val="16213A"/>
                </a:solidFill>
                <a:latin typeface="Arial"/>
                <a:ea typeface="Malgun Gothic"/>
                <a:cs typeface="Malgun Gothic"/>
              </a:rPr>
              <a:t> §4). iPlanner의 fear 헤드는 바로 이 경우를 겨냥한다. 충돌 확률이 높은 경로를 Planner 스스로 버리게 하면 GuidancePlanner로 넘기는 폴백 조건도 명확해진다. ViPlanner의 의미 비용은 TravMap에 의미 채널을 더할 때(A.11의 분할 모델) 그대로 쓸 수 있는 설계다.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학습 로컬 Planner</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B.7 비교</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39 / 516</a:t>
            </a:r>
          </a:p>
        </p:txBody>
      </p:sp>
      <p:graphicFrame>
        <p:nvGraphicFramePr>
          <p:cNvPr id="5" name="Table 4"/>
          <p:cNvGraphicFramePr>
            <a:graphicFrameLocks noGrp="1"/>
          </p:cNvGraphicFramePr>
          <p:nvPr/>
        </p:nvGraphicFramePr>
        <p:xfrm>
          <a:off x="609600" y="1244600"/>
          <a:ext cx="10966450" cy="3045696"/>
        </p:xfrm>
        <a:graphic>
          <a:graphicData uri="http://schemas.openxmlformats.org/drawingml/2006/table">
            <a:tbl>
              <a:tblPr firstRow="1" bandRow="1">
                <a:tableStyleId>{5C22544A-7EE6-4342-B048-85BDC9FD1C3A}</a:tableStyleId>
              </a:tblPr>
              <a:tblGrid>
                <a:gridCol w="1468636"/>
                <a:gridCol w="1332012"/>
                <a:gridCol w="2307927"/>
                <a:gridCol w="2062559"/>
                <a:gridCol w="1647726"/>
                <a:gridCol w="2147590"/>
              </a:tblGrid>
              <a:tr h="197088">
                <a:tc>
                  <a:txBody>
                    <a:bodyPr wrap="square"/>
                    <a:lstStyle/>
                    <a:p>
                      <a:r>
                        <a:rPr sz="800" b="1" i="0">
                          <a:solidFill>
                            <a:srgbClr val="F4F1EA"/>
                          </a:solidFill>
                          <a:latin typeface="Arial"/>
                          <a:ea typeface="Malgun Gothic"/>
                          <a:cs typeface="Malgun Gothic"/>
                        </a:rPr>
                        <a:t>계열</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대표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입력 → 출력</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장점</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단점</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travplan에서의 위치</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waypoint 직접 회귀</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AgniNav</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이미지 + 몸체 치수 → 1D 스캔·waypoint</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Jetson 실측 30 Hz</a:t>
                      </a:r>
                      <a:r>
                        <a:rPr sz="800" b="0" i="0">
                          <a:solidFill>
                            <a:srgbClr val="16213A"/>
                          </a:solidFill>
                          <a:latin typeface="Arial"/>
                          <a:ea typeface="Malgun Gothic"/>
                          <a:cs typeface="Malgun Gothic"/>
                        </a:rPr>
                        <a:t>, 여러 몸체</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답이 하나(갈림길에 약함)</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LearnedPlanner 개선</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비용 지도 자기지도</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iPlanner, ViPlanner</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깊이(+의미) + 목표 → key point 경로</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라벨 불필요, 시뮬 학습만으로 실물</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비용 지도 품질에 묶임</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LearnedPlanner 손실의 원형</a:t>
                      </a:r>
                      <a:r>
                        <a:rPr sz="800" b="0" i="0">
                          <a:solidFill>
                            <a:srgbClr val="16213A"/>
                          </a:solidFill>
                          <a:latin typeface="Arial"/>
                          <a:ea typeface="Malgun Gothic"/>
                          <a:cs typeface="Malgun Gothic"/>
                        </a:rPr>
                        <a:t>(B.4b)</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diffusion 궤적</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NavDP</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RGB-D → 궤적 분포 + critic</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여러 답, sim-to-real 검증</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Jetson 지연 미보고</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Planner D 직접 참고</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diffusion 궤적 + 폐루프 RL 후학습</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X-NavDP, Beyond Imitation</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사전학습 NavDP → Q 가중 score matching 또는 GRPO</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시연에 없던 탈출·우회, 실물 개선</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시뮬 RL 비용(IsaacLab 12시간)</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Planner D RL 후학습(TP-0066)의 다음 판</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위치 추정 내장 diffusion</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LoGoPlanner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RGB-D 영상 → 자세·장면·행동 묶음</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위치 추정 모듈이 필요 없다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기하가 잠재라 검사하기 어렵다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구조는 쓰지 않고 크롭 자세 잡음 증강만</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RL 직접 매핑</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MILER, CORE</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인식 → 속도 명령</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임베디드 실배포</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해석 가능성 손실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보류</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RL 직접 매핑 + 특권 증류 + CBF</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TAME-Nav</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2D LiDAR 이력 + 목표 → 몸체 twist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함정 탈출, CBF로 명령 보정, 시뮬 600지도 SR 78 %</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seed·분산 미보고, 평지 2D, 코드 미공개</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학습 Controller 참고(plant 무작위화·보행자 교사)</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학습 prior + MPPI 비용 항</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ProxPI</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Planner 경로 → 근접 비용</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최적화기 유지, prior가 틀려도 복구</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Controller 참고(</a:t>
                      </a:r>
                      <a:r>
                        <a:rPr sz="800" b="0" i="0">
                          <a:solidFill>
                            <a:srgbClr val="16213A"/>
                          </a:solidFill>
                          <a:latin typeface="Consolas"/>
                          <a:ea typeface="Malgun Gothic"/>
                          <a:cs typeface="Malgun Gothic"/>
                        </a:rPr>
                        <a:t>ReferenceCost</a:t>
                      </a:r>
                      <a:r>
                        <a:rPr sz="800" b="0" i="0">
                          <a:solidFill>
                            <a:srgbClr val="16213A"/>
                          </a:solidFill>
                          <a:latin typeface="Arial"/>
                          <a:ea typeface="Malgun Gothic"/>
                          <a:cs typeface="Malgun Gothic"/>
                        </a:rPr>
                        <a:t>가 이미 유사)</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학습 워밍스타트</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Self-Supervised MPC Init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상태 → 초기해</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샘플링 MPC 안전 +100% 보고</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시뮬레이션만</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Controller 참고</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제어 도함수 한계 보장</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π-MPPI</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샘플 → QP 투영 → 평균</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jerk 한계를 구조적으로 보장</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샘플마다 QP, 시뮬레이션만</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Controller 참고</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MPPI 샘플링 개선</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SMPPI</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제어 변화율 샘플링</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구조적 매끄러움</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c>
                  <a:txBody>
                    <a:bodyPr wrap="square"/>
                    <a:lstStyle/>
                    <a:p>
                      <a:r>
                        <a:rPr sz="800" b="0" i="0">
                          <a:solidFill>
                            <a:srgbClr val="16213A"/>
                          </a:solidFill>
                          <a:latin typeface="Consolas"/>
                          <a:ea typeface="Malgun Gothic"/>
                          <a:cs typeface="Malgun Gothic"/>
                        </a:rPr>
                        <a:t>SmoothMPPIController</a:t>
                      </a:r>
                      <a:r>
                        <a:rPr sz="800" b="0" i="0">
                          <a:solidFill>
                            <a:srgbClr val="16213A"/>
                          </a:solidFill>
                          <a:latin typeface="Arial"/>
                          <a:ea typeface="Malgun Gothic"/>
                          <a:cs typeface="Malgun Gothic"/>
                        </a:rPr>
                        <a:t>로 반영</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foundation model</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ViNT / NoMaD</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이미지 + 목표 → waypoint·diffusion</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성숙, 실배포, 목표 없는 탐색</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미세조정 비용</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Planner D·탐색 참고</a:t>
                      </a:r>
                    </a:p>
                  </a:txBody>
                  <a:tcPr marL="63500" marR="63500" marT="12700" marB="12700">
                    <a:solidFill>
                      <a:srgbClr val="F3F0E8"/>
                    </a:solidFill>
                  </a:tcPr>
                </a:tc>
              </a:tr>
            </a:tbl>
          </a:graphicData>
        </a:graphic>
      </p:graphicFrame>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F59E5B"/>
                </a:solidFill>
                <a:latin typeface="Consolas"/>
                <a:ea typeface="Malgun Gothic"/>
                <a:cs typeface="Malgun Gothic"/>
              </a:rPr>
              <a:t>Planner · 탭</a:t>
            </a:r>
          </a:p>
        </p:txBody>
      </p:sp>
      <p:sp>
        <p:nvSpPr>
          <p:cNvPr id="3" name="TextBox 2"/>
          <p:cNvSpPr txBox="1"/>
          <p:nvPr/>
        </p:nvSpPr>
        <p:spPr>
          <a:xfrm>
            <a:off x="609600" y="609600"/>
            <a:ext cx="10972800" cy="381000"/>
          </a:xfrm>
          <a:prstGeom prst="rect">
            <a:avLst/>
          </a:prstGeom>
          <a:noFill/>
        </p:spPr>
        <p:txBody>
          <a:bodyPr wrap="square" lIns="0" rIns="0" tIns="0" bIns="0" anchor="t">
            <a:spAutoFit/>
            <a:normAutofit/>
          </a:bodyPr>
          <a:lstStyle/>
          <a:p>
            <a:r>
              <a:rPr sz="2650" b="1" i="0">
                <a:solidFill>
                  <a:srgbClr val="F4F1EA"/>
                </a:solidFill>
                <a:latin typeface="Arial"/>
                <a:ea typeface="Malgun Gothic"/>
                <a:cs typeface="Malgun Gothic"/>
              </a:rPr>
              <a:t>생성형 궤적</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9AA6BC"/>
                </a:solidFill>
                <a:latin typeface="Arial"/>
                <a:ea typeface="Malgun Gothic"/>
                <a:cs typeface="Malgun Gothic"/>
              </a:rPr>
              <a:t>travplan 리서치 · Planner (docs/research-planner.md)    40 / 516</a:t>
            </a:r>
          </a:p>
        </p:txBody>
      </p:sp>
      <p:sp>
        <p:nvSpPr>
          <p:cNvPr id="5" name="TextBox 4"/>
          <p:cNvSpPr txBox="1"/>
          <p:nvPr/>
        </p:nvSpPr>
        <p:spPr>
          <a:xfrm>
            <a:off x="609600" y="1244600"/>
            <a:ext cx="5283200" cy="5080000"/>
          </a:xfrm>
          <a:prstGeom prst="rect">
            <a:avLst/>
          </a:prstGeom>
          <a:noFill/>
        </p:spPr>
        <p:txBody>
          <a:bodyPr wrap="square" lIns="0" rIns="0" tIns="0" bIns="0" anchor="t">
            <a:spAutoFit/>
            <a:normAutofit/>
          </a:bodyPr>
          <a:lstStyle/>
          <a:p>
            <a:pPr>
              <a:spcAft>
                <a:spcPts val="400"/>
              </a:spcAft>
            </a:pPr>
            <a:r>
              <a:rPr sz="1000" b="0" i="0">
                <a:solidFill>
                  <a:srgbClr val="C9D1E0"/>
                </a:solidFill>
                <a:latin typeface="Arial"/>
                <a:ea typeface="Malgun Gothic"/>
                <a:cs typeface="Malgun Gothic"/>
              </a:rPr>
              <a:t>B.8.0 생성형 궤적의 계보: Diffuser에서 GoalFlow까지</a:t>
            </a:r>
          </a:p>
        </p:txBody>
      </p:sp>
      <p:sp>
        <p:nvSpPr>
          <p:cNvPr id="6" name="TextBox 5"/>
          <p:cNvSpPr txBox="1"/>
          <p:nvPr/>
        </p:nvSpPr>
        <p:spPr>
          <a:xfrm>
            <a:off x="6299200" y="1244600"/>
            <a:ext cx="5283200" cy="5080000"/>
          </a:xfrm>
          <a:prstGeom prst="rect">
            <a:avLst/>
          </a:prstGeom>
          <a:noFill/>
        </p:spPr>
        <p:txBody>
          <a:bodyPr wrap="square" lIns="0" rIns="0" tIns="0" bIns="0" anchor="t">
            <a:spAutoFit/>
            <a:normAutofit/>
          </a:bodyPr>
          <a:lstStyle/>
          <a:p>
            <a:pPr>
              <a:spcAft>
                <a:spcPts val="400"/>
              </a:spcAft>
            </a:pPr>
            <a:r>
              <a:rPr sz="1000" b="0" i="0">
                <a:solidFill>
                  <a:srgbClr val="C9D1E0"/>
                </a:solidFill>
                <a:latin typeface="Arial"/>
                <a:ea typeface="Malgun Gothic"/>
                <a:cs typeface="Malgun Gothic"/>
              </a:rPr>
              <a:t>B.8 시간·주변 에이전트·기구학을 함께 고려하는 생성형 궤적 Planner</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생성형 궤적</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B.8.0 생성형 궤적의 계보: Diffuser에서 GoalFlow까지</a:t>
            </a:r>
            <a:r>
              <a:rPr sz="1050" b="0" i="0">
                <a:solidFill>
                  <a:srgbClr val="5A6478"/>
                </a:solidFill>
                <a:latin typeface="Arial"/>
                <a:ea typeface="Malgun Gothic"/>
                <a:cs typeface="Malgun Gothic"/>
              </a:rPr>
              <a:t>  1/5</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41 / 516</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"계획을 생성 모델에서 샘플한다"는 발상은 2022년 Diffuser에서 시작해 로봇 정책, 운동 계획, 자율주행으로 퍼졌다.</a:t>
            </a:r>
            <a:r>
              <a:rPr sz="1050" b="0" i="0">
                <a:solidFill>
                  <a:srgbClr val="16213A"/>
                </a:solidFill>
                <a:latin typeface="Arial"/>
                <a:ea typeface="Malgun Gothic"/>
                <a:cs typeface="Malgun Gothic"/>
              </a:rPr>
              <a:t> 공통점은 셋이다. 궤적 전체를 한 번에 생성하고, 여러 모드를 표현하며, 비용이나 목표로 생성을 유도한다. 2025년부터는 적분 스텝을 1–2개로 줄이는 쪽(truncated diffusion, flow matching, 한 스텝 증류)이 주류다. travplan Planner D(B.8.3)는 이 계보의 flow matching 갈래에 있다.</a:t>
            </a:r>
          </a:p>
        </p:txBody>
      </p:sp>
      <p:sp>
        <p:nvSpPr>
          <p:cNvPr id="6" name="TextBox 5"/>
          <p:cNvSpPr txBox="1"/>
          <p:nvPr/>
        </p:nvSpPr>
        <p:spPr>
          <a:xfrm>
            <a:off x="609600" y="1982986"/>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이 표의 논문들은 diffusion 표기와 flow matching 표기를 섞어 쓴다. 두 표기를 옮기는 환율과 규약 지뢰는 </a:t>
            </a:r>
            <a:r>
              <a:rPr sz="1050" b="1" i="0">
                <a:solidFill>
                  <a:srgbClr val="16213A"/>
                </a:solidFill>
                <a:latin typeface="Arial"/>
                <a:ea typeface="Malgun Gothic"/>
                <a:cs typeface="Malgun Gothic"/>
              </a:rPr>
              <a:t>배경 0.6b</a:t>
            </a:r>
            <a:r>
              <a:rPr sz="1050" b="0" i="0">
                <a:solidFill>
                  <a:srgbClr val="16213A"/>
                </a:solidFill>
                <a:latin typeface="Arial"/>
                <a:ea typeface="Malgun Gothic"/>
                <a:cs typeface="Malgun Gothic"/>
              </a:rPr>
              <a:t>에 모아 뒀다.</a:t>
            </a:r>
          </a:p>
        </p:txBody>
      </p:sp>
      <p:graphicFrame>
        <p:nvGraphicFramePr>
          <p:cNvPr id="7" name="Table 6"/>
          <p:cNvGraphicFramePr>
            <a:graphicFrameLocks noGrp="1"/>
          </p:cNvGraphicFramePr>
          <p:nvPr/>
        </p:nvGraphicFramePr>
        <p:xfrm>
          <a:off x="609600" y="2288381"/>
          <a:ext cx="10966451" cy="1773792"/>
        </p:xfrm>
        <a:graphic>
          <a:graphicData uri="http://schemas.openxmlformats.org/drawingml/2006/table">
            <a:tbl>
              <a:tblPr firstRow="1" bandRow="1">
                <a:tableStyleId>{5C22544A-7EE6-4342-B048-85BDC9FD1C3A}</a:tableStyleId>
              </a:tblPr>
              <a:tblGrid>
                <a:gridCol w="550466"/>
                <a:gridCol w="1304330"/>
                <a:gridCol w="1254919"/>
                <a:gridCol w="5114826"/>
                <a:gridCol w="2741910"/>
              </a:tblGrid>
              <a:tr h="197088">
                <a:tc>
                  <a:txBody>
                    <a:bodyPr wrap="square"/>
                    <a:lstStyle/>
                    <a:p>
                      <a:r>
                        <a:rPr sz="800" b="1" i="0">
                          <a:solidFill>
                            <a:srgbClr val="F4F1EA"/>
                          </a:solidFill>
                          <a:latin typeface="Arial"/>
                          <a:ea typeface="Malgun Gothic"/>
                          <a:cs typeface="Malgun Gothic"/>
                        </a:rPr>
                        <a:t>연도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이름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분야</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바꾼 것</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코드(★)</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2022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Diffuser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오프라인 RL 계획</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궤적 전체를 확산으로 생성, 보상 기울기 guidance와 inpainting</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3"/>
                        </a:rPr>
                        <a:t>jannerm/diffuser</a:t>
                      </a:r>
                      <a:r>
                        <a:rPr sz="800" b="0" i="0">
                          <a:solidFill>
                            <a:srgbClr val="16213A"/>
                          </a:solidFill>
                          <a:latin typeface="Arial"/>
                          <a:ea typeface="Malgun Gothic"/>
                          <a:cs typeface="Malgun Gothic"/>
                        </a:rPr>
                        <a:t> 1.3k</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2023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Diffusion Policy</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로봇 조작</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관측 조건 행동 열 확산, receding horizon 실행</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4"/>
                        </a:rPr>
                        <a:t>real-stanford/diffusion_policy</a:t>
                      </a:r>
                      <a:r>
                        <a:rPr sz="800" b="0" i="0">
                          <a:solidFill>
                            <a:srgbClr val="16213A"/>
                          </a:solidFill>
                          <a:latin typeface="Arial"/>
                          <a:ea typeface="Malgun Gothic"/>
                          <a:cs typeface="Malgun Gothic"/>
                        </a:rPr>
                        <a:t> 4.6k</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2023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MPD</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운동 계획</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확산 prior와 비용 likelihood의 사후 분포에서 샘플</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5"/>
                        </a:rPr>
                        <a:t>joaoamcarvalho/mpd-public</a:t>
                      </a:r>
                      <a:r>
                        <a:rPr sz="800" b="0" i="0">
                          <a:solidFill>
                            <a:srgbClr val="16213A"/>
                          </a:solidFill>
                          <a:latin typeface="Arial"/>
                          <a:ea typeface="Malgun Gothic"/>
                          <a:cs typeface="Malgun Gothic"/>
                        </a:rPr>
                        <a:t> 0.3k</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2024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π0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VLA</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VLM에 flow matching 행동 전문가(B.6b)</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6"/>
                        </a:rPr>
                        <a:t>Physical-Intelligence/openpi</a:t>
                      </a:r>
                      <a:r>
                        <a:rPr sz="800" b="0" i="0">
                          <a:solidFill>
                            <a:srgbClr val="16213A"/>
                          </a:solidFill>
                          <a:latin typeface="Arial"/>
                          <a:ea typeface="Malgun Gothic"/>
                          <a:cs typeface="Malgun Gothic"/>
                        </a:rPr>
                        <a:t> 14.0k</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2024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DiffusionDrive</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E2E 주행</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anchor에서 시작하는 truncated diffusion 2스텝(B.8.2)</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7"/>
                        </a:rPr>
                        <a:t>hustvl/DiffusionDrive</a:t>
                      </a:r>
                      <a:r>
                        <a:rPr sz="800" b="0" i="0">
                          <a:solidFill>
                            <a:srgbClr val="16213A"/>
                          </a:solidFill>
                          <a:latin typeface="Arial"/>
                          <a:ea typeface="Malgun Gothic"/>
                          <a:cs typeface="Malgun Gothic"/>
                        </a:rPr>
                        <a:t> 1.5k</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2025</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Diffusion Planner</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자율주행</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예측과 계획을 함께 생성, 재학습 없는 guidance(B.8)</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8"/>
                        </a:rPr>
                        <a:t>ZhengYinan-AIR/Diffusion-Planner</a:t>
                      </a:r>
                      <a:r>
                        <a:rPr sz="800" b="0" i="0">
                          <a:solidFill>
                            <a:srgbClr val="16213A"/>
                          </a:solidFill>
                          <a:latin typeface="Arial"/>
                          <a:ea typeface="Malgun Gothic"/>
                          <a:cs typeface="Malgun Gothic"/>
                        </a:rPr>
                        <a:t> 1.1k</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2025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GoalFlow</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E2E 주행</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목표점을 먼저 고르고 flow matching 한 스텝</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9"/>
                        </a:rPr>
                        <a:t>YvanYin/GoalFlow</a:t>
                      </a:r>
                      <a:r>
                        <a:rPr sz="800" b="0" i="0">
                          <a:solidFill>
                            <a:srgbClr val="16213A"/>
                          </a:solidFill>
                          <a:latin typeface="Arial"/>
                          <a:ea typeface="Malgun Gothic"/>
                          <a:cs typeface="Malgun Gothic"/>
                        </a:rPr>
                        <a:t> 0.4k</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2025</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Flow Planner</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자율주행(nuPlan)</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궤적을 잘게 토큰화하고 시공간 융합 + CFG. </a:t>
                      </a:r>
                      <a:r>
                        <a:rPr sz="800" b="1" i="0">
                          <a:solidFill>
                            <a:srgbClr val="C2410C"/>
                          </a:solidFill>
                          <a:latin typeface="Arial"/>
                          <a:ea typeface="Malgun Gothic"/>
                          <a:cs typeface="Malgun Gothic"/>
                        </a:rPr>
                        <a:t>nuPlan Val14 </a:t>
                      </a:r>
                      <a:r>
                        <a:rPr sz="800" b="1" i="0">
                          <a:solidFill>
                            <a:srgbClr val="C2410C"/>
                          </a:solidFill>
                          <a:latin typeface="Arial"/>
                          <a:ea typeface="Malgun Gothic"/>
                          <a:cs typeface="Malgun Gothic"/>
                        </a:rPr>
                        <a:t>90.43</a:t>
                      </a:r>
                      <a:r>
                        <a:rPr sz="800" b="1" i="0">
                          <a:solidFill>
                            <a:srgbClr val="C2410C"/>
                          </a:solidFill>
                          <a:latin typeface="Arial"/>
                          <a:ea typeface="Malgun Gothic"/>
                          <a:cs typeface="Malgun Gothic"/>
                        </a:rPr>
                        <a:t>(refinement 없이)</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0"/>
                        </a:rPr>
                        <a:t>DiffusionAD/Flow-Planner</a:t>
                      </a:r>
                      <a:r>
                        <a:rPr sz="800" b="0" i="0">
                          <a:solidFill>
                            <a:srgbClr val="16213A"/>
                          </a:solidFill>
                          <a:latin typeface="Arial"/>
                          <a:ea typeface="Malgun Gothic"/>
                          <a:cs typeface="Malgun Gothic"/>
                        </a:rPr>
                        <a:t> 0.3k, </a:t>
                      </a:r>
                      <a:r>
                        <a:rPr sz="800" b="1" i="0">
                          <a:solidFill>
                            <a:srgbClr val="16213A"/>
                          </a:solidFill>
                          <a:latin typeface="Arial"/>
                          <a:ea typeface="Malgun Gothic"/>
                          <a:cs typeface="Malgun Gothic"/>
                        </a:rPr>
                        <a:t>MIT</a:t>
                      </a:r>
                    </a:p>
                  </a:txBody>
                  <a:tcPr marL="63500" marR="63500" marT="12700" marB="12700">
                    <a:solidFill>
                      <a:srgbClr val="F3F0E8"/>
                    </a:solidFill>
                  </a:tcPr>
                </a:tc>
              </a:tr>
            </a:tbl>
          </a:graphicData>
        </a:graphic>
      </p:graphicFrame>
      <p:sp>
        <p:nvSpPr>
          <p:cNvPr id="8" name="TextBox 7"/>
          <p:cNvSpPr txBox="1"/>
          <p:nvPr/>
        </p:nvSpPr>
        <p:spPr>
          <a:xfrm>
            <a:off x="609600" y="4600873"/>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학습 로컬 Planner 탭과 무엇이 다른가.</a:t>
            </a:r>
            <a:r>
              <a:rPr sz="1050" b="0" i="0">
                <a:solidFill>
                  <a:srgbClr val="16213A"/>
                </a:solidFill>
                <a:latin typeface="Arial"/>
                <a:ea typeface="Malgun Gothic"/>
                <a:cs typeface="Malgun Gothic"/>
              </a:rPr>
              <a:t> 두 탭은 기준이 다르다. 학습 로컬 Planner는 </a:t>
            </a:r>
            <a:r>
              <a:rPr sz="1050" b="1" i="0">
                <a:solidFill>
                  <a:srgbClr val="16213A"/>
                </a:solidFill>
                <a:latin typeface="Arial"/>
                <a:ea typeface="Malgun Gothic"/>
                <a:cs typeface="Malgun Gothic"/>
              </a:rPr>
              <a:t>역할</a:t>
            </a:r>
            <a:r>
              <a:rPr sz="1050" b="0" i="0">
                <a:solidFill>
                  <a:srgbClr val="16213A"/>
                </a:solidFill>
                <a:latin typeface="Arial"/>
                <a:ea typeface="Malgun Gothic"/>
                <a:cs typeface="Malgun Gothic"/>
              </a:rPr>
              <a:t>(로봇 주변만 보고 가까운 경로를 내는 학습 모듈)로 묶었고, 생성형 궤적은 </a:t>
            </a:r>
            <a:r>
              <a:rPr sz="1050" b="1" i="0">
                <a:solidFill>
                  <a:srgbClr val="16213A"/>
                </a:solidFill>
                <a:latin typeface="Arial"/>
                <a:ea typeface="Malgun Gothic"/>
                <a:cs typeface="Malgun Gothic"/>
              </a:rPr>
              <a:t>방법</a:t>
            </a:r>
            <a:r>
              <a:rPr sz="1050" b="0" i="0">
                <a:solidFill>
                  <a:srgbClr val="16213A"/>
                </a:solidFill>
                <a:latin typeface="Arial"/>
                <a:ea typeface="Malgun Gothic"/>
                <a:cs typeface="Malgun Gothic"/>
              </a:rPr>
              <a:t>(생성 모델에서 궤적을 샘플한다)으로 묶었다. 그래서 로컬 내비에 diffusion을 쓴 연구는 학습 로컬 Planner 탭에 있고, 이 탭은 로컬 내비 밖의 조작, 운동 계획, 자율주행까지 계보로 다룬다. 실무에서 갈리는 점은 둘이다.</a:t>
            </a:r>
          </a:p>
        </p:txBody>
      </p:sp>
      <p:graphicFrame>
        <p:nvGraphicFramePr>
          <p:cNvPr id="9" name="Table 8"/>
          <p:cNvGraphicFramePr>
            <a:graphicFrameLocks noGrp="1"/>
          </p:cNvGraphicFramePr>
          <p:nvPr/>
        </p:nvGraphicFramePr>
        <p:xfrm>
          <a:off x="609600" y="5122763"/>
          <a:ext cx="10966450" cy="788352"/>
        </p:xfrm>
        <a:graphic>
          <a:graphicData uri="http://schemas.openxmlformats.org/drawingml/2006/table">
            <a:tbl>
              <a:tblPr firstRow="1" bandRow="1">
                <a:tableStyleId>{5C22544A-7EE6-4342-B048-85BDC9FD1C3A}</a:tableStyleId>
              </a:tblPr>
              <a:tblGrid>
                <a:gridCol w="960338"/>
                <a:gridCol w="5719465"/>
                <a:gridCol w="4286647"/>
              </a:tblGrid>
              <a:tr h="197088">
                <a:tc>
                  <a:txBody>
                    <a:bodyPr wrap="square"/>
                    <a:lstStyle/>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학습 로컬 Planner(회귀 계열)</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생성형 궤적</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답의 수</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대개 하나. 갈림길에서 두 답의 평균이 장애물로 들어가기 쉽다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여러 개를 샘플하고 비용이나 목표로 고른다</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시간</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대개 시간 없는 waypoint 열(경로). 속도와 타이밍은 Controller가 정한다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대개 시간 인덱스 궤적. 속도와 멈춤도 계획에 들어간다</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travplan</a:t>
                      </a:r>
                    </a:p>
                  </a:txBody>
                  <a:tcPr marL="63500" marR="63500" marT="12700" marB="12700">
                    <a:solidFill>
                      <a:srgbClr val="FFFDF8"/>
                    </a:solidFill>
                  </a:tcPr>
                </a:tc>
                <a:tc>
                  <a:txBody>
                    <a:bodyPr wrap="square"/>
                    <a:lstStyle/>
                    <a:p>
                      <a:r>
                        <a:rPr sz="800" b="0" i="0">
                          <a:solidFill>
                            <a:srgbClr val="16213A"/>
                          </a:solidFill>
                          <a:latin typeface="Consolas"/>
                          <a:ea typeface="Malgun Gothic"/>
                          <a:cs typeface="Malgun Gothic"/>
                        </a:rPr>
                        <a:t>LearnedPlanner</a:t>
                      </a:r>
                      <a:r>
                        <a:rPr sz="800" b="0" i="0">
                          <a:solidFill>
                            <a:srgbClr val="16213A"/>
                          </a:solidFill>
                          <a:latin typeface="Arial"/>
                          <a:ea typeface="Malgun Gothic"/>
                          <a:cs typeface="Malgun Gothic"/>
                        </a:rPr>
                        <a:t>: waypoint 8개, 시간 없음</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Planner D: 4초 × 10 Hz, </a:t>
                      </a:r>
                      <a:r>
                        <a:rPr sz="800" b="0" i="0">
                          <a:solidFill>
                            <a:srgbClr val="16213A"/>
                          </a:solidFill>
                          <a:latin typeface="Consolas"/>
                          <a:ea typeface="Malgun Gothic"/>
                          <a:cs typeface="Malgun Gothic"/>
                        </a:rPr>
                        <a:t>PlanResult.times</a:t>
                      </a:r>
                    </a:p>
                  </a:txBody>
                  <a:tcPr marL="63500" marR="63500" marT="12700" marB="12700">
                    <a:solidFill>
                      <a:srgbClr val="FFFDF8"/>
                    </a:solidFill>
                  </a:tcPr>
                </a:tc>
              </a:tr>
            </a:tbl>
          </a:graphicData>
        </a:graphic>
      </p:graphicFrame>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생성형 궤적</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B.8.0 생성형 궤적의 계보: Diffuser에서 GoalFlow까지</a:t>
            </a:r>
            <a:r>
              <a:rPr sz="1050" b="0" i="0">
                <a:solidFill>
                  <a:srgbClr val="5A6478"/>
                </a:solidFill>
                <a:latin typeface="Arial"/>
                <a:ea typeface="Malgun Gothic"/>
                <a:cs typeface="Malgun Gothic"/>
              </a:rPr>
              <a:t>  2/5</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42 / 516</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시간은 인덱스로 들어간다.</a:t>
            </a:r>
            <a:r>
              <a:rPr sz="1050" b="0" i="0">
                <a:solidFill>
                  <a:srgbClr val="16213A"/>
                </a:solidFill>
                <a:latin typeface="Arial"/>
                <a:ea typeface="Malgun Gothic"/>
                <a:cs typeface="Malgun Gothic"/>
              </a:rPr>
              <a:t> 생성 모델은 시각을 따로 출력하지 않는다. 출력 텐서의 k번째 원소가 "k·dt초 뒤"를 뜻하도록 학습 데이터에서 약속한다. Diffusion Planner는 8초 × 10 Hz(80스텝) 상태열을, Diffusion Policy는 제어 주기 간격의 행동열을 낸다. 속도는 점 사이 간격으로 표현되고, 같은 자리에 머무는 점들은 정지다. 그래서 경로는 같고 타이밍만 다른 "보행자 앞에서 멈췄다 지나가기"를 계획할 수 있다. Planner D는 한 단계 더 나가 위치 대신 제어 변화율 열을 생성하고 dt로 적분해 </a:t>
            </a:r>
            <a:r>
              <a:rPr sz="1050" b="0" i="0">
                <a:solidFill>
                  <a:srgbClr val="16213A"/>
                </a:solidFill>
                <a:latin typeface="Consolas"/>
                <a:ea typeface="Malgun Gothic"/>
                <a:cs typeface="Malgun Gothic"/>
              </a:rPr>
              <a:t>SwerveModel</a:t>
            </a:r>
            <a:r>
              <a:rPr sz="1050" b="0" i="0">
                <a:solidFill>
                  <a:srgbClr val="16213A"/>
                </a:solidFill>
                <a:latin typeface="Arial"/>
                <a:ea typeface="Malgun Gothic"/>
                <a:cs typeface="Malgun Gothic"/>
              </a:rPr>
              <a:t>로 굴린다(B.8.3). 시간축이 명시적이고, 속도·가속 한계를 지키는 궤적이 나온다.</a:t>
            </a:r>
          </a:p>
        </p:txBody>
      </p:sp>
      <p:sp>
        <p:nvSpPr>
          <p:cNvPr id="6" name="TextBox 5"/>
          <p:cNvSpPr txBox="1"/>
          <p:nvPr/>
        </p:nvSpPr>
        <p:spPr>
          <a:xfrm>
            <a:off x="609600" y="1982986"/>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시간이 있느냐는 생성형이냐가 아니라 </a:t>
            </a:r>
            <a:r>
              <a:rPr sz="1050" b="1" i="0">
                <a:solidFill>
                  <a:srgbClr val="16213A"/>
                </a:solidFill>
                <a:latin typeface="Arial"/>
                <a:ea typeface="Malgun Gothic"/>
                <a:cs typeface="Malgun Gothic"/>
              </a:rPr>
              <a:t>출력 표현을 어떻게 정했느냐</a:t>
            </a:r>
            <a:r>
              <a:rPr sz="1050" b="0" i="0">
                <a:solidFill>
                  <a:srgbClr val="16213A"/>
                </a:solidFill>
                <a:latin typeface="Arial"/>
                <a:ea typeface="Malgun Gothic"/>
                <a:cs typeface="Malgun Gothic"/>
              </a:rPr>
              <a:t>의 문제다. 회귀 모델도 시간 인덱스 궤적을 낼 수 있고, 생성 모델도 경로점만 낼 수 있다. 이 분야에서 시간 인덱스 궤적이 표준이 된 것은 nuPlan과 NAVSIM이 시간이 붙은 미래 궤적으로 평가하기 때문이다.</a:t>
            </a:r>
          </a:p>
        </p:txBody>
      </p:sp>
      <p:sp>
        <p:nvSpPr>
          <p:cNvPr id="7" name="TextBox 6"/>
          <p:cNvSpPr txBox="1"/>
          <p:nvPr/>
        </p:nvSpPr>
        <p:spPr>
          <a:xfrm>
            <a:off x="609600" y="2504877"/>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Diffuser — 계획 자체를 생성한다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arXiv:2205.09991</a:t>
            </a:r>
            <a:r>
              <a:rPr sz="1050" b="0" i="0">
                <a:solidFill>
                  <a:srgbClr val="16213A"/>
                </a:solidFill>
                <a:latin typeface="Arial"/>
                <a:ea typeface="Malgun Gothic"/>
                <a:cs typeface="Malgun Gothic"/>
              </a:rPr>
              <a:t>, ICML 2022, MIT·UC Berkeley, </a:t>
            </a:r>
            <a:r>
              <a:rPr sz="1050" b="0" i="0">
                <a:solidFill>
                  <a:srgbClr val="1D4ED8"/>
                </a:solidFill>
                <a:latin typeface="Arial"/>
                <a:ea typeface="Malgun Gothic"/>
                <a:cs typeface="Malgun Gothic"/>
                <a:hlinkClick r:id="rId4"/>
              </a:rPr>
              <a:t>코드</a:t>
            </a:r>
            <a:r>
              <a:rPr sz="1050" b="0" i="0">
                <a:solidFill>
                  <a:srgbClr val="16213A"/>
                </a:solidFill>
                <a:latin typeface="Arial"/>
                <a:ea typeface="Malgun Gothic"/>
                <a:cs typeface="Malgun Gothic"/>
              </a:rPr>
              <a:t>). 모델 기반 RL은 학습한 동역학 모델을 고전 궤적 최적화기에 넘기는데, 최적화기가 학습 모델의 오차를 파고든다. Diffuser는 궤적 최적화를 모델 안으로 접어, 모델에서 샘플하는 것과 계획하는 것이 거의 같아지게 했다. 상태와 행동으로 된 궤적 전체를 확산으로 잡음에서 조금씩 다듬고, 보상의 기울기로 샘플을 유도(guidance)하며, 시작과 목표 상태를 고정하는 inpainting으로 목표 도달 계획을 만든다. 시간 합성곱이라 잡음 제거 한 번은 이웃 시간만 보지만, 이것을 여러 번 반복하면 국소 일관성이 전역 일관성으로 커진다.</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생성형 궤적</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B.8.0 생성형 궤적의 계보: Diffuser에서 GoalFlow까지</a:t>
            </a:r>
            <a:r>
              <a:rPr sz="1050" b="0" i="0">
                <a:solidFill>
                  <a:srgbClr val="5A6478"/>
                </a:solidFill>
                <a:latin typeface="Arial"/>
                <a:ea typeface="Malgun Gothic"/>
                <a:cs typeface="Malgun Gothic"/>
              </a:rPr>
              <a:t>  3/5</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43 / 516</a:t>
            </a:r>
          </a:p>
        </p:txBody>
      </p:sp>
      <p:pic>
        <p:nvPicPr>
          <p:cNvPr id="5" name="Picture 4" descr="image.jpg"/>
          <p:cNvPicPr>
            <a:picLocks noChangeAspect="1"/>
          </p:cNvPicPr>
          <p:nvPr/>
        </p:nvPicPr>
        <p:blipFill>
          <a:blip r:embed="rId3"/>
          <a:stretch>
            <a:fillRect/>
          </a:stretch>
        </p:blipFill>
        <p:spPr>
          <a:xfrm>
            <a:off x="2797175" y="1244600"/>
            <a:ext cx="6597650" cy="4445000"/>
          </a:xfrm>
          <a:prstGeom prst="rect">
            <a:avLst/>
          </a:prstGeom>
        </p:spPr>
      </p:pic>
      <p:sp>
        <p:nvSpPr>
          <p:cNvPr id="6" name="TextBox 5"/>
          <p:cNvSpPr txBox="1"/>
          <p:nvPr/>
        </p:nvSpPr>
        <p:spPr>
          <a:xfrm>
            <a:off x="2797175" y="5727700"/>
            <a:ext cx="659765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Diffuser (Fig. 2): 상태·행동 쌍으로 된 2차원 배열을 반복해 잡음 제거한다. 한 번의 잡음 제거는 좁은 수용 영역만 보지만 반복하면 계획 전체가 일관된다. 선택적인 guide 함수가 계획을 목적으로 끈다. 출처: arXiv:2205.09991</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생성형 궤적</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B.8.0 생성형 궤적의 계보: Diffuser에서 GoalFlow까지</a:t>
            </a:r>
            <a:r>
              <a:rPr sz="1050" b="0" i="0">
                <a:solidFill>
                  <a:srgbClr val="5A6478"/>
                </a:solidFill>
                <a:latin typeface="Arial"/>
                <a:ea typeface="Malgun Gothic"/>
                <a:cs typeface="Malgun Gothic"/>
              </a:rPr>
              <a:t>  4/5</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44 / 516</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Diffusion Policy — 행동 열을 확산으로 낸다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arXiv:2303.04137</a:t>
            </a:r>
            <a:r>
              <a:rPr sz="1050" b="0" i="0">
                <a:solidFill>
                  <a:srgbClr val="16213A"/>
                </a:solidFill>
                <a:latin typeface="Arial"/>
                <a:ea typeface="Malgun Gothic"/>
                <a:cs typeface="Malgun Gothic"/>
              </a:rPr>
              <a:t>, RSS 2023, Columbia·TRI·MIT, </a:t>
            </a:r>
            <a:r>
              <a:rPr sz="1050" b="0" i="0">
                <a:solidFill>
                  <a:srgbClr val="1D4ED8"/>
                </a:solidFill>
                <a:latin typeface="Arial"/>
                <a:ea typeface="Malgun Gothic"/>
                <a:cs typeface="Malgun Gothic"/>
                <a:hlinkClick r:id="rId4"/>
              </a:rPr>
              <a:t>코드</a:t>
            </a:r>
            <a:r>
              <a:rPr sz="1050" b="0" i="0">
                <a:solidFill>
                  <a:srgbClr val="16213A"/>
                </a:solidFill>
                <a:latin typeface="Arial"/>
                <a:ea typeface="Malgun Gothic"/>
                <a:cs typeface="Malgun Gothic"/>
              </a:rPr>
              <a:t>). 로봇의 시각-운동 정책을 관측 조건 잡음 제거 확산으로 표현했다. 최근 관측 </a:t>
            </a:r>
            <a:r>
              <a:rPr sz="1050" b="0" i="1">
                <a:solidFill>
                  <a:srgbClr val="16213A"/>
                </a:solidFill>
                <a:latin typeface="Arial"/>
                <a:ea typeface="Malgun Gothic"/>
                <a:cs typeface="Malgun Gothic"/>
              </a:rPr>
              <a:t>Tₒ</a:t>
            </a:r>
            <a:r>
              <a:rPr sz="1050" b="0" i="0">
                <a:solidFill>
                  <a:srgbClr val="16213A"/>
                </a:solidFill>
                <a:latin typeface="Arial"/>
                <a:ea typeface="Malgun Gothic"/>
                <a:cs typeface="Malgun Gothic"/>
              </a:rPr>
              <a:t>스텝을 받아 행동 </a:t>
            </a:r>
            <a:r>
              <a:rPr sz="1050" b="0" i="1">
                <a:solidFill>
                  <a:srgbClr val="16213A"/>
                </a:solidFill>
                <a:latin typeface="Arial"/>
                <a:ea typeface="Malgun Gothic"/>
                <a:cs typeface="Malgun Gothic"/>
              </a:rPr>
              <a:t>Tₚ</a:t>
            </a:r>
            <a:r>
              <a:rPr sz="1050" b="0" i="0">
                <a:solidFill>
                  <a:srgbClr val="16213A"/>
                </a:solidFill>
                <a:latin typeface="Arial"/>
                <a:ea typeface="Malgun Gothic"/>
                <a:cs typeface="Malgun Gothic"/>
              </a:rPr>
              <a:t>스텝을 예측하고, 그중 </a:t>
            </a:r>
            <a:r>
              <a:rPr sz="1050" b="0" i="1">
                <a:solidFill>
                  <a:srgbClr val="16213A"/>
                </a:solidFill>
                <a:latin typeface="Arial"/>
                <a:ea typeface="Malgun Gothic"/>
                <a:cs typeface="Malgun Gothic"/>
              </a:rPr>
              <a:t>Tₐ</a:t>
            </a:r>
            <a:r>
              <a:rPr sz="1050" b="0" i="0">
                <a:solidFill>
                  <a:srgbClr val="16213A"/>
                </a:solidFill>
                <a:latin typeface="Arial"/>
                <a:ea typeface="Malgun Gothic"/>
                <a:cs typeface="Malgun Gothic"/>
              </a:rPr>
              <a:t>스텝만 실행한 뒤 다시 계획한다(receding horizon). 여러 모드의 행동 분포를 자연스럽게 다루고, 고차원 행동에서도 학습이 안정적이다. 로봇 조작 벤치마크 4개의 여러 과제에서 기존 최고 방법보다 평균 46.9% 좋았다.</a:t>
            </a:r>
          </a:p>
        </p:txBody>
      </p:sp>
      <p:pic>
        <p:nvPicPr>
          <p:cNvPr id="6" name="Picture 5" descr="image.jpg"/>
          <p:cNvPicPr>
            <a:picLocks noChangeAspect="1"/>
          </p:cNvPicPr>
          <p:nvPr/>
        </p:nvPicPr>
        <p:blipFill>
          <a:blip r:embed="rId5"/>
          <a:stretch>
            <a:fillRect/>
          </a:stretch>
        </p:blipFill>
        <p:spPr>
          <a:xfrm>
            <a:off x="1016000" y="1982986"/>
            <a:ext cx="10160000" cy="2774950"/>
          </a:xfrm>
          <a:prstGeom prst="rect">
            <a:avLst/>
          </a:prstGeom>
        </p:spPr>
      </p:pic>
      <p:sp>
        <p:nvSpPr>
          <p:cNvPr id="7" name="TextBox 6"/>
          <p:cNvSpPr txBox="1"/>
          <p:nvPr/>
        </p:nvSpPr>
        <p:spPr>
          <a:xfrm>
            <a:off x="1016000" y="4796036"/>
            <a:ext cx="10160000" cy="142180"/>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Diffusion Policy (Fig. 2): 최근 관측 몇 스텝을 받아 행동 열을 낸다. CNN 판은 관측 특징을 FiLM으로 모든 합성곱 층에 넣고, 잡음에서 시작해 예측한 잡음을 여러 번 빼서 행동 열을 얻는다. 출처: arXiv:2303.04137</a:t>
            </a:r>
          </a:p>
        </p:txBody>
      </p:sp>
      <p:sp>
        <p:nvSpPr>
          <p:cNvPr id="8" name="TextBox 7"/>
          <p:cNvSpPr txBox="1"/>
          <p:nvPr/>
        </p:nvSpPr>
        <p:spPr>
          <a:xfrm>
            <a:off x="609600" y="5027116"/>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MPD — 확산 prior에 비용을 곱해 사후 분포에서 샘플한다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6"/>
              </a:rPr>
              <a:t>arXiv:2308.01557</a:t>
            </a:r>
            <a:r>
              <a:rPr sz="1050" b="0" i="0">
                <a:solidFill>
                  <a:srgbClr val="16213A"/>
                </a:solidFill>
                <a:latin typeface="Arial"/>
                <a:ea typeface="Malgun Gothic"/>
                <a:cs typeface="Malgun Gothic"/>
              </a:rPr>
              <a:t>, 2023, TU Darmstadt, </a:t>
            </a:r>
            <a:r>
              <a:rPr sz="1050" b="0" i="0">
                <a:solidFill>
                  <a:srgbClr val="1D4ED8"/>
                </a:solidFill>
                <a:latin typeface="Arial"/>
                <a:ea typeface="Malgun Gothic"/>
                <a:cs typeface="Malgun Gothic"/>
                <a:hlinkClick r:id="rId7"/>
              </a:rPr>
              <a:t>코드</a:t>
            </a:r>
            <a:r>
              <a:rPr sz="1050" b="0" i="0">
                <a:solidFill>
                  <a:srgbClr val="16213A"/>
                </a:solidFill>
                <a:latin typeface="Arial"/>
                <a:ea typeface="Malgun Gothic"/>
                <a:cs typeface="Malgun Gothic"/>
              </a:rPr>
              <a:t>). 운동 계획을 추론 문제로 본다. 성공한 과거 계획들로 궤적의 확산 prior를 학습하고, 새 문제의 충돌·매끄러움 비용을 likelihood로 곱한 사후 분포에서 역확산으로 바로 샘플한다. 시작과 끝 상태는 고정한다. 평면 로봇과 7자유도 팔에서, 보지 못한 장애물 환경에서도 확산 prior가 고차원 궤적 분포를 잘 담는다는 것을 보였다.</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생성형 궤적</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B.8.0 생성형 궤적의 계보: Diffuser에서 GoalFlow까지</a:t>
            </a:r>
            <a:r>
              <a:rPr sz="1050" b="0" i="0">
                <a:solidFill>
                  <a:srgbClr val="5A6478"/>
                </a:solidFill>
                <a:latin typeface="Arial"/>
                <a:ea typeface="Malgun Gothic"/>
                <a:cs typeface="Malgun Gothic"/>
              </a:rPr>
              <a:t>  5/5</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45 / 516</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GoalFlow — 목표점을 먼저 고르고, flow matching으로 궤적을 만든다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arXiv:2503.05689</a:t>
            </a:r>
            <a:r>
              <a:rPr sz="1050" b="0" i="0">
                <a:solidFill>
                  <a:srgbClr val="16213A"/>
                </a:solidFill>
                <a:latin typeface="Arial"/>
                <a:ea typeface="Malgun Gothic"/>
                <a:cs typeface="Malgun Gothic"/>
              </a:rPr>
              <a:t>, CVPR 2025, </a:t>
            </a:r>
            <a:r>
              <a:rPr sz="1050" b="0" i="0">
                <a:solidFill>
                  <a:srgbClr val="1D4ED8"/>
                </a:solidFill>
                <a:latin typeface="Arial"/>
                <a:ea typeface="Malgun Gothic"/>
                <a:cs typeface="Malgun Gothic"/>
                <a:hlinkClick r:id="rId4"/>
              </a:rPr>
              <a:t>코드</a:t>
            </a:r>
            <a:r>
              <a:rPr sz="1050" b="0" i="0">
                <a:solidFill>
                  <a:srgbClr val="16213A"/>
                </a:solidFill>
                <a:latin typeface="Arial"/>
                <a:ea typeface="Malgun Gothic"/>
                <a:cs typeface="Malgun Gothic"/>
              </a:rPr>
              <a:t>). 확산으로 만든 다봉 궤적은 퍼짐이 커서 고르기 어렵고, guidance가 장면과 어긋나면 품질이 떨어진다. GoalFlow는 조밀한 목표점 어휘에서 정답 끝점과의 거리 점수와 주행 가능 영역 점수로 목표점 하나를 고른다. 그 목표점과 BEV 특징을 조건으로 flow matching이 궤적 후보들을 내고, 마지막에 점수기가 최적 궤적을 고른다. NAVSIM에서 PDMS 90.3으로 다른 방법을 크게 앞섰고, 잡음 제거 한 스텝으로도 성능이 좋았다.</a:t>
            </a:r>
          </a:p>
        </p:txBody>
      </p:sp>
      <p:pic>
        <p:nvPicPr>
          <p:cNvPr id="6" name="Picture 5" descr="image.jpg"/>
          <p:cNvPicPr>
            <a:picLocks noChangeAspect="1"/>
          </p:cNvPicPr>
          <p:nvPr/>
        </p:nvPicPr>
        <p:blipFill>
          <a:blip r:embed="rId5"/>
          <a:stretch>
            <a:fillRect/>
          </a:stretch>
        </p:blipFill>
        <p:spPr>
          <a:xfrm>
            <a:off x="1016000" y="1982986"/>
            <a:ext cx="10160000" cy="3810000"/>
          </a:xfrm>
          <a:prstGeom prst="rect">
            <a:avLst/>
          </a:prstGeom>
        </p:spPr>
      </p:pic>
      <p:sp>
        <p:nvSpPr>
          <p:cNvPr id="7" name="TextBox 6"/>
          <p:cNvSpPr txBox="1"/>
          <p:nvPr/>
        </p:nvSpPr>
        <p:spPr>
          <a:xfrm>
            <a:off x="1016000" y="5831086"/>
            <a:ext cx="10160000" cy="142180"/>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GoalFlow (Fig. 2): 인식 모듈이 BEV 특징을 만들고, 목표점 모듈이 어휘에서 최적 목표점을 고르고, 계획 모듈이 가우시안에서 궤적 후보들을 생성한다. 마지막에 점수기가 하나를 고른다. 출처: arXiv:2503.05689</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생성형 궤적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B.8.0 생성형 궤적의 계보: Diffuser에서 GoalFlow까지</a:t>
            </a:r>
            <a:r>
              <a:rPr sz="1050" b="0" i="0">
                <a:solidFill>
                  <a:srgbClr val="5A6478"/>
                </a:solidFill>
                <a:latin typeface="Arial"/>
                <a:ea typeface="Malgun Gothic"/>
                <a:cs typeface="Malgun Gothic"/>
              </a:rPr>
              <a:t>  자세히: 생성형 계획의 guidance와 목표 고정</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46 / 516</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Diffuser의 guided 샘플링.</a:t>
            </a:r>
            <a:r>
              <a:rPr sz="1050" b="0" i="0">
                <a:solidFill>
                  <a:srgbClr val="16213A"/>
                </a:solidFill>
                <a:latin typeface="Arial"/>
                <a:ea typeface="Malgun Gothic"/>
                <a:cs typeface="Malgun Gothic"/>
              </a:rPr>
              <a:t> 역확산 한 스텝의 평균 </a:t>
            </a:r>
            <a:r>
              <a:rPr sz="1050" b="0" i="1">
                <a:solidFill>
                  <a:srgbClr val="16213A"/>
                </a:solidFill>
                <a:latin typeface="Arial"/>
                <a:ea typeface="Malgun Gothic"/>
                <a:cs typeface="Malgun Gothic"/>
              </a:rPr>
              <a:t>μ</a:t>
            </a:r>
            <a:r>
              <a:rPr sz="1050" b="0" i="0">
                <a:solidFill>
                  <a:srgbClr val="16213A"/>
                </a:solidFill>
                <a:latin typeface="Arial"/>
                <a:ea typeface="Malgun Gothic"/>
                <a:cs typeface="Malgun Gothic"/>
              </a:rPr>
              <a:t>를 목적 </a:t>
            </a:r>
            <a:r>
              <a:rPr sz="1050" b="0" i="1">
                <a:solidFill>
                  <a:srgbClr val="16213A"/>
                </a:solidFill>
                <a:latin typeface="Arial"/>
                <a:ea typeface="Malgun Gothic"/>
                <a:cs typeface="Malgun Gothic"/>
              </a:rPr>
              <a:t>𝒥</a:t>
            </a:r>
            <a:r>
              <a:rPr sz="1050" b="0" i="0">
                <a:solidFill>
                  <a:srgbClr val="16213A"/>
                </a:solidFill>
                <a:latin typeface="Arial"/>
                <a:ea typeface="Malgun Gothic"/>
                <a:cs typeface="Malgun Gothic"/>
              </a:rPr>
              <a:t>의 기울기 방향으로 옮기고, 매 스텝 계획의 첫 상태를 현재 상태 </a:t>
            </a:r>
            <a:r>
              <a:rPr sz="1050" b="0" i="1">
                <a:solidFill>
                  <a:srgbClr val="16213A"/>
                </a:solidFill>
                <a:latin typeface="Arial"/>
                <a:ea typeface="Malgun Gothic"/>
                <a:cs typeface="Malgun Gothic"/>
              </a:rPr>
              <a:t>s</a:t>
            </a:r>
            <a:r>
              <a:rPr sz="1050" b="0" i="0">
                <a:solidFill>
                  <a:srgbClr val="16213A"/>
                </a:solidFill>
                <a:latin typeface="Arial"/>
                <a:ea typeface="Malgun Gothic"/>
                <a:cs typeface="Malgun Gothic"/>
              </a:rPr>
              <a:t>로 덮어쓴다(inpainting). 계획의 첫 행동만 실행하고 다음 관측에서 다시 계획한다(배경 0.5).</a:t>
            </a:r>
          </a:p>
        </p:txBody>
      </p:sp>
      <p:pic>
        <p:nvPicPr>
          <p:cNvPr id="6" name="Picture 5" descr="image.png"/>
          <p:cNvPicPr>
            <a:picLocks noChangeAspect="1"/>
          </p:cNvPicPr>
          <p:nvPr/>
        </p:nvPicPr>
        <p:blipFill>
          <a:blip r:embed="rId3"/>
          <a:stretch>
            <a:fillRect/>
          </a:stretch>
        </p:blipFill>
        <p:spPr>
          <a:xfrm>
            <a:off x="609600" y="1766491"/>
            <a:ext cx="3346450" cy="241300"/>
          </a:xfrm>
          <a:prstGeom prst="rect">
            <a:avLst/>
          </a:prstGeom>
        </p:spPr>
      </p:pic>
      <p:sp>
        <p:nvSpPr>
          <p:cNvPr id="7" name="TextBox 6"/>
          <p:cNvSpPr txBox="1"/>
          <p:nvPr/>
        </p:nvSpPr>
        <p:spPr>
          <a:xfrm>
            <a:off x="609600" y="2044005"/>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MPD의 사후 분포.</a:t>
            </a:r>
            <a:r>
              <a:rPr sz="1050" b="0" i="0">
                <a:solidFill>
                  <a:srgbClr val="16213A"/>
                </a:solidFill>
                <a:latin typeface="Arial"/>
                <a:ea typeface="Malgun Gothic"/>
                <a:cs typeface="Malgun Gothic"/>
              </a:rPr>
              <a:t> 과제 조건 </a:t>
            </a:r>
            <a:r>
              <a:rPr sz="1050" b="0" i="1">
                <a:solidFill>
                  <a:srgbClr val="16213A"/>
                </a:solidFill>
                <a:latin typeface="Arial"/>
                <a:ea typeface="Malgun Gothic"/>
                <a:cs typeface="Malgun Gothic"/>
              </a:rPr>
              <a:t>𝒪</a:t>
            </a:r>
            <a:r>
              <a:rPr sz="1050" b="0" i="0">
                <a:solidFill>
                  <a:srgbClr val="16213A"/>
                </a:solidFill>
                <a:latin typeface="Arial"/>
                <a:ea typeface="Malgun Gothic"/>
                <a:cs typeface="Malgun Gothic"/>
              </a:rPr>
              <a:t>(충돌 없음, 매끄러움)의 likelihood를 비용의 지수로 두면, 사후 분포의 score는 확산 prior의 score에 비용 기울기를 더한 것이다.</a:t>
            </a:r>
          </a:p>
        </p:txBody>
      </p:sp>
      <p:pic>
        <p:nvPicPr>
          <p:cNvPr id="8" name="Picture 7" descr="image.png"/>
          <p:cNvPicPr>
            <a:picLocks noChangeAspect="1"/>
          </p:cNvPicPr>
          <p:nvPr/>
        </p:nvPicPr>
        <p:blipFill>
          <a:blip r:embed="rId4"/>
          <a:stretch>
            <a:fillRect/>
          </a:stretch>
        </p:blipFill>
        <p:spPr>
          <a:xfrm>
            <a:off x="609600" y="2349401"/>
            <a:ext cx="4575175" cy="434975"/>
          </a:xfrm>
          <a:prstGeom prst="rect">
            <a:avLst/>
          </a:prstGeom>
        </p:spPr>
      </p:pic>
      <p:sp>
        <p:nvSpPr>
          <p:cNvPr id="9" name="TextBox 8"/>
          <p:cNvSpPr txBox="1"/>
          <p:nvPr/>
        </p:nvSpPr>
        <p:spPr>
          <a:xfrm>
            <a:off x="609600" y="2794397"/>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GoalFlow의 목표점 점수.</a:t>
            </a:r>
            <a:r>
              <a:rPr sz="1050" b="0" i="0">
                <a:solidFill>
                  <a:srgbClr val="16213A"/>
                </a:solidFill>
                <a:latin typeface="Arial"/>
                <a:ea typeface="Malgun Gothic"/>
                <a:cs typeface="Malgun Gothic"/>
              </a:rPr>
              <a:t> 목표점 </a:t>
            </a:r>
            <a:r>
              <a:rPr sz="1050" b="0" i="1">
                <a:solidFill>
                  <a:srgbClr val="16213A"/>
                </a:solidFill>
                <a:latin typeface="Arial"/>
                <a:ea typeface="Malgun Gothic"/>
                <a:cs typeface="Malgun Gothic"/>
              </a:rPr>
              <a:t>gᵢ</a:t>
            </a:r>
            <a:r>
              <a:rPr sz="1050" b="0" i="0">
                <a:solidFill>
                  <a:srgbClr val="16213A"/>
                </a:solidFill>
                <a:latin typeface="Arial"/>
                <a:ea typeface="Malgun Gothic"/>
                <a:cs typeface="Malgun Gothic"/>
              </a:rPr>
              <a:t>마다 정답 끝점 </a:t>
            </a:r>
            <a:r>
              <a:rPr sz="1050" b="0" i="1">
                <a:solidFill>
                  <a:srgbClr val="16213A"/>
                </a:solidFill>
                <a:latin typeface="Arial"/>
                <a:ea typeface="Malgun Gothic"/>
                <a:cs typeface="Malgun Gothic"/>
              </a:rPr>
              <a:t>g^(gt)</a:t>
            </a:r>
            <a:r>
              <a:rPr sz="1050" b="0" i="0">
                <a:solidFill>
                  <a:srgbClr val="16213A"/>
                </a:solidFill>
                <a:latin typeface="Arial"/>
                <a:ea typeface="Malgun Gothic"/>
                <a:cs typeface="Malgun Gothic"/>
              </a:rPr>
              <a:t>와의 거리를 softmax로 바꾼 거리 점수와, 그 자리에 자차 상자를 놓았을 때 네 모서리가 모두 주행 가능 영역 안인지(0 또는 1)를 예측한다. 두 점수의 가중 로그 합이 가장 큰 목표점을 쓴다.</a:t>
            </a:r>
          </a:p>
        </p:txBody>
      </p:sp>
      <p:pic>
        <p:nvPicPr>
          <p:cNvPr id="10" name="Picture 9" descr="image.png"/>
          <p:cNvPicPr>
            <a:picLocks noChangeAspect="1"/>
          </p:cNvPicPr>
          <p:nvPr/>
        </p:nvPicPr>
        <p:blipFill>
          <a:blip r:embed="rId5"/>
          <a:stretch>
            <a:fillRect/>
          </a:stretch>
        </p:blipFill>
        <p:spPr>
          <a:xfrm>
            <a:off x="609600" y="3316288"/>
            <a:ext cx="4695825" cy="463550"/>
          </a:xfrm>
          <a:prstGeom prst="rect">
            <a:avLst/>
          </a:prstGeom>
        </p:spPr>
      </p:pic>
      <p:sp>
        <p:nvSpPr>
          <p:cNvPr id="11" name="TextBox 10"/>
          <p:cNvSpPr txBox="1"/>
          <p:nvPr/>
        </p:nvSpPr>
        <p:spPr>
          <a:xfrm>
            <a:off x="609600" y="3785394"/>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것.</a:t>
            </a:r>
            <a:r>
              <a:rPr sz="1050" b="0" i="0">
                <a:solidFill>
                  <a:srgbClr val="16213A"/>
                </a:solidFill>
                <a:latin typeface="Arial"/>
                <a:ea typeface="Malgun Gothic"/>
                <a:cs typeface="Malgun Gothic"/>
              </a:rPr>
              <a:t> Planner D는 GoalFlow와 구조가 같다. 목표점은 GuidancePlanner 경로 위 4 m 앞의 subgoal이고(B.10), flow matching이 후보 16개를 내고, 점수기는 TravMap 비용 적분, 치명 셀 벌점, 끝점의 cost-to-go로 하나를 고른다(B.8.3). 차이는 목표점을 고정 규칙으로 정한다는 것이다. 막다른 곳에서는 subgoal 후보 여러 개를 점수로 고르는 GoalFlow식 확장이 가능하다. Diffuser와 MPD의 비용 기울기 guidance는 Planner D의 </a:t>
            </a:r>
            <a:r>
              <a:rPr sz="1050" b="0" i="0">
                <a:solidFill>
                  <a:srgbClr val="16213A"/>
                </a:solidFill>
                <a:latin typeface="Consolas"/>
                <a:ea typeface="Malgun Gothic"/>
                <a:cs typeface="Malgun Gothic"/>
              </a:rPr>
              <a:t>guide_scale</a:t>
            </a:r>
            <a:r>
              <a:rPr sz="1050" b="0" i="0">
                <a:solidFill>
                  <a:srgbClr val="16213A"/>
                </a:solidFill>
                <a:latin typeface="Arial"/>
                <a:ea typeface="Malgun Gothic"/>
                <a:cs typeface="Malgun Gothic"/>
              </a:rPr>
              <a:t> 옵션과 같다.</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생성형 궤적</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B.8 시간·주변 에이전트·기구학을 함께 고려하는 생성형 궤적 Planner</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47 / 516</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출발점은 TIER IV의 </a:t>
            </a:r>
            <a:r>
              <a:rPr sz="1050" b="0" i="0">
                <a:solidFill>
                  <a:srgbClr val="1D4ED8"/>
                </a:solidFill>
                <a:latin typeface="Arial"/>
                <a:ea typeface="Malgun Gothic"/>
                <a:cs typeface="Malgun Gothic"/>
                <a:hlinkClick r:id="rId3"/>
              </a:rPr>
              <a:t>Autoware Diffusion Planner 영상</a:t>
            </a:r>
            <a:r>
              <a:rPr sz="1050" b="0" i="0">
                <a:solidFill>
                  <a:srgbClr val="16213A"/>
                </a:solidFill>
                <a:latin typeface="Arial"/>
                <a:ea typeface="Malgun Gothic"/>
                <a:cs typeface="Malgun Gothic"/>
              </a:rPr>
              <a:t>이다 (</a:t>
            </a:r>
            <a:r>
              <a:rPr sz="1050" b="0" i="0">
                <a:solidFill>
                  <a:srgbClr val="1D4ED8"/>
                </a:solidFill>
                <a:latin typeface="Arial"/>
                <a:ea typeface="Malgun Gothic"/>
                <a:cs typeface="Malgun Gothic"/>
                <a:hlinkClick r:id="rId4"/>
              </a:rPr>
              <a:t>PR #10957</a:t>
            </a:r>
            <a:r>
              <a:rPr sz="1050" b="0" i="0">
                <a:solidFill>
                  <a:srgbClr val="16213A"/>
                </a:solidFill>
                <a:latin typeface="Arial"/>
                <a:ea typeface="Malgun Gothic"/>
                <a:cs typeface="Malgun Gothic"/>
              </a:rPr>
              <a:t>, 2025-07 머지). 원 논문은 Zheng et al., </a:t>
            </a:r>
            <a:r>
              <a:rPr sz="1050" b="0" i="1">
                <a:solidFill>
                  <a:srgbClr val="1D4ED8"/>
                </a:solidFill>
                <a:latin typeface="Arial"/>
                <a:ea typeface="Malgun Gothic"/>
                <a:cs typeface="Malgun Gothic"/>
                <a:hlinkClick r:id="rId5"/>
              </a:rPr>
              <a:t>Diffusion-Based Planning for Autonomous Driving with Flexible Guidance</a:t>
            </a:r>
            <a:r>
              <a:rPr sz="1050" b="0" i="0">
                <a:solidFill>
                  <a:srgbClr val="16213A"/>
                </a:solidFill>
                <a:latin typeface="Arial"/>
                <a:ea typeface="Malgun Gothic"/>
                <a:cs typeface="Malgun Gothic"/>
              </a:rPr>
              <a:t>(ICLR 2025, </a:t>
            </a:r>
            <a:r>
              <a:rPr sz="1050" b="0" i="0">
                <a:solidFill>
                  <a:srgbClr val="1D4ED8"/>
                </a:solidFill>
                <a:latin typeface="Arial"/>
                <a:ea typeface="Malgun Gothic"/>
                <a:cs typeface="Malgun Gothic"/>
                <a:hlinkClick r:id="rId6"/>
              </a:rPr>
              <a:t>코드</a:t>
            </a:r>
            <a:r>
              <a:rPr sz="1050" b="0" i="0">
                <a:solidFill>
                  <a:srgbClr val="16213A"/>
                </a:solidFill>
                <a:latin typeface="Arial"/>
                <a:ea typeface="Malgun Gothic"/>
                <a:cs typeface="Malgun Gothic"/>
              </a:rPr>
              <a:t>)다. 이 Planner가 보여 준 네 가지 성질을 travplan에도 가져오고 싶었다.</a:t>
            </a:r>
          </a:p>
        </p:txBody>
      </p:sp>
      <p:sp>
        <p:nvSpPr>
          <p:cNvPr id="6" name="TextBox 5"/>
          <p:cNvSpPr txBox="1"/>
          <p:nvPr/>
        </p:nvSpPr>
        <p:spPr>
          <a:xfrm>
            <a:off x="609600" y="1766491"/>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이 절은 diffusion 표기로 쓰여 있고 Planner D(B.8.3)는 flow matching 표기를 쓴다. 두 쪽을 옮기는 환율과 규약은 </a:t>
            </a:r>
            <a:r>
              <a:rPr sz="1050" b="1" i="0">
                <a:solidFill>
                  <a:srgbClr val="16213A"/>
                </a:solidFill>
                <a:latin typeface="Arial"/>
                <a:ea typeface="Malgun Gothic"/>
                <a:cs typeface="Malgun Gothic"/>
              </a:rPr>
              <a:t>배경 0.6b</a:t>
            </a:r>
            <a:r>
              <a:rPr sz="1050" b="0" i="0">
                <a:solidFill>
                  <a:srgbClr val="16213A"/>
                </a:solidFill>
                <a:latin typeface="Arial"/>
                <a:ea typeface="Malgun Gothic"/>
                <a:cs typeface="Malgun Gothic"/>
              </a:rPr>
              <a:t>다.</a:t>
            </a:r>
          </a:p>
        </p:txBody>
      </p:sp>
      <p:sp>
        <p:nvSpPr>
          <p:cNvPr id="7" name="TextBox 6"/>
          <p:cNvSpPr txBox="1"/>
          <p:nvPr/>
        </p:nvSpPr>
        <p:spPr>
          <a:xfrm>
            <a:off x="609600" y="2071886"/>
            <a:ext cx="10972800" cy="942181"/>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1. </a:t>
            </a:r>
            <a:r>
              <a:rPr sz="1050" b="1" i="0">
                <a:solidFill>
                  <a:srgbClr val="16213A"/>
                </a:solidFill>
                <a:latin typeface="Arial"/>
                <a:ea typeface="Malgun Gothic"/>
                <a:cs typeface="Malgun Gothic"/>
              </a:rPr>
              <a:t>시간이 붙은 궤적</a:t>
            </a:r>
            <a:r>
              <a:rPr sz="1050" b="0" i="0">
                <a:solidFill>
                  <a:srgbClr val="16213A"/>
                </a:solidFill>
                <a:latin typeface="Arial"/>
                <a:ea typeface="Malgun Gothic"/>
                <a:cs typeface="Malgun Gothic"/>
              </a:rPr>
              <a:t> — "어디로"뿐 아니라 "언제 어디에"를 계획한다.</a:t>
            </a:r>
          </a:p>
          <a:p>
            <a:pPr>
              <a:spcBef>
                <a:spcPts val="200"/>
              </a:spcBef>
            </a:pPr>
            <a:r>
              <a:rPr sz="1050" b="0" i="0">
                <a:solidFill>
                  <a:srgbClr val="5A6478"/>
                </a:solidFill>
                <a:latin typeface="Arial"/>
                <a:ea typeface="Malgun Gothic"/>
                <a:cs typeface="Malgun Gothic"/>
              </a:rPr>
              <a:t>2. </a:t>
            </a:r>
            <a:r>
              <a:rPr sz="1050" b="1" i="0">
                <a:solidFill>
                  <a:srgbClr val="16213A"/>
                </a:solidFill>
                <a:latin typeface="Arial"/>
                <a:ea typeface="Malgun Gothic"/>
                <a:cs typeface="Malgun Gothic"/>
              </a:rPr>
              <a:t>주변 에이전트와 함께</a:t>
            </a:r>
            <a:r>
              <a:rPr sz="1050" b="0" i="0">
                <a:solidFill>
                  <a:srgbClr val="16213A"/>
                </a:solidFill>
                <a:latin typeface="Arial"/>
                <a:ea typeface="Malgun Gothic"/>
                <a:cs typeface="Malgun Gothic"/>
              </a:rPr>
              <a:t> — 앞차나 보행자의 움직임을 계획에 반영한다.</a:t>
            </a:r>
          </a:p>
          <a:p>
            <a:pPr>
              <a:spcBef>
                <a:spcPts val="200"/>
              </a:spcBef>
            </a:pPr>
            <a:r>
              <a:rPr sz="1050" b="0" i="0">
                <a:solidFill>
                  <a:srgbClr val="5A6478"/>
                </a:solidFill>
                <a:latin typeface="Arial"/>
                <a:ea typeface="Malgun Gothic"/>
                <a:cs typeface="Malgun Gothic"/>
              </a:rPr>
              <a:t>3. </a:t>
            </a:r>
            <a:r>
              <a:rPr sz="1050" b="1" i="0">
                <a:solidFill>
                  <a:srgbClr val="16213A"/>
                </a:solidFill>
                <a:latin typeface="Arial"/>
                <a:ea typeface="Malgun Gothic"/>
                <a:cs typeface="Malgun Gothic"/>
              </a:rPr>
              <a:t>목적지까지 잇지 않는 계획</a:t>
            </a:r>
            <a:r>
              <a:rPr sz="1050" b="0" i="0">
                <a:solidFill>
                  <a:srgbClr val="16213A"/>
                </a:solidFill>
                <a:latin typeface="Arial"/>
                <a:ea typeface="Malgun Gothic"/>
                <a:cs typeface="Malgun Gothic"/>
              </a:rPr>
              <a:t> — 앞의 몇 초만 계획하고 매 주기 다시 계획한다(receding horizon).</a:t>
            </a:r>
          </a:p>
          <a:p>
            <a:pPr>
              <a:spcBef>
                <a:spcPts val="200"/>
              </a:spcBef>
            </a:pPr>
            <a:r>
              <a:rPr sz="1050" b="0" i="0">
                <a:solidFill>
                  <a:srgbClr val="5A6478"/>
                </a:solidFill>
                <a:latin typeface="Arial"/>
                <a:ea typeface="Malgun Gothic"/>
                <a:cs typeface="Malgun Gothic"/>
              </a:rPr>
              <a:t>4. </a:t>
            </a:r>
            <a:r>
              <a:rPr sz="1050" b="1" i="0">
                <a:solidFill>
                  <a:srgbClr val="16213A"/>
                </a:solidFill>
                <a:latin typeface="Arial"/>
                <a:ea typeface="Malgun Gothic"/>
                <a:cs typeface="Malgun Gothic"/>
              </a:rPr>
              <a:t>기구학적으로 실행 가능한 출력</a:t>
            </a:r>
            <a:r>
              <a:rPr sz="1050" b="0" i="0">
                <a:solidFill>
                  <a:srgbClr val="16213A"/>
                </a:solidFill>
                <a:latin typeface="Arial"/>
                <a:ea typeface="Malgun Gothic"/>
                <a:cs typeface="Malgun Gothic"/>
              </a:rPr>
              <a:t> — 로봇이 실제로 따라갈 수 있는 궤적만 낸다.</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생성형 궤적</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B.8 시간·주변 에이전트·기구학을 함께 고려하는 생성형 궤적 Planner</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48 / 516</a:t>
            </a:r>
          </a:p>
        </p:txBody>
      </p:sp>
      <p:pic>
        <p:nvPicPr>
          <p:cNvPr id="5" name="Picture 4" descr="image.jpg"/>
          <p:cNvPicPr>
            <a:picLocks noChangeAspect="1"/>
          </p:cNvPicPr>
          <p:nvPr/>
        </p:nvPicPr>
        <p:blipFill>
          <a:blip r:embed="rId3"/>
          <a:stretch>
            <a:fillRect/>
          </a:stretch>
        </p:blipFill>
        <p:spPr>
          <a:xfrm>
            <a:off x="1616075" y="1244600"/>
            <a:ext cx="8959850" cy="4445000"/>
          </a:xfrm>
          <a:prstGeom prst="rect">
            <a:avLst/>
          </a:prstGeom>
        </p:spPr>
      </p:pic>
      <p:sp>
        <p:nvSpPr>
          <p:cNvPr id="6" name="TextBox 5"/>
          <p:cNvSpPr txBox="1"/>
          <p:nvPr/>
        </p:nvSpPr>
        <p:spPr>
          <a:xfrm>
            <a:off x="1616075" y="5727700"/>
            <a:ext cx="8959850" cy="142180"/>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Diffusion Planner (Fig. 1): 이웃 차량·차선·경로를 인코딩하고, ego와 이웃의 미래 궤적을 한 번에 denoise하는 DiT 구조. 출처: arXiv:2501.15564</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생성형 궤적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B.8 시간·주변 에이전트·기구학을 함께 고려하는 생성형 궤적 Planner</a:t>
            </a:r>
            <a:r>
              <a:rPr sz="1050" b="0" i="0">
                <a:solidFill>
                  <a:srgbClr val="5A6478"/>
                </a:solidFill>
                <a:latin typeface="Arial"/>
                <a:ea typeface="Malgun Gothic"/>
                <a:cs typeface="Malgun Gothic"/>
              </a:rPr>
              <a:t>  자세히: Diffusion Planner의 방법과 수식</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49 / 516</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문제 설정.</a:t>
            </a:r>
            <a:r>
              <a:rPr sz="1050" b="0" i="0">
                <a:solidFill>
                  <a:srgbClr val="16213A"/>
                </a:solidFill>
                <a:latin typeface="Arial"/>
                <a:ea typeface="Malgun Gothic"/>
                <a:cs typeface="Malgun Gothic"/>
              </a:rPr>
              <a:t> 계획을 "미래 궤적 생성"으로 다시 정의한다. 조건 </a:t>
            </a:r>
            <a:r>
              <a:rPr sz="1050" b="0" i="1">
                <a:solidFill>
                  <a:srgbClr val="16213A"/>
                </a:solidFill>
                <a:latin typeface="Arial"/>
                <a:ea typeface="Malgun Gothic"/>
                <a:cs typeface="Malgun Gothic"/>
              </a:rPr>
              <a:t>C</a:t>
            </a:r>
            <a:r>
              <a:rPr sz="1050" b="0" i="0">
                <a:solidFill>
                  <a:srgbClr val="16213A"/>
                </a:solidFill>
                <a:latin typeface="Arial"/>
                <a:ea typeface="Malgun Gothic"/>
                <a:cs typeface="Malgun Gothic"/>
              </a:rPr>
              <a:t>(현재 상태, 과거 이력, 차선, 경로)가 주어지면 자기 차량과 이웃 </a:t>
            </a:r>
            <a:r>
              <a:rPr sz="1050" b="0" i="1">
                <a:solidFill>
                  <a:srgbClr val="16213A"/>
                </a:solidFill>
                <a:latin typeface="Arial"/>
                <a:ea typeface="Malgun Gothic"/>
                <a:cs typeface="Malgun Gothic"/>
              </a:rPr>
              <a:t>M</a:t>
            </a:r>
            <a:r>
              <a:rPr sz="1050" b="0" i="0">
                <a:solidFill>
                  <a:srgbClr val="16213A"/>
                </a:solidFill>
                <a:latin typeface="Arial"/>
                <a:ea typeface="Malgun Gothic"/>
                <a:cs typeface="Malgun Gothic"/>
              </a:rPr>
              <a:t>대의 미래를 </a:t>
            </a:r>
            <a:r>
              <a:rPr sz="1050" b="1" i="0">
                <a:solidFill>
                  <a:srgbClr val="16213A"/>
                </a:solidFill>
                <a:latin typeface="Arial"/>
                <a:ea typeface="Malgun Gothic"/>
                <a:cs typeface="Malgun Gothic"/>
              </a:rPr>
              <a:t>한 텐서로</a:t>
            </a:r>
            <a:r>
              <a:rPr sz="1050" b="0" i="0">
                <a:solidFill>
                  <a:srgbClr val="16213A"/>
                </a:solidFill>
                <a:latin typeface="Arial"/>
                <a:ea typeface="Malgun Gothic"/>
                <a:cs typeface="Malgun Gothic"/>
              </a:rPr>
              <a:t> 생성한다. 이웃의 미래를 예측하는 것과 자기 계획이 같은 분포에서 나오므로 서로의 상호작용이 반영된다.</a:t>
            </a:r>
          </a:p>
        </p:txBody>
      </p:sp>
      <p:pic>
        <p:nvPicPr>
          <p:cNvPr id="6" name="Picture 5" descr="image.png"/>
          <p:cNvPicPr>
            <a:picLocks noChangeAspect="1"/>
          </p:cNvPicPr>
          <p:nvPr/>
        </p:nvPicPr>
        <p:blipFill>
          <a:blip r:embed="rId3"/>
          <a:stretch>
            <a:fillRect/>
          </a:stretch>
        </p:blipFill>
        <p:spPr>
          <a:xfrm>
            <a:off x="609600" y="1766491"/>
            <a:ext cx="3448050" cy="241300"/>
          </a:xfrm>
          <a:prstGeom prst="rect">
            <a:avLst/>
          </a:prstGeom>
        </p:spPr>
      </p:pic>
      <p:sp>
        <p:nvSpPr>
          <p:cNvPr id="7" name="TextBox 6"/>
          <p:cNvSpPr txBox="1"/>
          <p:nvPr/>
        </p:nvSpPr>
        <p:spPr>
          <a:xfrm>
            <a:off x="609600" y="2044005"/>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구조.</a:t>
            </a:r>
            <a:r>
              <a:rPr sz="1050" b="0" i="0">
                <a:solidFill>
                  <a:srgbClr val="16213A"/>
                </a:solidFill>
                <a:latin typeface="Arial"/>
                <a:ea typeface="Malgun Gothic"/>
                <a:cs typeface="Malgun Gothic"/>
              </a:rPr>
              <a:t> DiT 블록 3개(hidden 192). 노이즈 섞인 미래 궤적에 각 차량의 현재 상태를 이어 붙여 시작점을 고정하고, 차량끼리는 self-attention, 과거 이력·차선은 MLP-Mixer로 인코딩해 cross-attention으로 넣는다. 경로(route) 정보는 확산 시각 임베딩에 더해 adaLN으로 모든 블록을 조절한다. 자기 차량의 속도·가속 정보는 일부러 뺀다(폐루프 성능이 좋아진다고 보고).</a:t>
            </a:r>
          </a:p>
        </p:txBody>
      </p:sp>
      <p:sp>
        <p:nvSpPr>
          <p:cNvPr id="8" name="TextBox 7"/>
          <p:cNvSpPr txBox="1"/>
          <p:nvPr/>
        </p:nvSpPr>
        <p:spPr>
          <a:xfrm>
            <a:off x="609600" y="2565896"/>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학습과 추론.</a:t>
            </a:r>
            <a:r>
              <a:rPr sz="1050" b="0" i="0">
                <a:solidFill>
                  <a:srgbClr val="16213A"/>
                </a:solidFill>
                <a:latin typeface="Arial"/>
                <a:ea typeface="Malgun Gothic"/>
                <a:cs typeface="Malgun Gothic"/>
              </a:rPr>
              <a:t> 배경 0.5의 확산 모델이고, 추론은 DPM-Solver++ 10스텝으로 8초 × 10 Hz 궤적을 A6000에서 약 20 Hz로 낸다. 학습 데이터에는 현재 상태에 작은 섭동을 주고 5차 다항식으로 정답 2초 지점까지 이어 붙여, 조금 벗어난 상태에서 돌아오는 법을 배우게 한다.</a:t>
            </a:r>
          </a:p>
        </p:txBody>
      </p:sp>
      <p:sp>
        <p:nvSpPr>
          <p:cNvPr id="9" name="TextBox 8"/>
          <p:cNvSpPr txBox="1"/>
          <p:nvPr/>
        </p:nvSpPr>
        <p:spPr>
          <a:xfrm>
            <a:off x="609600" y="3087787"/>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Guidance(재학습 없이 행동 바꾸기).</a:t>
            </a:r>
            <a:r>
              <a:rPr sz="1050" b="0" i="0">
                <a:solidFill>
                  <a:srgbClr val="16213A"/>
                </a:solidFill>
                <a:latin typeface="Arial"/>
                <a:ea typeface="Malgun Gothic"/>
                <a:cs typeface="Malgun Gothic"/>
              </a:rPr>
              <a:t> 목표 분포를 </a:t>
            </a:r>
            <a:r>
              <a:rPr sz="1050" b="0" i="1">
                <a:solidFill>
                  <a:srgbClr val="16213A"/>
                </a:solidFill>
                <a:latin typeface="Arial"/>
                <a:ea typeface="Malgun Gothic"/>
                <a:cs typeface="Malgun Gothic"/>
              </a:rPr>
              <a:t>p₀(x) ∝ q₀(x) e^(-ℰ(x))</a:t>
            </a:r>
            <a:r>
              <a:rPr sz="1050" b="0" i="0">
                <a:solidFill>
                  <a:srgbClr val="16213A"/>
                </a:solidFill>
                <a:latin typeface="Arial"/>
                <a:ea typeface="Malgun Gothic"/>
                <a:cs typeface="Malgun Gothic"/>
              </a:rPr>
              <a:t>로 두고, 에너지 기울기를 예측한 깨끗한 궤적에서 계산한다(DPS). 충돌 에너지는 이웃과의 부호 거리 </a:t>
            </a:r>
            <a:r>
              <a:rPr sz="1050" b="0" i="1">
                <a:solidFill>
                  <a:srgbClr val="16213A"/>
                </a:solidFill>
                <a:latin typeface="Arial"/>
                <a:ea typeface="Malgun Gothic"/>
                <a:cs typeface="Malgun Gothic"/>
              </a:rPr>
              <a:t>D</a:t>
            </a:r>
            <a:r>
              <a:rPr sz="1050" b="0" i="0">
                <a:solidFill>
                  <a:srgbClr val="16213A"/>
                </a:solidFill>
                <a:latin typeface="Arial"/>
                <a:ea typeface="Malgun Gothic"/>
                <a:cs typeface="Malgun Gothic"/>
              </a:rPr>
              <a:t>로 정의한다(</a:t>
            </a:r>
            <a:r>
              <a:rPr sz="1050" b="0" i="1">
                <a:solidFill>
                  <a:srgbClr val="16213A"/>
                </a:solidFill>
                <a:latin typeface="Arial"/>
                <a:ea typeface="Malgun Gothic"/>
                <a:cs typeface="Malgun Gothic"/>
              </a:rPr>
              <a:t>Ψ(x) = e^x - x</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r</a:t>
            </a:r>
            <a:r>
              <a:rPr sz="1050" b="0" i="0">
                <a:solidFill>
                  <a:srgbClr val="16213A"/>
                </a:solidFill>
                <a:latin typeface="Arial"/>
                <a:ea typeface="Malgun Gothic"/>
                <a:cs typeface="Malgun Gothic"/>
              </a:rPr>
              <a:t>: 기울기가 생기는 최대 거리).</a:t>
            </a:r>
          </a:p>
        </p:txBody>
      </p:sp>
      <p:pic>
        <p:nvPicPr>
          <p:cNvPr id="10" name="Picture 9" descr="image.png"/>
          <p:cNvPicPr>
            <a:picLocks noChangeAspect="1"/>
          </p:cNvPicPr>
          <p:nvPr/>
        </p:nvPicPr>
        <p:blipFill>
          <a:blip r:embed="rId4"/>
          <a:stretch>
            <a:fillRect/>
          </a:stretch>
        </p:blipFill>
        <p:spPr>
          <a:xfrm>
            <a:off x="609600" y="3609677"/>
            <a:ext cx="3873500" cy="498475"/>
          </a:xfrm>
          <a:prstGeom prst="rect">
            <a:avLst/>
          </a:prstGeom>
        </p:spPr>
      </p:pic>
      <p:sp>
        <p:nvSpPr>
          <p:cNvPr id="11" name="TextBox 10"/>
          <p:cNvSpPr txBox="1"/>
          <p:nvPr/>
        </p:nvSpPr>
        <p:spPr>
          <a:xfrm>
            <a:off x="609600" y="4108847"/>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같은 방식으로 목표 속도 유지, 승차감(종방향 jerk 한계 초과분), 주행 가능 영역 이탈 에너지를 더해 조합할 수 있다.</a:t>
            </a:r>
          </a:p>
        </p:txBody>
      </p:sp>
      <p:sp>
        <p:nvSpPr>
          <p:cNvPr id="12" name="TextBox 11"/>
          <p:cNvSpPr txBox="1"/>
          <p:nvPr/>
        </p:nvSpPr>
        <p:spPr>
          <a:xfrm>
            <a:off x="609600" y="4414242"/>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것.</a:t>
            </a:r>
            <a:r>
              <a:rPr sz="1050" b="0" i="0">
                <a:solidFill>
                  <a:srgbClr val="16213A"/>
                </a:solidFill>
                <a:latin typeface="Arial"/>
                <a:ea typeface="Malgun Gothic"/>
                <a:cs typeface="Malgun Gothic"/>
              </a:rPr>
              <a:t> Planner D의 비용 유도(</a:t>
            </a:r>
            <a:r>
              <a:rPr sz="1050" b="0" i="0">
                <a:solidFill>
                  <a:srgbClr val="16213A"/>
                </a:solidFill>
                <a:latin typeface="Consolas"/>
                <a:ea typeface="Malgun Gothic"/>
                <a:cs typeface="Malgun Gothic"/>
              </a:rPr>
              <a:t>planner_dg</a:t>
            </a:r>
            <a:r>
              <a:rPr sz="1050" b="0" i="0">
                <a:solidFill>
                  <a:srgbClr val="16213A"/>
                </a:solidFill>
                <a:latin typeface="Arial"/>
                <a:ea typeface="Malgun Gothic"/>
                <a:cs typeface="Malgun Gothic"/>
              </a:rPr>
              <a:t>)가 이 DPS guidance를 flow matching에 옮긴 것이다. 이웃과의 공동 생성은 Planner D의 2단계 후보다.</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생성형 궤적</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B.8 시간·주변 에이전트·기구학을 함께 고려하는 생성형 궤적 Planner</a:t>
            </a:r>
            <a:r>
              <a:rPr sz="1050" b="0" i="0">
                <a:solidFill>
                  <a:srgbClr val="5A6478"/>
                </a:solidFill>
                <a:latin typeface="Arial"/>
                <a:ea typeface="Malgun Gothic"/>
                <a:cs typeface="Malgun Gothic"/>
              </a:rPr>
              <a:t>  1/5</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50 / 516</a:t>
            </a:r>
          </a:p>
        </p:txBody>
      </p:sp>
      <p:sp>
        <p:nvSpPr>
          <p:cNvPr id="5" name="TextBox 4"/>
          <p:cNvSpPr txBox="1"/>
          <p:nvPr/>
        </p:nvSpPr>
        <p:spPr>
          <a:xfrm>
            <a:off x="717550" y="1244600"/>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B.8.1 Diffusion Planner는 네 가지를 어떻게 만드나</a:t>
            </a:r>
          </a:p>
        </p:txBody>
      </p:sp>
      <p:graphicFrame>
        <p:nvGraphicFramePr>
          <p:cNvPr id="6" name="Table 5"/>
          <p:cNvGraphicFramePr>
            <a:graphicFrameLocks noGrp="1"/>
          </p:cNvGraphicFramePr>
          <p:nvPr/>
        </p:nvGraphicFramePr>
        <p:xfrm>
          <a:off x="609600" y="1547812"/>
          <a:ext cx="10966451" cy="1424304"/>
        </p:xfrm>
        <a:graphic>
          <a:graphicData uri="http://schemas.openxmlformats.org/drawingml/2006/table">
            <a:tbl>
              <a:tblPr firstRow="1" bandRow="1">
                <a:tableStyleId>{5C22544A-7EE6-4342-B048-85BDC9FD1C3A}</a:tableStyleId>
              </a:tblPr>
              <a:tblGrid>
                <a:gridCol w="884734"/>
                <a:gridCol w="6245126"/>
                <a:gridCol w="3836591"/>
              </a:tblGrid>
              <a:tr h="197088">
                <a:tc>
                  <a:txBody>
                    <a:bodyPr wrap="square"/>
                    <a:lstStyle/>
                    <a:p>
                      <a:r>
                        <a:rPr sz="800" b="1" i="0">
                          <a:solidFill>
                            <a:srgbClr val="F4F1EA"/>
                          </a:solidFill>
                          <a:latin typeface="Arial"/>
                          <a:ea typeface="Malgun Gothic"/>
                          <a:cs typeface="Malgun Gothic"/>
                        </a:rPr>
                        <a:t>성질</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Diffusion Planner의 방법</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travplan</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시간이 붙은 궤적</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8초 × 10 Hz = 80 스텝</a:t>
                      </a:r>
                      <a:r>
                        <a:rPr sz="800" b="0" i="0">
                          <a:solidFill>
                            <a:srgbClr val="16213A"/>
                          </a:solidFill>
                          <a:latin typeface="Arial"/>
                          <a:ea typeface="Malgun Gothic"/>
                          <a:cs typeface="Malgun Gothic"/>
                        </a:rPr>
                        <a:t>의 (x, y, cos ψ, sin ψ)를 내고 20 Hz로 재계획</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Planner D가 4초 × 10 Hz 궤적(</a:t>
                      </a:r>
                      <a:r>
                        <a:rPr sz="800" b="0" i="0">
                          <a:solidFill>
                            <a:srgbClr val="16213A"/>
                          </a:solidFill>
                          <a:latin typeface="Consolas"/>
                          <a:ea typeface="Malgun Gothic"/>
                          <a:cs typeface="Malgun Gothic"/>
                        </a:rPr>
                        <a:t>PlanResult.times</a:t>
                      </a:r>
                      <a:r>
                        <a:rPr sz="800" b="0" i="0">
                          <a:solidFill>
                            <a:srgbClr val="16213A"/>
                          </a:solidFill>
                          <a:latin typeface="Arial"/>
                          <a:ea typeface="Malgun Gothic"/>
                          <a:cs typeface="Malgun Gothic"/>
                        </a:rPr>
                        <a:t>)을 낸다</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주변 에이전트</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가까운 </a:t>
                      </a:r>
                      <a:r>
                        <a:rPr sz="800" b="1" i="0">
                          <a:solidFill>
                            <a:srgbClr val="16213A"/>
                          </a:solidFill>
                          <a:latin typeface="Arial"/>
                          <a:ea typeface="Malgun Gothic"/>
                          <a:cs typeface="Malgun Gothic"/>
                        </a:rPr>
                        <a:t>이웃 10대의 미래 궤적을 자기 궤적과 한 텐서로 함께 denoise</a:t>
                      </a:r>
                      <a:r>
                        <a:rPr sz="800" b="0" i="0">
                          <a:solidFill>
                            <a:srgbClr val="16213A"/>
                          </a:solidFill>
                          <a:latin typeface="Arial"/>
                          <a:ea typeface="Malgun Gothic"/>
                          <a:cs typeface="Malgun Gothic"/>
                        </a:rPr>
                        <a:t>(예측과 계획을 동시에). "앞차가 양보할 것" 같은 상호작용이 계획에 들어간다</a:t>
                      </a:r>
                    </a:p>
                  </a:txBody>
                  <a:tcPr marL="63500" marR="63500" marT="12700" marB="12700">
                    <a:solidFill>
                      <a:srgbClr val="F3F0E8"/>
                    </a:solidFill>
                  </a:tcPr>
                </a:tc>
                <a:tc>
                  <a:txBody>
                    <a:bodyPr wrap="square"/>
                    <a:lstStyle/>
                    <a:p>
                      <a:r>
                        <a:rPr sz="800" b="0" i="0">
                          <a:solidFill>
                            <a:srgbClr val="16213A"/>
                          </a:solidFill>
                          <a:latin typeface="Consolas"/>
                          <a:ea typeface="Malgun Gothic"/>
                          <a:cs typeface="Malgun Gothic"/>
                        </a:rPr>
                        <a:t>DynamicObstacles</a:t>
                      </a:r>
                      <a:r>
                        <a:rPr sz="800" b="0" i="0">
                          <a:solidFill>
                            <a:srgbClr val="16213A"/>
                          </a:solidFill>
                          <a:latin typeface="Arial"/>
                          <a:ea typeface="Malgun Gothic"/>
                          <a:cs typeface="Malgun Gothic"/>
                        </a:rPr>
                        <a:t> 등속 예측을 Controller </a:t>
                      </a:r>
                      <a:r>
                        <a:rPr sz="800" b="0" i="0">
                          <a:solidFill>
                            <a:srgbClr val="16213A"/>
                          </a:solidFill>
                          <a:latin typeface="Consolas"/>
                          <a:ea typeface="Malgun Gothic"/>
                          <a:cs typeface="Malgun Gothic"/>
                        </a:rPr>
                        <a:t>RiskCost</a:t>
                      </a:r>
                      <a:r>
                        <a:rPr sz="800" b="0" i="0">
                          <a:solidFill>
                            <a:srgbClr val="16213A"/>
                          </a:solidFill>
                          <a:latin typeface="Arial"/>
                          <a:ea typeface="Malgun Gothic"/>
                          <a:cs typeface="Malgun Gothic"/>
                        </a:rPr>
                        <a:t>가 채점(예측 → 계획 한 방향)</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목적지 비연결</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목표점 대신 </a:t>
                      </a:r>
                      <a:r>
                        <a:rPr sz="800" b="1" i="0">
                          <a:solidFill>
                            <a:srgbClr val="16213A"/>
                          </a:solidFill>
                          <a:latin typeface="Arial"/>
                          <a:ea typeface="Malgun Gothic"/>
                          <a:cs typeface="Malgun Gothic"/>
                        </a:rPr>
                        <a:t>경로(차선 시퀀스)</a:t>
                      </a:r>
                      <a:r>
                        <a:rPr sz="800" b="0" i="0">
                          <a:solidFill>
                            <a:srgbClr val="16213A"/>
                          </a:solidFill>
                          <a:latin typeface="Arial"/>
                          <a:ea typeface="Malgun Gothic"/>
                          <a:cs typeface="Malgun Gothic"/>
                        </a:rPr>
                        <a:t>를 조건으로 넣고 8초 앞까지만 생성. v1.0부터 경로 끝 처리를 학습</a:t>
                      </a:r>
                    </a:p>
                  </a:txBody>
                  <a:tcPr marL="63500" marR="63500" marT="12700" marB="12700">
                    <a:solidFill>
                      <a:srgbClr val="FFFDF8"/>
                    </a:solidFill>
                  </a:tcPr>
                </a:tc>
                <a:tc>
                  <a:txBody>
                    <a:bodyPr wrap="square"/>
                    <a:lstStyle/>
                    <a:p>
                      <a:r>
                        <a:rPr sz="800" b="0" i="0">
                          <a:solidFill>
                            <a:srgbClr val="16213A"/>
                          </a:solidFill>
                          <a:latin typeface="Consolas"/>
                          <a:ea typeface="Malgun Gothic"/>
                          <a:cs typeface="Malgun Gothic"/>
                        </a:rPr>
                        <a:t>GlobalGuidance</a:t>
                      </a:r>
                      <a:r>
                        <a:rPr sz="800" b="0" i="0">
                          <a:solidFill>
                            <a:srgbClr val="16213A"/>
                          </a:solidFill>
                          <a:latin typeface="Arial"/>
                          <a:ea typeface="Malgun Gothic"/>
                          <a:cs typeface="Malgun Gothic"/>
                        </a:rPr>
                        <a:t> subgoal을 조건으로 받는다</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기구학</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네트워크가 보장하지는 않는다. quintic 보간으로 학습 증강을 만들고, 출력을 </a:t>
                      </a:r>
                      <a:r>
                        <a:rPr sz="800" b="1" i="0">
                          <a:solidFill>
                            <a:srgbClr val="16213A"/>
                          </a:solidFill>
                          <a:latin typeface="Arial"/>
                          <a:ea typeface="Malgun Gothic"/>
                          <a:cs typeface="Malgun Gothic"/>
                        </a:rPr>
                        <a:t>LQR 추종기</a:t>
                      </a:r>
                      <a:r>
                        <a:rPr sz="800" b="0" i="0">
                          <a:solidFill>
                            <a:srgbClr val="16213A"/>
                          </a:solidFill>
                          <a:latin typeface="Arial"/>
                          <a:ea typeface="Malgun Gothic"/>
                          <a:cs typeface="Malgun Gothic"/>
                        </a:rPr>
                        <a:t>에 넘기며, 선택적 후처리가 후보를 채점</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Planner D는 </a:t>
                      </a:r>
                      <a:r>
                        <a:rPr sz="800" b="0" i="0">
                          <a:solidFill>
                            <a:srgbClr val="16213A"/>
                          </a:solidFill>
                          <a:latin typeface="Consolas"/>
                          <a:ea typeface="Malgun Gothic"/>
                          <a:cs typeface="Malgun Gothic"/>
                        </a:rPr>
                        <a:t>SwerveModel</a:t>
                      </a:r>
                      <a:r>
                        <a:rPr sz="800" b="0" i="0">
                          <a:solidFill>
                            <a:srgbClr val="16213A"/>
                          </a:solidFill>
                          <a:latin typeface="Arial"/>
                          <a:ea typeface="Malgun Gothic"/>
                          <a:cs typeface="Malgun Gothic"/>
                        </a:rPr>
                        <a:t>로 굴려 </a:t>
                      </a:r>
                      <a:r>
                        <a:rPr sz="800" b="1" i="0">
                          <a:solidFill>
                            <a:srgbClr val="16213A"/>
                          </a:solidFill>
                          <a:latin typeface="Arial"/>
                          <a:ea typeface="Malgun Gothic"/>
                          <a:cs typeface="Malgun Gothic"/>
                        </a:rPr>
                        <a:t>만들 때부터 실행 가능</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실행 중 제약 추가</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classifier guidance</a:t>
                      </a:r>
                      <a:r>
                        <a:rPr sz="800" b="0" i="0">
                          <a:solidFill>
                            <a:srgbClr val="16213A"/>
                          </a:solidFill>
                          <a:latin typeface="Arial"/>
                          <a:ea typeface="Malgun Gothic"/>
                          <a:cs typeface="Malgun Gothic"/>
                        </a:rPr>
                        <a:t> — 재학습 없이 충돌·차선 이탈·목표 속도·승차감 에너지의 기울기를 denoise 도중 주입</a:t>
                      </a:r>
                    </a:p>
                  </a:txBody>
                  <a:tcPr marL="63500" marR="63500" marT="12700" marB="12700">
                    <a:solidFill>
                      <a:srgbClr val="FFFDF8"/>
                    </a:solidFill>
                  </a:tcPr>
                </a:tc>
                <a:tc>
                  <a:txBody>
                    <a:bodyPr wrap="square"/>
                    <a:lstStyle/>
                    <a:p>
                      <a:r>
                        <a:rPr sz="800" b="0" i="0">
                          <a:solidFill>
                            <a:srgbClr val="16213A"/>
                          </a:solidFill>
                          <a:latin typeface="Consolas"/>
                          <a:ea typeface="Malgun Gothic"/>
                          <a:cs typeface="Malgun Gothic"/>
                        </a:rPr>
                        <a:t>planner_dg</a:t>
                      </a:r>
                      <a:r>
                        <a:rPr sz="800" b="0" i="0">
                          <a:solidFill>
                            <a:srgbClr val="16213A"/>
                          </a:solidFill>
                          <a:latin typeface="Arial"/>
                          <a:ea typeface="Malgun Gothic"/>
                          <a:cs typeface="Malgun Gothic"/>
                        </a:rPr>
                        <a:t>가 TravMap 비용 기울기로 같은 일을 한다</a:t>
                      </a:r>
                    </a:p>
                  </a:txBody>
                  <a:tcPr marL="63500" marR="63500" marT="12700" marB="12700">
                    <a:solidFill>
                      <a:srgbClr val="FFFDF8"/>
                    </a:solidFill>
                  </a:tcPr>
                </a:tc>
              </a:tr>
            </a:tbl>
          </a:graphicData>
        </a:graphic>
      </p:graphicFrame>
      <p:sp>
        <p:nvSpPr>
          <p:cNvPr id="7" name="TextBox 6"/>
          <p:cNvSpPr txBox="1"/>
          <p:nvPr/>
        </p:nvSpPr>
        <p:spPr>
          <a:xfrm>
            <a:off x="609600" y="3423444"/>
            <a:ext cx="10972800" cy="649486"/>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그 밖의 수치: DiT 3블록, hidden 192, DPM-Solver++ 10 스텝, A6000에서 0.05초. nuPlan Test14-hard(비반응)에서 75.99로 PDM-Closed(65.08)보다 높고, 후처리를 붙이면 78.87이다. </a:t>
            </a:r>
            <a:r>
              <a:rPr sz="1050" b="1" i="0">
                <a:solidFill>
                  <a:srgbClr val="16213A"/>
                </a:solidFill>
                <a:latin typeface="Arial"/>
                <a:ea typeface="Malgun Gothic"/>
                <a:cs typeface="Malgun Gothic"/>
              </a:rPr>
              <a:t>Haomo 배달 차량(폭 1.03 m, 자전거도로, 보행자 상호작용 잦음)의 실제 주행 200시간 데이터에서 92.08</a:t>
            </a:r>
            <a:r>
              <a:rPr sz="1050" b="0" i="0">
                <a:solidFill>
                  <a:srgbClr val="16213A"/>
                </a:solidFill>
                <a:latin typeface="Arial"/>
                <a:ea typeface="Malgun Gothic"/>
                <a:cs typeface="Malgun Gothic"/>
              </a:rPr>
              <a:t>을 기록했다. travplan 도메인에 가장 가까운 검증이다. Autoware 쪽 v4.0(2026-03)은 </a:t>
            </a:r>
            <a:r>
              <a:rPr sz="1050" b="1" i="0">
                <a:solidFill>
                  <a:srgbClr val="16213A"/>
                </a:solidFill>
                <a:latin typeface="Arial"/>
                <a:ea typeface="Malgun Gothic"/>
                <a:cs typeface="Malgun Gothic"/>
              </a:rPr>
              <a:t>Real-Time Chunking</a:t>
            </a:r>
            <a:r>
              <a:rPr sz="1050" b="0" i="0">
                <a:solidFill>
                  <a:srgbClr val="16213A"/>
                </a:solidFill>
                <a:latin typeface="Arial"/>
                <a:ea typeface="Malgun Gothic"/>
                <a:cs typeface="Malgun Gothic"/>
              </a:rPr>
              <a:t>(직전 예측의 앞 N 스텝을 재사용)으로 재계획 사이의 궤적 연속성을 확보했다.</a:t>
            </a:r>
          </a:p>
        </p:txBody>
      </p:sp>
      <p:sp>
        <p:nvSpPr>
          <p:cNvPr id="8" name="TextBox 7"/>
          <p:cNvSpPr txBox="1"/>
          <p:nvPr/>
        </p:nvSpPr>
        <p:spPr>
          <a:xfrm>
            <a:off x="717550" y="4161830"/>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B.8.2 후속 연구: 기구학·안전·속도를 어떻게 보강하나</a:t>
            </a:r>
          </a:p>
        </p:txBody>
      </p:sp>
      <p:sp>
        <p:nvSpPr>
          <p:cNvPr id="9" name="TextBox 8"/>
          <p:cNvSpPr txBox="1"/>
          <p:nvPr/>
        </p:nvSpPr>
        <p:spPr>
          <a:xfrm>
            <a:off x="609600" y="4465042"/>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읽기 전에.</a:t>
            </a:r>
            <a:r>
              <a:rPr sz="1050" b="0" i="0">
                <a:solidFill>
                  <a:srgbClr val="16213A"/>
                </a:solidFill>
                <a:latin typeface="Arial"/>
                <a:ea typeface="Malgun Gothic"/>
                <a:cs typeface="Malgun Gothic"/>
              </a:rPr>
              <a:t> 이 표에는 diffusion과 flow matching이 섞여 있고 "몇 스텝이냐"가 거의 모든 행의 자랑거리다. 표기 사이의 환율과 규약은 </a:t>
            </a:r>
            <a:r>
              <a:rPr sz="1050" b="1" i="0">
                <a:solidFill>
                  <a:srgbClr val="16213A"/>
                </a:solidFill>
                <a:latin typeface="Arial"/>
                <a:ea typeface="Malgun Gothic"/>
                <a:cs typeface="Malgun Gothic"/>
              </a:rPr>
              <a:t>배경 0.6b</a:t>
            </a:r>
            <a:r>
              <a:rPr sz="1050" b="0" i="0">
                <a:solidFill>
                  <a:srgbClr val="16213A"/>
                </a:solidFill>
                <a:latin typeface="Arial"/>
                <a:ea typeface="Malgun Gothic"/>
                <a:cs typeface="Malgun Gothic"/>
              </a:rPr>
              <a:t>, 스텝 수를 줄이는 세 길(적분기·시작점 당기기·증류)과 증류가 치르는 다양성 비용은 </a:t>
            </a:r>
            <a:r>
              <a:rPr sz="1050" b="1" i="0">
                <a:solidFill>
                  <a:srgbClr val="16213A"/>
                </a:solidFill>
                <a:latin typeface="Arial"/>
                <a:ea typeface="Malgun Gothic"/>
                <a:cs typeface="Malgun Gothic"/>
              </a:rPr>
              <a:t>배경 0.7b</a:t>
            </a:r>
            <a:r>
              <a:rPr sz="1050" b="0" i="0">
                <a:solidFill>
                  <a:srgbClr val="16213A"/>
                </a:solidFill>
                <a:latin typeface="Arial"/>
                <a:ea typeface="Malgun Gothic"/>
                <a:cs typeface="Malgun Gothic"/>
              </a:rPr>
              <a:t>에 있다.</a:t>
            </a:r>
          </a:p>
        </p:txBody>
      </p:sp>
      <p:graphicFrame>
        <p:nvGraphicFramePr>
          <p:cNvPr id="10" name="Table 9"/>
          <p:cNvGraphicFramePr>
            <a:graphicFrameLocks noGrp="1"/>
          </p:cNvGraphicFramePr>
          <p:nvPr/>
        </p:nvGraphicFramePr>
        <p:xfrm>
          <a:off x="609600" y="4986933"/>
          <a:ext cx="10966450" cy="833040"/>
        </p:xfrm>
        <a:graphic>
          <a:graphicData uri="http://schemas.openxmlformats.org/drawingml/2006/table">
            <a:tbl>
              <a:tblPr firstRow="1" bandRow="1">
                <a:tableStyleId>{5C22544A-7EE6-4342-B048-85BDC9FD1C3A}</a:tableStyleId>
              </a:tblPr>
              <a:tblGrid>
                <a:gridCol w="1568450"/>
                <a:gridCol w="2769791"/>
                <a:gridCol w="2373610"/>
                <a:gridCol w="4254599"/>
              </a:tblGrid>
              <a:tr h="197088">
                <a:tc>
                  <a:txBody>
                    <a:bodyPr wrap="square"/>
                    <a:lstStyle/>
                    <a:p>
                      <a:r>
                        <a:rPr sz="800" b="1" i="0">
                          <a:solidFill>
                            <a:srgbClr val="F4F1EA"/>
                          </a:solidFill>
                          <a:latin typeface="Arial"/>
                          <a:ea typeface="Malgun Gothic"/>
                          <a:cs typeface="Malgun Gothic"/>
                        </a:rPr>
                        <a:t>논문</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핵심</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기구학 처리</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비고</a:t>
                      </a:r>
                    </a:p>
                  </a:txBody>
                  <a:tcPr marL="63500" marR="63500" marT="12700" marB="12700">
                    <a:solidFill>
                      <a:srgbClr val="16213A"/>
                    </a:solidFill>
                  </a:tcPr>
                </a:tc>
              </a:tr>
              <a:tr h="317976">
                <a:tc>
                  <a:txBody>
                    <a:bodyPr wrap="square"/>
                    <a:lstStyle/>
                    <a:p>
                      <a:r>
                        <a:rPr sz="800" b="1" i="0">
                          <a:solidFill>
                            <a:srgbClr val="1D4ED8"/>
                          </a:solidFill>
                          <a:latin typeface="Arial"/>
                          <a:ea typeface="Malgun Gothic"/>
                          <a:cs typeface="Malgun Gothic"/>
                          <a:hlinkClick r:id="rId3"/>
                        </a:rPr>
                        <a:t>Flow Planner</a:t>
                      </a:r>
                      <a:r>
                        <a:rPr sz="800" b="0" i="0">
                          <a:solidFill>
                            <a:srgbClr val="16213A"/>
                          </a:solidFill>
                          <a:latin typeface="Arial"/>
                          <a:ea typeface="Malgun Gothic"/>
                          <a:cs typeface="Malgun Gothic"/>
                        </a:rPr>
                        <a:t> (NeurIPS 2025)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궤적을 </a:t>
                      </a:r>
                      <a:r>
                        <a:rPr sz="800" b="1" i="0">
                          <a:solidFill>
                            <a:srgbClr val="16213A"/>
                          </a:solidFill>
                          <a:latin typeface="Arial"/>
                          <a:ea typeface="Malgun Gothic"/>
                          <a:cs typeface="Malgun Gothic"/>
                        </a:rPr>
                        <a:t>잘게 토큰화</a:t>
                      </a:r>
                      <a:r>
                        <a:rPr sz="800" b="0" i="0">
                          <a:solidFill>
                            <a:srgbClr val="16213A"/>
                          </a:solidFill>
                          <a:latin typeface="Arial"/>
                          <a:ea typeface="Malgun Gothic"/>
                          <a:cs typeface="Malgun Gothic"/>
                        </a:rPr>
                        <a:t>하고 시공간 융합 + classifier-free guidance</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토큰 단위라 긴 지평에서도 모양이 뭉개지지 않는다</a:t>
                      </a:r>
                    </a:p>
                  </a:txBody>
                  <a:tcPr marL="63500" marR="63500" marT="12700" marB="12700">
                    <a:solidFill>
                      <a:srgbClr val="FFFDF8"/>
                    </a:solidFill>
                  </a:tcPr>
                </a:tc>
                <a:tc>
                  <a:txBody>
                    <a:bodyPr wrap="square"/>
                    <a:lstStyle/>
                    <a:p>
                      <a:r>
                        <a:rPr sz="800" b="1" i="0">
                          <a:solidFill>
                            <a:srgbClr val="C2410C"/>
                          </a:solidFill>
                          <a:latin typeface="Arial"/>
                          <a:ea typeface="Malgun Gothic"/>
                          <a:cs typeface="Malgun Gothic"/>
                        </a:rPr>
                        <a:t>nuPlan Val14 </a:t>
                      </a:r>
                      <a:r>
                        <a:rPr sz="800" b="1" i="0">
                          <a:solidFill>
                            <a:srgbClr val="C2410C"/>
                          </a:solidFill>
                          <a:latin typeface="Arial"/>
                          <a:ea typeface="Malgun Gothic"/>
                          <a:cs typeface="Malgun Gothic"/>
                        </a:rPr>
                        <a:t>90.43</a:t>
                      </a:r>
                      <a:r>
                        <a:rPr sz="800" b="1" i="0">
                          <a:solidFill>
                            <a:srgbClr val="C2410C"/>
                          </a:solidFill>
                          <a:latin typeface="Arial"/>
                          <a:ea typeface="Malgun Gothic"/>
                          <a:cs typeface="Malgun Gothic"/>
                        </a:rPr>
                        <a:t>(후처리 refinement 없이), InterPlan 61.82</a:t>
                      </a:r>
                      <a:r>
                        <a:rPr sz="800" b="0" i="0">
                          <a:solidFill>
                            <a:srgbClr val="16213A"/>
                          </a:solidFill>
                          <a:latin typeface="Arial"/>
                          <a:ea typeface="Malgun Gothic"/>
                          <a:cs typeface="Malgun Gothic"/>
                        </a:rPr>
                        <a:t>. </a:t>
                      </a:r>
                      <a:r>
                        <a:rPr sz="800" b="0" i="0">
                          <a:solidFill>
                            <a:srgbClr val="1D4ED8"/>
                          </a:solidFill>
                          <a:latin typeface="Arial"/>
                          <a:ea typeface="Malgun Gothic"/>
                          <a:cs typeface="Malgun Gothic"/>
                          <a:hlinkClick r:id="rId4"/>
                        </a:rPr>
                        <a:t>코드</a:t>
                      </a:r>
                      <a:r>
                        <a:rPr sz="800" b="0" i="0">
                          <a:solidFill>
                            <a:srgbClr val="16213A"/>
                          </a:solidFill>
                          <a:latin typeface="Arial"/>
                          <a:ea typeface="Malgun Gothic"/>
                          <a:cs typeface="Malgun Gothic"/>
                        </a:rPr>
                        <a:t> ★0.3k </a:t>
                      </a:r>
                      <a:r>
                        <a:rPr sz="800" b="1" i="0">
                          <a:solidFill>
                            <a:srgbClr val="16213A"/>
                          </a:solidFill>
                          <a:latin typeface="Arial"/>
                          <a:ea typeface="Malgun Gothic"/>
                          <a:cs typeface="Malgun Gothic"/>
                        </a:rPr>
                        <a:t>MIT</a:t>
                      </a:r>
                      <a:r>
                        <a:rPr sz="800" b="0" i="0">
                          <a:solidFill>
                            <a:srgbClr val="16213A"/>
                          </a:solidFill>
                          <a:latin typeface="Arial"/>
                          <a:ea typeface="Malgun Gothic"/>
                          <a:cs typeface="Malgun Gothic"/>
                        </a:rPr>
                        <a:t> — 이 표에서 travplan이 라이선스상 가져다 쓸 수 있는 몇 안 되는 것</a:t>
                      </a:r>
                    </a:p>
                  </a:txBody>
                  <a:tcPr marL="63500" marR="63500" marT="12700" marB="12700">
                    <a:solidFill>
                      <a:srgbClr val="FFFDF8"/>
                    </a:solidFill>
                  </a:tcPr>
                </a:tc>
              </a:tr>
              <a:tr h="317976">
                <a:tc>
                  <a:txBody>
                    <a:bodyPr wrap="square"/>
                    <a:lstStyle/>
                    <a:p>
                      <a:r>
                        <a:rPr sz="800" b="0" i="0">
                          <a:solidFill>
                            <a:srgbClr val="1D4ED8"/>
                          </a:solidFill>
                          <a:latin typeface="Arial"/>
                          <a:ea typeface="Malgun Gothic"/>
                          <a:cs typeface="Malgun Gothic"/>
                          <a:hlinkClick r:id="rId5"/>
                        </a:rPr>
                        <a:t>PC-Diffuser</a:t>
                      </a:r>
                      <a:r>
                        <a:rPr sz="800" b="0" i="0">
                          <a:solidFill>
                            <a:srgbClr val="16213A"/>
                          </a:solidFill>
                          <a:latin typeface="Arial"/>
                          <a:ea typeface="Malgun Gothic"/>
                          <a:cs typeface="Malgun Gothic"/>
                        </a:rPr>
                        <a:t> (2026-03)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denoise 루프 안에 </a:t>
                      </a:r>
                      <a:r>
                        <a:rPr sz="800" b="1" i="0">
                          <a:solidFill>
                            <a:srgbClr val="16213A"/>
                          </a:solidFill>
                          <a:latin typeface="Arial"/>
                          <a:ea typeface="Malgun Gothic"/>
                          <a:cs typeface="Malgun Gothic"/>
                        </a:rPr>
                        <a:t>capsule CBF 안전 필터</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각 denoise 단계의 waypoint를 LQR로 추종해 자전거 모델로 굴린다 → 실행 가능</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"waypoint diffusion + 모델 rollout" 인터페이스를 명시적으로 주장, </a:t>
                      </a:r>
                      <a:r>
                        <a:rPr sz="800" b="0" i="0">
                          <a:solidFill>
                            <a:srgbClr val="1D4ED8"/>
                          </a:solidFill>
                          <a:latin typeface="Arial"/>
                          <a:ea typeface="Malgun Gothic"/>
                          <a:cs typeface="Malgun Gothic"/>
                          <a:hlinkClick r:id="rId6"/>
                        </a:rPr>
                        <a:t>코드</a:t>
                      </a:r>
                    </a:p>
                  </a:txBody>
                  <a:tcPr marL="63500" marR="63500" marT="12700" marB="12700">
                    <a:solidFill>
                      <a:srgbClr val="F3F0E8"/>
                    </a:solidFill>
                  </a:tcPr>
                </a:tc>
              </a:tr>
            </a:tbl>
          </a:graphicData>
        </a:graphic>
      </p:graphicFrame>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생성형 궤적</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B.8 시간·주변 에이전트·기구학을 함께 고려하는 생성형 궤적 Planner</a:t>
            </a:r>
            <a:r>
              <a:rPr sz="1050" b="0" i="0">
                <a:solidFill>
                  <a:srgbClr val="5A6478"/>
                </a:solidFill>
                <a:latin typeface="Arial"/>
                <a:ea typeface="Malgun Gothic"/>
                <a:cs typeface="Malgun Gothic"/>
              </a:rPr>
              <a:t>  2/5</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51 / 516</a:t>
            </a:r>
          </a:p>
        </p:txBody>
      </p:sp>
      <p:graphicFrame>
        <p:nvGraphicFramePr>
          <p:cNvPr id="5" name="Table 4"/>
          <p:cNvGraphicFramePr>
            <a:graphicFrameLocks noGrp="1"/>
          </p:cNvGraphicFramePr>
          <p:nvPr/>
        </p:nvGraphicFramePr>
        <p:xfrm>
          <a:off x="609600" y="1244600"/>
          <a:ext cx="10966450" cy="2817096"/>
        </p:xfrm>
        <a:graphic>
          <a:graphicData uri="http://schemas.openxmlformats.org/drawingml/2006/table">
            <a:tbl>
              <a:tblPr firstRow="1" bandRow="1">
                <a:tableStyleId>{5C22544A-7EE6-4342-B048-85BDC9FD1C3A}</a:tableStyleId>
              </a:tblPr>
              <a:tblGrid>
                <a:gridCol w="1568450"/>
                <a:gridCol w="2769791"/>
                <a:gridCol w="2373610"/>
                <a:gridCol w="4254599"/>
              </a:tblGrid>
              <a:tr h="197088">
                <a:tc>
                  <a:txBody>
                    <a:bodyPr wrap="square"/>
                    <a:lstStyle/>
                    <a:p>
                      <a:r>
                        <a:rPr sz="800" b="1" i="0">
                          <a:solidFill>
                            <a:srgbClr val="F4F1EA"/>
                          </a:solidFill>
                          <a:latin typeface="Arial"/>
                          <a:ea typeface="Malgun Gothic"/>
                          <a:cs typeface="Malgun Gothic"/>
                        </a:rPr>
                        <a:t>논문</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핵심</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기구학 처리</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비고</a:t>
                      </a:r>
                    </a:p>
                  </a:txBody>
                  <a:tcPr marL="63500" marR="63500" marT="12700" marB="12700">
                    <a:solidFill>
                      <a:srgbClr val="16213A"/>
                    </a:solidFill>
                  </a:tcPr>
                </a:tc>
              </a:tr>
              <a:tr h="317976">
                <a:tc>
                  <a:txBody>
                    <a:bodyPr wrap="square"/>
                    <a:lstStyle/>
                    <a:p>
                      <a:r>
                        <a:rPr sz="800" b="0" i="0">
                          <a:solidFill>
                            <a:srgbClr val="1D4ED8"/>
                          </a:solidFill>
                          <a:latin typeface="Arial"/>
                          <a:ea typeface="Malgun Gothic"/>
                          <a:cs typeface="Malgun Gothic"/>
                          <a:hlinkClick r:id="rId3"/>
                        </a:rPr>
                        <a:t>FeaXDrive</a:t>
                      </a:r>
                      <a:r>
                        <a:rPr sz="800" b="0" i="0">
                          <a:solidFill>
                            <a:srgbClr val="16213A"/>
                          </a:solidFill>
                          <a:latin typeface="Arial"/>
                          <a:ea typeface="Malgun Gothic"/>
                          <a:cs typeface="Malgun Gothic"/>
                        </a:rPr>
                        <a:t> (2026-04)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곡률 정규화 학습 + 주행 가능 영역 guidance + </a:t>
                      </a:r>
                      <a:r>
                        <a:rPr sz="800" b="1" i="0">
                          <a:solidFill>
                            <a:srgbClr val="16213A"/>
                          </a:solidFill>
                          <a:latin typeface="Arial"/>
                          <a:ea typeface="Malgun Gothic"/>
                          <a:cs typeface="Malgun Gothic"/>
                        </a:rPr>
                        <a:t>GRPO 후학습</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학습 단계의 곡률 제약</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NAVSIM, </a:t>
                      </a:r>
                      <a:r>
                        <a:rPr sz="800" b="0" i="0">
                          <a:solidFill>
                            <a:srgbClr val="1D4ED8"/>
                          </a:solidFill>
                          <a:latin typeface="Arial"/>
                          <a:ea typeface="Malgun Gothic"/>
                          <a:cs typeface="Malgun Gothic"/>
                          <a:hlinkClick r:id="rId4"/>
                        </a:rPr>
                        <a:t>코드</a:t>
                      </a:r>
                    </a:p>
                  </a:txBody>
                  <a:tcPr marL="63500" marR="63500" marT="12700" marB="12700">
                    <a:solidFill>
                      <a:srgbClr val="FFFDF8"/>
                    </a:solidFill>
                  </a:tcPr>
                </a:tc>
              </a:tr>
              <a:tr h="197088">
                <a:tc>
                  <a:txBody>
                    <a:bodyPr wrap="square"/>
                    <a:lstStyle/>
                    <a:p>
                      <a:r>
                        <a:rPr sz="800" b="0" i="0">
                          <a:solidFill>
                            <a:srgbClr val="1D4ED8"/>
                          </a:solidFill>
                          <a:latin typeface="Arial"/>
                          <a:ea typeface="Malgun Gothic"/>
                          <a:cs typeface="Malgun Gothic"/>
                          <a:hlinkClick r:id="rId5"/>
                        </a:rPr>
                        <a:t>GuideFlow</a:t>
                      </a:r>
                      <a:r>
                        <a:rPr sz="800" b="0" i="0">
                          <a:solidFill>
                            <a:srgbClr val="16213A"/>
                          </a:solidFill>
                          <a:latin typeface="Arial"/>
                          <a:ea typeface="Malgun Gothic"/>
                          <a:cs typeface="Malgun Gothic"/>
                        </a:rPr>
                        <a:t> (CVPR 2026)</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flow matching + EBM으로 제약을 생성 과정에 직접 강제</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제약 guidance</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mode collapse 완화, </a:t>
                      </a:r>
                      <a:r>
                        <a:rPr sz="800" b="0" i="0">
                          <a:solidFill>
                            <a:srgbClr val="1D4ED8"/>
                          </a:solidFill>
                          <a:latin typeface="Arial"/>
                          <a:ea typeface="Malgun Gothic"/>
                          <a:cs typeface="Malgun Gothic"/>
                          <a:hlinkClick r:id="rId6"/>
                        </a:rPr>
                        <a:t>코드</a:t>
                      </a:r>
                    </a:p>
                  </a:txBody>
                  <a:tcPr marL="63500" marR="63500" marT="12700" marB="12700">
                    <a:solidFill>
                      <a:srgbClr val="F3F0E8"/>
                    </a:solidFill>
                  </a:tcPr>
                </a:tc>
              </a:tr>
              <a:tr h="317976">
                <a:tc>
                  <a:txBody>
                    <a:bodyPr wrap="square"/>
                    <a:lstStyle/>
                    <a:p>
                      <a:r>
                        <a:rPr sz="800" b="0" i="0">
                          <a:solidFill>
                            <a:srgbClr val="1D4ED8"/>
                          </a:solidFill>
                          <a:latin typeface="Arial"/>
                          <a:ea typeface="Malgun Gothic"/>
                          <a:cs typeface="Malgun Gothic"/>
                          <a:hlinkClick r:id="rId7"/>
                        </a:rPr>
                        <a:t>Adaptive-step Flow Matching</a:t>
                      </a:r>
                      <a:r>
                        <a:rPr sz="800" b="0" i="0">
                          <a:solidFill>
                            <a:srgbClr val="16213A"/>
                          </a:solidFill>
                          <a:latin typeface="Arial"/>
                          <a:ea typeface="Malgun Gothic"/>
                          <a:cs typeface="Malgun Gothic"/>
                        </a:rPr>
                        <a:t> (2026-02)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분산 추정으로 적분 스텝 수를 상황별로 선택</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볼록 QP 후처리</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RTX 3070 20 Hz, </a:t>
                      </a:r>
                      <a:r>
                        <a:rPr sz="800" b="0" i="0">
                          <a:solidFill>
                            <a:srgbClr val="1D4ED8"/>
                          </a:solidFill>
                          <a:latin typeface="Arial"/>
                          <a:ea typeface="Malgun Gothic"/>
                          <a:cs typeface="Malgun Gothic"/>
                          <a:hlinkClick r:id="rId8"/>
                        </a:rPr>
                        <a:t>프로젝트</a:t>
                      </a:r>
                    </a:p>
                  </a:txBody>
                  <a:tcPr marL="63500" marR="63500" marT="12700" marB="12700">
                    <a:solidFill>
                      <a:srgbClr val="FFFDF8"/>
                    </a:solidFill>
                  </a:tcPr>
                </a:tc>
              </a:tr>
              <a:tr h="197088">
                <a:tc>
                  <a:txBody>
                    <a:bodyPr wrap="square"/>
                    <a:lstStyle/>
                    <a:p>
                      <a:r>
                        <a:rPr sz="800" b="0" i="0">
                          <a:solidFill>
                            <a:srgbClr val="1D4ED8"/>
                          </a:solidFill>
                          <a:latin typeface="Arial"/>
                          <a:ea typeface="Malgun Gothic"/>
                          <a:cs typeface="Malgun Gothic"/>
                          <a:hlinkClick r:id="rId9"/>
                        </a:rPr>
                        <a:t>MISTY</a:t>
                      </a:r>
                      <a:r>
                        <a:rPr sz="800" b="0" i="0">
                          <a:solidFill>
                            <a:srgbClr val="16213A"/>
                          </a:solidFill>
                          <a:latin typeface="Arial"/>
                          <a:ea typeface="Malgun Gothic"/>
                          <a:cs typeface="Malgun Gothic"/>
                        </a:rPr>
                        <a:t> (2026-04)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반복 denoise 대신 </a:t>
                      </a:r>
                      <a:r>
                        <a:rPr sz="800" b="1" i="0">
                          <a:solidFill>
                            <a:srgbClr val="16213A"/>
                          </a:solidFill>
                          <a:latin typeface="Arial"/>
                          <a:ea typeface="Malgun Gothic"/>
                          <a:cs typeface="Malgun Gothic"/>
                        </a:rPr>
                        <a:t>단일 스텝</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10.1 ms / 99 FPS</a:t>
                      </a:r>
                      <a:r>
                        <a:rPr sz="800" b="0" i="0">
                          <a:solidFill>
                            <a:srgbClr val="16213A"/>
                          </a:solidFill>
                          <a:latin typeface="Arial"/>
                          <a:ea typeface="Malgun Gothic"/>
                          <a:cs typeface="Malgun Gothic"/>
                        </a:rPr>
                        <a:t>, Test14-hard 80.32</a:t>
                      </a:r>
                    </a:p>
                  </a:txBody>
                  <a:tcPr marL="63500" marR="63500" marT="12700" marB="12700">
                    <a:solidFill>
                      <a:srgbClr val="F3F0E8"/>
                    </a:solidFill>
                  </a:tcPr>
                </a:tc>
              </a:tr>
              <a:tr h="317976">
                <a:tc>
                  <a:txBody>
                    <a:bodyPr wrap="square"/>
                    <a:lstStyle/>
                    <a:p>
                      <a:r>
                        <a:rPr sz="800" b="0" i="0">
                          <a:solidFill>
                            <a:srgbClr val="1D4ED8"/>
                          </a:solidFill>
                          <a:latin typeface="Arial"/>
                          <a:ea typeface="Malgun Gothic"/>
                          <a:cs typeface="Malgun Gothic"/>
                          <a:hlinkClick r:id="rId10"/>
                        </a:rPr>
                        <a:t>DiffusionDrive</a:t>
                      </a:r>
                      <a:r>
                        <a:rPr sz="800" b="0" i="0">
                          <a:solidFill>
                            <a:srgbClr val="16213A"/>
                          </a:solidFill>
                          <a:latin typeface="Arial"/>
                          <a:ea typeface="Malgun Gothic"/>
                          <a:cs typeface="Malgun Gothic"/>
                        </a:rPr>
                        <a:t> (CVPR 2025)</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anchor에서 시작하는 truncated diffusion</a:t>
                      </a:r>
                      <a:r>
                        <a:rPr sz="800" b="0" i="0">
                          <a:solidFill>
                            <a:srgbClr val="16213A"/>
                          </a:solidFill>
                          <a:latin typeface="Arial"/>
                          <a:ea typeface="Malgun Gothic"/>
                          <a:cs typeface="Malgun Gothic"/>
                        </a:rPr>
                        <a:t>(모드 anchor 20개, 2 스텝)</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RTX 4090 45 FPS, </a:t>
                      </a:r>
                      <a:r>
                        <a:rPr sz="800" b="0" i="0">
                          <a:solidFill>
                            <a:srgbClr val="1D4ED8"/>
                          </a:solidFill>
                          <a:latin typeface="Arial"/>
                          <a:ea typeface="Malgun Gothic"/>
                          <a:cs typeface="Malgun Gothic"/>
                          <a:hlinkClick r:id="rId11"/>
                        </a:rPr>
                        <a:t>코드</a:t>
                      </a:r>
                    </a:p>
                  </a:txBody>
                  <a:tcPr marL="63500" marR="63500" marT="12700" marB="12700">
                    <a:solidFill>
                      <a:srgbClr val="FFFDF8"/>
                    </a:solidFill>
                  </a:tcPr>
                </a:tc>
              </a:tr>
              <a:tr h="317976">
                <a:tc>
                  <a:txBody>
                    <a:bodyPr wrap="square"/>
                    <a:lstStyle/>
                    <a:p>
                      <a:r>
                        <a:rPr sz="800" b="0" i="0">
                          <a:solidFill>
                            <a:srgbClr val="1D4ED8"/>
                          </a:solidFill>
                          <a:latin typeface="Arial"/>
                          <a:ea typeface="Malgun Gothic"/>
                          <a:cs typeface="Malgun Gothic"/>
                          <a:hlinkClick r:id="rId12"/>
                        </a:rPr>
                        <a:t>JPPD</a:t>
                      </a:r>
                      <a:r>
                        <a:rPr sz="800" b="0" i="0">
                          <a:solidFill>
                            <a:srgbClr val="16213A"/>
                          </a:solidFill>
                          <a:latin typeface="Arial"/>
                          <a:ea typeface="Malgun Gothic"/>
                          <a:cs typeface="Malgun Gothic"/>
                        </a:rPr>
                        <a:t> (2026-06)</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보도 배달로봇·보행자 공유 공간</a:t>
                      </a:r>
                      <a:r>
                        <a:rPr sz="800" b="0" i="0">
                          <a:solidFill>
                            <a:srgbClr val="16213A"/>
                          </a:solidFill>
                          <a:latin typeface="Arial"/>
                          <a:ea typeface="Malgun Gothic"/>
                          <a:cs typeface="Malgun Gothic"/>
                        </a:rPr>
                        <a:t>의 예측·계획 공동 diffusion + 미분 가능 안전 포텐셜 guidance</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첫 waypoint만 속도 한계 안으로 제약, 나머지는 spline 지지점</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Isaac Sim + ROS + 메카넘 실물</a:t>
                      </a:r>
                      <a:r>
                        <a:rPr sz="800" b="0" i="0">
                          <a:solidFill>
                            <a:srgbClr val="16213A"/>
                          </a:solidFill>
                          <a:latin typeface="Arial"/>
                          <a:ea typeface="Malgun Gothic"/>
                          <a:cs typeface="Malgun Gothic"/>
                        </a:rPr>
                        <a:t>, CPU 32 ms / 12.8 Hz, 충돌률 0.9%(ORCA 11.2%). 코드는 게재 후 공개 예정</a:t>
                      </a:r>
                    </a:p>
                  </a:txBody>
                  <a:tcPr marL="63500" marR="63500" marT="12700" marB="12700">
                    <a:solidFill>
                      <a:srgbClr val="F3F0E8"/>
                    </a:solidFill>
                  </a:tcPr>
                </a:tc>
              </a:tr>
              <a:tr h="317976">
                <a:tc>
                  <a:txBody>
                    <a:bodyPr wrap="square"/>
                    <a:lstStyle/>
                    <a:p>
                      <a:r>
                        <a:rPr sz="800" b="0" i="0">
                          <a:solidFill>
                            <a:srgbClr val="1D4ED8"/>
                          </a:solidFill>
                          <a:latin typeface="Arial"/>
                          <a:ea typeface="Malgun Gothic"/>
                          <a:cs typeface="Malgun Gothic"/>
                          <a:hlinkClick r:id="rId13"/>
                        </a:rPr>
                        <a:t>GRACE</a:t>
                      </a:r>
                      <a:r>
                        <a:rPr sz="800" b="0" i="0">
                          <a:solidFill>
                            <a:srgbClr val="16213A"/>
                          </a:solidFill>
                          <a:latin typeface="Arial"/>
                          <a:ea typeface="Malgun Gothic"/>
                          <a:cs typeface="Malgun Gothic"/>
                        </a:rPr>
                        <a:t> (2026-07)</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reverse 스텝마다 guidance 평균을 </a:t>
                      </a:r>
                      <a:r>
                        <a:rPr sz="800" b="1" i="0">
                          <a:solidFill>
                            <a:srgbClr val="16213A"/>
                          </a:solidFill>
                          <a:latin typeface="Arial"/>
                          <a:ea typeface="Malgun Gothic"/>
                          <a:cs typeface="Malgun Gothic"/>
                        </a:rPr>
                        <a:t>MPPI 한 번으로 추정</a:t>
                      </a:r>
                      <a:r>
                        <a:rPr sz="800" b="0" i="0">
                          <a:solidFill>
                            <a:srgbClr val="16213A"/>
                          </a:solidFill>
                          <a:latin typeface="Arial"/>
                          <a:ea typeface="Malgun Gothic"/>
                          <a:cs typeface="Malgun Gothic"/>
                        </a:rPr>
                        <a:t> → 기울기 없는 비용 guidance</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비용에 실행 가능성을 넣으면 된다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7자유도 팔 실험, 미분 불가능한 충돌 검사 비용도 사용</a:t>
                      </a:r>
                    </a:p>
                  </a:txBody>
                  <a:tcPr marL="63500" marR="63500" marT="12700" marB="12700">
                    <a:solidFill>
                      <a:srgbClr val="FFFDF8"/>
                    </a:solidFill>
                  </a:tcPr>
                </a:tc>
              </a:tr>
              <a:tr h="317976">
                <a:tc>
                  <a:txBody>
                    <a:bodyPr wrap="square"/>
                    <a:lstStyle/>
                    <a:p>
                      <a:r>
                        <a:rPr sz="800" b="0" i="0">
                          <a:solidFill>
                            <a:srgbClr val="1D4ED8"/>
                          </a:solidFill>
                          <a:latin typeface="Arial"/>
                          <a:ea typeface="Malgun Gothic"/>
                          <a:cs typeface="Malgun Gothic"/>
                          <a:hlinkClick r:id="rId14"/>
                        </a:rPr>
                        <a:t>CoDiG</a:t>
                      </a:r>
                      <a:r>
                        <a:rPr sz="800" b="0" i="0">
                          <a:solidFill>
                            <a:srgbClr val="16213A"/>
                          </a:solidFill>
                          <a:latin typeface="Arial"/>
                          <a:ea typeface="Malgun Gothic"/>
                          <a:cs typeface="Malgun Gothic"/>
                        </a:rPr>
                        <a:t> (2025-05, ETH·MPI)</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denoise SDE에 </a:t>
                      </a:r>
                      <a:r>
                        <a:rPr sz="800" b="1" i="0">
                          <a:solidFill>
                            <a:srgbClr val="16213A"/>
                          </a:solidFill>
                          <a:latin typeface="Arial"/>
                          <a:ea typeface="Malgun Gothic"/>
                          <a:cs typeface="Malgun Gothic"/>
                        </a:rPr>
                        <a:t>barrier 함수의 기울기 항</a:t>
                      </a:r>
                      <a:r>
                        <a:rPr sz="800" b="0" i="0">
                          <a:solidFill>
                            <a:srgbClr val="16213A"/>
                          </a:solidFill>
                          <a:latin typeface="Arial"/>
                          <a:ea typeface="Malgun Gothic"/>
                          <a:cs typeface="Malgun Gothic"/>
                        </a:rPr>
                        <a:t>을 더해 제약을 지키는 쪽으로 샘플을 민다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제약 항에 넣으면 된다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1:28 경주차 실물, 시연 100개(증강 1만)로 학습. 4090에서 warm start 50 step이면 </a:t>
                      </a:r>
                      <a:r>
                        <a:rPr sz="800" b="1" i="0">
                          <a:solidFill>
                            <a:srgbClr val="16213A"/>
                          </a:solidFill>
                          <a:latin typeface="Arial"/>
                          <a:ea typeface="Malgun Gothic"/>
                          <a:cs typeface="Malgun Gothic"/>
                        </a:rPr>
                        <a:t>2.5 Hz</a:t>
                      </a:r>
                      <a:r>
                        <a:rPr sz="800" b="0" i="0">
                          <a:solidFill>
                            <a:srgbClr val="16213A"/>
                          </a:solidFill>
                          <a:latin typeface="Arial"/>
                          <a:ea typeface="Malgun Gothic"/>
                          <a:cs typeface="Malgun Gothic"/>
                        </a:rPr>
                        <a:t>, 전체 1000 step이면 0.25 Hz</a:t>
                      </a:r>
                    </a:p>
                  </a:txBody>
                  <a:tcPr marL="63500" marR="63500" marT="12700" marB="12700">
                    <a:solidFill>
                      <a:srgbClr val="F3F0E8"/>
                    </a:solidFill>
                  </a:tcPr>
                </a:tc>
              </a:tr>
              <a:tr h="317976">
                <a:tc>
                  <a:txBody>
                    <a:bodyPr wrap="square"/>
                    <a:lstStyle/>
                    <a:p>
                      <a:r>
                        <a:rPr sz="800" b="0" i="0">
                          <a:solidFill>
                            <a:srgbClr val="1D4ED8"/>
                          </a:solidFill>
                          <a:latin typeface="Arial"/>
                          <a:ea typeface="Malgun Gothic"/>
                          <a:cs typeface="Malgun Gothic"/>
                          <a:hlinkClick r:id="rId15"/>
                        </a:rPr>
                        <a:t>최적화 guidance</a:t>
                      </a:r>
                      <a:r>
                        <a:rPr sz="800" b="0" i="0">
                          <a:solidFill>
                            <a:srgbClr val="16213A"/>
                          </a:solidFill>
                          <a:latin typeface="Arial"/>
                          <a:ea typeface="Malgun Gothic"/>
                          <a:cs typeface="Malgun Gothic"/>
                        </a:rPr>
                        <a:t> (2026-06, ETH·EPFL)</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역방향 스텝의 </a:t>
                      </a:r>
                      <a:r>
                        <a:rPr sz="800" b="1" i="0">
                          <a:solidFill>
                            <a:srgbClr val="16213A"/>
                          </a:solidFill>
                          <a:latin typeface="Arial"/>
                          <a:ea typeface="Malgun Gothic"/>
                          <a:cs typeface="Malgun Gothic"/>
                        </a:rPr>
                        <a:t>노이즈 섭동을 최적화 변수로 치환</a:t>
                      </a:r>
                      <a:r>
                        <a:rPr sz="800" b="0" i="0">
                          <a:solidFill>
                            <a:srgbClr val="16213A"/>
                          </a:solidFill>
                          <a:latin typeface="Arial"/>
                          <a:ea typeface="Malgun Gothic"/>
                          <a:cs typeface="Malgun Gothic"/>
                        </a:rPr>
                        <a:t> → 재학습 없이 hard 제약·soft 벌점</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임베디먼트 제약을 직접 건다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파지 +20%p, 시각운동 조작 +23%p. 기울기 안내는 79.3 → 84 ms인데 제약 solver를 쓰면 </a:t>
                      </a:r>
                      <a:r>
                        <a:rPr sz="800" b="1" i="0">
                          <a:solidFill>
                            <a:srgbClr val="16213A"/>
                          </a:solidFill>
                          <a:latin typeface="Arial"/>
                          <a:ea typeface="Malgun Gothic"/>
                          <a:cs typeface="Malgun Gothic"/>
                        </a:rPr>
                        <a:t>46–69배</a:t>
                      </a:r>
                    </a:p>
                  </a:txBody>
                  <a:tcPr marL="63500" marR="63500" marT="12700" marB="12700">
                    <a:solidFill>
                      <a:srgbClr val="FFFDF8"/>
                    </a:solidFill>
                  </a:tcPr>
                </a:tc>
              </a:tr>
            </a:tbl>
          </a:graphicData>
        </a:graphic>
      </p:graphicFrame>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생성형 궤적</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B.8 시간·주변 에이전트·기구학을 함께 고려하는 생성형 궤적 Planner</a:t>
            </a:r>
            <a:r>
              <a:rPr sz="1050" b="0" i="0">
                <a:solidFill>
                  <a:srgbClr val="5A6478"/>
                </a:solidFill>
                <a:latin typeface="Arial"/>
                <a:ea typeface="Malgun Gothic"/>
                <a:cs typeface="Malgun Gothic"/>
              </a:rPr>
              <a:t>  3/5</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52 / 516</a:t>
            </a:r>
          </a:p>
        </p:txBody>
      </p:sp>
      <p:pic>
        <p:nvPicPr>
          <p:cNvPr id="5" name="Picture 4" descr="image.jpg"/>
          <p:cNvPicPr>
            <a:picLocks noChangeAspect="1"/>
          </p:cNvPicPr>
          <p:nvPr/>
        </p:nvPicPr>
        <p:blipFill>
          <a:blip r:embed="rId3"/>
          <a:stretch>
            <a:fillRect/>
          </a:stretch>
        </p:blipFill>
        <p:spPr>
          <a:xfrm>
            <a:off x="609600" y="1244600"/>
            <a:ext cx="3448050" cy="2667000"/>
          </a:xfrm>
          <a:prstGeom prst="rect">
            <a:avLst/>
          </a:prstGeom>
        </p:spPr>
      </p:pic>
      <p:sp>
        <p:nvSpPr>
          <p:cNvPr id="6" name="TextBox 5"/>
          <p:cNvSpPr txBox="1"/>
          <p:nvPr/>
        </p:nvSpPr>
        <p:spPr>
          <a:xfrm>
            <a:off x="609600" y="3949700"/>
            <a:ext cx="35560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PC-Diffuser (Fig. 1): denoise 루프 안에서 궤적을 추종·안전 필터링해 실행 가능하고 안전한 궤적으로 만든다. 출처: arXiv:2603.10330</a:t>
            </a:r>
          </a:p>
        </p:txBody>
      </p:sp>
      <p:pic>
        <p:nvPicPr>
          <p:cNvPr id="7" name="Picture 6" descr="image.jpg"/>
          <p:cNvPicPr>
            <a:picLocks noChangeAspect="1"/>
          </p:cNvPicPr>
          <p:nvPr/>
        </p:nvPicPr>
        <p:blipFill>
          <a:blip r:embed="rId4"/>
          <a:stretch>
            <a:fillRect/>
          </a:stretch>
        </p:blipFill>
        <p:spPr>
          <a:xfrm>
            <a:off x="4318000" y="1244600"/>
            <a:ext cx="3556000" cy="1778000"/>
          </a:xfrm>
          <a:prstGeom prst="rect">
            <a:avLst/>
          </a:prstGeom>
        </p:spPr>
      </p:pic>
      <p:sp>
        <p:nvSpPr>
          <p:cNvPr id="8" name="TextBox 7"/>
          <p:cNvSpPr txBox="1"/>
          <p:nvPr/>
        </p:nvSpPr>
        <p:spPr>
          <a:xfrm>
            <a:off x="4318000" y="3060700"/>
            <a:ext cx="35560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FeaXDrive (Fig. 1): 노이즈 중심이 아닌 궤적 중심 diffusion. 곡률·주행 가능 영역을 궤적 공간에서 직접 다룬다. 출처: arXiv:2604.12656</a:t>
            </a:r>
          </a:p>
        </p:txBody>
      </p:sp>
      <p:pic>
        <p:nvPicPr>
          <p:cNvPr id="9" name="Picture 8" descr="image.jpg"/>
          <p:cNvPicPr>
            <a:picLocks noChangeAspect="1"/>
          </p:cNvPicPr>
          <p:nvPr/>
        </p:nvPicPr>
        <p:blipFill>
          <a:blip r:embed="rId5"/>
          <a:stretch>
            <a:fillRect/>
          </a:stretch>
        </p:blipFill>
        <p:spPr>
          <a:xfrm>
            <a:off x="8026400" y="1244600"/>
            <a:ext cx="3556000" cy="2527300"/>
          </a:xfrm>
          <a:prstGeom prst="rect">
            <a:avLst/>
          </a:prstGeom>
        </p:spPr>
      </p:pic>
      <p:sp>
        <p:nvSpPr>
          <p:cNvPr id="10" name="TextBox 9"/>
          <p:cNvSpPr txBox="1"/>
          <p:nvPr/>
        </p:nvSpPr>
        <p:spPr>
          <a:xfrm>
            <a:off x="8026400" y="3810000"/>
            <a:ext cx="35560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GuideFlow (Fig. 1): 모방 E2E 플래너 / 기존 생성형 / GuideFlow(제약을 생성 과정에 직접 강제) 비교. 출처: arXiv:2511.18729</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생성형 궤적</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B.8 시간·주변 에이전트·기구학을 함께 고려하는 생성형 궤적 Planner</a:t>
            </a:r>
            <a:r>
              <a:rPr sz="1050" b="0" i="0">
                <a:solidFill>
                  <a:srgbClr val="5A6478"/>
                </a:solidFill>
                <a:latin typeface="Arial"/>
                <a:ea typeface="Malgun Gothic"/>
                <a:cs typeface="Malgun Gothic"/>
              </a:rPr>
              <a:t>  4/5</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53 / 516</a:t>
            </a:r>
          </a:p>
        </p:txBody>
      </p:sp>
      <p:pic>
        <p:nvPicPr>
          <p:cNvPr id="5" name="Picture 4" descr="image.jpg"/>
          <p:cNvPicPr>
            <a:picLocks noChangeAspect="1"/>
          </p:cNvPicPr>
          <p:nvPr/>
        </p:nvPicPr>
        <p:blipFill>
          <a:blip r:embed="rId3"/>
          <a:stretch>
            <a:fillRect/>
          </a:stretch>
        </p:blipFill>
        <p:spPr>
          <a:xfrm>
            <a:off x="609600" y="1244600"/>
            <a:ext cx="3556000" cy="1155700"/>
          </a:xfrm>
          <a:prstGeom prst="rect">
            <a:avLst/>
          </a:prstGeom>
        </p:spPr>
      </p:pic>
      <p:sp>
        <p:nvSpPr>
          <p:cNvPr id="6" name="TextBox 5"/>
          <p:cNvSpPr txBox="1"/>
          <p:nvPr/>
        </p:nvSpPr>
        <p:spPr>
          <a:xfrm>
            <a:off x="609600" y="2438400"/>
            <a:ext cx="3556000" cy="42654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Adaptive Time Step Flow Matching (Fig. 1): 과거 움직임·지도·목표 자세를 인코딩해 flow matching으로 궤적 생성, step 수를 상황별로 조절. 출처: arXiv:2602.10285</a:t>
            </a:r>
          </a:p>
        </p:txBody>
      </p:sp>
      <p:pic>
        <p:nvPicPr>
          <p:cNvPr id="7" name="Picture 6" descr="image.jpg"/>
          <p:cNvPicPr>
            <a:picLocks noChangeAspect="1"/>
          </p:cNvPicPr>
          <p:nvPr/>
        </p:nvPicPr>
        <p:blipFill>
          <a:blip r:embed="rId4"/>
          <a:stretch>
            <a:fillRect/>
          </a:stretch>
        </p:blipFill>
        <p:spPr>
          <a:xfrm>
            <a:off x="4318000" y="1244600"/>
            <a:ext cx="3556000" cy="1638300"/>
          </a:xfrm>
          <a:prstGeom prst="rect">
            <a:avLst/>
          </a:prstGeom>
        </p:spPr>
      </p:pic>
      <p:sp>
        <p:nvSpPr>
          <p:cNvPr id="8" name="TextBox 7"/>
          <p:cNvSpPr txBox="1"/>
          <p:nvPr/>
        </p:nvSpPr>
        <p:spPr>
          <a:xfrm>
            <a:off x="4318000" y="2921000"/>
            <a:ext cx="35560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MISTY (Fig. 1): 벡터 인코더 + MLP-Mixer 단일 step 디코더. 반복 denoise 없이 한 번에 궤적을 낸다. 출처: arXiv:2604.21489</a:t>
            </a:r>
          </a:p>
        </p:txBody>
      </p:sp>
      <p:pic>
        <p:nvPicPr>
          <p:cNvPr id="9" name="Picture 8" descr="image.jpg"/>
          <p:cNvPicPr>
            <a:picLocks noChangeAspect="1"/>
          </p:cNvPicPr>
          <p:nvPr/>
        </p:nvPicPr>
        <p:blipFill>
          <a:blip r:embed="rId5"/>
          <a:stretch>
            <a:fillRect/>
          </a:stretch>
        </p:blipFill>
        <p:spPr>
          <a:xfrm>
            <a:off x="8026400" y="1244600"/>
            <a:ext cx="3556000" cy="2082800"/>
          </a:xfrm>
          <a:prstGeom prst="rect">
            <a:avLst/>
          </a:prstGeom>
        </p:spPr>
      </p:pic>
      <p:sp>
        <p:nvSpPr>
          <p:cNvPr id="10" name="TextBox 9"/>
          <p:cNvSpPr txBox="1"/>
          <p:nvPr/>
        </p:nvSpPr>
        <p:spPr>
          <a:xfrm>
            <a:off x="8026400" y="3365500"/>
            <a:ext cx="35560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DiffusionDrive (Fig. 1): E2E 패러다임 비교: 단일 회귀 / 어휘 샘플링 / 일반 diffusion / anchor truncated diffusion(제안). 출처: arXiv:2411.15139</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생성형 궤적</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B.8 시간·주변 에이전트·기구학을 함께 고려하는 생성형 궤적 Planner</a:t>
            </a:r>
            <a:r>
              <a:rPr sz="1050" b="0" i="0">
                <a:solidFill>
                  <a:srgbClr val="5A6478"/>
                </a:solidFill>
                <a:latin typeface="Arial"/>
                <a:ea typeface="Malgun Gothic"/>
                <a:cs typeface="Malgun Gothic"/>
              </a:rPr>
              <a:t>  5/5</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54 / 516</a:t>
            </a:r>
          </a:p>
        </p:txBody>
      </p:sp>
      <p:pic>
        <p:nvPicPr>
          <p:cNvPr id="5" name="Picture 4" descr="image.jpg"/>
          <p:cNvPicPr>
            <a:picLocks noChangeAspect="1"/>
          </p:cNvPicPr>
          <p:nvPr/>
        </p:nvPicPr>
        <p:blipFill>
          <a:blip r:embed="rId3"/>
          <a:stretch>
            <a:fillRect/>
          </a:stretch>
        </p:blipFill>
        <p:spPr>
          <a:xfrm>
            <a:off x="609600" y="1244600"/>
            <a:ext cx="3556000" cy="1930400"/>
          </a:xfrm>
          <a:prstGeom prst="rect">
            <a:avLst/>
          </a:prstGeom>
        </p:spPr>
      </p:pic>
      <p:sp>
        <p:nvSpPr>
          <p:cNvPr id="6" name="TextBox 5"/>
          <p:cNvSpPr txBox="1"/>
          <p:nvPr/>
        </p:nvSpPr>
        <p:spPr>
          <a:xfrm>
            <a:off x="609600" y="3213100"/>
            <a:ext cx="35560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JPPD (Fig. 1): 예측 후 계획(위, 장애물 미래 고정) vs 공동 생성(아래, 로봇 계획이 보행자 예측에 반영). 출처: arXiv:2606.20686</a:t>
            </a:r>
          </a:p>
        </p:txBody>
      </p:sp>
      <p:pic>
        <p:nvPicPr>
          <p:cNvPr id="7" name="Picture 6" descr="image.jpg"/>
          <p:cNvPicPr>
            <a:picLocks noChangeAspect="1"/>
          </p:cNvPicPr>
          <p:nvPr/>
        </p:nvPicPr>
        <p:blipFill>
          <a:blip r:embed="rId4"/>
          <a:stretch>
            <a:fillRect/>
          </a:stretch>
        </p:blipFill>
        <p:spPr>
          <a:xfrm>
            <a:off x="4318000" y="1244600"/>
            <a:ext cx="3556000" cy="2216150"/>
          </a:xfrm>
          <a:prstGeom prst="rect">
            <a:avLst/>
          </a:prstGeom>
        </p:spPr>
      </p:pic>
      <p:sp>
        <p:nvSpPr>
          <p:cNvPr id="8" name="TextBox 7"/>
          <p:cNvSpPr txBox="1"/>
          <p:nvPr/>
        </p:nvSpPr>
        <p:spPr>
          <a:xfrm>
            <a:off x="4318000" y="3498850"/>
            <a:ext cx="35560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GRACE (Fig. 1): diffusion prior가 갈 방향을 고르고, gradient 없는 MPPI guidance가 안전을 맡는다. 출처: arXiv:2607.21661</a:t>
            </a:r>
          </a:p>
        </p:txBody>
      </p:sp>
      <p:pic>
        <p:nvPicPr>
          <p:cNvPr id="9" name="Picture 8" descr="image.jpg"/>
          <p:cNvPicPr>
            <a:picLocks noChangeAspect="1"/>
          </p:cNvPicPr>
          <p:nvPr/>
        </p:nvPicPr>
        <p:blipFill>
          <a:blip r:embed="rId5"/>
          <a:stretch>
            <a:fillRect/>
          </a:stretch>
        </p:blipFill>
        <p:spPr>
          <a:xfrm>
            <a:off x="8026400" y="1244600"/>
            <a:ext cx="3556000" cy="1593850"/>
          </a:xfrm>
          <a:prstGeom prst="rect">
            <a:avLst/>
          </a:prstGeom>
        </p:spPr>
      </p:pic>
      <p:sp>
        <p:nvSpPr>
          <p:cNvPr id="10" name="TextBox 9"/>
          <p:cNvSpPr txBox="1"/>
          <p:nvPr/>
        </p:nvSpPr>
        <p:spPr>
          <a:xfrm>
            <a:off x="8026400" y="2876550"/>
            <a:ext cx="3556000" cy="42654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최적화 guidance (Fig. 1): 역방향 확산의 무작위 섭동을 최적화 해로 바꿔, 학습한 prior 가까이 머물면서 물리적으로 실행 가능한 행동으로 옮긴다. 출처: arXiv:2606.24208</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생성형 궤적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B.8 시간·주변 에이전트·기구학을 함께 고려하는 생성형 궤적 Planner</a:t>
            </a:r>
            <a:r>
              <a:rPr sz="1050" b="0" i="0">
                <a:solidFill>
                  <a:srgbClr val="5A6478"/>
                </a:solidFill>
                <a:latin typeface="Arial"/>
                <a:ea typeface="Malgun Gothic"/>
                <a:cs typeface="Malgun Gothic"/>
              </a:rPr>
              <a:t>  자세히: PC-Diffuser의 방법과 수식</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55 / 516</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문제.</a:t>
            </a:r>
            <a:r>
              <a:rPr sz="1050" b="0" i="0">
                <a:solidFill>
                  <a:srgbClr val="16213A"/>
                </a:solidFill>
                <a:latin typeface="Arial"/>
                <a:ea typeface="Malgun Gothic"/>
                <a:cs typeface="Malgun Gothic"/>
              </a:rPr>
              <a:t> diffusion Planner는 waypoint만 내므로, 차량 동역학 아래에서 안전을 </a:t>
            </a:r>
            <a:r>
              <a:rPr sz="1050" b="1" i="0">
                <a:solidFill>
                  <a:srgbClr val="16213A"/>
                </a:solidFill>
                <a:latin typeface="Arial"/>
                <a:ea typeface="Malgun Gothic"/>
                <a:cs typeface="Malgun Gothic"/>
              </a:rPr>
              <a:t>인증</a:t>
            </a:r>
            <a:r>
              <a:rPr sz="1050" b="0" i="0">
                <a:solidFill>
                  <a:srgbClr val="16213A"/>
                </a:solidFill>
                <a:latin typeface="Arial"/>
                <a:ea typeface="Malgun Gothic"/>
                <a:cs typeface="Malgun Gothic"/>
              </a:rPr>
              <a:t>할 제어 입력이 없다. 사후 필터를 한 번 씌우면 생성 분포에서 크게 벗어난다.</a:t>
            </a:r>
          </a:p>
        </p:txBody>
      </p:sp>
      <p:sp>
        <p:nvSpPr>
          <p:cNvPr id="6" name="TextBox 5"/>
          <p:cNvSpPr txBox="1"/>
          <p:nvPr/>
        </p:nvSpPr>
        <p:spPr>
          <a:xfrm>
            <a:off x="609600" y="1549995"/>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① capsule CBF.</a:t>
            </a:r>
            <a:r>
              <a:rPr sz="1050" b="0" i="0">
                <a:solidFill>
                  <a:srgbClr val="16213A"/>
                </a:solidFill>
                <a:latin typeface="Arial"/>
                <a:ea typeface="Malgun Gothic"/>
                <a:cs typeface="Malgun Gothic"/>
              </a:rPr>
              <a:t> 차량을 중심점이 아니라 앞뒤를 잇는 선분(캡슐)으로 보고, 두 선분 사이 최소 거리로 barrier를 만든다. 중심점 거리보다 덜 보수적이라 교차로·좁은 차선에서 유리하다.</a:t>
            </a:r>
          </a:p>
        </p:txBody>
      </p:sp>
      <p:pic>
        <p:nvPicPr>
          <p:cNvPr id="7" name="Picture 6" descr="image.png"/>
          <p:cNvPicPr>
            <a:picLocks noChangeAspect="1"/>
          </p:cNvPicPr>
          <p:nvPr/>
        </p:nvPicPr>
        <p:blipFill>
          <a:blip r:embed="rId3"/>
          <a:stretch>
            <a:fillRect/>
          </a:stretch>
        </p:blipFill>
        <p:spPr>
          <a:xfrm>
            <a:off x="609600" y="1855391"/>
            <a:ext cx="5699125" cy="342900"/>
          </a:xfrm>
          <a:prstGeom prst="rect">
            <a:avLst/>
          </a:prstGeom>
        </p:spPr>
      </p:pic>
      <p:sp>
        <p:nvSpPr>
          <p:cNvPr id="8" name="TextBox 7"/>
          <p:cNvSpPr txBox="1"/>
          <p:nvPr/>
        </p:nvSpPr>
        <p:spPr>
          <a:xfrm>
            <a:off x="609600" y="2219325"/>
            <a:ext cx="10972800" cy="217388"/>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② 실행 가능성.</a:t>
            </a:r>
            <a:r>
              <a:rPr sz="1050" b="0" i="0">
                <a:solidFill>
                  <a:srgbClr val="16213A"/>
                </a:solidFill>
                <a:latin typeface="Arial"/>
                <a:ea typeface="Malgun Gothic"/>
                <a:cs typeface="Malgun Gothic"/>
              </a:rPr>
              <a:t> denoise 스텝마다 예측한 깨끗한 궤적 </a:t>
            </a:r>
            <a:r>
              <a:rPr sz="1050" b="0" i="1">
                <a:solidFill>
                  <a:srgbClr val="16213A"/>
                </a:solidFill>
                <a:latin typeface="Arial"/>
                <a:ea typeface="Malgun Gothic"/>
                <a:cs typeface="Malgun Gothic"/>
              </a:rPr>
              <a:t>τ̂₀⁽ᵗ⁾</a:t>
            </a:r>
            <a:r>
              <a:rPr sz="1050" b="0" i="0">
                <a:solidFill>
                  <a:srgbClr val="16213A"/>
                </a:solidFill>
                <a:latin typeface="Arial"/>
                <a:ea typeface="Malgun Gothic"/>
                <a:cs typeface="Malgun Gothic"/>
              </a:rPr>
              <a:t>을 선형화 LQR로 추종해, 자전거 모델(상태 </a:t>
            </a:r>
            <a:r>
              <a:rPr sz="1050" b="0" i="1">
                <a:solidFill>
                  <a:srgbClr val="16213A"/>
                </a:solidFill>
                <a:latin typeface="Arial"/>
                <a:ea typeface="Malgun Gothic"/>
                <a:cs typeface="Malgun Gothic"/>
              </a:rPr>
              <a:t>(x, y, θ, δ, v)</a:t>
            </a:r>
            <a:r>
              <a:rPr sz="1050" b="0" i="0">
                <a:solidFill>
                  <a:srgbClr val="16213A"/>
                </a:solidFill>
                <a:latin typeface="Arial"/>
                <a:ea typeface="Malgun Gothic"/>
                <a:cs typeface="Malgun Gothic"/>
              </a:rPr>
              <a:t>, 입력 </a:t>
            </a:r>
            <a:r>
              <a:rPr sz="1050" b="0" i="1">
                <a:solidFill>
                  <a:srgbClr val="16213A"/>
                </a:solidFill>
                <a:latin typeface="Arial"/>
                <a:ea typeface="Malgun Gothic"/>
                <a:cs typeface="Malgun Gothic"/>
              </a:rPr>
              <a:t>(δ̇, a)</a:t>
            </a:r>
            <a:r>
              <a:rPr sz="1050" b="0" i="0">
                <a:solidFill>
                  <a:srgbClr val="16213A"/>
                </a:solidFill>
                <a:latin typeface="Arial"/>
                <a:ea typeface="Malgun Gothic"/>
                <a:cs typeface="Malgun Gothic"/>
              </a:rPr>
              <a:t>)을 만족하는 명목 제어 </a:t>
            </a:r>
            <a:r>
              <a:rPr sz="1050" b="0" i="1">
                <a:solidFill>
                  <a:srgbClr val="16213A"/>
                </a:solidFill>
                <a:latin typeface="Arial"/>
                <a:ea typeface="Malgun Gothic"/>
                <a:cs typeface="Malgun Gothic"/>
              </a:rPr>
              <a:t>uₙₒₘ</a:t>
            </a:r>
            <a:r>
              <a:rPr sz="1050" b="0" i="0">
                <a:solidFill>
                  <a:srgbClr val="16213A"/>
                </a:solidFill>
                <a:latin typeface="Arial"/>
                <a:ea typeface="Malgun Gothic"/>
                <a:cs typeface="Malgun Gothic"/>
              </a:rPr>
              <a:t>을 만든다.</a:t>
            </a:r>
          </a:p>
        </p:txBody>
      </p:sp>
      <p:sp>
        <p:nvSpPr>
          <p:cNvPr id="9" name="TextBox 8"/>
          <p:cNvSpPr txBox="1"/>
          <p:nvPr/>
        </p:nvSpPr>
        <p:spPr>
          <a:xfrm>
            <a:off x="609600" y="2525613"/>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③ 경로 일관 보정.</a:t>
            </a:r>
            <a:r>
              <a:rPr sz="1050" b="0" i="0">
                <a:solidFill>
                  <a:srgbClr val="16213A"/>
                </a:solidFill>
                <a:latin typeface="Arial"/>
                <a:ea typeface="Malgun Gothic"/>
                <a:cs typeface="Malgun Gothic"/>
              </a:rPr>
              <a:t> 조향은 추종값 </a:t>
            </a:r>
            <a:r>
              <a:rPr sz="1050" b="0" i="1">
                <a:solidFill>
                  <a:srgbClr val="16213A"/>
                </a:solidFill>
                <a:latin typeface="Arial"/>
                <a:ea typeface="Malgun Gothic"/>
                <a:cs typeface="Malgun Gothic"/>
              </a:rPr>
              <a:t>δₙₒₘ</a:t>
            </a:r>
            <a:r>
              <a:rPr sz="1050" b="0" i="0">
                <a:solidFill>
                  <a:srgbClr val="16213A"/>
                </a:solidFill>
                <a:latin typeface="Arial"/>
                <a:ea typeface="Malgun Gothic"/>
                <a:cs typeface="Malgun Gothic"/>
              </a:rPr>
              <a:t>에 고정하고 </a:t>
            </a:r>
            <a:r>
              <a:rPr sz="1050" b="1" i="0">
                <a:solidFill>
                  <a:srgbClr val="16213A"/>
                </a:solidFill>
                <a:latin typeface="Arial"/>
                <a:ea typeface="Malgun Gothic"/>
                <a:cs typeface="Malgun Gothic"/>
              </a:rPr>
              <a:t>가속만</a:t>
            </a:r>
            <a:r>
              <a:rPr sz="1050" b="0" i="0">
                <a:solidFill>
                  <a:srgbClr val="16213A"/>
                </a:solidFill>
                <a:latin typeface="Arial"/>
                <a:ea typeface="Malgun Gothic"/>
                <a:cs typeface="Malgun Gothic"/>
              </a:rPr>
              <a:t> 고친다. 경로 모양은 그대로 두고 속도만 늦춰 피하게 하므로, 학습한 행동에서 덜 벗어난다.</a:t>
            </a:r>
          </a:p>
        </p:txBody>
      </p:sp>
      <p:pic>
        <p:nvPicPr>
          <p:cNvPr id="10" name="Picture 9" descr="image.png"/>
          <p:cNvPicPr>
            <a:picLocks noChangeAspect="1"/>
          </p:cNvPicPr>
          <p:nvPr/>
        </p:nvPicPr>
        <p:blipFill>
          <a:blip r:embed="rId4"/>
          <a:stretch>
            <a:fillRect/>
          </a:stretch>
        </p:blipFill>
        <p:spPr>
          <a:xfrm>
            <a:off x="609600" y="2831009"/>
            <a:ext cx="6483350" cy="320675"/>
          </a:xfrm>
          <a:prstGeom prst="rect">
            <a:avLst/>
          </a:prstGeom>
        </p:spPr>
      </p:pic>
      <p:sp>
        <p:nvSpPr>
          <p:cNvPr id="11" name="TextBox 10"/>
          <p:cNvSpPr txBox="1"/>
          <p:nvPr/>
        </p:nvSpPr>
        <p:spPr>
          <a:xfrm>
            <a:off x="609600" y="3177084"/>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보정한 궤적을 다시 확산 과정에 넣어 다음 스텝을 진행하므로, 모델이 보정에 "함께 적응"한다. 배경은 0.4(CBF)와 0.5(확산).</a:t>
            </a:r>
          </a:p>
        </p:txBody>
      </p:sp>
      <p:sp>
        <p:nvSpPr>
          <p:cNvPr id="12" name="TextBox 11"/>
          <p:cNvSpPr txBox="1"/>
          <p:nvPr/>
        </p:nvSpPr>
        <p:spPr>
          <a:xfrm>
            <a:off x="609600" y="3482479"/>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것.</a:t>
            </a:r>
            <a:r>
              <a:rPr sz="1050" b="0" i="0">
                <a:solidFill>
                  <a:srgbClr val="16213A"/>
                </a:solidFill>
                <a:latin typeface="Arial"/>
                <a:ea typeface="Malgun Gothic"/>
                <a:cs typeface="Malgun Gothic"/>
              </a:rPr>
              <a:t> Planner D는 제어 공간에서 생성해 이미 실행 가능하므로 ②는 필요 없다. ①·③은 Controller 뒤에 붙일 안전 필터(§C)를 설계할 때 "경로는 유지하고 속도만 줄인다"는 원칙으로 참고한다.</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생성형 궤적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B.8 시간·주변 에이전트·기구학을 함께 고려하는 생성형 궤적 Planner</a:t>
            </a:r>
            <a:r>
              <a:rPr sz="1050" b="0" i="0">
                <a:solidFill>
                  <a:srgbClr val="5A6478"/>
                </a:solidFill>
                <a:latin typeface="Arial"/>
                <a:ea typeface="Malgun Gothic"/>
                <a:cs typeface="Malgun Gothic"/>
              </a:rPr>
              <a:t>  자세히: FeaXDrive의 방법과 수식</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56 / 516</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핵심 전환: 노이즈가 아니라 궤적을 예측한다.</a:t>
            </a:r>
            <a:r>
              <a:rPr sz="1050" b="0" i="0">
                <a:solidFill>
                  <a:srgbClr val="16213A"/>
                </a:solidFill>
                <a:latin typeface="Arial"/>
                <a:ea typeface="Malgun Gothic"/>
                <a:cs typeface="Malgun Gothic"/>
              </a:rPr>
              <a:t> 표준 확산은 </a:t>
            </a:r>
            <a:r>
              <a:rPr sz="1050" b="0" i="1">
                <a:solidFill>
                  <a:srgbClr val="16213A"/>
                </a:solidFill>
                <a:latin typeface="Arial"/>
                <a:ea typeface="Malgun Gothic"/>
                <a:cs typeface="Malgun Gothic"/>
              </a:rPr>
              <a:t>ε̂ = f_θ(xₜ, t, c)</a:t>
            </a:r>
            <a:r>
              <a:rPr sz="1050" b="0" i="0">
                <a:solidFill>
                  <a:srgbClr val="16213A"/>
                </a:solidFill>
                <a:latin typeface="Arial"/>
                <a:ea typeface="Malgun Gothic"/>
                <a:cs typeface="Malgun Gothic"/>
              </a:rPr>
              <a:t>로 노이즈를 맞히지만, FeaXDrive는 깨끗한 궤적을 바로 예측한다. 그러면 실행 가능성을 다루는 모든 장치를 </a:t>
            </a:r>
            <a:r>
              <a:rPr sz="1050" b="1" i="0">
                <a:solidFill>
                  <a:srgbClr val="16213A"/>
                </a:solidFill>
                <a:latin typeface="Arial"/>
                <a:ea typeface="Malgun Gothic"/>
                <a:cs typeface="Malgun Gothic"/>
              </a:rPr>
              <a:t>궤적 공간에서</a:t>
            </a:r>
            <a:r>
              <a:rPr sz="1050" b="0" i="0">
                <a:solidFill>
                  <a:srgbClr val="16213A"/>
                </a:solidFill>
                <a:latin typeface="Arial"/>
                <a:ea typeface="Malgun Gothic"/>
                <a:cs typeface="Malgun Gothic"/>
              </a:rPr>
              <a:t> 걸 수 있다.</a:t>
            </a:r>
          </a:p>
        </p:txBody>
      </p:sp>
      <p:pic>
        <p:nvPicPr>
          <p:cNvPr id="6" name="Picture 5" descr="image.png"/>
          <p:cNvPicPr>
            <a:picLocks noChangeAspect="1"/>
          </p:cNvPicPr>
          <p:nvPr/>
        </p:nvPicPr>
        <p:blipFill>
          <a:blip r:embed="rId3"/>
          <a:stretch>
            <a:fillRect/>
          </a:stretch>
        </p:blipFill>
        <p:spPr>
          <a:xfrm>
            <a:off x="609600" y="1766491"/>
            <a:ext cx="1203325" cy="263525"/>
          </a:xfrm>
          <a:prstGeom prst="rect">
            <a:avLst/>
          </a:prstGeom>
        </p:spPr>
      </p:pic>
      <p:sp>
        <p:nvSpPr>
          <p:cNvPr id="7" name="TextBox 6"/>
          <p:cNvSpPr txBox="1"/>
          <p:nvPr/>
        </p:nvSpPr>
        <p:spPr>
          <a:xfrm>
            <a:off x="609600" y="2063948"/>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① 적응형 곡률 정규화(학습).</a:t>
            </a:r>
            <a:r>
              <a:rPr sz="1050" b="0" i="0">
                <a:solidFill>
                  <a:srgbClr val="16213A"/>
                </a:solidFill>
                <a:latin typeface="Arial"/>
                <a:ea typeface="Malgun Gothic"/>
                <a:cs typeface="Malgun Gothic"/>
              </a:rPr>
              <a:t> 예측 궤적의 위치 열을 가벼운 1D 합성곱으로 매끄럽게 한 뒤 호 길이 기준으로 곡률을 계산하고, 속도에 따라 달라지는 곡률 상한을 넘는 만큼 벌한다. 날카로운 꺾임과 속도에 맞지 않는 급회전을 줄인다.</a:t>
            </a:r>
          </a:p>
        </p:txBody>
      </p:sp>
      <p:sp>
        <p:nvSpPr>
          <p:cNvPr id="8" name="TextBox 7"/>
          <p:cNvSpPr txBox="1"/>
          <p:nvPr/>
        </p:nvSpPr>
        <p:spPr>
          <a:xfrm>
            <a:off x="609600" y="2585839"/>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② 주행 가능 영역 guidance(추론).</a:t>
            </a:r>
            <a:r>
              <a:rPr sz="1050" b="0" i="0">
                <a:solidFill>
                  <a:srgbClr val="16213A"/>
                </a:solidFill>
                <a:latin typeface="Arial"/>
                <a:ea typeface="Malgun Gothic"/>
                <a:cs typeface="Malgun Gothic"/>
              </a:rPr>
              <a:t> 역방향 스텝마다 예측 궤적을 도로 기하 사전 </a:t>
            </a:r>
            <a:r>
              <a:rPr sz="1050" b="0" i="1">
                <a:solidFill>
                  <a:srgbClr val="16213A"/>
                </a:solidFill>
                <a:latin typeface="Arial"/>
                <a:ea typeface="Malgun Gothic"/>
                <a:cs typeface="Malgun Gothic"/>
              </a:rPr>
              <a:t>ℳ</a:t>
            </a:r>
            <a:r>
              <a:rPr sz="1050" b="0" i="0">
                <a:solidFill>
                  <a:srgbClr val="16213A"/>
                </a:solidFill>
                <a:latin typeface="Arial"/>
                <a:ea typeface="Malgun Gothic"/>
                <a:cs typeface="Malgun Gothic"/>
              </a:rPr>
              <a:t>으로 보정한 뒤 다음 스텝을 진행한다.</a:t>
            </a:r>
          </a:p>
        </p:txBody>
      </p:sp>
      <p:pic>
        <p:nvPicPr>
          <p:cNvPr id="9" name="Picture 8" descr="image.png"/>
          <p:cNvPicPr>
            <a:picLocks noChangeAspect="1"/>
          </p:cNvPicPr>
          <p:nvPr/>
        </p:nvPicPr>
        <p:blipFill>
          <a:blip r:embed="rId4"/>
          <a:stretch>
            <a:fillRect/>
          </a:stretch>
        </p:blipFill>
        <p:spPr>
          <a:xfrm>
            <a:off x="609600" y="2891234"/>
            <a:ext cx="3213100" cy="266700"/>
          </a:xfrm>
          <a:prstGeom prst="rect">
            <a:avLst/>
          </a:prstGeom>
        </p:spPr>
      </p:pic>
      <p:sp>
        <p:nvSpPr>
          <p:cNvPr id="10" name="TextBox 9"/>
          <p:cNvSpPr txBox="1"/>
          <p:nvPr/>
        </p:nvSpPr>
        <p:spPr>
          <a:xfrm>
            <a:off x="609600" y="3188692"/>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③ 실행 가능성을 아는 GRPO(후학습).</a:t>
            </a:r>
            <a:r>
              <a:rPr sz="1050" b="0" i="0">
                <a:solidFill>
                  <a:srgbClr val="16213A"/>
                </a:solidFill>
                <a:latin typeface="Arial"/>
                <a:ea typeface="Malgun Gothic"/>
                <a:cs typeface="Malgun Gothic"/>
              </a:rPr>
              <a:t> 한 장면에서 후보 </a:t>
            </a:r>
            <a:r>
              <a:rPr sz="1050" b="0" i="1">
                <a:solidFill>
                  <a:srgbClr val="16213A"/>
                </a:solidFill>
                <a:latin typeface="Arial"/>
                <a:ea typeface="Malgun Gothic"/>
                <a:cs typeface="Malgun Gothic"/>
              </a:rPr>
              <a:t>G</a:t>
            </a:r>
            <a:r>
              <a:rPr sz="1050" b="0" i="0">
                <a:solidFill>
                  <a:srgbClr val="16213A"/>
                </a:solidFill>
                <a:latin typeface="Arial"/>
                <a:ea typeface="Malgun Gothic"/>
                <a:cs typeface="Malgun Gothic"/>
              </a:rPr>
              <a:t>개를 뽑고, 과제 점수와 실행 가능성 선호를 더한 보상을 매긴다. 정책은 보상의 </a:t>
            </a:r>
            <a:r>
              <a:rPr sz="1050" b="1" i="0">
                <a:solidFill>
                  <a:srgbClr val="16213A"/>
                </a:solidFill>
                <a:latin typeface="Arial"/>
                <a:ea typeface="Malgun Gothic"/>
                <a:cs typeface="Malgun Gothic"/>
              </a:rPr>
              <a:t>그룹 내 상대값</a:t>
            </a:r>
            <a:r>
              <a:rPr sz="1050" b="0" i="0">
                <a:solidFill>
                  <a:srgbClr val="16213A"/>
                </a:solidFill>
                <a:latin typeface="Arial"/>
                <a:ea typeface="Malgun Gothic"/>
                <a:cs typeface="Malgun Gothic"/>
              </a:rPr>
              <a:t>으로 갱신한다(오른쪽은 GRPO의 표준 정의다).</a:t>
            </a:r>
          </a:p>
        </p:txBody>
      </p:sp>
      <p:pic>
        <p:nvPicPr>
          <p:cNvPr id="11" name="Picture 10" descr="image.png"/>
          <p:cNvPicPr>
            <a:picLocks noChangeAspect="1"/>
          </p:cNvPicPr>
          <p:nvPr/>
        </p:nvPicPr>
        <p:blipFill>
          <a:blip r:embed="rId5"/>
          <a:stretch>
            <a:fillRect/>
          </a:stretch>
        </p:blipFill>
        <p:spPr>
          <a:xfrm>
            <a:off x="609600" y="3710583"/>
            <a:ext cx="4641850" cy="422275"/>
          </a:xfrm>
          <a:prstGeom prst="rect">
            <a:avLst/>
          </a:prstGeom>
        </p:spPr>
      </p:pic>
      <p:sp>
        <p:nvSpPr>
          <p:cNvPr id="12" name="TextBox 11"/>
          <p:cNvSpPr txBox="1"/>
          <p:nvPr/>
        </p:nvSpPr>
        <p:spPr>
          <a:xfrm>
            <a:off x="609600" y="4146054"/>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것.</a:t>
            </a:r>
            <a:r>
              <a:rPr sz="1050" b="0" i="0">
                <a:solidFill>
                  <a:srgbClr val="16213A"/>
                </a:solidFill>
                <a:latin typeface="Arial"/>
                <a:ea typeface="Malgun Gothic"/>
                <a:cs typeface="Malgun Gothic"/>
              </a:rPr>
              <a:t> ②는 Planner D 비용 유도의 도로 기하 버전이다. ③은 운동학 시뮬 벤치마크 점수로 Planner D를 미세조정하는 방법(모방 학습 다음 단계)의 참고가 된다.</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생성형 궤적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B.8 시간·주변 에이전트·기구학을 함께 고려하는 생성형 궤적 Planner</a:t>
            </a:r>
            <a:r>
              <a:rPr sz="1050" b="0" i="0">
                <a:solidFill>
                  <a:srgbClr val="5A6478"/>
                </a:solidFill>
                <a:latin typeface="Arial"/>
                <a:ea typeface="Malgun Gothic"/>
                <a:cs typeface="Malgun Gothic"/>
              </a:rPr>
              <a:t>  자세히: GuideFlow의 방법과 수식</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57 / 516</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출발점.</a:t>
            </a:r>
            <a:r>
              <a:rPr sz="1050" b="0" i="0">
                <a:solidFill>
                  <a:srgbClr val="16213A"/>
                </a:solidFill>
                <a:latin typeface="Arial"/>
                <a:ea typeface="Malgun Gothic"/>
                <a:cs typeface="Malgun Gothic"/>
              </a:rPr>
              <a:t> rectified flow(배경 0.6)는 직선 경로라 빠르지만 </a:t>
            </a:r>
            <a:r>
              <a:rPr sz="1050" b="1" i="0">
                <a:solidFill>
                  <a:srgbClr val="16213A"/>
                </a:solidFill>
                <a:latin typeface="Arial"/>
                <a:ea typeface="Malgun Gothic"/>
                <a:cs typeface="Malgun Gothic"/>
              </a:rPr>
              <a:t>mode-seeking</a:t>
            </a:r>
            <a:r>
              <a:rPr sz="1050" b="0" i="0">
                <a:solidFill>
                  <a:srgbClr val="16213A"/>
                </a:solidFill>
                <a:latin typeface="Arial"/>
                <a:ea typeface="Malgun Gothic"/>
                <a:cs typeface="Malgun Gothic"/>
              </a:rPr>
              <a:t>이라 가장 흔한 주행 패턴으로 몰리기 쉽다. GuideFlow는 flow matching에 제약을 </a:t>
            </a:r>
            <a:r>
              <a:rPr sz="1050" b="1" i="0">
                <a:solidFill>
                  <a:srgbClr val="16213A"/>
                </a:solidFill>
                <a:latin typeface="Arial"/>
                <a:ea typeface="Malgun Gothic"/>
                <a:cs typeface="Malgun Gothic"/>
              </a:rPr>
              <a:t>생성 과정 안에서</a:t>
            </a:r>
            <a:r>
              <a:rPr sz="1050" b="0" i="0">
                <a:solidFill>
                  <a:srgbClr val="16213A"/>
                </a:solidFill>
                <a:latin typeface="Arial"/>
                <a:ea typeface="Malgun Gothic"/>
                <a:cs typeface="Malgun Gothic"/>
              </a:rPr>
              <a:t> 거는 세 장치를 더한다.</a:t>
            </a:r>
          </a:p>
        </p:txBody>
      </p:sp>
      <p:sp>
        <p:nvSpPr>
          <p:cNvPr id="6" name="TextBox 5"/>
          <p:cNvSpPr txBox="1"/>
          <p:nvPr/>
        </p:nvSpPr>
        <p:spPr>
          <a:xfrm>
            <a:off x="609600" y="176649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① 속도장 보정(CVF).</a:t>
            </a:r>
            <a:r>
              <a:rPr sz="1050" b="0" i="0">
                <a:solidFill>
                  <a:srgbClr val="16213A"/>
                </a:solidFill>
                <a:latin typeface="Arial"/>
                <a:ea typeface="Malgun Gothic"/>
                <a:cs typeface="Malgun Gothic"/>
              </a:rPr>
              <a:t> 제약을 만족하는 참조 궤적 </a:t>
            </a:r>
            <a:r>
              <a:rPr sz="1050" b="0" i="1">
                <a:solidFill>
                  <a:srgbClr val="16213A"/>
                </a:solidFill>
                <a:latin typeface="Arial"/>
                <a:ea typeface="Malgun Gothic"/>
                <a:cs typeface="Malgun Gothic"/>
              </a:rPr>
              <a:t>x₁^c</a:t>
            </a:r>
            <a:r>
              <a:rPr sz="1050" b="0" i="0">
                <a:solidFill>
                  <a:srgbClr val="16213A"/>
                </a:solidFill>
                <a:latin typeface="Arial"/>
                <a:ea typeface="Malgun Gothic"/>
                <a:cs typeface="Malgun Gothic"/>
              </a:rPr>
              <a:t>(anchor 집합이나 점수기로 고른 것)의 방향 </a:t>
            </a:r>
            <a:r>
              <a:rPr sz="1050" b="0" i="1">
                <a:solidFill>
                  <a:srgbClr val="16213A"/>
                </a:solidFill>
                <a:latin typeface="Arial"/>
                <a:ea typeface="Malgun Gothic"/>
                <a:cs typeface="Malgun Gothic"/>
              </a:rPr>
              <a:t>vₜ^c = x₁^c - x₀</a:t>
            </a:r>
            <a:r>
              <a:rPr sz="1050" b="0" i="0">
                <a:solidFill>
                  <a:srgbClr val="16213A"/>
                </a:solidFill>
                <a:latin typeface="Arial"/>
                <a:ea typeface="Malgun Gothic"/>
                <a:cs typeface="Malgun Gothic"/>
              </a:rPr>
              <a:t>을 기준으로, 원래 속도장 </a:t>
            </a:r>
            <a:r>
              <a:rPr sz="1050" b="0" i="1">
                <a:solidFill>
                  <a:srgbClr val="16213A"/>
                </a:solidFill>
                <a:latin typeface="Arial"/>
                <a:ea typeface="Malgun Gothic"/>
                <a:cs typeface="Malgun Gothic"/>
              </a:rPr>
              <a:t>vₜ</a:t>
            </a:r>
            <a:r>
              <a:rPr sz="1050" b="0" i="0">
                <a:solidFill>
                  <a:srgbClr val="16213A"/>
                </a:solidFill>
                <a:latin typeface="Arial"/>
                <a:ea typeface="Malgun Gothic"/>
                <a:cs typeface="Malgun Gothic"/>
              </a:rPr>
              <a:t>의 방향을 크기는 거의 바꾸지 않고 틀어 준다(</a:t>
            </a:r>
            <a:r>
              <a:rPr sz="1050" b="0" i="1">
                <a:solidFill>
                  <a:srgbClr val="16213A"/>
                </a:solidFill>
                <a:latin typeface="Arial"/>
                <a:ea typeface="Malgun Gothic"/>
                <a:cs typeface="Malgun Gothic"/>
              </a:rPr>
              <a:t>λ = 0.1</a:t>
            </a:r>
            <a:r>
              <a:rPr sz="1050" b="0" i="0">
                <a:solidFill>
                  <a:srgbClr val="16213A"/>
                </a:solidFill>
                <a:latin typeface="Arial"/>
                <a:ea typeface="Malgun Gothic"/>
                <a:cs typeface="Malgun Gothic"/>
              </a:rPr>
              <a:t>).</a:t>
            </a:r>
          </a:p>
        </p:txBody>
      </p:sp>
      <p:pic>
        <p:nvPicPr>
          <p:cNvPr id="7" name="Picture 6" descr="image.png"/>
          <p:cNvPicPr>
            <a:picLocks noChangeAspect="1"/>
          </p:cNvPicPr>
          <p:nvPr/>
        </p:nvPicPr>
        <p:blipFill>
          <a:blip r:embed="rId3"/>
          <a:stretch>
            <a:fillRect/>
          </a:stretch>
        </p:blipFill>
        <p:spPr>
          <a:xfrm>
            <a:off x="609600" y="2071886"/>
            <a:ext cx="1708150" cy="425450"/>
          </a:xfrm>
          <a:prstGeom prst="rect">
            <a:avLst/>
          </a:prstGeom>
        </p:spPr>
      </p:pic>
      <p:sp>
        <p:nvSpPr>
          <p:cNvPr id="8" name="TextBox 7"/>
          <p:cNvSpPr txBox="1"/>
          <p:nvPr/>
        </p:nvSpPr>
        <p:spPr>
          <a:xfrm>
            <a:off x="609600" y="2507357"/>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② 흐름 상태 치환(CF).</a:t>
            </a:r>
            <a:r>
              <a:rPr sz="1050" b="0" i="0">
                <a:solidFill>
                  <a:srgbClr val="16213A"/>
                </a:solidFill>
                <a:latin typeface="Arial"/>
                <a:ea typeface="Malgun Gothic"/>
                <a:cs typeface="Malgun Gothic"/>
              </a:rPr>
              <a:t> 적분 도중 </a:t>
            </a:r>
            <a:r>
              <a:rPr sz="1050" b="0" i="1">
                <a:solidFill>
                  <a:srgbClr val="16213A"/>
                </a:solidFill>
                <a:latin typeface="Arial"/>
                <a:ea typeface="Malgun Gothic"/>
                <a:cs typeface="Malgun Gothic"/>
              </a:rPr>
              <a:t>k_c = 50</a:t>
            </a:r>
            <a:r>
              <a:rPr sz="1050" b="0" i="0">
                <a:solidFill>
                  <a:srgbClr val="16213A"/>
                </a:solidFill>
                <a:latin typeface="Arial"/>
                <a:ea typeface="Malgun Gothic"/>
                <a:cs typeface="Malgun Gothic"/>
              </a:rPr>
              <a:t> (전체 </a:t>
            </a:r>
            <a:r>
              <a:rPr sz="1050" b="0" i="1">
                <a:solidFill>
                  <a:srgbClr val="16213A"/>
                </a:solidFill>
                <a:latin typeface="Arial"/>
                <a:ea typeface="Malgun Gothic"/>
                <a:cs typeface="Malgun Gothic"/>
              </a:rPr>
              <a:t>K = 100</a:t>
            </a:r>
            <a:r>
              <a:rPr sz="1050" b="0" i="0">
                <a:solidFill>
                  <a:srgbClr val="16213A"/>
                </a:solidFill>
                <a:latin typeface="Arial"/>
                <a:ea typeface="Malgun Gothic"/>
                <a:cs typeface="Malgun Gothic"/>
              </a:rPr>
              <a:t>) 지점에서 상태를 제약 만족 anchor로 바꾸고 나머지를 적분한다. DiffusionDrive가 학습 때 쓰는 truncation을 추론에서만 쓰는 셈이다.</a:t>
            </a:r>
          </a:p>
        </p:txBody>
      </p:sp>
      <p:pic>
        <p:nvPicPr>
          <p:cNvPr id="9" name="Picture 8" descr="image.png"/>
          <p:cNvPicPr>
            <a:picLocks noChangeAspect="1"/>
          </p:cNvPicPr>
          <p:nvPr/>
        </p:nvPicPr>
        <p:blipFill>
          <a:blip r:embed="rId4"/>
          <a:stretch>
            <a:fillRect/>
          </a:stretch>
        </p:blipFill>
        <p:spPr>
          <a:xfrm>
            <a:off x="609600" y="2812752"/>
            <a:ext cx="4464050" cy="247650"/>
          </a:xfrm>
          <a:prstGeom prst="rect">
            <a:avLst/>
          </a:prstGeom>
        </p:spPr>
      </p:pic>
      <p:sp>
        <p:nvSpPr>
          <p:cNvPr id="10" name="TextBox 9"/>
          <p:cNvSpPr txBox="1"/>
          <p:nvPr/>
        </p:nvSpPr>
        <p:spPr>
          <a:xfrm>
            <a:off x="609600" y="3094534"/>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③ EBM 정제(RFE).</a:t>
            </a:r>
            <a:r>
              <a:rPr sz="1050" b="0" i="0">
                <a:solidFill>
                  <a:srgbClr val="16213A"/>
                </a:solidFill>
                <a:latin typeface="Arial"/>
                <a:ea typeface="Malgun Gothic"/>
                <a:cs typeface="Malgun Gothic"/>
              </a:rPr>
              <a:t> 제약 만족도 </a:t>
            </a:r>
            <a:r>
              <a:rPr sz="1050" b="0" i="1">
                <a:solidFill>
                  <a:srgbClr val="16213A"/>
                </a:solidFill>
                <a:latin typeface="Arial"/>
                <a:ea typeface="Malgun Gothic"/>
                <a:cs typeface="Malgun Gothic"/>
              </a:rPr>
              <a:t>jmath(·)</a:t>
            </a:r>
            <a:r>
              <a:rPr sz="1050" b="0" i="0">
                <a:solidFill>
                  <a:srgbClr val="16213A"/>
                </a:solidFill>
                <a:latin typeface="Arial"/>
                <a:ea typeface="Malgun Gothic"/>
                <a:cs typeface="Malgun Gothic"/>
              </a:rPr>
              <a:t>(도로 준수, 충돌)로 에너지를 정의하고, 생성 끝점의 에너지가 정답보다 높아지지 않게 학습한다.</a:t>
            </a:r>
          </a:p>
        </p:txBody>
      </p:sp>
      <p:pic>
        <p:nvPicPr>
          <p:cNvPr id="11" name="Picture 10" descr="image.png"/>
          <p:cNvPicPr>
            <a:picLocks noChangeAspect="1"/>
          </p:cNvPicPr>
          <p:nvPr/>
        </p:nvPicPr>
        <p:blipFill>
          <a:blip r:embed="rId5"/>
          <a:stretch>
            <a:fillRect/>
          </a:stretch>
        </p:blipFill>
        <p:spPr>
          <a:xfrm>
            <a:off x="609600" y="3399929"/>
            <a:ext cx="4572000" cy="266700"/>
          </a:xfrm>
          <a:prstGeom prst="rect">
            <a:avLst/>
          </a:prstGeom>
        </p:spPr>
      </p:pic>
      <p:sp>
        <p:nvSpPr>
          <p:cNvPr id="12" name="TextBox 11"/>
          <p:cNvSpPr txBox="1"/>
          <p:nvPr/>
        </p:nvSpPr>
        <p:spPr>
          <a:xfrm>
            <a:off x="609600" y="3698677"/>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그 밖에 anchor(256개, farthest point sampling)·목표점·명령·보상(공격성 점수)을 classifier-free guidance 조건으로 넣어 스타일을 바꾼다.</a:t>
            </a:r>
          </a:p>
        </p:txBody>
      </p:sp>
      <p:sp>
        <p:nvSpPr>
          <p:cNvPr id="13" name="TextBox 12"/>
          <p:cNvSpPr txBox="1"/>
          <p:nvPr/>
        </p:nvSpPr>
        <p:spPr>
          <a:xfrm>
            <a:off x="609600" y="4004072"/>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것.</a:t>
            </a:r>
            <a:r>
              <a:rPr sz="1050" b="0" i="0">
                <a:solidFill>
                  <a:srgbClr val="16213A"/>
                </a:solidFill>
                <a:latin typeface="Arial"/>
                <a:ea typeface="Malgun Gothic"/>
                <a:cs typeface="Malgun Gothic"/>
              </a:rPr>
              <a:t> Planner D와 같은 rectified flow다. ①·②는 재학습 없이 "치명 셀을 피하는 참조 방향"으로 샘플을 끌어오는 방법이라, Planner D의 비용 유도와 anchor 다양화를 결합할 때 직접 쓸 수 있다.</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생성형 궤적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B.8 시간·주변 에이전트·기구학을 함께 고려하는 생성형 궤적 Planner</a:t>
            </a:r>
            <a:r>
              <a:rPr sz="1050" b="0" i="0">
                <a:solidFill>
                  <a:srgbClr val="5A6478"/>
                </a:solidFill>
                <a:latin typeface="Arial"/>
                <a:ea typeface="Malgun Gothic"/>
                <a:cs typeface="Malgun Gothic"/>
              </a:rPr>
              <a:t>  자세히: Adaptive-step Flow Matching의 방법과 수식</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58 / 516</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입력과 출력.</a:t>
            </a:r>
            <a:r>
              <a:rPr sz="1050" b="0" i="0">
                <a:solidFill>
                  <a:srgbClr val="16213A"/>
                </a:solidFill>
                <a:latin typeface="Arial"/>
                <a:ea typeface="Malgun Gothic"/>
                <a:cs typeface="Malgun Gothic"/>
              </a:rPr>
              <a:t> 과거 1초(0.1초 간격 10스텝)의 자기 차량과 가까운 5대(10 m 이내)의 상태, 폴리라인 지도, 그리고 </a:t>
            </a:r>
            <a:r>
              <a:rPr sz="1050" b="1" i="0">
                <a:solidFill>
                  <a:srgbClr val="16213A"/>
                </a:solidFill>
                <a:latin typeface="Arial"/>
                <a:ea typeface="Malgun Gothic"/>
                <a:cs typeface="Malgun Gothic"/>
              </a:rPr>
              <a:t>8초 뒤 원하는 자세</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sₑ^g</a:t>
            </a:r>
            <a:r>
              <a:rPr sz="1050" b="0" i="0">
                <a:solidFill>
                  <a:srgbClr val="16213A"/>
                </a:solidFill>
                <a:latin typeface="Arial"/>
                <a:ea typeface="Malgun Gothic"/>
                <a:cs typeface="Malgun Gothic"/>
              </a:rPr>
              <a:t>를 조건으로, 자기 계획과 주변 예측을 함께 80스텝 생성한다. 인코더는 Motion Transformer의 것을 그대로 쓴다.</a:t>
            </a:r>
          </a:p>
        </p:txBody>
      </p:sp>
      <p:sp>
        <p:nvSpPr>
          <p:cNvPr id="6" name="TextBox 5"/>
          <p:cNvSpPr txBox="1"/>
          <p:nvPr/>
        </p:nvSpPr>
        <p:spPr>
          <a:xfrm>
            <a:off x="609600" y="176649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핵심: 불확실한 곳에서만 촘촘히 적분한다.</a:t>
            </a:r>
            <a:r>
              <a:rPr sz="1050" b="0" i="0">
                <a:solidFill>
                  <a:srgbClr val="16213A"/>
                </a:solidFill>
                <a:latin typeface="Arial"/>
                <a:ea typeface="Malgun Gothic"/>
                <a:cs typeface="Malgun Gothic"/>
              </a:rPr>
              <a:t> 속도장 </a:t>
            </a:r>
            <a:r>
              <a:rPr sz="1050" b="0" i="1">
                <a:solidFill>
                  <a:srgbClr val="16213A"/>
                </a:solidFill>
                <a:latin typeface="Arial"/>
                <a:ea typeface="Malgun Gothic"/>
                <a:cs typeface="Malgun Gothic"/>
              </a:rPr>
              <a:t>v_θ</a:t>
            </a:r>
            <a:r>
              <a:rPr sz="1050" b="0" i="0">
                <a:solidFill>
                  <a:srgbClr val="16213A"/>
                </a:solidFill>
                <a:latin typeface="Arial"/>
                <a:ea typeface="Malgun Gothic"/>
                <a:cs typeface="Malgun Gothic"/>
              </a:rPr>
              <a:t>와 함께 가벼운 네트워크 </a:t>
            </a:r>
            <a:r>
              <a:rPr sz="1050" b="0" i="1">
                <a:solidFill>
                  <a:srgbClr val="16213A"/>
                </a:solidFill>
                <a:latin typeface="Arial"/>
                <a:ea typeface="Malgun Gothic"/>
                <a:cs typeface="Malgun Gothic"/>
              </a:rPr>
              <a:t>σ_φ</a:t>
            </a:r>
            <a:r>
              <a:rPr sz="1050" b="0" i="0">
                <a:solidFill>
                  <a:srgbClr val="16213A"/>
                </a:solidFill>
                <a:latin typeface="Arial"/>
                <a:ea typeface="Malgun Gothic"/>
                <a:cs typeface="Malgun Gothic"/>
              </a:rPr>
              <a:t>가 흐름의 국소 불확실성을 추정한다. 학습 데이터가 많은 상황에서는 </a:t>
            </a:r>
            <a:r>
              <a:rPr sz="1050" b="0" i="1">
                <a:solidFill>
                  <a:srgbClr val="16213A"/>
                </a:solidFill>
                <a:latin typeface="Arial"/>
                <a:ea typeface="Malgun Gothic"/>
                <a:cs typeface="Malgun Gothic"/>
              </a:rPr>
              <a:t>σ_φ</a:t>
            </a:r>
            <a:r>
              <a:rPr sz="1050" b="0" i="0">
                <a:solidFill>
                  <a:srgbClr val="16213A"/>
                </a:solidFill>
                <a:latin typeface="Arial"/>
                <a:ea typeface="Malgun Gothic"/>
                <a:cs typeface="Malgun Gothic"/>
              </a:rPr>
              <a:t>가 작아 큰 스텝으로, 드문 상황에서는 작은 스텝으로 적분한다. 그래서 필요한 계산량(NFE)이 상황마다 달라진다.</a:t>
            </a:r>
          </a:p>
        </p:txBody>
      </p:sp>
      <p:pic>
        <p:nvPicPr>
          <p:cNvPr id="7" name="Picture 6" descr="image.png"/>
          <p:cNvPicPr>
            <a:picLocks noChangeAspect="1"/>
          </p:cNvPicPr>
          <p:nvPr/>
        </p:nvPicPr>
        <p:blipFill>
          <a:blip r:embed="rId3"/>
          <a:stretch>
            <a:fillRect/>
          </a:stretch>
        </p:blipFill>
        <p:spPr>
          <a:xfrm>
            <a:off x="609600" y="2288381"/>
            <a:ext cx="2936875" cy="422275"/>
          </a:xfrm>
          <a:prstGeom prst="rect">
            <a:avLst/>
          </a:prstGeom>
        </p:spPr>
      </p:pic>
      <p:sp>
        <p:nvSpPr>
          <p:cNvPr id="8" name="TextBox 7"/>
          <p:cNvSpPr txBox="1"/>
          <p:nvPr/>
        </p:nvSpPr>
        <p:spPr>
          <a:xfrm>
            <a:off x="609600" y="2720975"/>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후처리.</a:t>
            </a:r>
            <a:r>
              <a:rPr sz="1050" b="0" i="0">
                <a:solidFill>
                  <a:srgbClr val="16213A"/>
                </a:solidFill>
                <a:latin typeface="Arial"/>
                <a:ea typeface="Malgun Gothic"/>
                <a:cs typeface="Malgun Gothic"/>
              </a:rPr>
              <a:t> 생성한 궤적을 볼록 QP로 다듬어 동역학 제약과 승차감을 맞춘다. RTX 3070에서 20 Hz.</a:t>
            </a:r>
          </a:p>
        </p:txBody>
      </p:sp>
      <p:sp>
        <p:nvSpPr>
          <p:cNvPr id="9" name="TextBox 8"/>
          <p:cNvSpPr txBox="1"/>
          <p:nvPr/>
        </p:nvSpPr>
        <p:spPr>
          <a:xfrm>
            <a:off x="609600" y="302637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것.</a:t>
            </a:r>
            <a:r>
              <a:rPr sz="1050" b="0" i="0">
                <a:solidFill>
                  <a:srgbClr val="16213A"/>
                </a:solidFill>
                <a:latin typeface="Arial"/>
                <a:ea typeface="Malgun Gothic"/>
                <a:cs typeface="Malgun Gothic"/>
              </a:rPr>
              <a:t> Planner D는 늘 10스텝을 쓴다. 쉬운 장면은 더 적게, 어려운 장면(좁은 통로)은 더 많이 쓰면 </a:t>
            </a:r>
            <a:r>
              <a:rPr sz="1050" b="0" i="0">
                <a:solidFill>
                  <a:srgbClr val="16213A"/>
                </a:solidFill>
                <a:latin typeface="Consolas"/>
                <a:ea typeface="Malgun Gothic"/>
                <a:cs typeface="Malgun Gothic"/>
              </a:rPr>
              <a:t>planner_dg</a:t>
            </a:r>
            <a:r>
              <a:rPr sz="1050" b="0" i="0">
                <a:solidFill>
                  <a:srgbClr val="16213A"/>
                </a:solidFill>
                <a:latin typeface="Arial"/>
                <a:ea typeface="Malgun Gothic"/>
                <a:cs typeface="Malgun Gothic"/>
              </a:rPr>
              <a:t>의 지연(65–151 ms)을 평균적으로 줄일 수 있다.</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생성형 궤적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B.8 시간·주변 에이전트·기구학을 함께 고려하는 생성형 궤적 Planner</a:t>
            </a:r>
            <a:r>
              <a:rPr sz="1050" b="0" i="0">
                <a:solidFill>
                  <a:srgbClr val="5A6478"/>
                </a:solidFill>
                <a:latin typeface="Arial"/>
                <a:ea typeface="Malgun Gothic"/>
                <a:cs typeface="Malgun Gothic"/>
              </a:rPr>
              <a:t>  자세히: MISTY의 방법과 수식</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59 / 516</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목표.</a:t>
            </a:r>
            <a:r>
              <a:rPr sz="1050" b="0" i="0">
                <a:solidFill>
                  <a:srgbClr val="16213A"/>
                </a:solidFill>
                <a:latin typeface="Arial"/>
                <a:ea typeface="Malgun Gothic"/>
                <a:cs typeface="Malgun Gothic"/>
              </a:rPr>
              <a:t> 반복 적분 없이 </a:t>
            </a:r>
            <a:r>
              <a:rPr sz="1050" b="1" i="0">
                <a:solidFill>
                  <a:srgbClr val="16213A"/>
                </a:solidFill>
                <a:latin typeface="Arial"/>
                <a:ea typeface="Malgun Gothic"/>
                <a:cs typeface="Malgun Gothic"/>
              </a:rPr>
              <a:t>한 번의 forward</a:t>
            </a:r>
            <a:r>
              <a:rPr sz="1050" b="0" i="0">
                <a:solidFill>
                  <a:srgbClr val="16213A"/>
                </a:solidFill>
                <a:latin typeface="Arial"/>
                <a:ea typeface="Malgun Gothic"/>
                <a:cs typeface="Malgun Gothic"/>
              </a:rPr>
              <a:t>로 다양한 궤적을 낸다. "drifting model" 이론을 빌려, 분포를 옮기는 일을 추론이 아니라 </a:t>
            </a:r>
            <a:r>
              <a:rPr sz="1050" b="1" i="0">
                <a:solidFill>
                  <a:srgbClr val="16213A"/>
                </a:solidFill>
                <a:latin typeface="Arial"/>
                <a:ea typeface="Malgun Gothic"/>
                <a:cs typeface="Malgun Gothic"/>
              </a:rPr>
              <a:t>학습 중 네트워크 갱신</a:t>
            </a:r>
            <a:r>
              <a:rPr sz="1050" b="0" i="0">
                <a:solidFill>
                  <a:srgbClr val="16213A"/>
                </a:solidFill>
                <a:latin typeface="Arial"/>
                <a:ea typeface="Malgun Gothic"/>
                <a:cs typeface="Malgun Gothic"/>
              </a:rPr>
              <a:t>으로 끝낸다.</a:t>
            </a:r>
          </a:p>
        </p:txBody>
      </p:sp>
      <p:sp>
        <p:nvSpPr>
          <p:cNvPr id="6" name="TextBox 5"/>
          <p:cNvSpPr txBox="1"/>
          <p:nvPr/>
        </p:nvSpPr>
        <p:spPr>
          <a:xfrm>
            <a:off x="609600" y="1549995"/>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구조.</a:t>
            </a:r>
            <a:r>
              <a:rPr sz="1050" b="0" i="0">
                <a:solidFill>
                  <a:srgbClr val="16213A"/>
                </a:solidFill>
                <a:latin typeface="Arial"/>
                <a:ea typeface="Malgun Gothic"/>
                <a:cs typeface="Malgun Gothic"/>
              </a:rPr>
              <a:t> VectorNet식 sub-graph 인코더로 지도·주변 차량 토큰을 만들고, 노이즈 토큰 </a:t>
            </a:r>
            <a:r>
              <a:rPr sz="1050" b="0" i="1">
                <a:solidFill>
                  <a:srgbClr val="16213A"/>
                </a:solidFill>
                <a:latin typeface="Arial"/>
                <a:ea typeface="Malgun Gothic"/>
                <a:cs typeface="Malgun Gothic"/>
              </a:rPr>
              <a:t>ε</a:t>
            </a:r>
            <a:r>
              <a:rPr sz="1050" b="0" i="0">
                <a:solidFill>
                  <a:srgbClr val="16213A"/>
                </a:solidFill>
                <a:latin typeface="Arial"/>
                <a:ea typeface="Malgun Gothic"/>
                <a:cs typeface="Malgun Gothic"/>
              </a:rPr>
              <a:t>과 이어 붙여 MLP-Mixer 디코더에 넣는다. 확산 시각 대신 연속 매개변수 </a:t>
            </a:r>
            <a:r>
              <a:rPr sz="1050" b="0" i="1">
                <a:solidFill>
                  <a:srgbClr val="16213A"/>
                </a:solidFill>
                <a:latin typeface="Arial"/>
                <a:ea typeface="Malgun Gothic"/>
                <a:cs typeface="Malgun Gothic"/>
              </a:rPr>
              <a:t>α</a:t>
            </a:r>
            <a:r>
              <a:rPr sz="1050" b="0" i="0">
                <a:solidFill>
                  <a:srgbClr val="16213A"/>
                </a:solidFill>
                <a:latin typeface="Arial"/>
                <a:ea typeface="Malgun Gothic"/>
                <a:cs typeface="Malgun Gothic"/>
              </a:rPr>
              <a:t>를 adaLN 조건으로 쓴다. 출력은 PCA 기저의 계수로, 미리 구한 주성분으로 궤적을 복원한다.</a:t>
            </a:r>
          </a:p>
        </p:txBody>
      </p:sp>
      <p:pic>
        <p:nvPicPr>
          <p:cNvPr id="7" name="Picture 6" descr="image.png"/>
          <p:cNvPicPr>
            <a:picLocks noChangeAspect="1"/>
          </p:cNvPicPr>
          <p:nvPr/>
        </p:nvPicPr>
        <p:blipFill>
          <a:blip r:embed="rId3"/>
          <a:stretch>
            <a:fillRect/>
          </a:stretch>
        </p:blipFill>
        <p:spPr>
          <a:xfrm>
            <a:off x="609600" y="2071886"/>
            <a:ext cx="3556000" cy="241300"/>
          </a:xfrm>
          <a:prstGeom prst="rect">
            <a:avLst/>
          </a:prstGeom>
        </p:spPr>
      </p:pic>
      <p:sp>
        <p:nvSpPr>
          <p:cNvPr id="8" name="TextBox 7"/>
          <p:cNvSpPr txBox="1"/>
          <p:nvPr/>
        </p:nvSpPr>
        <p:spPr>
          <a:xfrm>
            <a:off x="609600" y="234940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잠재 공간 drifting 손실.</a:t>
            </a:r>
            <a:r>
              <a:rPr sz="1050" b="0" i="0">
                <a:solidFill>
                  <a:srgbClr val="16213A"/>
                </a:solidFill>
                <a:latin typeface="Arial"/>
                <a:ea typeface="Malgun Gothic"/>
                <a:cs typeface="Malgun Gothic"/>
              </a:rPr>
              <a:t> 궤적을 변위 </a:t>
            </a:r>
            <a:r>
              <a:rPr sz="1050" b="0" i="1">
                <a:solidFill>
                  <a:srgbClr val="16213A"/>
                </a:solidFill>
                <a:latin typeface="Arial"/>
                <a:ea typeface="Malgun Gothic"/>
                <a:cs typeface="Malgun Gothic"/>
              </a:rPr>
              <a:t>Δ pₜ = pₜ - pₜ₋₁</a:t>
            </a:r>
            <a:r>
              <a:rPr sz="1050" b="0" i="0">
                <a:solidFill>
                  <a:srgbClr val="16213A"/>
                </a:solidFill>
                <a:latin typeface="Arial"/>
                <a:ea typeface="Malgun Gothic"/>
                <a:cs typeface="Malgun Gothic"/>
              </a:rPr>
              <a:t>로 바꿔 VAE 인코더로 32차원 잠재 </a:t>
            </a:r>
            <a:r>
              <a:rPr sz="1050" b="0" i="1">
                <a:solidFill>
                  <a:srgbClr val="16213A"/>
                </a:solidFill>
                <a:latin typeface="Arial"/>
                <a:ea typeface="Malgun Gothic"/>
                <a:cs typeface="Malgun Gothic"/>
              </a:rPr>
              <a:t>z = μ + ε odot σ</a:t>
            </a:r>
            <a:r>
              <a:rPr sz="1050" b="0" i="0">
                <a:solidFill>
                  <a:srgbClr val="16213A"/>
                </a:solidFill>
                <a:latin typeface="Arial"/>
                <a:ea typeface="Malgun Gothic"/>
                <a:cs typeface="Malgun Gothic"/>
              </a:rPr>
              <a:t>에 넣는다. 그 공간에서 생성한 후보(음성)는 </a:t>
            </a:r>
            <a:r>
              <a:rPr sz="1050" b="1" i="0">
                <a:solidFill>
                  <a:srgbClr val="16213A"/>
                </a:solidFill>
                <a:latin typeface="Arial"/>
                <a:ea typeface="Malgun Gothic"/>
                <a:cs typeface="Malgun Gothic"/>
              </a:rPr>
              <a:t>실행 가능하고 충돌 없는 대안 궤적</a:t>
            </a:r>
            <a:r>
              <a:rPr sz="1050" b="0" i="0">
                <a:solidFill>
                  <a:srgbClr val="16213A"/>
                </a:solidFill>
                <a:latin typeface="Arial"/>
                <a:ea typeface="Malgun Gothic"/>
                <a:cs typeface="Malgun Gothic"/>
              </a:rPr>
              <a:t>(양성)과 16개 운동학 클래스 대표(무조건 목표)에 끌리고, 서로에게서는 밀려나도록 학습한다. 그래서 학습 데이터에 드문 추월 같은 행동도 나온다.</a:t>
            </a:r>
          </a:p>
        </p:txBody>
      </p:sp>
      <p:sp>
        <p:nvSpPr>
          <p:cNvPr id="9" name="TextBox 8"/>
          <p:cNvSpPr txBox="1"/>
          <p:nvPr/>
        </p:nvSpPr>
        <p:spPr>
          <a:xfrm>
            <a:off x="609600" y="287129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결과.</a:t>
            </a:r>
            <a:r>
              <a:rPr sz="1050" b="0" i="0">
                <a:solidFill>
                  <a:srgbClr val="16213A"/>
                </a:solidFill>
                <a:latin typeface="Arial"/>
                <a:ea typeface="Malgun Gothic"/>
                <a:cs typeface="Malgun Gothic"/>
              </a:rPr>
              <a:t> nuPlan Test14-hard 80.32(비반응), 82.21(반응). 10.1 ms, 99 FPS.</a:t>
            </a:r>
          </a:p>
        </p:txBody>
      </p:sp>
      <p:sp>
        <p:nvSpPr>
          <p:cNvPr id="10" name="TextBox 9"/>
          <p:cNvSpPr txBox="1"/>
          <p:nvPr/>
        </p:nvSpPr>
        <p:spPr>
          <a:xfrm>
            <a:off x="609600" y="3176687"/>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것.</a:t>
            </a:r>
            <a:r>
              <a:rPr sz="1050" b="0" i="0">
                <a:solidFill>
                  <a:srgbClr val="16213A"/>
                </a:solidFill>
                <a:latin typeface="Arial"/>
                <a:ea typeface="Malgun Gothic"/>
                <a:cs typeface="Malgun Gothic"/>
              </a:rPr>
              <a:t> Orin에서 Planner D를 빠르게 돌릴 때 "여러 스텝 적분"을 없애는 방향이다. 다만 학습에 대안 궤적 집합과 준수 검사기가 필요하다.</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생성형 궤적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B.8 시간·주변 에이전트·기구학을 함께 고려하는 생성형 궤적 Planner</a:t>
            </a:r>
            <a:r>
              <a:rPr sz="1050" b="0" i="0">
                <a:solidFill>
                  <a:srgbClr val="5A6478"/>
                </a:solidFill>
                <a:latin typeface="Arial"/>
                <a:ea typeface="Malgun Gothic"/>
                <a:cs typeface="Malgun Gothic"/>
              </a:rPr>
              <a:t>  자세히: DiffusionDrive의 방법과 수식</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60 / 516</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발견.</a:t>
            </a:r>
            <a:r>
              <a:rPr sz="1050" b="0" i="0">
                <a:solidFill>
                  <a:srgbClr val="16213A"/>
                </a:solidFill>
                <a:latin typeface="Arial"/>
                <a:ea typeface="Malgun Gothic"/>
                <a:cs typeface="Malgun Gothic"/>
              </a:rPr>
              <a:t> Transfuser의 회귀 헤드를 확산 정책으로 바꾸고 노이즈 20개를 20스텝 denoise해 보니, 서로 다른 노이즈가 </a:t>
            </a:r>
            <a:r>
              <a:rPr sz="1050" b="1" i="0">
                <a:solidFill>
                  <a:srgbClr val="16213A"/>
                </a:solidFill>
                <a:latin typeface="Arial"/>
                <a:ea typeface="Malgun Gothic"/>
                <a:cs typeface="Malgun Gothic"/>
              </a:rPr>
              <a:t>거의 같은 궤적으로 수렴</a:t>
            </a:r>
            <a:r>
              <a:rPr sz="1050" b="0" i="0">
                <a:solidFill>
                  <a:srgbClr val="16213A"/>
                </a:solidFill>
                <a:latin typeface="Arial"/>
                <a:ea typeface="Malgun Gothic"/>
                <a:cs typeface="Malgun Gothic"/>
              </a:rPr>
              <a:t>했다(mode collapse). 다양성 점수 </a:t>
            </a:r>
            <a:r>
              <a:rPr sz="1050" b="0" i="1">
                <a:solidFill>
                  <a:srgbClr val="16213A"/>
                </a:solidFill>
                <a:latin typeface="Arial"/>
                <a:ea typeface="Malgun Gothic"/>
                <a:cs typeface="Malgun Gothic"/>
              </a:rPr>
              <a:t>𝒟 = 1 - mIoU</a:t>
            </a:r>
            <a:r>
              <a:rPr sz="1050" b="0" i="0">
                <a:solidFill>
                  <a:srgbClr val="16213A"/>
                </a:solidFill>
                <a:latin typeface="Arial"/>
                <a:ea typeface="Malgun Gothic"/>
                <a:cs typeface="Malgun Gothic"/>
              </a:rPr>
              <a:t>로 정량화했다.</a:t>
            </a:r>
          </a:p>
        </p:txBody>
      </p:sp>
      <p:sp>
        <p:nvSpPr>
          <p:cNvPr id="6" name="TextBox 5"/>
          <p:cNvSpPr txBox="1"/>
          <p:nvPr/>
        </p:nvSpPr>
        <p:spPr>
          <a:xfrm>
            <a:off x="609600" y="176649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truncated diffusion.</a:t>
            </a:r>
            <a:r>
              <a:rPr sz="1050" b="0" i="0">
                <a:solidFill>
                  <a:srgbClr val="16213A"/>
                </a:solidFill>
                <a:latin typeface="Arial"/>
                <a:ea typeface="Malgun Gothic"/>
                <a:cs typeface="Malgun Gothic"/>
              </a:rPr>
              <a:t> 학습 궤적을 K-means로 묶은 anchor </a:t>
            </a:r>
            <a:r>
              <a:rPr sz="1050" b="0" i="1">
                <a:solidFill>
                  <a:srgbClr val="16213A"/>
                </a:solidFill>
                <a:latin typeface="Arial"/>
                <a:ea typeface="Malgun Gothic"/>
                <a:cs typeface="Malgun Gothic"/>
              </a:rPr>
              <a:t>{aₖ}ₖ₌₁²⁰</a:t>
            </a:r>
            <a:r>
              <a:rPr sz="1050" b="0" i="0">
                <a:solidFill>
                  <a:srgbClr val="16213A"/>
                </a:solidFill>
                <a:latin typeface="Arial"/>
                <a:ea typeface="Malgun Gothic"/>
                <a:cs typeface="Malgun Gothic"/>
              </a:rPr>
              <a:t>에 전체 1000스텝 중 앞 50스텝만큼의 노이즈를 섞는다(배경 0.7).</a:t>
            </a:r>
          </a:p>
        </p:txBody>
      </p:sp>
      <p:pic>
        <p:nvPicPr>
          <p:cNvPr id="7" name="Picture 6" descr="image.png"/>
          <p:cNvPicPr>
            <a:picLocks noChangeAspect="1"/>
          </p:cNvPicPr>
          <p:nvPr/>
        </p:nvPicPr>
        <p:blipFill>
          <a:blip r:embed="rId3"/>
          <a:stretch>
            <a:fillRect/>
          </a:stretch>
        </p:blipFill>
        <p:spPr>
          <a:xfrm>
            <a:off x="609600" y="2071886"/>
            <a:ext cx="4968875" cy="266700"/>
          </a:xfrm>
          <a:prstGeom prst="rect">
            <a:avLst/>
          </a:prstGeom>
        </p:spPr>
      </p:pic>
      <p:sp>
        <p:nvSpPr>
          <p:cNvPr id="8" name="TextBox 7"/>
          <p:cNvSpPr txBox="1"/>
          <p:nvPr/>
        </p:nvSpPr>
        <p:spPr>
          <a:xfrm>
            <a:off x="609600" y="2372618"/>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학습.</a:t>
            </a:r>
            <a:r>
              <a:rPr sz="1050" b="0" i="0">
                <a:solidFill>
                  <a:srgbClr val="16213A"/>
                </a:solidFill>
                <a:latin typeface="Arial"/>
                <a:ea typeface="Malgun Gothic"/>
                <a:cs typeface="Malgun Gothic"/>
              </a:rPr>
              <a:t> 디코더가 anchor마다 정제 궤적 </a:t>
            </a:r>
            <a:r>
              <a:rPr sz="1050" b="0" i="1">
                <a:solidFill>
                  <a:srgbClr val="16213A"/>
                </a:solidFill>
                <a:latin typeface="Arial"/>
                <a:ea typeface="Malgun Gothic"/>
                <a:cs typeface="Malgun Gothic"/>
              </a:rPr>
              <a:t>τ̂ₖ</a:t>
            </a:r>
            <a:r>
              <a:rPr sz="1050" b="0" i="0">
                <a:solidFill>
                  <a:srgbClr val="16213A"/>
                </a:solidFill>
                <a:latin typeface="Arial"/>
                <a:ea typeface="Malgun Gothic"/>
                <a:cs typeface="Malgun Gothic"/>
              </a:rPr>
              <a:t>와 점수 </a:t>
            </a:r>
            <a:r>
              <a:rPr sz="1050" b="0" i="1">
                <a:solidFill>
                  <a:srgbClr val="16213A"/>
                </a:solidFill>
                <a:latin typeface="Arial"/>
                <a:ea typeface="Malgun Gothic"/>
                <a:cs typeface="Malgun Gothic"/>
              </a:rPr>
              <a:t>ŝₖ</a:t>
            </a:r>
            <a:r>
              <a:rPr sz="1050" b="0" i="0">
                <a:solidFill>
                  <a:srgbClr val="16213A"/>
                </a:solidFill>
                <a:latin typeface="Arial"/>
                <a:ea typeface="Malgun Gothic"/>
                <a:cs typeface="Malgun Gothic"/>
              </a:rPr>
              <a:t>를 낸다. 정답에 가장 가까운 anchor만 양성(</a:t>
            </a:r>
            <a:r>
              <a:rPr sz="1050" b="0" i="1">
                <a:solidFill>
                  <a:srgbClr val="16213A"/>
                </a:solidFill>
                <a:latin typeface="Arial"/>
                <a:ea typeface="Malgun Gothic"/>
                <a:cs typeface="Malgun Gothic"/>
              </a:rPr>
              <a:t>yₖ = 1</a:t>
            </a:r>
            <a:r>
              <a:rPr sz="1050" b="0" i="0">
                <a:solidFill>
                  <a:srgbClr val="16213A"/>
                </a:solidFill>
                <a:latin typeface="Arial"/>
                <a:ea typeface="Malgun Gothic"/>
                <a:cs typeface="Malgun Gothic"/>
              </a:rPr>
              <a:t>)으로 L1 재구성 손실을 받고, 점수는 이진 교차 엔트로피로 배운다.</a:t>
            </a:r>
          </a:p>
        </p:txBody>
      </p:sp>
      <p:pic>
        <p:nvPicPr>
          <p:cNvPr id="9" name="Picture 8" descr="image.png"/>
          <p:cNvPicPr>
            <a:picLocks noChangeAspect="1"/>
          </p:cNvPicPr>
          <p:nvPr/>
        </p:nvPicPr>
        <p:blipFill>
          <a:blip r:embed="rId4"/>
          <a:stretch>
            <a:fillRect/>
          </a:stretch>
        </p:blipFill>
        <p:spPr>
          <a:xfrm>
            <a:off x="609600" y="2678013"/>
            <a:ext cx="3114675" cy="558800"/>
          </a:xfrm>
          <a:prstGeom prst="rect">
            <a:avLst/>
          </a:prstGeom>
        </p:spPr>
      </p:pic>
      <p:sp>
        <p:nvSpPr>
          <p:cNvPr id="10" name="TextBox 9"/>
          <p:cNvSpPr txBox="1"/>
          <p:nvPr/>
        </p:nvSpPr>
        <p:spPr>
          <a:xfrm>
            <a:off x="609600" y="3228479"/>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추론.</a:t>
            </a:r>
            <a:r>
              <a:rPr sz="1050" b="0" i="0">
                <a:solidFill>
                  <a:srgbClr val="16213A"/>
                </a:solidFill>
                <a:latin typeface="Arial"/>
                <a:ea typeface="Malgun Gothic"/>
                <a:cs typeface="Malgun Gothic"/>
              </a:rPr>
              <a:t> anchor 주변 가우시안에서 시작해 </a:t>
            </a:r>
            <a:r>
              <a:rPr sz="1050" b="1" i="0">
                <a:solidFill>
                  <a:srgbClr val="16213A"/>
                </a:solidFill>
                <a:latin typeface="Arial"/>
                <a:ea typeface="Malgun Gothic"/>
                <a:cs typeface="Malgun Gothic"/>
              </a:rPr>
              <a:t>2스텝</a:t>
            </a:r>
            <a:r>
              <a:rPr sz="1050" b="0" i="0">
                <a:solidFill>
                  <a:srgbClr val="16213A"/>
                </a:solidFill>
                <a:latin typeface="Arial"/>
                <a:ea typeface="Malgun Gothic"/>
                <a:cs typeface="Malgun Gothic"/>
              </a:rPr>
              <a:t>만 denoise하고 점수 1위를 고른다(20스텝 대비 PDMS도 1점 오름). 디코더는 BEV·원근 특징과 주변 차량·지도 질의에 deformable attention하는 층을 쌓은 cascade 구조이고, 스텝 간 매개변수를 공유한다. 추론 때 샘플 수는 학습과 달리 바꿀 수 있다. NAVSIM PDMS 88.1, RTX 4090에서 45 FPS.</a:t>
            </a:r>
          </a:p>
        </p:txBody>
      </p:sp>
      <p:sp>
        <p:nvSpPr>
          <p:cNvPr id="11" name="TextBox 10"/>
          <p:cNvSpPr txBox="1"/>
          <p:nvPr/>
        </p:nvSpPr>
        <p:spPr>
          <a:xfrm>
            <a:off x="609600" y="375037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것.</a:t>
            </a:r>
            <a:r>
              <a:rPr sz="1050" b="0" i="0">
                <a:solidFill>
                  <a:srgbClr val="16213A"/>
                </a:solidFill>
                <a:latin typeface="Arial"/>
                <a:ea typeface="Malgun Gothic"/>
                <a:cs typeface="Malgun Gothic"/>
              </a:rPr>
              <a:t> Planner D가 curb_ramp에서 급회전 후보를 못 만드는 문제의 가장 직접적인 처방이다. 시연 궤적(제어 변화율 열)을 K-means로 묶어 anchor를 만들고, 거기서 짧게 생성하면 된다.</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생성형 궤적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B.8 시간·주변 에이전트·기구학을 함께 고려하는 생성형 궤적 Planner</a:t>
            </a:r>
            <a:r>
              <a:rPr sz="1050" b="0" i="0">
                <a:solidFill>
                  <a:srgbClr val="5A6478"/>
                </a:solidFill>
                <a:latin typeface="Arial"/>
                <a:ea typeface="Malgun Gothic"/>
                <a:cs typeface="Malgun Gothic"/>
              </a:rPr>
              <a:t>  자세히: JPPD의 방법과 수식</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61 / 516</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설정.</a:t>
            </a:r>
            <a:r>
              <a:rPr sz="1050" b="0" i="0">
                <a:solidFill>
                  <a:srgbClr val="16213A"/>
                </a:solidFill>
                <a:latin typeface="Arial"/>
                <a:ea typeface="Malgun Gothic"/>
                <a:cs typeface="Malgun Gothic"/>
              </a:rPr>
              <a:t> 공유 공간(보도, 광장, 횡단보도 앞)의 로봇과 주변 참가자 </a:t>
            </a:r>
            <a:r>
              <a:rPr sz="1050" b="0" i="1">
                <a:solidFill>
                  <a:srgbClr val="16213A"/>
                </a:solidFill>
                <a:latin typeface="Arial"/>
                <a:ea typeface="Malgun Gothic"/>
                <a:cs typeface="Malgun Gothic"/>
              </a:rPr>
              <a:t>N</a:t>
            </a:r>
            <a:r>
              <a:rPr sz="1050" b="0" i="0">
                <a:solidFill>
                  <a:srgbClr val="16213A"/>
                </a:solidFill>
                <a:latin typeface="Arial"/>
                <a:ea typeface="Malgun Gothic"/>
                <a:cs typeface="Malgun Gothic"/>
              </a:rPr>
              <a:t>명. 로봇 미래 </a:t>
            </a:r>
            <a:r>
              <a:rPr sz="1050" b="0" i="1">
                <a:solidFill>
                  <a:srgbClr val="16213A"/>
                </a:solidFill>
                <a:latin typeface="Arial"/>
                <a:ea typeface="Malgun Gothic"/>
                <a:cs typeface="Malgun Gothic"/>
              </a:rPr>
              <a:t>τ^r ∈ ℝ^(K × 2)</a:t>
            </a:r>
            <a:r>
              <a:rPr sz="1050" b="0" i="0">
                <a:solidFill>
                  <a:srgbClr val="16213A"/>
                </a:solidFill>
                <a:latin typeface="Arial"/>
                <a:ea typeface="Malgun Gothic"/>
                <a:cs typeface="Malgun Gothic"/>
              </a:rPr>
              <a:t>와 참가자 미래 </a:t>
            </a:r>
            <a:r>
              <a:rPr sz="1050" b="0" i="1">
                <a:solidFill>
                  <a:srgbClr val="16213A"/>
                </a:solidFill>
                <a:latin typeface="Arial"/>
                <a:ea typeface="Malgun Gothic"/>
                <a:cs typeface="Malgun Gothic"/>
              </a:rPr>
              <a:t>τ^(o,i)</a:t>
            </a:r>
            <a:r>
              <a:rPr sz="1050" b="0" i="0">
                <a:solidFill>
                  <a:srgbClr val="16213A"/>
                </a:solidFill>
                <a:latin typeface="Arial"/>
                <a:ea typeface="Malgun Gothic"/>
                <a:cs typeface="Malgun Gothic"/>
              </a:rPr>
              <a:t>를 한 텐서로 묶어 </a:t>
            </a:r>
            <a:r>
              <a:rPr sz="1050" b="1" i="0">
                <a:solidFill>
                  <a:srgbClr val="16213A"/>
                </a:solidFill>
                <a:latin typeface="Arial"/>
                <a:ea typeface="Malgun Gothic"/>
                <a:cs typeface="Malgun Gothic"/>
              </a:rPr>
              <a:t>하나의 분포에서</a:t>
            </a:r>
            <a:r>
              <a:rPr sz="1050" b="0" i="0">
                <a:solidFill>
                  <a:srgbClr val="16213A"/>
                </a:solidFill>
                <a:latin typeface="Arial"/>
                <a:ea typeface="Malgun Gothic"/>
                <a:cs typeface="Malgun Gothic"/>
              </a:rPr>
              <a:t> 뽑는다. 조건은 현재 상태, 목표, 관측 이력, 지도, 마스크다.</a:t>
            </a:r>
          </a:p>
        </p:txBody>
      </p:sp>
      <p:pic>
        <p:nvPicPr>
          <p:cNvPr id="6" name="Picture 5" descr="image.png"/>
          <p:cNvPicPr>
            <a:picLocks noChangeAspect="1"/>
          </p:cNvPicPr>
          <p:nvPr/>
        </p:nvPicPr>
        <p:blipFill>
          <a:blip r:embed="rId3"/>
          <a:stretch>
            <a:fillRect/>
          </a:stretch>
        </p:blipFill>
        <p:spPr>
          <a:xfrm>
            <a:off x="609600" y="1766491"/>
            <a:ext cx="4702175" cy="247650"/>
          </a:xfrm>
          <a:prstGeom prst="rect">
            <a:avLst/>
          </a:prstGeom>
        </p:spPr>
      </p:pic>
      <p:sp>
        <p:nvSpPr>
          <p:cNvPr id="7" name="TextBox 6"/>
          <p:cNvSpPr txBox="1"/>
          <p:nvPr/>
        </p:nvSpPr>
        <p:spPr>
          <a:xfrm>
            <a:off x="609600" y="2048272"/>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생성: conditional flow matching</a:t>
            </a:r>
            <a:r>
              <a:rPr sz="1050" b="0" i="0">
                <a:solidFill>
                  <a:srgbClr val="16213A"/>
                </a:solidFill>
                <a:latin typeface="Arial"/>
                <a:ea typeface="Malgun Gothic"/>
                <a:cs typeface="Malgun Gothic"/>
              </a:rPr>
              <a:t>(배경 0.6). </a:t>
            </a:r>
            <a:r>
              <a:rPr sz="1050" b="0" i="1">
                <a:solidFill>
                  <a:srgbClr val="16213A"/>
                </a:solidFill>
                <a:latin typeface="Arial"/>
                <a:ea typeface="Malgun Gothic"/>
                <a:cs typeface="Malgun Gothic"/>
              </a:rPr>
              <a:t>Y_ρ = (1-ρ) Z + ρ Y₀</a:t>
            </a:r>
            <a:r>
              <a:rPr sz="1050" b="0" i="0">
                <a:solidFill>
                  <a:srgbClr val="16213A"/>
                </a:solidFill>
                <a:latin typeface="Arial"/>
                <a:ea typeface="Malgun Gothic"/>
                <a:cs typeface="Malgun Gothic"/>
              </a:rPr>
              <a:t>, 목표 속도 </a:t>
            </a:r>
            <a:r>
              <a:rPr sz="1050" b="0" i="1">
                <a:solidFill>
                  <a:srgbClr val="16213A"/>
                </a:solidFill>
                <a:latin typeface="Arial"/>
                <a:ea typeface="Malgun Gothic"/>
                <a:cs typeface="Malgun Gothic"/>
              </a:rPr>
              <a:t>Y₀ - Z</a:t>
            </a:r>
            <a:r>
              <a:rPr sz="1050" b="0" i="0">
                <a:solidFill>
                  <a:srgbClr val="16213A"/>
                </a:solidFill>
                <a:latin typeface="Arial"/>
                <a:ea typeface="Malgun Gothic"/>
                <a:cs typeface="Malgun Gothic"/>
              </a:rPr>
              <a:t>. 네트워크는 (에이전트, 시각) 토큰에 인과 attention을 거는 CDiT로, 로봇과 참가자 미래가 </a:t>
            </a:r>
            <a:r>
              <a:rPr sz="1050" b="1" i="0">
                <a:solidFill>
                  <a:srgbClr val="16213A"/>
                </a:solidFill>
                <a:latin typeface="Arial"/>
                <a:ea typeface="Malgun Gothic"/>
                <a:cs typeface="Malgun Gothic"/>
              </a:rPr>
              <a:t>양방향으로</a:t>
            </a:r>
            <a:r>
              <a:rPr sz="1050" b="0" i="0">
                <a:solidFill>
                  <a:srgbClr val="16213A"/>
                </a:solidFill>
                <a:latin typeface="Arial"/>
                <a:ea typeface="Malgun Gothic"/>
                <a:cs typeface="Malgun Gothic"/>
              </a:rPr>
              <a:t> 영향을 주고받는다. 첫 로봇 waypoint는 속도 한계 안으로 제약하고, 나머지는 저수준 제어기의 spline 지지점으로 해석한다.</a:t>
            </a:r>
          </a:p>
        </p:txBody>
      </p:sp>
      <p:sp>
        <p:nvSpPr>
          <p:cNvPr id="8" name="TextBox 7"/>
          <p:cNvSpPr txBox="1"/>
          <p:nvPr/>
        </p:nvSpPr>
        <p:spPr>
          <a:xfrm>
            <a:off x="609600" y="2570162"/>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학습된 안전 포텐셜 guidance(DSPG).</a:t>
            </a:r>
            <a:r>
              <a:rPr sz="1050" b="0" i="0">
                <a:solidFill>
                  <a:srgbClr val="16213A"/>
                </a:solidFill>
                <a:latin typeface="Arial"/>
                <a:ea typeface="Malgun Gothic"/>
                <a:cs typeface="Malgun Gothic"/>
              </a:rPr>
              <a:t> 작은 네트워크 </a:t>
            </a:r>
            <a:r>
              <a:rPr sz="1050" b="0" i="1">
                <a:solidFill>
                  <a:srgbClr val="16213A"/>
                </a:solidFill>
                <a:latin typeface="Arial"/>
                <a:ea typeface="Malgun Gothic"/>
                <a:cs typeface="Malgun Gothic"/>
              </a:rPr>
              <a:t>φ_ψ</a:t>
            </a:r>
            <a:r>
              <a:rPr sz="1050" b="0" i="0">
                <a:solidFill>
                  <a:srgbClr val="16213A"/>
                </a:solidFill>
                <a:latin typeface="Arial"/>
                <a:ea typeface="Malgun Gothic"/>
                <a:cs typeface="Malgun Gothic"/>
              </a:rPr>
              <a:t>가 (위치, 시각)의 점유 확률 </a:t>
            </a:r>
            <a:r>
              <a:rPr sz="1050" b="0" i="1">
                <a:solidFill>
                  <a:srgbClr val="16213A"/>
                </a:solidFill>
                <a:latin typeface="Arial"/>
                <a:ea typeface="Malgun Gothic"/>
                <a:cs typeface="Malgun Gothic"/>
              </a:rPr>
              <a:t>P_ψ</a:t>
            </a:r>
            <a:r>
              <a:rPr sz="1050" b="0" i="0">
                <a:solidFill>
                  <a:srgbClr val="16213A"/>
                </a:solidFill>
                <a:latin typeface="Arial"/>
                <a:ea typeface="Malgun Gothic"/>
                <a:cs typeface="Malgun Gothic"/>
              </a:rPr>
              <a:t>를 배운다(참가자 발자국을 부풀린 곳이 양성). 생성 샘플의 안전 비용은 학습 점유 확률과 명시적 거리 여유를 softplus로 합친 것이다.</a:t>
            </a:r>
          </a:p>
        </p:txBody>
      </p:sp>
      <p:pic>
        <p:nvPicPr>
          <p:cNvPr id="9" name="Picture 8" descr="image.png"/>
          <p:cNvPicPr>
            <a:picLocks noChangeAspect="1"/>
          </p:cNvPicPr>
          <p:nvPr/>
        </p:nvPicPr>
        <p:blipFill>
          <a:blip r:embed="rId4"/>
          <a:stretch>
            <a:fillRect/>
          </a:stretch>
        </p:blipFill>
        <p:spPr>
          <a:xfrm>
            <a:off x="609600" y="3092053"/>
            <a:ext cx="6442075" cy="444500"/>
          </a:xfrm>
          <a:prstGeom prst="rect">
            <a:avLst/>
          </a:prstGeom>
        </p:spPr>
      </p:pic>
      <p:pic>
        <p:nvPicPr>
          <p:cNvPr id="10" name="Picture 9" descr="image.png"/>
          <p:cNvPicPr>
            <a:picLocks noChangeAspect="1"/>
          </p:cNvPicPr>
          <p:nvPr/>
        </p:nvPicPr>
        <p:blipFill>
          <a:blip r:embed="rId5"/>
          <a:stretch>
            <a:fillRect/>
          </a:stretch>
        </p:blipFill>
        <p:spPr>
          <a:xfrm>
            <a:off x="609600" y="3545880"/>
            <a:ext cx="3505200" cy="241300"/>
          </a:xfrm>
          <a:prstGeom prst="rect">
            <a:avLst/>
          </a:prstGeom>
        </p:spPr>
      </p:pic>
      <p:sp>
        <p:nvSpPr>
          <p:cNvPr id="11" name="TextBox 10"/>
          <p:cNvSpPr txBox="1"/>
          <p:nvPr/>
        </p:nvSpPr>
        <p:spPr>
          <a:xfrm>
            <a:off x="609600" y="3823395"/>
            <a:ext cx="10972800" cy="216495"/>
          </a:xfrm>
          <a:prstGeom prst="rect">
            <a:avLst/>
          </a:prstGeom>
          <a:noFill/>
        </p:spPr>
        <p:txBody>
          <a:bodyPr wrap="square" lIns="0" rIns="0" tIns="0" bIns="0" anchor="t">
            <a:spAutoFit/>
            <a:normAutofit/>
          </a:bodyPr>
          <a:lstStyle/>
          <a:p>
            <a:r>
              <a:rPr sz="1050" b="0" i="1">
                <a:solidFill>
                  <a:srgbClr val="16213A"/>
                </a:solidFill>
                <a:latin typeface="Arial"/>
                <a:ea typeface="Malgun Gothic"/>
                <a:cs typeface="Malgun Gothic"/>
              </a:rPr>
              <a:t>λ_(safe)(ρ)</a:t>
            </a:r>
            <a:r>
              <a:rPr sz="1050" b="0" i="0">
                <a:solidFill>
                  <a:srgbClr val="16213A"/>
                </a:solidFill>
                <a:latin typeface="Arial"/>
                <a:ea typeface="Malgun Gothic"/>
                <a:cs typeface="Malgun Gothic"/>
              </a:rPr>
              <a:t>는 끝으로 갈수록 커진다. 초반에는 다양성을 지키고 후반에 안전을 맞춘다.</a:t>
            </a:r>
          </a:p>
        </p:txBody>
      </p:sp>
      <p:sp>
        <p:nvSpPr>
          <p:cNvPr id="12" name="TextBox 11"/>
          <p:cNvSpPr txBox="1"/>
          <p:nvPr/>
        </p:nvSpPr>
        <p:spPr>
          <a:xfrm>
            <a:off x="609600" y="412879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학습 손실과 선택.</a:t>
            </a:r>
            <a:r>
              <a:rPr sz="1050" b="0" i="0">
                <a:solidFill>
                  <a:srgbClr val="16213A"/>
                </a:solidFill>
                <a:latin typeface="Arial"/>
                <a:ea typeface="Malgun Gothic"/>
                <a:cs typeface="Malgun Gothic"/>
              </a:rPr>
              <a:t> 흐름 손실에 점유 분류, 안전 비용, 목표로 단조 접근하게 하는 CLF 항을 더한다. 추론은 </a:t>
            </a:r>
            <a:r>
              <a:rPr sz="1050" b="0" i="1">
                <a:solidFill>
                  <a:srgbClr val="16213A"/>
                </a:solidFill>
                <a:latin typeface="Arial"/>
                <a:ea typeface="Malgun Gothic"/>
                <a:cs typeface="Malgun Gothic"/>
              </a:rPr>
              <a:t>M</a:t>
            </a:r>
            <a:r>
              <a:rPr sz="1050" b="0" i="0">
                <a:solidFill>
                  <a:srgbClr val="16213A"/>
                </a:solidFill>
                <a:latin typeface="Arial"/>
                <a:ea typeface="Malgun Gothic"/>
                <a:cs typeface="Malgun Gothic"/>
              </a:rPr>
              <a:t>개 공동 미래를 뽑아 목표 거리, 길이, 곡률, 안전 비용, </a:t>
            </a:r>
            <a:r>
              <a:rPr sz="1050" b="1" i="0">
                <a:solidFill>
                  <a:srgbClr val="16213A"/>
                </a:solidFill>
                <a:latin typeface="Arial"/>
                <a:ea typeface="Malgun Gothic"/>
                <a:cs typeface="Malgun Gothic"/>
              </a:rPr>
              <a:t>참가자 예측의 흩어짐(불확실성)</a:t>
            </a:r>
            <a:r>
              <a:rPr sz="1050" b="0" i="0">
                <a:solidFill>
                  <a:srgbClr val="16213A"/>
                </a:solidFill>
                <a:latin typeface="Arial"/>
                <a:ea typeface="Malgun Gothic"/>
                <a:cs typeface="Malgun Gothic"/>
              </a:rPr>
              <a:t>을 가중합해 고르고, 첫 구간만 실행한 뒤 다시 계획한다.</a:t>
            </a:r>
          </a:p>
        </p:txBody>
      </p:sp>
      <p:pic>
        <p:nvPicPr>
          <p:cNvPr id="13" name="Picture 12" descr="image.png"/>
          <p:cNvPicPr>
            <a:picLocks noChangeAspect="1"/>
          </p:cNvPicPr>
          <p:nvPr/>
        </p:nvPicPr>
        <p:blipFill>
          <a:blip r:embed="rId6"/>
          <a:stretch>
            <a:fillRect/>
          </a:stretch>
        </p:blipFill>
        <p:spPr>
          <a:xfrm>
            <a:off x="609600" y="4650680"/>
            <a:ext cx="7683500" cy="422275"/>
          </a:xfrm>
          <a:prstGeom prst="rect">
            <a:avLst/>
          </a:prstGeom>
        </p:spPr>
      </p:pic>
      <p:sp>
        <p:nvSpPr>
          <p:cNvPr id="14" name="TextBox 13"/>
          <p:cNvSpPr txBox="1"/>
          <p:nvPr/>
        </p:nvSpPr>
        <p:spPr>
          <a:xfrm>
            <a:off x="609600" y="5084564"/>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것.</a:t>
            </a:r>
            <a:r>
              <a:rPr sz="1050" b="0" i="0">
                <a:solidFill>
                  <a:srgbClr val="16213A"/>
                </a:solidFill>
                <a:latin typeface="Arial"/>
                <a:ea typeface="Malgun Gothic"/>
                <a:cs typeface="Malgun Gothic"/>
              </a:rPr>
              <a:t> 도메인과 구조가 Planner D와 가장 가깝다. "끝으로 갈수록 커지는 guidance 가중치"는 </a:t>
            </a:r>
            <a:r>
              <a:rPr sz="1050" b="0" i="0">
                <a:solidFill>
                  <a:srgbClr val="16213A"/>
                </a:solidFill>
                <a:latin typeface="Consolas"/>
                <a:ea typeface="Malgun Gothic"/>
                <a:cs typeface="Malgun Gothic"/>
              </a:rPr>
              <a:t>planner_dg</a:t>
            </a:r>
            <a:r>
              <a:rPr sz="1050" b="0" i="0">
                <a:solidFill>
                  <a:srgbClr val="16213A"/>
                </a:solidFill>
                <a:latin typeface="Arial"/>
                <a:ea typeface="Malgun Gothic"/>
                <a:cs typeface="Malgun Gothic"/>
              </a:rPr>
              <a:t>의 고정 </a:t>
            </a:r>
            <a:r>
              <a:rPr sz="1050" b="0" i="1">
                <a:solidFill>
                  <a:srgbClr val="16213A"/>
                </a:solidFill>
                <a:latin typeface="Arial"/>
                <a:ea typeface="Malgun Gothic"/>
                <a:cs typeface="Malgun Gothic"/>
              </a:rPr>
              <a:t>s = 1.0</a:t>
            </a:r>
            <a:r>
              <a:rPr sz="1050" b="0" i="0">
                <a:solidFill>
                  <a:srgbClr val="16213A"/>
                </a:solidFill>
                <a:latin typeface="Arial"/>
                <a:ea typeface="Malgun Gothic"/>
                <a:cs typeface="Malgun Gothic"/>
              </a:rPr>
              <a:t>을 바꿀 후보이고, "예측 흩어짐으로 보수성 조절"은 선택기 개선 후보다.</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생성형 궤적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B.8 시간·주변 에이전트·기구학을 함께 고려하는 생성형 궤적 Planner</a:t>
            </a:r>
            <a:r>
              <a:rPr sz="1050" b="0" i="0">
                <a:solidFill>
                  <a:srgbClr val="5A6478"/>
                </a:solidFill>
                <a:latin typeface="Arial"/>
                <a:ea typeface="Malgun Gothic"/>
                <a:cs typeface="Malgun Gothic"/>
              </a:rPr>
              <a:t>  자세히: GRACE의 방법과 수식</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62 / 516</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관찰: 확산과 MPPI는 같은 "score 올라가기"다.</a:t>
            </a:r>
            <a:r>
              <a:rPr sz="1050" b="0" i="0">
                <a:solidFill>
                  <a:srgbClr val="16213A"/>
                </a:solidFill>
                <a:latin typeface="Arial"/>
                <a:ea typeface="Malgun Gothic"/>
                <a:cs typeface="Malgun Gothic"/>
              </a:rPr>
              <a:t> 확산의 역방향 평균은 score 방향으로 한 걸음 가는 것과 같고, MPPI의 최적 분포도 비용의 볼츠만 분포와 가우시안의 곱이다(배경 0.2, 0.5).</a:t>
            </a:r>
          </a:p>
        </p:txBody>
      </p:sp>
      <p:pic>
        <p:nvPicPr>
          <p:cNvPr id="6" name="Picture 5" descr="image.png"/>
          <p:cNvPicPr>
            <a:picLocks noChangeAspect="1"/>
          </p:cNvPicPr>
          <p:nvPr/>
        </p:nvPicPr>
        <p:blipFill>
          <a:blip r:embed="rId3"/>
          <a:stretch>
            <a:fillRect/>
          </a:stretch>
        </p:blipFill>
        <p:spPr>
          <a:xfrm>
            <a:off x="609600" y="1549995"/>
            <a:ext cx="4937125" cy="247650"/>
          </a:xfrm>
          <a:prstGeom prst="rect">
            <a:avLst/>
          </a:prstGeom>
        </p:spPr>
      </p:pic>
      <p:sp>
        <p:nvSpPr>
          <p:cNvPr id="7" name="TextBox 6"/>
          <p:cNvSpPr txBox="1"/>
          <p:nvPr/>
        </p:nvSpPr>
        <p:spPr>
          <a:xfrm>
            <a:off x="609600" y="1831777"/>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비용 조건 사후분포.</a:t>
            </a:r>
            <a:r>
              <a:rPr sz="1050" b="0" i="0">
                <a:solidFill>
                  <a:srgbClr val="16213A"/>
                </a:solidFill>
                <a:latin typeface="Arial"/>
                <a:ea typeface="Malgun Gothic"/>
                <a:cs typeface="Malgun Gothic"/>
              </a:rPr>
              <a:t> 배포 때의 목적을 "사건 </a:t>
            </a:r>
            <a:r>
              <a:rPr sz="1050" b="0" i="1">
                <a:solidFill>
                  <a:srgbClr val="16213A"/>
                </a:solidFill>
                <a:latin typeface="Arial"/>
                <a:ea typeface="Malgun Gothic"/>
                <a:cs typeface="Malgun Gothic"/>
              </a:rPr>
              <a:t>𝒞</a:t>
            </a:r>
            <a:r>
              <a:rPr sz="1050" b="0" i="0">
                <a:solidFill>
                  <a:srgbClr val="16213A"/>
                </a:solidFill>
                <a:latin typeface="Arial"/>
                <a:ea typeface="Malgun Gothic"/>
                <a:cs typeface="Malgun Gothic"/>
              </a:rPr>
              <a:t>"로 두고 우도를 </a:t>
            </a:r>
            <a:r>
              <a:rPr sz="1050" b="0" i="1">
                <a:solidFill>
                  <a:srgbClr val="16213A"/>
                </a:solidFill>
                <a:latin typeface="Arial"/>
                <a:ea typeface="Malgun Gothic"/>
                <a:cs typeface="Malgun Gothic"/>
              </a:rPr>
              <a:t>p(𝒞 | U) ∝ e^(-J(U)/λ)</a:t>
            </a:r>
            <a:r>
              <a:rPr sz="1050" b="0" i="0">
                <a:solidFill>
                  <a:srgbClr val="16213A"/>
                </a:solidFill>
                <a:latin typeface="Arial"/>
                <a:ea typeface="Malgun Gothic"/>
                <a:cs typeface="Malgun Gothic"/>
              </a:rPr>
              <a:t>로 잡으면, 역방향 한 스텝의 목표 분포가 MPPI 최적 분포와 </a:t>
            </a:r>
            <a:r>
              <a:rPr sz="1050" b="1" i="0">
                <a:solidFill>
                  <a:srgbClr val="16213A"/>
                </a:solidFill>
                <a:latin typeface="Arial"/>
                <a:ea typeface="Malgun Gothic"/>
                <a:cs typeface="Malgun Gothic"/>
              </a:rPr>
              <a:t>같은 곱 형태</a:t>
            </a:r>
            <a:r>
              <a:rPr sz="1050" b="0" i="0">
                <a:solidFill>
                  <a:srgbClr val="16213A"/>
                </a:solidFill>
                <a:latin typeface="Arial"/>
                <a:ea typeface="Malgun Gothic"/>
                <a:cs typeface="Malgun Gothic"/>
              </a:rPr>
              <a:t>가 된다.</a:t>
            </a:r>
          </a:p>
        </p:txBody>
      </p:sp>
      <p:pic>
        <p:nvPicPr>
          <p:cNvPr id="8" name="Picture 7" descr="image.png"/>
          <p:cNvPicPr>
            <a:picLocks noChangeAspect="1"/>
          </p:cNvPicPr>
          <p:nvPr/>
        </p:nvPicPr>
        <p:blipFill>
          <a:blip r:embed="rId4"/>
          <a:stretch>
            <a:fillRect/>
          </a:stretch>
        </p:blipFill>
        <p:spPr>
          <a:xfrm>
            <a:off x="609600" y="2137172"/>
            <a:ext cx="3851275" cy="466725"/>
          </a:xfrm>
          <a:prstGeom prst="rect">
            <a:avLst/>
          </a:prstGeom>
        </p:spPr>
      </p:pic>
      <p:sp>
        <p:nvSpPr>
          <p:cNvPr id="9" name="TextBox 8"/>
          <p:cNvSpPr txBox="1"/>
          <p:nvPr/>
        </p:nvSpPr>
        <p:spPr>
          <a:xfrm>
            <a:off x="609600" y="260975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MPPI 한 번으로 평균 추정.</a:t>
            </a:r>
            <a:r>
              <a:rPr sz="1050" b="0" i="0">
                <a:solidFill>
                  <a:srgbClr val="16213A"/>
                </a:solidFill>
                <a:latin typeface="Arial"/>
                <a:ea typeface="Malgun Gothic"/>
                <a:cs typeface="Malgun Gothic"/>
              </a:rPr>
              <a:t> 이 사후분포를 공분산 </a:t>
            </a:r>
            <a:r>
              <a:rPr sz="1050" b="0" i="1">
                <a:solidFill>
                  <a:srgbClr val="16213A"/>
                </a:solidFill>
                <a:latin typeface="Arial"/>
                <a:ea typeface="Malgun Gothic"/>
                <a:cs typeface="Malgun Gothic"/>
              </a:rPr>
              <a:t>Σ⁽ⁱ⁾</a:t>
            </a:r>
            <a:r>
              <a:rPr sz="1050" b="0" i="0">
                <a:solidFill>
                  <a:srgbClr val="16213A"/>
                </a:solidFill>
                <a:latin typeface="Arial"/>
                <a:ea typeface="Malgun Gothic"/>
                <a:cs typeface="Malgun Gothic"/>
              </a:rPr>
              <a:t>가 고정된 가우시안으로 KL 투영하면 평균만 맞추면 되고, 그 평균은 확산 평균 </a:t>
            </a:r>
            <a:r>
              <a:rPr sz="1050" b="0" i="1">
                <a:solidFill>
                  <a:srgbClr val="16213A"/>
                </a:solidFill>
                <a:latin typeface="Arial"/>
                <a:ea typeface="Malgun Gothic"/>
                <a:cs typeface="Malgun Gothic"/>
              </a:rPr>
              <a:t>μ⁽ⁱ⁾</a:t>
            </a:r>
            <a:r>
              <a:rPr sz="1050" b="0" i="0">
                <a:solidFill>
                  <a:srgbClr val="16213A"/>
                </a:solidFill>
                <a:latin typeface="Arial"/>
                <a:ea typeface="Malgun Gothic"/>
                <a:cs typeface="Malgun Gothic"/>
              </a:rPr>
              <a:t> 주변에서 굴린 샘플의 비용 가중 평균(MPPI 한 번)으로 추정된다. 비용 </a:t>
            </a:r>
            <a:r>
              <a:rPr sz="1050" b="0" i="1">
                <a:solidFill>
                  <a:srgbClr val="16213A"/>
                </a:solidFill>
                <a:latin typeface="Arial"/>
                <a:ea typeface="Malgun Gothic"/>
                <a:cs typeface="Malgun Gothic"/>
              </a:rPr>
              <a:t>J</a:t>
            </a:r>
            <a:r>
              <a:rPr sz="1050" b="0" i="0">
                <a:solidFill>
                  <a:srgbClr val="16213A"/>
                </a:solidFill>
                <a:latin typeface="Arial"/>
                <a:ea typeface="Malgun Gothic"/>
                <a:cs typeface="Malgun Gothic"/>
              </a:rPr>
              <a:t>를 </a:t>
            </a:r>
            <a:r>
              <a:rPr sz="1050" b="1" i="0">
                <a:solidFill>
                  <a:srgbClr val="16213A"/>
                </a:solidFill>
                <a:latin typeface="Arial"/>
                <a:ea typeface="Malgun Gothic"/>
                <a:cs typeface="Malgun Gothic"/>
              </a:rPr>
              <a:t>미분할 필요가 없으므로</a:t>
            </a:r>
            <a:r>
              <a:rPr sz="1050" b="0" i="0">
                <a:solidFill>
                  <a:srgbClr val="16213A"/>
                </a:solidFill>
                <a:latin typeface="Arial"/>
                <a:ea typeface="Malgun Gothic"/>
                <a:cs typeface="Malgun Gothic"/>
              </a:rPr>
              <a:t> 충돌 여부 같은 이진 비용도 쓸 수 있다.</a:t>
            </a:r>
          </a:p>
        </p:txBody>
      </p:sp>
      <p:pic>
        <p:nvPicPr>
          <p:cNvPr id="10" name="Picture 9" descr="image.png"/>
          <p:cNvPicPr>
            <a:picLocks noChangeAspect="1"/>
          </p:cNvPicPr>
          <p:nvPr/>
        </p:nvPicPr>
        <p:blipFill>
          <a:blip r:embed="rId5"/>
          <a:stretch>
            <a:fillRect/>
          </a:stretch>
        </p:blipFill>
        <p:spPr>
          <a:xfrm>
            <a:off x="609600" y="3131641"/>
            <a:ext cx="4286250" cy="441325"/>
          </a:xfrm>
          <a:prstGeom prst="rect">
            <a:avLst/>
          </a:prstGeom>
        </p:spPr>
      </p:pic>
      <p:sp>
        <p:nvSpPr>
          <p:cNvPr id="11" name="TextBox 10"/>
          <p:cNvSpPr txBox="1"/>
          <p:nvPr/>
        </p:nvSpPr>
        <p:spPr>
          <a:xfrm>
            <a:off x="609600" y="3580805"/>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것.</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planner_dg</a:t>
            </a:r>
            <a:r>
              <a:rPr sz="1050" b="0" i="0">
                <a:solidFill>
                  <a:srgbClr val="16213A"/>
                </a:solidFill>
                <a:latin typeface="Arial"/>
                <a:ea typeface="Malgun Gothic"/>
                <a:cs typeface="Malgun Gothic"/>
              </a:rPr>
              <a:t>는 TravMap 비용의 </a:t>
            </a:r>
            <a:r>
              <a:rPr sz="1050" b="1" i="0">
                <a:solidFill>
                  <a:srgbClr val="16213A"/>
                </a:solidFill>
                <a:latin typeface="Arial"/>
                <a:ea typeface="Malgun Gothic"/>
                <a:cs typeface="Malgun Gothic"/>
              </a:rPr>
              <a:t>기울기</a:t>
            </a:r>
            <a:r>
              <a:rPr sz="1050" b="0" i="0">
                <a:solidFill>
                  <a:srgbClr val="16213A"/>
                </a:solidFill>
                <a:latin typeface="Arial"/>
                <a:ea typeface="Malgun Gothic"/>
                <a:cs typeface="Malgun Gothic"/>
              </a:rPr>
              <a:t>를 쓰는데, 치명 셀처럼 불연속한 비용에서는 기울기가 거의 없다(그래서 부드러운 대리 비용을 따로 둔다). GRACE 방식이면 travplan MPPI의 비용 항을 그대로 써서 Planner D 샘플을 유도할 수 있다. 단, 스텝마다 rollout이 필요해 지연이 커진다.</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생성형 궤적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B.8 시간·주변 에이전트·기구학을 함께 고려하는 생성형 궤적 Planner</a:t>
            </a:r>
            <a:r>
              <a:rPr sz="1050" b="0" i="0">
                <a:solidFill>
                  <a:srgbClr val="5A6478"/>
                </a:solidFill>
                <a:latin typeface="Arial"/>
                <a:ea typeface="Malgun Gothic"/>
                <a:cs typeface="Malgun Gothic"/>
              </a:rPr>
              <a:t>  자세히: 제약을 확산 안에서 거는 두 방식 — 기울기로 밀기와 노이즈 치환</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63 / 516</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① CoDiG — barrier를 조건 분포로 본다.</a:t>
            </a:r>
            <a:r>
              <a:rPr sz="1050" b="0" i="0">
                <a:solidFill>
                  <a:srgbClr val="16213A"/>
                </a:solidFill>
                <a:latin typeface="Arial"/>
                <a:ea typeface="Malgun Gothic"/>
                <a:cs typeface="Malgun Gothic"/>
              </a:rPr>
              <a:t> 제약을 만족하는 궤적의 분포를 원래 분포에 지수 barrier를 곱한 것으로 정의한다. </a:t>
            </a:r>
            <a:r>
              <a:rPr sz="1050" b="0" i="1">
                <a:solidFill>
                  <a:srgbClr val="16213A"/>
                </a:solidFill>
                <a:latin typeface="Arial"/>
                <a:ea typeface="Malgun Gothic"/>
                <a:cs typeface="Malgun Gothic"/>
              </a:rPr>
              <a:t>V</a:t>
            </a:r>
            <a:r>
              <a:rPr sz="1050" b="0" i="0">
                <a:solidFill>
                  <a:srgbClr val="16213A"/>
                </a:solidFill>
                <a:latin typeface="Arial"/>
                <a:ea typeface="Malgun Gothic"/>
                <a:cs typeface="Malgun Gothic"/>
              </a:rPr>
              <a:t>는 제약 위반량이고, </a:t>
            </a:r>
            <a:r>
              <a:rPr sz="1050" b="0" i="1">
                <a:solidFill>
                  <a:srgbClr val="16213A"/>
                </a:solidFill>
                <a:latin typeface="Arial"/>
                <a:ea typeface="Malgun Gothic"/>
                <a:cs typeface="Malgun Gothic"/>
              </a:rPr>
              <a:t>𝒞</a:t>
            </a:r>
            <a:r>
              <a:rPr sz="1050" b="0" i="0">
                <a:solidFill>
                  <a:srgbClr val="16213A"/>
                </a:solidFill>
                <a:latin typeface="Arial"/>
                <a:ea typeface="Malgun Gothic"/>
                <a:cs typeface="Malgun Gothic"/>
              </a:rPr>
              <a:t>는 그 장면의 제약(장애물 배치)이다.</a:t>
            </a:r>
          </a:p>
        </p:txBody>
      </p:sp>
      <p:pic>
        <p:nvPicPr>
          <p:cNvPr id="6" name="Picture 5" descr="image.png"/>
          <p:cNvPicPr>
            <a:picLocks noChangeAspect="1"/>
          </p:cNvPicPr>
          <p:nvPr/>
        </p:nvPicPr>
        <p:blipFill>
          <a:blip r:embed="rId3"/>
          <a:stretch>
            <a:fillRect/>
          </a:stretch>
        </p:blipFill>
        <p:spPr>
          <a:xfrm>
            <a:off x="609600" y="1549995"/>
            <a:ext cx="2282825" cy="387350"/>
          </a:xfrm>
          <a:prstGeom prst="rect">
            <a:avLst/>
          </a:prstGeom>
        </p:spPr>
      </p:pic>
      <p:sp>
        <p:nvSpPr>
          <p:cNvPr id="7" name="TextBox 6"/>
          <p:cNvSpPr txBox="1"/>
          <p:nvPr/>
        </p:nvSpPr>
        <p:spPr>
          <a:xfrm>
            <a:off x="609600" y="1955304"/>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로그를 미분하면 score에 항 하나가 더해질 뿐이라, 역방향 SDE 한 줄만 고치면 된다. 학습은 건드리지 않는다.</a:t>
            </a:r>
          </a:p>
        </p:txBody>
      </p:sp>
      <p:pic>
        <p:nvPicPr>
          <p:cNvPr id="8" name="Picture 7" descr="image.png"/>
          <p:cNvPicPr>
            <a:picLocks noChangeAspect="1"/>
          </p:cNvPicPr>
          <p:nvPr/>
        </p:nvPicPr>
        <p:blipFill>
          <a:blip r:embed="rId4"/>
          <a:stretch>
            <a:fillRect/>
          </a:stretch>
        </p:blipFill>
        <p:spPr>
          <a:xfrm>
            <a:off x="609600" y="2260699"/>
            <a:ext cx="5540375" cy="330200"/>
          </a:xfrm>
          <a:prstGeom prst="rect">
            <a:avLst/>
          </a:prstGeom>
        </p:spPr>
      </p:pic>
      <p:sp>
        <p:nvSpPr>
          <p:cNvPr id="9" name="TextBox 8"/>
          <p:cNvSpPr txBox="1"/>
          <p:nvPr/>
        </p:nvSpPr>
        <p:spPr>
          <a:xfrm>
            <a:off x="609600" y="2613620"/>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경주 실험의 </a:t>
            </a:r>
            <a:r>
              <a:rPr sz="1050" b="0" i="1">
                <a:solidFill>
                  <a:srgbClr val="16213A"/>
                </a:solidFill>
                <a:latin typeface="Arial"/>
                <a:ea typeface="Malgun Gothic"/>
                <a:cs typeface="Malgun Gothic"/>
              </a:rPr>
              <a:t>V</a:t>
            </a:r>
            <a:r>
              <a:rPr sz="1050" b="0" i="0">
                <a:solidFill>
                  <a:srgbClr val="16213A"/>
                </a:solidFill>
                <a:latin typeface="Arial"/>
                <a:ea typeface="Malgun Gothic"/>
                <a:cs typeface="Malgun Gothic"/>
              </a:rPr>
              <a:t>는 주행 가능 영역을 벗어난 만큼의 지시 함수 항과, 명목 시간 최적 해 근처에 머물게 하는 부드러운 항을 합친 것이다. 가중치 </a:t>
            </a:r>
            <a:r>
              <a:rPr sz="1050" b="0" i="1">
                <a:solidFill>
                  <a:srgbClr val="16213A"/>
                </a:solidFill>
                <a:latin typeface="Arial"/>
                <a:ea typeface="Malgun Gothic"/>
                <a:cs typeface="Malgun Gothic"/>
              </a:rPr>
              <a:t>γₜ</a:t>
            </a:r>
            <a:r>
              <a:rPr sz="1050" b="0" i="0">
                <a:solidFill>
                  <a:srgbClr val="16213A"/>
                </a:solidFill>
                <a:latin typeface="Arial"/>
                <a:ea typeface="Malgun Gothic"/>
                <a:cs typeface="Malgun Gothic"/>
              </a:rPr>
              <a:t>는 sigmoid로 스케줄해 </a:t>
            </a:r>
            <a:r>
              <a:rPr sz="1050" b="1" i="0">
                <a:solidFill>
                  <a:srgbClr val="16213A"/>
                </a:solidFill>
                <a:latin typeface="Arial"/>
                <a:ea typeface="Malgun Gothic"/>
                <a:cs typeface="Malgun Gothic"/>
              </a:rPr>
              <a:t>노이즈가 작아지는 후반에 커진다</a:t>
            </a:r>
            <a:r>
              <a:rPr sz="1050" b="0" i="0">
                <a:solidFill>
                  <a:srgbClr val="16213A"/>
                </a:solidFill>
                <a:latin typeface="Arial"/>
                <a:ea typeface="Malgun Gothic"/>
                <a:cs typeface="Malgun Gothic"/>
              </a:rPr>
              <a:t>. JPPD의 </a:t>
            </a:r>
            <a:r>
              <a:rPr sz="1050" b="0" i="1">
                <a:solidFill>
                  <a:srgbClr val="16213A"/>
                </a:solidFill>
                <a:latin typeface="Arial"/>
                <a:ea typeface="Malgun Gothic"/>
                <a:cs typeface="Malgun Gothic"/>
              </a:rPr>
              <a:t>λ_(safe)(ρ)</a:t>
            </a:r>
            <a:r>
              <a:rPr sz="1050" b="0" i="0">
                <a:solidFill>
                  <a:srgbClr val="16213A"/>
                </a:solidFill>
                <a:latin typeface="Arial"/>
                <a:ea typeface="Malgun Gothic"/>
                <a:cs typeface="Malgun Gothic"/>
              </a:rPr>
              <a:t>와 같은 처방이다.</a:t>
            </a:r>
          </a:p>
        </p:txBody>
      </p:sp>
      <p:sp>
        <p:nvSpPr>
          <p:cNvPr id="10" name="TextBox 9"/>
          <p:cNvSpPr txBox="1"/>
          <p:nvPr/>
        </p:nvSpPr>
        <p:spPr>
          <a:xfrm>
            <a:off x="609600" y="313551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② 최적화 guidance — 난수를 변수로 바꾼다.</a:t>
            </a:r>
            <a:r>
              <a:rPr sz="1050" b="0" i="0">
                <a:solidFill>
                  <a:srgbClr val="16213A"/>
                </a:solidFill>
                <a:latin typeface="Arial"/>
                <a:ea typeface="Malgun Gothic"/>
                <a:cs typeface="Malgun Gothic"/>
              </a:rPr>
              <a:t> DDIM 한 스텝의 섭동 </a:t>
            </a:r>
            <a:r>
              <a:rPr sz="1050" b="0" i="1">
                <a:solidFill>
                  <a:srgbClr val="16213A"/>
                </a:solidFill>
                <a:latin typeface="Arial"/>
                <a:ea typeface="Malgun Gothic"/>
                <a:cs typeface="Malgun Gothic"/>
              </a:rPr>
              <a:t>σₖ δₖ</a:t>
            </a:r>
            <a:r>
              <a:rPr sz="1050" b="0" i="0">
                <a:solidFill>
                  <a:srgbClr val="16213A"/>
                </a:solidFill>
                <a:latin typeface="Arial"/>
                <a:ea typeface="Malgun Gothic"/>
                <a:cs typeface="Malgun Gothic"/>
              </a:rPr>
              <a:t>에서 </a:t>
            </a:r>
            <a:r>
              <a:rPr sz="1050" b="0" i="1">
                <a:solidFill>
                  <a:srgbClr val="16213A"/>
                </a:solidFill>
                <a:latin typeface="Arial"/>
                <a:ea typeface="Malgun Gothic"/>
                <a:cs typeface="Malgun Gothic"/>
              </a:rPr>
              <a:t>δₖ</a:t>
            </a:r>
            <a:r>
              <a:rPr sz="1050" b="0" i="0">
                <a:solidFill>
                  <a:srgbClr val="16213A"/>
                </a:solidFill>
                <a:latin typeface="Arial"/>
                <a:ea typeface="Malgun Gothic"/>
                <a:cs typeface="Malgun Gothic"/>
              </a:rPr>
              <a:t>를 난수가 아니라 최적화 변수로 둔다. </a:t>
            </a:r>
            <a:r>
              <a:rPr sz="1050" b="0" i="1">
                <a:solidFill>
                  <a:srgbClr val="16213A"/>
                </a:solidFill>
                <a:latin typeface="Arial"/>
                <a:ea typeface="Malgun Gothic"/>
                <a:cs typeface="Malgun Gothic"/>
              </a:rPr>
              <a:t>‖ δₖ ‖²</a:t>
            </a:r>
            <a:r>
              <a:rPr sz="1050" b="0" i="0">
                <a:solidFill>
                  <a:srgbClr val="16213A"/>
                </a:solidFill>
                <a:latin typeface="Arial"/>
                <a:ea typeface="Malgun Gothic"/>
                <a:cs typeface="Malgun Gothic"/>
              </a:rPr>
              <a:t> 항이 "학습한 prior에서 멀어지지 말라"는 뜻이고, 실행 가능성은 종단 집합 </a:t>
            </a:r>
            <a:r>
              <a:rPr sz="1050" b="0" i="1">
                <a:solidFill>
                  <a:srgbClr val="16213A"/>
                </a:solidFill>
                <a:latin typeface="Arial"/>
                <a:ea typeface="Malgun Gothic"/>
                <a:cs typeface="Malgun Gothic"/>
              </a:rPr>
              <a:t>𝒳_(target)</a:t>
            </a:r>
            <a:r>
              <a:rPr sz="1050" b="0" i="0">
                <a:solidFill>
                  <a:srgbClr val="16213A"/>
                </a:solidFill>
                <a:latin typeface="Arial"/>
                <a:ea typeface="Malgun Gothic"/>
                <a:cs typeface="Malgun Gothic"/>
              </a:rPr>
              <a:t>의 hard 제약과 스텝별 벌점 </a:t>
            </a:r>
            <a:r>
              <a:rPr sz="1050" b="0" i="1">
                <a:solidFill>
                  <a:srgbClr val="16213A"/>
                </a:solidFill>
                <a:latin typeface="Arial"/>
                <a:ea typeface="Malgun Gothic"/>
                <a:cs typeface="Malgun Gothic"/>
              </a:rPr>
              <a:t>βₖ J(xₖ)</a:t>
            </a:r>
            <a:r>
              <a:rPr sz="1050" b="0" i="0">
                <a:solidFill>
                  <a:srgbClr val="16213A"/>
                </a:solidFill>
                <a:latin typeface="Arial"/>
                <a:ea typeface="Malgun Gothic"/>
                <a:cs typeface="Malgun Gothic"/>
              </a:rPr>
              <a:t>로 건다. 역시 재학습이 없다.</a:t>
            </a:r>
          </a:p>
        </p:txBody>
      </p:sp>
      <p:pic>
        <p:nvPicPr>
          <p:cNvPr id="11" name="Picture 10" descr="image.png"/>
          <p:cNvPicPr>
            <a:picLocks noChangeAspect="1"/>
          </p:cNvPicPr>
          <p:nvPr/>
        </p:nvPicPr>
        <p:blipFill>
          <a:blip r:embed="rId5"/>
          <a:stretch>
            <a:fillRect/>
          </a:stretch>
        </p:blipFill>
        <p:spPr>
          <a:xfrm>
            <a:off x="609600" y="3657402"/>
            <a:ext cx="6486525" cy="422275"/>
          </a:xfrm>
          <a:prstGeom prst="rect">
            <a:avLst/>
          </a:prstGeom>
        </p:spPr>
      </p:pic>
      <p:sp>
        <p:nvSpPr>
          <p:cNvPr id="12" name="TextBox 11"/>
          <p:cNvSpPr txBox="1"/>
          <p:nvPr/>
        </p:nvSpPr>
        <p:spPr>
          <a:xfrm>
            <a:off x="609600" y="4091285"/>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비용 차이가 결론을 가른다.</a:t>
            </a:r>
            <a:r>
              <a:rPr sz="1050" b="0" i="0">
                <a:solidFill>
                  <a:srgbClr val="16213A"/>
                </a:solidFill>
                <a:latin typeface="Arial"/>
                <a:ea typeface="Malgun Gothic"/>
                <a:cs typeface="Malgun Gothic"/>
              </a:rPr>
              <a:t> 기울기로 미는 쪽은 DDIM 79.3 ms 대비 84 ms로 사실상 공짜다. 제약을 진짜로 푸는 쪽은 Theseus 3.63 s, IPOPT 5.47 s로 </a:t>
            </a:r>
            <a:r>
              <a:rPr sz="1050" b="1" i="0">
                <a:solidFill>
                  <a:srgbClr val="16213A"/>
                </a:solidFill>
                <a:latin typeface="Arial"/>
                <a:ea typeface="Malgun Gothic"/>
                <a:cs typeface="Malgun Gothic"/>
              </a:rPr>
              <a:t>46–69배</a:t>
            </a:r>
            <a:r>
              <a:rPr sz="1050" b="0" i="0">
                <a:solidFill>
                  <a:srgbClr val="16213A"/>
                </a:solidFill>
                <a:latin typeface="Arial"/>
                <a:ea typeface="Malgun Gothic"/>
                <a:cs typeface="Malgun Gothic"/>
              </a:rPr>
              <a:t>가 된다. CoDiG도 warm start 없이는 4090에서 0.25 Hz다. </a:t>
            </a:r>
            <a:r>
              <a:rPr sz="1050" b="1" i="0">
                <a:solidFill>
                  <a:srgbClr val="C2410C"/>
                </a:solidFill>
                <a:latin typeface="Arial"/>
                <a:ea typeface="Malgun Gothic"/>
                <a:cs typeface="Malgun Gothic"/>
              </a:rPr>
              <a:t>travplan Planner D는 3.4 ms에 계획한다.</a:t>
            </a:r>
            <a:r>
              <a:rPr sz="1050" b="0" i="0">
                <a:solidFill>
                  <a:srgbClr val="16213A"/>
                </a:solidFill>
                <a:latin typeface="Arial"/>
                <a:ea typeface="Malgun Gothic"/>
                <a:cs typeface="Malgun Gothic"/>
              </a:rPr>
              <a:t> 이 계열에서 가져올 수 있는 것은 기울기 안내뿐이고, 최적화 치환은 지금 예산 밖이다.</a:t>
            </a:r>
          </a:p>
        </p:txBody>
      </p:sp>
      <p:sp>
        <p:nvSpPr>
          <p:cNvPr id="13" name="TextBox 12"/>
          <p:cNvSpPr txBox="1"/>
          <p:nvPr/>
        </p:nvSpPr>
        <p:spPr>
          <a:xfrm>
            <a:off x="609600" y="4613176"/>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것.</a:t>
            </a:r>
            <a:r>
              <a:rPr sz="1050" b="0" i="0">
                <a:solidFill>
                  <a:srgbClr val="16213A"/>
                </a:solidFill>
                <a:latin typeface="Arial"/>
                <a:ea typeface="Malgun Gothic"/>
                <a:cs typeface="Malgun Gothic"/>
              </a:rPr>
              <a:t> Planner D는 제어 공간에서 생성하므로 </a:t>
            </a:r>
            <a:r>
              <a:rPr sz="1050" b="1" i="0">
                <a:solidFill>
                  <a:srgbClr val="16213A"/>
                </a:solidFill>
                <a:latin typeface="Arial"/>
                <a:ea typeface="Malgun Gothic"/>
                <a:cs typeface="Malgun Gothic"/>
              </a:rPr>
              <a:t>기구학은 이미 지킨다</a:t>
            </a:r>
            <a:r>
              <a:rPr sz="1050" b="0" i="0">
                <a:solidFill>
                  <a:srgbClr val="16213A"/>
                </a:solidFill>
                <a:latin typeface="Arial"/>
                <a:ea typeface="Malgun Gothic"/>
                <a:cs typeface="Malgun Gothic"/>
              </a:rPr>
              <a:t>(아래 (c)). 지키지 못하는 것은 </a:t>
            </a:r>
            <a:r>
              <a:rPr sz="1050" b="1" i="0">
                <a:solidFill>
                  <a:srgbClr val="16213A"/>
                </a:solidFill>
                <a:latin typeface="Arial"/>
                <a:ea typeface="Malgun Gothic"/>
                <a:cs typeface="Malgun Gothic"/>
              </a:rPr>
              <a:t>지도 제약</a:t>
            </a:r>
            <a:r>
              <a:rPr sz="1050" b="0" i="0">
                <a:solidFill>
                  <a:srgbClr val="16213A"/>
                </a:solidFill>
                <a:latin typeface="Arial"/>
                <a:ea typeface="Malgun Gothic"/>
                <a:cs typeface="Malgun Gothic"/>
              </a:rPr>
              <a:t>이다. 치명 셀(cost ≥ 0.95), 가림이 만든 그림자 벽(TP-0047·TP-0067), 보행자가 그것이다. </a:t>
            </a:r>
            <a:r>
              <a:rPr sz="1050" b="0" i="0">
                <a:solidFill>
                  <a:srgbClr val="16213A"/>
                </a:solidFill>
                <a:latin typeface="Consolas"/>
                <a:ea typeface="Malgun Gothic"/>
                <a:cs typeface="Malgun Gothic"/>
              </a:rPr>
              <a:t>planner_dg</a:t>
            </a:r>
            <a:r>
              <a:rPr sz="1050" b="0" i="0">
                <a:solidFill>
                  <a:srgbClr val="16213A"/>
                </a:solidFill>
                <a:latin typeface="Arial"/>
                <a:ea typeface="Malgun Gothic"/>
                <a:cs typeface="Malgun Gothic"/>
              </a:rPr>
              <a:t>는 TravMap 비용의 기울기를 쓰지만 그것은 부드러운 대리 비용이지 제약이 아니다. CoDiG식이면 </a:t>
            </a:r>
            <a:r>
              <a:rPr sz="1050" b="0" i="1">
                <a:solidFill>
                  <a:srgbClr val="16213A"/>
                </a:solidFill>
                <a:latin typeface="Arial"/>
                <a:ea typeface="Malgun Gothic"/>
                <a:cs typeface="Malgun Gothic"/>
              </a:rPr>
              <a:t>V</a:t>
            </a:r>
            <a:r>
              <a:rPr sz="1050" b="0" i="0">
                <a:solidFill>
                  <a:srgbClr val="16213A"/>
                </a:solidFill>
                <a:latin typeface="Arial"/>
                <a:ea typeface="Malgun Gothic"/>
                <a:cs typeface="Malgun Gothic"/>
              </a:rPr>
              <a:t>에 치명 셀 침범량을 넣고 </a:t>
            </a:r>
            <a:r>
              <a:rPr sz="1050" b="0" i="1">
                <a:solidFill>
                  <a:srgbClr val="16213A"/>
                </a:solidFill>
                <a:latin typeface="Arial"/>
                <a:ea typeface="Malgun Gothic"/>
                <a:cs typeface="Malgun Gothic"/>
              </a:rPr>
              <a:t>γₜ</a:t>
            </a:r>
            <a:r>
              <a:rPr sz="1050" b="0" i="0">
                <a:solidFill>
                  <a:srgbClr val="16213A"/>
                </a:solidFill>
                <a:latin typeface="Arial"/>
                <a:ea typeface="Malgun Gothic"/>
                <a:cs typeface="Malgun Gothic"/>
              </a:rPr>
              <a:t>를 sigmoid로 올리는 것으로 끝나고, 추가 비용은 스텝마다 지도 조회 한 번이다. 다만 치명 셀은 계단처럼 불연속이라 기울기가 거의 없다. 부풀린 거리장을 </a:t>
            </a:r>
            <a:r>
              <a:rPr sz="1050" b="0" i="1">
                <a:solidFill>
                  <a:srgbClr val="16213A"/>
                </a:solidFill>
                <a:latin typeface="Arial"/>
                <a:ea typeface="Malgun Gothic"/>
                <a:cs typeface="Malgun Gothic"/>
              </a:rPr>
              <a:t>V</a:t>
            </a:r>
            <a:r>
              <a:rPr sz="1050" b="0" i="0">
                <a:solidFill>
                  <a:srgbClr val="16213A"/>
                </a:solidFill>
                <a:latin typeface="Arial"/>
                <a:ea typeface="Malgun Gothic"/>
                <a:cs typeface="Malgun Gothic"/>
              </a:rPr>
              <a:t>로 쓰거나, GRACE처럼 기울기 없이 샘플 가중 평균으로 가거나 둘 중 하나를 골라야 한다.</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생성형 궤적</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B.8 시간·주변 에이전트·기구학을 함께 고려하는 생성형 궤적 Planner</a:t>
            </a:r>
            <a:r>
              <a:rPr sz="1050" b="0" i="0">
                <a:solidFill>
                  <a:srgbClr val="5A6478"/>
                </a:solidFill>
                <a:latin typeface="Arial"/>
                <a:ea typeface="Malgun Gothic"/>
                <a:cs typeface="Malgun Gothic"/>
              </a:rPr>
              <a:t>  1/3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64 / 516</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기구학을 보장하는 방법은 세 갈래다.</a:t>
            </a:r>
          </a:p>
        </p:txBody>
      </p:sp>
      <p:sp>
        <p:nvSpPr>
          <p:cNvPr id="6" name="TextBox 5"/>
          <p:cNvSpPr txBox="1"/>
          <p:nvPr/>
        </p:nvSpPr>
        <p:spPr>
          <a:xfrm>
            <a:off x="609600" y="1549995"/>
            <a:ext cx="10972800" cy="700286"/>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(a) 학습 때 정규화한다</a:t>
            </a:r>
            <a:r>
              <a:rPr sz="1050" b="0" i="0">
                <a:solidFill>
                  <a:srgbClr val="16213A"/>
                </a:solidFill>
                <a:latin typeface="Arial"/>
                <a:ea typeface="Malgun Gothic"/>
                <a:cs typeface="Malgun Gothic"/>
              </a:rPr>
              <a:t>(FeaXDrive). 보장은 없다.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(b) 생성 뒤 추종기나 최적화로 고친다</a:t>
            </a:r>
            <a:r>
              <a:rPr sz="1050" b="0" i="0">
                <a:solidFill>
                  <a:srgbClr val="16213A"/>
                </a:solidFill>
                <a:latin typeface="Arial"/>
                <a:ea typeface="Malgun Gothic"/>
                <a:cs typeface="Malgun Gothic"/>
              </a:rPr>
              <a:t>(Diffusion Planner의 LQR, QP 후처리, PC-Diffuser). 생성한 궤적과 실제로 실행되는 궤적이 어긋날 수 있다.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(c) 제어 공간에서 생성하고 모델로 굴린다.</a:t>
            </a:r>
            <a:r>
              <a:rPr sz="1050" b="0" i="0">
                <a:solidFill>
                  <a:srgbClr val="16213A"/>
                </a:solidFill>
                <a:latin typeface="Arial"/>
                <a:ea typeface="Malgun Gothic"/>
                <a:cs typeface="Malgun Gothic"/>
              </a:rPr>
              <a:t> 만들 때부터 실행 가능하다. 대신 오차가 누적돼 학습이 불안정할 수 있다는 지적이 있다(PC-Diffuser). </a:t>
            </a:r>
            <a:r>
              <a:rPr sz="1050" b="1" i="0">
                <a:solidFill>
                  <a:srgbClr val="16213A"/>
                </a:solidFill>
                <a:latin typeface="Arial"/>
                <a:ea typeface="Malgun Gothic"/>
                <a:cs typeface="Malgun Gothic"/>
              </a:rPr>
              <a:t>travplan Planner D는 (c)를 택했다.</a:t>
            </a:r>
          </a:p>
        </p:txBody>
      </p:sp>
      <p:sp>
        <p:nvSpPr>
          <p:cNvPr id="7" name="TextBox 6"/>
          <p:cNvSpPr txBox="1"/>
          <p:nvPr/>
        </p:nvSpPr>
        <p:spPr>
          <a:xfrm>
            <a:off x="609600" y="2339181"/>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기구학과 제약은 다른 문제다.</a:t>
            </a:r>
            <a:r>
              <a:rPr sz="1050" b="0" i="0">
                <a:solidFill>
                  <a:srgbClr val="16213A"/>
                </a:solidFill>
                <a:latin typeface="Arial"/>
                <a:ea typeface="Malgun Gothic"/>
                <a:cs typeface="Malgun Gothic"/>
              </a:rPr>
              <a:t> (a)–(c)는 모두 "동역학적으로 실행 가능한가"에 대한 답이다. 지도·장애물 제약은 별개이고, 이쪽은 생성 과정 안에 barrier를 넣는 방식(CoDiG, GuideFlow, JPPD의 DSPG)과 스텝마다 해를 고쳐 넣는 방식(PC-Diffuser, 최적화 guidance)으로 갈린다. </a:t>
            </a:r>
            <a:r>
              <a:rPr sz="1050" b="1" i="0">
                <a:solidFill>
                  <a:srgbClr val="C2410C"/>
                </a:solidFill>
                <a:latin typeface="Arial"/>
                <a:ea typeface="Malgun Gothic"/>
                <a:cs typeface="Malgun Gothic"/>
              </a:rPr>
              <a:t>travplan Planner D는 (c)로 기구학을 해결했지만, 지도 제약은 아직 비용으로만 다룬다.</a:t>
            </a:r>
            <a:r>
              <a:rPr sz="1050" b="0" i="0">
                <a:solidFill>
                  <a:srgbClr val="16213A"/>
                </a:solidFill>
                <a:latin typeface="Arial"/>
                <a:ea typeface="Malgun Gothic"/>
                <a:cs typeface="Malgun Gothic"/>
              </a:rPr>
              <a:t> Controller·안전 문서 E.5·E.6은 같은 질문을 제어기 쪽에서 본 것이다.</a:t>
            </a:r>
          </a:p>
        </p:txBody>
      </p:sp>
      <p:sp>
        <p:nvSpPr>
          <p:cNvPr id="8" name="TextBox 7"/>
          <p:cNvSpPr txBox="1"/>
          <p:nvPr/>
        </p:nvSpPr>
        <p:spPr>
          <a:xfrm>
            <a:off x="717550" y="3077567"/>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B.8.3 travplan의 Planner D: 학습 기반 시간 인덱스 궤적 생성기</a:t>
            </a:r>
          </a:p>
        </p:txBody>
      </p:sp>
      <p:sp>
        <p:nvSpPr>
          <p:cNvPr id="9" name="TextBox 8"/>
          <p:cNvSpPr txBox="1"/>
          <p:nvPr/>
        </p:nvSpPr>
        <p:spPr>
          <a:xfrm>
            <a:off x="609600" y="3380780"/>
            <a:ext cx="10972800" cy="432991"/>
          </a:xfrm>
          <a:prstGeom prst="rect">
            <a:avLst/>
          </a:prstGeom>
          <a:noFill/>
        </p:spPr>
        <p:txBody>
          <a:bodyPr wrap="square" lIns="0" rIns="0" tIns="0" bIns="0" anchor="t">
            <a:spAutoFit/>
            <a:normAutofit/>
          </a:bodyPr>
          <a:lstStyle/>
          <a:p>
            <a:r>
              <a:rPr sz="1050" b="1" i="0">
                <a:solidFill>
                  <a:srgbClr val="C2410C"/>
                </a:solidFill>
                <a:latin typeface="Arial"/>
                <a:ea typeface="Malgun Gothic"/>
                <a:cs typeface="Malgun Gothic"/>
              </a:rPr>
              <a:t>Planner D는 Diffusion Planner처럼 완결된 시간 인덱스 궤적을 내는 학습 Planner다.</a:t>
            </a:r>
            <a:r>
              <a:rPr sz="1050" b="0" i="0">
                <a:solidFill>
                  <a:srgbClr val="16213A"/>
                </a:solidFill>
                <a:latin typeface="Arial"/>
                <a:ea typeface="Malgun Gothic"/>
                <a:cs typeface="Malgun Gothic"/>
              </a:rPr>
              <a:t> MPPI에 후보를 넣는 구조가 아니다. Controller는 그 궤적을 시각별로 따라가면서(</a:t>
            </a:r>
            <a:r>
              <a:rPr sz="1050" b="0" i="0">
                <a:solidFill>
                  <a:srgbClr val="16213A"/>
                </a:solidFill>
                <a:latin typeface="Consolas"/>
                <a:ea typeface="Malgun Gothic"/>
                <a:cs typeface="Malgun Gothic"/>
              </a:rPr>
              <a:t>ReferenceCost</a:t>
            </a:r>
            <a:r>
              <a:rPr sz="1050" b="0" i="0">
                <a:solidFill>
                  <a:srgbClr val="16213A"/>
                </a:solidFill>
                <a:latin typeface="Arial"/>
                <a:ea typeface="Malgun Gothic"/>
                <a:cs typeface="Malgun Gothic"/>
              </a:rPr>
              <a:t>의 시간 모드) 지형과 보행자에 대한 로컬 안전만 맡는다. 스텝 수를 </a:t>
            </a:r>
            <a:r>
              <a:rPr sz="1050" b="0" i="0">
                <a:solidFill>
                  <a:srgbClr val="16213A"/>
                </a:solidFill>
                <a:latin typeface="Consolas"/>
                <a:ea typeface="Malgun Gothic"/>
                <a:cs typeface="Malgun Gothic"/>
              </a:rPr>
              <a:t>FlowPolicy</a:t>
            </a:r>
            <a:r>
              <a:rPr sz="1050" b="0" i="0">
                <a:solidFill>
                  <a:srgbClr val="16213A"/>
                </a:solidFill>
                <a:latin typeface="Arial"/>
                <a:ea typeface="Malgun Gothic"/>
                <a:cs typeface="Malgun Gothic"/>
              </a:rPr>
              <a:t> 10, </a:t>
            </a:r>
            <a:r>
              <a:rPr sz="1050" b="0" i="0">
                <a:solidFill>
                  <a:srgbClr val="16213A"/>
                </a:solidFill>
                <a:latin typeface="Consolas"/>
                <a:ea typeface="Malgun Gothic"/>
                <a:cs typeface="Malgun Gothic"/>
              </a:rPr>
              <a:t>JointFlowPolicy</a:t>
            </a:r>
            <a:r>
              <a:rPr sz="1050" b="0" i="0">
                <a:solidFill>
                  <a:srgbClr val="16213A"/>
                </a:solidFill>
                <a:latin typeface="Arial"/>
                <a:ea typeface="Malgun Gothic"/>
                <a:cs typeface="Malgun Gothic"/>
              </a:rPr>
              <a:t> 4로 둔 근거와 더 줄일 때 잃는 것은 </a:t>
            </a:r>
            <a:r>
              <a:rPr sz="1050" b="1" i="0">
                <a:solidFill>
                  <a:srgbClr val="16213A"/>
                </a:solidFill>
                <a:latin typeface="Arial"/>
                <a:ea typeface="Malgun Gothic"/>
                <a:cs typeface="Malgun Gothic"/>
              </a:rPr>
              <a:t>배경 0.7b</a:t>
            </a:r>
            <a:r>
              <a:rPr sz="1050" b="0" i="0">
                <a:solidFill>
                  <a:srgbClr val="16213A"/>
                </a:solidFill>
                <a:latin typeface="Arial"/>
                <a:ea typeface="Malgun Gothic"/>
                <a:cs typeface="Malgun Gothic"/>
              </a:rPr>
              <a:t>에 있다.</a:t>
            </a:r>
          </a:p>
        </p:txBody>
      </p:sp>
      <p:sp>
        <p:nvSpPr>
          <p:cNvPr id="10" name="TextBox 9"/>
          <p:cNvSpPr txBox="1"/>
          <p:nvPr/>
        </p:nvSpPr>
        <p:spPr>
          <a:xfrm>
            <a:off x="609600" y="3902670"/>
            <a:ext cx="10972800" cy="1650206"/>
          </a:xfrm>
          <a:prstGeom prst="rect">
            <a:avLst/>
          </a:prstGeom>
          <a:solidFill>
            <a:srgbClr val="16213A"/>
          </a:solidFill>
        </p:spPr>
        <p:txBody>
          <a:bodyPr wrap="square" lIns="114300" rIns="114300" tIns="88900" bIns="88900" anchor="t">
            <a:spAutoFit/>
            <a:normAutofit/>
          </a:bodyPr>
          <a:lstStyle/>
          <a:p>
            <a:r>
              <a:rPr sz="750" b="0" i="0">
                <a:solidFill>
                  <a:srgbClr val="F4F1EA"/>
                </a:solidFill>
                <a:latin typeface="Consolas"/>
                <a:ea typeface="Malgun Gothic"/>
                <a:cs typeface="Malgun Gothic"/>
              </a:rPr>
              <a:t>TravMap 크롭 + route subgoal + 현재 속도      (선택: DynamicObstacles 이력, TP-0018)</a:t>
            </a:r>
          </a:p>
          <a:p>
            <a:r>
              <a:rPr sz="750" b="0" i="0">
                <a:solidFill>
                  <a:srgbClr val="F4F1EA"/>
                </a:solidFill>
                <a:latin typeface="Consolas"/>
                <a:ea typeface="Malgun Gothic"/>
                <a:cs typeface="Malgun Gothic"/>
              </a:rPr>
              <a:t>        ▼</a:t>
            </a:r>
          </a:p>
          <a:p>
            <a:r>
              <a:rPr sz="750" b="0" i="0">
                <a:solidFill>
                  <a:srgbClr val="F4F1EA"/>
                </a:solidFill>
                <a:latin typeface="Consolas"/>
                <a:ea typeface="Malgun Gothic"/>
                <a:cs typeface="Malgun Gothic"/>
              </a:rPr>
              <a:t> Planner D (planners/learned/, 학습)</a:t>
            </a:r>
          </a:p>
          <a:p>
            <a:r>
              <a:rPr sz="750" b="0" i="0">
                <a:solidFill>
                  <a:srgbClr val="F4F1EA"/>
                </a:solidFill>
                <a:latin typeface="Consolas"/>
                <a:ea typeface="Malgun Gothic"/>
                <a:cs typeface="Malgun Gothic"/>
              </a:rPr>
              <a:t>   flow matching 정책이 제어 변화율 열 a[40,3]을 K=16개 생성</a:t>
            </a:r>
          </a:p>
          <a:p>
            <a:r>
              <a:rPr sz="750" b="0" i="0">
                <a:solidFill>
                  <a:srgbClr val="F4F1EA"/>
                </a:solidFill>
                <a:latin typeface="Consolas"/>
                <a:ea typeface="Malgun Gothic"/>
                <a:cs typeface="Malgun Gothic"/>
              </a:rPr>
              <a:t>        (선택, 2단계: 이웃 보행자 미래 [M,T,2]를 함께 생성)</a:t>
            </a:r>
          </a:p>
          <a:p>
            <a:r>
              <a:rPr sz="750" b="0" i="0">
                <a:solidFill>
                  <a:srgbClr val="F4F1EA"/>
                </a:solidFill>
                <a:latin typeface="Consolas"/>
                <a:ea typeface="Malgun Gothic"/>
                <a:cs typeface="Malgun Gothic"/>
              </a:rPr>
              <a:t>   적분 u = cumsum(a·dt) → SwerveModel.rollout → 실행 가능한 궤적 16개      ← (c) 방식</a:t>
            </a:r>
          </a:p>
          <a:p>
            <a:r>
              <a:rPr sz="750" b="0" i="0">
                <a:solidFill>
                  <a:srgbClr val="F4F1EA"/>
                </a:solidFill>
                <a:latin typeface="Consolas"/>
                <a:ea typeface="Malgun Gothic"/>
                <a:cs typeface="Malgun Gothic"/>
              </a:rPr>
              <a:t>   TravMap 비용 + 남은 cost-to-go로 하나를 고른다 (planner_dg: 생성 중 비용 기울기로 유도)</a:t>
            </a:r>
          </a:p>
          <a:p>
            <a:r>
              <a:rPr sz="750" b="0" i="0">
                <a:solidFill>
                  <a:srgbClr val="F4F1EA"/>
                </a:solidFill>
                <a:latin typeface="Consolas"/>
                <a:ea typeface="Malgun Gothic"/>
                <a:cs typeface="Malgun Gothic"/>
              </a:rPr>
              <a:t>        ▼  PlanResult(path [41,3], times [41])   ← 4초 시간 인덱스 궤적, 목표까지 잇지 않음</a:t>
            </a:r>
          </a:p>
          <a:p>
            <a:r>
              <a:rPr sz="750" b="0" i="0">
                <a:solidFill>
                  <a:srgbClr val="F4F1EA"/>
                </a:solidFill>
                <a:latin typeface="Consolas"/>
                <a:ea typeface="Malgun Gothic"/>
                <a:cs typeface="Malgun Gothic"/>
              </a:rPr>
              <a:t> MPPIController (control/, 유지보수만): 시각별 추종 + Traversability·Risk·Attitude로 로컬 안전</a:t>
            </a:r>
          </a:p>
          <a:p>
            <a:r>
              <a:rPr sz="750" b="0" i="0">
                <a:solidFill>
                  <a:srgbClr val="F4F1EA"/>
                </a:solidFill>
                <a:latin typeface="Consolas"/>
                <a:ea typeface="Malgun Gothic"/>
                <a:cs typeface="Malgun Gothic"/>
              </a:rPr>
              <a:t>        ▼  body twist</a:t>
            </a:r>
          </a:p>
        </p:txBody>
      </p:sp>
      <p:sp>
        <p:nvSpPr>
          <p:cNvPr id="11" name="TextBox 10"/>
          <p:cNvSpPr txBox="1"/>
          <p:nvPr/>
        </p:nvSpPr>
        <p:spPr>
          <a:xfrm>
            <a:off x="609600" y="5641777"/>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이 설계를 고른 이유.</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생성형 궤적</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B.8 시간·주변 에이전트·기구학을 함께 고려하는 생성형 궤적 Planner</a:t>
            </a:r>
            <a:r>
              <a:rPr sz="1050" b="0" i="0">
                <a:solidFill>
                  <a:srgbClr val="5A6478"/>
                </a:solidFill>
                <a:latin typeface="Arial"/>
                <a:ea typeface="Malgun Gothic"/>
                <a:cs typeface="Malgun Gothic"/>
              </a:rPr>
              <a:t>  2/3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65 / 516</a:t>
            </a:r>
          </a:p>
        </p:txBody>
      </p:sp>
      <p:sp>
        <p:nvSpPr>
          <p:cNvPr id="5" name="TextBox 4"/>
          <p:cNvSpPr txBox="1"/>
          <p:nvPr/>
        </p:nvSpPr>
        <p:spPr>
          <a:xfrm>
            <a:off x="609600" y="1244600"/>
            <a:ext cx="10972800" cy="2508448"/>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기구학</a:t>
            </a:r>
            <a:r>
              <a:rPr sz="1050" b="0" i="0">
                <a:solidFill>
                  <a:srgbClr val="16213A"/>
                </a:solidFill>
                <a:latin typeface="Arial"/>
                <a:ea typeface="Malgun Gothic"/>
                <a:cs typeface="Malgun Gothic"/>
              </a:rPr>
              <a:t> — 비동축 스워브의 속도·가속 한계는 이미 </a:t>
            </a:r>
            <a:r>
              <a:rPr sz="1050" b="0" i="0">
                <a:solidFill>
                  <a:srgbClr val="16213A"/>
                </a:solidFill>
                <a:latin typeface="Consolas"/>
                <a:ea typeface="Malgun Gothic"/>
                <a:cs typeface="Malgun Gothic"/>
              </a:rPr>
              <a:t>SwerveModel</a:t>
            </a:r>
            <a:r>
              <a:rPr sz="1050" b="0" i="0">
                <a:solidFill>
                  <a:srgbClr val="16213A"/>
                </a:solidFill>
                <a:latin typeface="Arial"/>
                <a:ea typeface="Malgun Gothic"/>
                <a:cs typeface="Malgun Gothic"/>
              </a:rPr>
              <a:t>에 있다. 제어 공간에서 생성해 굴리면 LQR이나 QP 후처리 없이 실행 가능한 궤적이 나온다. (c)의 누적 오차는 Controller의 폐루프 추종이 흡수한다.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시간과 에이전트</a:t>
            </a:r>
            <a:r>
              <a:rPr sz="1050" b="0" i="0">
                <a:solidFill>
                  <a:srgbClr val="16213A"/>
                </a:solidFill>
                <a:latin typeface="Arial"/>
                <a:ea typeface="Malgun Gothic"/>
                <a:cs typeface="Malgun Gothic"/>
              </a:rPr>
              <a:t> — 출력에 </a:t>
            </a:r>
            <a:r>
              <a:rPr sz="1050" b="0" i="0">
                <a:solidFill>
                  <a:srgbClr val="16213A"/>
                </a:solidFill>
                <a:latin typeface="Consolas"/>
                <a:ea typeface="Malgun Gothic"/>
                <a:cs typeface="Malgun Gothic"/>
              </a:rPr>
              <a:t>times</a:t>
            </a:r>
            <a:r>
              <a:rPr sz="1050" b="0" i="0">
                <a:solidFill>
                  <a:srgbClr val="16213A"/>
                </a:solidFill>
                <a:latin typeface="Arial"/>
                <a:ea typeface="Malgun Gothic"/>
                <a:cs typeface="Malgun Gothic"/>
              </a:rPr>
              <a:t>가 있어 "보행자 앞에서 멈췄다 지나가기" 같은 행동을 계획할 수 있다. Controller의 </a:t>
            </a:r>
            <a:r>
              <a:rPr sz="1050" b="0" i="0">
                <a:solidFill>
                  <a:srgbClr val="16213A"/>
                </a:solidFill>
                <a:latin typeface="Consolas"/>
                <a:ea typeface="Malgun Gothic"/>
                <a:cs typeface="Malgun Gothic"/>
              </a:rPr>
              <a:t>RiskCost</a:t>
            </a:r>
            <a:r>
              <a:rPr sz="1050" b="0" i="0">
                <a:solidFill>
                  <a:srgbClr val="16213A"/>
                </a:solidFill>
                <a:latin typeface="Arial"/>
                <a:ea typeface="Malgun Gothic"/>
                <a:cs typeface="Malgun Gothic"/>
              </a:rPr>
              <a:t>가 같은 시간축으로 </a:t>
            </a:r>
            <a:r>
              <a:rPr sz="1050" b="0" i="0">
                <a:solidFill>
                  <a:srgbClr val="16213A"/>
                </a:solidFill>
                <a:latin typeface="Consolas"/>
                <a:ea typeface="Malgun Gothic"/>
                <a:cs typeface="Malgun Gothic"/>
              </a:rPr>
              <a:t>DynamicObstacles</a:t>
            </a:r>
            <a:r>
              <a:rPr sz="1050" b="0" i="0">
                <a:solidFill>
                  <a:srgbClr val="16213A"/>
                </a:solidFill>
                <a:latin typeface="Arial"/>
                <a:ea typeface="Malgun Gothic"/>
                <a:cs typeface="Malgun Gothic"/>
              </a:rPr>
              <a:t>를 채점하므로, 계획이 틀려도 로컬에서 막는다.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목적지 비연결</a:t>
            </a:r>
            <a:r>
              <a:rPr sz="1050" b="0" i="0">
                <a:solidFill>
                  <a:srgbClr val="16213A"/>
                </a:solidFill>
                <a:latin typeface="Arial"/>
                <a:ea typeface="Malgun Gothic"/>
                <a:cs typeface="Malgun Gothic"/>
              </a:rPr>
              <a:t> — 조건은 route subgoal뿐이고 4초만 생성한다. 궤적이 목표에서 끝나지 않으면 Controller는 끝점에서 감속하지 않는다 (</a:t>
            </a:r>
            <a:r>
              <a:rPr sz="1050" b="0" i="0">
                <a:solidFill>
                  <a:srgbClr val="16213A"/>
                </a:solidFill>
                <a:latin typeface="Consolas"/>
                <a:ea typeface="Malgun Gothic"/>
                <a:cs typeface="Malgun Gothic"/>
              </a:rPr>
              <a:t>GoalApproachCost</a:t>
            </a:r>
            <a:r>
              <a:rPr sz="1050" b="0" i="0">
                <a:solidFill>
                  <a:srgbClr val="16213A"/>
                </a:solidFill>
                <a:latin typeface="Arial"/>
                <a:ea typeface="Malgun Gothic"/>
                <a:cs typeface="Malgun Gothic"/>
              </a:rPr>
              <a:t>).</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여러 답</a:t>
            </a:r>
            <a:r>
              <a:rPr sz="1050" b="0" i="0">
                <a:solidFill>
                  <a:srgbClr val="16213A"/>
                </a:solidFill>
                <a:latin typeface="Arial"/>
                <a:ea typeface="Malgun Gothic"/>
                <a:cs typeface="Malgun Gothic"/>
              </a:rPr>
              <a:t> — 갈림길(보행자 왼쪽/오른쪽)은 Planner가 16개 후보 가운데 하나를 고르며 정한다. Controller의 가우시안 노이즈에 맡기지 않는다.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학습 데이터</a:t>
            </a:r>
            <a:r>
              <a:rPr sz="1050" b="0" i="0">
                <a:solidFill>
                  <a:srgbClr val="16213A"/>
                </a:solidFill>
                <a:latin typeface="Arial"/>
                <a:ea typeface="Malgun Gothic"/>
                <a:cs typeface="Malgun Gothic"/>
              </a:rPr>
              <a:t> — 사람 데이터 없이 운동학 시뮬에서 만든다. 평가 seed(0–2)를 뺀 256개 지형에서 Dijkstra 경로 주변 상태를 뽑고, 그 상태에서 </a:t>
            </a:r>
            <a:r>
              <a:rPr sz="1050" b="0" i="0">
                <a:solidFill>
                  <a:srgbClr val="16213A"/>
                </a:solidFill>
                <a:latin typeface="Consolas"/>
                <a:ea typeface="Malgun Gothic"/>
                <a:cs typeface="Malgun Gothic"/>
              </a:rPr>
              <a:t>GuidancePlanner + MPPIController</a:t>
            </a:r>
            <a:r>
              <a:rPr sz="1050" b="0" i="0">
                <a:solidFill>
                  <a:srgbClr val="16213A"/>
                </a:solidFill>
                <a:latin typeface="Arial"/>
                <a:ea typeface="Malgun Gothic"/>
                <a:cs typeface="Malgun Gothic"/>
              </a:rPr>
              <a:t>가 최적화한 4초 제어열을 시연으로 쓴다(32,768개, 수집 3분). </a:t>
            </a:r>
            <a:r>
              <a:rPr sz="1050" b="1" i="0">
                <a:solidFill>
                  <a:srgbClr val="C2410C"/>
                </a:solidFill>
                <a:latin typeface="Arial"/>
                <a:ea typeface="Malgun Gothic"/>
                <a:cs typeface="Malgun Gothic"/>
              </a:rPr>
              <a:t>다만 교사가 상태마다 답 </a:t>
            </a:r>
            <a:r>
              <a:rPr sz="1050" b="1" i="0">
                <a:solidFill>
                  <a:srgbClr val="C2410C"/>
                </a:solidFill>
                <a:latin typeface="Arial"/>
                <a:ea typeface="Malgun Gothic"/>
                <a:cs typeface="Malgun Gothic"/>
              </a:rPr>
              <a:t>하나</a:t>
            </a:r>
            <a:r>
              <a:rPr sz="1050" b="1" i="0">
                <a:solidFill>
                  <a:srgbClr val="C2410C"/>
                </a:solidFill>
                <a:latin typeface="Arial"/>
                <a:ea typeface="Malgun Gothic"/>
                <a:cs typeface="Malgun Gothic"/>
              </a:rPr>
              <a:t>를 준다 — 단일 모드 교사다.</a:t>
            </a:r>
            <a:r>
              <a:rPr sz="1050" b="0" i="0">
                <a:solidFill>
                  <a:srgbClr val="16213A"/>
                </a:solidFill>
                <a:latin typeface="Arial"/>
                <a:ea typeface="Malgun Gothic"/>
                <a:cs typeface="Malgun Gothic"/>
              </a:rPr>
              <a:t> 생성 Planner의 존재 이유가 여러 모드이므로 여기에 구조적 공백이 있다. 한 상태에서 서로 다른 위상의 답을 한 번에 내는 오프라인 오라클(MPOT, B.10.1)이 그 자리의 후보다(미착수).</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평가</a:t>
            </a:r>
            <a:r>
              <a:rPr sz="1050" b="0" i="0">
                <a:solidFill>
                  <a:srgbClr val="16213A"/>
                </a:solidFill>
                <a:latin typeface="Arial"/>
                <a:ea typeface="Malgun Gothic"/>
                <a:cs typeface="Malgun Gothic"/>
              </a:rPr>
              <a:t> — </a:t>
            </a:r>
            <a:r>
              <a:rPr sz="1050" b="0" i="0">
                <a:solidFill>
                  <a:srgbClr val="16213A"/>
                </a:solidFill>
                <a:latin typeface="Consolas"/>
                <a:ea typeface="Malgun Gothic"/>
                <a:cs typeface="Malgun Gothic"/>
              </a:rPr>
              <a:t>run_benchmark.py --stacks planner_d+mppi planner_d+tracker</a:t>
            </a:r>
            <a:r>
              <a:rPr sz="1050" b="0" i="0">
                <a:solidFill>
                  <a:srgbClr val="16213A"/>
                </a:solidFill>
                <a:latin typeface="Arial"/>
                <a:ea typeface="Malgun Gothic"/>
                <a:cs typeface="Malgun Gothic"/>
              </a:rPr>
              <a:t>로 같은 Controller 위에서 Planner만 바꿔 비교한다. </a:t>
            </a:r>
            <a:r>
              <a:rPr sz="1050" b="0" i="0">
                <a:solidFill>
                  <a:srgbClr val="16213A"/>
                </a:solidFill>
                <a:latin typeface="Consolas"/>
                <a:ea typeface="Malgun Gothic"/>
                <a:cs typeface="Malgun Gothic"/>
              </a:rPr>
              <a:t>+tracker</a:t>
            </a:r>
            <a:r>
              <a:rPr sz="1050" b="0" i="0">
                <a:solidFill>
                  <a:srgbClr val="16213A"/>
                </a:solidFill>
                <a:latin typeface="Arial"/>
                <a:ea typeface="Malgun Gothic"/>
                <a:cs typeface="Malgun Gothic"/>
              </a:rPr>
              <a:t>는 Controller의 보정 없이 Planner 자체 품질을 본다.</a:t>
            </a:r>
          </a:p>
        </p:txBody>
      </p:sp>
      <p:sp>
        <p:nvSpPr>
          <p:cNvPr id="6" name="TextBox 5"/>
          <p:cNvSpPr txBox="1"/>
          <p:nvPr/>
        </p:nvSpPr>
        <p:spPr>
          <a:xfrm>
            <a:off x="609600" y="3841948"/>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결과(4 시나리오 × 3 seed, </a:t>
            </a:r>
            <a:r>
              <a:rPr sz="1050" b="1" i="0">
                <a:solidFill>
                  <a:srgbClr val="16213A"/>
                </a:solidFill>
                <a:latin typeface="Consolas"/>
                <a:ea typeface="Malgun Gothic"/>
                <a:cs typeface="Malgun Gothic"/>
              </a:rPr>
              <a:t>results/tp0025_v2/bench.log</a:t>
            </a:r>
            <a:r>
              <a:rPr sz="1050" b="1" i="0">
                <a:solidFill>
                  <a:srgbClr val="16213A"/>
                </a:solidFill>
                <a:latin typeface="Arial"/>
                <a:ea typeface="Malgun Gothic"/>
                <a:cs typeface="Malgun Gothic"/>
              </a:rPr>
              <a:t>).</a:t>
            </a:r>
          </a:p>
        </p:txBody>
      </p:sp>
      <p:graphicFrame>
        <p:nvGraphicFramePr>
          <p:cNvPr id="7" name="Table 6"/>
          <p:cNvGraphicFramePr>
            <a:graphicFrameLocks noGrp="1"/>
          </p:cNvGraphicFramePr>
          <p:nvPr/>
        </p:nvGraphicFramePr>
        <p:xfrm>
          <a:off x="609600" y="4147344"/>
          <a:ext cx="10966450" cy="1182528"/>
        </p:xfrm>
        <a:graphic>
          <a:graphicData uri="http://schemas.openxmlformats.org/drawingml/2006/table">
            <a:tbl>
              <a:tblPr firstRow="1" bandRow="1">
                <a:tableStyleId>{5C22544A-7EE6-4342-B048-85BDC9FD1C3A}</a:tableStyleId>
              </a:tblPr>
              <a:tblGrid>
                <a:gridCol w="4636988"/>
                <a:gridCol w="1536502"/>
                <a:gridCol w="1879600"/>
                <a:gridCol w="1051123"/>
                <a:gridCol w="1862237"/>
              </a:tblGrid>
              <a:tr h="197088">
                <a:tc>
                  <a:txBody>
                    <a:bodyPr wrap="square"/>
                    <a:lstStyle/>
                    <a:p>
                      <a:r>
                        <a:rPr sz="800" b="1" i="0">
                          <a:solidFill>
                            <a:srgbClr val="F4F1EA"/>
                          </a:solidFill>
                          <a:latin typeface="Arial"/>
                          <a:ea typeface="Malgun Gothic"/>
                          <a:cs typeface="Malgun Gothic"/>
                        </a:rPr>
                        <a:t>스택</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성공</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성공 시 도달시간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jerk</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계획 시간</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guidance+mppi (비학습 기준선)</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12/12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16.0 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4.4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learned+mppi (기존 학습 Planner)</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8/12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22.8 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3.3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0.5 ms</a:t>
                      </a:r>
                    </a:p>
                  </a:txBody>
                  <a:tcPr marL="63500" marR="63500" marT="12700" marB="12700">
                    <a:solidFill>
                      <a:srgbClr val="F3F0E8"/>
                    </a:solidFill>
                  </a:tcPr>
                </a:tc>
              </a:tr>
              <a:tr h="197088">
                <a:tc>
                  <a:txBody>
                    <a:bodyPr wrap="square"/>
                    <a:lstStyle/>
                    <a:p>
                      <a:r>
                        <a:rPr sz="800" b="1" i="0">
                          <a:solidFill>
                            <a:srgbClr val="16213A"/>
                          </a:solidFill>
                          <a:latin typeface="Arial"/>
                          <a:ea typeface="Malgun Gothic"/>
                          <a:cs typeface="Malgun Gothic"/>
                        </a:rPr>
                        <a:t>planner_d+mppi</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12/12</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15.9 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3.9</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3.4 ms</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planner_d+tracker</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6/12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16.9 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4.5</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3.4 ms</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(이전) planner_d+mppi / planner_dg+mppi</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8/12 / 9/12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17.7 s / —</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 / —</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3 / 65–151 ms</a:t>
                      </a:r>
                    </a:p>
                  </a:txBody>
                  <a:tcPr marL="63500" marR="63500" marT="12700" marB="12700">
                    <a:solidFill>
                      <a:srgbClr val="FFFDF8"/>
                    </a:solidFill>
                  </a:tcPr>
                </a:tc>
              </a:tr>
            </a:tbl>
          </a:graphicData>
        </a:graphic>
      </p:graphicFrame>
      <p:sp>
        <p:nvSpPr>
          <p:cNvPr id="8" name="TextBox 7"/>
          <p:cNvSpPr txBox="1"/>
          <p:nvPr/>
        </p:nvSpPr>
        <p:spPr>
          <a:xfrm>
            <a:off x="609600" y="5720755"/>
            <a:ext cx="10972800" cy="216495"/>
          </a:xfrm>
          <a:prstGeom prst="rect">
            <a:avLst/>
          </a:prstGeom>
          <a:noFill/>
        </p:spPr>
        <p:txBody>
          <a:bodyPr wrap="square" lIns="0" rIns="0" tIns="0" bIns="0" anchor="t">
            <a:spAutoFit/>
            <a:normAutofit/>
          </a:bodyPr>
          <a:lstStyle/>
          <a:p>
            <a:r>
              <a:rPr sz="1050" b="1" i="0">
                <a:solidFill>
                  <a:srgbClr val="C2410C"/>
                </a:solidFill>
                <a:latin typeface="Arial"/>
                <a:ea typeface="Malgun Gothic"/>
                <a:cs typeface="Malgun Gothic"/>
              </a:rPr>
              <a:t>1차 결과의 실패(8/12)는 Planner 품질이 아니라 Controller의 시간 참조 추종 방식 때문이었다.</a:t>
            </a:r>
            <a:r>
              <a:rPr sz="1050" b="0" i="0">
                <a:solidFill>
                  <a:srgbClr val="16213A"/>
                </a:solidFill>
                <a:latin typeface="Arial"/>
                <a:ea typeface="Malgun Gothic"/>
                <a:cs typeface="Malgun Gothic"/>
              </a:rPr>
              <a:t> 실패는 curb_ramp와 bumps_potholes의 시간 초과였고, 원인을 좁혀 가며 확인했다.</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생성형 궤적</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B.8 시간·주변 에이전트·기구학을 함께 고려하는 생성형 궤적 Planner</a:t>
            </a:r>
            <a:r>
              <a:rPr sz="1050" b="0" i="0">
                <a:solidFill>
                  <a:srgbClr val="5A6478"/>
                </a:solidFill>
                <a:latin typeface="Arial"/>
                <a:ea typeface="Malgun Gothic"/>
                <a:cs typeface="Malgun Gothic"/>
              </a:rPr>
              <a:t>  3/3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66 / 516</a:t>
            </a:r>
          </a:p>
        </p:txBody>
      </p:sp>
      <p:sp>
        <p:nvSpPr>
          <p:cNvPr id="5" name="TextBox 4"/>
          <p:cNvSpPr txBox="1"/>
          <p:nvPr/>
        </p:nvSpPr>
        <p:spPr>
          <a:xfrm>
            <a:off x="609600" y="1244600"/>
            <a:ext cx="10972800" cy="2024658"/>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1. </a:t>
            </a:r>
            <a:r>
              <a:rPr sz="1050" b="1" i="0">
                <a:solidFill>
                  <a:srgbClr val="16213A"/>
                </a:solidFill>
                <a:latin typeface="Arial"/>
                <a:ea typeface="Malgun Gothic"/>
                <a:cs typeface="Malgun Gothic"/>
              </a:rPr>
              <a:t>DAgger</a:t>
            </a:r>
            <a:r>
              <a:rPr sz="1050" b="0" i="0">
                <a:solidFill>
                  <a:srgbClr val="16213A"/>
                </a:solidFill>
                <a:latin typeface="Arial"/>
                <a:ea typeface="Malgun Gothic"/>
                <a:cs typeface="Malgun Gothic"/>
              </a:rPr>
              <a:t>(</a:t>
            </a:r>
            <a:r>
              <a:rPr sz="1050" b="0" i="0">
                <a:solidFill>
                  <a:srgbClr val="16213A"/>
                </a:solidFill>
                <a:latin typeface="Consolas"/>
                <a:ea typeface="Malgun Gothic"/>
                <a:cs typeface="Malgun Gothic"/>
              </a:rPr>
              <a:t>scripts/dagger_planner_d.py</a:t>
            </a:r>
            <a:r>
              <a:rPr sz="1050" b="0" i="0">
                <a:solidFill>
                  <a:srgbClr val="16213A"/>
                </a:solidFill>
                <a:latin typeface="Arial"/>
                <a:ea typeface="Malgun Gothic"/>
                <a:cs typeface="Malgun Gothic"/>
              </a:rPr>
              <a:t>): Planner D가 실제로 간 상태에 시연 라벨을 붙여 4라운드 재학습했다. 학습 지도에서 curb_ramp 성공은 9/24 → 22/24로 올랐지만 bumps_potholes는 0/24 그대로였다.</a:t>
            </a:r>
          </a:p>
          <a:p>
            <a:pPr>
              <a:spcBef>
                <a:spcPts val="200"/>
              </a:spcBef>
            </a:pPr>
            <a:r>
              <a:rPr sz="1050" b="0" i="0">
                <a:solidFill>
                  <a:srgbClr val="5A6478"/>
                </a:solidFill>
                <a:latin typeface="Arial"/>
                <a:ea typeface="Malgun Gothic"/>
                <a:cs typeface="Malgun Gothic"/>
              </a:rPr>
              <a:t>2. </a:t>
            </a:r>
            <a:r>
              <a:rPr sz="1050" b="1" i="0">
                <a:solidFill>
                  <a:srgbClr val="16213A"/>
                </a:solidFill>
                <a:latin typeface="Arial"/>
                <a:ea typeface="Malgun Gothic"/>
                <a:cs typeface="Malgun Gothic"/>
              </a:rPr>
              <a:t>멈춘 지점 분석</a:t>
            </a:r>
            <a:r>
              <a:rPr sz="1050" b="0" i="0">
                <a:solidFill>
                  <a:srgbClr val="16213A"/>
                </a:solidFill>
                <a:latin typeface="Arial"/>
                <a:ea typeface="Malgun Gothic"/>
                <a:cs typeface="Malgun Gothic"/>
              </a:rPr>
              <a:t>: 믿음 지도(belief map)에서 요철 띠는 비용 0.7–0.9이고 0.6 아래의 틈이 없다. 어디로든 0.7 이상을 지나야 한다. Planner는 그 띠를 건너는 궤적(4초에 4.5 m)을 계속 냈다. 그러나 MPPI의 시간 참조 비용은 스텝별 추종 오차뿐이라, "멈춤"(참조 비용 약 5)과 "건넘"(지형 비용 약 4)이 비슷해져 제자리에 머물렀다. 경로 참조에는 "남은 거리 × 4" 진행 항이 있어 Guidance는 건넜다.</a:t>
            </a:r>
          </a:p>
          <a:p>
            <a:pPr>
              <a:spcBef>
                <a:spcPts val="200"/>
              </a:spcBef>
            </a:pPr>
            <a:r>
              <a:rPr sz="1050" b="0" i="0">
                <a:solidFill>
                  <a:srgbClr val="5A6478"/>
                </a:solidFill>
                <a:latin typeface="Arial"/>
                <a:ea typeface="Malgun Gothic"/>
                <a:cs typeface="Malgun Gothic"/>
              </a:rPr>
              <a:t>3. </a:t>
            </a:r>
            <a:r>
              <a:rPr sz="1050" b="1" i="0">
                <a:solidFill>
                  <a:srgbClr val="16213A"/>
                </a:solidFill>
                <a:latin typeface="Arial"/>
                <a:ea typeface="Malgun Gothic"/>
                <a:cs typeface="Malgun Gothic"/>
              </a:rPr>
              <a:t>수정</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ReferenceCost</a:t>
            </a:r>
            <a:r>
              <a:rPr sz="1050" b="0" i="0">
                <a:solidFill>
                  <a:srgbClr val="16213A"/>
                </a:solidFill>
                <a:latin typeface="Arial"/>
                <a:ea typeface="Malgun Gothic"/>
                <a:cs typeface="Malgun Gothic"/>
              </a:rPr>
              <a:t> 시간 모드에 지평 끝 오차 × </a:t>
            </a:r>
            <a:r>
              <a:rPr sz="1050" b="0" i="0">
                <a:solidFill>
                  <a:srgbClr val="16213A"/>
                </a:solidFill>
                <a:latin typeface="Consolas"/>
                <a:ea typeface="Malgun Gothic"/>
                <a:cs typeface="Malgun Gothic"/>
              </a:rPr>
              <a:t>w_progress</a:t>
            </a:r>
            <a:r>
              <a:rPr sz="1050" b="0" i="0">
                <a:solidFill>
                  <a:srgbClr val="16213A"/>
                </a:solidFill>
                <a:latin typeface="Arial"/>
                <a:ea typeface="Malgun Gothic"/>
                <a:cs typeface="Malgun Gothic"/>
              </a:rPr>
              <a:t>를 더해 경로 모드와 대칭으로 만들었다. 이것만으로 planner_d+mppi가 12/12가 됐다(DAgger 체크포인트도 12/12). 경로 참조 스택 결과는 바뀌지 않았다.</a:t>
            </a:r>
          </a:p>
          <a:p>
            <a:pPr>
              <a:spcBef>
                <a:spcPts val="200"/>
              </a:spcBef>
            </a:pPr>
            <a:r>
              <a:rPr sz="1050" b="0" i="0">
                <a:solidFill>
                  <a:srgbClr val="5A6478"/>
                </a:solidFill>
                <a:latin typeface="Arial"/>
                <a:ea typeface="Malgun Gothic"/>
                <a:cs typeface="Malgun Gothic"/>
              </a:rPr>
              <a:t>4. </a:t>
            </a:r>
            <a:r>
              <a:rPr sz="1050" b="1" i="0">
                <a:solidFill>
                  <a:srgbClr val="16213A"/>
                </a:solidFill>
                <a:latin typeface="Arial"/>
                <a:ea typeface="Malgun Gothic"/>
                <a:cs typeface="Malgun Gothic"/>
              </a:rPr>
              <a:t>직전 계획 유지</a:t>
            </a:r>
            <a:r>
              <a:rPr sz="1050" b="0" i="0">
                <a:solidFill>
                  <a:srgbClr val="16213A"/>
                </a:solidFill>
                <a:latin typeface="Arial"/>
                <a:ea typeface="Malgun Gothic"/>
                <a:cs typeface="Malgun Gothic"/>
              </a:rPr>
              <a:t>(</a:t>
            </a:r>
            <a:r>
              <a:rPr sz="1050" b="0" i="0">
                <a:solidFill>
                  <a:srgbClr val="16213A"/>
                </a:solidFill>
                <a:latin typeface="Consolas"/>
                <a:ea typeface="Malgun Gothic"/>
                <a:cs typeface="Malgun Gothic"/>
              </a:rPr>
              <a:t>keep_previous</a:t>
            </a:r>
            <a:r>
              <a:rPr sz="1050" b="0" i="0">
                <a:solidFill>
                  <a:srgbClr val="16213A"/>
                </a:solidFill>
                <a:latin typeface="Arial"/>
                <a:ea typeface="Malgun Gothic"/>
                <a:cs typeface="Malgun Gothic"/>
              </a:rPr>
              <a:t>): 직전에 고른 궤적을 한 스텝 밀어 후보에 넣는다. MPPI의 warm start와 같은 발상이다. 진행 항 없이도 curb_ramp를 3/3으로 만들어, 매 스텝 재선택으로 참조가 흔들리는 문제를 줄인다.</a:t>
            </a:r>
          </a:p>
        </p:txBody>
      </p:sp>
      <p:sp>
        <p:nvSpPr>
          <p:cNvPr id="6" name="TextBox 5"/>
          <p:cNvSpPr txBox="1"/>
          <p:nvPr/>
        </p:nvSpPr>
        <p:spPr>
          <a:xfrm>
            <a:off x="609600" y="3358158"/>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jerk가 2.0에서 3.9로 오른 것은 이제 요철 띠를 실제로 건너기 때문이다(기준선 4.4). 비용 유도 샘플링은 더 이상 필요 없어 계획 시간은 3.4 ms로 유지된다. 기준선과 같은 12/12라 벤치마크가 포화됐으므로, 다음은 seed 확대와 동적 장애물·미관측 영역 평가다(TP-0027).</a:t>
            </a:r>
          </a:p>
        </p:txBody>
      </p:sp>
      <p:sp>
        <p:nvSpPr>
          <p:cNvPr id="7" name="TextBox 6"/>
          <p:cNvSpPr txBox="1"/>
          <p:nvPr/>
        </p:nvSpPr>
        <p:spPr>
          <a:xfrm>
            <a:off x="609600" y="3880048"/>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쓰지 않는 것.</a:t>
            </a:r>
            <a:r>
              <a:rPr sz="1050" b="0" i="0">
                <a:solidFill>
                  <a:srgbClr val="16213A"/>
                </a:solidFill>
                <a:latin typeface="Arial"/>
                <a:ea typeface="Malgun Gothic"/>
                <a:cs typeface="Malgun Gothic"/>
              </a:rPr>
              <a:t> 자동차용 벡터 지도(Lanelet2) 인코더는 쓰지 않는다. 보도에는 HD map이 없으므로 TravMap 래스터가 그 자리를 대신한다. 이웃 보행자와의 공동 생성은 2단계로 미룬다. 먼저 등속 예측과 </a:t>
            </a:r>
            <a:r>
              <a:rPr sz="1050" b="0" i="0">
                <a:solidFill>
                  <a:srgbClr val="16213A"/>
                </a:solidFill>
                <a:latin typeface="Consolas"/>
                <a:ea typeface="Malgun Gothic"/>
                <a:cs typeface="Malgun Gothic"/>
              </a:rPr>
              <a:t>RiskCost</a:t>
            </a:r>
            <a:r>
              <a:rPr sz="1050" b="0" i="0">
                <a:solidFill>
                  <a:srgbClr val="16213A"/>
                </a:solidFill>
                <a:latin typeface="Arial"/>
                <a:ea typeface="Malgun Gothic"/>
                <a:cs typeface="Malgun Gothic"/>
              </a:rPr>
              <a:t>로 충분한지 확인한 뒤 판단한다.</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F59E5B"/>
                </a:solidFill>
                <a:latin typeface="Consolas"/>
                <a:ea typeface="Malgun Gothic"/>
                <a:cs typeface="Malgun Gothic"/>
              </a:rPr>
              <a:t>Planner · 탭</a:t>
            </a:r>
          </a:p>
        </p:txBody>
      </p:sp>
      <p:sp>
        <p:nvSpPr>
          <p:cNvPr id="3" name="TextBox 2"/>
          <p:cNvSpPr txBox="1"/>
          <p:nvPr/>
        </p:nvSpPr>
        <p:spPr>
          <a:xfrm>
            <a:off x="609600" y="609600"/>
            <a:ext cx="10972800" cy="381000"/>
          </a:xfrm>
          <a:prstGeom prst="rect">
            <a:avLst/>
          </a:prstGeom>
          <a:noFill/>
        </p:spPr>
        <p:txBody>
          <a:bodyPr wrap="square" lIns="0" rIns="0" tIns="0" bIns="0" anchor="t">
            <a:spAutoFit/>
            <a:normAutofit/>
          </a:bodyPr>
          <a:lstStyle/>
          <a:p>
            <a:r>
              <a:rPr sz="2650" b="1" i="0">
                <a:solidFill>
                  <a:srgbClr val="F4F1EA"/>
                </a:solidFill>
                <a:latin typeface="Arial"/>
                <a:ea typeface="Malgun Gothic"/>
                <a:cs typeface="Malgun Gothic"/>
              </a:rPr>
              <a:t>Foundation·VLA·언어</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9AA6BC"/>
                </a:solidFill>
                <a:latin typeface="Arial"/>
                <a:ea typeface="Malgun Gothic"/>
                <a:cs typeface="Malgun Gothic"/>
              </a:rPr>
              <a:t>travplan 리서치 · Planner (docs/research-planner.md)    67 / 516</a:t>
            </a:r>
          </a:p>
        </p:txBody>
      </p:sp>
      <p:sp>
        <p:nvSpPr>
          <p:cNvPr id="5" name="TextBox 4"/>
          <p:cNvSpPr txBox="1"/>
          <p:nvPr/>
        </p:nvSpPr>
        <p:spPr>
          <a:xfrm>
            <a:off x="609600" y="1244600"/>
            <a:ext cx="5283200" cy="5080000"/>
          </a:xfrm>
          <a:prstGeom prst="rect">
            <a:avLst/>
          </a:prstGeom>
          <a:noFill/>
        </p:spPr>
        <p:txBody>
          <a:bodyPr wrap="square" lIns="0" rIns="0" tIns="0" bIns="0" anchor="t">
            <a:spAutoFit/>
            <a:normAutofit/>
          </a:bodyPr>
          <a:lstStyle/>
          <a:p>
            <a:pPr>
              <a:spcAft>
                <a:spcPts val="400"/>
              </a:spcAft>
            </a:pPr>
            <a:r>
              <a:rPr sz="1000" b="0" i="0">
                <a:solidFill>
                  <a:srgbClr val="C9D1E0"/>
                </a:solidFill>
                <a:latin typeface="Arial"/>
                <a:ea typeface="Malgun Gothic"/>
                <a:cs typeface="Malgun Gothic"/>
              </a:rPr>
              <a:t>B.6 foundation model과 의미 기반 내비게이션</a:t>
            </a:r>
          </a:p>
          <a:p>
            <a:pPr>
              <a:spcAft>
                <a:spcPts val="400"/>
              </a:spcAft>
            </a:pPr>
            <a:r>
              <a:rPr sz="1000" b="0" i="0">
                <a:solidFill>
                  <a:srgbClr val="C9D1E0"/>
                </a:solidFill>
                <a:latin typeface="Arial"/>
                <a:ea typeface="Malgun Gothic"/>
                <a:cs typeface="Malgun Gothic"/>
              </a:rPr>
              <a:t>B.6b VLA와 도시 보행 내비: 언어·영상 기반 모델이 행동까지 낸다</a:t>
            </a:r>
          </a:p>
        </p:txBody>
      </p:sp>
      <p:sp>
        <p:nvSpPr>
          <p:cNvPr id="6" name="TextBox 5"/>
          <p:cNvSpPr txBox="1"/>
          <p:nvPr/>
        </p:nvSpPr>
        <p:spPr>
          <a:xfrm>
            <a:off x="6299200" y="1244600"/>
            <a:ext cx="5283200" cy="5080000"/>
          </a:xfrm>
          <a:prstGeom prst="rect">
            <a:avLst/>
          </a:prstGeom>
          <a:noFill/>
        </p:spPr>
        <p:txBody>
          <a:bodyPr wrap="square" lIns="0" rIns="0" tIns="0" bIns="0" anchor="t">
            <a:spAutoFit/>
            <a:normAutofit/>
          </a:bodyPr>
          <a:lstStyle/>
          <a:p>
            <a:pPr>
              <a:spcAft>
                <a:spcPts val="400"/>
              </a:spcAft>
            </a:pPr>
            <a:r>
              <a:rPr sz="1000" b="0" i="0">
                <a:solidFill>
                  <a:srgbClr val="C9D1E0"/>
                </a:solidFill>
                <a:latin typeface="Arial"/>
                <a:ea typeface="Malgun Gothic"/>
                <a:cs typeface="Malgun Gothic"/>
              </a:rPr>
              <a:t>B.6c 시연 투어와 위상 그래프: 멀티모달 지시를 좌표 없이 푼다</a:t>
            </a:r>
          </a:p>
          <a:p>
            <a:pPr>
              <a:spcAft>
                <a:spcPts val="400"/>
              </a:spcAft>
            </a:pPr>
            <a:r>
              <a:rPr sz="1000" b="0" i="0">
                <a:solidFill>
                  <a:srgbClr val="C9D1E0"/>
                </a:solidFill>
                <a:latin typeface="Arial"/>
                <a:ea typeface="Malgun Gothic"/>
                <a:cs typeface="Malgun Gothic"/>
              </a:rPr>
              <a:t>B.6d 보도 자율주행을 시연 로그로 배운다: MIMIC</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Foundation·VLA·언어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B.6 foundation model과 의미 기반 내비게이션</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68 / 516</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ViNT / NoMaD / GNM</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ViNT arXiv:2306.14846</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4"/>
              </a:rPr>
              <a:t>NoMaD arXiv:2310.07896</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5"/>
              </a:rPr>
              <a:t>GNM arXiv:2210.03370</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6"/>
              </a:rPr>
              <a:t>코드</a:t>
            </a:r>
            <a:r>
              <a:rPr sz="1050" b="0" i="0">
                <a:solidFill>
                  <a:srgbClr val="16213A"/>
                </a:solidFill>
                <a:latin typeface="Arial"/>
                <a:ea typeface="Malgun Gothic"/>
                <a:cs typeface="Malgun Gothic"/>
              </a:rPr>
              <a:t>, 1,300★ 이상) — 이 분야에서 가장 성숙하고 여러 로봇에 실제로 배포됐다. 공유 transformer 인코더가 이미지 이력과 목표(목표 이미지, 또는 없음)를 받아 waypoint 열(ViNT)이나 diffusion 정책(NoMaD)을 낸다. </a:t>
            </a:r>
            <a:r>
              <a:rPr sz="1050" b="1" i="0">
                <a:solidFill>
                  <a:srgbClr val="16213A"/>
                </a:solidFill>
                <a:latin typeface="Arial"/>
                <a:ea typeface="Malgun Gothic"/>
                <a:cs typeface="Malgun Gothic"/>
              </a:rPr>
              <a:t>NoMaD는 목표를 가리는(goal masking) 학습으로 목표가 없을 때 스스로 탐색한다.</a:t>
            </a:r>
            <a:r>
              <a:rPr sz="1050" b="0" i="0">
                <a:solidFill>
                  <a:srgbClr val="16213A"/>
                </a:solidFill>
                <a:latin typeface="Arial"/>
                <a:ea typeface="Malgun Gothic"/>
                <a:cs typeface="Malgun Gothic"/>
              </a:rPr>
              <a:t> travplan의 알려진 한계인 "센서 범위 밖 미관측 영역 탐색"에 쓸 수 있는 발상이다.</a:t>
            </a:r>
          </a:p>
        </p:txBody>
      </p:sp>
      <p:pic>
        <p:nvPicPr>
          <p:cNvPr id="6" name="Picture 5" descr="image.jpg"/>
          <p:cNvPicPr>
            <a:picLocks noChangeAspect="1"/>
          </p:cNvPicPr>
          <p:nvPr/>
        </p:nvPicPr>
        <p:blipFill>
          <a:blip r:embed="rId7"/>
          <a:stretch>
            <a:fillRect/>
          </a:stretch>
        </p:blipFill>
        <p:spPr>
          <a:xfrm>
            <a:off x="1092200" y="1982986"/>
            <a:ext cx="10007600" cy="2984500"/>
          </a:xfrm>
          <a:prstGeom prst="rect">
            <a:avLst/>
          </a:prstGeom>
        </p:spPr>
      </p:pic>
      <p:sp>
        <p:nvSpPr>
          <p:cNvPr id="7" name="TextBox 6"/>
          <p:cNvSpPr txBox="1"/>
          <p:nvPr/>
        </p:nvSpPr>
        <p:spPr>
          <a:xfrm>
            <a:off x="1092200" y="5005586"/>
            <a:ext cx="10007600" cy="142180"/>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NoMaD (Fig. 4): 실내·실외 탐색 주행. 한 시점에서 여러 방향의 미래 행동 샘플을 그린다(목표 마스킹 diffusion). 출처: arXiv:2310.07896</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Foundation·VLA·언어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B.6 foundation model과 의미 기반 내비게이션</a:t>
            </a:r>
            <a:r>
              <a:rPr sz="1050" b="0" i="0">
                <a:solidFill>
                  <a:srgbClr val="5A6478"/>
                </a:solidFill>
                <a:latin typeface="Arial"/>
                <a:ea typeface="Malgun Gothic"/>
                <a:cs typeface="Malgun Gothic"/>
              </a:rPr>
              <a:t>  자세히: ViNT와 NoMaD의 방법과 수식</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69 / 516</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ViNT 백본.</a:t>
            </a:r>
            <a:r>
              <a:rPr sz="1050" b="0" i="0">
                <a:solidFill>
                  <a:srgbClr val="16213A"/>
                </a:solidFill>
                <a:latin typeface="Arial"/>
                <a:ea typeface="Malgun Gothic"/>
                <a:cs typeface="Malgun Gothic"/>
              </a:rPr>
              <a:t> 현재와 과거 RGB </a:t>
            </a:r>
            <a:r>
              <a:rPr sz="1050" b="0" i="1">
                <a:solidFill>
                  <a:srgbClr val="16213A"/>
                </a:solidFill>
                <a:latin typeface="Arial"/>
                <a:ea typeface="Malgun Gothic"/>
                <a:cs typeface="Malgun Gothic"/>
              </a:rPr>
              <a:t>o_(t-P:t)</a:t>
            </a:r>
            <a:r>
              <a:rPr sz="1050" b="0" i="0">
                <a:solidFill>
                  <a:srgbClr val="16213A"/>
                </a:solidFill>
                <a:latin typeface="Arial"/>
                <a:ea typeface="Malgun Gothic"/>
                <a:cs typeface="Malgun Gothic"/>
              </a:rPr>
              <a:t> 각각을 EfficientNet-B0 </a:t>
            </a:r>
            <a:r>
              <a:rPr sz="1050" b="0" i="1">
                <a:solidFill>
                  <a:srgbClr val="16213A"/>
                </a:solidFill>
                <a:latin typeface="Arial"/>
                <a:ea typeface="Malgun Gothic"/>
                <a:cs typeface="Malgun Gothic"/>
              </a:rPr>
              <a:t>ψ(oᵢ)</a:t>
            </a:r>
            <a:r>
              <a:rPr sz="1050" b="0" i="0">
                <a:solidFill>
                  <a:srgbClr val="16213A"/>
                </a:solidFill>
                <a:latin typeface="Arial"/>
                <a:ea typeface="Malgun Gothic"/>
                <a:cs typeface="Malgun Gothic"/>
              </a:rPr>
              <a:t>로, 현재 영상과 목표 영상을 함께 목표 융합 인코더 </a:t>
            </a:r>
            <a:r>
              <a:rPr sz="1050" b="0" i="1">
                <a:solidFill>
                  <a:srgbClr val="16213A"/>
                </a:solidFill>
                <a:latin typeface="Arial"/>
                <a:ea typeface="Malgun Gothic"/>
                <a:cs typeface="Malgun Gothic"/>
              </a:rPr>
              <a:t>φ(oₜ, o_g)</a:t>
            </a:r>
            <a:r>
              <a:rPr sz="1050" b="0" i="0">
                <a:solidFill>
                  <a:srgbClr val="16213A"/>
                </a:solidFill>
                <a:latin typeface="Arial"/>
                <a:ea typeface="Malgun Gothic"/>
                <a:cs typeface="Malgun Gothic"/>
              </a:rPr>
              <a:t>로 토큰화하고, transformer </a:t>
            </a:r>
            <a:r>
              <a:rPr sz="1050" b="0" i="1">
                <a:solidFill>
                  <a:srgbClr val="16213A"/>
                </a:solidFill>
                <a:latin typeface="Arial"/>
                <a:ea typeface="Malgun Gothic"/>
                <a:cs typeface="Malgun Gothic"/>
              </a:rPr>
              <a:t>f</a:t>
            </a:r>
            <a:r>
              <a:rPr sz="1050" b="0" i="0">
                <a:solidFill>
                  <a:srgbClr val="16213A"/>
                </a:solidFill>
                <a:latin typeface="Arial"/>
                <a:ea typeface="Malgun Gothic"/>
                <a:cs typeface="Malgun Gothic"/>
              </a:rPr>
              <a:t>가 문맥 </a:t>
            </a:r>
            <a:r>
              <a:rPr sz="1050" b="0" i="1">
                <a:solidFill>
                  <a:srgbClr val="16213A"/>
                </a:solidFill>
                <a:latin typeface="Arial"/>
                <a:ea typeface="Malgun Gothic"/>
                <a:cs typeface="Malgun Gothic"/>
              </a:rPr>
              <a:t>cₜ</a:t>
            </a:r>
            <a:r>
              <a:rPr sz="1050" b="0" i="0">
                <a:solidFill>
                  <a:srgbClr val="16213A"/>
                </a:solidFill>
                <a:latin typeface="Arial"/>
                <a:ea typeface="Malgun Gothic"/>
                <a:cs typeface="Malgun Gothic"/>
              </a:rPr>
              <a:t>를 만든다. 장거리 탐색은 위상 기억 </a:t>
            </a:r>
            <a:r>
              <a:rPr sz="1050" b="0" i="1">
                <a:solidFill>
                  <a:srgbClr val="16213A"/>
                </a:solidFill>
                <a:latin typeface="Arial"/>
                <a:ea typeface="Malgun Gothic"/>
                <a:cs typeface="Malgun Gothic"/>
              </a:rPr>
              <a:t>ℳ</a:t>
            </a:r>
            <a:r>
              <a:rPr sz="1050" b="0" i="0">
                <a:solidFill>
                  <a:srgbClr val="16213A"/>
                </a:solidFill>
                <a:latin typeface="Arial"/>
                <a:ea typeface="Malgun Gothic"/>
                <a:cs typeface="Malgun Gothic"/>
              </a:rPr>
              <a:t>(ViKiNG 방식)과 상위 플래너가 맡는다.</a:t>
            </a:r>
          </a:p>
        </p:txBody>
      </p:sp>
      <p:sp>
        <p:nvSpPr>
          <p:cNvPr id="6" name="TextBox 5"/>
          <p:cNvSpPr txBox="1"/>
          <p:nvPr/>
        </p:nvSpPr>
        <p:spPr>
          <a:xfrm>
            <a:off x="609600" y="176649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NoMaD의 목표 마스킹.</a:t>
            </a:r>
            <a:r>
              <a:rPr sz="1050" b="0" i="0">
                <a:solidFill>
                  <a:srgbClr val="16213A"/>
                </a:solidFill>
                <a:latin typeface="Arial"/>
                <a:ea typeface="Malgun Gothic"/>
                <a:cs typeface="Malgun Gothic"/>
              </a:rPr>
              <a:t> 이진 마스크 </a:t>
            </a:r>
            <a:r>
              <a:rPr sz="1050" b="0" i="1">
                <a:solidFill>
                  <a:srgbClr val="16213A"/>
                </a:solidFill>
                <a:latin typeface="Arial"/>
                <a:ea typeface="Malgun Gothic"/>
                <a:cs typeface="Malgun Gothic"/>
              </a:rPr>
              <a:t>m</a:t>
            </a:r>
            <a:r>
              <a:rPr sz="1050" b="0" i="0">
                <a:solidFill>
                  <a:srgbClr val="16213A"/>
                </a:solidFill>
                <a:latin typeface="Arial"/>
                <a:ea typeface="Malgun Gothic"/>
                <a:cs typeface="Malgun Gothic"/>
              </a:rPr>
              <a:t>으로 목표 토큰을 attention에서 가릴 수 있게 한다. 학습 때 </a:t>
            </a:r>
            <a:r>
              <a:rPr sz="1050" b="0" i="1">
                <a:solidFill>
                  <a:srgbClr val="16213A"/>
                </a:solidFill>
                <a:latin typeface="Arial"/>
                <a:ea typeface="Malgun Gothic"/>
                <a:cs typeface="Malgun Gothic"/>
              </a:rPr>
              <a:t>m ∼ Bernoulli(pₘ = 0.5)</a:t>
            </a:r>
            <a:r>
              <a:rPr sz="1050" b="0" i="0">
                <a:solidFill>
                  <a:srgbClr val="16213A"/>
                </a:solidFill>
                <a:latin typeface="Arial"/>
                <a:ea typeface="Malgun Gothic"/>
                <a:cs typeface="Malgun Gothic"/>
              </a:rPr>
              <a:t>로 반은 목표 도달, 반은 목표 없는 탐색으로 배운다. 테스트 때는 원하는 행동에 맞춰 </a:t>
            </a:r>
            <a:r>
              <a:rPr sz="1050" b="0" i="1">
                <a:solidFill>
                  <a:srgbClr val="16213A"/>
                </a:solidFill>
                <a:latin typeface="Arial"/>
                <a:ea typeface="Malgun Gothic"/>
                <a:cs typeface="Malgun Gothic"/>
              </a:rPr>
              <a:t>m</a:t>
            </a:r>
            <a:r>
              <a:rPr sz="1050" b="0" i="0">
                <a:solidFill>
                  <a:srgbClr val="16213A"/>
                </a:solidFill>
                <a:latin typeface="Arial"/>
                <a:ea typeface="Malgun Gothic"/>
                <a:cs typeface="Malgun Gothic"/>
              </a:rPr>
              <a:t>을 정한다.</a:t>
            </a:r>
          </a:p>
        </p:txBody>
      </p:sp>
      <p:pic>
        <p:nvPicPr>
          <p:cNvPr id="7" name="Picture 6" descr="image.png"/>
          <p:cNvPicPr>
            <a:picLocks noChangeAspect="1"/>
          </p:cNvPicPr>
          <p:nvPr/>
        </p:nvPicPr>
        <p:blipFill>
          <a:blip r:embed="rId3"/>
          <a:stretch>
            <a:fillRect/>
          </a:stretch>
        </p:blipFill>
        <p:spPr>
          <a:xfrm>
            <a:off x="609600" y="2288381"/>
            <a:ext cx="1984375" cy="241300"/>
          </a:xfrm>
          <a:prstGeom prst="rect">
            <a:avLst/>
          </a:prstGeom>
        </p:spPr>
      </p:pic>
      <p:sp>
        <p:nvSpPr>
          <p:cNvPr id="8" name="TextBox 7"/>
          <p:cNvSpPr txBox="1"/>
          <p:nvPr/>
        </p:nvSpPr>
        <p:spPr>
          <a:xfrm>
            <a:off x="609600" y="2565896"/>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확산 정책.</a:t>
            </a:r>
            <a:r>
              <a:rPr sz="1050" b="0" i="0">
                <a:solidFill>
                  <a:srgbClr val="16213A"/>
                </a:solidFill>
                <a:latin typeface="Arial"/>
                <a:ea typeface="Malgun Gothic"/>
                <a:cs typeface="Malgun Gothic"/>
              </a:rPr>
              <a:t> 이 문맥을 조건으로 미래 행동 </a:t>
            </a:r>
            <a:r>
              <a:rPr sz="1050" b="0" i="1">
                <a:solidFill>
                  <a:srgbClr val="16213A"/>
                </a:solidFill>
                <a:latin typeface="Arial"/>
                <a:ea typeface="Malgun Gothic"/>
                <a:cs typeface="Malgun Gothic"/>
              </a:rPr>
              <a:t>a_(t:t+H)</a:t>
            </a:r>
            <a:r>
              <a:rPr sz="1050" b="0" i="0">
                <a:solidFill>
                  <a:srgbClr val="16213A"/>
                </a:solidFill>
                <a:latin typeface="Arial"/>
                <a:ea typeface="Malgun Gothic"/>
                <a:cs typeface="Malgun Gothic"/>
              </a:rPr>
              <a:t>를 확산 모델(배경 0.5)로 생성한다. 목표가 없으면 충돌 없는 여러 방향의 행동이 샘플로 나와, 탐색에 필요한 다양성이 자연히 생긴다.</a:t>
            </a:r>
          </a:p>
        </p:txBody>
      </p:sp>
      <p:sp>
        <p:nvSpPr>
          <p:cNvPr id="9" name="TextBox 8"/>
          <p:cNvSpPr txBox="1"/>
          <p:nvPr/>
        </p:nvSpPr>
        <p:spPr>
          <a:xfrm>
            <a:off x="609600" y="287129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것.</a:t>
            </a:r>
            <a:r>
              <a:rPr sz="1050" b="0" i="0">
                <a:solidFill>
                  <a:srgbClr val="16213A"/>
                </a:solidFill>
                <a:latin typeface="Arial"/>
                <a:ea typeface="Malgun Gothic"/>
                <a:cs typeface="Malgun Gothic"/>
              </a:rPr>
              <a:t> Planner D의 조건에서 route subgoal을 가끔 빼고 학습하면 "목표 없이도 안전하게 앞을 탐색하는" 모드를 한 모델에 넣을 수 있다. 센서 범위 밖 탐색 한계에 대한 가벼운 대응이다.</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Foundation·VLA·언어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B.6 foundation model과 의미 기반 내비게이션</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70 / 516</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NaviTrace</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데이터셋</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4"/>
              </a:rPr>
              <a:t>평가 코드</a:t>
            </a:r>
            <a:r>
              <a:rPr sz="1050" b="0" i="0">
                <a:solidFill>
                  <a:srgbClr val="16213A"/>
                </a:solidFill>
                <a:latin typeface="Arial"/>
                <a:ea typeface="Malgun Gothic"/>
                <a:cs typeface="Malgun Gothic"/>
              </a:rPr>
              <a:t>) — 1인칭 이미지, 언어 지시, 로봇 형태를 받아 2D 경로를 내는 벤치마크로, 보도 지형과 사회 규범 상황을 포함한다. 학습 Planner를 평가하거나 다시 학습할 때 바로 쓸 수 있다.</a:t>
            </a:r>
          </a:p>
        </p:txBody>
      </p:sp>
      <p:sp>
        <p:nvSpPr>
          <p:cNvPr id="6" name="TextBox 5"/>
          <p:cNvSpPr txBox="1"/>
          <p:nvPr/>
        </p:nvSpPr>
        <p:spPr>
          <a:xfrm>
            <a:off x="609600" y="176649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Robostral Navigate</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5"/>
              </a:rPr>
              <a:t>논문</a:t>
            </a:r>
            <a:r>
              <a:rPr sz="1050" b="0" i="0">
                <a:solidFill>
                  <a:srgbClr val="16213A"/>
                </a:solidFill>
                <a:latin typeface="Arial"/>
                <a:ea typeface="Malgun Gothic"/>
                <a:cs typeface="Malgun Gothic"/>
              </a:rPr>
              <a:t>) — 8B VLM(0.5 Hz)과 121M diffusion(10 Hz)을 묶었다. 임베디드 지연을 보고하지 않았고 홍보성이 짙어 보수적으로 본다.</a:t>
            </a:r>
          </a:p>
        </p:txBody>
      </p:sp>
      <p:sp>
        <p:nvSpPr>
          <p:cNvPr id="7" name="TextBox 6"/>
          <p:cNvSpPr txBox="1"/>
          <p:nvPr/>
        </p:nvSpPr>
        <p:spPr>
          <a:xfrm>
            <a:off x="609600" y="2071886"/>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CLUE</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6"/>
              </a:rPr>
              <a:t>arXiv:2605.19206</a:t>
            </a:r>
            <a:r>
              <a:rPr sz="1050" b="0" i="0">
                <a:solidFill>
                  <a:srgbClr val="16213A"/>
                </a:solidFill>
                <a:latin typeface="Arial"/>
                <a:ea typeface="Malgun Gothic"/>
                <a:cs typeface="Malgun Gothic"/>
              </a:rPr>
              <a:t>, KAIST Urban Robotics Lab) — 처음 보는 물체를 찾아가는 zero-shot object-goal 내비게이션이다. 오프라인 LLM의 상식으로 "목표 물체가 특정 방 종류와 얼마나 강하게 묶여 있는가"를 추정한다. 침대처럼 방과 강하게 묶인 물체는 방 단서를, 약하게 묶인 물체는 주변 물체 단서를 더 믿도록 가중한 </a:t>
            </a:r>
            <a:r>
              <a:rPr sz="1050" b="1" i="0">
                <a:solidFill>
                  <a:srgbClr val="16213A"/>
                </a:solidFill>
                <a:latin typeface="Arial"/>
                <a:ea typeface="Malgun Gothic"/>
                <a:cs typeface="Malgun Gothic"/>
              </a:rPr>
              <a:t>통합 시맨틱 가치 지도</a:t>
            </a:r>
            <a:r>
              <a:rPr sz="1050" b="0" i="0">
                <a:solidFill>
                  <a:srgbClr val="16213A"/>
                </a:solidFill>
                <a:latin typeface="Arial"/>
                <a:ea typeface="Malgun Gothic"/>
                <a:cs typeface="Malgun Gothic"/>
              </a:rPr>
              <a:t>로 탐색한다(Jackal UGV 실험). 배달로봇의 "건물 입구나 특정 가게 찾기" 같은 의미 기반 목표에 해당하며, travplan의 기하 기반 Planner보다 한 층 위의 문제다.</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Foundation·VLA·언어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B.6 foundation model과 의미 기반 내비게이션</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71 / 516</a:t>
            </a:r>
          </a:p>
        </p:txBody>
      </p:sp>
      <p:pic>
        <p:nvPicPr>
          <p:cNvPr id="5" name="Picture 4" descr="image.jpg"/>
          <p:cNvPicPr>
            <a:picLocks noChangeAspect="1"/>
          </p:cNvPicPr>
          <p:nvPr/>
        </p:nvPicPr>
        <p:blipFill>
          <a:blip r:embed="rId3"/>
          <a:stretch>
            <a:fillRect/>
          </a:stretch>
        </p:blipFill>
        <p:spPr>
          <a:xfrm>
            <a:off x="1365250" y="1244600"/>
            <a:ext cx="9461500" cy="4083050"/>
          </a:xfrm>
          <a:prstGeom prst="rect">
            <a:avLst/>
          </a:prstGeom>
        </p:spPr>
      </p:pic>
      <p:sp>
        <p:nvSpPr>
          <p:cNvPr id="6" name="TextBox 5"/>
          <p:cNvSpPr txBox="1"/>
          <p:nvPr/>
        </p:nvSpPr>
        <p:spPr>
          <a:xfrm>
            <a:off x="1365250" y="5365750"/>
            <a:ext cx="9461500" cy="142180"/>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CLUE (Fig. 2): 목표 물체의 성격에 맞춰 방 단서와 물체 단서를 가중해 통합 시맨틱 가치 지도를 만들고 탐색한다. 출처: arXiv:2605.19206</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Foundation·VLA·언어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B.6 foundation model과 의미 기반 내비게이션</a:t>
            </a:r>
            <a:r>
              <a:rPr sz="1050" b="0" i="0">
                <a:solidFill>
                  <a:srgbClr val="5A6478"/>
                </a:solidFill>
                <a:latin typeface="Arial"/>
                <a:ea typeface="Malgun Gothic"/>
                <a:cs typeface="Malgun Gothic"/>
              </a:rPr>
              <a:t>  자세히: CLUE의 방법과 수식</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72 / 516</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지도.</a:t>
            </a:r>
            <a:r>
              <a:rPr sz="1050" b="0" i="0">
                <a:solidFill>
                  <a:srgbClr val="16213A"/>
                </a:solidFill>
                <a:latin typeface="Arial"/>
                <a:ea typeface="Malgun Gothic"/>
                <a:cs typeface="Malgun Gothic"/>
              </a:rPr>
              <a:t> 점군을 바닥에 투영한 기하 지도 </a:t>
            </a:r>
            <a:r>
              <a:rPr sz="1050" b="0" i="1">
                <a:solidFill>
                  <a:srgbClr val="16213A"/>
                </a:solidFill>
                <a:latin typeface="Arial"/>
                <a:ea typeface="Malgun Gothic"/>
                <a:cs typeface="Malgun Gothic"/>
              </a:rPr>
              <a:t>ℳ_(geo)</a:t>
            </a:r>
            <a:r>
              <a:rPr sz="1050" b="0" i="0">
                <a:solidFill>
                  <a:srgbClr val="16213A"/>
                </a:solidFill>
                <a:latin typeface="Arial"/>
                <a:ea typeface="Malgun Gothic"/>
                <a:cs typeface="Malgun Gothic"/>
              </a:rPr>
              <a:t>(탐색됨·미탐색·점유, 경계의 frontier)와, 칸마다 "목표가 여기 있을 가능성"을 담은 시맨틱 가치 지도 </a:t>
            </a:r>
            <a:r>
              <a:rPr sz="1050" b="0" i="1">
                <a:solidFill>
                  <a:srgbClr val="16213A"/>
                </a:solidFill>
                <a:latin typeface="Arial"/>
                <a:ea typeface="Malgun Gothic"/>
                <a:cs typeface="Malgun Gothic"/>
              </a:rPr>
              <a:t>ℳₛₑₘ</a:t>
            </a:r>
            <a:r>
              <a:rPr sz="1050" b="0" i="0">
                <a:solidFill>
                  <a:srgbClr val="16213A"/>
                </a:solidFill>
                <a:latin typeface="Arial"/>
                <a:ea typeface="Malgun Gothic"/>
                <a:cs typeface="Malgun Gothic"/>
              </a:rPr>
              <a:t>를 함께 쓴다(VLFM과 같은 틀).</a:t>
            </a:r>
          </a:p>
        </p:txBody>
      </p:sp>
      <p:sp>
        <p:nvSpPr>
          <p:cNvPr id="6" name="TextBox 5"/>
          <p:cNvSpPr txBox="1"/>
          <p:nvPr/>
        </p:nvSpPr>
        <p:spPr>
          <a:xfrm>
            <a:off x="609600" y="1549995"/>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점수.</a:t>
            </a:r>
            <a:r>
              <a:rPr sz="1050" b="0" i="0">
                <a:solidFill>
                  <a:srgbClr val="16213A"/>
                </a:solidFill>
                <a:latin typeface="Arial"/>
                <a:ea typeface="Malgun Gothic"/>
                <a:cs typeface="Malgun Gothic"/>
              </a:rPr>
              <a:t> 목표 점수 </a:t>
            </a:r>
            <a:r>
              <a:rPr sz="1050" b="0" i="1">
                <a:solidFill>
                  <a:srgbClr val="16213A"/>
                </a:solidFill>
                <a:latin typeface="Arial"/>
                <a:ea typeface="Malgun Gothic"/>
                <a:cs typeface="Malgun Gothic"/>
              </a:rPr>
              <a:t>v_(target)</a:t>
            </a:r>
            <a:r>
              <a:rPr sz="1050" b="0" i="0">
                <a:solidFill>
                  <a:srgbClr val="16213A"/>
                </a:solidFill>
                <a:latin typeface="Arial"/>
                <a:ea typeface="Malgun Gothic"/>
                <a:cs typeface="Malgun Gothic"/>
              </a:rPr>
              <a:t>은 BLIP-2로 현재 시야와 목표 이름의 코사인 유사도다. 여기에 방 단서 점수와 물체 단서 점수를 더하는데, 가중치를 </a:t>
            </a:r>
            <a:r>
              <a:rPr sz="1050" b="1" i="0">
                <a:solidFill>
                  <a:srgbClr val="16213A"/>
                </a:solidFill>
                <a:latin typeface="Arial"/>
                <a:ea typeface="Malgun Gothic"/>
                <a:cs typeface="Malgun Gothic"/>
              </a:rPr>
              <a:t>목표가 방 종류와 얼마나 묶여 있는가</a:t>
            </a:r>
            <a:r>
              <a:rPr sz="1050" b="0" i="0">
                <a:solidFill>
                  <a:srgbClr val="16213A"/>
                </a:solidFill>
                <a:latin typeface="Arial"/>
                <a:ea typeface="Malgun Gothic"/>
                <a:cs typeface="Malgun Gothic"/>
              </a:rPr>
              <a:t>(오프라인 LLM이 미리 추정)로 정한다. 침대처럼 방과 강하게 묶인 물체는 방 단서를, 그렇지 않은 물체는 주변 물체 단서를 더 믿는다. LLM은 실행 전에 한 번만 질의하므로 실행 중 지연이 없다.</a:t>
            </a:r>
          </a:p>
        </p:txBody>
      </p:sp>
      <p:sp>
        <p:nvSpPr>
          <p:cNvPr id="7" name="TextBox 6"/>
          <p:cNvSpPr txBox="1"/>
          <p:nvPr/>
        </p:nvSpPr>
        <p:spPr>
          <a:xfrm>
            <a:off x="609600" y="2071886"/>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탐색.</a:t>
            </a:r>
            <a:r>
              <a:rPr sz="1050" b="0" i="0">
                <a:solidFill>
                  <a:srgbClr val="16213A"/>
                </a:solidFill>
                <a:latin typeface="Arial"/>
                <a:ea typeface="Malgun Gothic"/>
                <a:cs typeface="Malgun Gothic"/>
              </a:rPr>
              <a:t> 가치가 높은 frontier로 가고, 목표 후보는 여러 시점에서 다시 확인한다.</a:t>
            </a:r>
          </a:p>
        </p:txBody>
      </p:sp>
      <p:sp>
        <p:nvSpPr>
          <p:cNvPr id="8" name="TextBox 7"/>
          <p:cNvSpPr txBox="1"/>
          <p:nvPr/>
        </p:nvSpPr>
        <p:spPr>
          <a:xfrm>
            <a:off x="609600" y="237728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것.</a:t>
            </a:r>
            <a:r>
              <a:rPr sz="1050" b="0" i="0">
                <a:solidFill>
                  <a:srgbClr val="16213A"/>
                </a:solidFill>
                <a:latin typeface="Arial"/>
                <a:ea typeface="Malgun Gothic"/>
                <a:cs typeface="Malgun Gothic"/>
              </a:rPr>
              <a:t> travplan Planner 위에 올라가는 "어디로 갈지"를 정하는 층의 참고다. 기하 계획과는 층위가 다르다.</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Foundation·VLA·언어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B.6b VLA와 도시 보행 내비: 언어·영상 기반 모델이 행동까지 낸다</a:t>
            </a:r>
            <a:r>
              <a:rPr sz="1050" b="0" i="0">
                <a:solidFill>
                  <a:srgbClr val="5A6478"/>
                </a:solidFill>
                <a:latin typeface="Arial"/>
                <a:ea typeface="Malgun Gothic"/>
                <a:cs typeface="Malgun Gothic"/>
              </a:rPr>
              <a:t>  1/8</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73 / 516</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2024년부터 시각 내비 기반 모델은 두 방향으로 커졌다.</a:t>
            </a:r>
            <a:r>
              <a:rPr sz="1050" b="0" i="0">
                <a:solidFill>
                  <a:srgbClr val="16213A"/>
                </a:solidFill>
                <a:latin typeface="Arial"/>
                <a:ea typeface="Malgun Gothic"/>
                <a:cs typeface="Malgun Gothic"/>
              </a:rPr>
              <a:t> 하나는 인터넷 규모 VLM을 로봇 행동 출력까지 학습시킨 VLA(vision-language-action)다. 다른 하나는 웹 영상에서 행동 라벨을 뽑아 도시 보행을 배우는 것이다. 2026년의 실제 환경 평가는 이 모델들의 기하 이해가 아직 약하다는 것을 보였다.</a:t>
            </a:r>
          </a:p>
        </p:txBody>
      </p:sp>
      <p:graphicFrame>
        <p:nvGraphicFramePr>
          <p:cNvPr id="6" name="Table 5"/>
          <p:cNvGraphicFramePr>
            <a:graphicFrameLocks noGrp="1"/>
          </p:cNvGraphicFramePr>
          <p:nvPr/>
        </p:nvGraphicFramePr>
        <p:xfrm>
          <a:off x="609600" y="1766491"/>
          <a:ext cx="10966449" cy="2257344"/>
        </p:xfrm>
        <a:graphic>
          <a:graphicData uri="http://schemas.openxmlformats.org/drawingml/2006/table">
            <a:tbl>
              <a:tblPr firstRow="1" bandRow="1">
                <a:tableStyleId>{5C22544A-7EE6-4342-B048-85BDC9FD1C3A}</a:tableStyleId>
              </a:tblPr>
              <a:tblGrid>
                <a:gridCol w="417909"/>
                <a:gridCol w="1092398"/>
                <a:gridCol w="3664049"/>
                <a:gridCol w="2506166"/>
                <a:gridCol w="3285927"/>
              </a:tblGrid>
              <a:tr h="197088">
                <a:tc>
                  <a:txBody>
                    <a:bodyPr wrap="square"/>
                    <a:lstStyle/>
                    <a:p>
                      <a:r>
                        <a:rPr sz="800" b="1" i="0">
                          <a:solidFill>
                            <a:srgbClr val="F4F1EA"/>
                          </a:solidFill>
                          <a:latin typeface="Arial"/>
                          <a:ea typeface="Malgun Gothic"/>
                          <a:cs typeface="Malgun Gothic"/>
                        </a:rPr>
                        <a:t>연도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이름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입력과 출력</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규모·데이터</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코드(★), 가중치</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2024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OpenVLA</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영상 + 지시 → 차원마다 256구간으로 나눈 행동 토큰</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7B, 실제 로봇 시연 97만 개</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3"/>
                        </a:rPr>
                        <a:t>openvla/openvla</a:t>
                      </a:r>
                      <a:r>
                        <a:rPr sz="800" b="0" i="0">
                          <a:solidFill>
                            <a:srgbClr val="16213A"/>
                          </a:solidFill>
                          <a:latin typeface="Arial"/>
                          <a:ea typeface="Malgun Gothic"/>
                          <a:cs typeface="Malgun Gothic"/>
                        </a:rPr>
                        <a:t> 7.1k, </a:t>
                      </a:r>
                      <a:r>
                        <a:rPr sz="800" b="0" i="0">
                          <a:solidFill>
                            <a:srgbClr val="1D4ED8"/>
                          </a:solidFill>
                          <a:latin typeface="Arial"/>
                          <a:ea typeface="Malgun Gothic"/>
                          <a:cs typeface="Malgun Gothic"/>
                          <a:hlinkClick r:id="rId4"/>
                        </a:rPr>
                        <a:t>openvla-7b</a:t>
                      </a:r>
                      <a:r>
                        <a:rPr sz="800" b="0" i="0">
                          <a:solidFill>
                            <a:srgbClr val="16213A"/>
                          </a:solidFill>
                          <a:latin typeface="Arial"/>
                          <a:ea typeface="Malgun Gothic"/>
                          <a:cs typeface="Malgun Gothic"/>
                        </a:rPr>
                        <a:t> HF 0.44M(MIT)</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2024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π0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영상 + 지시 + 관절 상태 → 50스텝 행동 묶음(flow matching)</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3.3B, 로봇 7종·1만 시간 이상</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5"/>
                        </a:rPr>
                        <a:t>Physical-Intelligence/openpi</a:t>
                      </a:r>
                      <a:r>
                        <a:rPr sz="800" b="0" i="0">
                          <a:solidFill>
                            <a:srgbClr val="16213A"/>
                          </a:solidFill>
                          <a:latin typeface="Arial"/>
                          <a:ea typeface="Malgun Gothic"/>
                          <a:cs typeface="Malgun Gothic"/>
                        </a:rPr>
                        <a:t> 14.0k, </a:t>
                      </a:r>
                      <a:r>
                        <a:rPr sz="800" b="0" i="0">
                          <a:solidFill>
                            <a:srgbClr val="1D4ED8"/>
                          </a:solidFill>
                          <a:latin typeface="Arial"/>
                          <a:ea typeface="Malgun Gothic"/>
                          <a:cs typeface="Malgun Gothic"/>
                          <a:hlinkClick r:id="rId6"/>
                        </a:rPr>
                        <a:t>pi0_base</a:t>
                      </a:r>
                      <a:r>
                        <a:rPr sz="800" b="0" i="0">
                          <a:solidFill>
                            <a:srgbClr val="16213A"/>
                          </a:solidFill>
                          <a:latin typeface="Arial"/>
                          <a:ea typeface="Malgun Gothic"/>
                          <a:cs typeface="Malgun Gothic"/>
                        </a:rPr>
                        <a:t> HF 0.04M(Gemma 약관)</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2024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NaVILA</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영상 + 지시 → 언어로 된 중간 행동 → 보행 RL 정책</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4족·휴머노이드 3종 배포</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7"/>
                        </a:rPr>
                        <a:t>AnjieCheng/NaVILA</a:t>
                      </a:r>
                      <a:r>
                        <a:rPr sz="800" b="0" i="0">
                          <a:solidFill>
                            <a:srgbClr val="16213A"/>
                          </a:solidFill>
                          <a:latin typeface="Arial"/>
                          <a:ea typeface="Malgun Gothic"/>
                          <a:cs typeface="Malgun Gothic"/>
                        </a:rPr>
                        <a:t> 0.7k</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2024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Uni-NaVid</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영상 + 지시 → 다음 행동 4개</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네 과제 360만 샘플, 5 Hz</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8"/>
                        </a:rPr>
                        <a:t>jzhzhang/Uni-NaVid</a:t>
                      </a:r>
                      <a:r>
                        <a:rPr sz="800" b="0" i="0">
                          <a:solidFill>
                            <a:srgbClr val="16213A"/>
                          </a:solidFill>
                          <a:latin typeface="Arial"/>
                          <a:ea typeface="Malgun Gothic"/>
                          <a:cs typeface="Malgun Gothic"/>
                        </a:rPr>
                        <a:t> 0.4k</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2024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CityWalker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영상 + 과거 궤적 + 목표 → waypoint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도시 보행 영상 2,000시간 이상</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9"/>
                        </a:rPr>
                        <a:t>ai4ce/CityWalker</a:t>
                      </a:r>
                      <a:r>
                        <a:rPr sz="800" b="0" i="0">
                          <a:solidFill>
                            <a:srgbClr val="16213A"/>
                          </a:solidFill>
                          <a:latin typeface="Arial"/>
                          <a:ea typeface="Malgun Gothic"/>
                          <a:cs typeface="Malgun Gothic"/>
                        </a:rPr>
                        <a:t> 0.2k</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2025</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MolmoAct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영상 + 지시 → 깊이 토큰 → 영상 위 궤적 선 → 행동 토큰</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7B 두 가지, 사전학습 2,630만 표본 + 자체 궤적 10,689개</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0"/>
                        </a:rPr>
                        <a:t>allenai/molmoact</a:t>
                      </a:r>
                      <a:r>
                        <a:rPr sz="800" b="0" i="0">
                          <a:solidFill>
                            <a:srgbClr val="16213A"/>
                          </a:solidFill>
                          <a:latin typeface="Arial"/>
                          <a:ea typeface="Malgun Gothic"/>
                          <a:cs typeface="Malgun Gothic"/>
                        </a:rPr>
                        <a:t> 0.4k(Apache-2.0), 가중치·데이터 공개</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2025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VAMOS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영상 + 목표 좌표 문장 → 영상 위 2D 경로 후보. 로봇별 affordance 모델이 후보를 고른다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PaliGemma 2 3B, 공개 자료 3종 + Spot 29.8시간</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1"/>
                        </a:rPr>
                        <a:t>vamos-vla/vamos</a:t>
                      </a:r>
                      <a:r>
                        <a:rPr sz="800" b="0" i="0">
                          <a:solidFill>
                            <a:srgbClr val="16213A"/>
                          </a:solidFill>
                          <a:latin typeface="Arial"/>
                          <a:ea typeface="Malgun Gothic"/>
                          <a:cs typeface="Malgun Gothic"/>
                        </a:rPr>
                        <a:t> 0.1k(추론·배포만, 라이선스 표기 없음)</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2026</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Can VFMs Navigate?</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GNM, ViNT, NoMaD, NaviBridger, CrossFormer 실측 평가</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로봇 2종, 실내외 환경 5곳</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공개 예정</a:t>
                      </a:r>
                    </a:p>
                  </a:txBody>
                  <a:tcPr marL="63500" marR="63500" marT="12700" marB="12700">
                    <a:solidFill>
                      <a:srgbClr val="F3F0E8"/>
                    </a:solidFill>
                  </a:tcPr>
                </a:tc>
              </a:tr>
            </a:tbl>
          </a:graphicData>
        </a:graphic>
      </p:graphicFrame>
      <p:sp>
        <p:nvSpPr>
          <p:cNvPr id="7" name="TextBox 6"/>
          <p:cNvSpPr txBox="1"/>
          <p:nvPr/>
        </p:nvSpPr>
        <p:spPr>
          <a:xfrm>
            <a:off x="609600" y="4683423"/>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OpenVLA — 공개된 7B VLA</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12"/>
              </a:rPr>
              <a:t>arXiv:2406.09246</a:t>
            </a:r>
            <a:r>
              <a:rPr sz="1050" b="0" i="0">
                <a:solidFill>
                  <a:srgbClr val="16213A"/>
                </a:solidFill>
                <a:latin typeface="Arial"/>
                <a:ea typeface="Malgun Gothic"/>
                <a:cs typeface="Malgun Gothic"/>
              </a:rPr>
              <a:t>, 2024, Stanford 등, </a:t>
            </a:r>
            <a:r>
              <a:rPr sz="1050" b="0" i="0">
                <a:solidFill>
                  <a:srgbClr val="1D4ED8"/>
                </a:solidFill>
                <a:latin typeface="Arial"/>
                <a:ea typeface="Malgun Gothic"/>
                <a:cs typeface="Malgun Gothic"/>
                <a:hlinkClick r:id="rId3"/>
              </a:rPr>
              <a:t>코드</a:t>
            </a:r>
            <a:r>
              <a:rPr sz="1050" b="0" i="0">
                <a:solidFill>
                  <a:srgbClr val="16213A"/>
                </a:solidFill>
                <a:latin typeface="Arial"/>
                <a:ea typeface="Malgun Gothic"/>
                <a:cs typeface="Malgun Gothic"/>
              </a:rPr>
              <a:t>). Llama 2 언어 모델에 DINOv2와 SigLIP 특징을 합친 영상 인코더를 붙이고, 실제 로봇 시연 97만 개로 학습했다. 로봇 행동의 각 차원을 학습 데이터의 1–99 백분위 구간에서 256구간으로 나눠 언어 토큰처럼 예측한다. 29개 과제에서 닫힌 모델 RT-2-X(55B)보다 파라미터가 7배 적으면서 절대 성공률이 16.5% 높았다. 새 환경 미세조정에서는 처음부터 학습한 Diffusion Policy보다 20.4% 높았다. LoRA로 소비자 GPU에서 미세조정하고, 양자화로 성능 손실 없이 서비스할 수 있다.</a:t>
            </a:r>
          </a:p>
        </p:txBody>
      </p:sp>
      <p:sp>
        <p:nvSpPr>
          <p:cNvPr id="8" name="TextBox 7"/>
          <p:cNvSpPr txBox="1"/>
          <p:nvPr/>
        </p:nvSpPr>
        <p:spPr>
          <a:xfrm>
            <a:off x="609600" y="5421809"/>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π0 — VLM에 flow matching 행동 전문가를 붙였다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13"/>
              </a:rPr>
              <a:t>arXiv:2410.24164</a:t>
            </a:r>
            <a:r>
              <a:rPr sz="1050" b="0" i="0">
                <a:solidFill>
                  <a:srgbClr val="16213A"/>
                </a:solidFill>
                <a:latin typeface="Arial"/>
                <a:ea typeface="Malgun Gothic"/>
                <a:cs typeface="Malgun Gothic"/>
              </a:rPr>
              <a:t>, RSS 2025, Physical Intelligence, </a:t>
            </a:r>
            <a:r>
              <a:rPr sz="1050" b="0" i="0">
                <a:solidFill>
                  <a:srgbClr val="1D4ED8"/>
                </a:solidFill>
                <a:latin typeface="Arial"/>
                <a:ea typeface="Malgun Gothic"/>
                <a:cs typeface="Malgun Gothic"/>
                <a:hlinkClick r:id="rId5"/>
              </a:rPr>
              <a:t>코드</a:t>
            </a:r>
            <a:r>
              <a:rPr sz="1050" b="0" i="0">
                <a:solidFill>
                  <a:srgbClr val="16213A"/>
                </a:solidFill>
                <a:latin typeface="Arial"/>
                <a:ea typeface="Malgun Gothic"/>
                <a:cs typeface="Malgun Gothic"/>
              </a:rPr>
              <a:t>). 사전학습 VLM(PaliGemma 3B)이 영상과 지시를 처리하고, 새로 붙인 3억 파라미터 행동 전문가가 flow matching으로 앞으로 50스텝의 연속 행동 묶음을 낸다. 로봇 7종, 과제 68개, 1만 시간이 넘는 데이터로 사전학습한 뒤 빨래 개기, 상자 조립 같은 정교한 과제에 미세조정했다. 최대 50 Hz로 로봇을 제어하고, 추론은 Euler 10스텝이다. 코드는 Apache-2.0이지만 가중치는 PaliGemma의 Gemma 약관을 따른다.</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Foundation·VLA·언어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B.6b VLA와 도시 보행 내비: 언어·영상 기반 모델이 행동까지 낸다</a:t>
            </a:r>
            <a:r>
              <a:rPr sz="1050" b="0" i="0">
                <a:solidFill>
                  <a:srgbClr val="5A6478"/>
                </a:solidFill>
                <a:latin typeface="Arial"/>
                <a:ea typeface="Malgun Gothic"/>
                <a:cs typeface="Malgun Gothic"/>
              </a:rPr>
              <a:t>  2/8</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74 / 516</a:t>
            </a:r>
          </a:p>
        </p:txBody>
      </p:sp>
      <p:pic>
        <p:nvPicPr>
          <p:cNvPr id="5" name="Picture 4" descr="image.jpg"/>
          <p:cNvPicPr>
            <a:picLocks noChangeAspect="1"/>
          </p:cNvPicPr>
          <p:nvPr/>
        </p:nvPicPr>
        <p:blipFill>
          <a:blip r:embed="rId3"/>
          <a:stretch>
            <a:fillRect/>
          </a:stretch>
        </p:blipFill>
        <p:spPr>
          <a:xfrm>
            <a:off x="1016000" y="1244600"/>
            <a:ext cx="10160000" cy="2832100"/>
          </a:xfrm>
          <a:prstGeom prst="rect">
            <a:avLst/>
          </a:prstGeom>
        </p:spPr>
      </p:pic>
      <p:sp>
        <p:nvSpPr>
          <p:cNvPr id="6" name="TextBox 5"/>
          <p:cNvSpPr txBox="1"/>
          <p:nvPr/>
        </p:nvSpPr>
        <p:spPr>
          <a:xfrm>
            <a:off x="1016000" y="4114800"/>
            <a:ext cx="10160000" cy="142180"/>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π0 (Fig. 3): 자체 조작 데이터와 공개 데이터를 섞어 사전학습하고, 큰 VLM backbone과 작은 행동 전문가로 된 flow matching VLA가 여러 로봇의 행동을 낸다. 출처: arXiv:2410.24164</a:t>
            </a:r>
          </a:p>
        </p:txBody>
      </p:sp>
      <p:sp>
        <p:nvSpPr>
          <p:cNvPr id="7" name="TextBox 6"/>
          <p:cNvSpPr txBox="1"/>
          <p:nvPr/>
        </p:nvSpPr>
        <p:spPr>
          <a:xfrm>
            <a:off x="609600" y="4345880"/>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NaVILA — 언어로 된 중간 행동으로 다리 로봇을 움직인다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4"/>
              </a:rPr>
              <a:t>arXiv:2412.04453</a:t>
            </a:r>
            <a:r>
              <a:rPr sz="1050" b="0" i="0">
                <a:solidFill>
                  <a:srgbClr val="16213A"/>
                </a:solidFill>
                <a:latin typeface="Arial"/>
                <a:ea typeface="Malgun Gothic"/>
                <a:cs typeface="Malgun Gothic"/>
              </a:rPr>
              <a:t>, RSS 2025, UC San Diego·USC·NVIDIA, </a:t>
            </a:r>
            <a:r>
              <a:rPr sz="1050" b="0" i="0">
                <a:solidFill>
                  <a:srgbClr val="1D4ED8"/>
                </a:solidFill>
                <a:latin typeface="Arial"/>
                <a:ea typeface="Malgun Gothic"/>
                <a:cs typeface="Malgun Gothic"/>
                <a:hlinkClick r:id="rId5"/>
              </a:rPr>
              <a:t>코드</a:t>
            </a:r>
            <a:r>
              <a:rPr sz="1050" b="0" i="0">
                <a:solidFill>
                  <a:srgbClr val="16213A"/>
                </a:solidFill>
                <a:latin typeface="Arial"/>
                <a:ea typeface="Malgun Gothic"/>
                <a:cs typeface="Malgun Gothic"/>
              </a:rPr>
              <a:t>). VLA가 관절 명령까지 곧장 내면 로봇마다 다시 학습해야 한다. NaVILA는 VLA가 "앞으로 75 cm"처럼 공간 정보를 담은 중간 행동을 </a:t>
            </a:r>
            <a:r>
              <a:rPr sz="1050" b="1" i="0">
                <a:solidFill>
                  <a:srgbClr val="16213A"/>
                </a:solidFill>
                <a:latin typeface="Arial"/>
                <a:ea typeface="Malgun Gothic"/>
                <a:cs typeface="Malgun Gothic"/>
              </a:rPr>
              <a:t>언어로</a:t>
            </a:r>
            <a:r>
              <a:rPr sz="1050" b="0" i="0">
                <a:solidFill>
                  <a:srgbClr val="16213A"/>
                </a:solidFill>
                <a:latin typeface="Arial"/>
                <a:ea typeface="Malgun Gothic"/>
                <a:cs typeface="Malgun Gothic"/>
              </a:rPr>
              <a:t> 내게 하고, 영상 기반 보행 RL 정책이 그것을 실행한다. 사람이 찍은 투어 영상을 연속 환경의 내비 데이터로 바꿔 학습에 섞었다. 기존 VLN 벤치마크에서 성공률을 17% 넘게 높였고, Isaac Sim으로 만든 VLN-CE-Isaac 벤치마크를 새로 냈다. Unitree Go2, Unitree H1, Booster T1에 배포했고, 실제 환경 지시 25개에서 성공률 88%였다.</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Foundation·VLA·언어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B.6b VLA와 도시 보행 내비: 언어·영상 기반 모델이 행동까지 낸다</a:t>
            </a:r>
            <a:r>
              <a:rPr sz="1050" b="0" i="0">
                <a:solidFill>
                  <a:srgbClr val="5A6478"/>
                </a:solidFill>
                <a:latin typeface="Arial"/>
                <a:ea typeface="Malgun Gothic"/>
                <a:cs typeface="Malgun Gothic"/>
              </a:rPr>
              <a:t>  3/8</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75 / 516</a:t>
            </a:r>
          </a:p>
        </p:txBody>
      </p:sp>
      <p:pic>
        <p:nvPicPr>
          <p:cNvPr id="5" name="Picture 4" descr="image.jpg"/>
          <p:cNvPicPr>
            <a:picLocks noChangeAspect="1"/>
          </p:cNvPicPr>
          <p:nvPr/>
        </p:nvPicPr>
        <p:blipFill>
          <a:blip r:embed="rId3"/>
          <a:stretch>
            <a:fillRect/>
          </a:stretch>
        </p:blipFill>
        <p:spPr>
          <a:xfrm>
            <a:off x="1016000" y="1244600"/>
            <a:ext cx="10160000" cy="2730500"/>
          </a:xfrm>
          <a:prstGeom prst="rect">
            <a:avLst/>
          </a:prstGeom>
        </p:spPr>
      </p:pic>
      <p:sp>
        <p:nvSpPr>
          <p:cNvPr id="6" name="TextBox 5"/>
          <p:cNvSpPr txBox="1"/>
          <p:nvPr/>
        </p:nvSpPr>
        <p:spPr>
          <a:xfrm>
            <a:off x="1016000" y="4013200"/>
            <a:ext cx="10160000" cy="142180"/>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NaVILA (Fig. 2): VLA가 단일 시점 영상에서 자연어로 된 중간 행동을 내고, 저수준 보행 정책이 그것을 관절 움직임으로 바꾸는 두 층 구조. 출처: arXiv:2412.04453</a:t>
            </a:r>
          </a:p>
        </p:txBody>
      </p:sp>
      <p:sp>
        <p:nvSpPr>
          <p:cNvPr id="7" name="TextBox 6"/>
          <p:cNvSpPr txBox="1"/>
          <p:nvPr/>
        </p:nvSpPr>
        <p:spPr>
          <a:xfrm>
            <a:off x="609600" y="424428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Uni-NaVid — 내비 과제 넷을 영상 VLA 하나로</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4"/>
              </a:rPr>
              <a:t>arXiv:2412.06224</a:t>
            </a:r>
            <a:r>
              <a:rPr sz="1050" b="0" i="0">
                <a:solidFill>
                  <a:srgbClr val="16213A"/>
                </a:solidFill>
                <a:latin typeface="Arial"/>
                <a:ea typeface="Malgun Gothic"/>
                <a:cs typeface="Malgun Gothic"/>
              </a:rPr>
              <a:t>, 2024, </a:t>
            </a:r>
            <a:r>
              <a:rPr sz="1050" b="0" i="0">
                <a:solidFill>
                  <a:srgbClr val="1D4ED8"/>
                </a:solidFill>
                <a:latin typeface="Arial"/>
                <a:ea typeface="Malgun Gothic"/>
                <a:cs typeface="Malgun Gothic"/>
                <a:hlinkClick r:id="rId5"/>
              </a:rPr>
              <a:t>코드</a:t>
            </a:r>
            <a:r>
              <a:rPr sz="1050" b="0" i="0">
                <a:solidFill>
                  <a:srgbClr val="16213A"/>
                </a:solidFill>
                <a:latin typeface="Arial"/>
                <a:ea typeface="Malgun Gothic"/>
                <a:cs typeface="Malgun Gothic"/>
              </a:rPr>
              <a:t>). 지시 따르기(VLN), 물체 찾기(ObjectNav), 질문 답하기(EQA), 사람 따라가기의 입출력 형식을 맞춰 한 모델로 학습했다. 단일 시점 RGB 영상과 지시만 받아 다음 행동 4개를 토큰으로 낸다. 긴 영상은 비슷한 시각 토큰을 시간과 공간으로 합치는 온라인 토큰 병합으로 줄여 5 Hz로 추론한다. 네 과제의 내비 데이터 360만 개로 학습해 여러 벤치마크에서 최고 성능을 냈고, 실제 환경에서 zero-shot으로 동작했다.</a:t>
            </a:r>
          </a:p>
        </p:txBody>
      </p:sp>
      <p:sp>
        <p:nvSpPr>
          <p:cNvPr id="8" name="TextBox 7"/>
          <p:cNvSpPr txBox="1"/>
          <p:nvPr/>
        </p:nvSpPr>
        <p:spPr>
          <a:xfrm>
            <a:off x="609600" y="4982666"/>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CityWalker — 웹 도시 보행 영상으로 배운다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6"/>
              </a:rPr>
              <a:t>arXiv:2411.17820</a:t>
            </a:r>
            <a:r>
              <a:rPr sz="1050" b="0" i="0">
                <a:solidFill>
                  <a:srgbClr val="16213A"/>
                </a:solidFill>
                <a:latin typeface="Arial"/>
                <a:ea typeface="Malgun Gothic"/>
                <a:cs typeface="Malgun Gothic"/>
              </a:rPr>
              <a:t>, CVPR 2025, NYU, </a:t>
            </a:r>
            <a:r>
              <a:rPr sz="1050" b="0" i="0">
                <a:solidFill>
                  <a:srgbClr val="1D4ED8"/>
                </a:solidFill>
                <a:latin typeface="Arial"/>
                <a:ea typeface="Malgun Gothic"/>
                <a:cs typeface="Malgun Gothic"/>
                <a:hlinkClick r:id="rId7"/>
              </a:rPr>
              <a:t>코드</a:t>
            </a:r>
            <a:r>
              <a:rPr sz="1050" b="0" i="0">
                <a:solidFill>
                  <a:srgbClr val="16213A"/>
                </a:solidFill>
                <a:latin typeface="Arial"/>
                <a:ea typeface="Malgun Gothic"/>
                <a:cs typeface="Malgun Gothic"/>
              </a:rPr>
              <a:t>). 라스트마일 배달로봇처럼 지도 없이 보도를 다니는 로봇에는 원격조종 데이터가 적고 다양하지 않다. CityWalker는 웹에서 모은 도시 보행 영상 2,000시간 이상에서 시각 오도메트리(DPVO)로 프레임 사이 이동을 뽑아 행동 라벨로 쓴다. 영상마다 축척이 다른 문제는 궤적의 평균 보폭으로 행동을 정규화해 풀었다. 고정한 영상 인코더와 학습하는 좌표 인코더가 과거 관측, 과거 궤적, 목표 위치를 받고, transformer가 waypoint와 도착 여부를 낸다. 소량의 원격조종 데이터로 미세조정한 뒤 Unitree Go1 실제 주행에서 성공률 77.3%로, 미세조정한 ViNT(57.1%)와 zero-shot NoMaD(42.9%)를 앞섰다.</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Foundation·VLA·언어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B.6b VLA와 도시 보행 내비: 언어·영상 기반 모델이 행동까지 낸다</a:t>
            </a:r>
            <a:r>
              <a:rPr sz="1050" b="0" i="0">
                <a:solidFill>
                  <a:srgbClr val="5A6478"/>
                </a:solidFill>
                <a:latin typeface="Arial"/>
                <a:ea typeface="Malgun Gothic"/>
                <a:cs typeface="Malgun Gothic"/>
              </a:rPr>
              <a:t>  4/8</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76 / 516</a:t>
            </a:r>
          </a:p>
        </p:txBody>
      </p:sp>
      <p:pic>
        <p:nvPicPr>
          <p:cNvPr id="5" name="Picture 4" descr="image.jpg"/>
          <p:cNvPicPr>
            <a:picLocks noChangeAspect="1"/>
          </p:cNvPicPr>
          <p:nvPr/>
        </p:nvPicPr>
        <p:blipFill>
          <a:blip r:embed="rId3"/>
          <a:stretch>
            <a:fillRect/>
          </a:stretch>
        </p:blipFill>
        <p:spPr>
          <a:xfrm>
            <a:off x="1787525" y="1244600"/>
            <a:ext cx="8616950" cy="4445000"/>
          </a:xfrm>
          <a:prstGeom prst="rect">
            <a:avLst/>
          </a:prstGeom>
        </p:spPr>
      </p:pic>
      <p:sp>
        <p:nvSpPr>
          <p:cNvPr id="6" name="TextBox 5"/>
          <p:cNvSpPr txBox="1"/>
          <p:nvPr/>
        </p:nvSpPr>
        <p:spPr>
          <a:xfrm>
            <a:off x="1787525" y="5727700"/>
            <a:ext cx="861695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CityWalker (Fig. 2): 인터넷 영상에서 시각 오도메트리로 프레임 사이 자세를 얻고, 과거 관측·궤적·목표로 행동과 도착 여부를 예측한다. 학습 때는 미래 프레임 토큰이 transformer를 지도한다. 출처: arXiv:2411.17820</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Foundation·VLA·언어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B.6b VLA와 도시 보행 내비: 언어·영상 기반 모델이 행동까지 낸다</a:t>
            </a:r>
            <a:r>
              <a:rPr sz="1050" b="0" i="0">
                <a:solidFill>
                  <a:srgbClr val="5A6478"/>
                </a:solidFill>
                <a:latin typeface="Arial"/>
                <a:ea typeface="Malgun Gothic"/>
                <a:cs typeface="Malgun Gothic"/>
              </a:rPr>
              <a:t>  5/8</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77 / 516</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MolmoAct — 깊이를 보고, 궤적을 그린 뒤, 행동을 낸다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arXiv:2508.07917</a:t>
            </a:r>
            <a:r>
              <a:rPr sz="1050" b="0" i="0">
                <a:solidFill>
                  <a:srgbClr val="16213A"/>
                </a:solidFill>
                <a:latin typeface="Arial"/>
                <a:ea typeface="Malgun Gothic"/>
                <a:cs typeface="Malgun Gothic"/>
              </a:rPr>
              <a:t>, 2025-08, Allen Institute for AI(Ai2)·University of Washington, </a:t>
            </a:r>
            <a:r>
              <a:rPr sz="1050" b="0" i="0">
                <a:solidFill>
                  <a:srgbClr val="1D4ED8"/>
                </a:solidFill>
                <a:latin typeface="Arial"/>
                <a:ea typeface="Malgun Gothic"/>
                <a:cs typeface="Malgun Gothic"/>
                <a:hlinkClick r:id="rId4"/>
              </a:rPr>
              <a:t>코드</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행동을 바로 내지 않고, 공간을 이해하는 중간 단계 둘을 토큰으로 먼저 낸다.</a:t>
            </a:r>
            <a:r>
              <a:rPr sz="1050" b="0" i="0">
                <a:solidFill>
                  <a:srgbClr val="16213A"/>
                </a:solidFill>
                <a:latin typeface="Arial"/>
                <a:ea typeface="Malgun Gothic"/>
                <a:cs typeface="Malgun Gothic"/>
              </a:rPr>
              <a:t> 저자들은 이것을 행동 추론 모델(Action Reasoning Model)이라 부른다.</a:t>
            </a:r>
          </a:p>
        </p:txBody>
      </p:sp>
      <p:sp>
        <p:nvSpPr>
          <p:cNvPr id="6" name="TextBox 5"/>
          <p:cNvSpPr txBox="1"/>
          <p:nvPr/>
        </p:nvSpPr>
        <p:spPr>
          <a:xfrm>
            <a:off x="609600" y="1766491"/>
            <a:ext cx="10972800" cy="1858962"/>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1. </a:t>
            </a:r>
            <a:r>
              <a:rPr sz="1050" b="1" i="0">
                <a:solidFill>
                  <a:srgbClr val="16213A"/>
                </a:solidFill>
                <a:latin typeface="Arial"/>
                <a:ea typeface="Malgun Gothic"/>
                <a:cs typeface="Malgun Gothic"/>
              </a:rPr>
              <a:t>깊이 인식 토큰.</a:t>
            </a:r>
            <a:r>
              <a:rPr sz="1050" b="0" i="0">
                <a:solidFill>
                  <a:srgbClr val="16213A"/>
                </a:solidFill>
                <a:latin typeface="Arial"/>
                <a:ea typeface="Malgun Gothic"/>
                <a:cs typeface="Malgun Gothic"/>
              </a:rPr>
              <a:t> Depth Anything V2의 깊이 지도를 VQ-VAE로 바꿔, 영상 한 장당 이산 토큰 100개로 낸다.</a:t>
            </a:r>
          </a:p>
          <a:p>
            <a:pPr>
              <a:spcBef>
                <a:spcPts val="200"/>
              </a:spcBef>
            </a:pPr>
            <a:r>
              <a:rPr sz="1050" b="0" i="0">
                <a:solidFill>
                  <a:srgbClr val="5A6478"/>
                </a:solidFill>
                <a:latin typeface="Arial"/>
                <a:ea typeface="Malgun Gothic"/>
                <a:cs typeface="Malgun Gothic"/>
              </a:rPr>
              <a:t>2. </a:t>
            </a:r>
            <a:r>
              <a:rPr sz="1050" b="1" i="0">
                <a:solidFill>
                  <a:srgbClr val="16213A"/>
                </a:solidFill>
                <a:latin typeface="Arial"/>
                <a:ea typeface="Malgun Gothic"/>
                <a:cs typeface="Malgun Gothic"/>
              </a:rPr>
              <a:t>시각 추론 궤적.</a:t>
            </a:r>
            <a:r>
              <a:rPr sz="1050" b="0" i="0">
                <a:solidFill>
                  <a:srgbClr val="16213A"/>
                </a:solidFill>
                <a:latin typeface="Arial"/>
                <a:ea typeface="Malgun Gothic"/>
                <a:cs typeface="Malgun Gothic"/>
              </a:rPr>
              <a:t> 영상 위에 그리는 1–5점짜리 2D 선으로, 손끝이 갈 길이다. 사람이 이 선을 고쳐 그리면 행동이 따라 바뀐다.</a:t>
            </a:r>
          </a:p>
          <a:p>
            <a:pPr>
              <a:spcBef>
                <a:spcPts val="200"/>
              </a:spcBef>
            </a:pPr>
            <a:r>
              <a:rPr sz="1050" b="0" i="0">
                <a:solidFill>
                  <a:srgbClr val="5A6478"/>
                </a:solidFill>
                <a:latin typeface="Arial"/>
                <a:ea typeface="Malgun Gothic"/>
                <a:cs typeface="Malgun Gothic"/>
              </a:rPr>
              <a:t>3. </a:t>
            </a:r>
            <a:r>
              <a:rPr sz="1050" b="0" i="0">
                <a:solidFill>
                  <a:srgbClr val="16213A"/>
                </a:solidFill>
                <a:latin typeface="Arial"/>
                <a:ea typeface="Malgun Gothic"/>
                <a:cs typeface="Malgun Gothic"/>
              </a:rPr>
              <a:t>
</a:t>
            </a:r>
            <a:r>
              <a:rPr sz="1050" b="1" i="0">
                <a:solidFill>
                  <a:srgbClr val="16213A"/>
                </a:solidFill>
                <a:latin typeface="Arial"/>
                <a:ea typeface="Malgun Gothic"/>
                <a:cs typeface="Malgun Gothic"/>
              </a:rPr>
              <a:t>행동 토큰.</a:t>
            </a:r>
            <a:r>
              <a:rPr sz="1050" b="0" i="0">
                <a:solidFill>
                  <a:srgbClr val="16213A"/>
                </a:solidFill>
                <a:latin typeface="Arial"/>
                <a:ea typeface="Malgun Gothic"/>
                <a:cs typeface="Malgun Gothic"/>
              </a:rPr>
              <a:t> 차원마다 256구간으로 나눈 이산 토큰이다(OpenVLA와 같은 방식).</a:t>
            </a:r>
            <a:r>
              <a:rPr sz="1050" b="0" i="0">
                <a:solidFill>
                  <a:srgbClr val="16213A"/>
                </a:solidFill>
                <a:latin typeface="Arial"/>
                <a:ea typeface="Malgun Gothic"/>
                <a:cs typeface="Malgun Gothic"/>
              </a:rPr>
              <a:t> </a:t>
            </a:r>
          </a:p>
          <a:p>
            <a:pPr>
              <a:spcBef>
                <a:spcPts val="200"/>
              </a:spcBef>
            </a:pPr>
            <a:r>
              <a:rPr sz="1050" b="0" i="0">
                <a:solidFill>
                  <a:srgbClr val="5A6478"/>
                </a:solidFill>
                <a:latin typeface="Arial"/>
                <a:ea typeface="Malgun Gothic"/>
                <a:cs typeface="Malgun Gothic"/>
              </a:rPr>
              <a:t>4. </a:t>
            </a:r>
            <a:r>
              <a:rPr sz="1050" b="0" i="0">
                <a:solidFill>
                  <a:srgbClr val="16213A"/>
                </a:solidFill>
                <a:latin typeface="Arial"/>
                <a:ea typeface="Malgun Gothic"/>
                <a:cs typeface="Malgun Gothic"/>
              </a:rPr>
              <a:t>
</a:t>
            </a:r>
            <a:r>
              <a:rPr sz="1050" b="1" i="0">
                <a:solidFill>
                  <a:srgbClr val="16213A"/>
                </a:solidFill>
                <a:latin typeface="Arial"/>
                <a:ea typeface="Malgun Gothic"/>
                <a:cs typeface="Malgun Gothic"/>
              </a:rPr>
              <a:t>모델과 학습.</a:t>
            </a:r>
            <a:r>
              <a:rPr sz="1050" b="0" i="0">
                <a:solidFill>
                  <a:srgbClr val="16213A"/>
                </a:solidFill>
                <a:latin typeface="Arial"/>
                <a:ea typeface="Malgun Gothic"/>
                <a:cs typeface="Malgun Gothic"/>
              </a:rPr>
              <a:t> Molmo VLM 위에 쌓은 7B 두 가지다(SigLIP2 + Qwen2.5-7B, OpenCLIP + OLMo2-7B). Open X-Embodiment 일부를 포함한 2,630만 표본으로 사전학습하고(H100 256장, 9,728 GPU시간), 자체 데이터 10,689 궤적(가정 과제 73개, 탁자 과제 20개)으로 중간 학습한다. 배포할 과제마다 원격조종 시연 30–50개로 LoRA 미세조정한다.</a:t>
            </a:r>
            <a:r>
              <a:rPr sz="1050" b="0" i="0">
                <a:solidFill>
                  <a:srgbClr val="16213A"/>
                </a:solidFill>
                <a:latin typeface="Arial"/>
                <a:ea typeface="Malgun Gothic"/>
                <a:cs typeface="Malgun Gothic"/>
              </a:rPr>
              <a:t> </a:t>
            </a:r>
          </a:p>
          <a:p>
            <a:pPr>
              <a:spcBef>
                <a:spcPts val="200"/>
              </a:spcBef>
            </a:pPr>
            <a:r>
              <a:rPr sz="1050" b="0" i="0">
                <a:solidFill>
                  <a:srgbClr val="5A6478"/>
                </a:solidFill>
                <a:latin typeface="Arial"/>
                <a:ea typeface="Malgun Gothic"/>
                <a:cs typeface="Malgun Gothic"/>
              </a:rPr>
              <a:t>5. </a:t>
            </a:r>
            <a:r>
              <a:rPr sz="1050" b="1" i="0">
                <a:solidFill>
                  <a:srgbClr val="16213A"/>
                </a:solidFill>
                <a:latin typeface="Arial"/>
                <a:ea typeface="Malgun Gothic"/>
                <a:cs typeface="Malgun Gothic"/>
              </a:rPr>
              <a:t>결과.</a:t>
            </a:r>
            <a:r>
              <a:rPr sz="1050" b="0" i="0">
                <a:solidFill>
                  <a:srgbClr val="16213A"/>
                </a:solidFill>
                <a:latin typeface="Arial"/>
                <a:ea typeface="Malgun Gothic"/>
                <a:cs typeface="Malgun Gothic"/>
              </a:rPr>
              <a:t> SimplerEnv(Google 로봇, 시각 일치) zero-shot 70.5 %로 π0·GR00T N1.5보다 높고, LIBERO 평균 86.6 %다. 실제 Franka에서는 π0-FAST보다 과제 진행이 한 팔 +10 %, 두 팔 +22.7 %, 분포 밖 조건(지시 바꿔 말하기, 위치 변화, 방해물, 새 물체)에서 +23.3 % 높다. 궤적 선으로 조종하면 75 % 성공해, 언어로 조종할 때보다 33 % 높다.</a:t>
            </a:r>
          </a:p>
          <a:p>
            <a:pPr>
              <a:spcBef>
                <a:spcPts val="200"/>
              </a:spcBef>
            </a:pPr>
            <a:r>
              <a:rPr sz="1050" b="0" i="0">
                <a:solidFill>
                  <a:srgbClr val="5A6478"/>
                </a:solidFill>
                <a:latin typeface="Arial"/>
                <a:ea typeface="Malgun Gothic"/>
                <a:cs typeface="Malgun Gothic"/>
              </a:rPr>
              <a:t>6. </a:t>
            </a:r>
            <a:r>
              <a:rPr sz="1050" b="1" i="0">
                <a:solidFill>
                  <a:srgbClr val="16213A"/>
                </a:solidFill>
                <a:latin typeface="Arial"/>
                <a:ea typeface="Malgun Gothic"/>
                <a:cs typeface="Malgun Gothic"/>
              </a:rPr>
              <a:t>공개.</a:t>
            </a:r>
            <a:r>
              <a:rPr sz="1050" b="0" i="0">
                <a:solidFill>
                  <a:srgbClr val="16213A"/>
                </a:solidFill>
                <a:latin typeface="Arial"/>
                <a:ea typeface="Malgun Gothic"/>
                <a:cs typeface="Malgun Gothic"/>
              </a:rPr>
              <a:t> 가중치, 학습 코드, 데이터를 모두 공개했다(코드 Apache-2.0).</a:t>
            </a:r>
          </a:p>
        </p:txBody>
      </p:sp>
      <p:sp>
        <p:nvSpPr>
          <p:cNvPr id="7" name="TextBox 6"/>
          <p:cNvSpPr txBox="1"/>
          <p:nvPr/>
        </p:nvSpPr>
        <p:spPr>
          <a:xfrm>
            <a:off x="609600" y="3714353"/>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것.</a:t>
            </a:r>
            <a:r>
              <a:rPr sz="1050" b="0" i="0">
                <a:solidFill>
                  <a:srgbClr val="16213A"/>
                </a:solidFill>
                <a:latin typeface="Arial"/>
                <a:ea typeface="Malgun Gothic"/>
                <a:cs typeface="Malgun Gothic"/>
              </a:rPr>
              <a:t> 조작 모델이라 그대로 쓰지는 않는다. 다만 깊이, 궤적, 행동을 차례로 내는 분해는 travplan이 TravMap, Planner 궤적, Controller 명령으로 나눈 것을 한 모델 안에서 한 것이다. 중간 궤적을 사람이 고쳐 행동을 바꾸는 조종은, 보도에서 원격 운영자가 Planner D의 후보를 고르거나 고쳐 주는 방식의 근거가 된다. VAMOS(아래)도 영상 위 경로를 중간 표현으로 쓴다.</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Foundation·VLA·언어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B.6b VLA와 도시 보행 내비: 언어·영상 기반 모델이 행동까지 낸다</a:t>
            </a:r>
            <a:r>
              <a:rPr sz="1050" b="0" i="0">
                <a:solidFill>
                  <a:srgbClr val="5A6478"/>
                </a:solidFill>
                <a:latin typeface="Arial"/>
                <a:ea typeface="Malgun Gothic"/>
                <a:cs typeface="Malgun Gothic"/>
              </a:rPr>
              <a:t>  6/8</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78 / 516</a:t>
            </a:r>
          </a:p>
        </p:txBody>
      </p:sp>
      <p:pic>
        <p:nvPicPr>
          <p:cNvPr id="5" name="Picture 4" descr="image.jpg"/>
          <p:cNvPicPr>
            <a:picLocks noChangeAspect="1"/>
          </p:cNvPicPr>
          <p:nvPr/>
        </p:nvPicPr>
        <p:blipFill>
          <a:blip r:embed="rId3"/>
          <a:stretch>
            <a:fillRect/>
          </a:stretch>
        </p:blipFill>
        <p:spPr>
          <a:xfrm>
            <a:off x="2133600" y="1244600"/>
            <a:ext cx="7924800" cy="4445000"/>
          </a:xfrm>
          <a:prstGeom prst="rect">
            <a:avLst/>
          </a:prstGeom>
        </p:spPr>
      </p:pic>
      <p:sp>
        <p:nvSpPr>
          <p:cNvPr id="6" name="TextBox 5"/>
          <p:cNvSpPr txBox="1"/>
          <p:nvPr/>
        </p:nvSpPr>
        <p:spPr>
          <a:xfrm>
            <a:off x="2133600" y="5727700"/>
            <a:ext cx="79248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MolmoAct (Fig. 1): 영상과 지시를 받아 깊이 인식 토큰과 영상 위 궤적 선을 먼저 내고("공간에서 추론"), 그다음 로봇 행동을 낸다. 오른쪽 아래처럼 사용자가 선을 그려 행동을 조종할 수 있다. 출처: arXiv:2508.07917</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Foundation·VLA·언어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B.6b VLA와 도시 보행 내비: 언어·영상 기반 모델이 행동까지 낸다</a:t>
            </a:r>
            <a:r>
              <a:rPr sz="1050" b="0" i="0">
                <a:solidFill>
                  <a:srgbClr val="5A6478"/>
                </a:solidFill>
                <a:latin typeface="Arial"/>
                <a:ea typeface="Malgun Gothic"/>
                <a:cs typeface="Malgun Gothic"/>
              </a:rPr>
              <a:t>  7/8</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79 / 516</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VAMOS — 범용 Planner가 후보를 내고, 로봇별 능력 모델이 고른다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arXiv:2510.20818</a:t>
            </a:r>
            <a:r>
              <a:rPr sz="1050" b="0" i="0">
                <a:solidFill>
                  <a:srgbClr val="16213A"/>
                </a:solidFill>
                <a:latin typeface="Arial"/>
                <a:ea typeface="Malgun Gothic"/>
                <a:cs typeface="Malgun Gothic"/>
              </a:rPr>
              <a:t>, 2025-10, University of Washington·미 육군연구소, </a:t>
            </a:r>
            <a:r>
              <a:rPr sz="1050" b="0" i="0">
                <a:solidFill>
                  <a:srgbClr val="1D4ED8"/>
                </a:solidFill>
                <a:latin typeface="Arial"/>
                <a:ea typeface="Malgun Gothic"/>
                <a:cs typeface="Malgun Gothic"/>
                <a:hlinkClick r:id="rId4"/>
              </a:rPr>
              <a:t>프로젝트</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5"/>
              </a:rPr>
              <a:t>코드</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어디로 갈지(의미 계획)와 이 로봇이 갈 수 있는지(몸체 판단)를 두 모델로 나눴다.</a:t>
            </a:r>
          </a:p>
        </p:txBody>
      </p:sp>
      <p:sp>
        <p:nvSpPr>
          <p:cNvPr id="6" name="TextBox 5"/>
          <p:cNvSpPr txBox="1"/>
          <p:nvPr/>
        </p:nvSpPr>
        <p:spPr>
          <a:xfrm>
            <a:off x="609600" y="1766491"/>
            <a:ext cx="10972800" cy="2992239"/>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위층.</a:t>
            </a:r>
            <a:r>
              <a:rPr sz="1050" b="0" i="0">
                <a:solidFill>
                  <a:srgbClr val="16213A"/>
                </a:solidFill>
                <a:latin typeface="Arial"/>
                <a:ea typeface="Malgun Gothic"/>
                <a:cs typeface="Malgun Gothic"/>
              </a:rPr>
              <a:t> PaliGemma 2 3B를 LoRA로 미세조정한 VLM이다. 단안 RGB 한 장과 목표 좌표 문장을 받아 영상 위 2D waypoint 열을 낸다. 학습 자료는 SCAND·CODa·TartanDrive 2와 Spot 자료를 합한 29.8시간이다(로봇 3종).</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아래층.</a:t>
            </a:r>
            <a:r>
              <a:rPr sz="1050" b="0" i="0">
                <a:solidFill>
                  <a:srgbClr val="16213A"/>
                </a:solidFill>
                <a:latin typeface="Arial"/>
                <a:ea typeface="Malgun Gothic"/>
                <a:cs typeface="Malgun Gothic"/>
              </a:rPr>
              <a:t> 로봇마다 따로 두는 affordance 함수다. 높이 지도, 지점, 방향(45° 간격 8개)을 받아 그 로봇의 저수준 정책이 지나갈 확률을 낸다. Isaac Lab의 10 m × 10 m 지형 1,000개(계단, 둔덕, 경사로)에서 정책을 굴려, 성공 여부를 라벨로 썼다.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고르기와 실행.</a:t>
            </a:r>
            <a:r>
              <a:rPr sz="1050" b="0" i="0">
                <a:solidFill>
                  <a:srgbClr val="16213A"/>
                </a:solidFill>
                <a:latin typeface="Arial"/>
                <a:ea typeface="Malgun Gothic"/>
                <a:cs typeface="Malgun Gothic"/>
              </a:rPr>
              <a:t> VLM의 후보를 높이 지도에 올리고, 경로 위 affordance의 최솟값으로 점수를 매긴다. 가장 높은 것을 고르거나 softmax로 뽑는다. 실행은 Spot의 내장 보행 제어기와, 바퀴 로봇 Hound의 pure pursuit가 맡는다.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결과.</a:t>
            </a:r>
            <a:r>
              <a:rPr sz="1050" b="0" i="0">
                <a:solidFill>
                  <a:srgbClr val="16213A"/>
                </a:solidFill>
                <a:latin typeface="Arial"/>
                <a:ea typeface="Malgun Gothic"/>
                <a:cs typeface="Malgun Gothic"/>
              </a:rPr>
              <a:t> 실제 코스 6곳(실내 3, 실외 3) × 5회에서 성공률 90 %다. ViPlanner 67 %, 모듈식 스택 53 %, NoMaD 27 %, NaVILA 10 %보다 높다.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계단과 경사로가 갈리는 곳에서는 몸체 판단이 길을 바꾼다. 판단이 없으면 두 로봇 모두 계단을 4번, 경사로를 6번 골랐고 Hound는 60 %만 성공했다. 판단을 켜면 Spot은 짧은 계단을 8번, Hound는 경사로를 9번 골라 Hound가 90 %가 됐다(10회씩).</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장애물(드럼통) 시험에서는 판단을 켜면 20 %가 60 %가 된다(10회). 논문이 말하는 "3배"다.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한계.</a:t>
            </a:r>
            <a:r>
              <a:rPr sz="1050" b="0" i="0">
                <a:solidFill>
                  <a:srgbClr val="16213A"/>
                </a:solidFill>
                <a:latin typeface="Arial"/>
                <a:ea typeface="Malgun Gothic"/>
                <a:cs typeface="Malgun Gothic"/>
              </a:rPr>
              <a:t> 학습 자료가 정적이라 움직이는 장애물에 약하고, 가려진 모퉁이에서 돌기를 지나치거나 덜 한다. VLM은 노트북 RTX 3080에서 1 Hz(배터리로는 0.5 Hz)이고, affordance 함수는 Jetson Orin AGX에서 돈다.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공개.</a:t>
            </a:r>
            <a:r>
              <a:rPr sz="1050" b="0" i="0">
                <a:solidFill>
                  <a:srgbClr val="16213A"/>
                </a:solidFill>
                <a:latin typeface="Arial"/>
                <a:ea typeface="Malgun Gothic"/>
                <a:cs typeface="Malgun Gothic"/>
              </a:rPr>
              <a:t> 코드는 추론·배포(VLM, ROS 패키지)뿐이고 라이선스 표기가 없다. 그래서 설계만 참고한다.</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Foundation·VLA·언어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B.6b VLA와 도시 보행 내비: 언어·영상 기반 모델이 행동까지 낸다</a:t>
            </a:r>
            <a:r>
              <a:rPr sz="1050" b="0" i="0">
                <a:solidFill>
                  <a:srgbClr val="5A6478"/>
                </a:solidFill>
                <a:latin typeface="Arial"/>
                <a:ea typeface="Malgun Gothic"/>
                <a:cs typeface="Malgun Gothic"/>
              </a:rPr>
              <a:t>  8/8</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80 / 516</a:t>
            </a:r>
          </a:p>
        </p:txBody>
      </p:sp>
      <p:pic>
        <p:nvPicPr>
          <p:cNvPr id="5" name="Picture 4" descr="image.jpg"/>
          <p:cNvPicPr>
            <a:picLocks noChangeAspect="1"/>
          </p:cNvPicPr>
          <p:nvPr/>
        </p:nvPicPr>
        <p:blipFill>
          <a:blip r:embed="rId3"/>
          <a:stretch>
            <a:fillRect/>
          </a:stretch>
        </p:blipFill>
        <p:spPr>
          <a:xfrm>
            <a:off x="609600" y="1244600"/>
            <a:ext cx="5410200" cy="1517650"/>
          </a:xfrm>
          <a:prstGeom prst="rect">
            <a:avLst/>
          </a:prstGeom>
        </p:spPr>
      </p:pic>
      <p:sp>
        <p:nvSpPr>
          <p:cNvPr id="6" name="TextBox 5"/>
          <p:cNvSpPr txBox="1"/>
          <p:nvPr/>
        </p:nvSpPr>
        <p:spPr>
          <a:xfrm>
            <a:off x="609600" y="2800350"/>
            <a:ext cx="54102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VAMOS (Fig. 1): 로봇 3종의 자료로 학습한 VLM Planner가 경로를 내고, 높이 표본에서 "이 로봇이 할 수 있는 곳"을 매기는 affordance 모델이 고른다. "나무 왼쪽으로"처럼 언어로 경로를 조종할 수도 있다. 출처: arXiv:2510.20818</a:t>
            </a:r>
          </a:p>
        </p:txBody>
      </p:sp>
      <p:pic>
        <p:nvPicPr>
          <p:cNvPr id="7" name="Picture 6" descr="image.jpg"/>
          <p:cNvPicPr>
            <a:picLocks noChangeAspect="1"/>
          </p:cNvPicPr>
          <p:nvPr/>
        </p:nvPicPr>
        <p:blipFill>
          <a:blip r:embed="rId4"/>
          <a:stretch>
            <a:fillRect/>
          </a:stretch>
        </p:blipFill>
        <p:spPr>
          <a:xfrm>
            <a:off x="6172200" y="1244600"/>
            <a:ext cx="5410200" cy="1663700"/>
          </a:xfrm>
          <a:prstGeom prst="rect">
            <a:avLst/>
          </a:prstGeom>
        </p:spPr>
      </p:pic>
      <p:sp>
        <p:nvSpPr>
          <p:cNvPr id="8" name="TextBox 7"/>
          <p:cNvSpPr txBox="1"/>
          <p:nvPr/>
        </p:nvSpPr>
        <p:spPr>
          <a:xfrm>
            <a:off x="6172200" y="2946400"/>
            <a:ext cx="54102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VAMOS (Fig. 2): 영상과 목표 좌표 문장을 받은 VLM이 영상 위 2D 경로 후보를 내고, 로봇마다 다른 affordance 모듈이 후보를 고른다. 같은 장면에서 Spot은 계단을, 바퀴 로봇은 경사로를 택한다. 출처: arXiv:2510.20818</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Foundation·VLA·언어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B.6b VLA와 도시 보행 내비: 언어·영상 기반 모델이 행동까지 낸다</a:t>
            </a:r>
            <a:r>
              <a:rPr sz="1050" b="0" i="0">
                <a:solidFill>
                  <a:srgbClr val="5A6478"/>
                </a:solidFill>
                <a:latin typeface="Arial"/>
                <a:ea typeface="Malgun Gothic"/>
                <a:cs typeface="Malgun Gothic"/>
              </a:rPr>
              <a:t>  자세히: VAMOS의 affordance 함수와 경로 고르기</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81 / 516</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affordance 함수.</a:t>
            </a:r>
            <a:r>
              <a:rPr sz="1050" b="0" i="0">
                <a:solidFill>
                  <a:srgbClr val="16213A"/>
                </a:solidFill>
                <a:latin typeface="Arial"/>
                <a:ea typeface="Malgun Gothic"/>
                <a:cs typeface="Malgun Gothic"/>
              </a:rPr>
              <a:t> 로봇마다 </a:t>
            </a:r>
            <a:r>
              <a:rPr sz="1050" b="0" i="1">
                <a:solidFill>
                  <a:srgbClr val="16213A"/>
                </a:solidFill>
                <a:latin typeface="Arial"/>
                <a:ea typeface="Malgun Gothic"/>
                <a:cs typeface="Malgun Gothic"/>
              </a:rPr>
              <a:t>F_π(M, x, y, a) ∈ [0, 1]</a:t>
            </a:r>
            <a:r>
              <a:rPr sz="1050" b="0" i="0">
                <a:solidFill>
                  <a:srgbClr val="16213A"/>
                </a:solidFill>
                <a:latin typeface="Arial"/>
                <a:ea typeface="Malgun Gothic"/>
                <a:cs typeface="Malgun Gothic"/>
              </a:rPr>
              <a:t>을 둔다. </a:t>
            </a:r>
            <a:r>
              <a:rPr sz="1050" b="0" i="1">
                <a:solidFill>
                  <a:srgbClr val="16213A"/>
                </a:solidFill>
                <a:latin typeface="Arial"/>
                <a:ea typeface="Malgun Gothic"/>
                <a:cs typeface="Malgun Gothic"/>
              </a:rPr>
              <a:t>M</a:t>
            </a:r>
            <a:r>
              <a:rPr sz="1050" b="0" i="0">
                <a:solidFill>
                  <a:srgbClr val="16213A"/>
                </a:solidFill>
                <a:latin typeface="Arial"/>
                <a:ea typeface="Malgun Gothic"/>
                <a:cs typeface="Malgun Gothic"/>
              </a:rPr>
              <a:t>은 로봇 주변 높이 지도, </a:t>
            </a:r>
            <a:r>
              <a:rPr sz="1050" b="0" i="1">
                <a:solidFill>
                  <a:srgbClr val="16213A"/>
                </a:solidFill>
                <a:latin typeface="Arial"/>
                <a:ea typeface="Malgun Gothic"/>
                <a:cs typeface="Malgun Gothic"/>
              </a:rPr>
              <a:t>(x, y) ∈ [0, 1]²</a:t>
            </a:r>
            <a:r>
              <a:rPr sz="1050" b="0" i="0">
                <a:solidFill>
                  <a:srgbClr val="16213A"/>
                </a:solidFill>
                <a:latin typeface="Arial"/>
                <a:ea typeface="Malgun Gothic"/>
                <a:cs typeface="Malgun Gothic"/>
              </a:rPr>
              <a:t>는 지도 안의 정규화한 지점, </a:t>
            </a:r>
            <a:r>
              <a:rPr sz="1050" b="0" i="1">
                <a:solidFill>
                  <a:srgbClr val="16213A"/>
                </a:solidFill>
                <a:latin typeface="Arial"/>
                <a:ea typeface="Malgun Gothic"/>
                <a:cs typeface="Malgun Gothic"/>
              </a:rPr>
              <a:t>a</a:t>
            </a:r>
            <a:r>
              <a:rPr sz="1050" b="0" i="0">
                <a:solidFill>
                  <a:srgbClr val="16213A"/>
                </a:solidFill>
                <a:latin typeface="Arial"/>
                <a:ea typeface="Malgun Gothic"/>
                <a:cs typeface="Malgun Gothic"/>
              </a:rPr>
              <a:t>는 0°부터 315°까지 45° 간격의 방향이다. 값은 저수준 정책 </a:t>
            </a:r>
            <a:r>
              <a:rPr sz="1050" b="0" i="1">
                <a:solidFill>
                  <a:srgbClr val="16213A"/>
                </a:solidFill>
                <a:latin typeface="Arial"/>
                <a:ea typeface="Malgun Gothic"/>
                <a:cs typeface="Malgun Gothic"/>
              </a:rPr>
              <a:t>π</a:t>
            </a:r>
            <a:r>
              <a:rPr sz="1050" b="0" i="0">
                <a:solidFill>
                  <a:srgbClr val="16213A"/>
                </a:solidFill>
                <a:latin typeface="Arial"/>
                <a:ea typeface="Malgun Gothic"/>
                <a:cs typeface="Malgun Gothic"/>
              </a:rPr>
              <a:t>가 그 지점을 그 방향으로 지나갈 확률이다. 라벨은 Isaac Lab 지형 1,000개에서 정책을 굴린 성공·실패이고, 이진 교차 엔트로피로 학습한다. 몸체마다 정책이 다르므로 </a:t>
            </a:r>
            <a:r>
              <a:rPr sz="1050" b="0" i="1">
                <a:solidFill>
                  <a:srgbClr val="16213A"/>
                </a:solidFill>
                <a:latin typeface="Arial"/>
                <a:ea typeface="Malgun Gothic"/>
                <a:cs typeface="Malgun Gothic"/>
              </a:rPr>
              <a:t>F</a:t>
            </a:r>
            <a:r>
              <a:rPr sz="1050" b="0" i="0">
                <a:solidFill>
                  <a:srgbClr val="16213A"/>
                </a:solidFill>
                <a:latin typeface="Arial"/>
                <a:ea typeface="Malgun Gothic"/>
                <a:cs typeface="Malgun Gothic"/>
              </a:rPr>
              <a:t>도 다르다.</a:t>
            </a:r>
          </a:p>
        </p:txBody>
      </p:sp>
      <p:sp>
        <p:nvSpPr>
          <p:cNvPr id="6" name="TextBox 5"/>
          <p:cNvSpPr txBox="1"/>
          <p:nvPr/>
        </p:nvSpPr>
        <p:spPr>
          <a:xfrm>
            <a:off x="609600" y="176649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경로 고르기.</a:t>
            </a:r>
            <a:r>
              <a:rPr sz="1050" b="0" i="0">
                <a:solidFill>
                  <a:srgbClr val="16213A"/>
                </a:solidFill>
                <a:latin typeface="Arial"/>
                <a:ea typeface="Malgun Gothic"/>
                <a:cs typeface="Malgun Gothic"/>
              </a:rPr>
              <a:t> VLM이 낸 후보 </a:t>
            </a:r>
            <a:r>
              <a:rPr sz="1050" b="0" i="1">
                <a:solidFill>
                  <a:srgbClr val="16213A"/>
                </a:solidFill>
                <a:latin typeface="Arial"/>
                <a:ea typeface="Malgun Gothic"/>
                <a:cs typeface="Malgun Gothic"/>
              </a:rPr>
              <a:t>τ₁, …, τ_K</a:t>
            </a:r>
            <a:r>
              <a:rPr sz="1050" b="0" i="0">
                <a:solidFill>
                  <a:srgbClr val="16213A"/>
                </a:solidFill>
                <a:latin typeface="Arial"/>
                <a:ea typeface="Malgun Gothic"/>
                <a:cs typeface="Malgun Gothic"/>
              </a:rPr>
              <a:t>를 높이 지도 좌표로 옮긴다. 후보는 온도 0.1로 뽑는다. 경로 점수는 경로 위 affordance의 최솟값이다.</a:t>
            </a:r>
          </a:p>
        </p:txBody>
      </p:sp>
      <p:pic>
        <p:nvPicPr>
          <p:cNvPr id="7" name="Picture 6" descr="image.png"/>
          <p:cNvPicPr>
            <a:picLocks noChangeAspect="1"/>
          </p:cNvPicPr>
          <p:nvPr/>
        </p:nvPicPr>
        <p:blipFill>
          <a:blip r:embed="rId3"/>
          <a:stretch>
            <a:fillRect/>
          </a:stretch>
        </p:blipFill>
        <p:spPr>
          <a:xfrm>
            <a:off x="609600" y="2071886"/>
            <a:ext cx="2479675" cy="342900"/>
          </a:xfrm>
          <a:prstGeom prst="rect">
            <a:avLst/>
          </a:prstGeom>
        </p:spPr>
      </p:pic>
      <p:sp>
        <p:nvSpPr>
          <p:cNvPr id="8" name="TextBox 7"/>
          <p:cNvSpPr txBox="1"/>
          <p:nvPr/>
        </p:nvSpPr>
        <p:spPr>
          <a:xfrm>
            <a:off x="609600" y="2435820"/>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가장 높은 것을 고르거나, 온도 </a:t>
            </a:r>
            <a:r>
              <a:rPr sz="1050" b="0" i="1">
                <a:solidFill>
                  <a:srgbClr val="16213A"/>
                </a:solidFill>
                <a:latin typeface="Arial"/>
                <a:ea typeface="Malgun Gothic"/>
                <a:cs typeface="Malgun Gothic"/>
              </a:rPr>
              <a:t>β</a:t>
            </a:r>
            <a:r>
              <a:rPr sz="1050" b="0" i="0">
                <a:solidFill>
                  <a:srgbClr val="16213A"/>
                </a:solidFill>
                <a:latin typeface="Arial"/>
                <a:ea typeface="Malgun Gothic"/>
                <a:cs typeface="Malgun Gothic"/>
              </a:rPr>
              <a:t>의 softmax </a:t>
            </a:r>
            <a:r>
              <a:rPr sz="1050" b="0" i="1">
                <a:solidFill>
                  <a:srgbClr val="16213A"/>
                </a:solidFill>
                <a:latin typeface="Arial"/>
                <a:ea typeface="Malgun Gothic"/>
                <a:cs typeface="Malgun Gothic"/>
              </a:rPr>
              <a:t>pₖ ∝ exp(F(τₖ) / β)</a:t>
            </a:r>
            <a:r>
              <a:rPr sz="1050" b="0" i="0">
                <a:solidFill>
                  <a:srgbClr val="16213A"/>
                </a:solidFill>
                <a:latin typeface="Arial"/>
                <a:ea typeface="Malgun Gothic"/>
                <a:cs typeface="Malgun Gothic"/>
              </a:rPr>
              <a:t>로 뽑는다. 가장 위험한 한 점이 경로 전체를 대표하므로, 한 곳이라도 못 가는 경로는 버려진다.</a:t>
            </a:r>
          </a:p>
        </p:txBody>
      </p:sp>
      <p:sp>
        <p:nvSpPr>
          <p:cNvPr id="9" name="TextBox 8"/>
          <p:cNvSpPr txBox="1"/>
          <p:nvPr/>
        </p:nvSpPr>
        <p:spPr>
          <a:xfrm>
            <a:off x="609600" y="2741216"/>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travplan과 겹치는 자리.</a:t>
            </a:r>
          </a:p>
        </p:txBody>
      </p:sp>
      <p:sp>
        <p:nvSpPr>
          <p:cNvPr id="10" name="TextBox 9"/>
          <p:cNvSpPr txBox="1"/>
          <p:nvPr/>
        </p:nvSpPr>
        <p:spPr>
          <a:xfrm>
            <a:off x="609600" y="3046611"/>
            <a:ext cx="10972800" cy="916781"/>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최솟값 점수는 travplan의 "경로 위 한 칸이라도 치명이면 실패" 판정과 같은 꼴이다(MPPI의 치명 판정, Planner D 표본의 치명 검사).</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다른 점은 점수의 출처다. travplan의 cost는 경사·단차·거칠기로 손으로 정한 기하 값이라, 어떤 Controller와 plant가 따라가는지 모른다. VAMOS의 점수는 실제 저수준 정책을 굴린 결과다.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방향 조건도 다르다. travplan의 cost는 칸마다 하나라 방향을 모른다. 스워브 plant에는 모듈 조향 한계(±56.2°)가 있고 경사를 가로지르는지 오르는지에 따라 미끄럼이 다르므로, 방향을 넣을 이유가 있다.</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Foundation·VLA·언어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B.6b VLA와 도시 보행 내비: 언어·영상 기반 모델이 행동까지 낸다</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82 / 516</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것.</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Planner의 후보를 "이 로봇과 이 Controller로 갈 수 있는가"로 고르는 층이다.</a:t>
            </a:r>
          </a:p>
        </p:txBody>
      </p:sp>
      <p:sp>
        <p:nvSpPr>
          <p:cNvPr id="6" name="TextBox 5"/>
          <p:cNvSpPr txBox="1"/>
          <p:nvPr/>
        </p:nvSpPr>
        <p:spPr>
          <a:xfrm>
            <a:off x="609600" y="1549995"/>
            <a:ext cx="10972800" cy="916781"/>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TP-0150–0152에서 plant가 갈 수 있는 곳을 바꿨다. 레벨 3 경사로는 plant 로봇이 </a:t>
            </a:r>
            <a:r>
              <a:rPr sz="1050" b="0" i="0">
                <a:solidFill>
                  <a:srgbClr val="16213A"/>
                </a:solidFill>
                <a:latin typeface="Consolas"/>
                <a:ea typeface="Malgun Gothic"/>
                <a:cs typeface="Malgun Gothic"/>
              </a:rPr>
              <a:t>mppi_plant_lag</a:t>
            </a:r>
            <a:r>
              <a:rPr sz="1050" b="0" i="0">
                <a:solidFill>
                  <a:srgbClr val="16213A"/>
                </a:solidFill>
                <a:latin typeface="Arial"/>
                <a:ea typeface="Malgun Gothic"/>
                <a:cs typeface="Malgun Gothic"/>
              </a:rPr>
              <a:t>로 90번 중 1번만 지나간다(설계 한계). 그런데 TravMap cost는 이것을 모른다. VAMOS처럼 plant + Controller를 굴린 성공 여부로 affordance를 배우면, Planner(Planner D 표본 선택, Guidance 경로)가 처음부터 그 경사로를 피할 수 있다.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예측 모델 계층(TP-0125 메쉬 시뮬레이터, TP-0126 학습 FDM)의 라벨을 정하는 방법이기도 하다. "저수준 정책이 성공했는가"라는 이진 라벨만으로 장애물 시험의 성공률이 3배가 됐다.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VLM 부분(1 Hz)은 이 절의 결론대로 위층에만 쓴다.</a:t>
            </a:r>
          </a:p>
        </p:txBody>
      </p:sp>
      <p:sp>
        <p:nvSpPr>
          <p:cNvPr id="7" name="TextBox 6"/>
          <p:cNvSpPr txBox="1"/>
          <p:nvPr/>
        </p:nvSpPr>
        <p:spPr>
          <a:xfrm>
            <a:off x="609600" y="2555677"/>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Can Vision Foundation Models Navigate? — 성공률 뒤에 숨은 충돌</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arXiv:2603.25937</a:t>
            </a:r>
            <a:r>
              <a:rPr sz="1050" b="0" i="0">
                <a:solidFill>
                  <a:srgbClr val="16213A"/>
                </a:solidFill>
                <a:latin typeface="Arial"/>
                <a:ea typeface="Malgun Gothic"/>
                <a:cs typeface="Malgun Gothic"/>
              </a:rPr>
              <a:t>, 2026-03). GNM, ViNT, NoMaD, NaviBridger, CrossFormer를 로봇 2종과 실내외 환경 5곳에서 zero-shot으로 평가했다. 성공률에 더해 경로 지표, 목표 인식 점수, 영상 교란(모션 블러, 햇빛 번짐)에 대한 강건성을 쟀다. 세 가지 체계적 한계가 드러났다. diffusion과 transformer 모델도 충돌이 잦아 기하 이해가 약하다. 비슷하게 생긴 다른 장소를 구별하지 못해 반복적인 환경에서 목표를 잘못 짚는다. 분포가 바뀌면 성능이 떨어진다.</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Foundation·VLA·언어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B.6b VLA와 도시 보행 내비: 언어·영상 기반 모델이 행동까지 낸다</a:t>
            </a:r>
            <a:r>
              <a:rPr sz="1050" b="0" i="0">
                <a:solidFill>
                  <a:srgbClr val="5A6478"/>
                </a:solidFill>
                <a:latin typeface="Arial"/>
                <a:ea typeface="Malgun Gothic"/>
                <a:cs typeface="Malgun Gothic"/>
              </a:rPr>
              <a:t>  자세히: VLA의 행동 표현, 이산 토큰과 flow matching</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83 / 516</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이산 토큰(OpenVLA).</a:t>
            </a:r>
            <a:r>
              <a:rPr sz="1050" b="0" i="0">
                <a:solidFill>
                  <a:srgbClr val="16213A"/>
                </a:solidFill>
                <a:latin typeface="Arial"/>
                <a:ea typeface="Malgun Gothic"/>
                <a:cs typeface="Malgun Gothic"/>
              </a:rPr>
              <a:t> 행동의 각 차원을 학습 데이터 1–99 백분위 사이에서 균등한 256구간으로 나누고, 구간 번호를 언어 토큰으로 예측한다. min–max 대신 백분위를 써서 이상치 행동이 구간을 넓히는 것을 막았다. 언어 모델을 거의 그대로 쓸 수 있지만, 연속 행동의 정밀도는 구간 폭에 묶인다.</a:t>
            </a:r>
          </a:p>
        </p:txBody>
      </p:sp>
      <p:sp>
        <p:nvSpPr>
          <p:cNvPr id="6" name="TextBox 5"/>
          <p:cNvSpPr txBox="1"/>
          <p:nvPr/>
        </p:nvSpPr>
        <p:spPr>
          <a:xfrm>
            <a:off x="609600" y="176649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flow matching(π0).</a:t>
            </a:r>
            <a:r>
              <a:rPr sz="1050" b="0" i="0">
                <a:solidFill>
                  <a:srgbClr val="16213A"/>
                </a:solidFill>
                <a:latin typeface="Arial"/>
                <a:ea typeface="Malgun Gothic"/>
                <a:cs typeface="Malgun Gothic"/>
              </a:rPr>
              <a:t> 앞으로 </a:t>
            </a:r>
            <a:r>
              <a:rPr sz="1050" b="0" i="1">
                <a:solidFill>
                  <a:srgbClr val="16213A"/>
                </a:solidFill>
                <a:latin typeface="Arial"/>
                <a:ea typeface="Malgun Gothic"/>
                <a:cs typeface="Malgun Gothic"/>
              </a:rPr>
              <a:t>H = 50</a:t>
            </a:r>
            <a:r>
              <a:rPr sz="1050" b="0" i="0">
                <a:solidFill>
                  <a:srgbClr val="16213A"/>
                </a:solidFill>
                <a:latin typeface="Arial"/>
                <a:ea typeface="Malgun Gothic"/>
                <a:cs typeface="Malgun Gothic"/>
              </a:rPr>
              <a:t>스텝의 행동 묶음 </a:t>
            </a:r>
            <a:r>
              <a:rPr sz="1050" b="0" i="1">
                <a:solidFill>
                  <a:srgbClr val="16213A"/>
                </a:solidFill>
                <a:latin typeface="Arial"/>
                <a:ea typeface="Malgun Gothic"/>
                <a:cs typeface="Malgun Gothic"/>
              </a:rPr>
              <a:t>Aₜ = [aₜ, …, a_(t+H-1)]</a:t>
            </a:r>
            <a:r>
              <a:rPr sz="1050" b="0" i="0">
                <a:solidFill>
                  <a:srgbClr val="16213A"/>
                </a:solidFill>
                <a:latin typeface="Arial"/>
                <a:ea typeface="Malgun Gothic"/>
                <a:cs typeface="Malgun Gothic"/>
              </a:rPr>
              <a:t>을 관측 </a:t>
            </a:r>
            <a:r>
              <a:rPr sz="1050" b="0" i="1">
                <a:solidFill>
                  <a:srgbClr val="16213A"/>
                </a:solidFill>
                <a:latin typeface="Arial"/>
                <a:ea typeface="Malgun Gothic"/>
                <a:cs typeface="Malgun Gothic"/>
              </a:rPr>
              <a:t>oₜ</a:t>
            </a:r>
            <a:r>
              <a:rPr sz="1050" b="0" i="0">
                <a:solidFill>
                  <a:srgbClr val="16213A"/>
                </a:solidFill>
                <a:latin typeface="Arial"/>
                <a:ea typeface="Malgun Gothic"/>
                <a:cs typeface="Malgun Gothic"/>
              </a:rPr>
              <a:t> 조건으로 생성한다. 잡음 </a:t>
            </a:r>
            <a:r>
              <a:rPr sz="1050" b="0" i="1">
                <a:solidFill>
                  <a:srgbClr val="16213A"/>
                </a:solidFill>
                <a:latin typeface="Arial"/>
                <a:ea typeface="Malgun Gothic"/>
                <a:cs typeface="Malgun Gothic"/>
              </a:rPr>
              <a:t>ε</a:t>
            </a:r>
            <a:r>
              <a:rPr sz="1050" b="0" i="0">
                <a:solidFill>
                  <a:srgbClr val="16213A"/>
                </a:solidFill>
                <a:latin typeface="Arial"/>
                <a:ea typeface="Malgun Gothic"/>
                <a:cs typeface="Malgun Gothic"/>
              </a:rPr>
              <a:t>과 행동 사이를 직선으로 잇는 경로 위 점 </a:t>
            </a:r>
            <a:r>
              <a:rPr sz="1050" b="0" i="1">
                <a:solidFill>
                  <a:srgbClr val="16213A"/>
                </a:solidFill>
                <a:latin typeface="Arial"/>
                <a:ea typeface="Malgun Gothic"/>
                <a:cs typeface="Malgun Gothic"/>
              </a:rPr>
              <a:t>A^τₜ = τ Aₜ + (1 - τ)ε</a:t>
            </a:r>
            <a:r>
              <a:rPr sz="1050" b="0" i="0">
                <a:solidFill>
                  <a:srgbClr val="16213A"/>
                </a:solidFill>
                <a:latin typeface="Arial"/>
                <a:ea typeface="Malgun Gothic"/>
                <a:cs typeface="Malgun Gothic"/>
              </a:rPr>
              <a:t>에서 속도장 </a:t>
            </a:r>
            <a:r>
              <a:rPr sz="1050" b="0" i="1">
                <a:solidFill>
                  <a:srgbClr val="16213A"/>
                </a:solidFill>
                <a:latin typeface="Arial"/>
                <a:ea typeface="Malgun Gothic"/>
                <a:cs typeface="Malgun Gothic"/>
              </a:rPr>
              <a:t>Aₜ - ε</a:t>
            </a:r>
            <a:r>
              <a:rPr sz="1050" b="0" i="0">
                <a:solidFill>
                  <a:srgbClr val="16213A"/>
                </a:solidFill>
                <a:latin typeface="Arial"/>
                <a:ea typeface="Malgun Gothic"/>
                <a:cs typeface="Malgun Gothic"/>
              </a:rPr>
              <a:t>을 맞힌다(배경 0.6).</a:t>
            </a:r>
          </a:p>
        </p:txBody>
      </p:sp>
      <p:pic>
        <p:nvPicPr>
          <p:cNvPr id="7" name="Picture 6" descr="image.png"/>
          <p:cNvPicPr>
            <a:picLocks noChangeAspect="1"/>
          </p:cNvPicPr>
          <p:nvPr/>
        </p:nvPicPr>
        <p:blipFill>
          <a:blip r:embed="rId3"/>
          <a:stretch>
            <a:fillRect/>
          </a:stretch>
        </p:blipFill>
        <p:spPr>
          <a:xfrm>
            <a:off x="609600" y="2288381"/>
            <a:ext cx="2606675" cy="266700"/>
          </a:xfrm>
          <a:prstGeom prst="rect">
            <a:avLst/>
          </a:prstGeom>
        </p:spPr>
      </p:pic>
      <p:sp>
        <p:nvSpPr>
          <p:cNvPr id="8" name="TextBox 7"/>
          <p:cNvSpPr txBox="1"/>
          <p:nvPr/>
        </p:nvSpPr>
        <p:spPr>
          <a:xfrm>
            <a:off x="609600" y="2587129"/>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학습 때 </a:t>
            </a:r>
            <a:r>
              <a:rPr sz="1050" b="0" i="1">
                <a:solidFill>
                  <a:srgbClr val="16213A"/>
                </a:solidFill>
                <a:latin typeface="Arial"/>
                <a:ea typeface="Malgun Gothic"/>
                <a:cs typeface="Malgun Gothic"/>
              </a:rPr>
              <a:t>τ</a:t>
            </a:r>
            <a:r>
              <a:rPr sz="1050" b="0" i="0">
                <a:solidFill>
                  <a:srgbClr val="16213A"/>
                </a:solidFill>
                <a:latin typeface="Arial"/>
                <a:ea typeface="Malgun Gothic"/>
                <a:cs typeface="Malgun Gothic"/>
              </a:rPr>
              <a:t>는 잡음이 큰 쪽을 강조하는 베타 분포에서 뽑는다. 추론은 잡음에서 시작해 Euler 적분 </a:t>
            </a:r>
            <a:r>
              <a:rPr sz="1050" b="0" i="1">
                <a:solidFill>
                  <a:srgbClr val="16213A"/>
                </a:solidFill>
                <a:latin typeface="Arial"/>
                <a:ea typeface="Malgun Gothic"/>
                <a:cs typeface="Malgun Gothic"/>
              </a:rPr>
              <a:t>A^(τ + δ)ₜ = A^τₜ + δ v_θ(A^τₜ, oₜ)</a:t>
            </a:r>
            <a:r>
              <a:rPr sz="1050" b="0" i="0">
                <a:solidFill>
                  <a:srgbClr val="16213A"/>
                </a:solidFill>
                <a:latin typeface="Arial"/>
                <a:ea typeface="Malgun Gothic"/>
                <a:cs typeface="Malgun Gothic"/>
              </a:rPr>
              <a:t>을 </a:t>
            </a:r>
            <a:r>
              <a:rPr sz="1050" b="0" i="1">
                <a:solidFill>
                  <a:srgbClr val="16213A"/>
                </a:solidFill>
                <a:latin typeface="Arial"/>
                <a:ea typeface="Malgun Gothic"/>
                <a:cs typeface="Malgun Gothic"/>
              </a:rPr>
              <a:t>δ = 0.1</a:t>
            </a:r>
            <a:r>
              <a:rPr sz="1050" b="0" i="0">
                <a:solidFill>
                  <a:srgbClr val="16213A"/>
                </a:solidFill>
                <a:latin typeface="Arial"/>
                <a:ea typeface="Malgun Gothic"/>
                <a:cs typeface="Malgun Gothic"/>
              </a:rPr>
              <a:t>로 10번 한다. 관측 부분의 attention key와 value는 한 번만 계산해 캐시하고, 스텝마다 행동 토큰만 다시 계산한다.</a:t>
            </a:r>
          </a:p>
        </p:txBody>
      </p:sp>
      <p:sp>
        <p:nvSpPr>
          <p:cNvPr id="9" name="TextBox 8"/>
          <p:cNvSpPr txBox="1"/>
          <p:nvPr/>
        </p:nvSpPr>
        <p:spPr>
          <a:xfrm>
            <a:off x="609600" y="310902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언어로 된 중간 행동(NaVILA).</a:t>
            </a:r>
            <a:r>
              <a:rPr sz="1050" b="0" i="0">
                <a:solidFill>
                  <a:srgbClr val="16213A"/>
                </a:solidFill>
                <a:latin typeface="Arial"/>
                <a:ea typeface="Malgun Gothic"/>
                <a:cs typeface="Malgun Gothic"/>
              </a:rPr>
              <a:t> VLA는 "앞으로 75 cm"처럼 거리와 방향을 담은 문장을 낸다. 몸체에 맞는 보행 정책이 그것을 실행하므로, 같은 VLA를 Go2, H1, Booster T1에 그대로 썼다.</a:t>
            </a:r>
          </a:p>
        </p:txBody>
      </p:sp>
      <p:sp>
        <p:nvSpPr>
          <p:cNvPr id="10" name="TextBox 9"/>
          <p:cNvSpPr txBox="1"/>
          <p:nvPr/>
        </p:nvSpPr>
        <p:spPr>
          <a:xfrm>
            <a:off x="609600" y="3414415"/>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것.</a:t>
            </a:r>
            <a:r>
              <a:rPr sz="1050" b="0" i="0">
                <a:solidFill>
                  <a:srgbClr val="16213A"/>
                </a:solidFill>
                <a:latin typeface="Arial"/>
                <a:ea typeface="Malgun Gothic"/>
                <a:cs typeface="Malgun Gothic"/>
              </a:rPr>
              <a:t> Planner D는 π0와 같은 flow matching 규칙(속도장 </a:t>
            </a:r>
            <a:r>
              <a:rPr sz="1050" b="0" i="1">
                <a:solidFill>
                  <a:srgbClr val="16213A"/>
                </a:solidFill>
                <a:latin typeface="Arial"/>
                <a:ea typeface="Malgun Gothic"/>
                <a:cs typeface="Malgun Gothic"/>
              </a:rPr>
              <a:t>x₁ - x₀</a:t>
            </a:r>
            <a:r>
              <a:rPr sz="1050" b="0" i="0">
                <a:solidFill>
                  <a:srgbClr val="16213A"/>
                </a:solidFill>
                <a:latin typeface="Arial"/>
                <a:ea typeface="Malgun Gothic"/>
                <a:cs typeface="Malgun Gothic"/>
              </a:rPr>
              <a:t>, Euler 10스텝)을 쓴다. 차이는 조건이다. π0는 VLM 토큰을, Planner D는 TravMap 크롭, subgoal, 현재 속도를 조건으로 받는다. π0의 50스텝 행동 묶음은 Planner D의 4초(40스텝) 제어 변화율 열에 해당한다. 잡음이 큰 </a:t>
            </a:r>
            <a:r>
              <a:rPr sz="1050" b="0" i="1">
                <a:solidFill>
                  <a:srgbClr val="16213A"/>
                </a:solidFill>
                <a:latin typeface="Arial"/>
                <a:ea typeface="Malgun Gothic"/>
                <a:cs typeface="Malgun Gothic"/>
              </a:rPr>
              <a:t>τ</a:t>
            </a:r>
            <a:r>
              <a:rPr sz="1050" b="0" i="0">
                <a:solidFill>
                  <a:srgbClr val="16213A"/>
                </a:solidFill>
                <a:latin typeface="Arial"/>
                <a:ea typeface="Malgun Gothic"/>
                <a:cs typeface="Malgun Gothic"/>
              </a:rPr>
              <a:t>를 강조하는 샘플링은 Planner D 학습에 바로 시험할 수 있는 요령이다.</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Foundation·VLA·언어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B.6b VLA와 도시 보행 내비: 언어·영상 기반 모델이 행동까지 낸다</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84 / 516</a:t>
            </a:r>
          </a:p>
        </p:txBody>
      </p:sp>
      <p:sp>
        <p:nvSpPr>
          <p:cNvPr id="5" name="TextBox 4"/>
          <p:cNvSpPr txBox="1"/>
          <p:nvPr/>
        </p:nvSpPr>
        <p:spPr>
          <a:xfrm>
            <a:off x="609600" y="1244600"/>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VLA는 Planner를 대체하지 않고, Planner 위에서 목표와 중간 행동을 정하는 층으로 쓴다.</a:t>
            </a:r>
            <a:r>
              <a:rPr sz="1050" b="0" i="0">
                <a:solidFill>
                  <a:srgbClr val="16213A"/>
                </a:solidFill>
                <a:latin typeface="Arial"/>
                <a:ea typeface="Malgun Gothic"/>
                <a:cs typeface="Malgun Gothic"/>
              </a:rPr>
              <a:t> 실제 평가에서 시각 내비 기반 모델은 충돌이 잦았다. NaVILA도 VLA와 보행 정책을 두 층으로 나눴다. Uni-NaVid의 5 Hz는 travplan 시뮬과 Controller의 제어 주기(0.1 s)보다 느리다. 그래서 travplan에서는 VLM·VLA가 "어느 보도로, 어디까지"를 정하고, Planner D와 Controller가 기하와 시간을 맡는다(A.10의 PIVOT 구조와 같다). CityWalker의 웹 영상 라벨링은 보도 장면 데이터를 싸게 얻는 방법이라, Planner 학습 데이터를 실제 보도 분포로 넓힐 때 참고한다. 이 분담이 옳다는 것을 수치로 보인 것이 B.6c다. VAMOS도 위층 VLM과 아래층 몸체 판단을 나눠 실제 코스에서 90 %를 냈다(NaVILA 10 %).</a:t>
            </a:r>
          </a:p>
        </p:txBody>
      </p:sp>
      <p:sp>
        <p:nvSpPr>
          <p:cNvPr id="6" name="TextBox 5"/>
          <p:cNvSpPr txBox="1"/>
          <p:nvPr/>
        </p:nvSpPr>
        <p:spPr>
          <a:xfrm>
            <a:off x="717550" y="2199481"/>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UrbanVLA: 길 안내 앱의 경로점을 영상과 맞춰 보며 궤적을 낸다</a:t>
            </a:r>
          </a:p>
        </p:txBody>
      </p:sp>
      <p:sp>
        <p:nvSpPr>
          <p:cNvPr id="7" name="TextBox 6"/>
          <p:cNvSpPr txBox="1"/>
          <p:nvPr/>
        </p:nvSpPr>
        <p:spPr>
          <a:xfrm>
            <a:off x="609600" y="2502694"/>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UrbanVLA</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arXiv:2510.23576</a:t>
            </a:r>
            <a:r>
              <a:rPr sz="1050" b="0" i="0">
                <a:solidFill>
                  <a:srgbClr val="16213A"/>
                </a:solidFill>
                <a:latin typeface="Arial"/>
                <a:ea typeface="Malgun Gothic"/>
                <a:cs typeface="Malgun Gothic"/>
              </a:rPr>
              <a:t>, 2025-10, Peking University·Galbot 등, ICRA 2026(저자 저장소 표기), </a:t>
            </a:r>
            <a:r>
              <a:rPr sz="1050" b="0" i="0">
                <a:solidFill>
                  <a:srgbClr val="1D4ED8"/>
                </a:solidFill>
                <a:latin typeface="Arial"/>
                <a:ea typeface="Malgun Gothic"/>
                <a:cs typeface="Malgun Gothic"/>
                <a:hlinkClick r:id="rId4"/>
              </a:rPr>
              <a:t>프로젝트</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5"/>
              </a:rPr>
              <a:t>코드</a:t>
            </a:r>
            <a:r>
              <a:rPr sz="1050" b="0" i="0">
                <a:solidFill>
                  <a:srgbClr val="16213A"/>
                </a:solidFill>
                <a:latin typeface="Arial"/>
                <a:ea typeface="Malgun Gothic"/>
                <a:cs typeface="Malgun Gothic"/>
              </a:rPr>
              <a:t>)는 소비자 길 안내 앱의 경로점을 조건으로 받아 도시 보도를 수백 미터 가는 VLA다. 지도 경로점은 실제 보도와 기하적으로 어긋난다. 이 모델은 그 어긋남을 영상과 맞춰 보며 궤적을 낸다.</a:t>
            </a:r>
          </a:p>
        </p:txBody>
      </p:sp>
      <p:sp>
        <p:nvSpPr>
          <p:cNvPr id="8" name="TextBox 7"/>
          <p:cNvSpPr txBox="1"/>
          <p:nvPr/>
        </p:nvSpPr>
        <p:spPr>
          <a:xfrm>
            <a:off x="609600" y="3024584"/>
            <a:ext cx="10972800" cy="1515467"/>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입력은 앞 40 m 경로를 2 m 간격으로 다시 뽑은 20점과 "30 m 뒤 우회전" 같은 회전 안내문, 그리고 앞·좌·우·뒤 카메라 넷의 최근 영상이다. 내비 기반 모델 NavFoM에서 출발해 DINOv2·SigLIP 인코더, Qwen2 언어 모델, MLP 행동 머리로 궤적을 낸다. 학습은 두 단계다. 첫 단계는 지도 학습이다. MetaUrban 시뮬의 PPO 전문가 궤적과 웹 영상(Sekai)을 쓴다. 궤적에 잡음을 넣고 다시 뽑아 "어긋난 경로 지시"를 만드는 HTL(heuristic trajectory lifting)이 핵심이다. 둘째 단계는 오프라인 RL(IQL)이다. 시뮬 2,400 에피소드(약 40시간)와 베이징 원격조종 약 8시간을 섞고, 보상은 완주 0.5, 충돌 −1, 경로 이탈 −1이다. MetaUrban PointNav 시험 성공률은 94%(LiDAR PPO 66%)다. RL 단계는 SocialNav 보지 않은 장면 성공률을 82%에서 88%로 올렸다. HTL은 시뮬과 실물에서 반대로 움직였다. 시뮬 SocialNav 시험 성공률은 HTL을 넣으면 93%에서 89%로 내려갔고, 실물 60 m C자 보도 경로의 완주율은 42%에서 100%로 올랐다(10번). 초록은 "SocialNav에서 강한 기준선보다 55% 이상 높다"고 적었다. 표에서 SocialNav 시험의 최고 기준선은 IQL 36%이고 UrbanVLA는 91%라, 맞는 해석은 상대 비율이 아니라 55점 차이다. Go2에서 원격 RTX 4090으로 2 Hz로 돌렸고, 궤적은 기존 로컬 Planner가 실행했다.</a:t>
            </a:r>
          </a:p>
        </p:txBody>
      </p:sp>
      <p:sp>
        <p:nvSpPr>
          <p:cNvPr id="9" name="TextBox 8"/>
          <p:cNvSpPr txBox="1"/>
          <p:nvPr/>
        </p:nvSpPr>
        <p:spPr>
          <a:xfrm>
            <a:off x="609600" y="4628952"/>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것.</a:t>
            </a:r>
            <a:r>
              <a:rPr sz="1050" b="0" i="0">
                <a:solidFill>
                  <a:srgbClr val="16213A"/>
                </a:solidFill>
                <a:latin typeface="Arial"/>
                <a:ea typeface="Malgun Gothic"/>
                <a:cs typeface="Malgun Gothic"/>
              </a:rPr>
              <a:t> 배달로봇의 전역 경로도 소비자 지도에서 온다. travplan Planner D는 Guidance 경로의 subgoal을 조건으로 받는데, 지금 그 경로는 같은 좌표계의 belief 지도에서 나온다(</a:t>
            </a:r>
            <a:r>
              <a:rPr sz="1050" b="0" i="0">
                <a:solidFill>
                  <a:srgbClr val="16213A"/>
                </a:solidFill>
                <a:latin typeface="Consolas"/>
                <a:ea typeface="Malgun Gothic"/>
                <a:cs typeface="Malgun Gothic"/>
              </a:rPr>
              <a:t>travplan/eval/runner.py</a:t>
            </a:r>
            <a:r>
              <a:rPr sz="1050" b="0" i="0">
                <a:solidFill>
                  <a:srgbClr val="16213A"/>
                </a:solidFill>
                <a:latin typeface="Arial"/>
                <a:ea typeface="Malgun Gothic"/>
                <a:cs typeface="Malgun Gothic"/>
              </a:rPr>
              <a:t>의 </a:t>
            </a:r>
            <a:r>
              <a:rPr sz="1050" b="0" i="0">
                <a:solidFill>
                  <a:srgbClr val="16213A"/>
                </a:solidFill>
                <a:latin typeface="Consolas"/>
                <a:ea typeface="Malgun Gothic"/>
                <a:cs typeface="Malgun Gothic"/>
              </a:rPr>
              <a:t>guidance.compute(belief_p, ...)</a:t>
            </a:r>
            <a:r>
              <a:rPr sz="1050" b="0" i="0">
                <a:solidFill>
                  <a:srgbClr val="16213A"/>
                </a:solidFill>
                <a:latin typeface="Arial"/>
                <a:ea typeface="Malgun Gothic"/>
                <a:cs typeface="Malgun Gothic"/>
              </a:rPr>
              <a:t>). 그래서 지도 정합이나 위치 오차로 인한 어긋남이 없다. HTL처럼 학습 때 경로에 잡음을 넣고 다시 뽑는 것은 B.9 Path-conditioned RL의 "일부러 나쁜 경로로 학습"과 같은 처방이다. 실물로 가기 전에 Planner D의 route 조건에 이 증강을 넣는다. 2 Hz VLA는 Controller 주기(0.1 s)보다 훨씬 느리므로, 위 결론대로 VLA는 위층에만 둔다.</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Foundation·VLA·언어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B.6b VLA와 도시 보행 내비: 언어·영상 기반 모델이 행동까지 낸다</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85 / 516</a:t>
            </a:r>
          </a:p>
        </p:txBody>
      </p:sp>
      <p:pic>
        <p:nvPicPr>
          <p:cNvPr id="5" name="Picture 4" descr="image.jpg"/>
          <p:cNvPicPr>
            <a:picLocks noChangeAspect="1"/>
          </p:cNvPicPr>
          <p:nvPr/>
        </p:nvPicPr>
        <p:blipFill>
          <a:blip r:embed="rId3"/>
          <a:stretch>
            <a:fillRect/>
          </a:stretch>
        </p:blipFill>
        <p:spPr>
          <a:xfrm>
            <a:off x="1136650" y="1244600"/>
            <a:ext cx="9918700" cy="4445000"/>
          </a:xfrm>
          <a:prstGeom prst="rect">
            <a:avLst/>
          </a:prstGeom>
        </p:spPr>
      </p:pic>
      <p:sp>
        <p:nvSpPr>
          <p:cNvPr id="6" name="TextBox 5"/>
          <p:cNvSpPr txBox="1"/>
          <p:nvPr/>
        </p:nvSpPr>
        <p:spPr>
          <a:xfrm>
            <a:off x="1136650" y="5727700"/>
            <a:ext cx="9918700" cy="142180"/>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UrbanVLA (Fig. 1): 시뮬과 웹 영상으로 지도 학습한 뒤, 시뮬과 실물을 섞은 자료로 오프라인 RL 미세 조정을 하는 두 단계 파이프라인. 출처: arXiv:2510.23576</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Foundation·VLA·언어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B.6c 시연 투어와 위상 그래프: 멀티모달 지시를 좌표 없이 푼다</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86 / 516</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Mobility VLA — 긴 문맥 VLM은 목표 프레임만 고르고, 기하는 위상 그래프가 맡는다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arXiv:2407.07775</a:t>
            </a:r>
            <a:r>
              <a:rPr sz="1050" b="0" i="0">
                <a:solidFill>
                  <a:srgbClr val="16213A"/>
                </a:solidFill>
                <a:latin typeface="Arial"/>
                <a:ea typeface="Malgun Gothic"/>
                <a:cs typeface="Malgun Gothic"/>
              </a:rPr>
              <a:t>, CoRL 2024, Google DeepMind, 코드 공개 없음). 앞 절의 VLA들이 영상과 지시에서 행동을 곧장 낸다면, 이 연구는 반대로 간다. </a:t>
            </a:r>
            <a:r>
              <a:rPr sz="1050" b="1" i="0">
                <a:solidFill>
                  <a:srgbClr val="C2410C"/>
                </a:solidFill>
                <a:latin typeface="Arial"/>
                <a:ea typeface="Malgun Gothic"/>
                <a:cs typeface="Malgun Gothic"/>
              </a:rPr>
              <a:t>같은 VLM이라도 waypoint를 직접 내게 하면 성공률이 0%이고, 목표 프레임 번호만 내게 한 뒤 나머지를 위상 그래프에 맡기면 90%다.</a:t>
            </a:r>
          </a:p>
        </p:txBody>
      </p:sp>
      <p:sp>
        <p:nvSpPr>
          <p:cNvPr id="6" name="TextBox 5"/>
          <p:cNvSpPr txBox="1"/>
          <p:nvPr/>
        </p:nvSpPr>
        <p:spPr>
          <a:xfrm>
            <a:off x="609600" y="176649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푸는 문제.</a:t>
            </a:r>
            <a:r>
              <a:rPr sz="1050" b="0" i="0">
                <a:solidFill>
                  <a:srgbClr val="16213A"/>
                </a:solidFill>
                <a:latin typeface="Arial"/>
                <a:ea typeface="Malgun Gothic"/>
                <a:cs typeface="Malgun Gothic"/>
              </a:rPr>
              <a:t> MINT(multimodal instruction navigation with demonstration tours)는 사람이 한 번 걸어 다니며 찍은 시연 투어 영상을 환경 사전 지식으로 주고, 문장과 사진을 섞은 지시를 따르게 한다. "이거 어디에 돌려놓아야 해?"라고 물으며 플라스틱 통을 들어 보이는 식이다. 목표를 좌표로 주지 않으므로, 지도 좌표를 받는 기존 내비게이션 인터페이스로는 표현할 수 없다.</a:t>
            </a:r>
          </a:p>
        </p:txBody>
      </p:sp>
      <p:sp>
        <p:nvSpPr>
          <p:cNvPr id="7" name="TextBox 6"/>
          <p:cNvSpPr txBox="1"/>
          <p:nvPr/>
        </p:nvSpPr>
        <p:spPr>
          <a:xfrm>
            <a:off x="609600" y="2288381"/>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동작 방식.</a:t>
            </a:r>
            <a:r>
              <a:rPr sz="1050" b="0" i="0">
                <a:solidFill>
                  <a:srgbClr val="16213A"/>
                </a:solidFill>
                <a:latin typeface="Arial"/>
                <a:ea typeface="Malgun Gothic"/>
                <a:cs typeface="Malgun Gothic"/>
              </a:rPr>
              <a:t> 두 층으로 나눈다. 고수준은 Gemini 1.5 Pro다. 문맥 100만 토큰에 투어 영상 전체(약 16분, 1 Hz로 948 프레임)와 지시를 한꺼번에 넣고, 목표가 있는 </a:t>
            </a:r>
            <a:r>
              <a:rPr sz="1050" b="1" i="0">
                <a:solidFill>
                  <a:srgbClr val="16213A"/>
                </a:solidFill>
                <a:latin typeface="Arial"/>
                <a:ea typeface="Malgun Gothic"/>
                <a:cs typeface="Malgun Gothic"/>
              </a:rPr>
              <a:t>프레임 번호</a:t>
            </a:r>
            <a:r>
              <a:rPr sz="1050" b="0" i="0">
                <a:solidFill>
                  <a:srgbClr val="16213A"/>
                </a:solidFill>
                <a:latin typeface="Arial"/>
                <a:ea typeface="Malgun Gothic"/>
                <a:cs typeface="Malgun Gothic"/>
              </a:rPr>
              <a:t>를 내게 한다. 저수준은 투어에서 미리 만든 위상 그래프다. 프레임마다 COLMAP으로 6자유도 자세를 추정해 정점으로 놓고, 한 정점에서 2 m 안이면서 방향 차이가 90° 안인 정점으로 방향 간선을 잇는다. 현재 위치에서 목표 프레임까지 그래프 최단 경로를 찾고, 다음 정점으로 가는 상대 자세 </a:t>
            </a:r>
            <a:r>
              <a:rPr sz="1050" b="0" i="1">
                <a:solidFill>
                  <a:srgbClr val="16213A"/>
                </a:solidFill>
                <a:latin typeface="Arial"/>
                <a:ea typeface="Malgun Gothic"/>
                <a:cs typeface="Malgun Gothic"/>
              </a:rPr>
              <a:t>(Δ x, Δ y, Δθ)</a:t>
            </a:r>
            <a:r>
              <a:rPr sz="1050" b="0" i="0">
                <a:solidFill>
                  <a:srgbClr val="16213A"/>
                </a:solidFill>
                <a:latin typeface="Arial"/>
                <a:ea typeface="Malgun Gothic"/>
                <a:cs typeface="Malgun Gothic"/>
              </a:rPr>
              <a:t>를 로봇 중심 좌표로 낸다.</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Foundation·VLA·언어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B.6c 시연 투어와 위상 그래프: 멀티모달 지시를 좌표 없이 푼다</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87 / 516</a:t>
            </a:r>
          </a:p>
        </p:txBody>
      </p:sp>
      <p:pic>
        <p:nvPicPr>
          <p:cNvPr id="5" name="Picture 4" descr="image.jpg"/>
          <p:cNvPicPr>
            <a:picLocks noChangeAspect="1"/>
          </p:cNvPicPr>
          <p:nvPr/>
        </p:nvPicPr>
        <p:blipFill>
          <a:blip r:embed="rId3"/>
          <a:stretch>
            <a:fillRect/>
          </a:stretch>
        </p:blipFill>
        <p:spPr>
          <a:xfrm>
            <a:off x="1016000" y="1244600"/>
            <a:ext cx="10160000" cy="3689350"/>
          </a:xfrm>
          <a:prstGeom prst="rect">
            <a:avLst/>
          </a:prstGeom>
        </p:spPr>
      </p:pic>
      <p:sp>
        <p:nvSpPr>
          <p:cNvPr id="6" name="TextBox 5"/>
          <p:cNvSpPr txBox="1"/>
          <p:nvPr/>
        </p:nvSpPr>
        <p:spPr>
          <a:xfrm>
            <a:off x="1016000" y="4972050"/>
            <a:ext cx="10160000" cy="142180"/>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Mobility VLA (Fig. 1): 시연 투어 영상과 멀티모달 지시를 긴 문맥 VLM에 넣어 목표 프레임을 고르고, structure-from-motion으로 만든 위상 지도가 그 프레임까지의 행동을 낸다. 출처: arXiv:2407.07775</a:t>
            </a:r>
          </a:p>
        </p:txBody>
      </p:sp>
      <p:sp>
        <p:nvSpPr>
          <p:cNvPr id="7" name="TextBox 6"/>
          <p:cNvSpPr txBox="1"/>
          <p:nvPr/>
        </p:nvSpPr>
        <p:spPr>
          <a:xfrm>
            <a:off x="609600" y="520313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결과.</a:t>
            </a:r>
            <a:r>
              <a:rPr sz="1050" b="0" i="0">
                <a:solidFill>
                  <a:srgbClr val="16213A"/>
                </a:solidFill>
                <a:latin typeface="Arial"/>
                <a:ea typeface="Malgun Gothic"/>
                <a:cs typeface="Malgun Gothic"/>
              </a:rPr>
              <a:t> 836 m² 사무실에서 지시 57개를 시험했다. 목표 찾기 성공률은 추론이 필요 없는 지시 80%, 추론이 필요한 지시 80%, 작은 물체 40%, 멀티모달 지시 85%였다. 목표를 옳게 찾으면 도달은 네 부류 모두 100%였다. 논문이 보고한 종단 성공률은 실제 사무실 86%, 시뮬레이션 90%로, 기준선보다 각각 26%와 60% 높다.</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Foundation·VLA·언어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B.6c 시연 투어와 위상 그래프: 멀티모달 지시를 좌표 없이 푼다</a:t>
            </a:r>
            <a:r>
              <a:rPr sz="1050" b="0" i="0">
                <a:solidFill>
                  <a:srgbClr val="5A6478"/>
                </a:solidFill>
                <a:latin typeface="Arial"/>
                <a:ea typeface="Malgun Gothic"/>
                <a:cs typeface="Malgun Gothic"/>
              </a:rPr>
              <a:t>  자세히: 계층을 없앴을 때 무슨 일이 일어나나</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88 / 516</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속도 차이도 크다.</a:t>
            </a:r>
            <a:r>
              <a:rPr sz="1050" b="0" i="0">
                <a:solidFill>
                  <a:srgbClr val="16213A"/>
                </a:solidFill>
                <a:latin typeface="Arial"/>
                <a:ea typeface="Malgun Gothic"/>
                <a:cs typeface="Malgun Gothic"/>
              </a:rPr>
              <a:t> VLM이 waypoint를 직접 낼 때는 스텝마다 25.90 ± 8.36초가 걸린다. 목표 프레임 번호만 내고 위상 그래프가 waypoint를 맡으면 스텝당 0.19 ± 0.047초다. 고수준 질의는 목표가 바뀔 때만 하고(질의당 10–30초), 나머지 스텝은 그래프만 돈다.</a:t>
            </a:r>
          </a:p>
        </p:txBody>
      </p:sp>
      <p:sp>
        <p:nvSpPr>
          <p:cNvPr id="6" name="TextBox 5"/>
          <p:cNvSpPr txBox="1"/>
          <p:nvPr/>
        </p:nvSpPr>
        <p:spPr>
          <a:xfrm>
            <a:off x="609600" y="176649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왜 그런가.</a:t>
            </a:r>
            <a:r>
              <a:rPr sz="1050" b="0" i="0">
                <a:solidFill>
                  <a:srgbClr val="16213A"/>
                </a:solidFill>
                <a:latin typeface="Arial"/>
                <a:ea typeface="Malgun Gothic"/>
                <a:cs typeface="Malgun Gothic"/>
              </a:rPr>
              <a:t> VLM은 "저 복도 끝 프린터 옆"이라는 의미는 알지만, 그것을 몇 미터 앞 몇 도라는 양으로 바꾸지 못한다. 반면 위상 그래프는 COLMAP 자세에서 나온 기하라 거리와 방향이 정확하다. 두 능력은 같은 모델에서 나오지 않는다.</a:t>
            </a:r>
          </a:p>
        </p:txBody>
      </p:sp>
      <p:sp>
        <p:nvSpPr>
          <p:cNvPr id="7" name="TextBox 6"/>
          <p:cNvSpPr txBox="1"/>
          <p:nvPr/>
        </p:nvSpPr>
        <p:spPr>
          <a:xfrm>
            <a:off x="609600" y="228838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모델 선택.</a:t>
            </a:r>
            <a:r>
              <a:rPr sz="1050" b="0" i="0">
                <a:solidFill>
                  <a:srgbClr val="16213A"/>
                </a:solidFill>
                <a:latin typeface="Arial"/>
                <a:ea typeface="Malgun Gothic"/>
                <a:cs typeface="Malgun Gothic"/>
              </a:rPr>
              <a:t> 문맥이 짧은 VLM으로는 투어 영상 948 프레임을 한꺼번에 볼 수 없다. 논문은 100만 토큰 문맥을 가진 Gemini 1.5 Pro만 쓸 만한 성공률을 냈다고 적었다.</a:t>
            </a:r>
          </a:p>
        </p:txBody>
      </p:sp>
      <p:sp>
        <p:nvSpPr>
          <p:cNvPr id="8" name="TextBox 7"/>
          <p:cNvSpPr txBox="1"/>
          <p:nvPr/>
        </p:nvSpPr>
        <p:spPr>
          <a:xfrm>
            <a:off x="609600" y="2593777"/>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것.</a:t>
            </a:r>
            <a:r>
              <a:rPr sz="1050" b="0" i="0">
                <a:solidFill>
                  <a:srgbClr val="16213A"/>
                </a:solidFill>
                <a:latin typeface="Arial"/>
                <a:ea typeface="Malgun Gothic"/>
                <a:cs typeface="Malgun Gothic"/>
              </a:rPr>
              <a:t> travplan은 이미 Planner와 Controller를 나눴다. 이 실험은 그 위층에서도 같은 경계가 필요하다는 증거다. 의미를 다루는 모델에 기하까지 맡기면 두 가지를 다 잃는다.</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Foundation·VLA·언어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B.6c 시연 투어와 위상 그래프: 멀티모달 지시를 좌표 없이 푼다</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89 / 516</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배달로봇은 같은 보도 구간을 반복해서 다닌다. 한 번 성공한 주행을 투어로 삼으면 위상 그래프를 따로 만들지 않고 얻는다. 다만 이 층은 Planner D를 대체하지 않는다. 위상 그래프의 간선은 "그때 지나갈 수 있었다"만 말하고, 연석·포트홀·경사는 말하지 않는다. 공사나 주차된 차로 길이 막히면 그래프는 그대로인데 지형이 다르다. 그래서 travplan에서는 위상 그래프가 subgoal을 주고, TravMap과 Planner D가 그 구간을 실제로 지나갈 수 있는지 판단하는 분담이 맞다. 스텝당 0.19초는 Controller 주기 0.1초보다 느려서, subgoal 갱신 주기로만 쓴다.</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Foundation·VLA·언어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B.6d 보도 자율주행을 시연 로그로 배운다: MIMIC</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90 / 516</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MIMIC — 배달로봇 원격조종 로그에서 보도 자율주행 정책을 배운다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arXiv:2603.22527</a:t>
            </a:r>
            <a:r>
              <a:rPr sz="1050" b="0" i="0">
                <a:solidFill>
                  <a:srgbClr val="16213A"/>
                </a:solidFill>
                <a:latin typeface="Arial"/>
                <a:ea typeface="Malgun Gothic"/>
                <a:cs typeface="Malgun Gothic"/>
              </a:rPr>
              <a:t>, 2026-03, UCLA(He·Ma·Wu·Zhou) + </a:t>
            </a:r>
            <a:r>
              <a:rPr sz="1050" b="1" i="0">
                <a:solidFill>
                  <a:srgbClr val="16213A"/>
                </a:solidFill>
                <a:latin typeface="Arial"/>
                <a:ea typeface="Malgun Gothic"/>
                <a:cs typeface="Malgun Gothic"/>
              </a:rPr>
              <a:t>Coco Robotics</a:t>
            </a:r>
            <a:r>
              <a:rPr sz="1050" b="0" i="0">
                <a:solidFill>
                  <a:srgbClr val="16213A"/>
                </a:solidFill>
                <a:latin typeface="Arial"/>
                <a:ea typeface="Malgun Gothic"/>
                <a:cs typeface="Malgun Gothic"/>
              </a:rPr>
              <a:t>(Squicciarini)). B.6b의 CityWalker가 웹 영상으로 도시 보행을 배웠다면, 이 연구는 </a:t>
            </a:r>
            <a:r>
              <a:rPr sz="1050" b="1" i="0">
                <a:solidFill>
                  <a:srgbClr val="16213A"/>
                </a:solidFill>
                <a:latin typeface="Arial"/>
                <a:ea typeface="Malgun Gothic"/>
                <a:cs typeface="Malgun Gothic"/>
              </a:rPr>
              <a:t>실제 배달로봇 함대의 원격조종 로그</a:t>
            </a:r>
            <a:r>
              <a:rPr sz="1050" b="0" i="0">
                <a:solidFill>
                  <a:srgbClr val="16213A"/>
                </a:solidFill>
                <a:latin typeface="Arial"/>
                <a:ea typeface="Malgun Gothic"/>
                <a:cs typeface="Malgun Gothic"/>
              </a:rPr>
              <a:t>로 배운다. travplan과 같은 문제, 같은 몸체, 같은 지형이다. </a:t>
            </a:r>
            <a:r>
              <a:rPr sz="1050" b="1" i="0">
                <a:solidFill>
                  <a:srgbClr val="C2410C"/>
                </a:solidFill>
                <a:latin typeface="Arial"/>
                <a:ea typeface="Malgun Gothic"/>
                <a:cs typeface="Malgun Gothic"/>
              </a:rPr>
              <a:t>보도 micromobility를 정면으로 다룬 학습 Planner 가운데 실물 배포 지표까지 보고한 것은 지금 이것이 가장 가깝다.</a:t>
            </a:r>
          </a:p>
        </p:txBody>
      </p:sp>
      <p:sp>
        <p:nvSpPr>
          <p:cNvPr id="6" name="TextBox 5"/>
          <p:cNvSpPr txBox="1"/>
          <p:nvPr/>
        </p:nvSpPr>
        <p:spPr>
          <a:xfrm>
            <a:off x="609600" y="1982986"/>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데이터.</a:t>
            </a:r>
            <a:r>
              <a:rPr sz="1050" b="0" i="0">
                <a:solidFill>
                  <a:srgbClr val="16213A"/>
                </a:solidFill>
                <a:latin typeface="Arial"/>
                <a:ea typeface="Malgun Gothic"/>
                <a:cs typeface="Malgun Gothic"/>
              </a:rPr>
              <a:t> CoS(Coco-on-SideWalks)는 궤적 3,040개(학습 2,740, 검증 200, 시험 100), 어안 RGB 영상 약 50시간(20 Hz)이다. 미국 여러 도시에서 Coco의 바퀴 로봇 여러 대로 모았다. 입력은 어안 영상 256 × 256, GPS에서 온 위치·방향, 로봇 상태 로그(속도·각속도), 로봇 좌표계의 목표다.</a:t>
            </a:r>
          </a:p>
        </p:txBody>
      </p:sp>
      <p:sp>
        <p:nvSpPr>
          <p:cNvPr id="7" name="TextBox 6"/>
          <p:cNvSpPr txBox="1"/>
          <p:nvPr/>
        </p:nvSpPr>
        <p:spPr>
          <a:xfrm>
            <a:off x="609600" y="2504877"/>
            <a:ext cx="10972800" cy="108247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두 가지 기여.</a:t>
            </a:r>
            <a:r>
              <a:rPr sz="1050" b="0" i="0">
                <a:solidFill>
                  <a:srgbClr val="16213A"/>
                </a:solidFill>
                <a:latin typeface="Arial"/>
                <a:ea typeface="Malgun Gothic"/>
                <a:cs typeface="Malgun Gothic"/>
              </a:rPr>
              <a:t> 하나는 </a:t>
            </a:r>
            <a:r>
              <a:rPr sz="1050" b="1" i="0">
                <a:solidFill>
                  <a:srgbClr val="16213A"/>
                </a:solidFill>
                <a:latin typeface="Arial"/>
                <a:ea typeface="Malgun Gothic"/>
                <a:cs typeface="Malgun Gothic"/>
              </a:rPr>
              <a:t>다중 규모 모방</a:t>
            </a:r>
            <a:r>
              <a:rPr sz="1050" b="0" i="0">
                <a:solidFill>
                  <a:srgbClr val="16213A"/>
                </a:solidFill>
                <a:latin typeface="Arial"/>
                <a:ea typeface="Malgun Gothic"/>
                <a:cs typeface="Malgun Gothic"/>
              </a:rPr>
              <a:t>이다. 예측 지평을 </a:t>
            </a:r>
            <a:r>
              <a:rPr sz="1050" b="0" i="1">
                <a:solidFill>
                  <a:srgbClr val="16213A"/>
                </a:solidFill>
                <a:latin typeface="Arial"/>
                <a:ea typeface="Malgun Gothic"/>
                <a:cs typeface="Malgun Gothic"/>
              </a:rPr>
              <a:t>T/8</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T/4</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T/2</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T</a:t>
            </a:r>
            <a:r>
              <a:rPr sz="1050" b="0" i="0">
                <a:solidFill>
                  <a:srgbClr val="16213A"/>
                </a:solidFill>
                <a:latin typeface="Arial"/>
                <a:ea typeface="Malgun Gothic"/>
                <a:cs typeface="Malgun Gothic"/>
              </a:rPr>
              <a:t> 넷으로 나눠 층마다 지도한다(</a:t>
            </a:r>
            <a:r>
              <a:rPr sz="1050" b="0" i="1">
                <a:solidFill>
                  <a:srgbClr val="16213A"/>
                </a:solidFill>
                <a:latin typeface="Arial"/>
                <a:ea typeface="Malgun Gothic"/>
                <a:cs typeface="Malgun Gothic"/>
              </a:rPr>
              <a:t>T</a:t>
            </a:r>
            <a:r>
              <a:rPr sz="1050" b="0" i="0">
                <a:solidFill>
                  <a:srgbClr val="16213A"/>
                </a:solidFill>
                <a:latin typeface="Arial"/>
                <a:ea typeface="Malgun Gothic"/>
                <a:cs typeface="Malgun Gothic"/>
              </a:rPr>
              <a:t> = 5 Hz에서 40프레임, 즉 8초). 지평마다 K-means로 미리 만든 앵커 궤적 64개를 구조적 prior로 둔다. 짧은 지평은 보행자와의 즉각적 상호작용을, 긴 지평은 목표 지향 의도를 담당한다. 한 지평만 쓰면 모델이 지름길을 배우는 것을 막는 장치다. 다른 하나는 </a:t>
            </a:r>
            <a:r>
              <a:rPr sz="1050" b="1" i="0">
                <a:solidFill>
                  <a:srgbClr val="16213A"/>
                </a:solidFill>
                <a:latin typeface="Arial"/>
                <a:ea typeface="Malgun Gothic"/>
                <a:cs typeface="Malgun Gothic"/>
              </a:rPr>
              <a:t>교정 행동 확장</a:t>
            </a:r>
            <a:r>
              <a:rPr sz="1050" b="0" i="0">
                <a:solidFill>
                  <a:srgbClr val="16213A"/>
                </a:solidFill>
                <a:latin typeface="Arial"/>
                <a:ea typeface="Malgun Gothic"/>
                <a:cs typeface="Malgun Gothic"/>
              </a:rPr>
              <a:t>이다. 원격조종 로그에는 실수와 회복이 거의 없으므로, 정책이 자기 실수에서 돌아오는 법을 배울 수 없다. 그래서 로그를 흔들어 만든다. ViPE로 깊이를 추정해 자기 중심 점군을 복원하고, 사인 곡선 형태의 횡·종 이탈을 넣은 뒤 점군을 재투영해 그 이탈에서 본 관측을 합성한다. 그리고 각 이탈에 회복 행동을 짝지어 지도 신호로 쓴다. 센서 증강으로는 Light-A-Video 재조명 모델로 배경을 전경보다 강하게 밝기 변화시켜, 기하는 유지하면서 겉모습만 다양화한다.</a:t>
            </a:r>
          </a:p>
        </p:txBody>
      </p:sp>
      <p:sp>
        <p:nvSpPr>
          <p:cNvPr id="8" name="TextBox 7"/>
          <p:cNvSpPr txBox="1"/>
          <p:nvPr/>
        </p:nvSpPr>
        <p:spPr>
          <a:xfrm>
            <a:off x="609600" y="3676253"/>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결과.</a:t>
            </a:r>
            <a:r>
              <a:rPr sz="1050" b="0" i="0">
                <a:solidFill>
                  <a:srgbClr val="16213A"/>
                </a:solidFill>
                <a:latin typeface="Arial"/>
                <a:ea typeface="Malgun Gothic"/>
                <a:cs typeface="Malgun Gothic"/>
              </a:rPr>
              <a:t> 열린 루프에서 minADE 0.071로 두 번째인 CityWalker(0.180)보다 60.6% 낮다. 실물 400 m 주행에서 목표 도달 90%(미세조정 기준선 70%), 보행자 회피 76%(29%), </a:t>
            </a:r>
            <a:r>
              <a:rPr sz="1050" b="1" i="0">
                <a:solidFill>
                  <a:srgbClr val="16213A"/>
                </a:solidFill>
                <a:latin typeface="Arial"/>
                <a:ea typeface="Malgun Gothic"/>
                <a:cs typeface="Malgun Gothic"/>
              </a:rPr>
              <a:t>사람 개입 4회 대 11회</a:t>
            </a:r>
            <a:r>
              <a:rPr sz="1050" b="0" i="0">
                <a:solidFill>
                  <a:srgbClr val="16213A"/>
                </a:solidFill>
                <a:latin typeface="Arial"/>
                <a:ea typeface="Malgun Gothic"/>
                <a:cs typeface="Malgun Gothic"/>
              </a:rPr>
              <a:t>다. 배포 실패 지표를 400 m당 개입 횟수로 잡은 점이 travplan의 성공률 지표와 다르다.</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Foundation·VLA·언어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B.6d 보도 자율주행을 시연 로그로 배운다: MIMIC</a:t>
            </a:r>
            <a:r>
              <a:rPr sz="1050" b="0" i="0">
                <a:solidFill>
                  <a:srgbClr val="5A6478"/>
                </a:solidFill>
                <a:latin typeface="Arial"/>
                <a:ea typeface="Malgun Gothic"/>
                <a:cs typeface="Malgun Gothic"/>
              </a:rPr>
              <a:t>  자세히: 왜 지평을 넷으로 나누고, 왜 로그를 흔드는가</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91 / 516</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앵커와 층별 지도.</a:t>
            </a:r>
            <a:r>
              <a:rPr sz="1050" b="0" i="0">
                <a:solidFill>
                  <a:srgbClr val="16213A"/>
                </a:solidFill>
                <a:latin typeface="Arial"/>
                <a:ea typeface="Malgun Gothic"/>
                <a:cs typeface="Malgun Gothic"/>
              </a:rPr>
              <a:t> 지평 </a:t>
            </a:r>
            <a:r>
              <a:rPr sz="1050" b="0" i="1">
                <a:solidFill>
                  <a:srgbClr val="16213A"/>
                </a:solidFill>
                <a:latin typeface="Arial"/>
                <a:ea typeface="Malgun Gothic"/>
                <a:cs typeface="Malgun Gothic"/>
              </a:rPr>
              <a:t>h ∈ {T/8, T/4, T/2, T}</a:t>
            </a:r>
            <a:r>
              <a:rPr sz="1050" b="0" i="0">
                <a:solidFill>
                  <a:srgbClr val="16213A"/>
                </a:solidFill>
                <a:latin typeface="Arial"/>
                <a:ea typeface="Malgun Gothic"/>
                <a:cs typeface="Malgun Gothic"/>
              </a:rPr>
              <a:t>마다 데이터 통계에서 K-means로 앵커 궤적 </a:t>
            </a:r>
            <a:r>
              <a:rPr sz="1050" b="0" i="1">
                <a:solidFill>
                  <a:srgbClr val="16213A"/>
                </a:solidFill>
                <a:latin typeface="Arial"/>
                <a:ea typeface="Malgun Gothic"/>
                <a:cs typeface="Malgun Gothic"/>
              </a:rPr>
              <a:t>{a^hᵢ}ᵢ₌₁⁶⁴</a:t>
            </a:r>
            <a:r>
              <a:rPr sz="1050" b="0" i="0">
                <a:solidFill>
                  <a:srgbClr val="16213A"/>
                </a:solidFill>
                <a:latin typeface="Arial"/>
                <a:ea typeface="Malgun Gothic"/>
                <a:cs typeface="Malgun Gothic"/>
              </a:rPr>
              <a:t>을 뽑는다. 모델은 지평마다 앵커에 대한 분포와 잔차를 내고, 출력은 가우시안 혼합으로 다중 모드를 담는다. 시각 backbone은 DINOv3-S이고, 입력은 5 Hz로 뽑은 과거 16프레임이다.</a:t>
            </a:r>
          </a:p>
        </p:txBody>
      </p:sp>
      <p:sp>
        <p:nvSpPr>
          <p:cNvPr id="6" name="TextBox 5"/>
          <p:cNvSpPr txBox="1"/>
          <p:nvPr/>
        </p:nvSpPr>
        <p:spPr>
          <a:xfrm>
            <a:off x="609600" y="176649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교정 행동 확장.</a:t>
            </a:r>
            <a:r>
              <a:rPr sz="1050" b="0" i="0">
                <a:solidFill>
                  <a:srgbClr val="16213A"/>
                </a:solidFill>
                <a:latin typeface="Arial"/>
                <a:ea typeface="Malgun Gothic"/>
                <a:cs typeface="Malgun Gothic"/>
              </a:rPr>
              <a:t> 모방 학습의 고전적 문제는 분포 이동이다. 정책이 조금 벗어나면 그 상태는 학습 데이터에 없다. DAgger는 전문가를 다시 불러 해결하지만 실물 함대에서는 비싸다. 이 연구는 전문가 대신 </a:t>
            </a:r>
            <a:r>
              <a:rPr sz="1050" b="1" i="0">
                <a:solidFill>
                  <a:srgbClr val="16213A"/>
                </a:solidFill>
                <a:latin typeface="Arial"/>
                <a:ea typeface="Malgun Gothic"/>
                <a:cs typeface="Malgun Gothic"/>
              </a:rPr>
              <a:t>기하</a:t>
            </a:r>
            <a:r>
              <a:rPr sz="1050" b="0" i="0">
                <a:solidFill>
                  <a:srgbClr val="16213A"/>
                </a:solidFill>
                <a:latin typeface="Arial"/>
                <a:ea typeface="Malgun Gothic"/>
                <a:cs typeface="Malgun Gothic"/>
              </a:rPr>
              <a:t>를 쓴다. 관측을 점군으로 올려 두면 가상의 이탈 위치에서 본 영상을 합성할 수 있고, 원래 궤적으로 돌아오는 행동이 곧 정답이 된다. 실수 데이터를 사람 없이 만드는 방법이다.</a:t>
            </a:r>
          </a:p>
        </p:txBody>
      </p:sp>
      <p:sp>
        <p:nvSpPr>
          <p:cNvPr id="7" name="TextBox 6"/>
          <p:cNvSpPr txBox="1"/>
          <p:nvPr/>
        </p:nvSpPr>
        <p:spPr>
          <a:xfrm>
            <a:off x="609600" y="2288381"/>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것.</a:t>
            </a:r>
            <a:r>
              <a:rPr sz="1050" b="0" i="0">
                <a:solidFill>
                  <a:srgbClr val="16213A"/>
                </a:solidFill>
                <a:latin typeface="Arial"/>
                <a:ea typeface="Malgun Gothic"/>
                <a:cs typeface="Malgun Gothic"/>
              </a:rPr>
              <a:t> travplan Planner D도 같은 분포 이동 문제를 갖는다. Guidance + MPPI 시연으로만 학습했고, 난이도 레벨 3과 L1 belief에서 무너진다(TP-0050, TP-0055). 그런데 travplan은 유리한 조건이 하나 있다. </a:t>
            </a:r>
            <a:r>
              <a:rPr sz="1050" b="1" i="0">
                <a:solidFill>
                  <a:srgbClr val="16213A"/>
                </a:solidFill>
                <a:latin typeface="Arial"/>
                <a:ea typeface="Malgun Gothic"/>
                <a:cs typeface="Malgun Gothic"/>
              </a:rPr>
              <a:t>관측이 영상이 아니라 TravMap이라 이탈 위치에서 본 관측을 합성하는 일이 훨씬 싸다.</a:t>
            </a:r>
            <a:r>
              <a:rPr sz="1050" b="0" i="0">
                <a:solidFill>
                  <a:srgbClr val="16213A"/>
                </a:solidFill>
                <a:latin typeface="Arial"/>
                <a:ea typeface="Malgun Gothic"/>
                <a:cs typeface="Malgun Gothic"/>
              </a:rPr>
              <a:t> 점군 재투영도 재조명도 필요 없다. 지도에서 크롭 위치를 옮기면 끝이다. TP-0055의 DAgger 대신 이 방식을 쓰면 전문가를 다시 부르지 않아도 된다.</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Foundation·VLA·언어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B.6d 보도 자율주행을 시연 로그로 배운다: MIMIC</a:t>
            </a:r>
            <a:r>
              <a:rPr sz="1050" b="0" i="0">
                <a:solidFill>
                  <a:srgbClr val="5A6478"/>
                </a:solidFill>
                <a:latin typeface="Arial"/>
                <a:ea typeface="Malgun Gothic"/>
                <a:cs typeface="Malgun Gothic"/>
              </a:rPr>
              <a:t>  1/4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92 / 516</a:t>
            </a:r>
          </a:p>
        </p:txBody>
      </p:sp>
      <p:sp>
        <p:nvSpPr>
          <p:cNvPr id="5" name="TextBox 4"/>
          <p:cNvSpPr txBox="1"/>
          <p:nvPr/>
        </p:nvSpPr>
        <p:spPr>
          <a:xfrm>
            <a:off x="609600" y="1244600"/>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세 가지를 가져올 수 있다. 첫째, </a:t>
            </a:r>
            <a:r>
              <a:rPr sz="1050" b="1" i="0">
                <a:solidFill>
                  <a:srgbClr val="16213A"/>
                </a:solidFill>
                <a:latin typeface="Arial"/>
                <a:ea typeface="Malgun Gothic"/>
                <a:cs typeface="Malgun Gothic"/>
              </a:rPr>
              <a:t>교정 행동 확장을 TravMap 크롭으로 옮기는 것</a:t>
            </a:r>
            <a:r>
              <a:rPr sz="1050" b="0" i="0">
                <a:solidFill>
                  <a:srgbClr val="16213A"/>
                </a:solidFill>
                <a:latin typeface="Arial"/>
                <a:ea typeface="Malgun Gothic"/>
                <a:cs typeface="Malgun Gothic"/>
              </a:rPr>
              <a:t>이다. 위 토글에 적은 대로 travplan은 관측 합성이 싸므로, 이탈 궤적과 회복 행동 쌍을 시연 데이터에 더하는 일이 거의 공짜다. TP-0055(L1 belief 재학습)와 TP-0050(레벨 3 실패)에 바로 쓸 수 있다. 둘째, </a:t>
            </a:r>
            <a:r>
              <a:rPr sz="1050" b="1" i="0">
                <a:solidFill>
                  <a:srgbClr val="16213A"/>
                </a:solidFill>
                <a:latin typeface="Arial"/>
                <a:ea typeface="Malgun Gothic"/>
                <a:cs typeface="Malgun Gothic"/>
              </a:rPr>
              <a:t>여러 지평을 함께 지도하는 것</a:t>
            </a:r>
            <a:r>
              <a:rPr sz="1050" b="0" i="0">
                <a:solidFill>
                  <a:srgbClr val="16213A"/>
                </a:solidFill>
                <a:latin typeface="Arial"/>
                <a:ea typeface="Malgun Gothic"/>
                <a:cs typeface="Malgun Gothic"/>
              </a:rPr>
              <a:t>이다. Planner D는 4초 지평 하나를 쓴다. 0.5초·1초·2초·4초를 층으로 나누고 지평마다 앵커를 두면, 보행자 회피 같은 짧은 반응과 우회 같은 긴 의도가 섞이지 않는다. Joint Planner의 보행자 단독 회피가 약한 문제(TP-0051)와 관련이 있다. 셋째, </a:t>
            </a:r>
            <a:r>
              <a:rPr sz="1050" b="1" i="0">
                <a:solidFill>
                  <a:srgbClr val="16213A"/>
                </a:solidFill>
                <a:latin typeface="Arial"/>
                <a:ea typeface="Malgun Gothic"/>
                <a:cs typeface="Malgun Gothic"/>
              </a:rPr>
              <a:t>평가 지표</a:t>
            </a:r>
            <a:r>
              <a:rPr sz="1050" b="0" i="0">
                <a:solidFill>
                  <a:srgbClr val="16213A"/>
                </a:solidFill>
                <a:latin typeface="Arial"/>
                <a:ea typeface="Malgun Gothic"/>
                <a:cs typeface="Malgun Gothic"/>
              </a:rPr>
              <a:t>다. 400 m당 개입 횟수는 실물 운용에서 의미가 분명하다. travplan의 TP-0038(100 m당 실패 지표)과 같은 방향이고, 이쪽이 먼저 숫자를 냈다.</a:t>
            </a:r>
          </a:p>
        </p:txBody>
      </p:sp>
      <p:sp>
        <p:nvSpPr>
          <p:cNvPr id="6" name="TextBox 5"/>
          <p:cNvSpPr txBox="1"/>
          <p:nvPr/>
        </p:nvSpPr>
        <p:spPr>
          <a:xfrm>
            <a:off x="609600" y="2199481"/>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다만 입력이 다르다. MIMIC은 어안 RGB로 배우고 높이를 명시하지 않는다. 연석 높이나 포트홀 깊이를 비용으로 다루지 않으므로, travplan의 2.5D 표현을 대체하지 않는다. 겹치는 곳은 표현이 아니라 </a:t>
            </a:r>
            <a:r>
              <a:rPr sz="1050" b="1" i="0">
                <a:solidFill>
                  <a:srgbClr val="16213A"/>
                </a:solidFill>
                <a:latin typeface="Arial"/>
                <a:ea typeface="Malgun Gothic"/>
                <a:cs typeface="Malgun Gothic"/>
              </a:rPr>
              <a:t>학습 방법과 평가</a:t>
            </a:r>
            <a:r>
              <a:rPr sz="1050" b="0" i="0">
                <a:solidFill>
                  <a:srgbClr val="16213A"/>
                </a:solidFill>
                <a:latin typeface="Arial"/>
                <a:ea typeface="Malgun Gothic"/>
                <a:cs typeface="Malgun Gothic"/>
              </a:rPr>
              <a:t>다.</a:t>
            </a:r>
          </a:p>
        </p:txBody>
      </p:sp>
      <p:sp>
        <p:nvSpPr>
          <p:cNvPr id="7" name="TextBox 6"/>
          <p:cNvSpPr txBox="1"/>
          <p:nvPr/>
        </p:nvSpPr>
        <p:spPr>
          <a:xfrm>
            <a:off x="717550" y="2721372"/>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S2E: 영상으로 사전학습한 내비 모델에 RL 잔차 attention을 더한다</a:t>
            </a:r>
          </a:p>
        </p:txBody>
      </p:sp>
      <p:sp>
        <p:nvSpPr>
          <p:cNvPr id="8" name="TextBox 7"/>
          <p:cNvSpPr txBox="1"/>
          <p:nvPr/>
        </p:nvSpPr>
        <p:spPr>
          <a:xfrm>
            <a:off x="609600" y="3024584"/>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S2E</a:t>
            </a:r>
            <a:r>
              <a:rPr sz="1050" b="0" i="0">
                <a:solidFill>
                  <a:srgbClr val="16213A"/>
                </a:solidFill>
                <a:latin typeface="Arial"/>
                <a:ea typeface="Malgun Gothic"/>
                <a:cs typeface="Malgun Gothic"/>
              </a:rPr>
              <a:t>("From Seeing to Experiencing", </a:t>
            </a:r>
            <a:r>
              <a:rPr sz="1050" b="0" i="0">
                <a:solidFill>
                  <a:srgbClr val="1D4ED8"/>
                </a:solidFill>
                <a:latin typeface="Arial"/>
                <a:ea typeface="Malgun Gothic"/>
                <a:cs typeface="Malgun Gothic"/>
                <a:hlinkClick r:id="rId3"/>
              </a:rPr>
              <a:t>arXiv:2507.22028</a:t>
            </a:r>
            <a:r>
              <a:rPr sz="1050" b="0" i="0">
                <a:solidFill>
                  <a:srgbClr val="16213A"/>
                </a:solidFill>
                <a:latin typeface="Arial"/>
                <a:ea typeface="Malgun Gothic"/>
                <a:cs typeface="Malgun Gothic"/>
              </a:rPr>
              <a:t>, ICLR 2026(저자 저장소 표기), UCLA(He·Ma·Wu·Zhou)·Coco Robotics(Squicciarini), </a:t>
            </a:r>
            <a:r>
              <a:rPr sz="1050" b="0" i="0">
                <a:solidFill>
                  <a:srgbClr val="1D4ED8"/>
                </a:solidFill>
                <a:latin typeface="Arial"/>
                <a:ea typeface="Malgun Gothic"/>
                <a:cs typeface="Malgun Gothic"/>
                <a:hlinkClick r:id="rId4"/>
              </a:rPr>
              <a:t>프로젝트</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5"/>
              </a:rPr>
              <a:t>코드</a:t>
            </a:r>
            <a:r>
              <a:rPr sz="1050" b="0" i="0">
                <a:solidFill>
                  <a:srgbClr val="16213A"/>
                </a:solidFill>
                <a:latin typeface="Arial"/>
                <a:ea typeface="Malgun Gothic"/>
                <a:cs typeface="Malgun Gothic"/>
              </a:rPr>
              <a:t>)는 MIMIC과 같은 연구진이 영상 사전학습과 시뮬 RL을 잇는 방법이다. 수치는 v2(2026-06-10) 기준이다. v1과는 자료 규모와 결과가 다르다. 약 100시간 자료로 학습했고, 3DGS로 재구성한 실제 장면 벤치마크(NavBench-GS)의 장애물과 보행자 장면에서 성공률 0.51을 냈다. 2,000시간으로 학습한 CityWalker는 0.37이다.</a:t>
            </a:r>
          </a:p>
        </p:txBody>
      </p:sp>
      <p:sp>
        <p:nvSpPr>
          <p:cNvPr id="9" name="TextBox 8"/>
          <p:cNvSpPr txBox="1"/>
          <p:nvPr/>
        </p:nvSpPr>
        <p:spPr>
          <a:xfrm>
            <a:off x="609600" y="3762970"/>
            <a:ext cx="10972800" cy="1082477"/>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입력은 RGB 몇 프레임과 목표점이다. 행동은 </a:t>
            </a:r>
            <a:r>
              <a:rPr sz="1050" b="1" i="0">
                <a:solidFill>
                  <a:srgbClr val="16213A"/>
                </a:solidFill>
                <a:latin typeface="Arial"/>
                <a:ea typeface="Malgun Gothic"/>
                <a:cs typeface="Malgun Gothic"/>
              </a:rPr>
              <a:t>앵커 유도 분포 정합</a:t>
            </a:r>
            <a:r>
              <a:rPr sz="1050" b="0" i="0">
                <a:solidFill>
                  <a:srgbClr val="16213A"/>
                </a:solidFill>
                <a:latin typeface="Arial"/>
                <a:ea typeface="Malgun Gothic"/>
                <a:cs typeface="Malgun Gothic"/>
              </a:rPr>
              <a:t>으로 낸다. 자료 전체에 K-means를 돌려 얻은 앵커가 가우시안 혼합의 모드가 되고, 앵커마다 점수와 속도 배율을 배운다. v2의 앵커 수는 확인하지 못했다(v1은 로봇 앞쪽에 고르게 둔 8개였다). 사전학습 자료는 SCAND, X-Mobility, COMPASS, MBRA 등이다. RL은 PPO이고 시뮬 환경은 URBAN-SIM과 Vid2Sim에서 가져왔다. v1 기준으로는 EfficientNet-B0와 4층 transformer(약 89.4M), 256개 환경, L40S 한 장 약 15시간이다. RL이 사전학습 지식을 덮지 않도록 </a:t>
            </a:r>
            <a:r>
              <a:rPr sz="1050" b="1" i="0">
                <a:solidFill>
                  <a:srgbClr val="16213A"/>
                </a:solidFill>
                <a:latin typeface="Arial"/>
                <a:ea typeface="Malgun Gothic"/>
                <a:cs typeface="Malgun Gothic"/>
              </a:rPr>
              <a:t>잔차 attention 모듈(RAM)</a:t>
            </a:r>
            <a:r>
              <a:rPr sz="1050" b="0" i="0">
                <a:solidFill>
                  <a:srgbClr val="16213A"/>
                </a:solidFill>
                <a:latin typeface="Arial"/>
                <a:ea typeface="Malgun Gothic"/>
                <a:cs typeface="Malgun Gothic"/>
              </a:rPr>
              <a:t>을 둔다. 사전학습한 cross-attention 블록은 얼리고, 그 복사본을 0으로 초기화한 선형층 둘로 감싸 이 경로만 학습한다. 실물 성공률은 바퀴 로봇 0.51(CityWalker 0.28, 모방만 한 S2E-BC 0.32), Go2 0.55(CityWalker 0.31, S2E-BC 0.34)다. 빈 장면의 시뮬 성공률은 0.82(CityWalker 0.66)다.</a:t>
            </a:r>
          </a:p>
        </p:txBody>
      </p:sp>
      <p:sp>
        <p:nvSpPr>
          <p:cNvPr id="10" name="TextBox 9"/>
          <p:cNvSpPr txBox="1"/>
          <p:nvPr/>
        </p:nvSpPr>
        <p:spPr>
          <a:xfrm>
            <a:off x="609600" y="4934347"/>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것.</a:t>
            </a:r>
            <a:r>
              <a:rPr sz="1050" b="0" i="0">
                <a:solidFill>
                  <a:srgbClr val="16213A"/>
                </a:solidFill>
                <a:latin typeface="Arial"/>
                <a:ea typeface="Malgun Gothic"/>
                <a:cs typeface="Malgun Gothic"/>
              </a:rPr>
              <a:t> RAM은 RL 후학습이 모방 지식을 지우지 않게 하는 구조적 방법이다. TP-0138의 2단계는 curb_ramp 레벨 3 지형만으로 학습했고, 벤치마크가 24/24에서 22/24로 떨어졌다. travplan은 지금 모방 손실을 섞어(λ = 0.5) 이 위험을 막는다. 0으로 초기화한 잔차 경로만 RL로 학습하면, 학습을 시작할 때의 출력이 모방 정책과 정확히 같다. 그래서 학습 뒤 레벨 0 성적이 바뀌면 그 차이는 모두 잔차가 만든 것이다. 레벨 0 스모크 게이트는 학습을 마친 뒤에야 의미가 있다. 앵커 GMM은 DiffusionDrive와 MIMIC의 앵커와 같은 계열이다.</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Foundation·VLA·언어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B.6d 보도 자율주행을 시연 로그로 배운다: MIMIC</a:t>
            </a:r>
            <a:r>
              <a:rPr sz="1050" b="0" i="0">
                <a:solidFill>
                  <a:srgbClr val="5A6478"/>
                </a:solidFill>
                <a:latin typeface="Arial"/>
                <a:ea typeface="Malgun Gothic"/>
                <a:cs typeface="Malgun Gothic"/>
              </a:rPr>
              <a:t>  2/4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93 / 516</a:t>
            </a:r>
          </a:p>
        </p:txBody>
      </p:sp>
      <p:pic>
        <p:nvPicPr>
          <p:cNvPr id="5" name="Picture 4" descr="image.jpg"/>
          <p:cNvPicPr>
            <a:picLocks noChangeAspect="1"/>
          </p:cNvPicPr>
          <p:nvPr/>
        </p:nvPicPr>
        <p:blipFill>
          <a:blip r:embed="rId3"/>
          <a:stretch>
            <a:fillRect/>
          </a:stretch>
        </p:blipFill>
        <p:spPr>
          <a:xfrm>
            <a:off x="1016000" y="1244600"/>
            <a:ext cx="10160000" cy="3778250"/>
          </a:xfrm>
          <a:prstGeom prst="rect">
            <a:avLst/>
          </a:prstGeom>
        </p:spPr>
      </p:pic>
      <p:sp>
        <p:nvSpPr>
          <p:cNvPr id="6" name="TextBox 5"/>
          <p:cNvSpPr txBox="1"/>
          <p:nvPr/>
        </p:nvSpPr>
        <p:spPr>
          <a:xfrm>
            <a:off x="1016000" y="5060950"/>
            <a:ext cx="10160000" cy="142180"/>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S2E (Fig. 3): 앵커 query와 잔차 attention 블록, 그리고 사전학습과 RL 단계에서 각각 학습하는 부분. 출처: arXiv:2507.22028</a:t>
            </a:r>
          </a:p>
        </p:txBody>
      </p:sp>
      <p:sp>
        <p:nvSpPr>
          <p:cNvPr id="7" name="TextBox 6"/>
          <p:cNvSpPr txBox="1"/>
          <p:nvPr/>
        </p:nvSpPr>
        <p:spPr>
          <a:xfrm>
            <a:off x="717550" y="5292030"/>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Slow Brain, Fast Planner: 늦게 오는 VLM 답을 Planner 점수에 섞는다</a:t>
            </a:r>
          </a:p>
        </p:txBody>
      </p:sp>
      <p:sp>
        <p:nvSpPr>
          <p:cNvPr id="8" name="TextBox 7"/>
          <p:cNvSpPr txBox="1"/>
          <p:nvPr/>
        </p:nvSpPr>
        <p:spPr>
          <a:xfrm>
            <a:off x="609600" y="5595243"/>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Slow Brain, Fast Planner</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4"/>
              </a:rPr>
              <a:t>arXiv:2606.20458</a:t>
            </a:r>
            <a:r>
              <a:rPr sz="1050" b="0" i="0">
                <a:solidFill>
                  <a:srgbClr val="16213A"/>
                </a:solidFill>
                <a:latin typeface="Arial"/>
                <a:ea typeface="Malgun Gothic"/>
                <a:cs typeface="Malgun Gothic"/>
              </a:rPr>
              <a:t>, 2026-06, Amazon FAR·UCLA)는 배달로봇의 빠른 학습 Planner가 후보를 내고, 클라우드 VLM이 몇 초 늦게 그중 하나를 고르는 구조다. 늦은 답을 그대로 따르면 실물 개입이 100 m당 3.49회에서 8.15회로 늘었다. 점수에 섞으면 0.87회로 줄었다. 코드 공개는 확인하지 못했다.</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Foundation·VLA·언어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B.6d 보도 자율주행을 시연 로그로 배운다: MIMIC</a:t>
            </a:r>
            <a:r>
              <a:rPr sz="1050" b="0" i="0">
                <a:solidFill>
                  <a:srgbClr val="5A6478"/>
                </a:solidFill>
                <a:latin typeface="Arial"/>
                <a:ea typeface="Malgun Gothic"/>
                <a:cs typeface="Malgun Gothic"/>
              </a:rPr>
              <a:t>  3/4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94 / 516</a:t>
            </a:r>
          </a:p>
        </p:txBody>
      </p:sp>
      <p:sp>
        <p:nvSpPr>
          <p:cNvPr id="5" name="TextBox 4"/>
          <p:cNvSpPr txBox="1"/>
          <p:nvPr/>
        </p:nvSpPr>
        <p:spPr>
          <a:xfrm>
            <a:off x="609600" y="1244600"/>
            <a:ext cx="10972800" cy="1082477"/>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Planner는 S2E 계열의 앵커 Planner다. RGB 5프레임과 목표를 받아 앵커 query 64개마다 점수, 4초 20 waypoint 폴리라인, 속도 배율을 5 Hz로 낸다. 점수 상위 18개를 영상 위에 그려 VLM(실물은 Gemini 2.5 Flash Lite, 4G 클라우드)에 보낸다. 질의는 1 Hz로 응답을 기다리지 않고 흘려보낸다. 실측 왕복 지연은 중앙값 2.7초다. 늦게 온 VLM 궤적은 움직임을 보정해 현재 좌표로 옮기고, 지평을 아는 유사도로 지금 후보와 맞춘다. Score Fusion은 이 유사도를 Planner 점수에 더한다. Probability Fusion은 두 softmax를 오래된 정도에 따라 섞는다. 오래된 정도의 가중은 지수 감쇠(시상수 5초)이고, 5초가 넘으면 보수적 폴백으로 간다. waypoint는 pure pursuit가 추종한다. 실물은 4륜 차동 배달로봇이 캠퍼스 보도 5경로를 달렸다. 100 m당 개입은 Planner만 3.49, Score Fusion 1.31, Probability Fusion 0.87회다. 시뮬에서 Score Fusion은 VLM 지연 5초까지 성공률 80% 이상을 지켰다. 그대로 따르기(Hold)는 4초에서 0에 가까워졌다.</a:t>
            </a:r>
          </a:p>
        </p:txBody>
      </p:sp>
      <p:sp>
        <p:nvSpPr>
          <p:cNvPr id="6" name="TextBox 5"/>
          <p:cNvSpPr txBox="1"/>
          <p:nvPr/>
        </p:nvSpPr>
        <p:spPr>
          <a:xfrm>
            <a:off x="609600" y="2415977"/>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것.</a:t>
            </a:r>
            <a:r>
              <a:rPr sz="1050" b="0" i="0">
                <a:solidFill>
                  <a:srgbClr val="16213A"/>
                </a:solidFill>
                <a:latin typeface="Arial"/>
                <a:ea typeface="Malgun Gothic"/>
                <a:cs typeface="Malgun Gothic"/>
              </a:rPr>
              <a:t> 구조가 </a:t>
            </a:r>
            <a:r>
              <a:rPr sz="1050" b="0" i="0">
                <a:solidFill>
                  <a:srgbClr val="16213A"/>
                </a:solidFill>
                <a:latin typeface="Consolas"/>
                <a:ea typeface="Malgun Gothic"/>
                <a:cs typeface="Malgun Gothic"/>
              </a:rPr>
              <a:t>planner_df</a:t>
            </a:r>
            <a:r>
              <a:rPr sz="1050" b="0" i="0">
                <a:solidFill>
                  <a:srgbClr val="16213A"/>
                </a:solidFill>
                <a:latin typeface="Arial"/>
                <a:ea typeface="Malgun Gothic"/>
                <a:cs typeface="Malgun Gothic"/>
              </a:rPr>
              <a:t>와 같다. 빠른 학습 Planner가 후보를 내고, 느린 판정자가 고르고, 폴백이 있다. 다른 것은 판정자의 일이다. 여기서는 안전이 아니라 의미(교차로에서 어느 길로)를 판정한다. 가져올 것은 늦은 신호를 다루는 규칙이다. 늦은 판정을 현재 좌표로 옮기고, 오래된 정도로 가중하고, 시간 한계를 넘으면 폴백한다. 위 B.6b 결론대로 VLM을 Planner 위층에 붙일 때 그대로 쓴다. 100 m당 개입 지표는 TP-0038(100 m당 실패)과 같은 방향이다.</a:t>
            </a:r>
          </a:p>
        </p:txBody>
      </p:sp>
      <p:pic>
        <p:nvPicPr>
          <p:cNvPr id="7" name="Picture 6" descr="image.jpg"/>
          <p:cNvPicPr>
            <a:picLocks noChangeAspect="1"/>
          </p:cNvPicPr>
          <p:nvPr/>
        </p:nvPicPr>
        <p:blipFill>
          <a:blip r:embed="rId3"/>
          <a:stretch>
            <a:fillRect/>
          </a:stretch>
        </p:blipFill>
        <p:spPr>
          <a:xfrm>
            <a:off x="609600" y="3154362"/>
            <a:ext cx="2851150" cy="2667000"/>
          </a:xfrm>
          <a:prstGeom prst="rect">
            <a:avLst/>
          </a:prstGeom>
        </p:spPr>
      </p:pic>
      <p:sp>
        <p:nvSpPr>
          <p:cNvPr id="8" name="TextBox 7"/>
          <p:cNvSpPr txBox="1"/>
          <p:nvPr/>
        </p:nvSpPr>
        <p:spPr>
          <a:xfrm>
            <a:off x="609600" y="5859462"/>
            <a:ext cx="54102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Slow Brain, Fast Planner (Fig. 1): 빠른 Planner가 동역학적으로 가능한 후보를 만들고, 느린 VLM이 그중 하나를 고른다. 출처: arXiv:2606.20458</a:t>
            </a:r>
          </a:p>
        </p:txBody>
      </p:sp>
      <p:pic>
        <p:nvPicPr>
          <p:cNvPr id="9" name="Picture 8" descr="image.jpg"/>
          <p:cNvPicPr>
            <a:picLocks noChangeAspect="1"/>
          </p:cNvPicPr>
          <p:nvPr/>
        </p:nvPicPr>
        <p:blipFill>
          <a:blip r:embed="rId4"/>
          <a:stretch>
            <a:fillRect/>
          </a:stretch>
        </p:blipFill>
        <p:spPr>
          <a:xfrm>
            <a:off x="6172200" y="3154362"/>
            <a:ext cx="5410200" cy="1568450"/>
          </a:xfrm>
          <a:prstGeom prst="rect">
            <a:avLst/>
          </a:prstGeom>
        </p:spPr>
      </p:pic>
      <p:sp>
        <p:nvSpPr>
          <p:cNvPr id="10" name="TextBox 9"/>
          <p:cNvSpPr txBox="1"/>
          <p:nvPr/>
        </p:nvSpPr>
        <p:spPr>
          <a:xfrm>
            <a:off x="6172200" y="4760912"/>
            <a:ext cx="54102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Slow Brain, Fast Planner (Fig. 3): 지연된 VLM 궤적을 움직임 보정으로 현재 좌표에 옮긴 뒤, 지평을 아는 유사도로 지금 후보와 맞춘다. 출처: arXiv:2606.20458</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Foundation·VLA·언어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B.6d 보도 자율주행을 시연 로그로 배운다: MIMIC</a:t>
            </a:r>
            <a:r>
              <a:rPr sz="1050" b="0" i="0">
                <a:solidFill>
                  <a:srgbClr val="5A6478"/>
                </a:solidFill>
                <a:latin typeface="Arial"/>
                <a:ea typeface="Malgun Gothic"/>
                <a:cs typeface="Malgun Gothic"/>
              </a:rPr>
              <a:t>  4/4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95 / 516</a:t>
            </a:r>
          </a:p>
        </p:txBody>
      </p:sp>
      <p:sp>
        <p:nvSpPr>
          <p:cNvPr id="5" name="TextBox 4"/>
          <p:cNvSpPr txBox="1"/>
          <p:nvPr/>
        </p:nvSpPr>
        <p:spPr>
          <a:xfrm>
            <a:off x="717550" y="1244600"/>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LogoNav (MBRA): 질 낮은 보도 원격조종 로그의 행동을 모델로 다시 매긴다</a:t>
            </a:r>
          </a:p>
        </p:txBody>
      </p:sp>
      <p:sp>
        <p:nvSpPr>
          <p:cNvPr id="6" name="TextBox 5"/>
          <p:cNvSpPr txBox="1"/>
          <p:nvPr/>
        </p:nvSpPr>
        <p:spPr>
          <a:xfrm>
            <a:off x="609600" y="1547812"/>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LogoNav</a:t>
            </a:r>
            <a:r>
              <a:rPr sz="1050" b="0" i="0">
                <a:solidFill>
                  <a:srgbClr val="16213A"/>
                </a:solidFill>
                <a:latin typeface="Arial"/>
                <a:ea typeface="Malgun Gothic"/>
                <a:cs typeface="Malgun Gothic"/>
              </a:rPr>
              <a:t>("Learning to Drive Anywhere with Model-Based Reannotation", </a:t>
            </a:r>
            <a:r>
              <a:rPr sz="1050" b="0" i="0">
                <a:solidFill>
                  <a:srgbClr val="1D4ED8"/>
                </a:solidFill>
                <a:latin typeface="Arial"/>
                <a:ea typeface="Malgun Gothic"/>
                <a:cs typeface="Malgun Gothic"/>
                <a:hlinkClick r:id="rId3"/>
              </a:rPr>
              <a:t>arXiv:2505.05592</a:t>
            </a:r>
            <a:r>
              <a:rPr sz="1050" b="0" i="0">
                <a:solidFill>
                  <a:srgbClr val="16213A"/>
                </a:solidFill>
                <a:latin typeface="Arial"/>
                <a:ea typeface="Malgun Gothic"/>
                <a:cs typeface="Malgun Gothic"/>
              </a:rPr>
              <a:t>, RA-L 2025, Hirose·Levine·Shah 등)는 크라우드소싱 원격조종 자료와 영상처럼 수동으로 모은 자료의 행동을, 짧은 지평의 학습 모델 전문가(MBRA)로 다시 매기거나 새로 만든다. 그렇게 고친 자료로 영상 목표나 GPS waypoint를 조건으로 받는 장거리 정책 LogoNav를 학습했다. 보지 않은 실내외 환경에서 300 m 넘게 갔고, 사족 로봇을 포함한 로봇 여러 대로 3개 대륙 6개 도시에서 평가했다.</a:t>
            </a:r>
          </a:p>
        </p:txBody>
      </p:sp>
      <p:sp>
        <p:nvSpPr>
          <p:cNvPr id="7" name="TextBox 6"/>
          <p:cNvSpPr txBox="1"/>
          <p:nvPr/>
        </p:nvSpPr>
        <p:spPr>
          <a:xfrm>
            <a:off x="609600" y="2286198"/>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것.</a:t>
            </a:r>
            <a:r>
              <a:rPr sz="1050" b="0" i="0">
                <a:solidFill>
                  <a:srgbClr val="16213A"/>
                </a:solidFill>
                <a:latin typeface="Arial"/>
                <a:ea typeface="Malgun Gothic"/>
                <a:cs typeface="Malgun Gothic"/>
              </a:rPr>
              <a:t> MIMIC과 같은 질문(실물 로그를 어떻게 시연으로 쓰나)에 다른 답을 냈다. MIMIC은 이탈 상태를 기하로 합성하고, LogoNav는 행동 라벨을 모델로 고친다. travplan이 실물 배달 로그를 Planner D 학습에 쓸 때는 사람 조종의 흔들림이 그대로 시연이 된다. 그 로그의 행동을 Guidance + MPPI 같은 모델 전문가로 다시 매기는 것이 같은 처방이다. 코드 공개는 확인하지 못했다.</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F59E5B"/>
                </a:solidFill>
                <a:latin typeface="Consolas"/>
                <a:ea typeface="Malgun Gothic"/>
                <a:cs typeface="Malgun Gothic"/>
              </a:rPr>
              <a:t>Planner · 탭</a:t>
            </a:r>
          </a:p>
        </p:txBody>
      </p:sp>
      <p:sp>
        <p:nvSpPr>
          <p:cNvPr id="3" name="TextBox 2"/>
          <p:cNvSpPr txBox="1"/>
          <p:nvPr/>
        </p:nvSpPr>
        <p:spPr>
          <a:xfrm>
            <a:off x="609600" y="609600"/>
            <a:ext cx="10972800" cy="381000"/>
          </a:xfrm>
          <a:prstGeom prst="rect">
            <a:avLst/>
          </a:prstGeom>
          <a:noFill/>
        </p:spPr>
        <p:txBody>
          <a:bodyPr wrap="square" lIns="0" rIns="0" tIns="0" bIns="0" anchor="t">
            <a:spAutoFit/>
            <a:normAutofit/>
          </a:bodyPr>
          <a:lstStyle/>
          <a:p>
            <a:r>
              <a:rPr sz="2650" b="1" i="0">
                <a:solidFill>
                  <a:srgbClr val="F4F1EA"/>
                </a:solidFill>
                <a:latin typeface="Arial"/>
                <a:ea typeface="Malgun Gothic"/>
                <a:cs typeface="Malgun Gothic"/>
              </a:rPr>
              <a:t>위험 인지·로컬 내비</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9AA6BC"/>
                </a:solidFill>
                <a:latin typeface="Arial"/>
                <a:ea typeface="Malgun Gothic"/>
                <a:cs typeface="Malgun Gothic"/>
              </a:rPr>
              <a:t>travplan 리서치 · Planner (docs/research-planner.md)    96 / 516</a:t>
            </a:r>
          </a:p>
        </p:txBody>
      </p:sp>
      <p:sp>
        <p:nvSpPr>
          <p:cNvPr id="5" name="TextBox 4"/>
          <p:cNvSpPr txBox="1"/>
          <p:nvPr/>
        </p:nvSpPr>
        <p:spPr>
          <a:xfrm>
            <a:off x="609600" y="1244600"/>
            <a:ext cx="5283200" cy="5080000"/>
          </a:xfrm>
          <a:prstGeom prst="rect">
            <a:avLst/>
          </a:prstGeom>
          <a:noFill/>
        </p:spPr>
        <p:txBody>
          <a:bodyPr wrap="square" lIns="0" rIns="0" tIns="0" bIns="0" anchor="t">
            <a:spAutoFit/>
            <a:normAutofit/>
          </a:bodyPr>
          <a:lstStyle/>
          <a:p>
            <a:pPr>
              <a:spcAft>
                <a:spcPts val="400"/>
              </a:spcAft>
            </a:pPr>
            <a:r>
              <a:rPr sz="1000" b="0" i="0">
                <a:solidFill>
                  <a:srgbClr val="C9D1E0"/>
                </a:solidFill>
                <a:latin typeface="Arial"/>
                <a:ea typeface="Malgun Gothic"/>
                <a:cs typeface="Malgun Gothic"/>
              </a:rPr>
              <a:t>B.9 위험 인지 경로 계획과 로컬 내비게이션</a:t>
            </a:r>
          </a:p>
        </p:txBody>
      </p:sp>
      <p:sp>
        <p:nvSpPr>
          <p:cNvPr id="6" name="TextBox 5"/>
          <p:cNvSpPr txBox="1"/>
          <p:nvPr/>
        </p:nvSpPr>
        <p:spPr>
          <a:xfrm>
            <a:off x="6299200" y="1244600"/>
            <a:ext cx="5283200" cy="5080000"/>
          </a:xfrm>
          <a:prstGeom prst="rect">
            <a:avLst/>
          </a:prstGeom>
          <a:noFill/>
        </p:spPr>
        <p:txBody>
          <a:bodyPr wrap="square" lIns="0" rIns="0" tIns="0" bIns="0" anchor="t">
            <a:spAutoFit/>
            <a:normAutofit/>
          </a:bodyPr>
          <a:lstStyle/>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위험 인지·로컬 내비</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B.9 위험 인지 경로 계획과 로컬 내비게이션</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97 / 516</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이 절은 학습 Planner를 키울 때 </a:t>
            </a:r>
            <a:r>
              <a:rPr sz="1050" b="1" i="0">
                <a:solidFill>
                  <a:srgbClr val="16213A"/>
                </a:solidFill>
                <a:latin typeface="Arial"/>
                <a:ea typeface="Malgun Gothic"/>
                <a:cs typeface="Malgun Gothic"/>
              </a:rPr>
              <a:t>비교 기준으로 삼거나 기법을 빌려 올</a:t>
            </a:r>
            <a:r>
              <a:rPr sz="1050" b="0" i="0">
                <a:solidFill>
                  <a:srgbClr val="16213A"/>
                </a:solidFill>
                <a:latin typeface="Arial"/>
                <a:ea typeface="Malgun Gothic"/>
                <a:cs typeface="Malgun Gothic"/>
              </a:rPr>
              <a:t> 연구를 모았다. 층위가 서로 다르므로 먼저 위치를 잡는다.</a:t>
            </a:r>
          </a:p>
        </p:txBody>
      </p:sp>
      <p:sp>
        <p:nvSpPr>
          <p:cNvPr id="6" name="TextBox 5"/>
          <p:cNvSpPr txBox="1"/>
          <p:nvPr/>
        </p:nvSpPr>
        <p:spPr>
          <a:xfrm>
            <a:off x="609600" y="1549995"/>
            <a:ext cx="10972800" cy="1355725"/>
          </a:xfrm>
          <a:prstGeom prst="rect">
            <a:avLst/>
          </a:prstGeom>
          <a:solidFill>
            <a:srgbClr val="16213A"/>
          </a:solidFill>
        </p:spPr>
        <p:txBody>
          <a:bodyPr wrap="square" lIns="114300" rIns="114300" tIns="88900" bIns="88900" anchor="t">
            <a:spAutoFit/>
            <a:normAutofit/>
          </a:bodyPr>
          <a:lstStyle/>
          <a:p>
            <a:r>
              <a:rPr sz="750" b="0" i="0">
                <a:solidFill>
                  <a:srgbClr val="F4F1EA"/>
                </a:solidFill>
                <a:latin typeface="Consolas"/>
                <a:ea typeface="Malgun Gothic"/>
                <a:cs typeface="Malgun Gothic"/>
              </a:rPr>
              <a:t>전역 경로 (비학습 기준선)                      로컬 궤적 (학습, 개발 대상)</a:t>
            </a:r>
          </a:p>
          <a:p>
            <a:r>
              <a:rPr sz="750" b="0" i="0">
                <a:solidFill>
                  <a:srgbClr val="F4F1EA"/>
                </a:solidFill>
                <a:latin typeface="Consolas"/>
                <a:ea typeface="Malgun Gothic"/>
                <a:cs typeface="Malgun Gothic"/>
              </a:rPr>
              <a:t>GuidancePlanner(Dijkstra) ── 비교 ──▶ TRG-planner     Planner D(flow matching) ── 참고 ──▶ DreamFlow (관측 밖 상상)</a:t>
            </a:r>
          </a:p>
          <a:p>
            <a:r>
              <a:rPr sz="750" b="0" i="0">
                <a:solidFill>
                  <a:srgbClr val="F4F1EA"/>
                </a:solidFill>
                <a:latin typeface="Consolas"/>
                <a:ea typeface="Malgun Gothic"/>
                <a:cs typeface="Malgun Gothic"/>
              </a:rPr>
              <a:t>                                      (위험 가중 그래프)                            ├──▶ NMoMa (primitive에서 시작)</a:t>
            </a:r>
          </a:p>
          <a:p>
            <a:r>
              <a:rPr sz="750" b="0" i="0">
                <a:solidFill>
                  <a:srgbClr val="F4F1EA"/>
                </a:solidFill>
                <a:latin typeface="Consolas"/>
                <a:ea typeface="Malgun Gothic"/>
                <a:cs typeface="Malgun Gothic"/>
              </a:rPr>
              <a:t>                                                                                    ├──▶ Path-conditioned RL (틀린 경로에 강건)</a:t>
            </a:r>
          </a:p>
          <a:p>
            <a:r>
              <a:rPr sz="750" b="0" i="0">
                <a:solidFill>
                  <a:srgbClr val="F4F1EA"/>
                </a:solidFill>
                <a:latin typeface="Consolas"/>
                <a:ea typeface="Malgun Gothic"/>
                <a:cs typeface="Malgun Gothic"/>
              </a:rPr>
              <a:t>                                                                                    └──▶ 행성 로버 AO-RRT + SCP (CVaR 위험)</a:t>
            </a:r>
          </a:p>
          <a:p>
            <a:r>
              <a:rPr sz="750" b="0" i="0">
                <a:solidFill>
                  <a:srgbClr val="F4F1EA"/>
                </a:solidFill>
                <a:latin typeface="Consolas"/>
                <a:ea typeface="Malgun Gothic"/>
                <a:cs typeface="Malgun Gothic"/>
              </a:rPr>
              <a:t>Planner/Controller 분리 전체의 참고: RoM-Nav (축소 모델 → 고정 보행 제어기 위의 내비 정책)</a:t>
            </a:r>
          </a:p>
          <a:p>
            <a:r>
              <a:rPr sz="750" b="0" i="0">
                <a:solidFill>
                  <a:srgbClr val="F4F1EA"/>
                </a:solidFill>
                <a:latin typeface="Consolas"/>
                <a:ea typeface="Malgun Gothic"/>
                <a:cs typeface="Malgun Gothic"/>
              </a:rPr>
              <a:t>                                     ViNL (따로 학습한 내비·보행 정책을 속도 명령으로 연결)</a:t>
            </a:r>
          </a:p>
          <a:p>
            <a:r>
              <a:rPr sz="750" b="0" i="0">
                <a:solidFill>
                  <a:srgbClr val="F4F1EA"/>
                </a:solidFill>
                <a:latin typeface="Consolas"/>
                <a:ea typeface="Malgun Gothic"/>
                <a:cs typeface="Malgun Gothic"/>
              </a:rPr>
              <a:t>                                     ABS (빠른 정책 + 학습한 도달-회피 가치 감시 + 회복 정책)</a:t>
            </a:r>
          </a:p>
        </p:txBody>
      </p:sp>
      <p:sp>
        <p:nvSpPr>
          <p:cNvPr id="7" name="TextBox 6"/>
          <p:cNvSpPr txBox="1"/>
          <p:nvPr/>
        </p:nvSpPr>
        <p:spPr>
          <a:xfrm>
            <a:off x="609600" y="2994620"/>
            <a:ext cx="10972800" cy="1298972"/>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TRG-planner — 지형 위험을 가중한 그래프 위의 전역 경로</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arXiv:2501.01806</a:t>
            </a:r>
            <a:r>
              <a:rPr sz="1050" b="0" i="0">
                <a:solidFill>
                  <a:srgbClr val="16213A"/>
                </a:solidFill>
                <a:latin typeface="Arial"/>
                <a:ea typeface="Malgun Gothic"/>
                <a:cs typeface="Malgun Gothic"/>
              </a:rPr>
              <a:t>, RA-L 2025, IROS 2025 oral, KAIST Urban Robotics Lab, </a:t>
            </a:r>
            <a:r>
              <a:rPr sz="1050" b="0" i="0">
                <a:solidFill>
                  <a:srgbClr val="1D4ED8"/>
                </a:solidFill>
                <a:latin typeface="Arial"/>
                <a:ea typeface="Malgun Gothic"/>
                <a:cs typeface="Malgun Gothic"/>
                <a:hlinkClick r:id="rId4"/>
              </a:rPr>
              <a:t>코드</a:t>
            </a:r>
            <a:r>
              <a:rPr sz="1050" b="0" i="0">
                <a:solidFill>
                  <a:srgbClr val="16213A"/>
                </a:solidFill>
                <a:latin typeface="Arial"/>
                <a:ea typeface="Malgun Gothic"/>
                <a:cs typeface="Malgun Gothic"/>
              </a:rPr>
              <a:t> ★31 — </a:t>
            </a:r>
            <a:r>
              <a:rPr sz="1050" b="1" i="0">
                <a:solidFill>
                  <a:srgbClr val="C2410C"/>
                </a:solidFill>
                <a:latin typeface="Arial"/>
                <a:ea typeface="Malgun Gothic"/>
                <a:cs typeface="Malgun Gothic"/>
              </a:rPr>
              <a:t>⚠️ </a:t>
            </a:r>
            <a:r>
              <a:rPr sz="1050" b="1" i="0">
                <a:solidFill>
                  <a:srgbClr val="C2410C"/>
                </a:solidFill>
                <a:latin typeface="Arial"/>
                <a:ea typeface="Malgun Gothic"/>
                <a:cs typeface="Malgun Gothic"/>
              </a:rPr>
              <a:t>Apache-2.0 + Commons Clause</a:t>
            </a:r>
            <a:r>
              <a:rPr sz="1050" b="1" i="0">
                <a:solidFill>
                  <a:srgbClr val="C2410C"/>
                </a:solidFill>
                <a:latin typeface="Arial"/>
                <a:ea typeface="Malgun Gothic"/>
                <a:cs typeface="Malgun Gothic"/>
              </a:rPr>
              <a:t>로 </a:t>
            </a:r>
            <a:r>
              <a:rPr sz="1050" b="1" i="0">
                <a:solidFill>
                  <a:srgbClr val="C2410C"/>
                </a:solidFill>
                <a:latin typeface="Arial"/>
                <a:ea typeface="Malgun Gothic"/>
                <a:cs typeface="Malgun Gothic"/>
              </a:rPr>
              <a:t>판매가 금지</a:t>
            </a:r>
            <a:r>
              <a:rPr sz="1050" b="1" i="0">
                <a:solidFill>
                  <a:srgbClr val="C2410C"/>
                </a:solidFill>
                <a:latin typeface="Arial"/>
                <a:ea typeface="Malgun Gothic"/>
                <a:cs typeface="Malgun Gothic"/>
              </a:rPr>
              <a:t>된다</a:t>
            </a:r>
            <a:r>
              <a:rPr sz="1050" b="0" i="0">
                <a:solidFill>
                  <a:srgbClr val="16213A"/>
                </a:solidFill>
                <a:latin typeface="Arial"/>
                <a:ea typeface="Malgun Gothic"/>
                <a:cs typeface="Malgun Gothic"/>
              </a:rPr>
              <a:t>(아래 참조)). 노드에는 지형의 안정성과 도달 가능성을, 간선에는 상대적 통과 위험을 담은 </a:t>
            </a:r>
            <a:r>
              <a:rPr sz="1050" b="1" i="0">
                <a:solidFill>
                  <a:srgbClr val="16213A"/>
                </a:solidFill>
                <a:latin typeface="Arial"/>
                <a:ea typeface="Malgun Gothic"/>
                <a:cs typeface="Malgun Gothic"/>
              </a:rPr>
              <a:t>Traversal Risk Graph</a:t>
            </a:r>
            <a:r>
              <a:rPr sz="1050" b="0" i="0">
                <a:solidFill>
                  <a:srgbClr val="16213A"/>
                </a:solidFill>
                <a:latin typeface="Arial"/>
                <a:ea typeface="Malgun Gothic"/>
                <a:cs typeface="Malgun Gothic"/>
              </a:rPr>
              <a:t>를 wavefront 방식으로 넓혀 가며 만들고 계층적으로 관리한다. 그래프 최적화로 안전하면서 짧은 경로를 찾는다. ICRA 2023 Quadruped Robot Challenge 우승 팀의 전역 플래너였다. </a:t>
            </a:r>
            <a:r>
              <a:rPr sz="1050" b="1" i="0">
                <a:solidFill>
                  <a:srgbClr val="C2410C"/>
                </a:solidFill>
                <a:latin typeface="Arial"/>
                <a:ea typeface="Malgun Gothic"/>
                <a:cs typeface="Malgun Gothic"/>
              </a:rPr>
              <a:t>가져올 것은 규모가 아니라 방향 의존성이다</a:t>
            </a:r>
            <a:r>
              <a:rPr sz="1050" b="1" i="0">
                <a:solidFill>
                  <a:srgbClr val="C2410C"/>
                </a:solidFill>
                <a:latin typeface="Arial"/>
                <a:ea typeface="Malgun Gothic"/>
                <a:cs typeface="Malgun Gothic"/>
              </a:rPr>
              <a:t>(2026-10-02 정정).</a:t>
            </a:r>
            <a:r>
              <a:rPr sz="1050" b="0" i="0">
                <a:solidFill>
                  <a:srgbClr val="16213A"/>
                </a:solidFill>
                <a:latin typeface="Arial"/>
                <a:ea typeface="Malgun Gothic"/>
                <a:cs typeface="Malgun Gothic"/>
              </a:rPr>
              <a:t> 처음에는 이것을 travplan </a:t>
            </a:r>
            <a:r>
              <a:rPr sz="1050" b="0" i="0">
                <a:solidFill>
                  <a:srgbClr val="16213A"/>
                </a:solidFill>
                <a:latin typeface="Consolas"/>
                <a:ea typeface="Malgun Gothic"/>
                <a:cs typeface="Malgun Gothic"/>
              </a:rPr>
              <a:t>GuidancePlanner</a:t>
            </a:r>
            <a:r>
              <a:rPr sz="1050" b="0" i="0">
                <a:solidFill>
                  <a:srgbClr val="16213A"/>
                </a:solidFill>
                <a:latin typeface="Arial"/>
                <a:ea typeface="Malgun Gothic"/>
                <a:cs typeface="Malgun Gothic"/>
              </a:rPr>
              <a:t>를 "넓은 환경으로 키울 때의 대안"으로 적었는데, </a:t>
            </a:r>
            <a:r>
              <a:rPr sz="1050" b="1" i="0">
                <a:solidFill>
                  <a:srgbClr val="C2410C"/>
                </a:solidFill>
                <a:latin typeface="Arial"/>
                <a:ea typeface="Malgun Gothic"/>
                <a:cs typeface="Malgun Gothic"/>
              </a:rPr>
              <a:t>논문의 동기는 규모가 아니다.</a:t>
            </a:r>
            <a:r>
              <a:rPr sz="1050" b="0" i="0">
                <a:solidFill>
                  <a:srgbClr val="16213A"/>
                </a:solidFill>
                <a:latin typeface="Arial"/>
                <a:ea typeface="Malgun Gothic"/>
                <a:cs typeface="Malgun Gothic"/>
              </a:rPr>
              <a:t> 저자들이 드는 예는 </a:t>
            </a:r>
            <a:r>
              <a:rPr sz="1050" b="0" i="1">
                <a:solidFill>
                  <a:srgbClr val="16213A"/>
                </a:solidFill>
                <a:latin typeface="Arial"/>
                <a:ea typeface="Malgun Gothic"/>
                <a:cs typeface="Malgun Gothic"/>
              </a:rPr>
              <a:t>경사면을 정면으로 들어가면 안정적이고 옆으로 들어가면 불안정하다</a:t>
            </a:r>
            <a:r>
              <a:rPr sz="1050" b="0" i="0">
                <a:solidFill>
                  <a:srgbClr val="16213A"/>
                </a:solidFill>
                <a:latin typeface="Arial"/>
                <a:ea typeface="Malgun Gothic"/>
                <a:cs typeface="Malgun Gothic"/>
              </a:rPr>
              <a:t>는 것이고, 간선 가중치가 그것을 담는다 — 띠를 PCA로 타원 평면에 맞춰 종·횡 고유벡터를 중력과 내적한 </a:t>
            </a:r>
            <a:r>
              <a:rPr sz="1050" b="0" i="1">
                <a:solidFill>
                  <a:srgbClr val="16213A"/>
                </a:solidFill>
                <a:latin typeface="Arial"/>
                <a:ea typeface="Malgun Gothic"/>
                <a:cs typeface="Malgun Gothic"/>
              </a:rPr>
              <a:t>w_(ij) = γ Rₗₒₙ + (1-γ) Rₗₐₜ</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R_(dir) = -e_(dir) · g</a:t>
            </a:r>
            <a:r>
              <a:rPr sz="1050" b="0" i="0">
                <a:solidFill>
                  <a:srgbClr val="16213A"/>
                </a:solidFill>
                <a:latin typeface="Arial"/>
                <a:ea typeface="Malgun Gothic"/>
                <a:cs typeface="Malgun Gothic"/>
              </a:rPr>
              <a:t>다. </a:t>
            </a:r>
            <a:r>
              <a:rPr sz="1050" b="1" i="0">
                <a:solidFill>
                  <a:srgbClr val="C2410C"/>
                </a:solidFill>
                <a:latin typeface="Arial"/>
                <a:ea typeface="Malgun Gothic"/>
                <a:cs typeface="Malgun Gothic"/>
              </a:rPr>
              <a:t>같은 땅이 </a:t>
            </a:r>
            <a:r>
              <a:rPr sz="1050" b="1" i="0">
                <a:solidFill>
                  <a:srgbClr val="C2410C"/>
                </a:solidFill>
                <a:latin typeface="Arial"/>
                <a:ea typeface="Malgun Gothic"/>
                <a:cs typeface="Malgun Gothic"/>
              </a:rPr>
              <a:t>지나가는 방향에 따라 다른 값</a:t>
            </a:r>
            <a:r>
              <a:rPr sz="1050" b="1" i="0">
                <a:solidFill>
                  <a:srgbClr val="C2410C"/>
                </a:solidFill>
                <a:latin typeface="Arial"/>
                <a:ea typeface="Malgun Gothic"/>
                <a:cs typeface="Malgun Gothic"/>
              </a:rPr>
              <a:t>을 갖는다.</a:t>
            </a:r>
          </a:p>
        </p:txBody>
      </p:sp>
      <p:sp>
        <p:nvSpPr>
          <p:cNvPr id="8" name="TextBox 7"/>
          <p:cNvSpPr txBox="1"/>
          <p:nvPr/>
        </p:nvSpPr>
        <p:spPr>
          <a:xfrm>
            <a:off x="609600" y="4382492"/>
            <a:ext cx="10972800" cy="649486"/>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travplan의 </a:t>
            </a:r>
            <a:r>
              <a:rPr sz="1050" b="0" i="0">
                <a:solidFill>
                  <a:srgbClr val="16213A"/>
                </a:solidFill>
                <a:latin typeface="Consolas"/>
                <a:ea typeface="Malgun Gothic"/>
                <a:cs typeface="Malgun Gothic"/>
              </a:rPr>
              <a:t>GlobalGuidance</a:t>
            </a:r>
            <a:r>
              <a:rPr sz="1050" b="0" i="0">
                <a:solidFill>
                  <a:srgbClr val="16213A"/>
                </a:solidFill>
                <a:latin typeface="Arial"/>
                <a:ea typeface="Malgun Gothic"/>
                <a:cs typeface="Malgun Gothic"/>
              </a:rPr>
              <a:t>는 </a:t>
            </a:r>
            <a:r>
              <a:rPr sz="1050" b="0" i="0">
                <a:solidFill>
                  <a:srgbClr val="16213A"/>
                </a:solidFill>
                <a:latin typeface="Consolas"/>
                <a:ea typeface="Malgun Gothic"/>
                <a:cs typeface="Malgun Gothic"/>
              </a:rPr>
              <a:t>cell_w = 1 + 4·cost + 0.5·σ</a:t>
            </a:r>
            <a:r>
              <a:rPr sz="1050" b="0" i="0">
                <a:solidFill>
                  <a:srgbClr val="16213A"/>
                </a:solidFill>
                <a:latin typeface="Arial"/>
                <a:ea typeface="Malgun Gothic"/>
                <a:cs typeface="Malgun Gothic"/>
              </a:rPr>
              <a:t>라는 </a:t>
            </a:r>
            <a:r>
              <a:rPr sz="1050" b="1" i="0">
                <a:solidFill>
                  <a:srgbClr val="16213A"/>
                </a:solidFill>
                <a:latin typeface="Arial"/>
                <a:ea typeface="Malgun Gothic"/>
                <a:cs typeface="Malgun Gothic"/>
              </a:rPr>
              <a:t>칸당 스칼라</a:t>
            </a:r>
            <a:r>
              <a:rPr sz="1050" b="0" i="0">
                <a:solidFill>
                  <a:srgbClr val="16213A"/>
                </a:solidFill>
                <a:latin typeface="Arial"/>
                <a:ea typeface="Malgun Gothic"/>
                <a:cs typeface="Malgun Gothic"/>
              </a:rPr>
              <a:t>라서 어느 방향으로 지나든 같다. 그런데 </a:t>
            </a:r>
            <a:r>
              <a:rPr sz="1050" b="0" i="0">
                <a:solidFill>
                  <a:srgbClr val="16213A"/>
                </a:solidFill>
                <a:latin typeface="Consolas"/>
                <a:ea typeface="Malgun Gothic"/>
                <a:cs typeface="Malgun Gothic"/>
              </a:rPr>
              <a:t>GRAD_X</a:t>
            </a:r>
            <a:r>
              <a:rPr sz="1050" b="0" i="0">
                <a:solidFill>
                  <a:srgbClr val="16213A"/>
                </a:solidFill>
                <a:latin typeface="Arial"/>
                <a:ea typeface="Malgun Gothic"/>
                <a:cs typeface="Malgun Gothic"/>
              </a:rPr>
              <a:t>/</a:t>
            </a:r>
            <a:r>
              <a:rPr sz="1050" b="0" i="0">
                <a:solidFill>
                  <a:srgbClr val="16213A"/>
                </a:solidFill>
                <a:latin typeface="Consolas"/>
                <a:ea typeface="Malgun Gothic"/>
                <a:cs typeface="Malgun Gothic"/>
              </a:rPr>
              <a:t>GRAD_Y</a:t>
            </a:r>
            <a:r>
              <a:rPr sz="1050" b="0" i="0">
                <a:solidFill>
                  <a:srgbClr val="16213A"/>
                </a:solidFill>
                <a:latin typeface="Arial"/>
                <a:ea typeface="Malgun Gothic"/>
                <a:cs typeface="Malgun Gothic"/>
              </a:rPr>
              <a:t>가 </a:t>
            </a:r>
            <a:r>
              <a:rPr sz="1050" b="0" i="0">
                <a:solidFill>
                  <a:srgbClr val="16213A"/>
                </a:solidFill>
                <a:latin typeface="Consolas"/>
                <a:ea typeface="Malgun Gothic"/>
                <a:cs typeface="Malgun Gothic"/>
              </a:rPr>
              <a:t>TravMap</a:t>
            </a:r>
            <a:r>
              <a:rPr sz="1050" b="0" i="0">
                <a:solidFill>
                  <a:srgbClr val="16213A"/>
                </a:solidFill>
                <a:latin typeface="Arial"/>
                <a:ea typeface="Malgun Gothic"/>
                <a:cs typeface="Malgun Gothic"/>
              </a:rPr>
              <a:t>에 이미 있고 플래너는 한 번도 읽지 않는다. </a:t>
            </a:r>
            <a:r>
              <a:rPr sz="1050" b="0" i="0">
                <a:solidFill>
                  <a:srgbClr val="16213A"/>
                </a:solidFill>
                <a:latin typeface="Consolas"/>
                <a:ea typeface="Malgun Gothic"/>
                <a:cs typeface="Malgun Gothic"/>
              </a:rPr>
              <a:t>compute_features</a:t>
            </a:r>
            <a:r>
              <a:rPr sz="1050" b="0" i="0">
                <a:solidFill>
                  <a:srgbClr val="16213A"/>
                </a:solidFill>
                <a:latin typeface="Arial"/>
                <a:ea typeface="Malgun Gothic"/>
                <a:cs typeface="Malgun Gothic"/>
              </a:rPr>
              <a:t>가 slope·step·rough를 footprint로 max-pool할 때 방향을 </a:t>
            </a:r>
            <a:r>
              <a:rPr sz="1050" b="1" i="0">
                <a:solidFill>
                  <a:srgbClr val="16213A"/>
                </a:solidFill>
                <a:latin typeface="Arial"/>
                <a:ea typeface="Malgun Gothic"/>
                <a:cs typeface="Malgun Gothic"/>
              </a:rPr>
              <a:t>일부러 버리기</a:t>
            </a:r>
            <a:r>
              <a:rPr sz="1050" b="0" i="0">
                <a:solidFill>
                  <a:srgbClr val="16213A"/>
                </a:solidFill>
                <a:latin typeface="Arial"/>
                <a:ea typeface="Malgun Gothic"/>
                <a:cs typeface="Malgun Gothic"/>
              </a:rPr>
              <a:t> 때문이다. 그리고 </a:t>
            </a:r>
            <a:r>
              <a:rPr sz="1050" b="0" i="0">
                <a:solidFill>
                  <a:srgbClr val="16213A"/>
                </a:solidFill>
                <a:latin typeface="Consolas"/>
                <a:ea typeface="Malgun Gothic"/>
                <a:cs typeface="Malgun Gothic"/>
              </a:rPr>
              <a:t>slope_crossfall</a:t>
            </a:r>
            <a:r>
              <a:rPr sz="1050" b="0" i="0">
                <a:solidFill>
                  <a:srgbClr val="16213A"/>
                </a:solidFill>
                <a:latin typeface="Arial"/>
                <a:ea typeface="Malgun Gothic"/>
                <a:cs typeface="Malgun Gothic"/>
              </a:rPr>
              <a:t> 시나리오(</a:t>
            </a:r>
            <a:r>
              <a:rPr sz="1050" b="0" i="1">
                <a:solidFill>
                  <a:srgbClr val="16213A"/>
                </a:solidFill>
                <a:latin typeface="Arial"/>
                <a:ea typeface="Malgun Gothic"/>
                <a:cs typeface="Malgun Gothic"/>
              </a:rPr>
              <a:t>"직선 횡단이 경사·roll 한계를 넘는 둔덕, 완만한 우회로가 있다"</a:t>
            </a:r>
            <a:r>
              <a:rPr sz="1050" b="0" i="0">
                <a:solidFill>
                  <a:srgbClr val="16213A"/>
                </a:solidFill>
                <a:latin typeface="Arial"/>
                <a:ea typeface="Malgun Gothic"/>
                <a:cs typeface="Malgun Gothic"/>
              </a:rPr>
              <a:t>)가 글자 그대로 TRG의 둔덕 실험이다 — 지금 travplan은 </a:t>
            </a:r>
            <a:r>
              <a:rPr sz="1050" b="1" i="0">
                <a:solidFill>
                  <a:srgbClr val="16213A"/>
                </a:solidFill>
                <a:latin typeface="Arial"/>
                <a:ea typeface="Malgun Gothic"/>
                <a:cs typeface="Malgun Gothic"/>
              </a:rPr>
              <a:t>우회만 할 수 있고, 안전한 진입 방향을 고를 수는 없다.</a:t>
            </a:r>
          </a:p>
        </p:txBody>
      </p:sp>
      <p:sp>
        <p:nvSpPr>
          <p:cNvPr id="9" name="TextBox 8"/>
          <p:cNvSpPr txBox="1"/>
          <p:nvPr/>
        </p:nvSpPr>
        <p:spPr>
          <a:xfrm>
            <a:off x="609600" y="5120878"/>
            <a:ext cx="10972800" cy="108247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 다만 그대로 가져오면 안 된다.</a:t>
            </a:r>
            <a:r>
              <a:rPr sz="1050" b="0" i="0">
                <a:solidFill>
                  <a:srgbClr val="16213A"/>
                </a:solidFill>
                <a:latin typeface="Arial"/>
                <a:ea typeface="Malgun Gothic"/>
                <a:cs typeface="Malgun Gothic"/>
              </a:rPr>
              <a:t> 논문 결론이 이 방향 의존 위험은 </a:t>
            </a:r>
            <a:r>
              <a:rPr sz="1050" b="0" i="1">
                <a:solidFill>
                  <a:srgbClr val="16213A"/>
                </a:solidFill>
                <a:latin typeface="Arial"/>
                <a:ea typeface="Malgun Gothic"/>
                <a:cs typeface="Malgun Gothic"/>
              </a:rPr>
              <a:t>"specifically tailored to non-holonomic robots"</a:t>
            </a:r>
            <a:r>
              <a:rPr sz="1050" b="0" i="0">
                <a:solidFill>
                  <a:srgbClr val="16213A"/>
                </a:solidFill>
                <a:latin typeface="Arial"/>
                <a:ea typeface="Malgun Gothic"/>
                <a:cs typeface="Malgun Gothic"/>
              </a:rPr>
              <a:t>라고 적는다. 차체의 종축이 간선 방향에 놓인다고 가정하는 것인데, </a:t>
            </a:r>
            <a:r>
              <a:rPr sz="1050" b="1" i="0">
                <a:solidFill>
                  <a:srgbClr val="C2410C"/>
                </a:solidFill>
                <a:latin typeface="Arial"/>
                <a:ea typeface="Malgun Gothic"/>
                <a:cs typeface="Malgun Gothic"/>
              </a:rPr>
              <a:t>travplan의 스워브는 </a:t>
            </a:r>
            <a:r>
              <a:rPr sz="1050" b="1" i="0">
                <a:solidFill>
                  <a:srgbClr val="C2410C"/>
                </a:solidFill>
                <a:latin typeface="Arial"/>
                <a:ea typeface="Malgun Gothic"/>
                <a:cs typeface="Malgun Gothic"/>
              </a:rPr>
              <a:t>holonomic</a:t>
            </a:r>
            <a:r>
              <a:rPr sz="1050" b="1" i="0">
                <a:solidFill>
                  <a:srgbClr val="C2410C"/>
                </a:solidFill>
                <a:latin typeface="Arial"/>
                <a:ea typeface="Malgun Gothic"/>
                <a:cs typeface="Malgun Gothic"/>
              </a:rPr>
              <a:t>이라 진행 방향과 차체 yaw가 분리된다</a:t>
            </a:r>
            <a:r>
              <a:rPr sz="1050" b="0" i="0">
                <a:solidFill>
                  <a:srgbClr val="16213A"/>
                </a:solidFill>
                <a:latin typeface="Arial"/>
                <a:ea typeface="Malgun Gothic"/>
                <a:cs typeface="Malgun Gothic"/>
              </a:rPr>
              <a:t>(</a:t>
            </a:r>
            <a:r>
              <a:rPr sz="1050" b="0" i="0">
                <a:solidFill>
                  <a:srgbClr val="16213A"/>
                </a:solidFill>
                <a:latin typeface="Consolas"/>
                <a:ea typeface="Malgun Gothic"/>
                <a:cs typeface="Malgun Gothic"/>
              </a:rPr>
              <a:t>robot/swerve.py</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"Swerve (holonomic) kinematics"</a:t>
            </a:r>
            <a:r>
              <a:rPr sz="1050" b="0" i="0">
                <a:solidFill>
                  <a:srgbClr val="16213A"/>
                </a:solidFill>
                <a:latin typeface="Arial"/>
                <a:ea typeface="Malgun Gothic"/>
                <a:cs typeface="Malgun Gothic"/>
              </a:rPr>
              <a:t>, 횡속 </a:t>
            </a:r>
            <a:r>
              <a:rPr sz="1050" b="0" i="1">
                <a:solidFill>
                  <a:srgbClr val="16213A"/>
                </a:solidFill>
                <a:latin typeface="Arial"/>
                <a:ea typeface="Malgun Gothic"/>
                <a:cs typeface="Malgun Gothic"/>
              </a:rPr>
              <a:t>|v_y| ≤ 0.6</a:t>
            </a:r>
            <a:r>
              <a:rPr sz="1050" b="0" i="0">
                <a:solidFill>
                  <a:srgbClr val="16213A"/>
                </a:solidFill>
                <a:latin typeface="Arial"/>
                <a:ea typeface="Malgun Gothic"/>
                <a:cs typeface="Malgun Gothic"/>
              </a:rPr>
              <a:t> m/s). 그대로 쓰면 "로봇이 늘 가는 쪽을 본다"를 암묵 가정하게 되고, 제대로 하려면 노드 상태에 yaw를 실어야 하는데 TRG는 그러지 않는다. 그리고 측정상 네 벤치마크 시나리오 × 3 seed에서 </a:t>
            </a:r>
            <a:r>
              <a:rPr sz="1050" b="0" i="0">
                <a:solidFill>
                  <a:srgbClr val="16213A"/>
                </a:solidFill>
                <a:latin typeface="Consolas"/>
                <a:ea typeface="Malgun Gothic"/>
                <a:cs typeface="Malgun Gothic"/>
              </a:rPr>
              <a:t>guidance+mppi</a:t>
            </a:r>
            <a:r>
              <a:rPr sz="1050" b="0" i="0">
                <a:solidFill>
                  <a:srgbClr val="16213A"/>
                </a:solidFill>
                <a:latin typeface="Arial"/>
                <a:ea typeface="Malgun Gothic"/>
                <a:cs typeface="Malgun Gothic"/>
              </a:rPr>
              <a:t> </a:t>
            </a:r>
            <a:r>
              <a:rPr sz="1050" b="1" i="0">
                <a:solidFill>
                  <a:srgbClr val="16213A"/>
                </a:solidFill>
                <a:latin typeface="Arial"/>
                <a:ea typeface="Malgun Gothic"/>
                <a:cs typeface="Malgun Gothic"/>
              </a:rPr>
              <a:t>주행 중</a:t>
            </a:r>
            <a:r>
              <a:rPr sz="1050" b="0" i="0">
                <a:solidFill>
                  <a:srgbClr val="16213A"/>
                </a:solidFill>
                <a:latin typeface="Arial"/>
                <a:ea typeface="Malgun Gothic"/>
                <a:cs typeface="Malgun Gothic"/>
              </a:rPr>
              <a:t> 차체 </a:t>
            </a:r>
            <a:r>
              <a:rPr sz="1050" b="0" i="1">
                <a:solidFill>
                  <a:srgbClr val="16213A"/>
                </a:solidFill>
                <a:latin typeface="Arial"/>
                <a:ea typeface="Malgun Gothic"/>
                <a:cs typeface="Malgun Gothic"/>
              </a:rPr>
              <a:t>|roll|</a:t>
            </a:r>
            <a:r>
              <a:rPr sz="1050" b="0" i="0">
                <a:solidFill>
                  <a:srgbClr val="16213A"/>
                </a:solidFill>
                <a:latin typeface="Arial"/>
                <a:ea typeface="Malgun Gothic"/>
                <a:cs typeface="Malgun Gothic"/>
              </a:rPr>
              <a:t> 최댓값이 </a:t>
            </a:r>
            <a:r>
              <a:rPr sz="1050" b="1" i="0">
                <a:solidFill>
                  <a:srgbClr val="16213A"/>
                </a:solidFill>
                <a:latin typeface="Arial"/>
                <a:ea typeface="Malgun Gothic"/>
                <a:cs typeface="Malgun Gothic"/>
              </a:rPr>
              <a:t>0.0951 rad</a:t>
            </a:r>
            <a:r>
              <a:rPr sz="1050" b="0" i="0">
                <a:solidFill>
                  <a:srgbClr val="16213A"/>
                </a:solidFill>
                <a:latin typeface="Arial"/>
                <a:ea typeface="Malgun Gothic"/>
                <a:cs typeface="Malgun Gothic"/>
              </a:rPr>
              <a:t> (5.45°, </a:t>
            </a:r>
            <a:r>
              <a:rPr sz="1050" b="0" i="0">
                <a:solidFill>
                  <a:srgbClr val="16213A"/>
                </a:solidFill>
                <a:latin typeface="Consolas"/>
                <a:ea typeface="Malgun Gothic"/>
                <a:cs typeface="Malgun Gothic"/>
              </a:rPr>
              <a:t>curb_ramp</a:t>
            </a:r>
            <a:r>
              <a:rPr sz="1050" b="0" i="0">
                <a:solidFill>
                  <a:srgbClr val="16213A"/>
                </a:solidFill>
                <a:latin typeface="Arial"/>
                <a:ea typeface="Malgun Gothic"/>
                <a:cs typeface="Malgun Gothic"/>
              </a:rPr>
              <a:t> seed 1)이다. </a:t>
            </a:r>
            <a:r>
              <a:rPr sz="1050" b="0" i="0">
                <a:solidFill>
                  <a:srgbClr val="16213A"/>
                </a:solidFill>
                <a:latin typeface="Consolas"/>
                <a:ea typeface="Malgun Gothic"/>
                <a:cs typeface="Malgun Gothic"/>
              </a:rPr>
              <a:t>AttitudeCost</a:t>
            </a:r>
            <a:r>
              <a:rPr sz="1050" b="0" i="0">
                <a:solidFill>
                  <a:srgbClr val="16213A"/>
                </a:solidFill>
                <a:latin typeface="Arial"/>
                <a:ea typeface="Malgun Gothic"/>
                <a:cs typeface="Malgun Gothic"/>
              </a:rPr>
              <a:t>의 soft 0.08은 </a:t>
            </a:r>
            <a:r>
              <a:rPr sz="1050" b="1" i="0">
                <a:solidFill>
                  <a:srgbClr val="C2410C"/>
                </a:solidFill>
                <a:latin typeface="Arial"/>
                <a:ea typeface="Malgun Gothic"/>
                <a:cs typeface="Malgun Gothic"/>
              </a:rPr>
              <a:t>이미 넘지만 hard 0.25에는 한참 못 미친다</a:t>
            </a:r>
            <a:r>
              <a:rPr sz="1050" b="0" i="0">
                <a:solidFill>
                  <a:srgbClr val="16213A"/>
                </a:solidFill>
                <a:latin typeface="Arial"/>
                <a:ea typeface="Malgun Gothic"/>
                <a:cs typeface="Malgun Gothic"/>
              </a:rPr>
              <a:t> — 벌점은 붙되 금지선에서 멀다. 재현: </a:t>
            </a:r>
            <a:r>
              <a:rPr sz="1050" b="0" i="0">
                <a:solidFill>
                  <a:srgbClr val="16213A"/>
                </a:solidFill>
                <a:latin typeface="Consolas"/>
                <a:ea typeface="Malgun Gothic"/>
                <a:cs typeface="Malgun Gothic"/>
              </a:rPr>
              <a:t>results/tp0025_v2/metrics.csv</a:t>
            </a:r>
            <a:r>
              <a:rPr sz="1050" b="0" i="0">
                <a:solidFill>
                  <a:srgbClr val="16213A"/>
                </a:solidFill>
                <a:latin typeface="Arial"/>
                <a:ea typeface="Malgun Gothic"/>
                <a:cs typeface="Malgun Gothic"/>
              </a:rPr>
              <a:t>의 guidance+mppi 12런에서 </a:t>
            </a:r>
            <a:r>
              <a:rPr sz="1050" b="0" i="0">
                <a:solidFill>
                  <a:srgbClr val="16213A"/>
                </a:solidFill>
                <a:latin typeface="Consolas"/>
                <a:ea typeface="Malgun Gothic"/>
                <a:cs typeface="Malgun Gothic"/>
              </a:rPr>
              <a:t>max_roll_deg</a:t>
            </a:r>
            <a:r>
              <a:rPr sz="1050" b="0" i="0">
                <a:solidFill>
                  <a:srgbClr val="16213A"/>
                </a:solidFill>
                <a:latin typeface="Arial"/>
                <a:ea typeface="Malgun Gothic"/>
                <a:cs typeface="Malgun Gothic"/>
              </a:rPr>
              <a:t> 최댓값(5.4469°)을 라디안으로 바꾼 값이다. TP 번호를 달아 따로 잰 측정이 아니라 기록 재집계다.</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위험 인지·로컬 내비</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B.9 위험 인지 경로 계획과 로컬 내비게이션</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98 / 516</a:t>
            </a:r>
          </a:p>
        </p:txBody>
      </p:sp>
      <p:sp>
        <p:nvSpPr>
          <p:cNvPr id="5" name="TextBox 4"/>
          <p:cNvSpPr txBox="1"/>
          <p:nvPr/>
        </p:nvSpPr>
        <p:spPr>
          <a:xfrm>
            <a:off x="609600" y="1244600"/>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규모 쪽은 오히려 반대다.</a:t>
            </a:r>
            <a:r>
              <a:rPr sz="1050" b="0" i="0">
                <a:solidFill>
                  <a:srgbClr val="16213A"/>
                </a:solidFill>
                <a:latin typeface="Arial"/>
                <a:ea typeface="Malgun Gothic"/>
                <a:cs typeface="Malgun Gothic"/>
              </a:rPr>
              <a:t> TRG의 희소 그래프는 50×50 m를 0.05 m로 덮으면 </a:t>
            </a:r>
            <a:r>
              <a:rPr sz="1050" b="0" i="1">
                <a:solidFill>
                  <a:srgbClr val="16213A"/>
                </a:solidFill>
                <a:latin typeface="Arial"/>
                <a:ea typeface="Malgun Gothic"/>
                <a:cs typeface="Malgun Gothic"/>
              </a:rPr>
              <a:t>10⁶</a:t>
            </a:r>
            <a:r>
              <a:rPr sz="1050" b="0" i="0">
                <a:solidFill>
                  <a:srgbClr val="16213A"/>
                </a:solidFill>
                <a:latin typeface="Arial"/>
                <a:ea typeface="Malgun Gothic"/>
                <a:cs typeface="Malgun Gothic"/>
              </a:rPr>
              <a:t>칸이기 때문에 있는 것이다. travplan의 시나리오는 16×8 m(약 5.2만 칸)이고 L1 지도는 11 m 사각(220×220)이라 </a:t>
            </a:r>
            <a:r>
              <a:rPr sz="1050" b="1" i="0">
                <a:solidFill>
                  <a:srgbClr val="C2410C"/>
                </a:solidFill>
                <a:latin typeface="Arial"/>
                <a:ea typeface="Malgun Gothic"/>
                <a:cs typeface="Malgun Gothic"/>
              </a:rPr>
              <a:t>격자 Dijkstra는 이 크기에서 병목이 아니다</a:t>
            </a:r>
            <a:r>
              <a:rPr sz="1050" b="0" i="0">
                <a:solidFill>
                  <a:srgbClr val="16213A"/>
                </a:solidFill>
                <a:latin typeface="Arial"/>
                <a:ea typeface="Malgun Gothic"/>
                <a:cs typeface="Malgun Gothic"/>
              </a:rPr>
              <a:t>(</a:t>
            </a:r>
            <a:r>
              <a:rPr sz="1050" b="0" i="0">
                <a:solidFill>
                  <a:srgbClr val="16213A"/>
                </a:solidFill>
                <a:latin typeface="Consolas"/>
                <a:ea typeface="Malgun Gothic"/>
                <a:cs typeface="Malgun Gothic"/>
              </a:rPr>
              <a:t>results/tp0025_v2/bench.log</a:t>
            </a:r>
            <a:r>
              <a:rPr sz="1050" b="0" i="0">
                <a:solidFill>
                  <a:srgbClr val="16213A"/>
                </a:solidFill>
                <a:latin typeface="Arial"/>
                <a:ea typeface="Malgun Gothic"/>
                <a:cs typeface="Malgun Gothic"/>
              </a:rPr>
              <a:t>에서 guidance+mppi의 </a:t>
            </a:r>
            <a:r>
              <a:rPr sz="1050" b="0" i="0">
                <a:solidFill>
                  <a:srgbClr val="16213A"/>
                </a:solidFill>
                <a:latin typeface="Consolas"/>
                <a:ea typeface="Malgun Gothic"/>
                <a:cs typeface="Malgun Gothic"/>
              </a:rPr>
              <a:t>plan</a:t>
            </a:r>
            <a:r>
              <a:rPr sz="1050" b="0" i="0">
                <a:solidFill>
                  <a:srgbClr val="16213A"/>
                </a:solidFill>
                <a:latin typeface="Arial"/>
                <a:ea typeface="Malgun Gothic"/>
                <a:cs typeface="Malgun Gothic"/>
              </a:rPr>
              <a:t> 칸이 0.0 ms로 찍힌다. ⚠️ 흔히 인용되는 3.4 ms는 </a:t>
            </a:r>
            <a:r>
              <a:rPr sz="1050" b="1" i="0">
                <a:solidFill>
                  <a:srgbClr val="16213A"/>
                </a:solidFill>
                <a:latin typeface="Arial"/>
                <a:ea typeface="Malgun Gothic"/>
                <a:cs typeface="Malgun Gothic"/>
              </a:rPr>
              <a:t>Planner D의 계획 시간</a:t>
            </a:r>
            <a:r>
              <a:rPr sz="1050" b="0" i="0">
                <a:solidFill>
                  <a:srgbClr val="16213A"/>
                </a:solidFill>
                <a:latin typeface="Arial"/>
                <a:ea typeface="Malgun Gothic"/>
                <a:cs typeface="Malgun Gothic"/>
              </a:rPr>
              <a:t>이고 Dijkstra의 것이 아니다). 반면 TRG의 </a:t>
            </a:r>
            <a:r>
              <a:rPr sz="1050" b="1" i="0">
                <a:solidFill>
                  <a:srgbClr val="C2410C"/>
                </a:solidFill>
                <a:latin typeface="Arial"/>
                <a:ea typeface="Malgun Gothic"/>
                <a:cs typeface="Malgun Gothic"/>
              </a:rPr>
              <a:t>그래프 초기화 4.01 s</a:t>
            </a:r>
            <a:r>
              <a:rPr sz="1050" b="0" i="0">
                <a:solidFill>
                  <a:srgbClr val="16213A"/>
                </a:solidFill>
                <a:latin typeface="Arial"/>
                <a:ea typeface="Malgun Gothic"/>
                <a:cs typeface="Malgun Gothic"/>
              </a:rPr>
              <a:t>는 자릿수가 다르다 — ⚠️ 다만 그 값은 논문 Table 3의 </a:t>
            </a:r>
            <a:r>
              <a:rPr sz="1050" b="1" i="0">
                <a:solidFill>
                  <a:srgbClr val="16213A"/>
                </a:solidFill>
                <a:latin typeface="Arial"/>
                <a:ea typeface="Malgun Gothic"/>
                <a:cs typeface="Malgun Gothic"/>
              </a:rPr>
              <a:t>50×50×6.9 m 산악 환경</a:t>
            </a:r>
            <a:r>
              <a:rPr sz="1050" b="0" i="0">
                <a:solidFill>
                  <a:srgbClr val="16213A"/>
                </a:solidFill>
                <a:latin typeface="Arial"/>
                <a:ea typeface="Malgun Gothic"/>
                <a:cs typeface="Malgun Gothic"/>
              </a:rPr>
              <a:t> 수치이므로 16×8 m 예산에 그대로 옮길 수는 없다. 게다가 travplan의 Dijkstra는 목표에서부터 풀어서 </a:t>
            </a:r>
            <a:r>
              <a:rPr sz="1050" b="1" i="0">
                <a:solidFill>
                  <a:srgbClr val="16213A"/>
                </a:solidFill>
                <a:latin typeface="Arial"/>
                <a:ea typeface="Malgun Gothic"/>
                <a:cs typeface="Malgun Gothic"/>
              </a:rPr>
              <a:t>도달 불가 칸이 </a:t>
            </a:r>
            <a:r>
              <a:rPr sz="1050" b="1" i="0">
                <a:solidFill>
                  <a:srgbClr val="16213A"/>
                </a:solidFill>
                <a:latin typeface="Consolas"/>
                <a:ea typeface="Malgun Gothic"/>
                <a:cs typeface="Malgun Gothic"/>
              </a:rPr>
              <a:t>dist=inf</a:t>
            </a:r>
            <a:r>
              <a:rPr sz="1050" b="1" i="0">
                <a:solidFill>
                  <a:srgbClr val="16213A"/>
                </a:solidFill>
                <a:latin typeface="Arial"/>
                <a:ea typeface="Malgun Gothic"/>
                <a:cs typeface="Malgun Gothic"/>
              </a:rPr>
              <a:t>로 공짜로 떨어진다</a:t>
            </a:r>
            <a:r>
              <a:rPr sz="1050" b="0" i="0">
                <a:solidFill>
                  <a:srgbClr val="16213A"/>
                </a:solidFill>
                <a:latin typeface="Arial"/>
                <a:ea typeface="Malgun Gothic"/>
                <a:cs typeface="Malgun Gothic"/>
              </a:rPr>
              <a:t> — TRG가 노드 유효성으로 하는 일이 이미 되어 있다.</a:t>
            </a:r>
          </a:p>
        </p:txBody>
      </p:sp>
      <p:sp>
        <p:nvSpPr>
          <p:cNvPr id="6" name="TextBox 5"/>
          <p:cNvSpPr txBox="1"/>
          <p:nvPr/>
        </p:nvSpPr>
        <p:spPr>
          <a:xfrm>
            <a:off x="609600" y="2199481"/>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 코드 라이선스 — 상용 제품에 못 넣는다.</a:t>
            </a:r>
            <a:r>
              <a:rPr sz="1050" b="0" i="0">
                <a:solidFill>
                  <a:srgbClr val="16213A"/>
                </a:solidFill>
                <a:latin typeface="Arial"/>
                <a:ea typeface="Malgun Gothic"/>
                <a:cs typeface="Malgun Gothic"/>
              </a:rPr>
              <a:t> 저자들 프로젝트 페이지와 README가 가리키는 </a:t>
            </a:r>
            <a:r>
              <a:rPr sz="1050" b="0" i="0">
                <a:solidFill>
                  <a:srgbClr val="16213A"/>
                </a:solidFill>
                <a:latin typeface="Consolas"/>
                <a:ea typeface="Malgun Gothic"/>
                <a:cs typeface="Malgun Gothic"/>
              </a:rPr>
              <a:t>url-kaist/TRG-planner</a:t>
            </a:r>
            <a:r>
              <a:rPr sz="1050" b="0" i="0">
                <a:solidFill>
                  <a:srgbClr val="16213A"/>
                </a:solidFill>
                <a:latin typeface="Arial"/>
                <a:ea typeface="Malgun Gothic"/>
                <a:cs typeface="Malgun Gothic"/>
              </a:rPr>
              <a:t>는 </a:t>
            </a:r>
            <a:r>
              <a:rPr sz="1050" b="1" i="0">
                <a:solidFill>
                  <a:srgbClr val="C2410C"/>
                </a:solidFill>
                <a:latin typeface="Arial"/>
                <a:ea typeface="Malgun Gothic"/>
                <a:cs typeface="Malgun Gothic"/>
              </a:rPr>
              <a:t>404</a:t>
            </a:r>
            <a:r>
              <a:rPr sz="1050" b="0" i="0">
                <a:solidFill>
                  <a:srgbClr val="16213A"/>
                </a:solidFill>
                <a:latin typeface="Arial"/>
                <a:ea typeface="Malgun Gothic"/>
                <a:cs typeface="Malgun Gothic"/>
              </a:rPr>
              <a:t>다. 닿는 사본은 개인 계정의 </a:t>
            </a:r>
            <a:r>
              <a:rPr sz="1050" b="0" i="0">
                <a:solidFill>
                  <a:srgbClr val="16213A"/>
                </a:solidFill>
                <a:latin typeface="Consolas"/>
                <a:ea typeface="Malgun Gothic"/>
                <a:cs typeface="Malgun Gothic"/>
              </a:rPr>
              <a:t>wasahaiah/TRG-planner</a:t>
            </a:r>
            <a:r>
              <a:rPr sz="1050" b="0" i="0">
                <a:solidFill>
                  <a:srgbClr val="16213A"/>
                </a:solidFill>
                <a:latin typeface="Arial"/>
                <a:ea typeface="Malgun Gothic"/>
                <a:cs typeface="Malgun Gothic"/>
              </a:rPr>
              <a:t>뿐이고(★31, 마지막 push 2025-03-14), 그 </a:t>
            </a:r>
            <a:r>
              <a:rPr sz="1050" b="0" i="0">
                <a:solidFill>
                  <a:srgbClr val="16213A"/>
                </a:solidFill>
                <a:latin typeface="Consolas"/>
                <a:ea typeface="Malgun Gothic"/>
                <a:cs typeface="Malgun Gothic"/>
              </a:rPr>
              <a:t>LICENSE</a:t>
            </a:r>
            <a:r>
              <a:rPr sz="1050" b="0" i="0">
                <a:solidFill>
                  <a:srgbClr val="16213A"/>
                </a:solidFill>
                <a:latin typeface="Arial"/>
                <a:ea typeface="Malgun Gothic"/>
                <a:cs typeface="Malgun Gothic"/>
              </a:rPr>
              <a:t>가 Dongkyu Lee 본인의 저작권으로 </a:t>
            </a:r>
            <a:r>
              <a:rPr sz="1050" b="1" i="0">
                <a:solidFill>
                  <a:srgbClr val="16213A"/>
                </a:solidFill>
                <a:latin typeface="Arial"/>
                <a:ea typeface="Malgun Gothic"/>
                <a:cs typeface="Malgun Gothic"/>
              </a:rPr>
              <a:t>Apache-2.0 + Commons Clause</a:t>
            </a:r>
            <a:r>
              <a:rPr sz="1050" b="0" i="0">
                <a:solidFill>
                  <a:srgbClr val="16213A"/>
                </a:solidFill>
                <a:latin typeface="Arial"/>
                <a:ea typeface="Malgun Gothic"/>
                <a:cs typeface="Malgun Gothic"/>
              </a:rPr>
              <a:t>다 — </a:t>
            </a:r>
            <a:r>
              <a:rPr sz="1050" b="0" i="1">
                <a:solidFill>
                  <a:srgbClr val="16213A"/>
                </a:solidFill>
                <a:latin typeface="Arial"/>
                <a:ea typeface="Malgun Gothic"/>
                <a:cs typeface="Malgun Gothic"/>
              </a:rPr>
              <a:t>"the License does not grant to you, the right to </a:t>
            </a:r>
            <a:r>
              <a:rPr sz="1050" b="0" i="1">
                <a:solidFill>
                  <a:srgbClr val="16213A"/>
                </a:solidFill>
                <a:latin typeface="Arial"/>
                <a:ea typeface="Malgun Gothic"/>
                <a:cs typeface="Malgun Gothic"/>
              </a:rPr>
              <a:t>Sell</a:t>
            </a:r>
            <a:r>
              <a:rPr sz="1050" b="0" i="1">
                <a:solidFill>
                  <a:srgbClr val="16213A"/>
                </a:solidFill>
                <a:latin typeface="Arial"/>
                <a:ea typeface="Malgun Gothic"/>
                <a:cs typeface="Malgun Gothic"/>
              </a:rPr>
              <a:t> the Software … 'Sell' does not include use of the Software for non-profit or research-based projects."</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travplan은 상용 배달로봇이므로 </a:t>
            </a:r>
            <a:r>
              <a:rPr sz="1050" b="1" i="0">
                <a:solidFill>
                  <a:srgbClr val="C2410C"/>
                </a:solidFill>
                <a:latin typeface="Arial"/>
                <a:ea typeface="Malgun Gothic"/>
                <a:cs typeface="Malgun Gothic"/>
              </a:rPr>
              <a:t>연구·비교는 되고 제품 탑재는 안 된다.</a:t>
            </a:r>
            <a:r>
              <a:rPr sz="1050" b="0" i="0">
                <a:solidFill>
                  <a:srgbClr val="16213A"/>
                </a:solidFill>
                <a:latin typeface="Arial"/>
                <a:ea typeface="Malgun Gothic"/>
                <a:cs typeface="Malgun Gothic"/>
              </a:rPr>
              <a:t> 1저자는 2025-04부터 스핀오프 </a:t>
            </a:r>
            <a:r>
              <a:rPr sz="1050" b="1" i="0">
                <a:solidFill>
                  <a:srgbClr val="16213A"/>
                </a:solidFill>
                <a:latin typeface="Arial"/>
                <a:ea typeface="Malgun Gothic"/>
                <a:cs typeface="Malgun Gothic"/>
              </a:rPr>
              <a:t>URobotics Corp.</a:t>
            </a:r>
            <a:r>
              <a:rPr sz="1050" b="0" i="0">
                <a:solidFill>
                  <a:srgbClr val="16213A"/>
                </a:solidFill>
                <a:latin typeface="Arial"/>
                <a:ea typeface="Malgun Gothic"/>
                <a:cs typeface="Malgun Gothic"/>
              </a:rPr>
              <a:t>의 CTO·공동창업자다.</a:t>
            </a:r>
          </a:p>
        </p:txBody>
      </p:sp>
      <p:pic>
        <p:nvPicPr>
          <p:cNvPr id="7" name="Picture 6" descr="image.jpg"/>
          <p:cNvPicPr>
            <a:picLocks noChangeAspect="1"/>
          </p:cNvPicPr>
          <p:nvPr/>
        </p:nvPicPr>
        <p:blipFill>
          <a:blip r:embed="rId3"/>
          <a:stretch>
            <a:fillRect/>
          </a:stretch>
        </p:blipFill>
        <p:spPr>
          <a:xfrm>
            <a:off x="1955800" y="3154362"/>
            <a:ext cx="8280400" cy="1828800"/>
          </a:xfrm>
          <a:prstGeom prst="rect">
            <a:avLst/>
          </a:prstGeom>
        </p:spPr>
      </p:pic>
      <p:sp>
        <p:nvSpPr>
          <p:cNvPr id="8" name="TextBox 7"/>
          <p:cNvSpPr txBox="1"/>
          <p:nvPr/>
        </p:nvSpPr>
        <p:spPr>
          <a:xfrm>
            <a:off x="1955800" y="5021262"/>
            <a:ext cx="8280400" cy="142180"/>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TRG-planner (Fig. 2): 지형 기하로 Traversal Risk Graph를 만들고, 위험 가중 그래프 위에서 안전하고 짧은 경로를 찾는 전체 구조. 출처: arXiv:2501.01806</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위험 인지·로컬 내비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B.9 위험 인지 경로 계획과 로컬 내비게이션</a:t>
            </a:r>
            <a:r>
              <a:rPr sz="1050" b="0" i="0">
                <a:solidFill>
                  <a:srgbClr val="5A6478"/>
                </a:solidFill>
                <a:latin typeface="Arial"/>
                <a:ea typeface="Malgun Gothic"/>
                <a:cs typeface="Malgun Gothic"/>
              </a:rPr>
              <a:t>  자세히: TRG-planner의 방법과 수식</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99 / 516</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그래프.</a:t>
            </a:r>
            <a:r>
              <a:rPr sz="1050" b="0" i="0">
                <a:solidFill>
                  <a:srgbClr val="16213A"/>
                </a:solidFill>
                <a:latin typeface="Arial"/>
                <a:ea typeface="Malgun Gothic"/>
                <a:cs typeface="Malgun Gothic"/>
              </a:rPr>
              <a:t> 3D 공간을 무방향 그래프 </a:t>
            </a:r>
            <a:r>
              <a:rPr sz="1050" b="0" i="1">
                <a:solidFill>
                  <a:srgbClr val="16213A"/>
                </a:solidFill>
                <a:latin typeface="Arial"/>
                <a:ea typeface="Malgun Gothic"/>
                <a:cs typeface="Malgun Gothic"/>
              </a:rPr>
              <a:t>G = (V, E)</a:t>
            </a:r>
            <a:r>
              <a:rPr sz="1050" b="0" i="0">
                <a:solidFill>
                  <a:srgbClr val="16213A"/>
                </a:solidFill>
                <a:latin typeface="Arial"/>
                <a:ea typeface="Malgun Gothic"/>
                <a:cs typeface="Malgun Gothic"/>
              </a:rPr>
              <a:t>로 요약한다. 노드 </a:t>
            </a:r>
            <a:r>
              <a:rPr sz="1050" b="0" i="1">
                <a:solidFill>
                  <a:srgbClr val="16213A"/>
                </a:solidFill>
                <a:latin typeface="Arial"/>
                <a:ea typeface="Malgun Gothic"/>
                <a:cs typeface="Malgun Gothic"/>
              </a:rPr>
              <a:t>vᵢ = (pᵢ, sᵢ, Eᵢ)</a:t>
            </a:r>
            <a:r>
              <a:rPr sz="1050" b="0" i="0">
                <a:solidFill>
                  <a:srgbClr val="16213A"/>
                </a:solidFill>
                <a:latin typeface="Arial"/>
                <a:ea typeface="Malgun Gothic"/>
                <a:cs typeface="Malgun Gothic"/>
              </a:rPr>
              <a:t>는 로봇 몸체에 내접하는 원(반경 </a:t>
            </a:r>
            <a:r>
              <a:rPr sz="1050" b="0" i="1">
                <a:solidFill>
                  <a:srgbClr val="16213A"/>
                </a:solidFill>
                <a:latin typeface="Arial"/>
                <a:ea typeface="Malgun Gothic"/>
                <a:cs typeface="Malgun Gothic"/>
              </a:rPr>
              <a:t>r_(robot)</a:t>
            </a:r>
            <a:r>
              <a:rPr sz="1050" b="0" i="0">
                <a:solidFill>
                  <a:srgbClr val="16213A"/>
                </a:solidFill>
                <a:latin typeface="Arial"/>
                <a:ea typeface="Malgun Gothic"/>
                <a:cs typeface="Malgun Gothic"/>
              </a:rPr>
              <a:t>) 영역이고, 상태 </a:t>
            </a:r>
            <a:r>
              <a:rPr sz="1050" b="0" i="1">
                <a:solidFill>
                  <a:srgbClr val="16213A"/>
                </a:solidFill>
                <a:latin typeface="Arial"/>
                <a:ea typeface="Malgun Gothic"/>
                <a:cs typeface="Malgun Gothic"/>
              </a:rPr>
              <a:t>sᵢ</a:t>
            </a:r>
            <a:r>
              <a:rPr sz="1050" b="0" i="0">
                <a:solidFill>
                  <a:srgbClr val="16213A"/>
                </a:solidFill>
                <a:latin typeface="Arial"/>
                <a:ea typeface="Malgun Gothic"/>
                <a:cs typeface="Malgun Gothic"/>
              </a:rPr>
              <a:t>는 </a:t>
            </a:r>
            <a:r>
              <a:rPr sz="1050" b="1" i="0">
                <a:solidFill>
                  <a:srgbClr val="16213A"/>
                </a:solidFill>
                <a:latin typeface="Arial"/>
                <a:ea typeface="Malgun Gothic"/>
                <a:cs typeface="Malgun Gothic"/>
              </a:rPr>
              <a:t>기하 안정성</a:t>
            </a:r>
            <a:r>
              <a:rPr sz="1050" b="0" i="0">
                <a:solidFill>
                  <a:srgbClr val="16213A"/>
                </a:solidFill>
                <a:latin typeface="Arial"/>
                <a:ea typeface="Malgun Gothic"/>
                <a:cs typeface="Malgun Gothic"/>
              </a:rPr>
              <a:t>과 </a:t>
            </a:r>
            <a:r>
              <a:rPr sz="1050" b="1" i="0">
                <a:solidFill>
                  <a:srgbClr val="16213A"/>
                </a:solidFill>
                <a:latin typeface="Arial"/>
                <a:ea typeface="Malgun Gothic"/>
                <a:cs typeface="Malgun Gothic"/>
              </a:rPr>
              <a:t>도달 가능성</a:t>
            </a:r>
            <a:r>
              <a:rPr sz="1050" b="0" i="0">
                <a:solidFill>
                  <a:srgbClr val="16213A"/>
                </a:solidFill>
                <a:latin typeface="Arial"/>
                <a:ea typeface="Malgun Gothic"/>
                <a:cs typeface="Malgun Gothic"/>
              </a:rPr>
              <a:t>으로 정한다. 안정성은 원 안의 높이가 중앙값에서 크게 벗어나지 않는가, 도달 가능성은 연결된 간선이 있는가다.</a:t>
            </a:r>
          </a:p>
        </p:txBody>
      </p:sp>
      <p:pic>
        <p:nvPicPr>
          <p:cNvPr id="6" name="Picture 5" descr="image.png"/>
          <p:cNvPicPr>
            <a:picLocks noChangeAspect="1"/>
          </p:cNvPicPr>
          <p:nvPr/>
        </p:nvPicPr>
        <p:blipFill>
          <a:blip r:embed="rId3"/>
          <a:stretch>
            <a:fillRect/>
          </a:stretch>
        </p:blipFill>
        <p:spPr>
          <a:xfrm>
            <a:off x="609600" y="1766491"/>
            <a:ext cx="5778500" cy="241300"/>
          </a:xfrm>
          <a:prstGeom prst="rect">
            <a:avLst/>
          </a:prstGeom>
        </p:spPr>
      </p:pic>
      <p:sp>
        <p:nvSpPr>
          <p:cNvPr id="7" name="TextBox 6"/>
          <p:cNvSpPr txBox="1"/>
          <p:nvPr/>
        </p:nvSpPr>
        <p:spPr>
          <a:xfrm>
            <a:off x="609600" y="2044005"/>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간선 가중치 </a:t>
            </a:r>
            <a:r>
              <a:rPr sz="1050" b="0" i="1">
                <a:solidFill>
                  <a:srgbClr val="16213A"/>
                </a:solidFill>
                <a:latin typeface="Arial"/>
                <a:ea typeface="Malgun Gothic"/>
                <a:cs typeface="Malgun Gothic"/>
              </a:rPr>
              <a:t>w_(ij)</a:t>
            </a:r>
            <a:r>
              <a:rPr sz="1050" b="0" i="0">
                <a:solidFill>
                  <a:srgbClr val="16213A"/>
                </a:solidFill>
                <a:latin typeface="Arial"/>
                <a:ea typeface="Malgun Gothic"/>
                <a:cs typeface="Malgun Gothic"/>
              </a:rPr>
              <a:t>는 두 노드 사이 영역을 PCA로 평면(타원) 근사해 얻은 </a:t>
            </a:r>
            <a:r>
              <a:rPr sz="1050" b="1" i="0">
                <a:solidFill>
                  <a:srgbClr val="16213A"/>
                </a:solidFill>
                <a:latin typeface="Arial"/>
                <a:ea typeface="Malgun Gothic"/>
                <a:cs typeface="Malgun Gothic"/>
              </a:rPr>
              <a:t>상대적 통과 위험</a:t>
            </a:r>
            <a:r>
              <a:rPr sz="1050" b="0" i="0">
                <a:solidFill>
                  <a:srgbClr val="16213A"/>
                </a:solidFill>
                <a:latin typeface="Arial"/>
                <a:ea typeface="Malgun Gothic"/>
                <a:cs typeface="Malgun Gothic"/>
              </a:rPr>
              <a:t>이다.</a:t>
            </a:r>
          </a:p>
        </p:txBody>
      </p:sp>
      <p:sp>
        <p:nvSpPr>
          <p:cNvPr id="8" name="TextBox 7"/>
          <p:cNvSpPr txBox="1"/>
          <p:nvPr/>
        </p:nvSpPr>
        <p:spPr>
          <a:xfrm>
            <a:off x="609600" y="234940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구성과 관리.</a:t>
            </a:r>
            <a:r>
              <a:rPr sz="1050" b="0" i="0">
                <a:solidFill>
                  <a:srgbClr val="16213A"/>
                </a:solidFill>
                <a:latin typeface="Arial"/>
                <a:ea typeface="Malgun Gothic"/>
                <a:cs typeface="Malgun Gothic"/>
              </a:rPr>
              <a:t> PRM처럼 샘플링하되, 로봇 현재 위치에서 반경 </a:t>
            </a:r>
            <a:r>
              <a:rPr sz="1050" b="0" i="1">
                <a:solidFill>
                  <a:srgbClr val="16213A"/>
                </a:solidFill>
                <a:latin typeface="Arial"/>
                <a:ea typeface="Malgun Gothic"/>
                <a:cs typeface="Malgun Gothic"/>
              </a:rPr>
              <a:t>rₑₓₚ</a:t>
            </a:r>
            <a:r>
              <a:rPr sz="1050" b="0" i="0">
                <a:solidFill>
                  <a:srgbClr val="16213A"/>
                </a:solidFill>
                <a:latin typeface="Arial"/>
                <a:ea typeface="Malgun Gothic"/>
                <a:cs typeface="Malgun Gothic"/>
              </a:rPr>
              <a:t> 원 위로 바깥쪽으로 넓혀 가며(wavefront) 노드를 더한다. 로봇이 실제로 갈 수 있는 곳만 그래프에 들어가 빠르다. 전역 그래프와 로봇 주변의 지역 노드를 계층적으로 관리하고, 미지 영역과 맞닿은 노드는 frontier로 표시한다.</a:t>
            </a:r>
          </a:p>
        </p:txBody>
      </p:sp>
      <p:sp>
        <p:nvSpPr>
          <p:cNvPr id="9" name="TextBox 8"/>
          <p:cNvSpPr txBox="1"/>
          <p:nvPr/>
        </p:nvSpPr>
        <p:spPr>
          <a:xfrm>
            <a:off x="609600" y="287129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위험을 아는 A*.</a:t>
            </a:r>
            <a:r>
              <a:rPr sz="1050" b="0" i="0">
                <a:solidFill>
                  <a:srgbClr val="16213A"/>
                </a:solidFill>
                <a:latin typeface="Arial"/>
                <a:ea typeface="Malgun Gothic"/>
                <a:cs typeface="Malgun Gothic"/>
              </a:rPr>
              <a:t> 간선 비용에 거리와 위험을 함께 넣는다. 안전 계수 </a:t>
            </a:r>
            <a:r>
              <a:rPr sz="1050" b="0" i="1">
                <a:solidFill>
                  <a:srgbClr val="16213A"/>
                </a:solidFill>
                <a:latin typeface="Arial"/>
                <a:ea typeface="Malgun Gothic"/>
                <a:cs typeface="Malgun Gothic"/>
              </a:rPr>
              <a:t>Γ</a:t>
            </a:r>
            <a:r>
              <a:rPr sz="1050" b="0" i="0">
                <a:solidFill>
                  <a:srgbClr val="16213A"/>
                </a:solidFill>
                <a:latin typeface="Arial"/>
                <a:ea typeface="Malgun Gothic"/>
                <a:cs typeface="Malgun Gothic"/>
              </a:rPr>
              <a:t>가 클수록 더 안전하고 긴 경로를 고른다.</a:t>
            </a:r>
          </a:p>
        </p:txBody>
      </p:sp>
      <p:pic>
        <p:nvPicPr>
          <p:cNvPr id="10" name="Picture 9" descr="image.png"/>
          <p:cNvPicPr>
            <a:picLocks noChangeAspect="1"/>
          </p:cNvPicPr>
          <p:nvPr/>
        </p:nvPicPr>
        <p:blipFill>
          <a:blip r:embed="rId4"/>
          <a:stretch>
            <a:fillRect/>
          </a:stretch>
        </p:blipFill>
        <p:spPr>
          <a:xfrm>
            <a:off x="609600" y="3176687"/>
            <a:ext cx="5645150" cy="238125"/>
          </a:xfrm>
          <a:prstGeom prst="rect">
            <a:avLst/>
          </a:prstGeom>
        </p:spPr>
      </p:pic>
      <p:sp>
        <p:nvSpPr>
          <p:cNvPr id="11" name="TextBox 10"/>
          <p:cNvSpPr txBox="1"/>
          <p:nvPr/>
        </p:nvSpPr>
        <p:spPr>
          <a:xfrm>
            <a:off x="609600" y="3454202"/>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것.</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GuidancePlanner</a:t>
            </a:r>
            <a:r>
              <a:rPr sz="1050" b="0" i="0">
                <a:solidFill>
                  <a:srgbClr val="16213A"/>
                </a:solidFill>
                <a:latin typeface="Arial"/>
                <a:ea typeface="Malgun Gothic"/>
                <a:cs typeface="Malgun Gothic"/>
              </a:rPr>
              <a:t>의 간선 = 길이 × (1 + 4·cost + 0.5·σ)와 같은 형태이고, 격자 대신 </a:t>
            </a:r>
            <a:r>
              <a:rPr sz="1050" b="1" i="0">
                <a:solidFill>
                  <a:srgbClr val="16213A"/>
                </a:solidFill>
                <a:latin typeface="Arial"/>
                <a:ea typeface="Malgun Gothic"/>
                <a:cs typeface="Malgun Gothic"/>
              </a:rPr>
              <a:t>도달 가능한 곳만 담은 희소 그래프</a:t>
            </a:r>
            <a:r>
              <a:rPr sz="1050" b="0" i="0">
                <a:solidFill>
                  <a:srgbClr val="16213A"/>
                </a:solidFill>
                <a:latin typeface="Arial"/>
                <a:ea typeface="Malgun Gothic"/>
                <a:cs typeface="Malgun Gothic"/>
              </a:rPr>
              <a:t>를 쓴다는 점이 다르다. 넓은 환경에서 Dijkstra 격자가 무거워질 때의 대안이다.</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위험 인지·로컬 내비</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B.9 위험 인지 경로 계획과 로컬 내비게이션</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100 / 516</a:t>
            </a:r>
          </a:p>
        </p:txBody>
      </p:sp>
      <p:sp>
        <p:nvSpPr>
          <p:cNvPr id="5" name="TextBox 4"/>
          <p:cNvSpPr txBox="1"/>
          <p:nvPr/>
        </p:nvSpPr>
        <p:spPr>
          <a:xfrm>
            <a:off x="609600" y="1244600"/>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DreamFlow — 보이지 않는 지형을 상상하는 로컬 내비</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arXiv:2603.02976</a:t>
            </a:r>
            <a:r>
              <a:rPr sz="1050" b="0" i="0">
                <a:solidFill>
                  <a:srgbClr val="16213A"/>
                </a:solidFill>
                <a:latin typeface="Arial"/>
                <a:ea typeface="Malgun Gothic"/>
                <a:cs typeface="Malgun Gothic"/>
              </a:rPr>
              <a:t>, ICRA 2026, </a:t>
            </a:r>
            <a:r>
              <a:rPr sz="1050" b="0" i="0">
                <a:solidFill>
                  <a:srgbClr val="1D4ED8"/>
                </a:solidFill>
                <a:latin typeface="Arial"/>
                <a:ea typeface="Malgun Gothic"/>
                <a:cs typeface="Malgun Gothic"/>
                <a:hlinkClick r:id="rId4"/>
              </a:rPr>
              <a:t>프로젝트</a:t>
            </a:r>
            <a:r>
              <a:rPr sz="1050" b="0" i="0">
                <a:solidFill>
                  <a:srgbClr val="16213A"/>
                </a:solidFill>
                <a:latin typeface="Arial"/>
                <a:ea typeface="Malgun Gothic"/>
                <a:cs typeface="Malgun Gothic"/>
              </a:rPr>
              <a:t>, KAIST Urban Robotics Lab). DRL 로컬 정책에, </a:t>
            </a:r>
            <a:r>
              <a:rPr sz="1050" b="1" i="0">
                <a:solidFill>
                  <a:srgbClr val="16213A"/>
                </a:solidFill>
                <a:latin typeface="Arial"/>
                <a:ea typeface="Malgun Gothic"/>
                <a:cs typeface="Malgun Gothic"/>
              </a:rPr>
              <a:t>conditional flow matching으로 예측한 "센서 밖" 지형의 잠재 표현</a:t>
            </a:r>
            <a:r>
              <a:rPr sz="1050" b="0" i="0">
                <a:solidFill>
                  <a:srgbClr val="16213A"/>
                </a:solidFill>
                <a:latin typeface="Arial"/>
                <a:ea typeface="Malgun Gothic"/>
                <a:cs typeface="Malgun Gothic"/>
              </a:rPr>
              <a:t>을 함께 넣는다. 센서가 보는 좁은 높이 지도의 잠재에서 더 넓은 공간의 잠재로 옮겨 가는 흐름을 배우고, 정책은 두 잠재를 함께 받아 막다른 곳(local minimum)을 미리 피한다. Go2와 Mid-360 LiDAR 두 대로 실험했고, 시뮬레이션 Maze(Hard) 83.1%, Hallway 89.8% 성공을 보였다. </a:t>
            </a:r>
            <a:r>
              <a:rPr sz="1050" b="1" i="0">
                <a:solidFill>
                  <a:srgbClr val="16213A"/>
                </a:solidFill>
                <a:latin typeface="Arial"/>
                <a:ea typeface="Malgun Gothic"/>
                <a:cs typeface="Malgun Gothic"/>
              </a:rPr>
              <a:t>travplan의 알려진 한계인 "센서 범위 밖 미관측 영역 탐색"을 정면으로 다룬 연구</a:t>
            </a:r>
            <a:r>
              <a:rPr sz="1050" b="0" i="0">
                <a:solidFill>
                  <a:srgbClr val="16213A"/>
                </a:solidFill>
                <a:latin typeface="Arial"/>
                <a:ea typeface="Malgun Gothic"/>
                <a:cs typeface="Malgun Gothic"/>
              </a:rPr>
              <a:t>이고, Planner D와 같은 flow matching을 인식 쪽(보이지 않는 곳 예측)에 쓴 사례다. curb_ramp에서 램프가 센서 밖에 있을 때 로봇이 되돌아오는 문제에 바로 해당한다.</a:t>
            </a:r>
          </a:p>
        </p:txBody>
      </p:sp>
      <p:pic>
        <p:nvPicPr>
          <p:cNvPr id="6" name="Picture 5" descr="image.jpg"/>
          <p:cNvPicPr>
            <a:picLocks noChangeAspect="1"/>
          </p:cNvPicPr>
          <p:nvPr/>
        </p:nvPicPr>
        <p:blipFill>
          <a:blip r:embed="rId5"/>
          <a:stretch>
            <a:fillRect/>
          </a:stretch>
        </p:blipFill>
        <p:spPr>
          <a:xfrm>
            <a:off x="2895600" y="2199481"/>
            <a:ext cx="6400800" cy="1746250"/>
          </a:xfrm>
          <a:prstGeom prst="rect">
            <a:avLst/>
          </a:prstGeom>
        </p:spPr>
      </p:pic>
      <p:sp>
        <p:nvSpPr>
          <p:cNvPr id="7" name="TextBox 6"/>
          <p:cNvSpPr txBox="1"/>
          <p:nvPr/>
        </p:nvSpPr>
        <p:spPr>
          <a:xfrm>
            <a:off x="2895600" y="3983831"/>
            <a:ext cx="64008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DreamFlow (Fig. 2): 보이는 높이 지도(파란 점)를 잠재로 인코딩하고, flow matching이 보이지 않는 넓은 영역의 잠재를 예측해 정책에 함께 넣는다. 출처: arXiv:2603.02976</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위험 인지·로컬 내비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B.9 위험 인지 경로 계획과 로컬 내비게이션</a:t>
            </a:r>
            <a:r>
              <a:rPr sz="1050" b="0" i="0">
                <a:solidFill>
                  <a:srgbClr val="5A6478"/>
                </a:solidFill>
                <a:latin typeface="Arial"/>
                <a:ea typeface="Malgun Gothic"/>
                <a:cs typeface="Malgun Gothic"/>
              </a:rPr>
              <a:t>  자세히: DreamFlow의 방법과 수식</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101 / 516</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구조: 비대칭 actor–critic.</a:t>
            </a:r>
            <a:r>
              <a:rPr sz="1050" b="0" i="0">
                <a:solidFill>
                  <a:srgbClr val="16213A"/>
                </a:solidFill>
                <a:latin typeface="Arial"/>
                <a:ea typeface="Malgun Gothic"/>
                <a:cs typeface="Malgun Gothic"/>
              </a:rPr>
              <a:t> DRL 내비 정책(PPO)이 body 속도 명령을 내고, 사전학습 보행 정책이 이를 실행한다. </a:t>
            </a:r>
            <a:r>
              <a:rPr sz="1050" b="1" i="0">
                <a:solidFill>
                  <a:srgbClr val="16213A"/>
                </a:solidFill>
                <a:latin typeface="Arial"/>
                <a:ea typeface="Malgun Gothic"/>
                <a:cs typeface="Malgun Gothic"/>
              </a:rPr>
              <a:t>actor</a:t>
            </a:r>
            <a:r>
              <a:rPr sz="1050" b="0" i="0">
                <a:solidFill>
                  <a:srgbClr val="16213A"/>
                </a:solidFill>
                <a:latin typeface="Arial"/>
                <a:ea typeface="Malgun Gothic"/>
                <a:cs typeface="Malgun Gothic"/>
              </a:rPr>
              <a:t>는 로봇이 실제로 보는 좁은 높이 지도 </a:t>
            </a:r>
            <a:r>
              <a:rPr sz="1050" b="0" i="1">
                <a:solidFill>
                  <a:srgbClr val="16213A"/>
                </a:solidFill>
                <a:latin typeface="Arial"/>
                <a:ea typeface="Malgun Gothic"/>
                <a:cs typeface="Malgun Gothic"/>
              </a:rPr>
              <a:t>oₜ^e ∈ ℝ^(H × W)</a:t>
            </a:r>
            <a:r>
              <a:rPr sz="1050" b="0" i="0">
                <a:solidFill>
                  <a:srgbClr val="16213A"/>
                </a:solidFill>
                <a:latin typeface="Arial"/>
                <a:ea typeface="Malgun Gothic"/>
                <a:cs typeface="Malgun Gothic"/>
              </a:rPr>
              <a:t>를, </a:t>
            </a:r>
            <a:r>
              <a:rPr sz="1050" b="1" i="0">
                <a:solidFill>
                  <a:srgbClr val="16213A"/>
                </a:solidFill>
                <a:latin typeface="Arial"/>
                <a:ea typeface="Malgun Gothic"/>
                <a:cs typeface="Malgun Gothic"/>
              </a:rPr>
              <a:t>critic</a:t>
            </a:r>
            <a:r>
              <a:rPr sz="1050" b="0" i="0">
                <a:solidFill>
                  <a:srgbClr val="16213A"/>
                </a:solidFill>
                <a:latin typeface="Arial"/>
                <a:ea typeface="Malgun Gothic"/>
                <a:cs typeface="Malgun Gothic"/>
              </a:rPr>
              <a:t>은 센서 범위 밖까지 담은 넓은 특권 높이 지도 </a:t>
            </a:r>
            <a:r>
              <a:rPr sz="1050" b="0" i="1">
                <a:solidFill>
                  <a:srgbClr val="16213A"/>
                </a:solidFill>
                <a:latin typeface="Arial"/>
                <a:ea typeface="Malgun Gothic"/>
                <a:cs typeface="Malgun Gothic"/>
              </a:rPr>
              <a:t>oₜ^E ∈ ℝ^(H' × W')</a:t>
            </a:r>
            <a:r>
              <a:rPr sz="1050" b="0" i="0">
                <a:solidFill>
                  <a:srgbClr val="16213A"/>
                </a:solidFill>
                <a:latin typeface="Arial"/>
                <a:ea typeface="Malgun Gothic"/>
                <a:cs typeface="Malgun Gothic"/>
              </a:rPr>
              <a:t>(</a:t>
            </a:r>
            <a:r>
              <a:rPr sz="1050" b="0" i="1">
                <a:solidFill>
                  <a:srgbClr val="16213A"/>
                </a:solidFill>
                <a:latin typeface="Arial"/>
                <a:ea typeface="Malgun Gothic"/>
                <a:cs typeface="Malgun Gothic"/>
              </a:rPr>
              <a:t>H &lt; H'</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W &lt; W'</a:t>
            </a:r>
            <a:r>
              <a:rPr sz="1050" b="0" i="0">
                <a:solidFill>
                  <a:srgbClr val="16213A"/>
                </a:solidFill>
                <a:latin typeface="Arial"/>
                <a:ea typeface="Malgun Gothic"/>
                <a:cs typeface="Malgun Gothic"/>
              </a:rPr>
              <a:t>)를 본다.</a:t>
            </a:r>
          </a:p>
        </p:txBody>
      </p:sp>
      <p:sp>
        <p:nvSpPr>
          <p:cNvPr id="6" name="TextBox 5"/>
          <p:cNvSpPr txBox="1"/>
          <p:nvPr/>
        </p:nvSpPr>
        <p:spPr>
          <a:xfrm>
            <a:off x="609600" y="176649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잠재에서 잠재로 옮기는 flow matching</a:t>
            </a:r>
            <a:r>
              <a:rPr sz="1050" b="0" i="0">
                <a:solidFill>
                  <a:srgbClr val="16213A"/>
                </a:solidFill>
                <a:latin typeface="Arial"/>
                <a:ea typeface="Malgun Gothic"/>
                <a:cs typeface="Malgun Gothic"/>
              </a:rPr>
              <a:t>(배경 0.6). 보통의 flow matching은 가우시안 노이즈에서 시작하지만, DreamFlow는 </a:t>
            </a:r>
            <a:r>
              <a:rPr sz="1050" b="1" i="0">
                <a:solidFill>
                  <a:srgbClr val="16213A"/>
                </a:solidFill>
                <a:latin typeface="Arial"/>
                <a:ea typeface="Malgun Gothic"/>
                <a:cs typeface="Malgun Gothic"/>
              </a:rPr>
              <a:t>지역 잠재 </a:t>
            </a:r>
            <a:r>
              <a:rPr sz="1050" b="1" i="1">
                <a:solidFill>
                  <a:srgbClr val="16213A"/>
                </a:solidFill>
                <a:latin typeface="Arial"/>
                <a:ea typeface="Malgun Gothic"/>
                <a:cs typeface="Malgun Gothic"/>
              </a:rPr>
              <a:t>z^eₜ</a:t>
            </a:r>
            <a:r>
              <a:rPr sz="1050" b="1" i="0">
                <a:solidFill>
                  <a:srgbClr val="16213A"/>
                </a:solidFill>
                <a:latin typeface="Arial"/>
                <a:ea typeface="Malgun Gothic"/>
                <a:cs typeface="Malgun Gothic"/>
              </a:rPr>
              <a:t>에서 출발해 넓은 잠재 </a:t>
            </a:r>
            <a:r>
              <a:rPr sz="1050" b="1" i="1">
                <a:solidFill>
                  <a:srgbClr val="16213A"/>
                </a:solidFill>
                <a:latin typeface="Arial"/>
                <a:ea typeface="Malgun Gothic"/>
                <a:cs typeface="Malgun Gothic"/>
              </a:rPr>
              <a:t>z^Eₜ</a:t>
            </a:r>
            <a:r>
              <a:rPr sz="1050" b="1" i="0">
                <a:solidFill>
                  <a:srgbClr val="16213A"/>
                </a:solidFill>
                <a:latin typeface="Arial"/>
                <a:ea typeface="Malgun Gothic"/>
                <a:cs typeface="Malgun Gothic"/>
              </a:rPr>
              <a:t>에 도착하는</a:t>
            </a:r>
            <a:r>
              <a:rPr sz="1050" b="0" i="0">
                <a:solidFill>
                  <a:srgbClr val="16213A"/>
                </a:solidFill>
                <a:latin typeface="Arial"/>
                <a:ea typeface="Malgun Gothic"/>
                <a:cs typeface="Malgun Gothic"/>
              </a:rPr>
              <a:t> 흐름을 배운다. 한 지역 관측에 여러 넓은 환경이 대응할 수 있으므로 로봇 상태·목표 문맥 </a:t>
            </a:r>
            <a:r>
              <a:rPr sz="1050" b="0" i="1">
                <a:solidFill>
                  <a:srgbClr val="16213A"/>
                </a:solidFill>
                <a:latin typeface="Arial"/>
                <a:ea typeface="Malgun Gothic"/>
                <a:cs typeface="Malgun Gothic"/>
              </a:rPr>
              <a:t>cₜ</a:t>
            </a:r>
            <a:r>
              <a:rPr sz="1050" b="0" i="0">
                <a:solidFill>
                  <a:srgbClr val="16213A"/>
                </a:solidFill>
                <a:latin typeface="Arial"/>
                <a:ea typeface="Malgun Gothic"/>
                <a:cs typeface="Malgun Gothic"/>
              </a:rPr>
              <a:t>를 조건으로 넣는다.</a:t>
            </a:r>
          </a:p>
        </p:txBody>
      </p:sp>
      <p:pic>
        <p:nvPicPr>
          <p:cNvPr id="7" name="Picture 6" descr="image.png"/>
          <p:cNvPicPr>
            <a:picLocks noChangeAspect="1"/>
          </p:cNvPicPr>
          <p:nvPr/>
        </p:nvPicPr>
        <p:blipFill>
          <a:blip r:embed="rId3"/>
          <a:stretch>
            <a:fillRect/>
          </a:stretch>
        </p:blipFill>
        <p:spPr>
          <a:xfrm>
            <a:off x="609600" y="2288381"/>
            <a:ext cx="5619750" cy="374650"/>
          </a:xfrm>
          <a:prstGeom prst="rect">
            <a:avLst/>
          </a:prstGeom>
        </p:spPr>
      </p:pic>
      <p:sp>
        <p:nvSpPr>
          <p:cNvPr id="8" name="TextBox 7"/>
          <p:cNvSpPr txBox="1"/>
          <p:nvPr/>
        </p:nvSpPr>
        <p:spPr>
          <a:xfrm>
            <a:off x="609600" y="2679005"/>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학습 데이터는 사전학습한 두 높이 지도 인코더(</a:t>
            </a:r>
            <a:r>
              <a:rPr sz="1050" b="0" i="1">
                <a:solidFill>
                  <a:srgbClr val="16213A"/>
                </a:solidFill>
                <a:latin typeface="Arial"/>
                <a:ea typeface="Malgun Gothic"/>
                <a:cs typeface="Malgun Gothic"/>
              </a:rPr>
              <a:t>ℋ^e</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ℋ^E</a:t>
            </a:r>
            <a:r>
              <a:rPr sz="1050" b="0" i="0">
                <a:solidFill>
                  <a:srgbClr val="16213A"/>
                </a:solidFill>
                <a:latin typeface="Arial"/>
                <a:ea typeface="Malgun Gothic"/>
                <a:cs typeface="Malgun Gothic"/>
              </a:rPr>
              <a:t>)로 모은 (지역 잠재, 넓은 잠재) 쌍이다. 배포 때 actor는 지역 잠재와 </a:t>
            </a:r>
            <a:r>
              <a:rPr sz="1050" b="1" i="0">
                <a:solidFill>
                  <a:srgbClr val="16213A"/>
                </a:solidFill>
                <a:latin typeface="Arial"/>
                <a:ea typeface="Malgun Gothic"/>
                <a:cs typeface="Malgun Gothic"/>
              </a:rPr>
              <a:t>상상한 넓은 잠재</a:t>
            </a:r>
            <a:r>
              <a:rPr sz="1050" b="0" i="0">
                <a:solidFill>
                  <a:srgbClr val="16213A"/>
                </a:solidFill>
                <a:latin typeface="Arial"/>
                <a:ea typeface="Malgun Gothic"/>
                <a:cs typeface="Malgun Gothic"/>
              </a:rPr>
              <a:t>를 함께 받아 막다른 곳을 미리 피한다.</a:t>
            </a:r>
          </a:p>
        </p:txBody>
      </p:sp>
      <p:sp>
        <p:nvSpPr>
          <p:cNvPr id="9" name="TextBox 8"/>
          <p:cNvSpPr txBox="1"/>
          <p:nvPr/>
        </p:nvSpPr>
        <p:spPr>
          <a:xfrm>
            <a:off x="609600" y="298440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결과.</a:t>
            </a:r>
            <a:r>
              <a:rPr sz="1050" b="0" i="0">
                <a:solidFill>
                  <a:srgbClr val="16213A"/>
                </a:solidFill>
                <a:latin typeface="Arial"/>
                <a:ea typeface="Malgun Gothic"/>
                <a:cs typeface="Malgun Gothic"/>
              </a:rPr>
              <a:t> 시뮬 Maze(Easy) 99.6%, Maze(Hard) 83.1%, Hallway 89.8%. Go2 + Mid-360 두 대로 좁은 통로·혼잡 환경을 충돌 없이 통과했다.</a:t>
            </a:r>
          </a:p>
        </p:txBody>
      </p:sp>
      <p:sp>
        <p:nvSpPr>
          <p:cNvPr id="10" name="TextBox 9"/>
          <p:cNvSpPr txBox="1"/>
          <p:nvPr/>
        </p:nvSpPr>
        <p:spPr>
          <a:xfrm>
            <a:off x="609600" y="3289796"/>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것.</a:t>
            </a:r>
            <a:r>
              <a:rPr sz="1050" b="0" i="0">
                <a:solidFill>
                  <a:srgbClr val="16213A"/>
                </a:solidFill>
                <a:latin typeface="Arial"/>
                <a:ea typeface="Malgun Gothic"/>
                <a:cs typeface="Malgun Gothic"/>
              </a:rPr>
              <a:t> Planner D의 조건(TravMap 크롭)에 "크롭 밖을 상상한 잠재"를 더하는 방식으로 옮길 수 있다. 학습 때는 운동학 시뮬의 정답 지형이 넓은 지도 역할을 한다. curb_ramp처럼 해법이 센서 밖에 있는 경우를 겨냥한다.</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위험 인지·로컬 내비</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B.9 위험 인지 경로 계획과 로컬 내비게이션</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102 / 516</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NMoMa — primitive에서 시작하는 truncated diffusion</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arXiv:2604.04166</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4"/>
              </a:rPr>
              <a:t>프로젝트</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5"/>
              </a:rPr>
              <a:t>코드</a:t>
            </a:r>
            <a:r>
              <a:rPr sz="1050" b="0" i="0">
                <a:solidFill>
                  <a:srgbClr val="16213A"/>
                </a:solidFill>
                <a:latin typeface="Arial"/>
                <a:ea typeface="Malgun Gothic"/>
                <a:cs typeface="Malgun Gothic"/>
              </a:rPr>
              <a:t>). 차동 구동 모바일 매니퓰레이터의 궤적을 만든다. 순수 가우시안 노이즈가 아니라 </a:t>
            </a:r>
            <a:r>
              <a:rPr sz="1050" b="1" i="0">
                <a:solidFill>
                  <a:srgbClr val="16213A"/>
                </a:solidFill>
                <a:latin typeface="Arial"/>
                <a:ea typeface="Malgun Gothic"/>
                <a:cs typeface="Malgun Gothic"/>
              </a:rPr>
              <a:t>고른 motion primitive 쪽으로 치우친 분포에서 시작하는 truncated diffusion</a:t>
            </a:r>
            <a:r>
              <a:rPr sz="1050" b="0" i="0">
                <a:solidFill>
                  <a:srgbClr val="16213A"/>
                </a:solidFill>
                <a:latin typeface="Arial"/>
                <a:ea typeface="Malgun Gothic"/>
                <a:cs typeface="Malgun Gothic"/>
              </a:rPr>
              <a:t>으로 효율과 다양성을 함께 높이고, 궤적 최적화로 동역학 실행 가능성을 맞춘다. DiffusionDrive의 anchor와 같은 발상을 기구학 제약이 있는 로봇에 적용한 것으로, Planner D가 curb_ramp의 급회전을 못 만드는 문제에 대한 </a:t>
            </a:r>
            <a:r>
              <a:rPr sz="1050" b="1" i="0">
                <a:solidFill>
                  <a:srgbClr val="16213A"/>
                </a:solidFill>
                <a:latin typeface="Arial"/>
                <a:ea typeface="Malgun Gothic"/>
                <a:cs typeface="Malgun Gothic"/>
              </a:rPr>
              <a:t>"시작점을 여러 방향으로 깔아 두기"</a:t>
            </a:r>
            <a:r>
              <a:rPr sz="1050" b="0" i="0">
                <a:solidFill>
                  <a:srgbClr val="16213A"/>
                </a:solidFill>
                <a:latin typeface="Arial"/>
                <a:ea typeface="Malgun Gothic"/>
                <a:cs typeface="Malgun Gothic"/>
              </a:rPr>
              <a:t> 근거다.</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위험 인지·로컬 내비</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B.9 위험 인지 경로 계획과 로컬 내비게이션</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103 / 516</a:t>
            </a:r>
          </a:p>
        </p:txBody>
      </p:sp>
      <p:pic>
        <p:nvPicPr>
          <p:cNvPr id="5" name="Picture 4" descr="image.jpg"/>
          <p:cNvPicPr>
            <a:picLocks noChangeAspect="1"/>
          </p:cNvPicPr>
          <p:nvPr/>
        </p:nvPicPr>
        <p:blipFill>
          <a:blip r:embed="rId3"/>
          <a:stretch>
            <a:fillRect/>
          </a:stretch>
        </p:blipFill>
        <p:spPr>
          <a:xfrm>
            <a:off x="3768725" y="1244600"/>
            <a:ext cx="4654550" cy="4445000"/>
          </a:xfrm>
          <a:prstGeom prst="rect">
            <a:avLst/>
          </a:prstGeom>
        </p:spPr>
      </p:pic>
      <p:sp>
        <p:nvSpPr>
          <p:cNvPr id="6" name="TextBox 5"/>
          <p:cNvSpPr txBox="1"/>
          <p:nvPr/>
        </p:nvSpPr>
        <p:spPr>
          <a:xfrm>
            <a:off x="3768725" y="5727700"/>
            <a:ext cx="465455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NMoMa (Fig. 1): 노이즈(a)와 선택한 primitive(b)에서 denoise한 경로들(c)을 궤적 최적화로 다듬는 배포 과정. 출처: arXiv:2604.04166</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위험 인지·로컬 내비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B.9 위험 인지 경로 계획과 로컬 내비게이션</a:t>
            </a:r>
            <a:r>
              <a:rPr sz="1050" b="0" i="0">
                <a:solidFill>
                  <a:srgbClr val="5A6478"/>
                </a:solidFill>
                <a:latin typeface="Arial"/>
                <a:ea typeface="Malgun Gothic"/>
                <a:cs typeface="Malgun Gothic"/>
              </a:rPr>
              <a:t>  자세히: NMoMa의 방법과 수식</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104 / 516</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과제 인코딩.</a:t>
            </a:r>
            <a:r>
              <a:rPr sz="1050" b="0" i="0">
                <a:solidFill>
                  <a:srgbClr val="16213A"/>
                </a:solidFill>
                <a:latin typeface="Arial"/>
                <a:ea typeface="Malgun Gothic"/>
                <a:cs typeface="Malgun Gothic"/>
              </a:rPr>
              <a:t> 차동 구동 모바일 매니퓰레이터(DDMoMa)의 시작·목표 상태 </a:t>
            </a:r>
            <a:r>
              <a:rPr sz="1050" b="0" i="1">
                <a:solidFill>
                  <a:srgbClr val="16213A"/>
                </a:solidFill>
                <a:latin typeface="Arial"/>
                <a:ea typeface="Malgun Gothic"/>
                <a:cs typeface="Malgun Gothic"/>
              </a:rPr>
              <a:t>s = [x, y, θ, q^⊤]^⊤ ∈ SE(2) × ℝ^(Nₘ)</a:t>
            </a:r>
            <a:r>
              <a:rPr sz="1050" b="0" i="0">
                <a:solidFill>
                  <a:srgbClr val="16213A"/>
                </a:solidFill>
                <a:latin typeface="Arial"/>
                <a:ea typeface="Malgun Gothic"/>
                <a:cs typeface="Malgun Gothic"/>
              </a:rPr>
              <a:t>를 </a:t>
            </a:r>
            <a:r>
              <a:rPr sz="1050" b="1" i="0">
                <a:solidFill>
                  <a:srgbClr val="16213A"/>
                </a:solidFill>
                <a:latin typeface="Arial"/>
                <a:ea typeface="Malgun Gothic"/>
                <a:cs typeface="Malgun Gothic"/>
              </a:rPr>
              <a:t>미분 가능한 순기구학</a:t>
            </a:r>
            <a:r>
              <a:rPr sz="1050" b="0" i="0">
                <a:solidFill>
                  <a:srgbClr val="16213A"/>
                </a:solidFill>
                <a:latin typeface="Arial"/>
                <a:ea typeface="Malgun Gothic"/>
                <a:cs typeface="Malgun Gothic"/>
              </a:rPr>
              <a:t>으로 3D 키포인트 열(관절 좌표, 베이스 중심 등)로 바꾼다. 점군은 시작→목표 방향이 x축이 되도록 회전해 정규화한다. 점군과 키포인트를 따로 인코딩한 뒤 attention으로 합친다.</a:t>
            </a:r>
          </a:p>
        </p:txBody>
      </p:sp>
      <p:pic>
        <p:nvPicPr>
          <p:cNvPr id="6" name="Picture 5" descr="image.png"/>
          <p:cNvPicPr>
            <a:picLocks noChangeAspect="1"/>
          </p:cNvPicPr>
          <p:nvPr/>
        </p:nvPicPr>
        <p:blipFill>
          <a:blip r:embed="rId3"/>
          <a:stretch>
            <a:fillRect/>
          </a:stretch>
        </p:blipFill>
        <p:spPr>
          <a:xfrm>
            <a:off x="609600" y="1766491"/>
            <a:ext cx="4311650" cy="241300"/>
          </a:xfrm>
          <a:prstGeom prst="rect">
            <a:avLst/>
          </a:prstGeom>
        </p:spPr>
      </p:pic>
      <p:sp>
        <p:nvSpPr>
          <p:cNvPr id="7" name="TextBox 6"/>
          <p:cNvSpPr txBox="1"/>
          <p:nvPr/>
        </p:nvSpPr>
        <p:spPr>
          <a:xfrm>
            <a:off x="609600" y="2044005"/>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primitive 기반 truncated diffusion(PTDM).</a:t>
            </a:r>
            <a:r>
              <a:rPr sz="1050" b="0" i="0">
                <a:solidFill>
                  <a:srgbClr val="16213A"/>
                </a:solidFill>
                <a:latin typeface="Arial"/>
                <a:ea typeface="Malgun Gothic"/>
                <a:cs typeface="Malgun Gothic"/>
              </a:rPr>
              <a:t> 경로 </a:t>
            </a:r>
            <a:r>
              <a:rPr sz="1050" b="0" i="1">
                <a:solidFill>
                  <a:srgbClr val="16213A"/>
                </a:solidFill>
                <a:latin typeface="Arial"/>
                <a:ea typeface="Malgun Gothic"/>
                <a:cs typeface="Malgun Gothic"/>
              </a:rPr>
              <a:t>τ = [mathfraks₁, …, mathfraks_(N_τ)]</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mathfraksᵢ = [xᵢ, yᵢ, cosθᵢ, sinθᵢ, qᵢ^⊤]^⊤</a:t>
            </a:r>
            <a:r>
              <a:rPr sz="1050" b="0" i="0">
                <a:solidFill>
                  <a:srgbClr val="16213A"/>
                </a:solidFill>
                <a:latin typeface="Arial"/>
                <a:ea typeface="Malgun Gothic"/>
                <a:cs typeface="Malgun Gothic"/>
              </a:rPr>
              <a:t>를, 순수 노이즈가 아니라 </a:t>
            </a:r>
            <a:r>
              <a:rPr sz="1050" b="1" i="0">
                <a:solidFill>
                  <a:srgbClr val="16213A"/>
                </a:solidFill>
                <a:latin typeface="Arial"/>
                <a:ea typeface="Malgun Gothic"/>
                <a:cs typeface="Malgun Gothic"/>
              </a:rPr>
              <a:t>고른 motion primitive에 노이즈를 섞은 분포</a:t>
            </a:r>
            <a:r>
              <a:rPr sz="1050" b="0" i="0">
                <a:solidFill>
                  <a:srgbClr val="16213A"/>
                </a:solidFill>
                <a:latin typeface="Arial"/>
                <a:ea typeface="Malgun Gothic"/>
                <a:cs typeface="Malgun Gothic"/>
              </a:rPr>
              <a:t>에서 시작해 denoise한다(배경 0.7). primitive는 과제 잠재 특징으로 고른다. 치우친 시작점 덕분에 스텝이 줄고 mode collapse가 줄어든다.</a:t>
            </a:r>
          </a:p>
        </p:txBody>
      </p:sp>
      <p:pic>
        <p:nvPicPr>
          <p:cNvPr id="8" name="Picture 7" descr="image.png"/>
          <p:cNvPicPr>
            <a:picLocks noChangeAspect="1"/>
          </p:cNvPicPr>
          <p:nvPr/>
        </p:nvPicPr>
        <p:blipFill>
          <a:blip r:embed="rId4"/>
          <a:stretch>
            <a:fillRect/>
          </a:stretch>
        </p:blipFill>
        <p:spPr>
          <a:xfrm>
            <a:off x="609600" y="2565896"/>
            <a:ext cx="4625975" cy="241300"/>
          </a:xfrm>
          <a:prstGeom prst="rect">
            <a:avLst/>
          </a:prstGeom>
        </p:spPr>
      </p:pic>
      <p:sp>
        <p:nvSpPr>
          <p:cNvPr id="9" name="TextBox 8"/>
          <p:cNvSpPr txBox="1"/>
          <p:nvPr/>
        </p:nvSpPr>
        <p:spPr>
          <a:xfrm>
            <a:off x="609600" y="284341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후처리.</a:t>
            </a:r>
            <a:r>
              <a:rPr sz="1050" b="0" i="0">
                <a:solidFill>
                  <a:srgbClr val="16213A"/>
                </a:solidFill>
                <a:latin typeface="Arial"/>
                <a:ea typeface="Malgun Gothic"/>
                <a:cs typeface="Malgun Gothic"/>
              </a:rPr>
              <a:t> 생성한 경로를 모델 기반 궤적 최적화로 다듬어 동역학 실행 가능성과 과제 최적성을 맞춘다. 기준선 TopAY 대비 성공률·다양성이 높고 실행 시간은 비슷하다.</a:t>
            </a:r>
          </a:p>
        </p:txBody>
      </p:sp>
      <p:sp>
        <p:nvSpPr>
          <p:cNvPr id="10" name="TextBox 9"/>
          <p:cNvSpPr txBox="1"/>
          <p:nvPr/>
        </p:nvSpPr>
        <p:spPr>
          <a:xfrm>
            <a:off x="609600" y="3148806"/>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것.</a:t>
            </a:r>
            <a:r>
              <a:rPr sz="1050" b="0" i="0">
                <a:solidFill>
                  <a:srgbClr val="16213A"/>
                </a:solidFill>
                <a:latin typeface="Arial"/>
                <a:ea typeface="Malgun Gothic"/>
                <a:cs typeface="Malgun Gothic"/>
              </a:rPr>
              <a:t> DiffusionDrive의 anchor보다 </a:t>
            </a:r>
            <a:r>
              <a:rPr sz="1050" b="1" i="0">
                <a:solidFill>
                  <a:srgbClr val="16213A"/>
                </a:solidFill>
                <a:latin typeface="Arial"/>
                <a:ea typeface="Malgun Gothic"/>
                <a:cs typeface="Malgun Gothic"/>
              </a:rPr>
              <a:t>기구학 제약이 있는 로봇</a:t>
            </a:r>
            <a:r>
              <a:rPr sz="1050" b="0" i="0">
                <a:solidFill>
                  <a:srgbClr val="16213A"/>
                </a:solidFill>
                <a:latin typeface="Arial"/>
                <a:ea typeface="Malgun Gothic"/>
                <a:cs typeface="Malgun Gothic"/>
              </a:rPr>
              <a:t>에 가까운 사례다. 스워브의 전형 동작(직진, 제자리 회전, 게걸음, 급회전)을 primitive로 두고 Planner D를 거기서 시작하게 하면 급회전 실패를 겨냥할 수 있다.</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위험 인지·로컬 내비</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B.9 위험 인지 경로 계획과 로컬 내비게이션</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105 / 516</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RoM-Nav — 축소 모델에서 먼저 배우고, 고정된 보행 제어기 위에서 다듬는다</a:t>
            </a:r>
            <a:r>
              <a:rPr sz="1050" b="0" i="0">
                <a:solidFill>
                  <a:srgbClr val="16213A"/>
                </a:solidFill>
                <a:latin typeface="Arial"/>
                <a:ea typeface="Malgun Gothic"/>
                <a:cs typeface="Malgun Gothic"/>
              </a:rPr>
              <a:t>("Learning Safe Humanoid Navigation from Reduced Order Models", </a:t>
            </a:r>
            <a:r>
              <a:rPr sz="1050" b="0" i="0">
                <a:solidFill>
                  <a:srgbClr val="1D4ED8"/>
                </a:solidFill>
                <a:latin typeface="Arial"/>
                <a:ea typeface="Malgun Gothic"/>
                <a:cs typeface="Malgun Gothic"/>
                <a:hlinkClick r:id="rId3"/>
              </a:rPr>
              <a:t>arXiv:2609.19272</a:t>
            </a:r>
            <a:r>
              <a:rPr sz="1050" b="0" i="0">
                <a:solidFill>
                  <a:srgbClr val="16213A"/>
                </a:solidFill>
                <a:latin typeface="Arial"/>
                <a:ea typeface="Malgun Gothic"/>
                <a:cs typeface="Malgun Gothic"/>
              </a:rPr>
              <a:t>, 2026-09, Compton, Olkin, Bena, Ames — Caltech·Amazon SAF, ICRA 2027 심사 중, </a:t>
            </a:r>
            <a:r>
              <a:rPr sz="1050" b="0" i="0">
                <a:solidFill>
                  <a:srgbClr val="1D4ED8"/>
                </a:solidFill>
                <a:latin typeface="Arial"/>
                <a:ea typeface="Malgun Gothic"/>
                <a:cs typeface="Malgun Gothic"/>
                <a:hlinkClick r:id="rId4"/>
              </a:rPr>
              <a:t>프로젝트</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5"/>
              </a:rPr>
              <a:t>소스</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6"/>
              </a:rPr>
              <a:t>영상</a:t>
            </a:r>
            <a:r>
              <a:rPr sz="1050" b="0" i="0">
                <a:solidFill>
                  <a:srgbClr val="16213A"/>
                </a:solidFill>
                <a:latin typeface="Arial"/>
                <a:ea typeface="Malgun Gothic"/>
                <a:cs typeface="Malgun Gothic"/>
              </a:rPr>
              <a:t>). 다층 건물을 오르내리는 휴머노이드 내비다. 한 번에 RL로 학습하면 계단 같은 복잡한 상호작용 때문에 규모를 키우지 못한다. 그래서 둘로 나눈다.</a:t>
            </a:r>
          </a:p>
        </p:txBody>
      </p:sp>
      <p:sp>
        <p:nvSpPr>
          <p:cNvPr id="6" name="TextBox 5"/>
          <p:cNvSpPr txBox="1"/>
          <p:nvPr/>
        </p:nvSpPr>
        <p:spPr>
          <a:xfrm>
            <a:off x="609600" y="1982986"/>
            <a:ext cx="10972800" cy="674886"/>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1. </a:t>
            </a:r>
            <a:r>
              <a:rPr sz="1050" b="0" i="0">
                <a:solidFill>
                  <a:srgbClr val="16213A"/>
                </a:solidFill>
                <a:latin typeface="Arial"/>
                <a:ea typeface="Malgun Gothic"/>
                <a:cs typeface="Malgun Gothic"/>
              </a:rPr>
              <a:t>heading이 있는 단순 적분기(</a:t>
            </a:r>
            <a:r>
              <a:rPr sz="1050" b="1" i="0">
                <a:solidFill>
                  <a:srgbClr val="16213A"/>
                </a:solidFill>
                <a:latin typeface="Arial"/>
                <a:ea typeface="Malgun Gothic"/>
                <a:cs typeface="Malgun Gothic"/>
              </a:rPr>
              <a:t>축소 모델</a:t>
            </a:r>
            <a:r>
              <a:rPr sz="1050" b="0" i="0">
                <a:solidFill>
                  <a:srgbClr val="16213A"/>
                </a:solidFill>
                <a:latin typeface="Arial"/>
                <a:ea typeface="Malgun Gothic"/>
                <a:cs typeface="Malgun Gothic"/>
              </a:rPr>
              <a:t>)로 3D LiDAR를 보며 다층 지형을 내비하는 정책을 먼저 빠르게 학습한다. 점유 칸으로 들어가는 명령은 경계를 따라 미끄러지게 투영해 상호작용을 단순화한다.</a:t>
            </a:r>
          </a:p>
          <a:p>
            <a:pPr>
              <a:spcBef>
                <a:spcPts val="200"/>
              </a:spcBef>
            </a:pPr>
            <a:r>
              <a:rPr sz="1050" b="0" i="0">
                <a:solidFill>
                  <a:srgbClr val="5A6478"/>
                </a:solidFill>
                <a:latin typeface="Arial"/>
                <a:ea typeface="Malgun Gothic"/>
                <a:cs typeface="Malgun Gothic"/>
              </a:rPr>
              <a:t>2. </a:t>
            </a:r>
            <a:r>
              <a:rPr sz="1050" b="0" i="0">
                <a:solidFill>
                  <a:srgbClr val="16213A"/>
                </a:solidFill>
                <a:latin typeface="Arial"/>
                <a:ea typeface="Malgun Gothic"/>
                <a:cs typeface="Malgun Gothic"/>
              </a:rPr>
              <a:t>그 정책을 KL 항으로 교사 삼아, </a:t>
            </a:r>
            <a:r>
              <a:rPr sz="1050" b="1" i="0">
                <a:solidFill>
                  <a:srgbClr val="16213A"/>
                </a:solidFill>
                <a:latin typeface="Arial"/>
                <a:ea typeface="Malgun Gothic"/>
                <a:cs typeface="Malgun Gothic"/>
              </a:rPr>
              <a:t>고정된 보행 정책(frozen locomotion controller)을 루프에 둔 실제 휴머노이드</a:t>
            </a:r>
            <a:r>
              <a:rPr sz="1050" b="0" i="0">
                <a:solidFill>
                  <a:srgbClr val="16213A"/>
                </a:solidFill>
                <a:latin typeface="Arial"/>
                <a:ea typeface="Malgun Gothic"/>
                <a:cs typeface="Malgun Gothic"/>
              </a:rPr>
              <a:t> 위 정책을 kickstart한다.</a:t>
            </a:r>
          </a:p>
        </p:txBody>
      </p:sp>
      <p:sp>
        <p:nvSpPr>
          <p:cNvPr id="7" name="TextBox 6"/>
          <p:cNvSpPr txBox="1"/>
          <p:nvPr/>
        </p:nvSpPr>
        <p:spPr>
          <a:xfrm>
            <a:off x="609600" y="2746772"/>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인식은 LiDAR·깊이 CNN 인코더를 denoising VAE(바닥·장애물·계단·램프 분할 헤드 포함)로 미리 학습해 고정한다. 출력은 5 Hz 평면 속도 명령이고, 분포 밖 장애물에는 </a:t>
            </a:r>
            <a:r>
              <a:rPr sz="1050" b="1" i="0">
                <a:solidFill>
                  <a:srgbClr val="16213A"/>
                </a:solidFill>
                <a:latin typeface="Arial"/>
                <a:ea typeface="Malgun Gothic"/>
                <a:cs typeface="Malgun Gothic"/>
              </a:rPr>
              <a:t>Poisson 안전 필터</a:t>
            </a:r>
            <a:r>
              <a:rPr sz="1050" b="0" i="0">
                <a:solidFill>
                  <a:srgbClr val="16213A"/>
                </a:solidFill>
                <a:latin typeface="Arial"/>
                <a:ea typeface="Malgun Gothic"/>
                <a:cs typeface="Malgun Gothic"/>
              </a:rPr>
              <a:t>를 씌운다. Unitree G1에서 수직 10 m, 경로 100 m 이상의 지도 없는 다층 내비를 보였다.</a:t>
            </a:r>
          </a:p>
        </p:txBody>
      </p:sp>
      <p:sp>
        <p:nvSpPr>
          <p:cNvPr id="8" name="TextBox 7"/>
          <p:cNvSpPr txBox="1"/>
          <p:nvPr/>
        </p:nvSpPr>
        <p:spPr>
          <a:xfrm>
            <a:off x="609600" y="3268662"/>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travplan과 구조가 가장 직접적으로 겹친다. </a:t>
            </a:r>
            <a:r>
              <a:rPr sz="1050" b="1" i="0">
                <a:solidFill>
                  <a:srgbClr val="16213A"/>
                </a:solidFill>
                <a:latin typeface="Arial"/>
                <a:ea typeface="Malgun Gothic"/>
                <a:cs typeface="Malgun Gothic"/>
              </a:rPr>
              <a:t>내비 정책(Planner)과 고정된 저수준 제어기(Controller)의 분리</a:t>
            </a:r>
            <a:r>
              <a:rPr sz="1050" b="0" i="0">
                <a:solidFill>
                  <a:srgbClr val="16213A"/>
                </a:solidFill>
                <a:latin typeface="Arial"/>
                <a:ea typeface="Malgun Gothic"/>
                <a:cs typeface="Malgun Gothic"/>
              </a:rPr>
              <a:t>가 같고, </a:t>
            </a:r>
            <a:r>
              <a:rPr sz="1050" b="1" i="0">
                <a:solidFill>
                  <a:srgbClr val="16213A"/>
                </a:solidFill>
                <a:latin typeface="Arial"/>
                <a:ea typeface="Malgun Gothic"/>
                <a:cs typeface="Malgun Gothic"/>
              </a:rPr>
              <a:t>축소 모델에서 먼저 학습해 실제 동역학으로 옮기는 경로</a:t>
            </a:r>
            <a:r>
              <a:rPr sz="1050" b="0" i="0">
                <a:solidFill>
                  <a:srgbClr val="16213A"/>
                </a:solidFill>
                <a:latin typeface="Arial"/>
                <a:ea typeface="Malgun Gothic"/>
                <a:cs typeface="Malgun Gothic"/>
              </a:rPr>
              <a:t>가 Planner D를 운동학 시뮬에서 학습해 Isaac Sim으로 옮기는 계획과 같다. </a:t>
            </a:r>
            <a:r>
              <a:rPr sz="1050" b="1" i="0">
                <a:solidFill>
                  <a:srgbClr val="16213A"/>
                </a:solidFill>
                <a:latin typeface="Arial"/>
                <a:ea typeface="Malgun Gothic"/>
                <a:cs typeface="Malgun Gothic"/>
              </a:rPr>
              <a:t>분포 밖 장애물용 안전 필터</a:t>
            </a:r>
            <a:r>
              <a:rPr sz="1050" b="0" i="0">
                <a:solidFill>
                  <a:srgbClr val="16213A"/>
                </a:solidFill>
                <a:latin typeface="Arial"/>
                <a:ea typeface="Malgun Gothic"/>
                <a:cs typeface="Malgun Gothic"/>
              </a:rPr>
              <a:t>는 §C·§E의 안전 필터 계층에 해당한다.</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위험 인지·로컬 내비</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B.9 위험 인지 경로 계획과 로컬 내비게이션</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106 / 516</a:t>
            </a:r>
          </a:p>
        </p:txBody>
      </p:sp>
      <p:pic>
        <p:nvPicPr>
          <p:cNvPr id="5" name="Picture 4" descr="image.jpg"/>
          <p:cNvPicPr>
            <a:picLocks noChangeAspect="1"/>
          </p:cNvPicPr>
          <p:nvPr/>
        </p:nvPicPr>
        <p:blipFill>
          <a:blip r:embed="rId3"/>
          <a:stretch>
            <a:fillRect/>
          </a:stretch>
        </p:blipFill>
        <p:spPr>
          <a:xfrm>
            <a:off x="1016000" y="1244600"/>
            <a:ext cx="10160000" cy="4178300"/>
          </a:xfrm>
          <a:prstGeom prst="rect">
            <a:avLst/>
          </a:prstGeom>
        </p:spPr>
      </p:pic>
      <p:sp>
        <p:nvSpPr>
          <p:cNvPr id="6" name="TextBox 5"/>
          <p:cNvSpPr txBox="1"/>
          <p:nvPr/>
        </p:nvSpPr>
        <p:spPr>
          <a:xfrm>
            <a:off x="1016000" y="5461000"/>
            <a:ext cx="101600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RoM-Nav (Fig. 2): LiDAR·깊이를 사전학습 CNN 인코더와 attention으로 처리해 GRU → MLP로 속도 명령을 낸다. 축소 모델 정책을 먼저 학습하고, KL + PPO로 휴머노이드(고정 보행 제어기 포함) 정책을 kickstart한다. 출처: arXiv:2609.19272</a:t>
            </a:r>
          </a:p>
        </p:txBody>
      </p:sp>
      <p:sp>
        <p:nvSpPr>
          <p:cNvPr id="7" name="TextBox 6"/>
          <p:cNvSpPr txBox="1"/>
          <p:nvPr/>
        </p:nvSpPr>
        <p:spPr>
          <a:xfrm>
            <a:off x="609600" y="583426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영상.</a:t>
            </a:r>
            <a:r>
              <a:rPr sz="1050" b="0" i="0">
                <a:solidFill>
                  <a:srgbClr val="16213A"/>
                </a:solidFill>
                <a:latin typeface="Arial"/>
                <a:ea typeface="Malgun Gothic"/>
                <a:cs typeface="Malgun Gothic"/>
              </a:rPr>
              <a:t> G1이 지도 없이 계단과 층을 오르내리며 내비하는 실물 시연은 </a:t>
            </a:r>
            <a:r>
              <a:rPr sz="1050" b="0" i="0">
                <a:solidFill>
                  <a:srgbClr val="1D4ED8"/>
                </a:solidFill>
                <a:latin typeface="Arial"/>
                <a:ea typeface="Malgun Gothic"/>
                <a:cs typeface="Malgun Gothic"/>
                <a:hlinkClick r:id="rId4"/>
              </a:rPr>
              <a:t>YouTube</a:t>
            </a:r>
            <a:r>
              <a:rPr sz="1050" b="0" i="0">
                <a:solidFill>
                  <a:srgbClr val="16213A"/>
                </a:solidFill>
                <a:latin typeface="Arial"/>
                <a:ea typeface="Malgun Gothic"/>
                <a:cs typeface="Malgun Gothic"/>
              </a:rPr>
              <a:t>에 있다.</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위험 인지·로컬 내비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B.9 위험 인지 경로 계획과 로컬 내비게이션</a:t>
            </a:r>
            <a:r>
              <a:rPr sz="1050" b="0" i="0">
                <a:solidFill>
                  <a:srgbClr val="5A6478"/>
                </a:solidFill>
                <a:latin typeface="Arial"/>
                <a:ea typeface="Malgun Gothic"/>
                <a:cs typeface="Malgun Gothic"/>
              </a:rPr>
              <a:t>  자세히: RoM-Nav의 방법과 수식</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107 / 516</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배포 형태.</a:t>
            </a:r>
            <a:r>
              <a:rPr sz="1050" b="0" i="0">
                <a:solidFill>
                  <a:srgbClr val="16213A"/>
                </a:solidFill>
                <a:latin typeface="Arial"/>
                <a:ea typeface="Malgun Gothic"/>
                <a:cs typeface="Malgun Gothic"/>
              </a:rPr>
              <a:t> Unitree G1 + Mid-360 LiDAR + 아래를 보는 ZED Mini. 내비 정책은 5 Hz로 평면 속도 명령(앞 1 m/s, 옆 0.25 m/s, 회전 1 rad/s 한계)을 내고, 50 Hz </a:t>
            </a:r>
            <a:r>
              <a:rPr sz="1050" b="1" i="0">
                <a:solidFill>
                  <a:srgbClr val="16213A"/>
                </a:solidFill>
                <a:latin typeface="Arial"/>
                <a:ea typeface="Malgun Gothic"/>
                <a:cs typeface="Malgun Gothic"/>
              </a:rPr>
              <a:t>고정 보행 정책</a:t>
            </a:r>
            <a:r>
              <a:rPr sz="1050" b="0" i="0">
                <a:solidFill>
                  <a:srgbClr val="16213A"/>
                </a:solidFill>
                <a:latin typeface="Arial"/>
                <a:ea typeface="Malgun Gothic"/>
                <a:cs typeface="Malgun Gothic"/>
              </a:rPr>
              <a:t>이 실행한다. 지도는 쓰지 않는다.</a:t>
            </a:r>
          </a:p>
        </p:txBody>
      </p:sp>
      <p:sp>
        <p:nvSpPr>
          <p:cNvPr id="6" name="TextBox 5"/>
          <p:cNvSpPr txBox="1"/>
          <p:nvPr/>
        </p:nvSpPr>
        <p:spPr>
          <a:xfrm>
            <a:off x="609600" y="176649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1단계: 축소 모델(RoM).</a:t>
            </a:r>
            <a:r>
              <a:rPr sz="1050" b="0" i="0">
                <a:solidFill>
                  <a:srgbClr val="16213A"/>
                </a:solidFill>
                <a:latin typeface="Arial"/>
                <a:ea typeface="Malgun Gothic"/>
                <a:cs typeface="Malgun Gothic"/>
              </a:rPr>
              <a:t> heading이 있는 단순 적분기가 같은 3D 지형에서 뽑은 0.2 m 층별 점유 격자와 충돌한다. 점유 칸으로 들어가는 명령은 경계를 따라 미끄러지게 투영해, 복잡한 발-지형 상호작용을 없앤다. 그래서 H100 한 장으로 12시간이면 강한 내비 정책을 얻는다.</a:t>
            </a:r>
          </a:p>
        </p:txBody>
      </p:sp>
      <p:sp>
        <p:nvSpPr>
          <p:cNvPr id="7" name="TextBox 6"/>
          <p:cNvSpPr txBox="1"/>
          <p:nvPr/>
        </p:nvSpPr>
        <p:spPr>
          <a:xfrm>
            <a:off x="609600" y="228838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2단계: kickstart</a:t>
            </a:r>
            <a:r>
              <a:rPr sz="1050" b="0" i="0">
                <a:solidFill>
                  <a:srgbClr val="16213A"/>
                </a:solidFill>
                <a:latin typeface="Arial"/>
                <a:ea typeface="Malgun Gothic"/>
                <a:cs typeface="Malgun Gothic"/>
              </a:rPr>
              <a:t>(배경 0.12). RoM 정책을 교사로, 실제 휴머노이드(보행 정책 고정)에서 PPO와 KL을 함께 최적화한다. </a:t>
            </a:r>
            <a:r>
              <a:rPr sz="1050" b="0" i="1">
                <a:solidFill>
                  <a:srgbClr val="16213A"/>
                </a:solidFill>
                <a:latin typeface="Arial"/>
                <a:ea typeface="Malgun Gothic"/>
                <a:cs typeface="Malgun Gothic"/>
              </a:rPr>
              <a:t>λ</a:t>
            </a:r>
            <a:r>
              <a:rPr sz="1050" b="0" i="0">
                <a:solidFill>
                  <a:srgbClr val="16213A"/>
                </a:solidFill>
                <a:latin typeface="Arial"/>
                <a:ea typeface="Malgun Gothic"/>
                <a:cs typeface="Malgun Gothic"/>
              </a:rPr>
              <a:t>는 처음 100 반복 동안 1이고 1100 반복까지 0.05로 줄인 뒤 유지한다(총 2000 반복, 32시간).</a:t>
            </a:r>
          </a:p>
        </p:txBody>
      </p:sp>
      <p:pic>
        <p:nvPicPr>
          <p:cNvPr id="8" name="Picture 7" descr="image.png"/>
          <p:cNvPicPr>
            <a:picLocks noChangeAspect="1"/>
          </p:cNvPicPr>
          <p:nvPr/>
        </p:nvPicPr>
        <p:blipFill>
          <a:blip r:embed="rId3"/>
          <a:stretch>
            <a:fillRect/>
          </a:stretch>
        </p:blipFill>
        <p:spPr>
          <a:xfrm>
            <a:off x="609600" y="2810272"/>
            <a:ext cx="1943100" cy="241300"/>
          </a:xfrm>
          <a:prstGeom prst="rect">
            <a:avLst/>
          </a:prstGeom>
        </p:spPr>
      </p:pic>
      <p:sp>
        <p:nvSpPr>
          <p:cNvPr id="9" name="TextBox 8"/>
          <p:cNvSpPr txBox="1"/>
          <p:nvPr/>
        </p:nvSpPr>
        <p:spPr>
          <a:xfrm>
            <a:off x="609600" y="3087787"/>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인식.</a:t>
            </a:r>
            <a:r>
              <a:rPr sz="1050" b="0" i="0">
                <a:solidFill>
                  <a:srgbClr val="16213A"/>
                </a:solidFill>
                <a:latin typeface="Arial"/>
                <a:ea typeface="Malgun Gothic"/>
                <a:cs typeface="Malgun Gothic"/>
              </a:rPr>
              <a:t> LiDAR range 영상과 깊이 영상을 각각 CNN으로 인코딩하는데, RL 중에 배우지 않고 </a:t>
            </a:r>
            <a:r>
              <a:rPr sz="1050" b="1" i="0">
                <a:solidFill>
                  <a:srgbClr val="16213A"/>
                </a:solidFill>
                <a:latin typeface="Arial"/>
                <a:ea typeface="Malgun Gothic"/>
                <a:cs typeface="Malgun Gothic"/>
              </a:rPr>
              <a:t>denoising VAE로 미리 학습해 고정</a:t>
            </a:r>
            <a:r>
              <a:rPr sz="1050" b="0" i="0">
                <a:solidFill>
                  <a:srgbClr val="16213A"/>
                </a:solidFill>
                <a:latin typeface="Arial"/>
                <a:ea typeface="Malgun Gothic"/>
                <a:cs typeface="Malgun Gothic"/>
              </a:rPr>
              <a:t>한다. 재구성 헤드(깊이, XYZ, 유효 마스크)와 분할 헤드(바닥·장애물·계단·램프)를 달고, 0–80% 픽셀 탈락과 머리 가림 마스크로 무작위화한다. 사전학습이 없으면 성공률이 크게 떨어지고, 고정과 미세조정은 성능이 같지만 미세조정이 반복당 15% 느리다.</a:t>
            </a:r>
          </a:p>
        </p:txBody>
      </p:sp>
      <p:sp>
        <p:nvSpPr>
          <p:cNvPr id="10" name="TextBox 9"/>
          <p:cNvSpPr txBox="1"/>
          <p:nvPr/>
        </p:nvSpPr>
        <p:spPr>
          <a:xfrm>
            <a:off x="609600" y="3609677"/>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학습 분포.</a:t>
            </a:r>
            <a:r>
              <a:rPr sz="1050" b="0" i="0">
                <a:solidFill>
                  <a:srgbClr val="16213A"/>
                </a:solidFill>
                <a:latin typeface="Arial"/>
                <a:ea typeface="Malgun Gothic"/>
                <a:cs typeface="Malgun Gothic"/>
              </a:rPr>
              <a:t> 스폰의 30%는 계단·램프 입구 근처(보행 중간 자세), 목표는 측지 거리 30 m 이내로 제한하고 층을 넘나드는 목표를 늘린다. 둘 중 하나만 빼도 층간 목표 성공률이 약 30%p 떨어진다.</a:t>
            </a:r>
          </a:p>
        </p:txBody>
      </p:sp>
      <p:sp>
        <p:nvSpPr>
          <p:cNvPr id="11" name="TextBox 10"/>
          <p:cNvSpPr txBox="1"/>
          <p:nvPr/>
        </p:nvSpPr>
        <p:spPr>
          <a:xfrm>
            <a:off x="609600" y="3915073"/>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결과(시뮬, 1024 초기 조건).</a:t>
            </a:r>
            <a:r>
              <a:rPr sz="1050" b="0" i="0">
                <a:solidFill>
                  <a:srgbClr val="16213A"/>
                </a:solidFill>
                <a:latin typeface="Arial"/>
                <a:ea typeface="Malgun Gothic"/>
                <a:cs typeface="Malgun Gothic"/>
              </a:rPr>
              <a:t> SR@45 s: 단일 단계 62.2%, RoM 그대로 이식 74.2%, </a:t>
            </a:r>
            <a:r>
              <a:rPr sz="1050" b="1" i="0">
                <a:solidFill>
                  <a:srgbClr val="16213A"/>
                </a:solidFill>
                <a:latin typeface="Arial"/>
                <a:ea typeface="Malgun Gothic"/>
                <a:cs typeface="Malgun Gothic"/>
              </a:rPr>
              <a:t>RoM-Nav 82.3%</a:t>
            </a:r>
            <a:r>
              <a:rPr sz="1050" b="0" i="0">
                <a:solidFill>
                  <a:srgbClr val="16213A"/>
                </a:solidFill>
                <a:latin typeface="Arial"/>
                <a:ea typeface="Malgun Gothic"/>
                <a:cs typeface="Malgun Gothic"/>
              </a:rPr>
              <a:t>(RoM 상한 84.1%). 개선은 거의 모두 층간 목표에서 나오고, 넘어짐이 16.3%에서 8.3%로 줄었다.</a:t>
            </a:r>
          </a:p>
        </p:txBody>
      </p:sp>
      <p:sp>
        <p:nvSpPr>
          <p:cNvPr id="12" name="TextBox 11"/>
          <p:cNvSpPr txBox="1"/>
          <p:nvPr/>
        </p:nvSpPr>
        <p:spPr>
          <a:xfrm>
            <a:off x="609600" y="4436963"/>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Poisson 안전 필터.</a:t>
            </a:r>
            <a:r>
              <a:rPr sz="1050" b="0" i="0">
                <a:solidFill>
                  <a:srgbClr val="16213A"/>
                </a:solidFill>
                <a:latin typeface="Arial"/>
                <a:ea typeface="Malgun Gothic"/>
                <a:cs typeface="Malgun Gothic"/>
              </a:rPr>
              <a:t> 점군을 0.05 m 점유 격자로 만들고(바닥 제거, 로봇 반경으로 팽창) </a:t>
            </a:r>
            <a:r>
              <a:rPr sz="1050" b="1" i="0">
                <a:solidFill>
                  <a:srgbClr val="16213A"/>
                </a:solidFill>
                <a:latin typeface="Arial"/>
                <a:ea typeface="Malgun Gothic"/>
                <a:cs typeface="Malgun Gothic"/>
              </a:rPr>
              <a:t>Poisson 방정식을 풀어 점유로부터 곧바로 CBF </a:t>
            </a:r>
            <a:r>
              <a:rPr sz="1050" b="1" i="1">
                <a:solidFill>
                  <a:srgbClr val="16213A"/>
                </a:solidFill>
                <a:latin typeface="Arial"/>
                <a:ea typeface="Malgun Gothic"/>
                <a:cs typeface="Malgun Gothic"/>
              </a:rPr>
              <a:t>h</a:t>
            </a:r>
            <a:r>
              <a:rPr sz="1050" b="1" i="0">
                <a:solidFill>
                  <a:srgbClr val="16213A"/>
                </a:solidFill>
                <a:latin typeface="Arial"/>
                <a:ea typeface="Malgun Gothic"/>
                <a:cs typeface="Malgun Gothic"/>
              </a:rPr>
              <a:t>를 합성</a:t>
            </a:r>
            <a:r>
              <a:rPr sz="1050" b="0" i="0">
                <a:solidFill>
                  <a:srgbClr val="16213A"/>
                </a:solidFill>
                <a:latin typeface="Arial"/>
                <a:ea typeface="Malgun Gothic"/>
                <a:cs typeface="Malgun Gothic"/>
              </a:rPr>
              <a:t>한다. 학습한 가치 함수나 장애물 검출기가 필요 없다. 정책 명령은 닫힌 형태 QP로 안전 집합에 투영한다(배경 0.4).</a:t>
            </a:r>
          </a:p>
        </p:txBody>
      </p:sp>
      <p:pic>
        <p:nvPicPr>
          <p:cNvPr id="13" name="Picture 12" descr="image.png"/>
          <p:cNvPicPr>
            <a:picLocks noChangeAspect="1"/>
          </p:cNvPicPr>
          <p:nvPr/>
        </p:nvPicPr>
        <p:blipFill>
          <a:blip r:embed="rId4"/>
          <a:stretch>
            <a:fillRect/>
          </a:stretch>
        </p:blipFill>
        <p:spPr>
          <a:xfrm>
            <a:off x="609600" y="4958854"/>
            <a:ext cx="4676775" cy="403225"/>
          </a:xfrm>
          <a:prstGeom prst="rect">
            <a:avLst/>
          </a:prstGeom>
        </p:spPr>
      </p:pic>
      <p:sp>
        <p:nvSpPr>
          <p:cNvPr id="14" name="TextBox 13"/>
          <p:cNvSpPr txBox="1"/>
          <p:nvPr/>
        </p:nvSpPr>
        <p:spPr>
          <a:xfrm>
            <a:off x="609600" y="5378053"/>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실물에서 분포 밖 장애물 2/10 → 0/10, 적대적(가는 매달린 관) 4/10 → 0/10 충돌로 줄었고, 성공률은 그대로이며 도착 시간은 늘었다.</a:t>
            </a:r>
          </a:p>
        </p:txBody>
      </p:sp>
      <p:sp>
        <p:nvSpPr>
          <p:cNvPr id="15" name="TextBox 14"/>
          <p:cNvSpPr txBox="1"/>
          <p:nvPr/>
        </p:nvSpPr>
        <p:spPr>
          <a:xfrm>
            <a:off x="609600" y="5683448"/>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1개(문단·식·그림)는 대시보드 리서치 탭의 "자세히: RoM-Nav의 방법과 수식" 토글에 있다.</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위험 인지·로컬 내비</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B.9 위험 인지 경로 계획과 로컬 내비게이션</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108 / 516</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ViNL — 내비 정책과 보행 정책을 따로 학습해 속도 명령으로 잇는다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arXiv:2210.14791</a:t>
            </a:r>
            <a:r>
              <a:rPr sz="1050" b="0" i="0">
                <a:solidFill>
                  <a:srgbClr val="16213A"/>
                </a:solidFill>
                <a:latin typeface="Arial"/>
                <a:ea typeface="Malgun Gothic"/>
                <a:cs typeface="Malgun Gothic"/>
              </a:rPr>
              <a:t>, ICRA 2023, Georgia Tech·Meta, </a:t>
            </a:r>
            <a:r>
              <a:rPr sz="1050" b="0" i="0">
                <a:solidFill>
                  <a:srgbClr val="1D4ED8"/>
                </a:solidFill>
                <a:latin typeface="Arial"/>
                <a:ea typeface="Malgun Gothic"/>
                <a:cs typeface="Malgun Gothic"/>
                <a:hlinkClick r:id="rId4"/>
              </a:rPr>
              <a:t>코드</a:t>
            </a:r>
            <a:r>
              <a:rPr sz="1050" b="0" i="0">
                <a:solidFill>
                  <a:srgbClr val="16213A"/>
                </a:solidFill>
                <a:latin typeface="Arial"/>
                <a:ea typeface="Malgun Gothic"/>
                <a:cs typeface="Malgun Gothic"/>
              </a:rPr>
              <a:t> ★0.1k). RoM-Nav보다 먼저 "단순한 모델 위의 내비 정책 + 따로 학습한 보행 정책" 구조를 보인 연구다. 사족 로봇(AlienGo)이 처음 보는 아파트에서 목표로 가면서 신발, 장난감, 전선 같은 작은 물체를 밟지 않고 넘는다.</a:t>
            </a:r>
          </a:p>
        </p:txBody>
      </p:sp>
      <p:sp>
        <p:nvSpPr>
          <p:cNvPr id="6" name="TextBox 5"/>
          <p:cNvSpPr txBox="1"/>
          <p:nvPr/>
        </p:nvSpPr>
        <p:spPr>
          <a:xfrm>
            <a:off x="609600" y="1766491"/>
            <a:ext cx="10972800" cy="649486"/>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두 정책은 서로 다른 시뮬레이터에서 따로 학습한다. 내비 정책은 Habitat의 실내 장면(HM3D, Gibson)에서 운동학 모델로 학습하고, 위로 15° 든 깊이 영상과 자기 움직임을 받아 2 Hz로 선속도와 각속도를 낸다. 보행 정책은 Isaac Gym에서 험지 보행, 장애물 회피 미세조정, 시각 정책 증류의 세 단계로 학습하고, 아래로 30° 숙인 깊이 영상을 받아 50 Hz로 관절을 움직인다. 둘을 함께 학습하지 않고 속도 명령으로만 이어 바로 배치한다. 장애물이 있는 PointGoal 내비에서 성공률 73.6%로, 특권 지형 지도를 쓴 이전 연구보다 32.8%p 높았다.</a:t>
            </a:r>
          </a:p>
        </p:txBody>
      </p:sp>
      <p:sp>
        <p:nvSpPr>
          <p:cNvPr id="7" name="TextBox 6"/>
          <p:cNvSpPr txBox="1"/>
          <p:nvPr/>
        </p:nvSpPr>
        <p:spPr>
          <a:xfrm>
            <a:off x="609600" y="2504877"/>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속도 명령 하나로 경계를 나누면 두 정책을 따로 학습해도 된다는 가장 단순한 증거다. travplan은 이 경계를 시간 인덱스 궤적으로 두고 Controller를 비학습 MPPI로 두었다. RoM-Nav는 ViNL에 "실제 동역학 위에서 한 번 더 다듬기(kickstart)"를 더해, 따로 학습한 두 층의 어긋남을 줄였다.</a:t>
            </a:r>
          </a:p>
        </p:txBody>
      </p:sp>
      <p:sp>
        <p:nvSpPr>
          <p:cNvPr id="8" name="TextBox 7"/>
          <p:cNvSpPr txBox="1"/>
          <p:nvPr/>
        </p:nvSpPr>
        <p:spPr>
          <a:xfrm>
            <a:off x="609600" y="3026767"/>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ABS(Agile But Safe) — 빠른 정책을 학습한 도달-회피 가치가 감시하고, 위험하면 회복 정책으로 바꾼다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5"/>
              </a:rPr>
              <a:t>arXiv:2401.17583</a:t>
            </a:r>
            <a:r>
              <a:rPr sz="1050" b="0" i="0">
                <a:solidFill>
                  <a:srgbClr val="16213A"/>
                </a:solidFill>
                <a:latin typeface="Arial"/>
                <a:ea typeface="Malgun Gothic"/>
                <a:cs typeface="Malgun Gothic"/>
              </a:rPr>
              <a:t>, RSS 2024, CMU LeCAR Lab, </a:t>
            </a:r>
            <a:r>
              <a:rPr sz="1050" b="0" i="0">
                <a:solidFill>
                  <a:srgbClr val="1D4ED8"/>
                </a:solidFill>
                <a:latin typeface="Arial"/>
                <a:ea typeface="Malgun Gothic"/>
                <a:cs typeface="Malgun Gothic"/>
                <a:hlinkClick r:id="rId6"/>
              </a:rPr>
              <a:t>코드</a:t>
            </a:r>
            <a:r>
              <a:rPr sz="1050" b="0" i="0">
                <a:solidFill>
                  <a:srgbClr val="16213A"/>
                </a:solidFill>
                <a:latin typeface="Arial"/>
                <a:ea typeface="Malgun Gothic"/>
                <a:cs typeface="Malgun Gothic"/>
              </a:rPr>
              <a:t> ★0.6k, </a:t>
            </a:r>
            <a:r>
              <a:rPr sz="1050" b="0" i="0">
                <a:solidFill>
                  <a:srgbClr val="1D4ED8"/>
                </a:solidFill>
                <a:latin typeface="Arial"/>
                <a:ea typeface="Malgun Gothic"/>
                <a:cs typeface="Malgun Gothic"/>
                <a:hlinkClick r:id="rId7"/>
              </a:rPr>
              <a:t>프로젝트</a:t>
            </a:r>
            <a:r>
              <a:rPr sz="1050" b="0" i="0">
                <a:solidFill>
                  <a:srgbClr val="16213A"/>
                </a:solidFill>
                <a:latin typeface="Arial"/>
                <a:ea typeface="Malgun Gothic"/>
                <a:cs typeface="Malgun Gothic"/>
              </a:rPr>
              <a:t>). 사족 로봇이 장애물 사이를 3 m/s 넘게 달리면서도 부딪히지 않게 하는 학습 내비다. 안전 필터의 "감시 + 개입" 구조(Controller·안전 문서 C.4)를 모두 학습으로 만들었다.</a:t>
            </a:r>
          </a:p>
        </p:txBody>
      </p:sp>
      <p:sp>
        <p:nvSpPr>
          <p:cNvPr id="9" name="TextBox 8"/>
          <p:cNvSpPr txBox="1"/>
          <p:nvPr/>
        </p:nvSpPr>
        <p:spPr>
          <a:xfrm>
            <a:off x="609600" y="3548658"/>
            <a:ext cx="10972800" cy="649486"/>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세 부분으로 되어 있다. 빠른 정책은 목표로 달리며 장애물을 피하도록 RL로 학습한다. 감시기는 빠른 정책에 조건을 건 도달-회피(reach-avoid) 가치 네트워크로, 시뮬에서 빠른 정책이 만든 궤적 데이터로 학습한다. 가치가 위험 쪽으로 넘어가면 회복 정책으로 바꾼다. 회복 정책은 속도 명령을 추종하고, 그 명령은 가치 네트워크를 목적 함수로 삼아 고른다. 외부 인식은 깊이 영상에서 예측한 광선 거리 11개뿐이다. 시뮬에서 성공률 79.1%, 충돌률 5.7%, 성공 에피소드의 최고 속도 평균 3.48 m/s였고, Unitree Go1 실물은 실내외에서 10번 중 9–10번 성공했다.</a:t>
            </a:r>
          </a:p>
        </p:txBody>
      </p:sp>
      <p:sp>
        <p:nvSpPr>
          <p:cNvPr id="10" name="TextBox 9"/>
          <p:cNvSpPr txBox="1"/>
          <p:nvPr/>
        </p:nvSpPr>
        <p:spPr>
          <a:xfrm>
            <a:off x="609600" y="4287044"/>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Planner D를 폐루프 RL로 후학습하면(TP-0066) 같은 문제가 생긴다. 빠르지만 가끔 위험한 정책을 언제 믿을지 정해야 한다. ABS처럼 정책 조건 도달-회피 가치를 함께 학습하면, 값이 나쁠 때 GuidancePlanner 경로와 MPPI로 넘기는 폴백 규칙을 학습된 기준으로 세울 수 있다. 그 규칙의 손으로 짠 첫 판이 TP-0078이다. 감시기는 학습한 가치 대신 새 표본의 치명 비율이고, curb_ramp 레벨 3에서 20/30을 29/30으로 올렸다(작업 기록 B.15.2). 광선 11개 같은 저차원 인식은 sim-to-real 차이를 줄이는 방법으로도 참고한다.</a:t>
            </a:r>
          </a:p>
        </p:txBody>
      </p:sp>
      <p:sp>
        <p:nvSpPr>
          <p:cNvPr id="11" name="TextBox 10"/>
          <p:cNvSpPr txBox="1"/>
          <p:nvPr/>
        </p:nvSpPr>
        <p:spPr>
          <a:xfrm>
            <a:off x="609600" y="5025430"/>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Path-conditioned RL local planning — 틀린 전역 경로에도 버티는 로컬 플래너</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8"/>
              </a:rPr>
              <a:t>arXiv:2603.13888</a:t>
            </a:r>
            <a:r>
              <a:rPr sz="1050" b="0" i="0">
                <a:solidFill>
                  <a:srgbClr val="16213A"/>
                </a:solidFill>
                <a:latin typeface="Arial"/>
                <a:ea typeface="Malgun Gothic"/>
                <a:cs typeface="Malgun Gothic"/>
              </a:rPr>
              <a:t>, ETH RSL, Hutter). 전역 경로를 waypoint로 쪼개 따라가는 계층형 파이프라인은 전역 경로가 부정확하면 무너진다. 이 연구는 RL 로컬 정책에 </a:t>
            </a:r>
            <a:r>
              <a:rPr sz="1050" b="1" i="0">
                <a:solidFill>
                  <a:srgbClr val="16213A"/>
                </a:solidFill>
                <a:latin typeface="Arial"/>
                <a:ea typeface="Malgun Gothic"/>
                <a:cs typeface="Malgun Gothic"/>
              </a:rPr>
              <a:t>참조 경로를 관측으로만 주고, 경로를 따라가라는 보상 없이 목표 도달 보상만으로</a:t>
            </a:r>
            <a:r>
              <a:rPr sz="1050" b="0" i="0">
                <a:solidFill>
                  <a:srgbClr val="16213A"/>
                </a:solidFill>
                <a:latin typeface="Arial"/>
                <a:ea typeface="Malgun Gothic"/>
                <a:cs typeface="Malgun Gothic"/>
              </a:rPr>
              <a:t> 학습한다. 정책은 좋은 경로는 기회 삼아 쓰고, 틀리거나 없는 경로에서는 기준선 수준을 유지한다. travplan의 학습 Planner는 Dijkstra subgoal을 입력으로 받는데, </a:t>
            </a:r>
            <a:r>
              <a:rPr sz="1050" b="1" i="0">
                <a:solidFill>
                  <a:srgbClr val="16213A"/>
                </a:solidFill>
                <a:latin typeface="Arial"/>
                <a:ea typeface="Malgun Gothic"/>
                <a:cs typeface="Malgun Gothic"/>
              </a:rPr>
              <a:t>미관측 영역이나 부정확한 지도 때문에 그 경로가 틀려도 버티도록 학습하는 방법</a:t>
            </a:r>
            <a:r>
              <a:rPr sz="1050" b="0" i="0">
                <a:solidFill>
                  <a:srgbClr val="16213A"/>
                </a:solidFill>
                <a:latin typeface="Arial"/>
                <a:ea typeface="Malgun Gothic"/>
                <a:cs typeface="Malgun Gothic"/>
              </a:rPr>
              <a:t>의 직접 근거다. Planner D의 route 조건에도 그대로 적용할 수 있다.</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위험 인지·로컬 내비</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B.9 위험 인지 경로 계획과 로컬 내비게이션</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109 / 516</a:t>
            </a:r>
          </a:p>
        </p:txBody>
      </p:sp>
      <p:pic>
        <p:nvPicPr>
          <p:cNvPr id="5" name="Picture 4" descr="image.jpg"/>
          <p:cNvPicPr>
            <a:picLocks noChangeAspect="1"/>
          </p:cNvPicPr>
          <p:nvPr/>
        </p:nvPicPr>
        <p:blipFill>
          <a:blip r:embed="rId3"/>
          <a:stretch>
            <a:fillRect/>
          </a:stretch>
        </p:blipFill>
        <p:spPr>
          <a:xfrm>
            <a:off x="2416175" y="1244600"/>
            <a:ext cx="7359650" cy="4445000"/>
          </a:xfrm>
          <a:prstGeom prst="rect">
            <a:avLst/>
          </a:prstGeom>
        </p:spPr>
      </p:pic>
      <p:sp>
        <p:nvSpPr>
          <p:cNvPr id="6" name="TextBox 5"/>
          <p:cNvSpPr txBox="1"/>
          <p:nvPr/>
        </p:nvSpPr>
        <p:spPr>
          <a:xfrm>
            <a:off x="2416175" y="5727700"/>
            <a:ext cx="735965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Path-conditioned RL local planning (Fig. 1): 깊이(a)와 proprioception에 참조 경로(b)를 문맥으로 더해, 경로가 좋으면 활용하고 나쁘면 무시하는 로컬 플래너. 출처: arXiv:2603.13888</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위험 인지·로컬 내비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B.9 위험 인지 경로 계획과 로컬 내비게이션</a:t>
            </a:r>
            <a:r>
              <a:rPr sz="1050" b="0" i="0">
                <a:solidFill>
                  <a:srgbClr val="5A6478"/>
                </a:solidFill>
                <a:latin typeface="Arial"/>
                <a:ea typeface="Malgun Gothic"/>
                <a:cs typeface="Malgun Gothic"/>
              </a:rPr>
              <a:t>  자세히: Path-conditioned RL local planning의 방법과 수식</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110 / 516</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문제.</a:t>
            </a:r>
            <a:r>
              <a:rPr sz="1050" b="0" i="0">
                <a:solidFill>
                  <a:srgbClr val="16213A"/>
                </a:solidFill>
                <a:latin typeface="Arial"/>
                <a:ea typeface="Malgun Gothic"/>
                <a:cs typeface="Malgun Gothic"/>
              </a:rPr>
              <a:t> 깊이 카메라 한 대로 미지 3D 환경에서 상대 목표 </a:t>
            </a:r>
            <a:r>
              <a:rPr sz="1050" b="0" i="1">
                <a:solidFill>
                  <a:srgbClr val="16213A"/>
                </a:solidFill>
                <a:latin typeface="Arial"/>
                <a:ea typeface="Malgun Gothic"/>
                <a:cs typeface="Malgun Gothic"/>
              </a:rPr>
              <a:t>pₜ</a:t>
            </a:r>
            <a:r>
              <a:rPr sz="1050" b="0" i="0">
                <a:solidFill>
                  <a:srgbClr val="16213A"/>
                </a:solidFill>
                <a:latin typeface="Arial"/>
                <a:ea typeface="Malgun Gothic"/>
                <a:cs typeface="Malgun Gothic"/>
              </a:rPr>
              <a:t>까지 가는 POMDP다. 관측은 깊이 영상, 상대 목표, proprioception, 그리고 </a:t>
            </a:r>
            <a:r>
              <a:rPr sz="1050" b="1" i="0">
                <a:solidFill>
                  <a:srgbClr val="16213A"/>
                </a:solidFill>
                <a:latin typeface="Arial"/>
                <a:ea typeface="Malgun Gothic"/>
                <a:cs typeface="Malgun Gothic"/>
              </a:rPr>
              <a:t>참조 경로 전체</a:t>
            </a:r>
            <a:r>
              <a:rPr sz="1050" b="0" i="0">
                <a:solidFill>
                  <a:srgbClr val="16213A"/>
                </a:solidFill>
                <a:latin typeface="Arial"/>
                <a:ea typeface="Malgun Gothic"/>
                <a:cs typeface="Malgun Gothic"/>
              </a:rPr>
              <a:t>다.</a:t>
            </a:r>
          </a:p>
        </p:txBody>
      </p:sp>
      <p:pic>
        <p:nvPicPr>
          <p:cNvPr id="6" name="Picture 5" descr="image.png"/>
          <p:cNvPicPr>
            <a:picLocks noChangeAspect="1"/>
          </p:cNvPicPr>
          <p:nvPr/>
        </p:nvPicPr>
        <p:blipFill>
          <a:blip r:embed="rId3"/>
          <a:stretch>
            <a:fillRect/>
          </a:stretch>
        </p:blipFill>
        <p:spPr>
          <a:xfrm>
            <a:off x="609600" y="1549995"/>
            <a:ext cx="3603625" cy="244475"/>
          </a:xfrm>
          <a:prstGeom prst="rect">
            <a:avLst/>
          </a:prstGeom>
        </p:spPr>
      </p:pic>
      <p:sp>
        <p:nvSpPr>
          <p:cNvPr id="7" name="TextBox 6"/>
          <p:cNvSpPr txBox="1"/>
          <p:nvPr/>
        </p:nvSpPr>
        <p:spPr>
          <a:xfrm>
            <a:off x="609600" y="1829197"/>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경로 인코딩.</a:t>
            </a:r>
            <a:r>
              <a:rPr sz="1050" b="0" i="0">
                <a:solidFill>
                  <a:srgbClr val="16213A"/>
                </a:solidFill>
                <a:latin typeface="Arial"/>
                <a:ea typeface="Malgun Gothic"/>
                <a:cs typeface="Malgun Gothic"/>
              </a:rPr>
              <a:t> waypoint마다 방향(단위 벡터)과 로그 거리를 담은 4차원 표현으로 바꾼다. 가까운 곳과 먼 곳을 같은 스케일로 다룰 수 있다.</a:t>
            </a:r>
          </a:p>
        </p:txBody>
      </p:sp>
      <p:pic>
        <p:nvPicPr>
          <p:cNvPr id="8" name="Picture 7" descr="image.png"/>
          <p:cNvPicPr>
            <a:picLocks noChangeAspect="1"/>
          </p:cNvPicPr>
          <p:nvPr/>
        </p:nvPicPr>
        <p:blipFill>
          <a:blip r:embed="rId4"/>
          <a:stretch>
            <a:fillRect/>
          </a:stretch>
        </p:blipFill>
        <p:spPr>
          <a:xfrm>
            <a:off x="609600" y="2134592"/>
            <a:ext cx="3917950" cy="425450"/>
          </a:xfrm>
          <a:prstGeom prst="rect">
            <a:avLst/>
          </a:prstGeom>
        </p:spPr>
      </p:pic>
      <p:sp>
        <p:nvSpPr>
          <p:cNvPr id="9" name="TextBox 8"/>
          <p:cNvSpPr txBox="1"/>
          <p:nvPr/>
        </p:nvSpPr>
        <p:spPr>
          <a:xfrm>
            <a:off x="609600" y="2570063"/>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일부러 나쁜 경로로 학습한다.</a:t>
            </a:r>
            <a:r>
              <a:rPr sz="1050" b="0" i="0">
                <a:solidFill>
                  <a:srgbClr val="16213A"/>
                </a:solidFill>
                <a:latin typeface="Arial"/>
                <a:ea typeface="Malgun Gothic"/>
                <a:cs typeface="Malgun Gothic"/>
              </a:rPr>
              <a:t> 최적 경로(PRM 위 A*)만 쓰지 않고, 우회점 </a:t>
            </a:r>
            <a:r>
              <a:rPr sz="1050" b="0" i="1">
                <a:solidFill>
                  <a:srgbClr val="16213A"/>
                </a:solidFill>
                <a:latin typeface="Arial"/>
                <a:ea typeface="Malgun Gothic"/>
                <a:cs typeface="Malgun Gothic"/>
              </a:rPr>
              <a:t>p</a:t>
            </a:r>
            <a:r>
              <a:rPr sz="1050" b="0" i="0">
                <a:solidFill>
                  <a:srgbClr val="16213A"/>
                </a:solidFill>
                <a:latin typeface="Arial"/>
                <a:ea typeface="Malgun Gothic"/>
                <a:cs typeface="Malgun Gothic"/>
              </a:rPr>
              <a:t>로 끌리는 편향 휴리스틱의 Greedy Best-First Search로 </a:t>
            </a:r>
            <a:r>
              <a:rPr sz="1050" b="1" i="0">
                <a:solidFill>
                  <a:srgbClr val="16213A"/>
                </a:solidFill>
                <a:latin typeface="Arial"/>
                <a:ea typeface="Malgun Gothic"/>
                <a:cs typeface="Malgun Gothic"/>
              </a:rPr>
              <a:t>실행 가능하지만 최적이 아닌 경로</a:t>
            </a:r>
            <a:r>
              <a:rPr sz="1050" b="0" i="0">
                <a:solidFill>
                  <a:srgbClr val="16213A"/>
                </a:solidFill>
                <a:latin typeface="Arial"/>
                <a:ea typeface="Malgun Gothic"/>
                <a:cs typeface="Malgun Gothic"/>
              </a:rPr>
              <a:t>를 섞는다. waypoint에 노이즈도 더해 일부는 충돌까지 한다.</a:t>
            </a:r>
          </a:p>
        </p:txBody>
      </p:sp>
      <p:pic>
        <p:nvPicPr>
          <p:cNvPr id="10" name="Picture 9" descr="image.png"/>
          <p:cNvPicPr>
            <a:picLocks noChangeAspect="1"/>
          </p:cNvPicPr>
          <p:nvPr/>
        </p:nvPicPr>
        <p:blipFill>
          <a:blip r:embed="rId5"/>
          <a:stretch>
            <a:fillRect/>
          </a:stretch>
        </p:blipFill>
        <p:spPr>
          <a:xfrm>
            <a:off x="609600" y="3091954"/>
            <a:ext cx="2616200" cy="241300"/>
          </a:xfrm>
          <a:prstGeom prst="rect">
            <a:avLst/>
          </a:prstGeom>
        </p:spPr>
      </p:pic>
      <p:sp>
        <p:nvSpPr>
          <p:cNvPr id="11" name="TextBox 10"/>
          <p:cNvSpPr txBox="1"/>
          <p:nvPr/>
        </p:nvSpPr>
        <p:spPr>
          <a:xfrm>
            <a:off x="609600" y="3369469"/>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보상에 경로 추종 항이 없다.</a:t>
            </a:r>
            <a:r>
              <a:rPr sz="1050" b="0" i="0">
                <a:solidFill>
                  <a:srgbClr val="16213A"/>
                </a:solidFill>
                <a:latin typeface="Arial"/>
                <a:ea typeface="Malgun Gothic"/>
                <a:cs typeface="Malgun Gothic"/>
              </a:rPr>
              <a:t> 과제(목표 도달), 부드러움, 위험 벌점, 지름길 항만 쓴다. 그래서 정책은 경로를 "따라야 할 것"이 아니라 "쓸 만하면 쓰는 힌트"로 배운다.</a:t>
            </a:r>
          </a:p>
        </p:txBody>
      </p:sp>
      <p:pic>
        <p:nvPicPr>
          <p:cNvPr id="12" name="Picture 11" descr="image.png"/>
          <p:cNvPicPr>
            <a:picLocks noChangeAspect="1"/>
          </p:cNvPicPr>
          <p:nvPr/>
        </p:nvPicPr>
        <p:blipFill>
          <a:blip r:embed="rId6"/>
          <a:stretch>
            <a:fillRect/>
          </a:stretch>
        </p:blipFill>
        <p:spPr>
          <a:xfrm>
            <a:off x="609600" y="3674864"/>
            <a:ext cx="3041650" cy="241300"/>
          </a:xfrm>
          <a:prstGeom prst="rect">
            <a:avLst/>
          </a:prstGeom>
        </p:spPr>
      </p:pic>
      <p:sp>
        <p:nvSpPr>
          <p:cNvPr id="13" name="TextBox 12"/>
          <p:cNvSpPr txBox="1"/>
          <p:nvPr/>
        </p:nvSpPr>
        <p:spPr>
          <a:xfrm>
            <a:off x="609600" y="3952379"/>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것.</a:t>
            </a:r>
            <a:r>
              <a:rPr sz="1050" b="0" i="0">
                <a:solidFill>
                  <a:srgbClr val="16213A"/>
                </a:solidFill>
                <a:latin typeface="Arial"/>
                <a:ea typeface="Malgun Gothic"/>
                <a:cs typeface="Malgun Gothic"/>
              </a:rPr>
              <a:t> Planner D 학습 때 조건으로 주는 route subgoal에 같은 방법을 쓸 수 있다. 시연은 정답 지도로 만들되, 조건 경로는 믿음 지도(미관측 포함)의 Dijkstra 경로나 흔든 경로로 주면, 경로가 틀린 곳(미관측 영역)에서 버티는 법을 배운다.</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위험 인지·로컬 내비</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B.9 위험 인지 경로 계획과 로컬 내비게이션</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111 / 516</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행성 로버의 위험 인지 kinodynamic 계획</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arXiv:2608.11175</a:t>
            </a:r>
            <a:r>
              <a:rPr sz="1050" b="0" i="0">
                <a:solidFill>
                  <a:srgbClr val="16213A"/>
                </a:solidFill>
                <a:latin typeface="Arial"/>
                <a:ea typeface="Malgun Gothic"/>
                <a:cs typeface="Malgun Gothic"/>
              </a:rPr>
              <a:t>). 학습한 지형 역학(바퀴와 지면)과 인식이 만드는 불확실성을 </a:t>
            </a:r>
            <a:r>
              <a:rPr sz="1050" b="1" i="0">
                <a:solidFill>
                  <a:srgbClr val="16213A"/>
                </a:solidFill>
                <a:latin typeface="Arial"/>
                <a:ea typeface="Malgun Gothic"/>
                <a:cs typeface="Malgun Gothic"/>
              </a:rPr>
              <a:t>CVaR</a:t>
            </a:r>
            <a:r>
              <a:rPr sz="1050" b="0" i="0">
                <a:solidFill>
                  <a:srgbClr val="16213A"/>
                </a:solidFill>
                <a:latin typeface="Arial"/>
                <a:ea typeface="Malgun Gothic"/>
                <a:cs typeface="Malgun Gothic"/>
              </a:rPr>
              <a:t>로 정량화한다. AO-RRT로 동역학적으로 가능한 위험 인지 궤적을 먼저 찾고, 이를 초기해로 순차 볼록 계획(SCP)을 푼다. 위험을 약 97% 줄였다고 보고한다. "샘플링으로 찾고 최적화로 다듬기"와 CVaR 위험은 travplan의 Planner D(샘플 → 선택)와 Controller </a:t>
            </a:r>
            <a:r>
              <a:rPr sz="1050" b="0" i="0">
                <a:solidFill>
                  <a:srgbClr val="16213A"/>
                </a:solidFill>
                <a:latin typeface="Consolas"/>
                <a:ea typeface="Malgun Gothic"/>
                <a:cs typeface="Malgun Gothic"/>
              </a:rPr>
              <a:t>RiskCost</a:t>
            </a:r>
            <a:r>
              <a:rPr sz="1050" b="0" i="0">
                <a:solidFill>
                  <a:srgbClr val="16213A"/>
                </a:solidFill>
                <a:latin typeface="Arial"/>
                <a:ea typeface="Malgun Gothic"/>
                <a:cs typeface="Malgun Gothic"/>
              </a:rPr>
              <a:t>(CVaR)에 각각 대응한다.</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위험 인지·로컬 내비</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B.9 위험 인지 경로 계획과 로컬 내비게이션</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112 / 516</a:t>
            </a:r>
          </a:p>
        </p:txBody>
      </p:sp>
      <p:pic>
        <p:nvPicPr>
          <p:cNvPr id="5" name="Picture 4" descr="image.jpg"/>
          <p:cNvPicPr>
            <a:picLocks noChangeAspect="1"/>
          </p:cNvPicPr>
          <p:nvPr/>
        </p:nvPicPr>
        <p:blipFill>
          <a:blip r:embed="rId3"/>
          <a:stretch>
            <a:fillRect/>
          </a:stretch>
        </p:blipFill>
        <p:spPr>
          <a:xfrm>
            <a:off x="1971675" y="1244600"/>
            <a:ext cx="8248650" cy="4445000"/>
          </a:xfrm>
          <a:prstGeom prst="rect">
            <a:avLst/>
          </a:prstGeom>
        </p:spPr>
      </p:pic>
      <p:sp>
        <p:nvSpPr>
          <p:cNvPr id="6" name="TextBox 5"/>
          <p:cNvSpPr txBox="1"/>
          <p:nvPr/>
        </p:nvSpPr>
        <p:spPr>
          <a:xfrm>
            <a:off x="1971675" y="5727700"/>
            <a:ext cx="8248650" cy="142180"/>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Planetary risk-aware kinodynamic planning: 위험 인지 비용을 넣은 AO-RRT 결과. 위험 비용이 없을 때보다 불확실한 지형을 피해 간다. 출처: arXiv:2608.11175</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위험 인지·로컬 내비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B.9 위험 인지 경로 계획과 로컬 내비게이션</a:t>
            </a:r>
            <a:r>
              <a:rPr sz="1050" b="0" i="0">
                <a:solidFill>
                  <a:srgbClr val="5A6478"/>
                </a:solidFill>
                <a:latin typeface="Arial"/>
                <a:ea typeface="Malgun Gothic"/>
                <a:cs typeface="Malgun Gothic"/>
              </a:rPr>
              <a:t>  자세히: 행성 로버 위험 인지 kinodynamic 계획의 방법과 수식</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113 / 516</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불확실한 동역학.</a:t>
            </a:r>
            <a:r>
              <a:rPr sz="1050" b="0" i="0">
                <a:solidFill>
                  <a:srgbClr val="16213A"/>
                </a:solidFill>
                <a:latin typeface="Arial"/>
                <a:ea typeface="Malgun Gothic"/>
                <a:cs typeface="Malgun Gothic"/>
              </a:rPr>
              <a:t> 속도 명령형 로버 모델에 모델 밖 잔차 </a:t>
            </a:r>
            <a:r>
              <a:rPr sz="1050" b="0" i="1">
                <a:solidFill>
                  <a:srgbClr val="16213A"/>
                </a:solidFill>
                <a:latin typeface="Arial"/>
                <a:ea typeface="Malgun Gothic"/>
                <a:cs typeface="Malgun Gothic"/>
              </a:rPr>
              <a:t>d</a:t>
            </a:r>
            <a:r>
              <a:rPr sz="1050" b="0" i="0">
                <a:solidFill>
                  <a:srgbClr val="16213A"/>
                </a:solidFill>
                <a:latin typeface="Arial"/>
                <a:ea typeface="Malgun Gothic"/>
                <a:cs typeface="Malgun Gothic"/>
              </a:rPr>
              <a:t>를 두고, 이를 Lipschitz 신경망 </a:t>
            </a:r>
            <a:r>
              <a:rPr sz="1050" b="0" i="1">
                <a:solidFill>
                  <a:srgbClr val="16213A"/>
                </a:solidFill>
                <a:latin typeface="Arial"/>
                <a:ea typeface="Malgun Gothic"/>
                <a:cs typeface="Malgun Gothic"/>
              </a:rPr>
              <a:t>Φ(v) u</a:t>
            </a:r>
            <a:r>
              <a:rPr sz="1050" b="0" i="0">
                <a:solidFill>
                  <a:srgbClr val="16213A"/>
                </a:solidFill>
                <a:latin typeface="Arial"/>
                <a:ea typeface="Malgun Gothic"/>
                <a:cs typeface="Malgun Gothic"/>
              </a:rPr>
              <a:t>로 학습한다. 잔차 예측 오차는 conformal prediction (배경 0.13)으로 95% 수준의 범위 집합 </a:t>
            </a:r>
            <a:r>
              <a:rPr sz="1050" b="0" i="1">
                <a:solidFill>
                  <a:srgbClr val="16213A"/>
                </a:solidFill>
                <a:latin typeface="Arial"/>
                <a:ea typeface="Malgun Gothic"/>
                <a:cs typeface="Malgun Gothic"/>
              </a:rPr>
              <a:t>ℳ</a:t>
            </a:r>
            <a:r>
              <a:rPr sz="1050" b="0" i="0">
                <a:solidFill>
                  <a:srgbClr val="16213A"/>
                </a:solidFill>
                <a:latin typeface="Arial"/>
                <a:ea typeface="Malgun Gothic"/>
                <a:cs typeface="Malgun Gothic"/>
              </a:rPr>
              <a:t>을 만든다.</a:t>
            </a:r>
          </a:p>
        </p:txBody>
      </p:sp>
      <p:pic>
        <p:nvPicPr>
          <p:cNvPr id="6" name="Picture 5" descr="image.png"/>
          <p:cNvPicPr>
            <a:picLocks noChangeAspect="1"/>
          </p:cNvPicPr>
          <p:nvPr/>
        </p:nvPicPr>
        <p:blipFill>
          <a:blip r:embed="rId3"/>
          <a:stretch>
            <a:fillRect/>
          </a:stretch>
        </p:blipFill>
        <p:spPr>
          <a:xfrm>
            <a:off x="609600" y="1766491"/>
            <a:ext cx="3263900" cy="241300"/>
          </a:xfrm>
          <a:prstGeom prst="rect">
            <a:avLst/>
          </a:prstGeom>
        </p:spPr>
      </p:pic>
      <p:sp>
        <p:nvSpPr>
          <p:cNvPr id="7" name="TextBox 6"/>
          <p:cNvSpPr txBox="1"/>
          <p:nvPr/>
        </p:nvSpPr>
        <p:spPr>
          <a:xfrm>
            <a:off x="609600" y="2044005"/>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위험 지도.</a:t>
            </a:r>
            <a:r>
              <a:rPr sz="1050" b="0" i="0">
                <a:solidFill>
                  <a:srgbClr val="16213A"/>
                </a:solidFill>
                <a:latin typeface="Arial"/>
                <a:ea typeface="Malgun Gothic"/>
                <a:cs typeface="Malgun Gothic"/>
              </a:rPr>
              <a:t> 장애물 </a:t>
            </a:r>
            <a:r>
              <a:rPr sz="1050" b="0" i="1">
                <a:solidFill>
                  <a:srgbClr val="16213A"/>
                </a:solidFill>
                <a:latin typeface="Arial"/>
                <a:ea typeface="Malgun Gothic"/>
                <a:cs typeface="Malgun Gothic"/>
              </a:rPr>
              <a:t>i</a:t>
            </a:r>
            <a:r>
              <a:rPr sz="1050" b="0" i="0">
                <a:solidFill>
                  <a:srgbClr val="16213A"/>
                </a:solidFill>
                <a:latin typeface="Arial"/>
                <a:ea typeface="Malgun Gothic"/>
                <a:cs typeface="Malgun Gothic"/>
              </a:rPr>
              <a:t>의 경계 불확실성 </a:t>
            </a:r>
            <a:r>
              <a:rPr sz="1050" b="0" i="1">
                <a:solidFill>
                  <a:srgbClr val="16213A"/>
                </a:solidFill>
                <a:latin typeface="Arial"/>
                <a:ea typeface="Malgun Gothic"/>
                <a:cs typeface="Malgun Gothic"/>
              </a:rPr>
              <a:t>σᵢ</a:t>
            </a:r>
            <a:r>
              <a:rPr sz="1050" b="0" i="0">
                <a:solidFill>
                  <a:srgbClr val="16213A"/>
                </a:solidFill>
                <a:latin typeface="Arial"/>
                <a:ea typeface="Malgun Gothic"/>
                <a:cs typeface="Malgun Gothic"/>
              </a:rPr>
              <a:t>와 부호 거리 </a:t>
            </a:r>
            <a:r>
              <a:rPr sz="1050" b="0" i="1">
                <a:solidFill>
                  <a:srgbClr val="16213A"/>
                </a:solidFill>
                <a:latin typeface="Arial"/>
                <a:ea typeface="Malgun Gothic"/>
                <a:cs typeface="Malgun Gothic"/>
              </a:rPr>
              <a:t>dᵢ(x)</a:t>
            </a:r>
            <a:r>
              <a:rPr sz="1050" b="0" i="0">
                <a:solidFill>
                  <a:srgbClr val="16213A"/>
                </a:solidFill>
                <a:latin typeface="Arial"/>
                <a:ea typeface="Malgun Gothic"/>
                <a:cs typeface="Malgun Gothic"/>
              </a:rPr>
              <a:t>로 가우시안 위험을 만들고, 장애물들을 독립 실패 모드로 보아 합친다.</a:t>
            </a:r>
          </a:p>
        </p:txBody>
      </p:sp>
      <p:pic>
        <p:nvPicPr>
          <p:cNvPr id="8" name="Picture 7" descr="image.png"/>
          <p:cNvPicPr>
            <a:picLocks noChangeAspect="1"/>
          </p:cNvPicPr>
          <p:nvPr/>
        </p:nvPicPr>
        <p:blipFill>
          <a:blip r:embed="rId4"/>
          <a:stretch>
            <a:fillRect/>
          </a:stretch>
        </p:blipFill>
        <p:spPr>
          <a:xfrm>
            <a:off x="609600" y="2349401"/>
            <a:ext cx="4857750" cy="419100"/>
          </a:xfrm>
          <a:prstGeom prst="rect">
            <a:avLst/>
          </a:prstGeom>
        </p:spPr>
      </p:pic>
      <p:sp>
        <p:nvSpPr>
          <p:cNvPr id="9" name="TextBox 8"/>
          <p:cNvSpPr txBox="1"/>
          <p:nvPr/>
        </p:nvSpPr>
        <p:spPr>
          <a:xfrm>
            <a:off x="609600" y="2779712"/>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CVaR 여유</a:t>
            </a:r>
            <a:r>
              <a:rPr sz="1050" b="0" i="0">
                <a:solidFill>
                  <a:srgbClr val="16213A"/>
                </a:solidFill>
                <a:latin typeface="Arial"/>
                <a:ea typeface="Malgun Gothic"/>
                <a:cs typeface="Malgun Gothic"/>
              </a:rPr>
              <a:t>(배경 0.3). 표준 정규의 CVaR 배수 </a:t>
            </a:r>
            <a:r>
              <a:rPr sz="1050" b="0" i="1">
                <a:solidFill>
                  <a:srgbClr val="16213A"/>
                </a:solidFill>
                <a:latin typeface="Arial"/>
                <a:ea typeface="Malgun Gothic"/>
                <a:cs typeface="Malgun Gothic"/>
              </a:rPr>
              <a:t>κ(α)</a:t>
            </a:r>
            <a:r>
              <a:rPr sz="1050" b="0" i="0">
                <a:solidFill>
                  <a:srgbClr val="16213A"/>
                </a:solidFill>
                <a:latin typeface="Arial"/>
                <a:ea typeface="Malgun Gothic"/>
                <a:cs typeface="Malgun Gothic"/>
              </a:rPr>
              <a:t>만큼 부호 거리를 안쪽으로 당겨, AO-RRT의 부드러운 위험 벌점으로 쓴다.</a:t>
            </a:r>
          </a:p>
        </p:txBody>
      </p:sp>
      <p:pic>
        <p:nvPicPr>
          <p:cNvPr id="10" name="Picture 9" descr="image.png"/>
          <p:cNvPicPr>
            <a:picLocks noChangeAspect="1"/>
          </p:cNvPicPr>
          <p:nvPr/>
        </p:nvPicPr>
        <p:blipFill>
          <a:blip r:embed="rId5"/>
          <a:stretch>
            <a:fillRect/>
          </a:stretch>
        </p:blipFill>
        <p:spPr>
          <a:xfrm>
            <a:off x="609600" y="3085108"/>
            <a:ext cx="5997575" cy="415925"/>
          </a:xfrm>
          <a:prstGeom prst="rect">
            <a:avLst/>
          </a:prstGeom>
        </p:spPr>
      </p:pic>
      <p:sp>
        <p:nvSpPr>
          <p:cNvPr id="11" name="TextBox 10"/>
          <p:cNvSpPr txBox="1"/>
          <p:nvPr/>
        </p:nvSpPr>
        <p:spPr>
          <a:xfrm>
            <a:off x="609600" y="3513832"/>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두 단계 계획.</a:t>
            </a:r>
            <a:r>
              <a:rPr sz="1050" b="0" i="0">
                <a:solidFill>
                  <a:srgbClr val="16213A"/>
                </a:solidFill>
                <a:latin typeface="Arial"/>
                <a:ea typeface="Malgun Gothic"/>
                <a:cs typeface="Malgun Gothic"/>
              </a:rPr>
              <a:t> AO-RRT가 상태 </a:t>
            </a:r>
            <a:r>
              <a:rPr sz="1050" b="0" i="1">
                <a:solidFill>
                  <a:srgbClr val="16213A"/>
                </a:solidFill>
                <a:latin typeface="Arial"/>
                <a:ea typeface="Malgun Gothic"/>
                <a:cs typeface="Malgun Gothic"/>
              </a:rPr>
              <a:t>[x, y, θ, vₓ, ω]</a:t>
            </a:r>
            <a:r>
              <a:rPr sz="1050" b="0" i="0">
                <a:solidFill>
                  <a:srgbClr val="16213A"/>
                </a:solidFill>
                <a:latin typeface="Arial"/>
                <a:ea typeface="Malgun Gothic"/>
                <a:cs typeface="Malgun Gothic"/>
              </a:rPr>
              <a:t> 트리로 동역학적으로 가능하고 점근 최적인 위험 인지 궤적을 찾고, 이를 초기해로 순차 볼록 계획(SCP)이 비선형 최적화를 푼다. 위험을 약 97% 줄였다(시뮬과 Leo 로버 실물).</a:t>
            </a:r>
          </a:p>
        </p:txBody>
      </p:sp>
      <p:sp>
        <p:nvSpPr>
          <p:cNvPr id="12" name="TextBox 11"/>
          <p:cNvSpPr txBox="1"/>
          <p:nvPr/>
        </p:nvSpPr>
        <p:spPr>
          <a:xfrm>
            <a:off x="609600" y="4035723"/>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것.</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σ</a:t>
            </a:r>
            <a:r>
              <a:rPr sz="1050" b="0" i="0">
                <a:solidFill>
                  <a:srgbClr val="16213A"/>
                </a:solidFill>
                <a:latin typeface="Arial"/>
                <a:ea typeface="Malgun Gothic"/>
                <a:cs typeface="Malgun Gothic"/>
              </a:rPr>
              <a:t>만큼 장애물을 부풀린 CVaR 여유"는 travplan </a:t>
            </a:r>
            <a:r>
              <a:rPr sz="1050" b="0" i="0">
                <a:solidFill>
                  <a:srgbClr val="16213A"/>
                </a:solidFill>
                <a:latin typeface="Consolas"/>
                <a:ea typeface="Malgun Gothic"/>
                <a:cs typeface="Malgun Gothic"/>
              </a:rPr>
              <a:t>RiskCost</a:t>
            </a:r>
            <a:r>
              <a:rPr sz="1050" b="0" i="0">
                <a:solidFill>
                  <a:srgbClr val="16213A"/>
                </a:solidFill>
                <a:latin typeface="Arial"/>
                <a:ea typeface="Malgun Gothic"/>
                <a:cs typeface="Malgun Gothic"/>
              </a:rPr>
              <a:t>(cost + β·σ의 꼬리 평균)와 같은 발상을 거리 공간에서 한 것이다. Planner D 선택기에 위험 항을 넣을 때 참고한다.</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위험 인지·로컬 내비</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B.9 위험 인지 경로 계획과 로컬 내비게이션</a:t>
            </a:r>
            <a:r>
              <a:rPr sz="1050" b="0" i="0">
                <a:solidFill>
                  <a:srgbClr val="5A6478"/>
                </a:solidFill>
                <a:latin typeface="Arial"/>
                <a:ea typeface="Malgun Gothic"/>
                <a:cs typeface="Malgun Gothic"/>
              </a:rPr>
              <a:t>  1/4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114 / 516</a:t>
            </a:r>
          </a:p>
        </p:txBody>
      </p:sp>
      <p:sp>
        <p:nvSpPr>
          <p:cNvPr id="5" name="TextBox 4"/>
          <p:cNvSpPr txBox="1"/>
          <p:nvPr/>
        </p:nvSpPr>
        <p:spPr>
          <a:xfrm>
            <a:off x="717550" y="1244600"/>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Feasibility-Guided Planning: 보행 정책마다 "이 지형을 따라갈 수 있나"를 배워 Dijkstra 비용으로 쓴다</a:t>
            </a:r>
          </a:p>
        </p:txBody>
      </p:sp>
      <p:sp>
        <p:nvSpPr>
          <p:cNvPr id="6" name="TextBox 5"/>
          <p:cNvSpPr txBox="1"/>
          <p:nvPr/>
        </p:nvSpPr>
        <p:spPr>
          <a:xfrm>
            <a:off x="609600" y="1547812"/>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Feasibility-Guided Planning</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arXiv:2602.07932</a:t>
            </a:r>
            <a:r>
              <a:rPr sz="1050" b="0" i="0">
                <a:solidFill>
                  <a:srgbClr val="16213A"/>
                </a:solidFill>
                <a:latin typeface="Arial"/>
                <a:ea typeface="Malgun Gothic"/>
                <a:cs typeface="Malgun Gothic"/>
              </a:rPr>
              <a:t>, 2026-02, ICRA 2026(arXiv 주석), National Taiwan University·Inventec)은 지형별 보행 정책 넷의 속도 추종 정도를 높이 지도에서 예측하고, 그 역수를 간선 비용으로 Dijkstra를 돌린다. 한 정책으로는 0%인 혼합 지형을 시뮬 98.60%, 실물 혼합 지형 70%(Unitree A1, 20번)로 지났다. 코드 공개는 확인하지 못했다.</a:t>
            </a:r>
          </a:p>
        </p:txBody>
      </p:sp>
      <p:sp>
        <p:nvSpPr>
          <p:cNvPr id="7" name="TextBox 6"/>
          <p:cNvSpPr txBox="1"/>
          <p:nvPr/>
        </p:nvSpPr>
        <p:spPr>
          <a:xfrm>
            <a:off x="609600" y="2069703"/>
            <a:ext cx="10972800" cy="86598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계단, 틈, 좁은 다리, 골짜기의 네 지형마다 PPO 보행 정책을 따로 학습한다. 정책마다 Feasibility-Net이 로봇 둘레 높이 지도 조각과 속도 명령 벡터를 받아 0–1 점수를 낸다. 라벨은 정책 학습 rollout의 속도 추종 보상을 그대로 쓴다. 따로 라벨을 만들 필요가 없다. VAE의 재구성 오차로 학습 분포 밖 지형에서는 점수의 신뢰를 낮춘다. 높이 지도 조각을 45° 간격 8방향으로 돌려 8채널 텐서를 만들고, 정책끼리는 칸과 방향마다 최댓값으로 합친다. 비용이 방향과 정책에 따라 달라 A*의 허용성이 깨지므로 Dijkstra를 쓴다. 경로의 구간마다 점수가 가장 높은 정책을 고른다. 계단 정책이 학습되며 좋아지면 같은 지형의 경로가 26.75 m에서 9.73 m로 짧아진다. Planner가 Controller의 능력을 따라간다.</a:t>
            </a:r>
          </a:p>
        </p:txBody>
      </p:sp>
      <p:sp>
        <p:nvSpPr>
          <p:cNvPr id="8" name="TextBox 7"/>
          <p:cNvSpPr txBox="1"/>
          <p:nvPr/>
        </p:nvSpPr>
        <p:spPr>
          <a:xfrm>
            <a:off x="609600" y="3024584"/>
            <a:ext cx="10972800" cy="1298972"/>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것.</a:t>
            </a:r>
            <a:r>
              <a:rPr sz="1050" b="0" i="0">
                <a:solidFill>
                  <a:srgbClr val="16213A"/>
                </a:solidFill>
                <a:latin typeface="Arial"/>
                <a:ea typeface="Malgun Gothic"/>
                <a:cs typeface="Malgun Gothic"/>
              </a:rPr>
              <a:t> 핵심은 라벨이 "그 Controller가 실제로 따라간 정도"라는 점이다. travplan </a:t>
            </a:r>
            <a:r>
              <a:rPr sz="1050" b="0" i="0">
                <a:solidFill>
                  <a:srgbClr val="16213A"/>
                </a:solidFill>
                <a:latin typeface="Consolas"/>
                <a:ea typeface="Malgun Gothic"/>
                <a:cs typeface="Malgun Gothic"/>
              </a:rPr>
              <a:t>GuidancePlanner</a:t>
            </a:r>
            <a:r>
              <a:rPr sz="1050" b="0" i="0">
                <a:solidFill>
                  <a:srgbClr val="16213A"/>
                </a:solidFill>
                <a:latin typeface="Arial"/>
                <a:ea typeface="Malgun Gothic"/>
                <a:cs typeface="Malgun Gothic"/>
              </a:rPr>
              <a:t>의 간선은 TravMap cost로 정한 식이다. plant 레벨 3의 시간 초과(TP-0151)는 cost가 낮아도 plant와 </a:t>
            </a:r>
            <a:r>
              <a:rPr sz="1050" b="0" i="0">
                <a:solidFill>
                  <a:srgbClr val="16213A"/>
                </a:solidFill>
                <a:latin typeface="Consolas"/>
                <a:ea typeface="Malgun Gothic"/>
                <a:cs typeface="Malgun Gothic"/>
              </a:rPr>
              <a:t>mppi_plant_lag</a:t>
            </a:r>
            <a:r>
              <a:rPr sz="1050" b="0" i="0">
                <a:solidFill>
                  <a:srgbClr val="16213A"/>
                </a:solidFill>
                <a:latin typeface="Arial"/>
                <a:ea typeface="Malgun Gothic"/>
                <a:cs typeface="Malgun Gothic"/>
              </a:rPr>
              <a:t>가 따라가지 못하는 칸이 있다는 뜻이다. TP-0151은 2026-10-04 사용자 결정으로 plant 로봇의 설계 한계로 보고 닫았다. 다시 연다면, 벤치마크 rollout의 추종 오차로 칸·방향별 실행 가능성을 배워 Guidance 간선에 곱하는 것이 후보다. 그러면 경사로처럼 "기하로는 갈 수 있지만 이 로봇은 못 가는" 곳을 Planner가 미리 피하거나 다른 길을 고른다. 다만 라벨이 순환한다. travplan의 추종 오차는 Planner가 낸 경로에 따라 달라지므로, 그 라벨로 Planner 비용을 배우면 Planner의 영향이 라벨에 섞인다. Feasibility-Net은 정책마다 따로 배우고 경로가 아니라 속도 명령을 입력으로 받아 이 순환을 피했다. travplan도 칸·방향·명령 속도를 입력으로 두고, 정해진 직선 명령을 따라가게 하는 rollout으로 라벨을 모아야 Planner의 영향을 떼어 낼 수 있다. 8방향 텐서는 Guidance의 8-연결 격자와 같은 모양이다. VAMOS(B.6b)의 affordance 함수도 같은 8방향을 썼다. 두 연구 모두 몸체 판단을 Planner 비용으로 옮겼다.</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위험 인지·로컬 내비</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B.9 위험 인지 경로 계획과 로컬 내비게이션</a:t>
            </a:r>
            <a:r>
              <a:rPr sz="1050" b="0" i="0">
                <a:solidFill>
                  <a:srgbClr val="5A6478"/>
                </a:solidFill>
                <a:latin typeface="Arial"/>
                <a:ea typeface="Malgun Gothic"/>
                <a:cs typeface="Malgun Gothic"/>
              </a:rPr>
              <a:t>  2/4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115 / 516</a:t>
            </a:r>
          </a:p>
        </p:txBody>
      </p:sp>
      <p:pic>
        <p:nvPicPr>
          <p:cNvPr id="5" name="Picture 4" descr="image.jpg"/>
          <p:cNvPicPr>
            <a:picLocks noChangeAspect="1"/>
          </p:cNvPicPr>
          <p:nvPr/>
        </p:nvPicPr>
        <p:blipFill>
          <a:blip r:embed="rId3"/>
          <a:stretch>
            <a:fillRect/>
          </a:stretch>
        </p:blipFill>
        <p:spPr>
          <a:xfrm>
            <a:off x="609600" y="1244600"/>
            <a:ext cx="3956050" cy="2667000"/>
          </a:xfrm>
          <a:prstGeom prst="rect">
            <a:avLst/>
          </a:prstGeom>
        </p:spPr>
      </p:pic>
      <p:sp>
        <p:nvSpPr>
          <p:cNvPr id="6" name="TextBox 5"/>
          <p:cNvSpPr txBox="1"/>
          <p:nvPr/>
        </p:nvSpPr>
        <p:spPr>
          <a:xfrm>
            <a:off x="609600" y="3949700"/>
            <a:ext cx="54102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Feasibility-Guided Planning (Fig. 1): 정책별 실행 가능성 지도로 혼합 지형에서 경로를 고르고, 구간마다 보행 정책을 바꾼다. 출처: arXiv:2602.07932</a:t>
            </a:r>
          </a:p>
        </p:txBody>
      </p:sp>
      <p:pic>
        <p:nvPicPr>
          <p:cNvPr id="7" name="Picture 6" descr="image.jpg"/>
          <p:cNvPicPr>
            <a:picLocks noChangeAspect="1"/>
          </p:cNvPicPr>
          <p:nvPr/>
        </p:nvPicPr>
        <p:blipFill>
          <a:blip r:embed="rId4"/>
          <a:stretch>
            <a:fillRect/>
          </a:stretch>
        </p:blipFill>
        <p:spPr>
          <a:xfrm>
            <a:off x="6172200" y="1244600"/>
            <a:ext cx="5410200" cy="1739900"/>
          </a:xfrm>
          <a:prstGeom prst="rect">
            <a:avLst/>
          </a:prstGeom>
        </p:spPr>
      </p:pic>
      <p:sp>
        <p:nvSpPr>
          <p:cNvPr id="8" name="TextBox 7"/>
          <p:cNvSpPr txBox="1"/>
          <p:nvPr/>
        </p:nvSpPr>
        <p:spPr>
          <a:xfrm>
            <a:off x="6172200" y="3022600"/>
            <a:ext cx="54102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Feasibility-Guided Planning (Fig. 4): 정책별 텐서를 칸·방향마다 최댓값으로 합쳐 하나의 비용을 만들고, 경로를 따라 정책을 배정한다. 출처: arXiv:2602.07932</a:t>
            </a:r>
          </a:p>
        </p:txBody>
      </p:sp>
      <p:sp>
        <p:nvSpPr>
          <p:cNvPr id="9" name="TextBox 8"/>
          <p:cNvSpPr txBox="1"/>
          <p:nvPr/>
        </p:nvSpPr>
        <p:spPr>
          <a:xfrm>
            <a:off x="717550" y="4322961"/>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Occlusion-Aware Stability-Oriented Planning: 가림 분산을 차체 자세까지 전파해 CEM 벌점으로 쓴다</a:t>
            </a:r>
          </a:p>
        </p:txBody>
      </p:sp>
      <p:sp>
        <p:nvSpPr>
          <p:cNvPr id="10" name="TextBox 9"/>
          <p:cNvSpPr txBox="1"/>
          <p:nvPr/>
        </p:nvSpPr>
        <p:spPr>
          <a:xfrm>
            <a:off x="609600" y="4626173"/>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Occlusion-Aware Stability-Oriented Planning</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5"/>
              </a:rPr>
              <a:t>arXiv:2609.39105</a:t>
            </a:r>
            <a:r>
              <a:rPr sz="1050" b="0" i="0">
                <a:solidFill>
                  <a:srgbClr val="16213A"/>
                </a:solidFill>
                <a:latin typeface="Arial"/>
                <a:ea typeface="Malgun Gothic"/>
                <a:cs typeface="Malgun Gothic"/>
              </a:rPr>
              <a:t>, 2026-09, University of Tartu·IIIT Hyderabad·CTU Prague)은 가림 때문에 생긴 지형 맞춤 분산을 차체 자세(roll·pitch)와 바퀴 접촉까지 전파해 CEM 벌점으로 쓴다. Gazebo 6지형에서 실패율이 18.9%이고, 불확실성 항을 빼면 34.4%다. 시뮬은 LiDAR(최대 10 m)와 깊이 카메라(최대 5 m)로 지형을 맞췄다. 실물은 Husky·Jackal로 실외 여섯 곳에서 했고, 논문에 둘, 보조 영상에 넷을 실었다. 방법과 분산 계산의 상세는 인식 문서 A.2b.7에 있다.</a:t>
            </a:r>
          </a:p>
        </p:txBody>
      </p:sp>
      <p:sp>
        <p:nvSpPr>
          <p:cNvPr id="11" name="TextBox 10"/>
          <p:cNvSpPr txBox="1"/>
          <p:nvPr/>
        </p:nvSpPr>
        <p:spPr>
          <a:xfrm>
            <a:off x="609600" y="5364559"/>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것.</a:t>
            </a:r>
            <a:r>
              <a:rPr sz="1050" b="0" i="0">
                <a:solidFill>
                  <a:srgbClr val="16213A"/>
                </a:solidFill>
                <a:latin typeface="Arial"/>
                <a:ea typeface="Malgun Gothic"/>
                <a:cs typeface="Malgun Gothic"/>
              </a:rPr>
              <a:t> Planner 쪽 함의는 위험 항이 칸이 아니라 자세 단위일 수 있다는 것 하나뿐이다. 절제는 불확실성 항의 유무만 비교했다. 칸 σ와 자세 분산 중 무엇이 나은지는 이 논문이 답하지 않는다. TP-0054에서 매퍼 분산은 σ로 쓸 수 없고, cost 민감도 σ는 폐루프를 바꾸지 못했다. L0 가림의 포트홀 실패는 그림자 상한과 깊이 prior로 이미 40/40이 됐다(TP-0044·0047). 그래서 자세 분산을 시도할 이유는 L0가 아니라 L1 레벨 3의 남은 치명 에피소드에서 찾아야 한다.</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위험 인지·로컬 내비</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B.9 위험 인지 경로 계획과 로컬 내비게이션</a:t>
            </a:r>
            <a:r>
              <a:rPr sz="1050" b="0" i="0">
                <a:solidFill>
                  <a:srgbClr val="5A6478"/>
                </a:solidFill>
                <a:latin typeface="Arial"/>
                <a:ea typeface="Malgun Gothic"/>
                <a:cs typeface="Malgun Gothic"/>
              </a:rPr>
              <a:t>  3/4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116 / 516</a:t>
            </a:r>
          </a:p>
        </p:txBody>
      </p:sp>
      <p:pic>
        <p:nvPicPr>
          <p:cNvPr id="5" name="Picture 4" descr="image.jpg"/>
          <p:cNvPicPr>
            <a:picLocks noChangeAspect="1"/>
          </p:cNvPicPr>
          <p:nvPr/>
        </p:nvPicPr>
        <p:blipFill>
          <a:blip r:embed="rId3"/>
          <a:stretch>
            <a:fillRect/>
          </a:stretch>
        </p:blipFill>
        <p:spPr>
          <a:xfrm>
            <a:off x="1016000" y="1244600"/>
            <a:ext cx="10160000" cy="3435350"/>
          </a:xfrm>
          <a:prstGeom prst="rect">
            <a:avLst/>
          </a:prstGeom>
        </p:spPr>
      </p:pic>
      <p:sp>
        <p:nvSpPr>
          <p:cNvPr id="6" name="TextBox 5"/>
          <p:cNvSpPr txBox="1"/>
          <p:nvPr/>
        </p:nvSpPr>
        <p:spPr>
          <a:xfrm>
            <a:off x="1016000" y="4718050"/>
            <a:ext cx="10160000" cy="142180"/>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Occlusion-Aware Stability-Oriented Planning (Fig. 1): 바퀴 로봇이 불확실성이 큰 사각 지대와 지날 수 없는 장애물을 함께 피해야 하는 장면. 출처: arXiv:2609.39105</a:t>
            </a:r>
          </a:p>
        </p:txBody>
      </p:sp>
      <p:sp>
        <p:nvSpPr>
          <p:cNvPr id="7" name="TextBox 6"/>
          <p:cNvSpPr txBox="1"/>
          <p:nvPr/>
        </p:nvSpPr>
        <p:spPr>
          <a:xfrm>
            <a:off x="717550" y="4949130"/>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CARE: 사전학습 시각 내비 정책의 궤적을 척력장으로 밀어내는 부착형 안전 층</a:t>
            </a:r>
          </a:p>
        </p:txBody>
      </p:sp>
      <p:sp>
        <p:nvSpPr>
          <p:cNvPr id="8" name="TextBox 7"/>
          <p:cNvSpPr txBox="1"/>
          <p:nvPr/>
        </p:nvSpPr>
        <p:spPr>
          <a:xfrm>
            <a:off x="609600" y="5252343"/>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CARE</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4"/>
              </a:rPr>
              <a:t>arXiv:2506.03834</a:t>
            </a:r>
            <a:r>
              <a:rPr sz="1050" b="0" i="0">
                <a:solidFill>
                  <a:srgbClr val="16213A"/>
                </a:solidFill>
                <a:latin typeface="Arial"/>
                <a:ea typeface="Malgun Gothic"/>
                <a:cs typeface="Malgun Gothic"/>
              </a:rPr>
              <a:t>, CoRL 2025(PMLR 305), Kim·Sycara·Nam 등, </a:t>
            </a:r>
            <a:r>
              <a:rPr sz="1050" b="0" i="0">
                <a:solidFill>
                  <a:srgbClr val="1D4ED8"/>
                </a:solidFill>
                <a:latin typeface="Arial"/>
                <a:ea typeface="Malgun Gothic"/>
                <a:cs typeface="Malgun Gothic"/>
                <a:hlinkClick r:id="rId5"/>
              </a:rPr>
              <a:t>프로젝트</a:t>
            </a:r>
            <a:r>
              <a:rPr sz="1050" b="0" i="0">
                <a:solidFill>
                  <a:srgbClr val="16213A"/>
                </a:solidFill>
                <a:latin typeface="Arial"/>
                <a:ea typeface="Malgun Gothic"/>
                <a:cs typeface="Malgun Gothic"/>
              </a:rPr>
              <a:t>)는 RGB만 쓰는 사전학습 내비 정책에 재학습 없이 붙이는 충돌 회피 층이다. RGB에서 추정한 깊이로 척력 벡터를 계산해, 정책이 낸 로컬 궤적을 장애물에서 밀어낸다. 여러 실물 로봇의 목표 도달 과제에서 충돌을 최대 100% 줄였고, 탐색 과제에서 충돌 없이 간 거리가 최대 10.7배 늘었다(초록 기준).</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위험 인지·로컬 내비</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B.9 위험 인지 경로 계획과 로컬 내비게이션</a:t>
            </a:r>
            <a:r>
              <a:rPr sz="1050" b="0" i="0">
                <a:solidFill>
                  <a:srgbClr val="5A6478"/>
                </a:solidFill>
                <a:latin typeface="Arial"/>
                <a:ea typeface="Malgun Gothic"/>
                <a:cs typeface="Malgun Gothic"/>
              </a:rPr>
              <a:t>  4/4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117 / 516</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것.</a:t>
            </a:r>
            <a:r>
              <a:rPr sz="1050" b="0" i="0">
                <a:solidFill>
                  <a:srgbClr val="16213A"/>
                </a:solidFill>
                <a:latin typeface="Arial"/>
                <a:ea typeface="Malgun Gothic"/>
                <a:cs typeface="Malgun Gothic"/>
              </a:rPr>
              <a:t> 학습 Planner 출력 뒤에 비학습 안전 층을 두는 구조는 travplan의 Guidance 폴백, MPPI 치명 비용과 같은 자리다. travplan은 이미 TravMap으로 기하를 명시하므로 깊이 추정은 필요 없다. 가져올 것은 "후보를 버리지 않고 밀어서 고친다"는 점이다. 지금 </a:t>
            </a:r>
            <a:r>
              <a:rPr sz="1050" b="0" i="0">
                <a:solidFill>
                  <a:srgbClr val="16213A"/>
                </a:solidFill>
                <a:latin typeface="Consolas"/>
                <a:ea typeface="Malgun Gothic"/>
                <a:cs typeface="Malgun Gothic"/>
              </a:rPr>
              <a:t>planner_df</a:t>
            </a:r>
            <a:r>
              <a:rPr sz="1050" b="0" i="0">
                <a:solidFill>
                  <a:srgbClr val="16213A"/>
                </a:solidFill>
                <a:latin typeface="Arial"/>
                <a:ea typeface="Malgun Gothic"/>
                <a:cs typeface="Malgun Gothic"/>
              </a:rPr>
              <a:t>는 치명 비율이 높으면 Guidance로 바꾼다. 치명 셀 근처의 후보를 cost 기울기로 조금 밀어 살리는 판을 폴백 앞에 둘 수 있다. 다만 TP-0143에서 cost 안내 샘플링(</a:t>
            </a:r>
            <a:r>
              <a:rPr sz="1050" b="0" i="0">
                <a:solidFill>
                  <a:srgbClr val="16213A"/>
                </a:solidFill>
                <a:latin typeface="Consolas"/>
                <a:ea typeface="Malgun Gothic"/>
                <a:cs typeface="Malgun Gothic"/>
              </a:rPr>
              <a:t>planner_dg</a:t>
            </a:r>
            <a:r>
              <a:rPr sz="1050" b="0" i="0">
                <a:solidFill>
                  <a:srgbClr val="16213A"/>
                </a:solidFill>
                <a:latin typeface="Arial"/>
                <a:ea typeface="Malgun Gothic"/>
                <a:cs typeface="Malgun Gothic"/>
              </a:rPr>
              <a:t>)은 3/30으로 무너졌다. 미는 힘은 생성 중이 아니라 생성 뒤 한 번만 걸어야 한다.</a:t>
            </a:r>
          </a:p>
        </p:txBody>
      </p:sp>
      <p:graphicFrame>
        <p:nvGraphicFramePr>
          <p:cNvPr id="6" name="Table 5"/>
          <p:cNvGraphicFramePr>
            <a:graphicFrameLocks noGrp="1"/>
          </p:cNvGraphicFramePr>
          <p:nvPr/>
        </p:nvGraphicFramePr>
        <p:xfrm>
          <a:off x="609600" y="1982986"/>
          <a:ext cx="10966451" cy="2969496"/>
        </p:xfrm>
        <a:graphic>
          <a:graphicData uri="http://schemas.openxmlformats.org/drawingml/2006/table">
            <a:tbl>
              <a:tblPr firstRow="1" bandRow="1">
                <a:tableStyleId>{5C22544A-7EE6-4342-B048-85BDC9FD1C3A}</a:tableStyleId>
              </a:tblPr>
              <a:tblGrid>
                <a:gridCol w="2298998"/>
                <a:gridCol w="1625501"/>
                <a:gridCol w="3058418"/>
                <a:gridCol w="3983534"/>
              </a:tblGrid>
              <a:tr h="197088">
                <a:tc>
                  <a:txBody>
                    <a:bodyPr wrap="square"/>
                    <a:lstStyle/>
                    <a:p>
                      <a:r>
                        <a:rPr sz="800" b="1" i="0">
                          <a:solidFill>
                            <a:srgbClr val="F4F1EA"/>
                          </a:solidFill>
                          <a:latin typeface="Arial"/>
                          <a:ea typeface="Malgun Gothic"/>
                          <a:cs typeface="Malgun Gothic"/>
                        </a:rPr>
                        <a:t>연구</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층위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핵심</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travplan 적용</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TRG-planner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전역 경로(비학습)</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위험 가중 그래프, 계층 관리, 대규모 실시간</a:t>
                      </a:r>
                    </a:p>
                  </a:txBody>
                  <a:tcPr marL="63500" marR="63500" marT="12700" marB="12700">
                    <a:solidFill>
                      <a:srgbClr val="FFFDF8"/>
                    </a:solidFill>
                  </a:tcPr>
                </a:tc>
                <a:tc>
                  <a:txBody>
                    <a:bodyPr wrap="square"/>
                    <a:lstStyle/>
                    <a:p>
                      <a:r>
                        <a:rPr sz="800" b="0" i="0">
                          <a:solidFill>
                            <a:srgbClr val="16213A"/>
                          </a:solidFill>
                          <a:latin typeface="Consolas"/>
                          <a:ea typeface="Malgun Gothic"/>
                          <a:cs typeface="Malgun Gothic"/>
                        </a:rPr>
                        <a:t>GuidancePlanner</a:t>
                      </a:r>
                      <a:r>
                        <a:rPr sz="800" b="0" i="0">
                          <a:solidFill>
                            <a:srgbClr val="16213A"/>
                          </a:solidFill>
                          <a:latin typeface="Arial"/>
                          <a:ea typeface="Malgun Gothic"/>
                          <a:cs typeface="Malgun Gothic"/>
                        </a:rPr>
                        <a:t> 대안·비교 기준</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DreamFlow</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로컬 내비(DRL + flow matching)</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관측 밖 지형 잠재를 상상</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미관측 영역 탐색 한계 대응</a:t>
                      </a:r>
                      <a:r>
                        <a:rPr sz="800" b="0" i="0">
                          <a:solidFill>
                            <a:srgbClr val="16213A"/>
                          </a:solidFill>
                          <a:latin typeface="Arial"/>
                          <a:ea typeface="Malgun Gothic"/>
                          <a:cs typeface="Malgun Gothic"/>
                        </a:rPr>
                        <a:t>, Planner D 확장</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NMoMa</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궤적 생성(diffusion)</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primitive로 치우친 truncated diffusion + 최적화</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Planner D 급회전 실패 대응</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RoM-Nav</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내비 정책 + 고정 보행 제어기</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축소 모델 학습 → 실제 동역학 kickstart, Poisson 안전 필터</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Planner/Controller 분리와 같은 구조</a:t>
                      </a:r>
                      <a:r>
                        <a:rPr sz="800" b="0" i="0">
                          <a:solidFill>
                            <a:srgbClr val="16213A"/>
                          </a:solidFill>
                          <a:latin typeface="Arial"/>
                          <a:ea typeface="Malgun Gothic"/>
                          <a:cs typeface="Malgun Gothic"/>
                        </a:rPr>
                        <a:t>, 운동학 시뮬 → Isaac 이전 경로</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ViNL</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내비 정책 + 보행 정책(따로 학습)</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운동학 내비 정책과 시각 보행 정책을 속도 명령으로 zero-shot 연결</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층 경계를 명령 하나로 나누는 최소 구조, RoM-Nav의 출발점</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ABS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빠른 정책 + 감시 + 회복 정책</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정책 조건 도달-회피 가치로 정책 전환, 광선 11개 인식</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RL 후학습한 Planner D의 폴백 규칙</a:t>
                      </a:r>
                      <a:r>
                        <a:rPr sz="800" b="0" i="0">
                          <a:solidFill>
                            <a:srgbClr val="16213A"/>
                          </a:solidFill>
                          <a:latin typeface="Arial"/>
                          <a:ea typeface="Malgun Gothic"/>
                          <a:cs typeface="Malgun Gothic"/>
                        </a:rPr>
                        <a:t>(TP-0066). 치명 비율로 감시하는 첫 판은 TP-0078</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Path-conditioned RL</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로컬 정책(RL)</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경로를 관측으로만, 추종 보상 없이</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Guidance가 틀려도 버티는 학습 Planner</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행성 로버 AO-RRT + SCP</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궤적 계획(비학습)</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CVaR 위험, 샘플링 → 최적화</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Planner D 선택기의 위험 항, </a:t>
                      </a:r>
                      <a:r>
                        <a:rPr sz="800" b="0" i="0">
                          <a:solidFill>
                            <a:srgbClr val="16213A"/>
                          </a:solidFill>
                          <a:latin typeface="Consolas"/>
                          <a:ea typeface="Malgun Gothic"/>
                          <a:cs typeface="Malgun Gothic"/>
                        </a:rPr>
                        <a:t>RiskCost</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Feasibility-Guided Planning</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전역 경로(학습 비용 + Dijkstra)</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정책마다 높이 지도 → 추종 보상 회귀, 8방향 텐서, VAE 분포 밖 가중</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Guidance 간선에 Controller 실행 가능성을 곱한다(TP-0151을 다시 열 경우)</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Occlusion-Aware Stability-Oriented Planning</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궤적 계획(CEM, 비학습)</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지형 맞춤 불확실성 → 자세·접촉 분산 벌점</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위험 항을 자세 단위로 두는 후보(상세는 인식 A.2b.7)</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CARE</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학습 Planner 뒤 안전 층(비학습)</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추정 깊이 척력장으로 궤적을 밀어낸다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폴백 전에 치명 근처 후보를 밀어 고치는 판</a:t>
                      </a:r>
                    </a:p>
                  </a:txBody>
                  <a:tcPr marL="63500" marR="63500" marT="12700" marB="12700">
                    <a:solidFill>
                      <a:srgbClr val="FFFDF8"/>
                    </a:solidFill>
                  </a:tcPr>
                </a:tc>
              </a:tr>
            </a:tbl>
          </a:graphicData>
        </a:graphic>
      </p:graphicFrame>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F59E5B"/>
                </a:solidFill>
                <a:latin typeface="Consolas"/>
                <a:ea typeface="Malgun Gothic"/>
                <a:cs typeface="Malgun Gothic"/>
              </a:rPr>
              <a:t>Planner · 탭</a:t>
            </a:r>
          </a:p>
        </p:txBody>
      </p:sp>
      <p:sp>
        <p:nvSpPr>
          <p:cNvPr id="3" name="TextBox 2"/>
          <p:cNvSpPr txBox="1"/>
          <p:nvPr/>
        </p:nvSpPr>
        <p:spPr>
          <a:xfrm>
            <a:off x="609600" y="609600"/>
            <a:ext cx="10972800" cy="381000"/>
          </a:xfrm>
          <a:prstGeom prst="rect">
            <a:avLst/>
          </a:prstGeom>
          <a:noFill/>
        </p:spPr>
        <p:txBody>
          <a:bodyPr wrap="square" lIns="0" rIns="0" tIns="0" bIns="0" anchor="t">
            <a:spAutoFit/>
            <a:normAutofit/>
          </a:bodyPr>
          <a:lstStyle/>
          <a:p>
            <a:r>
              <a:rPr sz="2650" b="1" i="0">
                <a:solidFill>
                  <a:srgbClr val="F4F1EA"/>
                </a:solidFill>
                <a:latin typeface="Arial"/>
                <a:ea typeface="Malgun Gothic"/>
                <a:cs typeface="Malgun Gothic"/>
              </a:rPr>
              <a:t>자율주행 자동차</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9AA6BC"/>
                </a:solidFill>
                <a:latin typeface="Arial"/>
                <a:ea typeface="Malgun Gothic"/>
                <a:cs typeface="Malgun Gothic"/>
              </a:rPr>
              <a:t>travplan 리서치 · Planner (docs/research-planner.md)    118 / 516</a:t>
            </a:r>
          </a:p>
        </p:txBody>
      </p:sp>
      <p:sp>
        <p:nvSpPr>
          <p:cNvPr id="5" name="TextBox 4"/>
          <p:cNvSpPr txBox="1"/>
          <p:nvPr/>
        </p:nvSpPr>
        <p:spPr>
          <a:xfrm>
            <a:off x="609600" y="1244600"/>
            <a:ext cx="5283200" cy="5080000"/>
          </a:xfrm>
          <a:prstGeom prst="rect">
            <a:avLst/>
          </a:prstGeom>
          <a:noFill/>
        </p:spPr>
        <p:txBody>
          <a:bodyPr wrap="square" lIns="0" rIns="0" tIns="0" bIns="0" anchor="t">
            <a:spAutoFit/>
            <a:normAutofit/>
          </a:bodyPr>
          <a:lstStyle/>
          <a:p>
            <a:pPr>
              <a:spcAft>
                <a:spcPts val="400"/>
              </a:spcAft>
            </a:pPr>
            <a:r>
              <a:rPr sz="1000" b="0" i="0">
                <a:solidFill>
                  <a:srgbClr val="C9D1E0"/>
                </a:solidFill>
                <a:latin typeface="Arial"/>
                <a:ea typeface="Malgun Gothic"/>
                <a:cs typeface="Malgun Gothic"/>
              </a:rPr>
              <a:t>B.12.1 자율주행 자동차: 규칙 스택에서 "후보 생성, 검증, 선택"으로</a:t>
            </a:r>
          </a:p>
          <a:p>
            <a:pPr>
              <a:spcAft>
                <a:spcPts val="400"/>
              </a:spcAft>
            </a:pPr>
            <a:r>
              <a:rPr sz="1000" b="0" i="0">
                <a:solidFill>
                  <a:srgbClr val="C9D1E0"/>
                </a:solidFill>
                <a:latin typeface="Arial"/>
                <a:ea typeface="Malgun Gothic"/>
                <a:cs typeface="Malgun Gothic"/>
              </a:rPr>
              <a:t>B.11 E2E 자율주행: 인식에서 계획까지 한 네트워크로</a:t>
            </a:r>
          </a:p>
        </p:txBody>
      </p:sp>
      <p:sp>
        <p:nvSpPr>
          <p:cNvPr id="6" name="TextBox 5"/>
          <p:cNvSpPr txBox="1"/>
          <p:nvPr/>
        </p:nvSpPr>
        <p:spPr>
          <a:xfrm>
            <a:off x="6299200" y="1244600"/>
            <a:ext cx="5283200" cy="5080000"/>
          </a:xfrm>
          <a:prstGeom prst="rect">
            <a:avLst/>
          </a:prstGeom>
          <a:noFill/>
        </p:spPr>
        <p:txBody>
          <a:bodyPr wrap="square" lIns="0" rIns="0" tIns="0" bIns="0" anchor="t">
            <a:spAutoFit/>
            <a:normAutofit/>
          </a:bodyPr>
          <a:lstStyle/>
          <a:p>
            <a:pPr>
              <a:spcAft>
                <a:spcPts val="400"/>
              </a:spcAft>
            </a:pPr>
            <a:r>
              <a:rPr sz="1000" b="0" i="0">
                <a:solidFill>
                  <a:srgbClr val="C9D1E0"/>
                </a:solidFill>
                <a:latin typeface="Arial"/>
                <a:ea typeface="Malgun Gothic"/>
                <a:cs typeface="Malgun Gothic"/>
              </a:rPr>
              <a:t>B.13 자율주행 Planner: 연구 역사, 상용화, 지금의 관심 주제</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자율주행 자동차</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B.12.1 자율주행 자동차: 규칙 스택에서 "후보 생성, 검증, 선택"으로</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119 / 516</a:t>
            </a:r>
          </a:p>
        </p:txBody>
      </p:sp>
      <p:sp>
        <p:nvSpPr>
          <p:cNvPr id="5" name="TextBox 4"/>
          <p:cNvSpPr txBox="1"/>
          <p:nvPr/>
        </p:nvSpPr>
        <p:spPr>
          <a:xfrm>
            <a:off x="609600" y="1244600"/>
            <a:ext cx="10972800" cy="343495"/>
          </a:xfrm>
          <a:prstGeom prst="rect">
            <a:avLst/>
          </a:prstGeom>
          <a:solidFill>
            <a:srgbClr val="EEF1F6"/>
          </a:solidFill>
        </p:spPr>
        <p:txBody>
          <a:bodyPr wrap="square" lIns="114300" rIns="114300" tIns="63500" bIns="63500" anchor="t">
            <a:spAutoFit/>
            <a:normAutofit/>
          </a:bodyPr>
          <a:lstStyle/>
          <a:p>
            <a:r>
              <a:rPr sz="1050" b="0" i="0">
                <a:solidFill>
                  <a:srgbClr val="33405A"/>
                </a:solidFill>
                <a:latin typeface="Arial"/>
                <a:ea typeface="Malgun Gothic"/>
                <a:cs typeface="Malgun Gothic"/>
              </a:rPr>
              <a:t>네 로봇을 가로질러 비교한 표는 「다리·바퀴 로봇과 계보」 탭의 </a:t>
            </a:r>
            <a:r>
              <a:rPr sz="1050" b="1" i="0">
                <a:solidFill>
                  <a:srgbClr val="33405A"/>
                </a:solidFill>
                <a:latin typeface="Arial"/>
                <a:ea typeface="Malgun Gothic"/>
                <a:cs typeface="Malgun Gothic"/>
              </a:rPr>
              <a:t>B.12</a:t>
            </a:r>
            <a:r>
              <a:rPr sz="1050" b="0" i="0">
                <a:solidFill>
                  <a:srgbClr val="33405A"/>
                </a:solidFill>
                <a:latin typeface="Arial"/>
                <a:ea typeface="Malgun Gothic"/>
                <a:cs typeface="Malgun Gothic"/>
              </a:rPr>
              <a:t> 머리말에 있다.</a:t>
            </a:r>
          </a:p>
        </p:txBody>
      </p:sp>
      <p:sp>
        <p:nvSpPr>
          <p:cNvPr id="6" name="TextBox 5"/>
          <p:cNvSpPr txBox="1"/>
          <p:nvPr/>
        </p:nvSpPr>
        <p:spPr>
          <a:xfrm>
            <a:off x="609600" y="1676995"/>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자동차 오픈소스는 규칙 기반 풀스택(Autoware, Apollo)에서, 벤치마크 위의 학습 Planner(nuPlan, CARLA)로, 다시 둘을 섞는 구조로 왔다.</a:t>
            </a:r>
            <a:r>
              <a:rPr sz="1050" b="0" i="0">
                <a:solidFill>
                  <a:srgbClr val="16213A"/>
                </a:solidFill>
                <a:latin typeface="Arial"/>
                <a:ea typeface="Malgun Gothic"/>
                <a:cs typeface="Malgun Gothic"/>
              </a:rPr>
              <a:t> 지금의 Autoware는 생성형 Planner와 규칙 기반 Planner가 함께 후보 궤적을 내고, 규칙 검증기와 순위기가 하나를 고르는 새 계획 구조를 넣고 있다.</a:t>
            </a:r>
          </a:p>
        </p:txBody>
      </p:sp>
      <p:graphicFrame>
        <p:nvGraphicFramePr>
          <p:cNvPr id="7" name="Table 6"/>
          <p:cNvGraphicFramePr>
            <a:graphicFrameLocks noGrp="1"/>
          </p:cNvGraphicFramePr>
          <p:nvPr/>
        </p:nvGraphicFramePr>
        <p:xfrm>
          <a:off x="609600" y="2198886"/>
          <a:ext cx="10966450" cy="2848608"/>
        </p:xfrm>
        <a:graphic>
          <a:graphicData uri="http://schemas.openxmlformats.org/drawingml/2006/table">
            <a:tbl>
              <a:tblPr firstRow="1" bandRow="1">
                <a:tableStyleId>{5C22544A-7EE6-4342-B048-85BDC9FD1C3A}</a:tableStyleId>
              </a:tblPr>
              <a:tblGrid>
                <a:gridCol w="1146770"/>
                <a:gridCol w="1581150"/>
                <a:gridCol w="3554016"/>
                <a:gridCol w="1851025"/>
                <a:gridCol w="2833489"/>
              </a:tblGrid>
              <a:tr h="197088">
                <a:tc>
                  <a:txBody>
                    <a:bodyPr wrap="square"/>
                    <a:lstStyle/>
                    <a:p>
                      <a:r>
                        <a:rPr sz="800" b="1" i="0">
                          <a:solidFill>
                            <a:srgbClr val="F4F1EA"/>
                          </a:solidFill>
                          <a:latin typeface="Arial"/>
                          <a:ea typeface="Malgun Gothic"/>
                          <a:cs typeface="Malgun Gothic"/>
                        </a:rPr>
                        <a:t>이름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종류</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계획 방식</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라이선스</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코드(★), 문서</a:t>
                      </a:r>
                    </a:p>
                  </a:txBody>
                  <a:tcPr marL="63500" marR="63500" marT="12700" marB="12700">
                    <a:solidFill>
                      <a:srgbClr val="16213A"/>
                    </a:solidFill>
                  </a:tcPr>
                </a:tc>
              </a:tr>
              <a:tr h="317976">
                <a:tc>
                  <a:txBody>
                    <a:bodyPr wrap="square"/>
                    <a:lstStyle/>
                    <a:p>
                      <a:r>
                        <a:rPr sz="800" b="0" i="0">
                          <a:solidFill>
                            <a:srgbClr val="16213A"/>
                          </a:solidFill>
                          <a:latin typeface="Arial"/>
                          <a:ea typeface="Malgun Gothic"/>
                          <a:cs typeface="Malgun Gothic"/>
                        </a:rPr>
                        <a:t>Autoware</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ROS 2 풀스택</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Lanelet2 경로, behavior path·velocity 모듈, motion velocity 모듈, 주차는 Hybrid A*</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Apache-2.0</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3"/>
                        </a:rPr>
                        <a:t>autoware</a:t>
                      </a:r>
                      <a:r>
                        <a:rPr sz="800" b="0" i="0">
                          <a:solidFill>
                            <a:srgbClr val="16213A"/>
                          </a:solidFill>
                          <a:latin typeface="Arial"/>
                          <a:ea typeface="Malgun Gothic"/>
                          <a:cs typeface="Malgun Gothic"/>
                        </a:rPr>
                        <a:t> 12.1k, </a:t>
                      </a:r>
                      <a:r>
                        <a:rPr sz="800" b="0" i="0">
                          <a:solidFill>
                            <a:srgbClr val="1D4ED8"/>
                          </a:solidFill>
                          <a:latin typeface="Arial"/>
                          <a:ea typeface="Malgun Gothic"/>
                          <a:cs typeface="Malgun Gothic"/>
                          <a:hlinkClick r:id="rId4"/>
                        </a:rPr>
                        <a:t>planning 코드</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Apollo</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풀스택</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Frenet 좌표의 DP + 스플라인 QP(EM planner), lattice, open space</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Apache-2.0</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5"/>
                        </a:rPr>
                        <a:t>ApolloAuto/apollo</a:t>
                      </a:r>
                      <a:r>
                        <a:rPr sz="800" b="0" i="0">
                          <a:solidFill>
                            <a:srgbClr val="16213A"/>
                          </a:solidFill>
                          <a:latin typeface="Arial"/>
                          <a:ea typeface="Malgun Gothic"/>
                          <a:cs typeface="Malgun Gothic"/>
                        </a:rPr>
                        <a:t> 26.8k, </a:t>
                      </a:r>
                      <a:r>
                        <a:rPr sz="800" b="0" i="0">
                          <a:solidFill>
                            <a:srgbClr val="1D4ED8"/>
                          </a:solidFill>
                          <a:latin typeface="Arial"/>
                          <a:ea typeface="Malgun Gothic"/>
                          <a:cs typeface="Malgun Gothic"/>
                          <a:hlinkClick r:id="rId6"/>
                        </a:rPr>
                        <a:t>planning 코드</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openpilot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양산 운전자 보조(300종 넘는 차량)</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E2E 주행 모델 + 횡방향 제어기 + acados 종방향 MPC</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MIT</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7"/>
                        </a:rPr>
                        <a:t>commaai/openpilot</a:t>
                      </a:r>
                      <a:r>
                        <a:rPr sz="800" b="0" i="0">
                          <a:solidFill>
                            <a:srgbClr val="16213A"/>
                          </a:solidFill>
                          <a:latin typeface="Arial"/>
                          <a:ea typeface="Malgun Gothic"/>
                          <a:cs typeface="Malgun Gothic"/>
                        </a:rPr>
                        <a:t> 63.7k</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nuPlan devkit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벤치마크</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반응형 에이전트가 있는 폐루프 계획 평가</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Apache-2.0</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8"/>
                        </a:rPr>
                        <a:t>motional/nuplan-devkit</a:t>
                      </a:r>
                      <a:r>
                        <a:rPr sz="800" b="0" i="0">
                          <a:solidFill>
                            <a:srgbClr val="16213A"/>
                          </a:solidFill>
                          <a:latin typeface="Arial"/>
                          <a:ea typeface="Malgun Gothic"/>
                          <a:cs typeface="Malgun Gothic"/>
                        </a:rPr>
                        <a:t> 1.0k</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tuplan_garage (PDM)</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규칙 기반 Planner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IDM 제안 15개를 시뮬레이션하고 점수로 선택</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Apache-2.0</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9"/>
                        </a:rPr>
                        <a:t>autonomousvision/tuplan_garage</a:t>
                      </a:r>
                      <a:r>
                        <a:rPr sz="800" b="0" i="0">
                          <a:solidFill>
                            <a:srgbClr val="16213A"/>
                          </a:solidFill>
                          <a:latin typeface="Arial"/>
                          <a:ea typeface="Malgun Gothic"/>
                          <a:cs typeface="Malgun Gothic"/>
                        </a:rPr>
                        <a:t> 0.7k</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PlanTF, PLUTO</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학습 Planner</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transformer 모방 학습, 대조 학습과 증강</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표기 없음</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0"/>
                        </a:rPr>
                        <a:t>jchengai/planTF</a:t>
                      </a:r>
                      <a:r>
                        <a:rPr sz="800" b="0" i="0">
                          <a:solidFill>
                            <a:srgbClr val="16213A"/>
                          </a:solidFill>
                          <a:latin typeface="Arial"/>
                          <a:ea typeface="Malgun Gothic"/>
                          <a:cs typeface="Malgun Gothic"/>
                        </a:rPr>
                        <a:t> 0.4k, </a:t>
                      </a:r>
                      <a:r>
                        <a:rPr sz="800" b="0" i="0">
                          <a:solidFill>
                            <a:srgbClr val="1D4ED8"/>
                          </a:solidFill>
                          <a:latin typeface="Arial"/>
                          <a:ea typeface="Malgun Gothic"/>
                          <a:cs typeface="Malgun Gothic"/>
                          <a:hlinkClick r:id="rId11"/>
                        </a:rPr>
                        <a:t>jchengai/pluto</a:t>
                      </a:r>
                      <a:r>
                        <a:rPr sz="800" b="0" i="0">
                          <a:solidFill>
                            <a:srgbClr val="16213A"/>
                          </a:solidFill>
                          <a:latin typeface="Arial"/>
                          <a:ea typeface="Malgun Gothic"/>
                          <a:cs typeface="Malgun Gothic"/>
                        </a:rPr>
                        <a:t> 0.6k</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PlanT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학습 Planner(CARLA)</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객체 단위 입력의 transformer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MIT</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2"/>
                        </a:rPr>
                        <a:t>autonomousvision/plant</a:t>
                      </a:r>
                      <a:r>
                        <a:rPr sz="800" b="0" i="0">
                          <a:solidFill>
                            <a:srgbClr val="16213A"/>
                          </a:solidFill>
                          <a:latin typeface="Arial"/>
                          <a:ea typeface="Malgun Gothic"/>
                          <a:cs typeface="Malgun Gothic"/>
                        </a:rPr>
                        <a:t> 0.3k</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TransFuser</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E2E(CARLA, NAVSIM 기준선)</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카메라·LiDAR transformer 융합</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MIT</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3"/>
                        </a:rPr>
                        <a:t>autonomousvision/transfuser</a:t>
                      </a:r>
                      <a:r>
                        <a:rPr sz="800" b="0" i="0">
                          <a:solidFill>
                            <a:srgbClr val="16213A"/>
                          </a:solidFill>
                          <a:latin typeface="Arial"/>
                          <a:ea typeface="Malgun Gothic"/>
                          <a:cs typeface="Malgun Gothic"/>
                        </a:rPr>
                        <a:t> 1.6k</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CaRL</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RL Planner(CARLA, nuPlan)</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경로 완주 하나를 보상으로 쓰는 대규모 PPO</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MIT + 민간 용도 조항</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4"/>
                        </a:rPr>
                        <a:t>autonomousvision/CaRL</a:t>
                      </a:r>
                      <a:r>
                        <a:rPr sz="800" b="0" i="0">
                          <a:solidFill>
                            <a:srgbClr val="16213A"/>
                          </a:solidFill>
                          <a:latin typeface="Arial"/>
                          <a:ea typeface="Malgun Gothic"/>
                          <a:cs typeface="Malgun Gothic"/>
                        </a:rPr>
                        <a:t> 0.2k</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EPSILON</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규칙·최적화 Planner</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POMDP 행동 계획 + 시공간 의미 회랑 최적화</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MIT</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5"/>
                        </a:rPr>
                        <a:t>HKUST-Aerial-Robotics/EPSILON</a:t>
                      </a:r>
                      <a:r>
                        <a:rPr sz="800" b="0" i="0">
                          <a:solidFill>
                            <a:srgbClr val="16213A"/>
                          </a:solidFill>
                          <a:latin typeface="Arial"/>
                          <a:ea typeface="Malgun Gothic"/>
                          <a:cs typeface="Malgun Gothic"/>
                        </a:rPr>
                        <a:t> 0.8k</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Alpamayo 1, 1.5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추론 VLA</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Cosmos-Reason VLM + flow matching 궤적 디코더</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코드 Apache-2.0, 가중치 OpenMDW-1.1</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6"/>
                        </a:rPr>
                        <a:t>NVlabs/alpamayo</a:t>
                      </a:r>
                      <a:r>
                        <a:rPr sz="800" b="0" i="0">
                          <a:solidFill>
                            <a:srgbClr val="16213A"/>
                          </a:solidFill>
                          <a:latin typeface="Arial"/>
                          <a:ea typeface="Malgun Gothic"/>
                          <a:cs typeface="Malgun Gothic"/>
                        </a:rPr>
                        <a:t> 2.0k, </a:t>
                      </a:r>
                      <a:r>
                        <a:rPr sz="800" b="0" i="0">
                          <a:solidFill>
                            <a:srgbClr val="1D4ED8"/>
                          </a:solidFill>
                          <a:latin typeface="Arial"/>
                          <a:ea typeface="Malgun Gothic"/>
                          <a:cs typeface="Malgun Gothic"/>
                          <a:hlinkClick r:id="rId17"/>
                        </a:rPr>
                        <a:t>alpamayo1.5</a:t>
                      </a:r>
                      <a:r>
                        <a:rPr sz="800" b="0" i="0">
                          <a:solidFill>
                            <a:srgbClr val="16213A"/>
                          </a:solidFill>
                          <a:latin typeface="Arial"/>
                          <a:ea typeface="Malgun Gothic"/>
                          <a:cs typeface="Malgun Gothic"/>
                        </a:rPr>
                        <a:t> 0.4k</a:t>
                      </a:r>
                    </a:p>
                  </a:txBody>
                  <a:tcPr marL="63500" marR="63500" marT="12700" marB="12700">
                    <a:solidFill>
                      <a:srgbClr val="FFFDF8"/>
                    </a:solidFill>
                  </a:tcPr>
                </a:tc>
              </a:tr>
            </a:tbl>
          </a:graphicData>
        </a:graphic>
      </p:graphicFrame>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자율주행 자동차</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B.12.1 자율주행 자동차: 규칙 스택에서 "후보 생성, 검증, 선택"으로</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120 / 516</a:t>
            </a:r>
          </a:p>
        </p:txBody>
      </p:sp>
      <p:graphicFrame>
        <p:nvGraphicFramePr>
          <p:cNvPr id="5" name="Table 4"/>
          <p:cNvGraphicFramePr>
            <a:graphicFrameLocks noGrp="1"/>
          </p:cNvGraphicFramePr>
          <p:nvPr/>
        </p:nvGraphicFramePr>
        <p:xfrm>
          <a:off x="609600" y="1244600"/>
          <a:ext cx="10966450" cy="909240"/>
        </p:xfrm>
        <a:graphic>
          <a:graphicData uri="http://schemas.openxmlformats.org/drawingml/2006/table">
            <a:tbl>
              <a:tblPr firstRow="1" bandRow="1">
                <a:tableStyleId>{5C22544A-7EE6-4342-B048-85BDC9FD1C3A}</a:tableStyleId>
              </a:tblPr>
              <a:tblGrid>
                <a:gridCol w="1146770"/>
                <a:gridCol w="1581150"/>
                <a:gridCol w="3554016"/>
                <a:gridCol w="1851025"/>
                <a:gridCol w="2833489"/>
              </a:tblGrid>
              <a:tr h="197088">
                <a:tc>
                  <a:txBody>
                    <a:bodyPr wrap="square"/>
                    <a:lstStyle/>
                    <a:p>
                      <a:r>
                        <a:rPr sz="800" b="1" i="0">
                          <a:solidFill>
                            <a:srgbClr val="F4F1EA"/>
                          </a:solidFill>
                          <a:latin typeface="Arial"/>
                          <a:ea typeface="Malgun Gothic"/>
                          <a:cs typeface="Malgun Gothic"/>
                        </a:rPr>
                        <a:t>이름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종류</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계획 방식</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라이선스</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코드(★), 문서</a:t>
                      </a:r>
                    </a:p>
                  </a:txBody>
                  <a:tcPr marL="63500" marR="63500" marT="12700" marB="12700">
                    <a:solidFill>
                      <a:srgbClr val="16213A"/>
                    </a:solidFill>
                  </a:tcPr>
                </a:tc>
              </a:tr>
              <a:tr h="317976">
                <a:tc>
                  <a:txBody>
                    <a:bodyPr wrap="square"/>
                    <a:lstStyle/>
                    <a:p>
                      <a:r>
                        <a:rPr sz="800" b="0" i="0">
                          <a:solidFill>
                            <a:srgbClr val="16213A"/>
                          </a:solidFill>
                          <a:latin typeface="Arial"/>
                          <a:ea typeface="Malgun Gothic"/>
                          <a:cs typeface="Malgun Gothic"/>
                        </a:rPr>
                        <a:t>Waymax, GPUDrive</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학습·평가 시뮬</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JAX 가속 시뮬, GPU 다중 에이전트 시뮬</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비상업, MIT</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3"/>
                        </a:rPr>
                        <a:t>waymo-research/waymax</a:t>
                      </a:r>
                      <a:r>
                        <a:rPr sz="800" b="0" i="0">
                          <a:solidFill>
                            <a:srgbClr val="16213A"/>
                          </a:solidFill>
                          <a:latin typeface="Arial"/>
                          <a:ea typeface="Malgun Gothic"/>
                          <a:cs typeface="Malgun Gothic"/>
                        </a:rPr>
                        <a:t> 1.1k, </a:t>
                      </a:r>
                      <a:r>
                        <a:rPr sz="800" b="0" i="0">
                          <a:solidFill>
                            <a:srgbClr val="1D4ED8"/>
                          </a:solidFill>
                          <a:latin typeface="Arial"/>
                          <a:ea typeface="Malgun Gothic"/>
                          <a:cs typeface="Malgun Gothic"/>
                          <a:hlinkClick r:id="rId4"/>
                        </a:rPr>
                        <a:t>Emerge-Lab/gpudrive</a:t>
                      </a:r>
                      <a:r>
                        <a:rPr sz="800" b="0" i="0">
                          <a:solidFill>
                            <a:srgbClr val="16213A"/>
                          </a:solidFill>
                          <a:latin typeface="Arial"/>
                          <a:ea typeface="Malgun Gothic"/>
                          <a:cs typeface="Malgun Gothic"/>
                        </a:rPr>
                        <a:t> 0.6k</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Bench2Drive</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폐루프 벤치마크</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CARLA 44개 상호작용 시나리오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CC BY-NC-ND 4.0</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5"/>
                        </a:rPr>
                        <a:t>Thinklab-SJTU/Bench2Drive</a:t>
                      </a:r>
                      <a:r>
                        <a:rPr sz="800" b="0" i="0">
                          <a:solidFill>
                            <a:srgbClr val="16213A"/>
                          </a:solidFill>
                          <a:latin typeface="Arial"/>
                          <a:ea typeface="Malgun Gothic"/>
                          <a:cs typeface="Malgun Gothic"/>
                        </a:rPr>
                        <a:t> 1.9k</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PythonRobotics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교육용 코드</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 Frenet 최적 궤적, state lattice, MPC 예제</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MIT</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6"/>
                        </a:rPr>
                        <a:t>AtsushiSakai/PythonRobotics</a:t>
                      </a:r>
                      <a:r>
                        <a:rPr sz="800" b="0" i="0">
                          <a:solidFill>
                            <a:srgbClr val="16213A"/>
                          </a:solidFill>
                          <a:latin typeface="Arial"/>
                          <a:ea typeface="Malgun Gothic"/>
                          <a:cs typeface="Malgun Gothic"/>
                        </a:rPr>
                        <a:t> 30.6k</a:t>
                      </a:r>
                    </a:p>
                  </a:txBody>
                  <a:tcPr marL="63500" marR="63500" marT="12700" marB="12700">
                    <a:solidFill>
                      <a:srgbClr val="FFFDF8"/>
                    </a:solidFill>
                  </a:tcPr>
                </a:tc>
              </a:tr>
            </a:tbl>
          </a:graphicData>
        </a:graphic>
      </p:graphicFrame>
      <p:sp>
        <p:nvSpPr>
          <p:cNvPr id="6" name="TextBox 5"/>
          <p:cNvSpPr txBox="1"/>
          <p:nvPr/>
        </p:nvSpPr>
        <p:spPr>
          <a:xfrm>
            <a:off x="609600" y="2476401"/>
            <a:ext cx="10972800" cy="108247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Autoware — 규칙 모듈을 쌓은 ROS 2 풀스택, 이제는 생성형 후보를 고른다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7"/>
              </a:rPr>
              <a:t>autoware</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8"/>
              </a:rPr>
              <a:t>planning 코드</a:t>
            </a:r>
            <a:r>
              <a:rPr sz="1050" b="0" i="0">
                <a:solidFill>
                  <a:srgbClr val="16213A"/>
                </a:solidFill>
                <a:latin typeface="Arial"/>
                <a:ea typeface="Malgun Gothic"/>
                <a:cs typeface="Malgun Gothic"/>
              </a:rPr>
              <a:t>, Apache-2.0, ★12.1k). 경로는 Lanelet2 지도 위에서 정한다. behavior path planner가 차선 변경, 정적·동적 장애물 회피, 출발과 주차 같은 모듈로 경로 모양을 만든다. behavior velocity planner는 횡단보도, 보도(walkway), 신호, 교차로, 과속 방지턱, 가림 지점 같은 모듈로 속도를 제한한다. motion velocity planner는 장애물 정지, 감속, 돌발 진입 대비를 맡는다. 차선이 없는 주차장은 freespace planner(Hybrid A*, RRT*)가 맡는다. 지금 main에는 새 계획 구조도 들어 있다. Diffusion Planner(B.8, 2025-07 통합)와 최소 규칙 기반 Planner가 후보 궤적을 낸다. 검증기가 속도·가속도·조향률 한계, 도로 경계 이탈, 신호 위반 후보를 걸러 낸다. 순위기는 안전, 후보 출처, 품질(편안함, 진행, 일관성) 벌점으로 점수를 매기고, 선택기가 하나를 내보낸다.</a:t>
            </a:r>
          </a:p>
        </p:txBody>
      </p:sp>
      <p:sp>
        <p:nvSpPr>
          <p:cNvPr id="7" name="TextBox 6"/>
          <p:cNvSpPr txBox="1"/>
          <p:nvPr/>
        </p:nvSpPr>
        <p:spPr>
          <a:xfrm>
            <a:off x="609600" y="3647777"/>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Apollo — Frenet 좌표에서 DP로 결정하고 QP로 다듬는다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9"/>
              </a:rPr>
              <a:t>arXiv:1807.08048</a:t>
            </a:r>
            <a:r>
              <a:rPr sz="1050" b="0" i="0">
                <a:solidFill>
                  <a:srgbClr val="16213A"/>
                </a:solidFill>
                <a:latin typeface="Arial"/>
                <a:ea typeface="Malgun Gothic"/>
                <a:cs typeface="Malgun Gothic"/>
              </a:rPr>
              <a:t>, 2018, Baidu, </a:t>
            </a:r>
            <a:r>
              <a:rPr sz="1050" b="0" i="0">
                <a:solidFill>
                  <a:srgbClr val="1D4ED8"/>
                </a:solidFill>
                <a:latin typeface="Arial"/>
                <a:ea typeface="Malgun Gothic"/>
                <a:cs typeface="Malgun Gothic"/>
                <a:hlinkClick r:id="rId10"/>
              </a:rPr>
              <a:t>planning 코드</a:t>
            </a:r>
            <a:r>
              <a:rPr sz="1050" b="0" i="0">
                <a:solidFill>
                  <a:srgbClr val="16213A"/>
                </a:solidFill>
                <a:latin typeface="Arial"/>
                <a:ea typeface="Malgun Gothic"/>
                <a:cs typeface="Malgun Gothic"/>
              </a:rPr>
              <a:t>, Apache-2.0, ★26.8k). 차선마다 기준선을 Frenet 좌표로 두고, 경로(SL 평면)와 속도(ST 평면)를 번갈아 푼다. 먼저 장애물을 좌표계에 투영한다(E단계). 다음으로 동적 계획(DP)이 격자 위에서 거친 해를 찾아 "옆으로 비킬지, 양보할지" 같은 결정을 내리고, 그 결정으로 생긴 볼록 영역 안에서 스플라인 QP가 궤적을 매끄럽게 다듬는다(M단계). 차선별 최적 궤적을 병렬로 만든 뒤 비교해 차선 변경을 고른다. 2018년 5월까지 Apollo 차량 수십 대가 이 Planner로 3,380시간, 약 68,000 km를 폐루프로 달렸다. planning 모듈에는 이 밖에 lattice planner와 주차용 open space planner(TDR-OBCA, </a:t>
            </a:r>
            <a:r>
              <a:rPr sz="1050" b="0" i="0">
                <a:solidFill>
                  <a:srgbClr val="1D4ED8"/>
                </a:solidFill>
                <a:latin typeface="Arial"/>
                <a:ea typeface="Malgun Gothic"/>
                <a:cs typeface="Malgun Gothic"/>
                <a:hlinkClick r:id="rId11"/>
              </a:rPr>
              <a:t>arXiv:2009.11345</a:t>
            </a:r>
            <a:r>
              <a:rPr sz="1050" b="0" i="0">
                <a:solidFill>
                  <a:srgbClr val="16213A"/>
                </a:solidFill>
                <a:latin typeface="Arial"/>
                <a:ea typeface="Malgun Gothic"/>
                <a:cs typeface="Malgun Gothic"/>
              </a:rPr>
              <a:t>)가 있다.</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자율주행 자동차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B.12.1 자율주행 자동차: 규칙 스택에서 "후보 생성, 검증, 선택"으로</a:t>
            </a:r>
            <a:r>
              <a:rPr sz="1050" b="0" i="0">
                <a:solidFill>
                  <a:srgbClr val="5A6478"/>
                </a:solidFill>
                <a:latin typeface="Arial"/>
                <a:ea typeface="Malgun Gothic"/>
                <a:cs typeface="Malgun Gothic"/>
              </a:rPr>
              <a:t>  자세히: Apollo EM planner의 경로·속도 최적화</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121 / 516</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경로 QP.</a:t>
            </a:r>
            <a:r>
              <a:rPr sz="1050" b="0" i="0">
                <a:solidFill>
                  <a:srgbClr val="16213A"/>
                </a:solidFill>
                <a:latin typeface="Arial"/>
                <a:ea typeface="Malgun Gothic"/>
                <a:cs typeface="Malgun Gothic"/>
              </a:rPr>
              <a:t> Frenet 좌표에서 경로는 기준선 길이 </a:t>
            </a:r>
            <a:r>
              <a:rPr sz="1050" b="0" i="1">
                <a:solidFill>
                  <a:srgbClr val="16213A"/>
                </a:solidFill>
                <a:latin typeface="Arial"/>
                <a:ea typeface="Malgun Gothic"/>
                <a:cs typeface="Malgun Gothic"/>
              </a:rPr>
              <a:t>s</a:t>
            </a:r>
            <a:r>
              <a:rPr sz="1050" b="0" i="0">
                <a:solidFill>
                  <a:srgbClr val="16213A"/>
                </a:solidFill>
                <a:latin typeface="Arial"/>
                <a:ea typeface="Malgun Gothic"/>
                <a:cs typeface="Malgun Gothic"/>
              </a:rPr>
              <a:t>에 대한 횡방향 오프셋 </a:t>
            </a:r>
            <a:r>
              <a:rPr sz="1050" b="0" i="1">
                <a:solidFill>
                  <a:srgbClr val="16213A"/>
                </a:solidFill>
                <a:latin typeface="Arial"/>
                <a:ea typeface="Malgun Gothic"/>
                <a:cs typeface="Malgun Gothic"/>
              </a:rPr>
              <a:t>l = f(s)</a:t>
            </a:r>
            <a:r>
              <a:rPr sz="1050" b="0" i="0">
                <a:solidFill>
                  <a:srgbClr val="16213A"/>
                </a:solidFill>
                <a:latin typeface="Arial"/>
                <a:ea typeface="Malgun Gothic"/>
                <a:cs typeface="Malgun Gothic"/>
              </a:rPr>
              <a:t>다. DP가 낸 경로 </a:t>
            </a:r>
            <a:r>
              <a:rPr sz="1050" b="0" i="1">
                <a:solidFill>
                  <a:srgbClr val="16213A"/>
                </a:solidFill>
                <a:latin typeface="Arial"/>
                <a:ea typeface="Malgun Gothic"/>
                <a:cs typeface="Malgun Gothic"/>
              </a:rPr>
              <a:t>g(s)</a:t>
            </a:r>
            <a:r>
              <a:rPr sz="1050" b="0" i="0">
                <a:solidFill>
                  <a:srgbClr val="16213A"/>
                </a:solidFill>
                <a:latin typeface="Arial"/>
                <a:ea typeface="Malgun Gothic"/>
                <a:cs typeface="Malgun Gothic"/>
              </a:rPr>
              <a:t>를 안내선으로 두고, 기울기(방향), 2차 도함수(곡률), 3차 도함수(곡률 변화율)의 제곱과 안내선에서 벗어난 정도를 함께 줄인다.</a:t>
            </a:r>
          </a:p>
        </p:txBody>
      </p:sp>
      <p:pic>
        <p:nvPicPr>
          <p:cNvPr id="6" name="Picture 5" descr="image.png"/>
          <p:cNvPicPr>
            <a:picLocks noChangeAspect="1"/>
          </p:cNvPicPr>
          <p:nvPr/>
        </p:nvPicPr>
        <p:blipFill>
          <a:blip r:embed="rId3"/>
          <a:stretch>
            <a:fillRect/>
          </a:stretch>
        </p:blipFill>
        <p:spPr>
          <a:xfrm>
            <a:off x="609600" y="1766491"/>
            <a:ext cx="5797550" cy="400050"/>
          </a:xfrm>
          <a:prstGeom prst="rect">
            <a:avLst/>
          </a:prstGeom>
        </p:spPr>
      </p:pic>
      <p:sp>
        <p:nvSpPr>
          <p:cNvPr id="7" name="TextBox 6"/>
          <p:cNvSpPr txBox="1"/>
          <p:nvPr/>
        </p:nvSpPr>
        <p:spPr>
          <a:xfrm>
            <a:off x="609600" y="2181324"/>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제약은 각 기준점 </a:t>
            </a:r>
            <a:r>
              <a:rPr sz="1050" b="0" i="1">
                <a:solidFill>
                  <a:srgbClr val="16213A"/>
                </a:solidFill>
                <a:latin typeface="Arial"/>
                <a:ea typeface="Malgun Gothic"/>
                <a:cs typeface="Malgun Gothic"/>
              </a:rPr>
              <a:t>sᵢ</a:t>
            </a:r>
            <a:r>
              <a:rPr sz="1050" b="0" i="0">
                <a:solidFill>
                  <a:srgbClr val="16213A"/>
                </a:solidFill>
                <a:latin typeface="Arial"/>
                <a:ea typeface="Malgun Gothic"/>
                <a:cs typeface="Malgun Gothic"/>
              </a:rPr>
              <a:t>에서 </a:t>
            </a:r>
            <a:r>
              <a:rPr sz="1050" b="0" i="1">
                <a:solidFill>
                  <a:srgbClr val="16213A"/>
                </a:solidFill>
                <a:latin typeface="Arial"/>
                <a:ea typeface="Malgun Gothic"/>
                <a:cs typeface="Malgun Gothic"/>
              </a:rPr>
              <a:t>l</a:t>
            </a:r>
            <a:r>
              <a:rPr sz="1050" b="0" i="0">
                <a:solidFill>
                  <a:srgbClr val="16213A"/>
                </a:solidFill>
                <a:latin typeface="Arial"/>
                <a:ea typeface="Malgun Gothic"/>
                <a:cs typeface="Malgun Gothic"/>
              </a:rPr>
              <a:t>이 허용 범위 </a:t>
            </a:r>
            <a:r>
              <a:rPr sz="1050" b="0" i="1">
                <a:solidFill>
                  <a:srgbClr val="16213A"/>
                </a:solidFill>
                <a:latin typeface="Arial"/>
                <a:ea typeface="Malgun Gothic"/>
                <a:cs typeface="Malgun Gothic"/>
              </a:rPr>
              <a:t>[l_(low,i), l_(high,i)]</a:t>
            </a:r>
            <a:r>
              <a:rPr sz="1050" b="0" i="0">
                <a:solidFill>
                  <a:srgbClr val="16213A"/>
                </a:solidFill>
                <a:latin typeface="Arial"/>
                <a:ea typeface="Malgun Gothic"/>
                <a:cs typeface="Malgun Gothic"/>
              </a:rPr>
              <a:t> 안에 있는 것이다. 차량 방향 때문에 모서리가 범위를 벗어나지 않도록 차 앞뒤에 반원을 붙여 선형 제약으로 만든다.</a:t>
            </a:r>
          </a:p>
        </p:txBody>
      </p:sp>
      <p:sp>
        <p:nvSpPr>
          <p:cNvPr id="8" name="TextBox 7"/>
          <p:cNvSpPr txBox="1"/>
          <p:nvPr/>
        </p:nvSpPr>
        <p:spPr>
          <a:xfrm>
            <a:off x="609600" y="248672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속도 DP와 QP.</a:t>
            </a:r>
            <a:r>
              <a:rPr sz="1050" b="0" i="0">
                <a:solidFill>
                  <a:srgbClr val="16213A"/>
                </a:solidFill>
                <a:latin typeface="Arial"/>
                <a:ea typeface="Malgun Gothic"/>
                <a:cs typeface="Malgun Gothic"/>
              </a:rPr>
              <a:t> 경로가 정해지면 장애물을 ST 평면에 투영하고, 시간 격자 위 구간 선형 속도 </a:t>
            </a:r>
            <a:r>
              <a:rPr sz="1050" b="0" i="1">
                <a:solidFill>
                  <a:srgbClr val="16213A"/>
                </a:solidFill>
                <a:latin typeface="Arial"/>
                <a:ea typeface="Malgun Gothic"/>
                <a:cs typeface="Malgun Gothic"/>
              </a:rPr>
              <a:t>S(t)</a:t>
            </a:r>
            <a:r>
              <a:rPr sz="1050" b="0" i="0">
                <a:solidFill>
                  <a:srgbClr val="16213A"/>
                </a:solidFill>
                <a:latin typeface="Arial"/>
                <a:ea typeface="Malgun Gothic"/>
                <a:cs typeface="Malgun Gothic"/>
              </a:rPr>
              <a:t>를 DP로 찾는다. 속도, 가속도, jerk는 차분으로 근사한다. DP는 기준 속도와의 차이, 가속도와 jerk, 장애물과의 거리 비용을 합한 목적을 최소화하고, 장애물마다 "앞서 갈지, 뒤따를지" 결정을 낸다. 그 결정이 만든 통로 안에서 스플라인 QP가 속도를 매끄럽게 한다.</a:t>
            </a:r>
          </a:p>
        </p:txBody>
      </p:sp>
      <p:sp>
        <p:nvSpPr>
          <p:cNvPr id="9" name="TextBox 8"/>
          <p:cNvSpPr txBox="1"/>
          <p:nvPr/>
        </p:nvSpPr>
        <p:spPr>
          <a:xfrm>
            <a:off x="609600" y="300861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것.</a:t>
            </a:r>
            <a:r>
              <a:rPr sz="1050" b="0" i="0">
                <a:solidFill>
                  <a:srgbClr val="16213A"/>
                </a:solidFill>
                <a:latin typeface="Arial"/>
                <a:ea typeface="Malgun Gothic"/>
                <a:cs typeface="Malgun Gothic"/>
              </a:rPr>
              <a:t> "DP로 이산 결정, QP로 연속 최적화"의 두 단계는 비볼록 문제를 푸는 표준 방법이다. travplan의 GuidancePlanner(격자 Dijkstra)가 전역에서 "어느 연석 경사로로 갈지"를 정하고 Planner D가 연속 궤적을 내는 것도 같은 분업이다.</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자율주행 자동차</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B.12.1 자율주행 자동차: 규칙 스택에서 "후보 생성, 검증, 선택"으로</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122 / 516</a:t>
            </a:r>
          </a:p>
        </p:txBody>
      </p:sp>
      <p:sp>
        <p:nvSpPr>
          <p:cNvPr id="5" name="TextBox 4"/>
          <p:cNvSpPr txBox="1"/>
          <p:nvPr/>
        </p:nvSpPr>
        <p:spPr>
          <a:xfrm>
            <a:off x="609600" y="1244600"/>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openpilot — 양산 운전자 보조에서 도는 E2E 주행 모델</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arXiv:2504.19077</a:t>
            </a:r>
            <a:r>
              <a:rPr sz="1050" b="0" i="0">
                <a:solidFill>
                  <a:srgbClr val="16213A"/>
                </a:solidFill>
                <a:latin typeface="Arial"/>
                <a:ea typeface="Malgun Gothic"/>
                <a:cs typeface="Malgun Gothic"/>
              </a:rPr>
              <a:t>, 2025, comma.ai, </a:t>
            </a:r>
            <a:r>
              <a:rPr sz="1050" b="0" i="0">
                <a:solidFill>
                  <a:srgbClr val="1D4ED8"/>
                </a:solidFill>
                <a:latin typeface="Arial"/>
                <a:ea typeface="Malgun Gothic"/>
                <a:cs typeface="Malgun Gothic"/>
                <a:hlinkClick r:id="rId4"/>
              </a:rPr>
              <a:t>코드</a:t>
            </a:r>
            <a:r>
              <a:rPr sz="1050" b="0" i="0">
                <a:solidFill>
                  <a:srgbClr val="16213A"/>
                </a:solidFill>
                <a:latin typeface="Arial"/>
                <a:ea typeface="Malgun Gothic"/>
                <a:cs typeface="Malgun Gothic"/>
              </a:rPr>
              <a:t>, MIT, ★63.7k). 300종이 넘는 차량의 운전자 보조 시스템을 업그레이드한다. 카메라 영상을 받는 주행 모델의 출력을 차종별 횡방향 제어기(토크, 조향각 등)와 acados로 푸는 종방향 MPC가 받아 차량 명령으로 바꾼다. 2025년 논문은 손으로 짠 주행 규칙 없이, 실제 주행 데이터로 만든 on-policy 시뮬레이터(재투영 시뮬레이션, 또는 학습한 world model) 안에서 주행 정책을 학습해 실제 운전자 보조 시스템에 배포했다. 학습한 world model 안에서 정책을 학습하는 방식이 양산 제품까지 간 드문 사례다.</a:t>
            </a:r>
          </a:p>
        </p:txBody>
      </p:sp>
      <p:sp>
        <p:nvSpPr>
          <p:cNvPr id="6" name="TextBox 5"/>
          <p:cNvSpPr txBox="1"/>
          <p:nvPr/>
        </p:nvSpPr>
        <p:spPr>
          <a:xfrm>
            <a:off x="609600" y="2199481"/>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PDM-Closed — 규칙 기반 제안과 점수 선택이 학습 Planner를 이겼다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5"/>
              </a:rPr>
              <a:t>arXiv:2306.07962</a:t>
            </a:r>
            <a:r>
              <a:rPr sz="1050" b="0" i="0">
                <a:solidFill>
                  <a:srgbClr val="16213A"/>
                </a:solidFill>
                <a:latin typeface="Arial"/>
                <a:ea typeface="Malgun Gothic"/>
                <a:cs typeface="Malgun Gothic"/>
              </a:rPr>
              <a:t>, CoRL 2023, Tübingen, </a:t>
            </a:r>
            <a:r>
              <a:rPr sz="1050" b="0" i="0">
                <a:solidFill>
                  <a:srgbClr val="1D4ED8"/>
                </a:solidFill>
                <a:latin typeface="Arial"/>
                <a:ea typeface="Malgun Gothic"/>
                <a:cs typeface="Malgun Gothic"/>
                <a:hlinkClick r:id="rId6"/>
              </a:rPr>
              <a:t>tuplan_garage</a:t>
            </a:r>
            <a:r>
              <a:rPr sz="1050" b="0" i="0">
                <a:solidFill>
                  <a:srgbClr val="16213A"/>
                </a:solidFill>
                <a:latin typeface="Arial"/>
                <a:ea typeface="Malgun Gothic"/>
                <a:cs typeface="Malgun Gothic"/>
              </a:rPr>
              <a:t>, Apache-2.0, ★0.7k). nuPlan 2023 계획 챌린지 우승 Planner다. 차선 그래프 탐색으로 중심선을 고르고, 주변 에이전트는 8초 동안 등속으로 예측한다. IDM(차간 거리 유지 운전자 모델)을 목표 속도 5가지와 횡방향 오프셋 3가지로 돌려 제안 궤적 15개를 만든다. 각 제안을 LQR 추종과 자전거 모델로 4초 시뮬레이션하고, nuPlan 지표를 닮은 점수(규칙 준수, 진행, 편안함)로 가장 좋은 것을 고른다. 2초 안에 충돌이 예상되면 비상 제동으로 바꾼다. 논문은 학습 Planner가 장기 예측(ego-forecasting)에는 강하지만 폐루프 계획에서는 오차를 스스로 키워 도로를 벗어난다는 것을 보였다.</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자율주행 자동차</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B.12.1 자율주행 자동차: 규칙 스택에서 "후보 생성, 검증, 선택"으로</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123 / 516</a:t>
            </a:r>
          </a:p>
        </p:txBody>
      </p:sp>
      <p:pic>
        <p:nvPicPr>
          <p:cNvPr id="5" name="Picture 4" descr="image.jpg"/>
          <p:cNvPicPr>
            <a:picLocks noChangeAspect="1"/>
          </p:cNvPicPr>
          <p:nvPr/>
        </p:nvPicPr>
        <p:blipFill>
          <a:blip r:embed="rId3"/>
          <a:stretch>
            <a:fillRect/>
          </a:stretch>
        </p:blipFill>
        <p:spPr>
          <a:xfrm>
            <a:off x="1304925" y="1244600"/>
            <a:ext cx="9582150" cy="3048000"/>
          </a:xfrm>
          <a:prstGeom prst="rect">
            <a:avLst/>
          </a:prstGeom>
        </p:spPr>
      </p:pic>
      <p:sp>
        <p:nvSpPr>
          <p:cNvPr id="6" name="TextBox 5"/>
          <p:cNvSpPr txBox="1"/>
          <p:nvPr/>
        </p:nvSpPr>
        <p:spPr>
          <a:xfrm>
            <a:off x="1304925" y="4330700"/>
            <a:ext cx="958215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PDM (Fig. 1): 규칙 기반 IDM은 사람과 다른 차선을 골라 열린 루프 점수는 낮지만 도로에 머문다. 학습한 PDM-Open은 사람의 차선을 따라가다 0.5초 시뮬레이션 뒤부터 자기 오차를 키워 도로를 벗어난다. 출처: arXiv:2306.07962</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자율주행 자동차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B.12.1 자율주행 자동차: 규칙 스택에서 "후보 생성, 검증, 선택"으로</a:t>
            </a:r>
            <a:r>
              <a:rPr sz="1050" b="0" i="0">
                <a:solidFill>
                  <a:srgbClr val="5A6478"/>
                </a:solidFill>
                <a:latin typeface="Arial"/>
                <a:ea typeface="Malgun Gothic"/>
                <a:cs typeface="Malgun Gothic"/>
              </a:rPr>
              <a:t>  자세히: IDM과 PDM-Closed의 제안·선택</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124 / 516</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IDM.</a:t>
            </a:r>
            <a:r>
              <a:rPr sz="1050" b="0" i="0">
                <a:solidFill>
                  <a:srgbClr val="16213A"/>
                </a:solidFill>
                <a:latin typeface="Arial"/>
                <a:ea typeface="Malgun Gothic"/>
                <a:cs typeface="Malgun Gothic"/>
              </a:rPr>
              <a:t> 앞차와의 간격 </a:t>
            </a:r>
            <a:r>
              <a:rPr sz="1050" b="0" i="1">
                <a:solidFill>
                  <a:srgbClr val="16213A"/>
                </a:solidFill>
                <a:latin typeface="Arial"/>
                <a:ea typeface="Malgun Gothic"/>
                <a:cs typeface="Malgun Gothic"/>
              </a:rPr>
              <a:t>s</a:t>
            </a:r>
            <a:r>
              <a:rPr sz="1050" b="0" i="0">
                <a:solidFill>
                  <a:srgbClr val="16213A"/>
                </a:solidFill>
                <a:latin typeface="Arial"/>
                <a:ea typeface="Malgun Gothic"/>
                <a:cs typeface="Malgun Gothic"/>
              </a:rPr>
              <a:t>, 속도 차 </a:t>
            </a:r>
            <a:r>
              <a:rPr sz="1050" b="0" i="1">
                <a:solidFill>
                  <a:srgbClr val="16213A"/>
                </a:solidFill>
                <a:latin typeface="Arial"/>
                <a:ea typeface="Malgun Gothic"/>
                <a:cs typeface="Malgun Gothic"/>
              </a:rPr>
              <a:t>Δ v</a:t>
            </a:r>
            <a:r>
              <a:rPr sz="1050" b="0" i="0">
                <a:solidFill>
                  <a:srgbClr val="16213A"/>
                </a:solidFill>
                <a:latin typeface="Arial"/>
                <a:ea typeface="Malgun Gothic"/>
                <a:cs typeface="Malgun Gothic"/>
              </a:rPr>
              <a:t>, 목표 속도 </a:t>
            </a:r>
            <a:r>
              <a:rPr sz="1050" b="0" i="1">
                <a:solidFill>
                  <a:srgbClr val="16213A"/>
                </a:solidFill>
                <a:latin typeface="Arial"/>
                <a:ea typeface="Malgun Gothic"/>
                <a:cs typeface="Malgun Gothic"/>
              </a:rPr>
              <a:t>v₀</a:t>
            </a:r>
            <a:r>
              <a:rPr sz="1050" b="0" i="0">
                <a:solidFill>
                  <a:srgbClr val="16213A"/>
                </a:solidFill>
                <a:latin typeface="Arial"/>
                <a:ea typeface="Malgun Gothic"/>
                <a:cs typeface="Malgun Gothic"/>
              </a:rPr>
              <a:t>로 가속도를 정한다. 원하는 간격 </a:t>
            </a:r>
            <a:r>
              <a:rPr sz="1050" b="0" i="1">
                <a:solidFill>
                  <a:srgbClr val="16213A"/>
                </a:solidFill>
                <a:latin typeface="Arial"/>
                <a:ea typeface="Malgun Gothic"/>
                <a:cs typeface="Malgun Gothic"/>
              </a:rPr>
              <a:t>s*</a:t>
            </a:r>
            <a:r>
              <a:rPr sz="1050" b="0" i="0">
                <a:solidFill>
                  <a:srgbClr val="16213A"/>
                </a:solidFill>
                <a:latin typeface="Arial"/>
                <a:ea typeface="Malgun Gothic"/>
                <a:cs typeface="Malgun Gothic"/>
              </a:rPr>
              <a:t>는 정지 간격 </a:t>
            </a:r>
            <a:r>
              <a:rPr sz="1050" b="0" i="1">
                <a:solidFill>
                  <a:srgbClr val="16213A"/>
                </a:solidFill>
                <a:latin typeface="Arial"/>
                <a:ea typeface="Malgun Gothic"/>
                <a:cs typeface="Malgun Gothic"/>
              </a:rPr>
              <a:t>s₀</a:t>
            </a:r>
            <a:r>
              <a:rPr sz="1050" b="0" i="0">
                <a:solidFill>
                  <a:srgbClr val="16213A"/>
                </a:solidFill>
                <a:latin typeface="Arial"/>
                <a:ea typeface="Malgun Gothic"/>
                <a:cs typeface="Malgun Gothic"/>
              </a:rPr>
              <a:t>, 시간 간격 </a:t>
            </a:r>
            <a:r>
              <a:rPr sz="1050" b="0" i="1">
                <a:solidFill>
                  <a:srgbClr val="16213A"/>
                </a:solidFill>
                <a:latin typeface="Arial"/>
                <a:ea typeface="Malgun Gothic"/>
                <a:cs typeface="Malgun Gothic"/>
              </a:rPr>
              <a:t>T</a:t>
            </a:r>
            <a:r>
              <a:rPr sz="1050" b="0" i="0">
                <a:solidFill>
                  <a:srgbClr val="16213A"/>
                </a:solidFill>
                <a:latin typeface="Arial"/>
                <a:ea typeface="Malgun Gothic"/>
                <a:cs typeface="Malgun Gothic"/>
              </a:rPr>
              <a:t>, 제동 여유로 이루어진다.</a:t>
            </a:r>
          </a:p>
        </p:txBody>
      </p:sp>
      <p:pic>
        <p:nvPicPr>
          <p:cNvPr id="6" name="Picture 5" descr="image.png"/>
          <p:cNvPicPr>
            <a:picLocks noChangeAspect="1"/>
          </p:cNvPicPr>
          <p:nvPr/>
        </p:nvPicPr>
        <p:blipFill>
          <a:blip r:embed="rId3"/>
          <a:stretch>
            <a:fillRect/>
          </a:stretch>
        </p:blipFill>
        <p:spPr>
          <a:xfrm>
            <a:off x="609600" y="1549995"/>
            <a:ext cx="4962525" cy="425450"/>
          </a:xfrm>
          <a:prstGeom prst="rect">
            <a:avLst/>
          </a:prstGeom>
        </p:spPr>
      </p:pic>
      <p:sp>
        <p:nvSpPr>
          <p:cNvPr id="7" name="TextBox 6"/>
          <p:cNvSpPr txBox="1"/>
          <p:nvPr/>
        </p:nvSpPr>
        <p:spPr>
          <a:xfrm>
            <a:off x="609600" y="1984474"/>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제안.</a:t>
            </a:r>
            <a:r>
              <a:rPr sz="1050" b="0" i="0">
                <a:solidFill>
                  <a:srgbClr val="16213A"/>
                </a:solidFill>
                <a:latin typeface="Arial"/>
                <a:ea typeface="Malgun Gothic"/>
                <a:cs typeface="Malgun Gothic"/>
              </a:rPr>
              <a:t> 목표 속도 </a:t>
            </a:r>
            <a:r>
              <a:rPr sz="1050" b="0" i="1">
                <a:solidFill>
                  <a:srgbClr val="16213A"/>
                </a:solidFill>
                <a:latin typeface="Arial"/>
                <a:ea typeface="Malgun Gothic"/>
                <a:cs typeface="Malgun Gothic"/>
              </a:rPr>
              <a:t>v₀ ∈ {0.2, 0.4, 0.6, 0.8, 1.0} ×</a:t>
            </a:r>
            <a:r>
              <a:rPr sz="1050" b="0" i="0">
                <a:solidFill>
                  <a:srgbClr val="16213A"/>
                </a:solidFill>
                <a:latin typeface="Arial"/>
                <a:ea typeface="Malgun Gothic"/>
                <a:cs typeface="Malgun Gothic"/>
              </a:rPr>
              <a:t> 제한 속도와 중심선 횡방향 오프셋 </a:t>
            </a:r>
            <a:r>
              <a:rPr sz="1050" b="0" i="1">
                <a:solidFill>
                  <a:srgbClr val="16213A"/>
                </a:solidFill>
                <a:latin typeface="Arial"/>
                <a:ea typeface="Malgun Gothic"/>
                <a:cs typeface="Malgun Gothic"/>
              </a:rPr>
              <a:t>{-1, 0, +1}</a:t>
            </a:r>
            <a:r>
              <a:rPr sz="1050" b="0" i="0">
                <a:solidFill>
                  <a:srgbClr val="16213A"/>
                </a:solidFill>
                <a:latin typeface="Arial"/>
                <a:ea typeface="Malgun Gothic"/>
                <a:cs typeface="Malgun Gothic"/>
              </a:rPr>
              <a:t> m를 조합해 </a:t>
            </a:r>
            <a:r>
              <a:rPr sz="1050" b="0" i="1">
                <a:solidFill>
                  <a:srgbClr val="16213A"/>
                </a:solidFill>
                <a:latin typeface="Arial"/>
                <a:ea typeface="Malgun Gothic"/>
                <a:cs typeface="Malgun Gothic"/>
              </a:rPr>
              <a:t>N = 15</a:t>
            </a:r>
            <a:r>
              <a:rPr sz="1050" b="0" i="0">
                <a:solidFill>
                  <a:srgbClr val="16213A"/>
                </a:solidFill>
                <a:latin typeface="Arial"/>
                <a:ea typeface="Malgun Gothic"/>
                <a:cs typeface="Malgun Gothic"/>
              </a:rPr>
              <a:t>개를 만든다.</a:t>
            </a:r>
          </a:p>
        </p:txBody>
      </p:sp>
      <p:sp>
        <p:nvSpPr>
          <p:cNvPr id="8" name="TextBox 7"/>
          <p:cNvSpPr txBox="1"/>
          <p:nvPr/>
        </p:nvSpPr>
        <p:spPr>
          <a:xfrm>
            <a:off x="609600" y="228987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선택.</a:t>
            </a:r>
            <a:r>
              <a:rPr sz="1050" b="0" i="0">
                <a:solidFill>
                  <a:srgbClr val="16213A"/>
                </a:solidFill>
                <a:latin typeface="Arial"/>
                <a:ea typeface="Malgun Gothic"/>
                <a:cs typeface="Malgun Gothic"/>
              </a:rPr>
              <a:t> 각 제안 </a:t>
            </a:r>
            <a:r>
              <a:rPr sz="1050" b="0" i="1">
                <a:solidFill>
                  <a:srgbClr val="16213A"/>
                </a:solidFill>
                <a:latin typeface="Arial"/>
                <a:ea typeface="Malgun Gothic"/>
                <a:cs typeface="Malgun Gothic"/>
              </a:rPr>
              <a:t>τᵢ</a:t>
            </a:r>
            <a:r>
              <a:rPr sz="1050" b="0" i="0">
                <a:solidFill>
                  <a:srgbClr val="16213A"/>
                </a:solidFill>
                <a:latin typeface="Arial"/>
                <a:ea typeface="Malgun Gothic"/>
                <a:cs typeface="Malgun Gothic"/>
              </a:rPr>
              <a:t>를 LQR과 자전거 모델로 굴린 </a:t>
            </a:r>
            <a:r>
              <a:rPr sz="1050" b="0" i="1">
                <a:solidFill>
                  <a:srgbClr val="16213A"/>
                </a:solidFill>
                <a:latin typeface="Arial"/>
                <a:ea typeface="Malgun Gothic"/>
                <a:cs typeface="Malgun Gothic"/>
              </a:rPr>
              <a:t>τ̂ᵢ</a:t>
            </a:r>
            <a:r>
              <a:rPr sz="1050" b="0" i="0">
                <a:solidFill>
                  <a:srgbClr val="16213A"/>
                </a:solidFill>
                <a:latin typeface="Arial"/>
                <a:ea typeface="Malgun Gothic"/>
                <a:cs typeface="Malgun Gothic"/>
              </a:rPr>
              <a:t>에 점수를 매기고 가장 큰 것을 고른다. 점수는 NAVSIM의 PDMS(B.11)처럼 충돌 없음·주행 가능 영역을 곱하는 벌점으로, 진행·충돌까지 시간·편안함을 가중 평균으로 둔 형태다.</a:t>
            </a:r>
          </a:p>
        </p:txBody>
      </p:sp>
      <p:pic>
        <p:nvPicPr>
          <p:cNvPr id="9" name="Picture 8" descr="image.png"/>
          <p:cNvPicPr>
            <a:picLocks noChangeAspect="1"/>
          </p:cNvPicPr>
          <p:nvPr/>
        </p:nvPicPr>
        <p:blipFill>
          <a:blip r:embed="rId4"/>
          <a:stretch>
            <a:fillRect/>
          </a:stretch>
        </p:blipFill>
        <p:spPr>
          <a:xfrm>
            <a:off x="609600" y="2811760"/>
            <a:ext cx="1946275" cy="339725"/>
          </a:xfrm>
          <a:prstGeom prst="rect">
            <a:avLst/>
          </a:prstGeom>
        </p:spPr>
      </p:pic>
      <p:sp>
        <p:nvSpPr>
          <p:cNvPr id="10" name="TextBox 9"/>
          <p:cNvSpPr txBox="1"/>
          <p:nvPr/>
        </p:nvSpPr>
        <p:spPr>
          <a:xfrm>
            <a:off x="609600" y="3175695"/>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것.</a:t>
            </a:r>
            <a:r>
              <a:rPr sz="1050" b="0" i="0">
                <a:solidFill>
                  <a:srgbClr val="16213A"/>
                </a:solidFill>
                <a:latin typeface="Arial"/>
                <a:ea typeface="Malgun Gothic"/>
                <a:cs typeface="Malgun Gothic"/>
              </a:rPr>
              <a:t> 이 구조는 Planner D와 거의 같다. Planner D도 후보 16개를 만들고, 스워브 모델로 굴리고, 규칙 점수(TravMap 비용 적분, 치명 셀 벌점, cost-to-go)로 하나를 고른다. 차이는 후보를 만드는 쪽뿐이다. PDM은 IDM 규칙으로, Planner D는 학습한 flow matching으로 만든다. 그래서 "GuidancePlanner 경로 + 규칙으로 만든 속도·오프셋 후보 + 같은 점수기"를 비학습 Planner D로 두면, 학습 생성기가 실제로 얼마를 더하는지 잴 수 있다.</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자율주행 자동차</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B.12.1 자율주행 자동차: 규칙 스택에서 "후보 생성, 검증, 선택"으로</a:t>
            </a:r>
            <a:r>
              <a:rPr sz="1050" b="0" i="0">
                <a:solidFill>
                  <a:srgbClr val="5A6478"/>
                </a:solidFill>
                <a:latin typeface="Arial"/>
                <a:ea typeface="Malgun Gothic"/>
                <a:cs typeface="Malgun Gothic"/>
              </a:rPr>
              <a:t>  1/5</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125 / 516</a:t>
            </a:r>
          </a:p>
        </p:txBody>
      </p:sp>
      <p:sp>
        <p:nvSpPr>
          <p:cNvPr id="5" name="TextBox 4"/>
          <p:cNvSpPr txBox="1"/>
          <p:nvPr/>
        </p:nvSpPr>
        <p:spPr>
          <a:xfrm>
            <a:off x="609600" y="1244600"/>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PlanT, PlanTF, PLUTO, CaRL — 학습 Planner는 규칙을 없앤 것이 아니라 규칙의 자리를 옮겼다</a:t>
            </a:r>
            <a:r>
              <a:rPr sz="1050" b="0" i="0">
                <a:solidFill>
                  <a:srgbClr val="16213A"/>
                </a:solidFill>
                <a:latin typeface="Arial"/>
                <a:ea typeface="Malgun Gothic"/>
                <a:cs typeface="Malgun Gothic"/>
              </a:rPr>
              <a:t>(PlanT </a:t>
            </a:r>
            <a:r>
              <a:rPr sz="1050" b="0" i="0">
                <a:solidFill>
                  <a:srgbClr val="1D4ED8"/>
                </a:solidFill>
                <a:latin typeface="Arial"/>
                <a:ea typeface="Malgun Gothic"/>
                <a:cs typeface="Malgun Gothic"/>
                <a:hlinkClick r:id="rId3"/>
              </a:rPr>
              <a:t>arXiv:2210.14222</a:t>
            </a:r>
            <a:r>
              <a:rPr sz="1050" b="0" i="0">
                <a:solidFill>
                  <a:srgbClr val="16213A"/>
                </a:solidFill>
                <a:latin typeface="Arial"/>
                <a:ea typeface="Malgun Gothic"/>
                <a:cs typeface="Malgun Gothic"/>
              </a:rPr>
              <a:t>, CoRL 2022; PlanTF </a:t>
            </a:r>
            <a:r>
              <a:rPr sz="1050" b="0" i="0">
                <a:solidFill>
                  <a:srgbClr val="1D4ED8"/>
                </a:solidFill>
                <a:latin typeface="Arial"/>
                <a:ea typeface="Malgun Gothic"/>
                <a:cs typeface="Malgun Gothic"/>
                <a:hlinkClick r:id="rId4"/>
              </a:rPr>
              <a:t>arXiv:2309.10443</a:t>
            </a:r>
            <a:r>
              <a:rPr sz="1050" b="0" i="0">
                <a:solidFill>
                  <a:srgbClr val="16213A"/>
                </a:solidFill>
                <a:latin typeface="Arial"/>
                <a:ea typeface="Malgun Gothic"/>
                <a:cs typeface="Malgun Gothic"/>
              </a:rPr>
              <a:t>, ICRA 2024; PLUTO </a:t>
            </a:r>
            <a:r>
              <a:rPr sz="1050" b="0" i="0">
                <a:solidFill>
                  <a:srgbClr val="1D4ED8"/>
                </a:solidFill>
                <a:latin typeface="Arial"/>
                <a:ea typeface="Malgun Gothic"/>
                <a:cs typeface="Malgun Gothic"/>
                <a:hlinkClick r:id="rId5"/>
              </a:rPr>
              <a:t>arXiv:2404.14327</a:t>
            </a:r>
            <a:r>
              <a:rPr sz="1050" b="0" i="0">
                <a:solidFill>
                  <a:srgbClr val="16213A"/>
                </a:solidFill>
                <a:latin typeface="Arial"/>
                <a:ea typeface="Malgun Gothic"/>
                <a:cs typeface="Malgun Gothic"/>
              </a:rPr>
              <a:t>, 2024; CaRL </a:t>
            </a:r>
            <a:r>
              <a:rPr sz="1050" b="0" i="0">
                <a:solidFill>
                  <a:srgbClr val="1D4ED8"/>
                </a:solidFill>
                <a:latin typeface="Arial"/>
                <a:ea typeface="Malgun Gothic"/>
                <a:cs typeface="Malgun Gothic"/>
                <a:hlinkClick r:id="rId6"/>
              </a:rPr>
              <a:t>arXiv:2504.17838</a:t>
            </a:r>
            <a:r>
              <a:rPr sz="1050" b="0" i="0">
                <a:solidFill>
                  <a:srgbClr val="16213A"/>
                </a:solidFill>
                <a:latin typeface="Arial"/>
                <a:ea typeface="Malgun Gothic"/>
                <a:cs typeface="Malgun Gothic"/>
              </a:rPr>
              <a:t>, CoRL 2025). 2022–2025년의 네 편은 "학습 Planner가 규칙 기반 Planner를 대체할 수 있는가"에 차례로 답했다. 답은 "대체했지만 규칙은 다른 자리에 남았다"이다. PlanT에서 규칙은 모방할 </a:t>
            </a:r>
            <a:r>
              <a:rPr sz="1050" b="1" i="0">
                <a:solidFill>
                  <a:srgbClr val="16213A"/>
                </a:solidFill>
                <a:latin typeface="Arial"/>
                <a:ea typeface="Malgun Gothic"/>
                <a:cs typeface="Malgun Gothic"/>
              </a:rPr>
              <a:t>교사</a:t>
            </a:r>
            <a:r>
              <a:rPr sz="1050" b="0" i="0">
                <a:solidFill>
                  <a:srgbClr val="16213A"/>
                </a:solidFill>
                <a:latin typeface="Arial"/>
                <a:ea typeface="Malgun Gothic"/>
                <a:cs typeface="Malgun Gothic"/>
              </a:rPr>
              <a:t>였고, PlanTF에서는 지름길을 막는 </a:t>
            </a:r>
            <a:r>
              <a:rPr sz="1050" b="1" i="0">
                <a:solidFill>
                  <a:srgbClr val="16213A"/>
                </a:solidFill>
                <a:latin typeface="Arial"/>
                <a:ea typeface="Malgun Gothic"/>
                <a:cs typeface="Malgun Gothic"/>
              </a:rPr>
              <a:t>학습 설계</a:t>
            </a:r>
            <a:r>
              <a:rPr sz="1050" b="0" i="0">
                <a:solidFill>
                  <a:srgbClr val="16213A"/>
                </a:solidFill>
                <a:latin typeface="Arial"/>
                <a:ea typeface="Malgun Gothic"/>
                <a:cs typeface="Malgun Gothic"/>
              </a:rPr>
              <a:t>, PLUTO에서는 후보를 고르는 </a:t>
            </a:r>
            <a:r>
              <a:rPr sz="1050" b="1" i="0">
                <a:solidFill>
                  <a:srgbClr val="16213A"/>
                </a:solidFill>
                <a:latin typeface="Arial"/>
                <a:ea typeface="Malgun Gothic"/>
                <a:cs typeface="Malgun Gothic"/>
              </a:rPr>
              <a:t>채점기</a:t>
            </a:r>
            <a:r>
              <a:rPr sz="1050" b="0" i="0">
                <a:solidFill>
                  <a:srgbClr val="16213A"/>
                </a:solidFill>
                <a:latin typeface="Arial"/>
                <a:ea typeface="Malgun Gothic"/>
                <a:cs typeface="Malgun Gothic"/>
              </a:rPr>
              <a:t>, CaRL에서는 </a:t>
            </a:r>
            <a:r>
              <a:rPr sz="1050" b="1" i="0">
                <a:solidFill>
                  <a:srgbClr val="16213A"/>
                </a:solidFill>
                <a:latin typeface="Arial"/>
                <a:ea typeface="Malgun Gothic"/>
                <a:cs typeface="Malgun Gothic"/>
              </a:rPr>
              <a:t>보상과 종료 조건</a:t>
            </a:r>
            <a:r>
              <a:rPr sz="1050" b="0" i="0">
                <a:solidFill>
                  <a:srgbClr val="16213A"/>
                </a:solidFill>
                <a:latin typeface="Arial"/>
                <a:ea typeface="Malgun Gothic"/>
                <a:cs typeface="Malgun Gothic"/>
              </a:rPr>
              <a:t>이 됐다. 비교 기준은 두 규칙 Planner다. CARLA의 expert는 다른 차의 실제 행동까지 아는 특권 정보로 미래를 계산한다. nuPlan의 PDM-Closed(위 단락, B.13.1)는 IDM 후보 15개를 시뮬레이션해 규칙 점수로 고른다.</a:t>
            </a:r>
          </a:p>
        </p:txBody>
      </p:sp>
      <p:pic>
        <p:nvPicPr>
          <p:cNvPr id="6" name="Picture 5" descr="image.jpg"/>
          <p:cNvPicPr>
            <a:picLocks noChangeAspect="1"/>
          </p:cNvPicPr>
          <p:nvPr/>
        </p:nvPicPr>
        <p:blipFill>
          <a:blip r:embed="rId7"/>
          <a:stretch>
            <a:fillRect/>
          </a:stretch>
        </p:blipFill>
        <p:spPr>
          <a:xfrm>
            <a:off x="609600" y="2199481"/>
            <a:ext cx="5410200" cy="2451100"/>
          </a:xfrm>
          <a:prstGeom prst="rect">
            <a:avLst/>
          </a:prstGeom>
        </p:spPr>
      </p:pic>
      <p:sp>
        <p:nvSpPr>
          <p:cNvPr id="7" name="TextBox 6"/>
          <p:cNvSpPr txBox="1"/>
          <p:nvPr/>
        </p:nvSpPr>
        <p:spPr>
          <a:xfrm>
            <a:off x="609600" y="4688681"/>
            <a:ext cx="54102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Planner 구성 요소별 규칙과 학습: 학습 신호, 후보 생성, 후보 선택, 안전 규칙이 들어간 자리를 방법마다 칠했다(회색 규칙, 파랑 학습, 주황 학습 + 규칙). 출처: travplan scripts/make_doc_figures.py, 각 논문</a:t>
            </a:r>
          </a:p>
        </p:txBody>
      </p:sp>
      <p:pic>
        <p:nvPicPr>
          <p:cNvPr id="8" name="Picture 7" descr="image.jpg"/>
          <p:cNvPicPr>
            <a:picLocks noChangeAspect="1"/>
          </p:cNvPicPr>
          <p:nvPr/>
        </p:nvPicPr>
        <p:blipFill>
          <a:blip r:embed="rId8"/>
          <a:stretch>
            <a:fillRect/>
          </a:stretch>
        </p:blipFill>
        <p:spPr>
          <a:xfrm>
            <a:off x="6172200" y="2199481"/>
            <a:ext cx="5410200" cy="1397000"/>
          </a:xfrm>
          <a:prstGeom prst="rect">
            <a:avLst/>
          </a:prstGeom>
        </p:spPr>
      </p:pic>
      <p:sp>
        <p:nvSpPr>
          <p:cNvPr id="9" name="TextBox 8"/>
          <p:cNvSpPr txBox="1"/>
          <p:nvPr/>
        </p:nvSpPr>
        <p:spPr>
          <a:xfrm>
            <a:off x="6172200" y="3634581"/>
            <a:ext cx="5410200" cy="42654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논문이 보고한 폐루프 점수: 왼쪽은 nuPlan Val14(비반응, x축 80부터), 오른쪽은 CARLA Longest6. PDM-Closed, PlanTF, PLUTO는 PLUTO 논문 표, CaRL은 CaRL 논문 값이다(CaRL 논문의 PDM-Closed는 CaRL보다 1.5점 높다). 출처: travplan scripts/make_doc_figures.py</a:t>
            </a:r>
          </a:p>
        </p:txBody>
      </p:sp>
      <p:graphicFrame>
        <p:nvGraphicFramePr>
          <p:cNvPr id="10" name="Table 9"/>
          <p:cNvGraphicFramePr>
            <a:graphicFrameLocks noGrp="1"/>
          </p:cNvGraphicFramePr>
          <p:nvPr/>
        </p:nvGraphicFramePr>
        <p:xfrm>
          <a:off x="609600" y="5061942"/>
          <a:ext cx="10966450" cy="788352"/>
        </p:xfrm>
        <a:graphic>
          <a:graphicData uri="http://schemas.openxmlformats.org/drawingml/2006/table">
            <a:tbl>
              <a:tblPr firstRow="1" bandRow="1">
                <a:tableStyleId>{5C22544A-7EE6-4342-B048-85BDC9FD1C3A}</a:tableStyleId>
              </a:tblPr>
              <a:tblGrid>
                <a:gridCol w="823516"/>
                <a:gridCol w="962620"/>
                <a:gridCol w="2882205"/>
                <a:gridCol w="6298109"/>
              </a:tblGrid>
              <a:tr h="197088">
                <a:tc>
                  <a:txBody>
                    <a:bodyPr wrap="square"/>
                    <a:lstStyle/>
                    <a:p>
                      <a:r>
                        <a:rPr sz="800" b="1" i="0">
                          <a:solidFill>
                            <a:srgbClr val="F4F1EA"/>
                          </a:solidFill>
                          <a:latin typeface="Arial"/>
                          <a:ea typeface="Malgun Gothic"/>
                          <a:cs typeface="Malgun Gothic"/>
                        </a:rPr>
                        <a:t>연도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방법</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규칙의 자리</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규칙 기반 대비</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2022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PlanT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데이터를 만드는 교사</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CARLA에서 교사를 넘음(81.4 대 76.9, 정답 인식 전제)</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2023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PlanTF</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입력과 증강 설계(지름길 차단)</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nuPlan 긴 꼬리(Test14-hard 비반응)에서만 넘음</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2024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PLUTO</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후보 채점기 + 충돌 손실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nuPlan Val14에서 처음 넘음(93.21 대 93.08). 채점기를 빼면 89.04</a:t>
                      </a:r>
                    </a:p>
                  </a:txBody>
                  <a:tcPr marL="63500" marR="63500" marT="12700" marB="12700">
                    <a:solidFill>
                      <a:srgbClr val="FFFDF8"/>
                    </a:solidFill>
                  </a:tcPr>
                </a:tc>
              </a:tr>
            </a:tbl>
          </a:graphicData>
        </a:graphic>
      </p:graphicFrame>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자율주행 자동차</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B.12.1 자율주행 자동차: 규칙 스택에서 "후보 생성, 검증, 선택"으로</a:t>
            </a:r>
            <a:r>
              <a:rPr sz="1050" b="0" i="0">
                <a:solidFill>
                  <a:srgbClr val="5A6478"/>
                </a:solidFill>
                <a:latin typeface="Arial"/>
                <a:ea typeface="Malgun Gothic"/>
                <a:cs typeface="Malgun Gothic"/>
              </a:rPr>
              <a:t>  2/5</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126 / 516</a:t>
            </a:r>
          </a:p>
        </p:txBody>
      </p:sp>
      <p:graphicFrame>
        <p:nvGraphicFramePr>
          <p:cNvPr id="5" name="Table 4"/>
          <p:cNvGraphicFramePr>
            <a:graphicFrameLocks noGrp="1"/>
          </p:cNvGraphicFramePr>
          <p:nvPr/>
        </p:nvGraphicFramePr>
        <p:xfrm>
          <a:off x="609600" y="1244600"/>
          <a:ext cx="10966450" cy="394176"/>
        </p:xfrm>
        <a:graphic>
          <a:graphicData uri="http://schemas.openxmlformats.org/drawingml/2006/table">
            <a:tbl>
              <a:tblPr firstRow="1" bandRow="1">
                <a:tableStyleId>{5C22544A-7EE6-4342-B048-85BDC9FD1C3A}</a:tableStyleId>
              </a:tblPr>
              <a:tblGrid>
                <a:gridCol w="823516"/>
                <a:gridCol w="962620"/>
                <a:gridCol w="2882205"/>
                <a:gridCol w="6298109"/>
              </a:tblGrid>
              <a:tr h="197088">
                <a:tc>
                  <a:txBody>
                    <a:bodyPr wrap="square"/>
                    <a:lstStyle/>
                    <a:p>
                      <a:r>
                        <a:rPr sz="800" b="1" i="0">
                          <a:solidFill>
                            <a:srgbClr val="F4F1EA"/>
                          </a:solidFill>
                          <a:latin typeface="Arial"/>
                          <a:ea typeface="Malgun Gothic"/>
                          <a:cs typeface="Malgun Gothic"/>
                        </a:rPr>
                        <a:t>연도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방법</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규칙의 자리</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규칙 기반 대비</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2025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CaRL</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보상과 종료 조건</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후처리 없이 91.3. PDM-Closed보다 1.5점 낮음</a:t>
                      </a:r>
                    </a:p>
                  </a:txBody>
                  <a:tcPr marL="63500" marR="63500" marT="12700" marB="12700">
                    <a:solidFill>
                      <a:srgbClr val="FFFDF8"/>
                    </a:solidFill>
                  </a:tcPr>
                </a:tc>
              </a:tr>
            </a:tbl>
          </a:graphicData>
        </a:graphic>
      </p:graphicFrame>
      <p:sp>
        <p:nvSpPr>
          <p:cNvPr id="6" name="TextBox 5"/>
          <p:cNvSpPr txBox="1"/>
          <p:nvPr/>
        </p:nvSpPr>
        <p:spPr>
          <a:xfrm>
            <a:off x="609600" y="1832570"/>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PlanT — 객체 목록을 읽는 transformer가 규칙 교사를 흉내 낸다</a:t>
            </a:r>
            <a:r>
              <a:rPr sz="1050" b="0" i="0">
                <a:solidFill>
                  <a:srgbClr val="16213A"/>
                </a:solidFill>
                <a:latin typeface="Arial"/>
                <a:ea typeface="Malgun Gothic"/>
                <a:cs typeface="Malgun Gothic"/>
              </a:rPr>
              <a:t>(CoRL 2022, Tübingen, </a:t>
            </a:r>
            <a:r>
              <a:rPr sz="1050" b="0" i="0">
                <a:solidFill>
                  <a:srgbClr val="1D4ED8"/>
                </a:solidFill>
                <a:latin typeface="Arial"/>
                <a:ea typeface="Malgun Gothic"/>
                <a:cs typeface="Malgun Gothic"/>
                <a:hlinkClick r:id="rId3"/>
              </a:rPr>
              <a:t>코드</a:t>
            </a:r>
            <a:r>
              <a:rPr sz="1050" b="0" i="0">
                <a:solidFill>
                  <a:srgbClr val="16213A"/>
                </a:solidFill>
                <a:latin typeface="Arial"/>
                <a:ea typeface="Malgun Gothic"/>
                <a:cs typeface="Malgun Gothic"/>
              </a:rPr>
              <a:t>, MIT). 장면을 격자 영상 대신 </a:t>
            </a:r>
            <a:r>
              <a:rPr sz="1050" b="1" i="0">
                <a:solidFill>
                  <a:srgbClr val="16213A"/>
                </a:solidFill>
                <a:latin typeface="Arial"/>
                <a:ea typeface="Malgun Gothic"/>
                <a:cs typeface="Malgun Gothic"/>
              </a:rPr>
              <a:t>객체 토큰</a:t>
            </a:r>
            <a:r>
              <a:rPr sz="1050" b="0" i="0">
                <a:solidFill>
                  <a:srgbClr val="16213A"/>
                </a:solidFill>
                <a:latin typeface="Arial"/>
                <a:ea typeface="Malgun Gothic"/>
                <a:cs typeface="Malgun Gothic"/>
              </a:rPr>
              <a:t>으로 넣는다. 토큰마다 6개 속성 </a:t>
            </a:r>
            <a:r>
              <a:rPr sz="1050" b="0" i="1">
                <a:solidFill>
                  <a:srgbClr val="16213A"/>
                </a:solidFill>
                <a:latin typeface="Arial"/>
                <a:ea typeface="Malgun Gothic"/>
                <a:cs typeface="Malgun Gothic"/>
              </a:rPr>
              <a:t>{z, x, y, φ, w, h}</a:t>
            </a:r>
            <a:r>
              <a:rPr sz="1050" b="0" i="0">
                <a:solidFill>
                  <a:srgbClr val="16213A"/>
                </a:solidFill>
                <a:latin typeface="Arial"/>
                <a:ea typeface="Malgun Gothic"/>
                <a:cs typeface="Malgun Gothic"/>
              </a:rPr>
              <a:t>를 둔다. 차량 토큰은 30 m 안의 차량이고 </a:t>
            </a:r>
            <a:r>
              <a:rPr sz="1050" b="0" i="1">
                <a:solidFill>
                  <a:srgbClr val="16213A"/>
                </a:solidFill>
                <a:latin typeface="Arial"/>
                <a:ea typeface="Malgun Gothic"/>
                <a:cs typeface="Malgun Gothic"/>
              </a:rPr>
              <a:t>z</a:t>
            </a:r>
            <a:r>
              <a:rPr sz="1050" b="0" i="0">
                <a:solidFill>
                  <a:srgbClr val="16213A"/>
                </a:solidFill>
                <a:latin typeface="Arial"/>
                <a:ea typeface="Malgun Gothic"/>
                <a:cs typeface="Malgun Gothic"/>
              </a:rPr>
              <a:t>는 속도다. 경로 토큰은 앞쪽 경로 점을 Ramer-Douglas-Peucker로 줄여 만든 구간이고, </a:t>
            </a:r>
            <a:r>
              <a:rPr sz="1050" b="0" i="1">
                <a:solidFill>
                  <a:srgbClr val="16213A"/>
                </a:solidFill>
                <a:latin typeface="Arial"/>
                <a:ea typeface="Malgun Gothic"/>
                <a:cs typeface="Malgun Gothic"/>
              </a:rPr>
              <a:t>z</a:t>
            </a:r>
            <a:r>
              <a:rPr sz="1050" b="0" i="0">
                <a:solidFill>
                  <a:srgbClr val="16213A"/>
                </a:solidFill>
                <a:latin typeface="Arial"/>
                <a:ea typeface="Malgun Gothic"/>
                <a:cs typeface="Malgun Gothic"/>
              </a:rPr>
              <a:t>는 순서, 폭은 차선 폭이다. BERT식 인코더가 학습 가능한 </a:t>
            </a:r>
            <a:r>
              <a:rPr sz="1050" b="0" i="0">
                <a:solidFill>
                  <a:srgbClr val="16213A"/>
                </a:solidFill>
                <a:latin typeface="Consolas"/>
                <a:ea typeface="Malgun Gothic"/>
                <a:cs typeface="Malgun Gothic"/>
              </a:rPr>
              <a:t>[CLS]</a:t>
            </a:r>
            <a:r>
              <a:rPr sz="1050" b="0" i="0">
                <a:solidFill>
                  <a:srgbClr val="16213A"/>
                </a:solidFill>
                <a:latin typeface="Arial"/>
                <a:ea typeface="Malgun Gothic"/>
                <a:cs typeface="Malgun Gothic"/>
              </a:rPr>
              <a:t> 토큰으로 장면을 모으고, GRU 디코더가 ego waypoint를 낸다. PID가 그 waypoint를 따라간다. 보조 과제로 다른 차량의 미래 속성을 예측해, 인코더가 미래에 필요한 정보를 담게 한다. 학습 데이터는 규칙 expert가 모은 228k 프레임이다.</a:t>
            </a:r>
          </a:p>
        </p:txBody>
      </p:sp>
      <p:sp>
        <p:nvSpPr>
          <p:cNvPr id="7" name="TextBox 6"/>
          <p:cNvSpPr txBox="1"/>
          <p:nvPr/>
        </p:nvSpPr>
        <p:spPr>
          <a:xfrm>
            <a:off x="609600" y="2787452"/>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Longest6 Driving Score는 PlanT 81.4, expert 76.9였다. 다른 차의 행동을 모르는 학습 Planner가 그것을 아는 교사를 넘었다. 행동 정보 없이 등속을 가정한 규칙 Planner는 38.0이었다. 픽셀 입력 Planner보다 추론이 5.3배 빨랐고, attention으로 결정에 쓴 차량을 보여 준다. 다만 인식은 시뮬레이터 정답이다. 카메라와 LiDAR 인식 모듈을 붙이면 57.7로 떨어진다.</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자율주행 자동차</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B.12.1 자율주행 자동차: 규칙 스택에서 "후보 생성, 검증, 선택"으로</a:t>
            </a:r>
            <a:r>
              <a:rPr sz="1050" b="0" i="0">
                <a:solidFill>
                  <a:srgbClr val="5A6478"/>
                </a:solidFill>
                <a:latin typeface="Arial"/>
                <a:ea typeface="Malgun Gothic"/>
                <a:cs typeface="Malgun Gothic"/>
              </a:rPr>
              <a:t>  3/5</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127 / 516</a:t>
            </a:r>
          </a:p>
        </p:txBody>
      </p:sp>
      <p:pic>
        <p:nvPicPr>
          <p:cNvPr id="5" name="Picture 4" descr="image.png"/>
          <p:cNvPicPr>
            <a:picLocks noChangeAspect="1"/>
          </p:cNvPicPr>
          <p:nvPr/>
        </p:nvPicPr>
        <p:blipFill>
          <a:blip r:embed="rId3"/>
          <a:stretch>
            <a:fillRect/>
          </a:stretch>
        </p:blipFill>
        <p:spPr>
          <a:xfrm>
            <a:off x="3657600" y="1244600"/>
            <a:ext cx="4876800" cy="2743200"/>
          </a:xfrm>
          <a:prstGeom prst="rect">
            <a:avLst/>
          </a:prstGeom>
        </p:spPr>
      </p:pic>
      <p:sp>
        <p:nvSpPr>
          <p:cNvPr id="6" name="TextBox 5"/>
          <p:cNvSpPr txBox="1"/>
          <p:nvPr/>
        </p:nvSpPr>
        <p:spPr>
          <a:xfrm>
            <a:off x="3657600" y="4025900"/>
            <a:ext cx="48768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PlanT (README): 주행 중 각 차량에 준 attention. 빨간 차량일수록 결정에 크게 쓰였다. 출처: autonomousvision/plant</a:t>
            </a:r>
          </a:p>
        </p:txBody>
      </p:sp>
      <p:sp>
        <p:nvSpPr>
          <p:cNvPr id="7" name="TextBox 6"/>
          <p:cNvSpPr txBox="1"/>
          <p:nvPr/>
        </p:nvSpPr>
        <p:spPr>
          <a:xfrm>
            <a:off x="609600" y="4399161"/>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PlanTF — 모방 Planner가 규칙에 지는 이유는 지름길 학습이다</a:t>
            </a:r>
            <a:r>
              <a:rPr sz="1050" b="0" i="0">
                <a:solidFill>
                  <a:srgbClr val="16213A"/>
                </a:solidFill>
                <a:latin typeface="Arial"/>
                <a:ea typeface="Malgun Gothic"/>
                <a:cs typeface="Malgun Gothic"/>
              </a:rPr>
              <a:t>(ICRA 2024, </a:t>
            </a:r>
            <a:r>
              <a:rPr sz="1050" b="0" i="0">
                <a:solidFill>
                  <a:srgbClr val="1D4ED8"/>
                </a:solidFill>
                <a:latin typeface="Arial"/>
                <a:ea typeface="Malgun Gothic"/>
                <a:cs typeface="Malgun Gothic"/>
                <a:hlinkClick r:id="rId4"/>
              </a:rPr>
              <a:t>코드</a:t>
            </a:r>
            <a:r>
              <a:rPr sz="1050" b="0" i="0">
                <a:solidFill>
                  <a:srgbClr val="16213A"/>
                </a:solidFill>
                <a:latin typeface="Arial"/>
                <a:ea typeface="Malgun Gothic"/>
                <a:cs typeface="Malgun Gothic"/>
              </a:rPr>
              <a:t>, 라이선스 표기 없음). 차량, 지도 polyline, ego 상태를 따로 인코딩하고 transformer로 합쳐 ego 궤적과 주변 차량 궤적을 함께 낸다. 규칙 후처리나 폴백은 없다. 이 논문의 발견은 </a:t>
            </a:r>
            <a:r>
              <a:rPr sz="1050" b="1" i="0">
                <a:solidFill>
                  <a:srgbClr val="16213A"/>
                </a:solidFill>
                <a:latin typeface="Arial"/>
                <a:ea typeface="Malgun Gothic"/>
                <a:cs typeface="Malgun Gothic"/>
              </a:rPr>
              <a:t>지름길 학습(shortcut learning)</a:t>
            </a:r>
            <a:r>
              <a:rPr sz="1050" b="0" i="0">
                <a:solidFill>
                  <a:srgbClr val="16213A"/>
                </a:solidFill>
                <a:latin typeface="Arial"/>
                <a:ea typeface="Malgun Gothic"/>
                <a:cs typeface="Malgun Gothic"/>
              </a:rPr>
              <a:t>이다. 현재 속도, 가속도, 조향각을 넣으면 모델은 장면 대신 "지금 하던 대로"를 외운다. 그래서 열린 루프 점수는 좋은데 폐루프에서 오차가 쌓인다. 위치와 방향만 넣은 모델이 폐루프에서 오히려 나았다.</a:t>
            </a:r>
          </a:p>
        </p:txBody>
      </p:sp>
      <p:sp>
        <p:nvSpPr>
          <p:cNvPr id="8" name="TextBox 7"/>
          <p:cNvSpPr txBox="1"/>
          <p:nvPr/>
        </p:nvSpPr>
        <p:spPr>
          <a:xfrm>
            <a:off x="609600" y="5137547"/>
            <a:ext cx="10972800" cy="649486"/>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해결책은 둘이다. </a:t>
            </a:r>
            <a:r>
              <a:rPr sz="1050" b="1" i="0">
                <a:solidFill>
                  <a:srgbClr val="16213A"/>
                </a:solidFill>
                <a:latin typeface="Arial"/>
                <a:ea typeface="Malgun Gothic"/>
                <a:cs typeface="Malgun Gothic"/>
              </a:rPr>
              <a:t>State Dropout Encoder</a:t>
            </a:r>
            <a:r>
              <a:rPr sz="1050" b="0" i="0">
                <a:solidFill>
                  <a:srgbClr val="16213A"/>
                </a:solidFill>
                <a:latin typeface="Arial"/>
                <a:ea typeface="Malgun Gothic"/>
                <a:cs typeface="Malgun Gothic"/>
              </a:rPr>
              <a:t>는 학습 중 운동 상태 임베딩을 무작위로 가려, 상태 없이도 장면에서 답을 찾게 한다. </a:t>
            </a:r>
            <a:r>
              <a:rPr sz="1050" b="1" i="0">
                <a:solidFill>
                  <a:srgbClr val="16213A"/>
                </a:solidFill>
                <a:latin typeface="Arial"/>
                <a:ea typeface="Malgun Gothic"/>
                <a:cs typeface="Malgun Gothic"/>
              </a:rPr>
              <a:t>상태 교란 증강</a:t>
            </a:r>
            <a:r>
              <a:rPr sz="1050" b="0" i="0">
                <a:solidFill>
                  <a:srgbClr val="16213A"/>
                </a:solidFill>
                <a:latin typeface="Arial"/>
                <a:ea typeface="Malgun Gothic"/>
                <a:cs typeface="Malgun Gothic"/>
              </a:rPr>
              <a:t>은 조금 어긋난 시작 상태에서 회복하는 법을 가르친다. 교란 뒤 좌표를 다시 정규화하지 않으면 학습과 시험의 분포가 어긋나 효과가 없다. nuPlan Test14-hard(비반응)에서 72.7로 PDM-Closed(65.9)를 넘었다. 반응형 교통(61.7 대 75.8)과 Val14(84.8 대 93)에서는 규칙이 앞섰다.</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자율주행 자동차</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B.12.1 자율주행 자동차: 규칙 스택에서 "후보 생성, 검증, 선택"으로</a:t>
            </a:r>
            <a:r>
              <a:rPr sz="1050" b="0" i="0">
                <a:solidFill>
                  <a:srgbClr val="5A6478"/>
                </a:solidFill>
                <a:latin typeface="Arial"/>
                <a:ea typeface="Malgun Gothic"/>
                <a:cs typeface="Malgun Gothic"/>
              </a:rPr>
              <a:t>  4/5</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128 / 516</a:t>
            </a:r>
          </a:p>
        </p:txBody>
      </p:sp>
      <p:pic>
        <p:nvPicPr>
          <p:cNvPr id="5" name="Picture 4" descr="image.jpg"/>
          <p:cNvPicPr>
            <a:picLocks noChangeAspect="1"/>
          </p:cNvPicPr>
          <p:nvPr/>
        </p:nvPicPr>
        <p:blipFill>
          <a:blip r:embed="rId3"/>
          <a:stretch>
            <a:fillRect/>
          </a:stretch>
        </p:blipFill>
        <p:spPr>
          <a:xfrm>
            <a:off x="3333750" y="1244600"/>
            <a:ext cx="5524500" cy="2641600"/>
          </a:xfrm>
          <a:prstGeom prst="rect">
            <a:avLst/>
          </a:prstGeom>
        </p:spPr>
      </p:pic>
      <p:sp>
        <p:nvSpPr>
          <p:cNvPr id="6" name="TextBox 5"/>
          <p:cNvSpPr txBox="1"/>
          <p:nvPr/>
        </p:nvSpPr>
        <p:spPr>
          <a:xfrm>
            <a:off x="3333750" y="3924300"/>
            <a:ext cx="55245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PlanTF State Dropout Encoder: ego 상태를 선형층으로 임베딩한 뒤 일부를 가리고(state dropout), 학습 query가 cross attention으로 모은다. 출처: arXiv:2309.10443</a:t>
            </a:r>
          </a:p>
        </p:txBody>
      </p:sp>
      <p:sp>
        <p:nvSpPr>
          <p:cNvPr id="7" name="TextBox 6"/>
          <p:cNvSpPr txBox="1"/>
          <p:nvPr/>
        </p:nvSpPr>
        <p:spPr>
          <a:xfrm>
            <a:off x="609600" y="4297561"/>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PLUTO — 후보를 여럿 만들고 규칙 채점기와 함께 골라 처음으로 규칙을 넘었다</a:t>
            </a:r>
            <a:r>
              <a:rPr sz="1050" b="0" i="0">
                <a:solidFill>
                  <a:srgbClr val="16213A"/>
                </a:solidFill>
                <a:latin typeface="Arial"/>
                <a:ea typeface="Malgun Gothic"/>
                <a:cs typeface="Malgun Gothic"/>
              </a:rPr>
              <a:t>(2024, </a:t>
            </a:r>
            <a:r>
              <a:rPr sz="1050" b="0" i="0">
                <a:solidFill>
                  <a:srgbClr val="1D4ED8"/>
                </a:solidFill>
                <a:latin typeface="Arial"/>
                <a:ea typeface="Malgun Gothic"/>
                <a:cs typeface="Malgun Gothic"/>
                <a:hlinkClick r:id="rId4"/>
              </a:rPr>
              <a:t>코드</a:t>
            </a:r>
            <a:r>
              <a:rPr sz="1050" b="0" i="0">
                <a:solidFill>
                  <a:srgbClr val="16213A"/>
                </a:solidFill>
                <a:latin typeface="Arial"/>
                <a:ea typeface="Malgun Gothic"/>
                <a:cs typeface="Malgun Gothic"/>
              </a:rPr>
              <a:t>, 라이선스 표기 없음). DETR식 query 디코더다. 횡방향 query는 반경 120 m 안의 참조선(차선 중심선)에서, 종방향 query는 학습 가능한 12개에서 온다. 둘을 짝지어 참조선 수 × 12개의 후보 궤적을 한 번에 낸다. 궤적은 8초 × 10 Hz이고 채널은 위치, 방향, 속도이며, 후보마다 신뢰도가 붙는다. attention을 횡방향과 종방향으로 나눠 계산량을 줄였다. 참조선이 없는 주차장 같은 곳을 위해 참조선 없는 궤적 하나를 더 낸다.</a:t>
            </a:r>
          </a:p>
        </p:txBody>
      </p:sp>
      <p:sp>
        <p:nvSpPr>
          <p:cNvPr id="8" name="TextBox 7"/>
          <p:cNvSpPr txBox="1"/>
          <p:nvPr/>
        </p:nvSpPr>
        <p:spPr>
          <a:xfrm>
            <a:off x="609600" y="5035947"/>
            <a:ext cx="10972800" cy="86598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학습에는 규칙을 두 가지 방식으로 넣었다. 하나는 </a:t>
            </a:r>
            <a:r>
              <a:rPr sz="1050" b="1" i="0">
                <a:solidFill>
                  <a:srgbClr val="16213A"/>
                </a:solidFill>
                <a:latin typeface="Arial"/>
                <a:ea typeface="Malgun Gothic"/>
                <a:cs typeface="Malgun Gothic"/>
              </a:rPr>
              <a:t>미분 가능한 충돌 손실</a:t>
            </a:r>
            <a:r>
              <a:rPr sz="1050" b="0" i="0">
                <a:solidFill>
                  <a:srgbClr val="16213A"/>
                </a:solidFill>
                <a:latin typeface="Arial"/>
                <a:ea typeface="Malgun Gothic"/>
                <a:cs typeface="Malgun Gothic"/>
              </a:rPr>
              <a:t>이다. 차량을 원 3개로 덮고, 부호 거리장(ESDF)을 쌍선형 보간해 장애물 안으로 들어간 만큼 hinge 손실을 준다. 다른 하나는 </a:t>
            </a:r>
            <a:r>
              <a:rPr sz="1050" b="1" i="0">
                <a:solidFill>
                  <a:srgbClr val="16213A"/>
                </a:solidFill>
                <a:latin typeface="Arial"/>
                <a:ea typeface="Malgun Gothic"/>
                <a:cs typeface="Malgun Gothic"/>
              </a:rPr>
              <a:t>대조 모방 학습</a:t>
            </a:r>
            <a:r>
              <a:rPr sz="1050" b="0" i="0">
                <a:solidFill>
                  <a:srgbClr val="16213A"/>
                </a:solidFill>
                <a:latin typeface="Arial"/>
                <a:ea typeface="Malgun Gothic"/>
                <a:cs typeface="Malgun Gothic"/>
              </a:rPr>
              <a:t>이다. 상태 교란과 무관한 차량 제거는 행동이 그대로여야 하는 긍정 예시다. 앞차 제거·삽입, 상호작용 차량 제거, 신호 반전은 행동이 바뀌어야 하는 부정 예시다. 추론에서는 신뢰도 상위 20개를 LQR과 자전거 모델로 시뮬레이션하고, 충돌·TTC·주행 가능 영역·편안함·진행·교통 규칙으로 규칙 점수를 매겨 </a:t>
            </a:r>
            <a:r>
              <a:rPr sz="1050" b="0" i="1">
                <a:solidFill>
                  <a:srgbClr val="16213A"/>
                </a:solidFill>
                <a:latin typeface="Arial"/>
                <a:ea typeface="Malgun Gothic"/>
                <a:cs typeface="Malgun Gothic"/>
              </a:rPr>
              <a:t>π = πᵣᵤₗₑ + 0.3 π_(learned)</a:t>
            </a:r>
            <a:r>
              <a:rPr sz="1050" b="0" i="0">
                <a:solidFill>
                  <a:srgbClr val="16213A"/>
                </a:solidFill>
                <a:latin typeface="Arial"/>
                <a:ea typeface="Malgun Gothic"/>
                <a:cs typeface="Malgun Gothic"/>
              </a:rPr>
              <a:t>가 가장 큰 후보를 고른다. Val14(비반응)에서 93.21로 PDM-Closed(93.08)를 처음 넘었다. 채점기를 빼면 89.04다. 이긴 차이(+0.13)보다 채점기의 몫(+3.5)이 크다.</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자율주행 자동차</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B.12.1 자율주행 자동차: 규칙 스택에서 "후보 생성, 검증, 선택"으로</a:t>
            </a:r>
            <a:r>
              <a:rPr sz="1050" b="0" i="0">
                <a:solidFill>
                  <a:srgbClr val="5A6478"/>
                </a:solidFill>
                <a:latin typeface="Arial"/>
                <a:ea typeface="Malgun Gothic"/>
                <a:cs typeface="Malgun Gothic"/>
              </a:rPr>
              <a:t>  5/5</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129 / 516</a:t>
            </a:r>
          </a:p>
        </p:txBody>
      </p:sp>
      <p:pic>
        <p:nvPicPr>
          <p:cNvPr id="5" name="Picture 4" descr="image.jpg"/>
          <p:cNvPicPr>
            <a:picLocks noChangeAspect="1"/>
          </p:cNvPicPr>
          <p:nvPr/>
        </p:nvPicPr>
        <p:blipFill>
          <a:blip r:embed="rId3"/>
          <a:stretch>
            <a:fillRect/>
          </a:stretch>
        </p:blipFill>
        <p:spPr>
          <a:xfrm>
            <a:off x="1016000" y="1244600"/>
            <a:ext cx="10160000" cy="2705100"/>
          </a:xfrm>
          <a:prstGeom prst="rect">
            <a:avLst/>
          </a:prstGeom>
        </p:spPr>
      </p:pic>
      <p:sp>
        <p:nvSpPr>
          <p:cNvPr id="6" name="TextBox 5"/>
          <p:cNvSpPr txBox="1"/>
          <p:nvPr/>
        </p:nvSpPr>
        <p:spPr>
          <a:xfrm>
            <a:off x="1016000" y="3987800"/>
            <a:ext cx="10160000" cy="142180"/>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PLUTO (Fig. 2): 장면 토큰을 transformer로 인코딩하고, 참조선에서 온 횡방향 query와 학습 종방향 query를 짝지어 횡·종 self-attention과 장면 cross-attention을 거쳐 궤적과 점수를 낸다. 출처: arXiv:2404.14327</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자율주행 자동차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B.12.1 자율주행 자동차: 규칙 스택에서 "후보 생성, 검증, 선택"으로</a:t>
            </a:r>
            <a:r>
              <a:rPr sz="1050" b="0" i="0">
                <a:solidFill>
                  <a:srgbClr val="5A6478"/>
                </a:solidFill>
                <a:latin typeface="Arial"/>
                <a:ea typeface="Malgun Gothic"/>
                <a:cs typeface="Malgun Gothic"/>
              </a:rPr>
              <a:t>  자세히: PLUTO의 충돌 손실과 대조 학습</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130 / 516</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충돌 손실.</a:t>
            </a:r>
            <a:r>
              <a:rPr sz="1050" b="0" i="0">
                <a:solidFill>
                  <a:srgbClr val="16213A"/>
                </a:solidFill>
                <a:latin typeface="Arial"/>
                <a:ea typeface="Malgun Gothic"/>
                <a:cs typeface="Malgun Gothic"/>
              </a:rPr>
              <a:t> 차량을 반지름 </a:t>
            </a:r>
            <a:r>
              <a:rPr sz="1050" b="0" i="1">
                <a:solidFill>
                  <a:srgbClr val="16213A"/>
                </a:solidFill>
                <a:latin typeface="Arial"/>
                <a:ea typeface="Malgun Gothic"/>
                <a:cs typeface="Malgun Gothic"/>
              </a:rPr>
              <a:t>R_c</a:t>
            </a:r>
            <a:r>
              <a:rPr sz="1050" b="0" i="0">
                <a:solidFill>
                  <a:srgbClr val="16213A"/>
                </a:solidFill>
                <a:latin typeface="Arial"/>
                <a:ea typeface="Malgun Gothic"/>
                <a:cs typeface="Malgun Gothic"/>
              </a:rPr>
              <a:t>인 원 </a:t>
            </a:r>
            <a:r>
              <a:rPr sz="1050" b="0" i="1">
                <a:solidFill>
                  <a:srgbClr val="16213A"/>
                </a:solidFill>
                <a:latin typeface="Arial"/>
                <a:ea typeface="Malgun Gothic"/>
                <a:cs typeface="Malgun Gothic"/>
              </a:rPr>
              <a:t>N_c = 3</a:t>
            </a:r>
            <a:r>
              <a:rPr sz="1050" b="0" i="0">
                <a:solidFill>
                  <a:srgbClr val="16213A"/>
                </a:solidFill>
                <a:latin typeface="Arial"/>
                <a:ea typeface="Malgun Gothic"/>
                <a:cs typeface="Malgun Gothic"/>
              </a:rPr>
              <a:t>개로 덮는다. 시각 </a:t>
            </a:r>
            <a:r>
              <a:rPr sz="1050" b="0" i="1">
                <a:solidFill>
                  <a:srgbClr val="16213A"/>
                </a:solidFill>
                <a:latin typeface="Arial"/>
                <a:ea typeface="Malgun Gothic"/>
                <a:cs typeface="Malgun Gothic"/>
              </a:rPr>
              <a:t>t</a:t>
            </a:r>
            <a:r>
              <a:rPr sz="1050" b="0" i="0">
                <a:solidFill>
                  <a:srgbClr val="16213A"/>
                </a:solidFill>
                <a:latin typeface="Arial"/>
                <a:ea typeface="Malgun Gothic"/>
                <a:cs typeface="Malgun Gothic"/>
              </a:rPr>
              <a:t>에 원 중심 </a:t>
            </a:r>
            <a:r>
              <a:rPr sz="1050" b="0" i="1">
                <a:solidFill>
                  <a:srgbClr val="16213A"/>
                </a:solidFill>
                <a:latin typeface="Arial"/>
                <a:ea typeface="Malgun Gothic"/>
                <a:cs typeface="Malgun Gothic"/>
              </a:rPr>
              <a:t>i</a:t>
            </a:r>
            <a:r>
              <a:rPr sz="1050" b="0" i="0">
                <a:solidFill>
                  <a:srgbClr val="16213A"/>
                </a:solidFill>
                <a:latin typeface="Arial"/>
                <a:ea typeface="Malgun Gothic"/>
                <a:cs typeface="Malgun Gothic"/>
              </a:rPr>
              <a:t>에서 ESDF 값 </a:t>
            </a:r>
            <a:r>
              <a:rPr sz="1050" b="0" i="1">
                <a:solidFill>
                  <a:srgbClr val="16213A"/>
                </a:solidFill>
                <a:latin typeface="Arial"/>
                <a:ea typeface="Malgun Gothic"/>
                <a:cs typeface="Malgun Gothic"/>
              </a:rPr>
              <a:t>dᵢᵗ</a:t>
            </a:r>
            <a:r>
              <a:rPr sz="1050" b="0" i="0">
                <a:solidFill>
                  <a:srgbClr val="16213A"/>
                </a:solidFill>
                <a:latin typeface="Arial"/>
                <a:ea typeface="Malgun Gothic"/>
                <a:cs typeface="Malgun Gothic"/>
              </a:rPr>
              <a:t>를 쌍선형 보간으로 읽고, 여유 </a:t>
            </a:r>
            <a:r>
              <a:rPr sz="1050" b="0" i="1">
                <a:solidFill>
                  <a:srgbClr val="16213A"/>
                </a:solidFill>
                <a:latin typeface="Arial"/>
                <a:ea typeface="Malgun Gothic"/>
                <a:cs typeface="Malgun Gothic"/>
              </a:rPr>
              <a:t>ε</a:t>
            </a:r>
            <a:r>
              <a:rPr sz="1050" b="0" i="0">
                <a:solidFill>
                  <a:srgbClr val="16213A"/>
                </a:solidFill>
                <a:latin typeface="Arial"/>
                <a:ea typeface="Malgun Gothic"/>
                <a:cs typeface="Malgun Gothic"/>
              </a:rPr>
              <a:t>을 둔 hinge로 벌한다. 궤적을 영상으로 그리지 않아서 배치 전체를 한 번에 계산한다.</a:t>
            </a:r>
          </a:p>
        </p:txBody>
      </p:sp>
      <p:pic>
        <p:nvPicPr>
          <p:cNvPr id="6" name="Picture 5" descr="image.png"/>
          <p:cNvPicPr>
            <a:picLocks noChangeAspect="1"/>
          </p:cNvPicPr>
          <p:nvPr/>
        </p:nvPicPr>
        <p:blipFill>
          <a:blip r:embed="rId3"/>
          <a:stretch>
            <a:fillRect/>
          </a:stretch>
        </p:blipFill>
        <p:spPr>
          <a:xfrm>
            <a:off x="609600" y="1766491"/>
            <a:ext cx="2838450" cy="571500"/>
          </a:xfrm>
          <a:prstGeom prst="rect">
            <a:avLst/>
          </a:prstGeom>
        </p:spPr>
      </p:pic>
      <p:sp>
        <p:nvSpPr>
          <p:cNvPr id="7" name="TextBox 6"/>
          <p:cNvSpPr txBox="1"/>
          <p:nvPr/>
        </p:nvSpPr>
        <p:spPr>
          <a:xfrm>
            <a:off x="609600" y="2327672"/>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대조 학습.</a:t>
            </a:r>
            <a:r>
              <a:rPr sz="1050" b="0" i="0">
                <a:solidFill>
                  <a:srgbClr val="16213A"/>
                </a:solidFill>
                <a:latin typeface="Arial"/>
                <a:ea typeface="Malgun Gothic"/>
                <a:cs typeface="Malgun Gothic"/>
              </a:rPr>
              <a:t> 원래 장면의 잠재 </a:t>
            </a:r>
            <a:r>
              <a:rPr sz="1050" b="0" i="1">
                <a:solidFill>
                  <a:srgbClr val="16213A"/>
                </a:solidFill>
                <a:latin typeface="Arial"/>
                <a:ea typeface="Malgun Gothic"/>
                <a:cs typeface="Malgun Gothic"/>
              </a:rPr>
              <a:t>z</a:t>
            </a:r>
            <a:r>
              <a:rPr sz="1050" b="0" i="0">
                <a:solidFill>
                  <a:srgbClr val="16213A"/>
                </a:solidFill>
                <a:latin typeface="Arial"/>
                <a:ea typeface="Malgun Gothic"/>
                <a:cs typeface="Malgun Gothic"/>
              </a:rPr>
              <a:t>, 긍정 증강 </a:t>
            </a:r>
            <a:r>
              <a:rPr sz="1050" b="0" i="1">
                <a:solidFill>
                  <a:srgbClr val="16213A"/>
                </a:solidFill>
                <a:latin typeface="Arial"/>
                <a:ea typeface="Malgun Gothic"/>
                <a:cs typeface="Malgun Gothic"/>
              </a:rPr>
              <a:t>z⁺</a:t>
            </a:r>
            <a:r>
              <a:rPr sz="1050" b="0" i="0">
                <a:solidFill>
                  <a:srgbClr val="16213A"/>
                </a:solidFill>
                <a:latin typeface="Arial"/>
                <a:ea typeface="Malgun Gothic"/>
                <a:cs typeface="Malgun Gothic"/>
              </a:rPr>
              <a:t>, 부정 증강 </a:t>
            </a:r>
            <a:r>
              <a:rPr sz="1050" b="0" i="1">
                <a:solidFill>
                  <a:srgbClr val="16213A"/>
                </a:solidFill>
                <a:latin typeface="Arial"/>
                <a:ea typeface="Malgun Gothic"/>
                <a:cs typeface="Malgun Gothic"/>
              </a:rPr>
              <a:t>z⁻</a:t>
            </a:r>
            <a:r>
              <a:rPr sz="1050" b="0" i="0">
                <a:solidFill>
                  <a:srgbClr val="16213A"/>
                </a:solidFill>
                <a:latin typeface="Arial"/>
                <a:ea typeface="Malgun Gothic"/>
                <a:cs typeface="Malgun Gothic"/>
              </a:rPr>
              <a:t>를 인코더와 투영 MLP로 만들고 triplet 대조 손실로 </a:t>
            </a:r>
            <a:r>
              <a:rPr sz="1050" b="0" i="1">
                <a:solidFill>
                  <a:srgbClr val="16213A"/>
                </a:solidFill>
                <a:latin typeface="Arial"/>
                <a:ea typeface="Malgun Gothic"/>
                <a:cs typeface="Malgun Gothic"/>
              </a:rPr>
              <a:t>z</a:t>
            </a:r>
            <a:r>
              <a:rPr sz="1050" b="0" i="0">
                <a:solidFill>
                  <a:srgbClr val="16213A"/>
                </a:solidFill>
                <a:latin typeface="Arial"/>
                <a:ea typeface="Malgun Gothic"/>
                <a:cs typeface="Malgun Gothic"/>
              </a:rPr>
              <a:t>를 </a:t>
            </a:r>
            <a:r>
              <a:rPr sz="1050" b="0" i="1">
                <a:solidFill>
                  <a:srgbClr val="16213A"/>
                </a:solidFill>
                <a:latin typeface="Arial"/>
                <a:ea typeface="Malgun Gothic"/>
                <a:cs typeface="Malgun Gothic"/>
              </a:rPr>
              <a:t>z⁺</a:t>
            </a:r>
            <a:r>
              <a:rPr sz="1050" b="0" i="0">
                <a:solidFill>
                  <a:srgbClr val="16213A"/>
                </a:solidFill>
                <a:latin typeface="Arial"/>
                <a:ea typeface="Malgun Gothic"/>
                <a:cs typeface="Malgun Gothic"/>
              </a:rPr>
              <a:t> 쪽으로 당기고 </a:t>
            </a:r>
            <a:r>
              <a:rPr sz="1050" b="0" i="1">
                <a:solidFill>
                  <a:srgbClr val="16213A"/>
                </a:solidFill>
                <a:latin typeface="Arial"/>
                <a:ea typeface="Malgun Gothic"/>
                <a:cs typeface="Malgun Gothic"/>
              </a:rPr>
              <a:t>z⁻</a:t>
            </a:r>
            <a:r>
              <a:rPr sz="1050" b="0" i="0">
                <a:solidFill>
                  <a:srgbClr val="16213A"/>
                </a:solidFill>
                <a:latin typeface="Arial"/>
                <a:ea typeface="Malgun Gothic"/>
                <a:cs typeface="Malgun Gothic"/>
              </a:rPr>
              <a:t>에서 민다. 전체 손실은 모방, 예측, 충돌, 대조 손실을 가중치 1로 더한다. 대조 학습은 Val14에서 +0.97점을 보탰다.</a:t>
            </a:r>
          </a:p>
        </p:txBody>
      </p:sp>
      <p:sp>
        <p:nvSpPr>
          <p:cNvPr id="8" name="TextBox 7"/>
          <p:cNvSpPr txBox="1"/>
          <p:nvPr/>
        </p:nvSpPr>
        <p:spPr>
          <a:xfrm>
            <a:off x="609600" y="2849562"/>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것.</a:t>
            </a:r>
            <a:r>
              <a:rPr sz="1050" b="0" i="0">
                <a:solidFill>
                  <a:srgbClr val="16213A"/>
                </a:solidFill>
                <a:latin typeface="Arial"/>
                <a:ea typeface="Malgun Gothic"/>
                <a:cs typeface="Malgun Gothic"/>
              </a:rPr>
              <a:t> Planner D의 선택기는 PLUTO의 채점기와 같은 자리다. 부정 예시 증강(치명 셀 삽입, 보행자 삽입)은 Planner D 시연 데이터에 그대로 쓸 수 있다.</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자율주행 자동차</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B.12.1 자율주행 자동차: 규칙 스택에서 "후보 생성, 검증, 선택"으로</a:t>
            </a:r>
            <a:r>
              <a:rPr sz="1050" b="0" i="0">
                <a:solidFill>
                  <a:srgbClr val="5A6478"/>
                </a:solidFill>
                <a:latin typeface="Arial"/>
                <a:ea typeface="Malgun Gothic"/>
                <a:cs typeface="Malgun Gothic"/>
              </a:rPr>
              <a:t>  1/5</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131 / 516</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CaRL — 규칙을 보상에 넣고 단순한 보상으로 강화학습을 키웠다</a:t>
            </a:r>
            <a:r>
              <a:rPr sz="1050" b="0" i="0">
                <a:solidFill>
                  <a:srgbClr val="16213A"/>
                </a:solidFill>
                <a:latin typeface="Arial"/>
                <a:ea typeface="Malgun Gothic"/>
                <a:cs typeface="Malgun Gothic"/>
              </a:rPr>
              <a:t>(CoRL 2025, Tübingen, </a:t>
            </a:r>
            <a:r>
              <a:rPr sz="1050" b="0" i="0">
                <a:solidFill>
                  <a:srgbClr val="1D4ED8"/>
                </a:solidFill>
                <a:latin typeface="Arial"/>
                <a:ea typeface="Malgun Gothic"/>
                <a:cs typeface="Malgun Gothic"/>
                <a:hlinkClick r:id="rId3"/>
              </a:rPr>
              <a:t>코드</a:t>
            </a:r>
            <a:r>
              <a:rPr sz="1050" b="0" i="0">
                <a:solidFill>
                  <a:srgbClr val="16213A"/>
                </a:solidFill>
                <a:latin typeface="Arial"/>
                <a:ea typeface="Malgun Gothic"/>
                <a:cs typeface="Malgun Gothic"/>
              </a:rPr>
              <a:t>, MIT + 민간 용도 조항). 입력은 BEV 의미 격자(256 × 256 × 10: 도로, 경로, 차선, 차량, 보행자)와 속도 같은 측정값이다. 2M 파라미터 CNN이 조향과 가·감속을 Beta 분포로 직접 낸다. 가치 함수는 남은 시간과 남은 경로 같은 특권 정보를 더 받는다. 보상은 한 줄이다.</a:t>
            </a:r>
          </a:p>
        </p:txBody>
      </p:sp>
      <p:pic>
        <p:nvPicPr>
          <p:cNvPr id="6" name="Picture 5" descr="image.png"/>
          <p:cNvPicPr>
            <a:picLocks noChangeAspect="1"/>
          </p:cNvPicPr>
          <p:nvPr/>
        </p:nvPicPr>
        <p:blipFill>
          <a:blip r:embed="rId4"/>
          <a:stretch>
            <a:fillRect/>
          </a:stretch>
        </p:blipFill>
        <p:spPr>
          <a:xfrm>
            <a:off x="609600" y="1766491"/>
            <a:ext cx="1603375" cy="422275"/>
          </a:xfrm>
          <a:prstGeom prst="rect">
            <a:avLst/>
          </a:prstGeom>
        </p:spPr>
      </p:pic>
      <p:sp>
        <p:nvSpPr>
          <p:cNvPr id="7" name="TextBox 6"/>
          <p:cNvSpPr txBox="1"/>
          <p:nvPr/>
        </p:nvSpPr>
        <p:spPr>
          <a:xfrm>
            <a:off x="609600" y="2200374"/>
            <a:ext cx="10972800" cy="865981"/>
          </a:xfrm>
          <a:prstGeom prst="rect">
            <a:avLst/>
          </a:prstGeom>
          <a:noFill/>
        </p:spPr>
        <p:txBody>
          <a:bodyPr wrap="square" lIns="0" rIns="0" tIns="0" bIns="0" anchor="t">
            <a:spAutoFit/>
            <a:normAutofit/>
          </a:bodyPr>
          <a:lstStyle/>
          <a:p>
            <a:r>
              <a:rPr sz="1050" b="0" i="1">
                <a:solidFill>
                  <a:srgbClr val="16213A"/>
                </a:solidFill>
                <a:latin typeface="Arial"/>
                <a:ea typeface="Malgun Gothic"/>
                <a:cs typeface="Malgun Gothic"/>
              </a:rPr>
              <a:t>RCₜ</a:t>
            </a:r>
            <a:r>
              <a:rPr sz="1050" b="0" i="0">
                <a:solidFill>
                  <a:srgbClr val="16213A"/>
                </a:solidFill>
                <a:latin typeface="Arial"/>
                <a:ea typeface="Malgun Gothic"/>
                <a:cs typeface="Malgun Gothic"/>
              </a:rPr>
              <a:t>는 그 스텝의 경로 완주 증가분이다. 충돌과 신호 위반은 에피소드를 끝내고 벌점 </a:t>
            </a:r>
            <a:r>
              <a:rPr sz="1050" b="0" i="1">
                <a:solidFill>
                  <a:srgbClr val="16213A"/>
                </a:solidFill>
                <a:latin typeface="Arial"/>
                <a:ea typeface="Malgun Gothic"/>
                <a:cs typeface="Malgun Gothic"/>
              </a:rPr>
              <a:t>T = 1</a:t>
            </a:r>
            <a:r>
              <a:rPr sz="1050" b="0" i="0">
                <a:solidFill>
                  <a:srgbClr val="16213A"/>
                </a:solidFill>
                <a:latin typeface="Arial"/>
                <a:ea typeface="Malgun Gothic"/>
                <a:cs typeface="Malgun Gothic"/>
              </a:rPr>
              <a:t>을 준다. 과속과 불편함은 그 프레임의 보상에 곱하는 감점 </a:t>
            </a:r>
            <a:r>
              <a:rPr sz="1050" b="0" i="1">
                <a:solidFill>
                  <a:srgbClr val="16213A"/>
                </a:solidFill>
                <a:latin typeface="Arial"/>
                <a:ea typeface="Malgun Gothic"/>
                <a:cs typeface="Malgun Gothic"/>
              </a:rPr>
              <a:t>p ∈ [0, 1)</a:t>
            </a:r>
            <a:r>
              <a:rPr sz="1050" b="0" i="0">
                <a:solidFill>
                  <a:srgbClr val="16213A"/>
                </a:solidFill>
                <a:latin typeface="Arial"/>
                <a:ea typeface="Malgun Gothic"/>
                <a:cs typeface="Malgun Gothic"/>
              </a:rPr>
              <a:t>이다. 얻을 수 있는 보상이 완주 100으로 유한해서 보상 꼼수가 없다. 속도·방향·위치 항을 더한 복잡한 보상(Roach)은 mini-batch를 256에서 1024로 키우면 Driving Score가 34에서 2로 무너졌다. 초록불에서 기다리는 것 같은 국소해에 빠진다. 단순 보상은 21에서 38로 올랐다. 그래서 PPO를 8×A100 노드 하나에서 CARLA 3억, nuPlan 5억–10억 샘플까지 키웠다. 규칙 후처리 없이 nuPlan Val14에서 91.3(비반응), 90.6(반응)이었고 추론은 14 ms였다. PDM-Closed보다 1.5점 낮고, CARLA longest6 v2에서는 규칙 기반 PDM-Lite(73)보다 낮은 64였다.</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자율주행 자동차</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B.12.1 자율주행 자동차: 규칙 스택에서 "후보 생성, 검증, 선택"으로</a:t>
            </a:r>
            <a:r>
              <a:rPr sz="1050" b="0" i="0">
                <a:solidFill>
                  <a:srgbClr val="5A6478"/>
                </a:solidFill>
                <a:latin typeface="Arial"/>
                <a:ea typeface="Malgun Gothic"/>
                <a:cs typeface="Malgun Gothic"/>
              </a:rPr>
              <a:t>  2/5</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132 / 516</a:t>
            </a:r>
          </a:p>
        </p:txBody>
      </p:sp>
      <p:pic>
        <p:nvPicPr>
          <p:cNvPr id="5" name="Picture 4" descr="image.jpg"/>
          <p:cNvPicPr>
            <a:picLocks noChangeAspect="1"/>
          </p:cNvPicPr>
          <p:nvPr/>
        </p:nvPicPr>
        <p:blipFill>
          <a:blip r:embed="rId3"/>
          <a:stretch>
            <a:fillRect/>
          </a:stretch>
        </p:blipFill>
        <p:spPr>
          <a:xfrm>
            <a:off x="1651000" y="1244600"/>
            <a:ext cx="8890000" cy="4445000"/>
          </a:xfrm>
          <a:prstGeom prst="rect">
            <a:avLst/>
          </a:prstGeom>
        </p:spPr>
      </p:pic>
      <p:sp>
        <p:nvSpPr>
          <p:cNvPr id="6" name="TextBox 5"/>
          <p:cNvSpPr txBox="1"/>
          <p:nvPr/>
        </p:nvSpPr>
        <p:spPr>
          <a:xfrm>
            <a:off x="1651000" y="5727700"/>
            <a:ext cx="88900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CaRL (주행 화면): 왼쪽은 정책이 받는 BEV 입력(도로, 차선, 경로, 차량), 오른쪽 위는 가치 함수만 받는 특권 입력(남은 시간, 막힘, 남은 경로), 오른쪽 아래는 조향과 가·감속의 Beta 분포다. 출처: arXiv:2504.17838</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자율주행 자동차</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B.12.1 자율주행 자동차: 규칙 스택에서 "후보 생성, 검증, 선택"으로</a:t>
            </a:r>
            <a:r>
              <a:rPr sz="1050" b="0" i="0">
                <a:solidFill>
                  <a:srgbClr val="5A6478"/>
                </a:solidFill>
                <a:latin typeface="Arial"/>
                <a:ea typeface="Malgun Gothic"/>
                <a:cs typeface="Malgun Gothic"/>
              </a:rPr>
              <a:t>  3/5</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133 / 516</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네 편은 travplan Planner의 세 부분에 하나씩 대응한다. 학습 데이터는 PlanT형이다. Guidance + MPPI라는 규칙·최적화 교사를 흉내 내므로 교사를 넘기 어렵다. 선택은 PLUTO형이다. Planner D의 12/12 가운데 생성기와 선택기의 몫을 나눠 재야 한다(아래 단락의 비학습 후보 기준선). Planner D는 현재 속도를 조건으로 받으므로 PlanTF의 지름길 문제를 점검할 만하다. 폐루프 RL 후학습(TP-0066)의 보상은 CaRL처럼 "진행 × 곱하는 감점, 치명 셀과 충돌은 종료"로 단순하게 둔다. PlanTF와 PLUTO 코드는 라이선스 표기가 없어 연구 참고용이다.</a:t>
            </a:r>
          </a:p>
        </p:txBody>
      </p:sp>
      <p:sp>
        <p:nvSpPr>
          <p:cNvPr id="6" name="TextBox 5"/>
          <p:cNvSpPr txBox="1"/>
          <p:nvPr/>
        </p:nvSpPr>
        <p:spPr>
          <a:xfrm>
            <a:off x="609600" y="1982986"/>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Alpamayo — 공개된 자율주행 추론 VLA</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arXiv:2511.00088</a:t>
            </a:r>
            <a:r>
              <a:rPr sz="1050" b="0" i="0">
                <a:solidFill>
                  <a:srgbClr val="16213A"/>
                </a:solidFill>
                <a:latin typeface="Arial"/>
                <a:ea typeface="Malgun Gothic"/>
                <a:cs typeface="Malgun Gothic"/>
              </a:rPr>
              <a:t>, 2025, NVIDIA, </a:t>
            </a:r>
            <a:r>
              <a:rPr sz="1050" b="0" i="0">
                <a:solidFill>
                  <a:srgbClr val="1D4ED8"/>
                </a:solidFill>
                <a:latin typeface="Arial"/>
                <a:ea typeface="Malgun Gothic"/>
                <a:cs typeface="Malgun Gothic"/>
                <a:hlinkClick r:id="rId4"/>
              </a:rPr>
              <a:t>Alpamayo 1</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5"/>
              </a:rPr>
              <a:t>Alpamayo 1.5</a:t>
            </a:r>
            <a:r>
              <a:rPr sz="1050" b="0" i="0">
                <a:solidFill>
                  <a:srgbClr val="16213A"/>
                </a:solidFill>
                <a:latin typeface="Arial"/>
                <a:ea typeface="Malgun Gothic"/>
                <a:cs typeface="Malgun Gothic"/>
              </a:rPr>
              <a:t>, 코드 Apache-2.0, 가중치 OpenMDW-1.1). 여러 카메라 영상과 자차 움직임을 VLM(Cosmos-Reason)이 받아 사고 연쇄와 이산 궤적 토큰을 내고, flow matching 행동 디코더가 이를 기구학적으로 가능한 연속 waypoint로 바꾼다. 주행 결정과 인과로 이어진 추론 데이터(Chain of Causation)로 지도 학습한 뒤 RL로 추론과 행동의 일관성을 높였다. 어려운 경우에서 궤적만 내는 기준선보다 계획 정확도가 최대 12% 높았고 폐루프 근접 조우가 35% 줄었으며, 실차에서 99 ms 지연으로 돌았다. 2026-03에 나온 1.5판(10B)은 H100 기준 샘플 하나 추론에 VRAM 약 24 GB가 든다.</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자율주행 자동차</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B.12.1 자율주행 자동차: 규칙 스택에서 "후보 생성, 검증, 선택"으로</a:t>
            </a:r>
            <a:r>
              <a:rPr sz="1050" b="0" i="0">
                <a:solidFill>
                  <a:srgbClr val="5A6478"/>
                </a:solidFill>
                <a:latin typeface="Arial"/>
                <a:ea typeface="Malgun Gothic"/>
                <a:cs typeface="Malgun Gothic"/>
              </a:rPr>
              <a:t>  4/5</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134 / 516</a:t>
            </a:r>
          </a:p>
        </p:txBody>
      </p:sp>
      <p:pic>
        <p:nvPicPr>
          <p:cNvPr id="5" name="Picture 4" descr="image.jpg"/>
          <p:cNvPicPr>
            <a:picLocks noChangeAspect="1"/>
          </p:cNvPicPr>
          <p:nvPr/>
        </p:nvPicPr>
        <p:blipFill>
          <a:blip r:embed="rId3"/>
          <a:stretch>
            <a:fillRect/>
          </a:stretch>
        </p:blipFill>
        <p:spPr>
          <a:xfrm>
            <a:off x="1276350" y="1244600"/>
            <a:ext cx="9639300" cy="4445000"/>
          </a:xfrm>
          <a:prstGeom prst="rect">
            <a:avLst/>
          </a:prstGeom>
        </p:spPr>
      </p:pic>
      <p:sp>
        <p:nvSpPr>
          <p:cNvPr id="6" name="TextBox 5"/>
          <p:cNvSpPr txBox="1"/>
          <p:nvPr/>
        </p:nvSpPr>
        <p:spPr>
          <a:xfrm>
            <a:off x="1276350" y="5727700"/>
            <a:ext cx="9639300" cy="142180"/>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Alpamayo-R1 (Fig. 1): 여러 카메라 영상과 자차 움직임에서 VLM이 추론과 이산 궤적 토큰을 내고, flow matching 행동 전문가가 연속 waypoint로 바꾼다. 출처: arXiv:2511.00088</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자율주행 자동차</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B.12.1 자율주행 자동차: 규칙 스택에서 "후보 생성, 검증, 선택"으로</a:t>
            </a:r>
            <a:r>
              <a:rPr sz="1050" b="0" i="0">
                <a:solidFill>
                  <a:srgbClr val="5A6478"/>
                </a:solidFill>
                <a:latin typeface="Arial"/>
                <a:ea typeface="Malgun Gothic"/>
                <a:cs typeface="Malgun Gothic"/>
              </a:rPr>
              <a:t>  5/5</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135 / 516</a:t>
            </a:r>
          </a:p>
        </p:txBody>
      </p:sp>
      <p:sp>
        <p:nvSpPr>
          <p:cNvPr id="5" name="TextBox 4"/>
          <p:cNvSpPr txBox="1"/>
          <p:nvPr/>
        </p:nvSpPr>
        <p:spPr>
          <a:xfrm>
            <a:off x="609600" y="1244600"/>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자동차 스택도 Planner D처럼 후보를 여러 개 만들고, 규칙으로 거르고, 점수로 하나를 고르는 쪽으로 모였다.</a:t>
            </a:r>
            <a:r>
              <a:rPr sz="1050" b="0" i="0">
                <a:solidFill>
                  <a:srgbClr val="16213A"/>
                </a:solidFill>
                <a:latin typeface="Arial"/>
                <a:ea typeface="Malgun Gothic"/>
                <a:cs typeface="Malgun Gothic"/>
              </a:rPr>
              <a:t> Autoware의 새 구조(생성형과 규칙 기반 후보, 검증기, 순위기)와 PDM-Closed가 그 예다. travplan에 바로 가져올 것은 둘이다. 하나는 규칙으로 후보를 만드는 비학습 Planner D로 학습 생성기의 기여를 재는 것이다. 다른 하나는 Autoware식 검증기다. 선택 전에 스워브 한계와 치명 셀을 어기는 후보를 명시적으로 걸러 내고, 모두 걸러지면 GuidancePlanner 경로로 넘어간다. 차선, 신호, 교차로 모듈은 보도 로봇에는 대부분 필요 없지만, Autoware의 횡단보도와 보도 모듈은 보도 로봇이 차도를 건널 때의 규칙 참고가 된다.</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자율주행 자동차</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B.11 E2E 자율주행: 인식에서 계획까지 한 네트워크로</a:t>
            </a:r>
            <a:r>
              <a:rPr sz="1050" b="0" i="0">
                <a:solidFill>
                  <a:srgbClr val="5A6478"/>
                </a:solidFill>
                <a:latin typeface="Arial"/>
                <a:ea typeface="Malgun Gothic"/>
                <a:cs typeface="Malgun Gothic"/>
              </a:rPr>
              <a:t>  1/5</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136 / 516</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자율주행 E2E 연구는 "모든 인식 과제를 계획을 위해 배치한다"(UniAD, 2023)에서 출발했다.</a:t>
            </a:r>
            <a:r>
              <a:rPr sz="1050" b="0" i="0">
                <a:solidFill>
                  <a:srgbClr val="16213A"/>
                </a:solidFill>
                <a:latin typeface="Arial"/>
                <a:ea typeface="Malgun Gothic"/>
                <a:cs typeface="Malgun Gothic"/>
              </a:rPr>
              <a:t> 이후 표현을 벡터와 희소 형태로 가볍게 하고(VAD, SparseDrive), 평가를 폐루프에 가깝게 바꾸고(NAVSIM), 규칙 기반 점수를 학습에 증류하는(Hydra-MDP) 쪽으로 왔다. 2024년부터는 VLM을 계획에 넣는 흐름(DriveVLM, EMMA)이 더해졌다. travplan은 자동차가 아니지만, 후보 궤적을 점수로 고르는 설계와 평가 지표는 그대로 가져올 수 있다. 생성형 E2E 계획(DiffusionDrive, GoalFlow)은 생성형 궤적 탭(B.8.0, B.8.2)에 있다.</a:t>
            </a:r>
          </a:p>
        </p:txBody>
      </p:sp>
      <p:graphicFrame>
        <p:nvGraphicFramePr>
          <p:cNvPr id="6" name="Table 5"/>
          <p:cNvGraphicFramePr>
            <a:graphicFrameLocks noGrp="1"/>
          </p:cNvGraphicFramePr>
          <p:nvPr/>
        </p:nvGraphicFramePr>
        <p:xfrm>
          <a:off x="609600" y="1982986"/>
          <a:ext cx="10966451" cy="1576704"/>
        </p:xfrm>
        <a:graphic>
          <a:graphicData uri="http://schemas.openxmlformats.org/drawingml/2006/table">
            <a:tbl>
              <a:tblPr firstRow="1" bandRow="1">
                <a:tableStyleId>{5C22544A-7EE6-4342-B048-85BDC9FD1C3A}</a:tableStyleId>
              </a:tblPr>
              <a:tblGrid>
                <a:gridCol w="557709"/>
                <a:gridCol w="992684"/>
                <a:gridCol w="3947220"/>
                <a:gridCol w="3234630"/>
                <a:gridCol w="2234208"/>
              </a:tblGrid>
              <a:tr h="197088">
                <a:tc>
                  <a:txBody>
                    <a:bodyPr wrap="square"/>
                    <a:lstStyle/>
                    <a:p>
                      <a:r>
                        <a:rPr sz="800" b="1" i="0">
                          <a:solidFill>
                            <a:srgbClr val="F4F1EA"/>
                          </a:solidFill>
                          <a:latin typeface="Arial"/>
                          <a:ea typeface="Malgun Gothic"/>
                          <a:cs typeface="Malgun Gothic"/>
                        </a:rPr>
                        <a:t>연도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이름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바꾼 것</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결과</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코드(★)</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2023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UniAD</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추적·지도·예측·occupancy·계획을 query로 잇는 계획 중심 설계</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nuScenes 모든 과제 최고, CVPR 2023 최우수 논문</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3"/>
                        </a:rPr>
                        <a:t>OpenDriveLab/UniAD</a:t>
                      </a:r>
                      <a:r>
                        <a:rPr sz="800" b="0" i="0">
                          <a:solidFill>
                            <a:srgbClr val="16213A"/>
                          </a:solidFill>
                          <a:latin typeface="Arial"/>
                          <a:ea typeface="Malgun Gothic"/>
                          <a:cs typeface="Malgun Gothic"/>
                        </a:rPr>
                        <a:t> 4.8k</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2023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VAD</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장면을 완전히 벡터로 표현하고 벡터 제약으로 계획</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충돌률 29.0% 감소, 2.5배 빠름</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4"/>
                        </a:rPr>
                        <a:t>hustvl/VAD</a:t>
                      </a:r>
                      <a:r>
                        <a:rPr sz="800" b="0" i="0">
                          <a:solidFill>
                            <a:srgbClr val="16213A"/>
                          </a:solidFill>
                          <a:latin typeface="Arial"/>
                          <a:ea typeface="Malgun Gothic"/>
                          <a:cs typeface="Malgun Gothic"/>
                        </a:rPr>
                        <a:t> 1.4k</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2024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SparseDrive</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희소 표현, 예측과 계획 병렬, 충돌 인식 재채점</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모든 과제에서 이전 최고보다 좋고 더 빠름</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5"/>
                        </a:rPr>
                        <a:t>swc-17/SparseDrive</a:t>
                      </a:r>
                      <a:r>
                        <a:rPr sz="800" b="0" i="0">
                          <a:solidFill>
                            <a:srgbClr val="16213A"/>
                          </a:solidFill>
                          <a:latin typeface="Arial"/>
                          <a:ea typeface="Malgun Gothic"/>
                          <a:cs typeface="Malgun Gothic"/>
                        </a:rPr>
                        <a:t> 1.0k</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2024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NAVSIM</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비반응 시뮬레이션 지표(PDMS)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CVPR 2024 챌린지 143팀 463개 제출</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6"/>
                        </a:rPr>
                        <a:t>autonomousvision/navsim</a:t>
                      </a:r>
                      <a:r>
                        <a:rPr sz="800" b="0" i="0">
                          <a:solidFill>
                            <a:srgbClr val="16213A"/>
                          </a:solidFill>
                          <a:latin typeface="Arial"/>
                          <a:ea typeface="Malgun Gothic"/>
                          <a:cs typeface="Malgun Gothic"/>
                        </a:rPr>
                        <a:t> 1.1k</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2024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Hydra-MDP</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궤적 어휘와 규칙 기반 교사 점수 증류</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NAVSIM 챌린지 1위</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7"/>
                        </a:rPr>
                        <a:t>NVlabs/Hydra-MDP</a:t>
                      </a:r>
                      <a:r>
                        <a:rPr sz="800" b="0" i="0">
                          <a:solidFill>
                            <a:srgbClr val="16213A"/>
                          </a:solidFill>
                          <a:latin typeface="Arial"/>
                          <a:ea typeface="Malgun Gothic"/>
                          <a:cs typeface="Malgun Gothic"/>
                        </a:rPr>
                        <a:t> 0.4k</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2024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DriveVLM</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VLM의 장면 이해와 기존 스택의 결합(Dual)</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양산차 배포</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2024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EMMA</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다중모달 LLM 위에서 모든 출력을 텍스트로</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nuScenes 운동 계획 최고</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r>
            </a:tbl>
          </a:graphicData>
        </a:graphic>
      </p:graphicFrame>
      <p:sp>
        <p:nvSpPr>
          <p:cNvPr id="7" name="TextBox 6"/>
          <p:cNvSpPr txBox="1"/>
          <p:nvPr/>
        </p:nvSpPr>
        <p:spPr>
          <a:xfrm>
            <a:off x="609600" y="4049117"/>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UniAD — 모든 과제를 계획을 위해</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8"/>
              </a:rPr>
              <a:t>arXiv:2212.10156</a:t>
            </a:r>
            <a:r>
              <a:rPr sz="1050" b="0" i="0">
                <a:solidFill>
                  <a:srgbClr val="16213A"/>
                </a:solidFill>
                <a:latin typeface="Arial"/>
                <a:ea typeface="Malgun Gothic"/>
                <a:cs typeface="Malgun Gothic"/>
              </a:rPr>
              <a:t>, CVPR 2023 최우수 논문, OpenDriveLab 등, </a:t>
            </a:r>
            <a:r>
              <a:rPr sz="1050" b="0" i="0">
                <a:solidFill>
                  <a:srgbClr val="1D4ED8"/>
                </a:solidFill>
                <a:latin typeface="Arial"/>
                <a:ea typeface="Malgun Gothic"/>
                <a:cs typeface="Malgun Gothic"/>
                <a:hlinkClick r:id="rId3"/>
              </a:rPr>
              <a:t>코드</a:t>
            </a:r>
            <a:r>
              <a:rPr sz="1050" b="0" i="0">
                <a:solidFill>
                  <a:srgbClr val="16213A"/>
                </a:solidFill>
                <a:latin typeface="Arial"/>
                <a:ea typeface="Malgun Gothic"/>
                <a:cs typeface="Malgun Gothic"/>
              </a:rPr>
              <a:t>). 기존 시스템은 인식, 예측, 계획을 따로 두거나 한 네트워크에 헤드만 여럿 달았다. 그래서 오차가 쌓이고 과제끼리 협력하지 못했다. UniAD는 추적, 온라인 지도, 운동 예측, occupancy 예측, 계획을 한 네트워크에 넣고, 과제 사이를 query로 이어 앞 단계 모두가 계획에 기여하게 했다. 모든 인식·예측 모듈은 transformer decoder 구조이고, 마지막의 attention 기반 Planner가 앞 단계에서 얻은 지식으로 자차 waypoint를 낸다. nuScenes에서 모든 과제의 이전 최고를 크게 앞섰다.</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자율주행 자동차</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B.11 E2E 자율주행: 인식에서 계획까지 한 네트워크로</a:t>
            </a:r>
            <a:r>
              <a:rPr sz="1050" b="0" i="0">
                <a:solidFill>
                  <a:srgbClr val="5A6478"/>
                </a:solidFill>
                <a:latin typeface="Arial"/>
                <a:ea typeface="Malgun Gothic"/>
                <a:cs typeface="Malgun Gothic"/>
              </a:rPr>
              <a:t>  2/5</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137 / 516</a:t>
            </a:r>
          </a:p>
        </p:txBody>
      </p:sp>
      <p:pic>
        <p:nvPicPr>
          <p:cNvPr id="5" name="Picture 4" descr="image.jpg"/>
          <p:cNvPicPr>
            <a:picLocks noChangeAspect="1"/>
          </p:cNvPicPr>
          <p:nvPr/>
        </p:nvPicPr>
        <p:blipFill>
          <a:blip r:embed="rId3"/>
          <a:stretch>
            <a:fillRect/>
          </a:stretch>
        </p:blipFill>
        <p:spPr>
          <a:xfrm>
            <a:off x="1016000" y="1244600"/>
            <a:ext cx="10160000" cy="2622550"/>
          </a:xfrm>
          <a:prstGeom prst="rect">
            <a:avLst/>
          </a:prstGeom>
        </p:spPr>
      </p:pic>
      <p:sp>
        <p:nvSpPr>
          <p:cNvPr id="6" name="TextBox 5"/>
          <p:cNvSpPr txBox="1"/>
          <p:nvPr/>
        </p:nvSpPr>
        <p:spPr>
          <a:xfrm>
            <a:off x="1016000" y="3905250"/>
            <a:ext cx="10160000" cy="142180"/>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UniAD (Fig. 2): 인식과 예측 모듈이 task query로 이어지고, 마지막 attention 기반 Planner가 앞 단계의 지식으로 자차 waypoint를 예측하는 계획 중심 파이프라인. 출처: arXiv:2212.10156</a:t>
            </a:r>
          </a:p>
        </p:txBody>
      </p:sp>
      <p:sp>
        <p:nvSpPr>
          <p:cNvPr id="7" name="TextBox 6"/>
          <p:cNvSpPr txBox="1"/>
          <p:nvPr/>
        </p:nvSpPr>
        <p:spPr>
          <a:xfrm>
            <a:off x="609600" y="413633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VAD — 장면을 벡터로 표현하면 빠르고 안전하다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4"/>
              </a:rPr>
              <a:t>arXiv:2303.12077</a:t>
            </a:r>
            <a:r>
              <a:rPr sz="1050" b="0" i="0">
                <a:solidFill>
                  <a:srgbClr val="16213A"/>
                </a:solidFill>
                <a:latin typeface="Arial"/>
                <a:ea typeface="Malgun Gothic"/>
                <a:cs typeface="Malgun Gothic"/>
              </a:rPr>
              <a:t>, ICCV 2023, HUST 등, </a:t>
            </a:r>
            <a:r>
              <a:rPr sz="1050" b="0" i="0">
                <a:solidFill>
                  <a:srgbClr val="1D4ED8"/>
                </a:solidFill>
                <a:latin typeface="Arial"/>
                <a:ea typeface="Malgun Gothic"/>
                <a:cs typeface="Malgun Gothic"/>
                <a:hlinkClick r:id="rId5"/>
              </a:rPr>
              <a:t>코드</a:t>
            </a:r>
            <a:r>
              <a:rPr sz="1050" b="0" i="0">
                <a:solidFill>
                  <a:srgbClr val="16213A"/>
                </a:solidFill>
                <a:latin typeface="Arial"/>
                <a:ea typeface="Malgun Gothic"/>
                <a:cs typeface="Malgun Gothic"/>
              </a:rPr>
              <a:t>). 조밀한 래스터 표현(occupancy, 의미 지도) 대신 에이전트의 움직임과 지도 요소를 벡터로 표현한다. 이 벡터를 인스턴스 단위의 명시적 계획 제약으로 쓴다. 자차와 다른 에이전트 사이의 종·횡 안전거리, 차선 경계를 넘지 않기, 가장 가까운 차선 방향 따르기가 그것이다. 래스터 표현과 손으로 만든 후처리를 없애, VAD-Base는 평균 충돌률을 29.0% 줄이면서 2.5배 빨랐다. VAD-Tiny는 비슷한 계획 성능으로 최대 9.3배 빨랐다.</a:t>
            </a:r>
          </a:p>
        </p:txBody>
      </p:sp>
      <p:sp>
        <p:nvSpPr>
          <p:cNvPr id="8" name="TextBox 7"/>
          <p:cNvSpPr txBox="1"/>
          <p:nvPr/>
        </p:nvSpPr>
        <p:spPr>
          <a:xfrm>
            <a:off x="609600" y="4874716"/>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SparseDrive — BEV 없이 희소 표현으로</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6"/>
              </a:rPr>
              <a:t>arXiv:2405.19620</a:t>
            </a:r>
            <a:r>
              <a:rPr sz="1050" b="0" i="0">
                <a:solidFill>
                  <a:srgbClr val="16213A"/>
                </a:solidFill>
                <a:latin typeface="Arial"/>
                <a:ea typeface="Malgun Gothic"/>
                <a:cs typeface="Malgun Gothic"/>
              </a:rPr>
              <a:t>, 2024, </a:t>
            </a:r>
            <a:r>
              <a:rPr sz="1050" b="0" i="0">
                <a:solidFill>
                  <a:srgbClr val="1D4ED8"/>
                </a:solidFill>
                <a:latin typeface="Arial"/>
                <a:ea typeface="Malgun Gothic"/>
                <a:cs typeface="Malgun Gothic"/>
                <a:hlinkClick r:id="rId7"/>
              </a:rPr>
              <a:t>코드</a:t>
            </a:r>
            <a:r>
              <a:rPr sz="1050" b="0" i="0">
                <a:solidFill>
                  <a:srgbClr val="16213A"/>
                </a:solidFill>
                <a:latin typeface="Arial"/>
                <a:ea typeface="Malgun Gothic"/>
                <a:cs typeface="Malgun Gothic"/>
              </a:rPr>
              <a:t>). 무거운 BEV 특징 대신 검출, 추적, 온라인 지도를 대칭 구조의 희소 인식 모듈로 통일했다. 예측과 계획이 매우 비슷한 문제라는 점에 착안해 둘을 병렬로 둔다. 계획을 다봉 문제로 보아 여러 후보를 내고, 충돌을 고려한 재채점으로 합리적이고 안전한 궤적을 고른다. 모든 과제에서 이전 최고를 크게 앞서면서 학습과 추론이 훨씬 효율적이었다.</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자율주행 자동차</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B.11 E2E 자율주행: 인식에서 계획까지 한 네트워크로</a:t>
            </a:r>
            <a:r>
              <a:rPr sz="1050" b="0" i="0">
                <a:solidFill>
                  <a:srgbClr val="5A6478"/>
                </a:solidFill>
                <a:latin typeface="Arial"/>
                <a:ea typeface="Malgun Gothic"/>
                <a:cs typeface="Malgun Gothic"/>
              </a:rPr>
              <a:t>  3/5</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138 / 516</a:t>
            </a:r>
          </a:p>
        </p:txBody>
      </p:sp>
      <p:sp>
        <p:nvSpPr>
          <p:cNvPr id="5" name="TextBox 4"/>
          <p:cNvSpPr txBox="1"/>
          <p:nvPr/>
        </p:nvSpPr>
        <p:spPr>
          <a:xfrm>
            <a:off x="609600" y="1244600"/>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NAVSIM — 열린 루프와 닫힌 루프 사이의 평가</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arXiv:2406.15349</a:t>
            </a:r>
            <a:r>
              <a:rPr sz="1050" b="0" i="0">
                <a:solidFill>
                  <a:srgbClr val="16213A"/>
                </a:solidFill>
                <a:latin typeface="Arial"/>
                <a:ea typeface="Malgun Gothic"/>
                <a:cs typeface="Malgun Gothic"/>
              </a:rPr>
              <a:t>, NeurIPS 2024 Datasets and Benchmarks, </a:t>
            </a:r>
            <a:r>
              <a:rPr sz="1050" b="0" i="0">
                <a:solidFill>
                  <a:srgbClr val="1D4ED8"/>
                </a:solidFill>
                <a:latin typeface="Arial"/>
                <a:ea typeface="Malgun Gothic"/>
                <a:cs typeface="Malgun Gothic"/>
                <a:hlinkClick r:id="rId4"/>
              </a:rPr>
              <a:t>코드</a:t>
            </a:r>
            <a:r>
              <a:rPr sz="1050" b="0" i="0">
                <a:solidFill>
                  <a:srgbClr val="16213A"/>
                </a:solidFill>
                <a:latin typeface="Arial"/>
                <a:ea typeface="Malgun Gothic"/>
                <a:cs typeface="Malgun Gothic"/>
              </a:rPr>
              <a:t>). 실제 데이터의 열린 루프 평가(변위 오차)는 쉽지만 폐루프 성능을 반영하지 못한다. 시뮬레이터 폐루프 평가는 비싸고 실제와 차이가 크다. NAVSIM은 테스트 장면의 BEV 추상화를 4초 동안 펼쳐 진행도, 충돌까지 시간 같은 시뮬레이션 지표를 계산하되, 평가하는 정책과 환경이 서로 영향을 주지 않는 비반응 방식으로 둔다. 이 점수(PDMS)가 변위 오차보다 폐루프 결과와 잘 맞는다. CVPR 2024 챌린지에 143팀이 463개를 제출했고, TransFuser 같은 단순한 방법이 UniAD 같은 대형 E2E 모델과 맞먹는다는 것이 드러났다.</a:t>
            </a:r>
          </a:p>
        </p:txBody>
      </p:sp>
      <p:pic>
        <p:nvPicPr>
          <p:cNvPr id="6" name="Picture 5" descr="image.jpg"/>
          <p:cNvPicPr>
            <a:picLocks noChangeAspect="1"/>
          </p:cNvPicPr>
          <p:nvPr/>
        </p:nvPicPr>
        <p:blipFill>
          <a:blip r:embed="rId5"/>
          <a:stretch>
            <a:fillRect/>
          </a:stretch>
        </p:blipFill>
        <p:spPr>
          <a:xfrm>
            <a:off x="1168400" y="2199481"/>
            <a:ext cx="9855200" cy="2794000"/>
          </a:xfrm>
          <a:prstGeom prst="rect">
            <a:avLst/>
          </a:prstGeom>
        </p:spPr>
      </p:pic>
      <p:sp>
        <p:nvSpPr>
          <p:cNvPr id="7" name="TextBox 6"/>
          <p:cNvSpPr txBox="1"/>
          <p:nvPr/>
        </p:nvSpPr>
        <p:spPr>
          <a:xfrm>
            <a:off x="1168400" y="5031581"/>
            <a:ext cx="9855200" cy="142180"/>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NAVSIM (Fig. 1): 평균 변위 오차는 사람 주행 기록과 다르면 안전한 궤적도 벌한다. NAVSIM은 충돌과 지도 준수를 보는 시뮬레이션 기반 지표로 평가한다. 출처: arXiv:2406.15349</a:t>
            </a:r>
          </a:p>
        </p:txBody>
      </p:sp>
      <p:sp>
        <p:nvSpPr>
          <p:cNvPr id="8" name="TextBox 7"/>
          <p:cNvSpPr txBox="1"/>
          <p:nvPr/>
        </p:nvSpPr>
        <p:spPr>
          <a:xfrm>
            <a:off x="609600" y="5262662"/>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Hydra-MDP — 규칙 기반 점수를 학습에 증류한다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6"/>
              </a:rPr>
              <a:t>arXiv:2406.06978</a:t>
            </a:r>
            <a:r>
              <a:rPr sz="1050" b="0" i="0">
                <a:solidFill>
                  <a:srgbClr val="16213A"/>
                </a:solidFill>
                <a:latin typeface="Arial"/>
                <a:ea typeface="Malgun Gothic"/>
                <a:cs typeface="Malgun Gothic"/>
              </a:rPr>
              <a:t>, CVPR 2024 E2E 주행 챌린지 1위, NVIDIA 등, </a:t>
            </a:r>
            <a:r>
              <a:rPr sz="1050" b="0" i="0">
                <a:solidFill>
                  <a:srgbClr val="1D4ED8"/>
                </a:solidFill>
                <a:latin typeface="Arial"/>
                <a:ea typeface="Malgun Gothic"/>
                <a:cs typeface="Malgun Gothic"/>
                <a:hlinkClick r:id="rId7"/>
              </a:rPr>
              <a:t>코드</a:t>
            </a:r>
            <a:r>
              <a:rPr sz="1050" b="0" i="0">
                <a:solidFill>
                  <a:srgbClr val="16213A"/>
                </a:solidFill>
                <a:latin typeface="Arial"/>
                <a:ea typeface="Malgun Gothic"/>
                <a:cs typeface="Malgun Gothic"/>
              </a:rPr>
              <a:t>). nuPlan 궤적 70만 개를 K-means로 묶어 궤적 어휘(4,096개나 8,192개)를 만든다. 어휘의 각 궤적에 대해 사람 시연과의 유사도(모방 점수)와 규칙 기반 지표(충돌 없음, 주행 가능 영역, 충돌까지 시간, 편안함, 진행도) 점수를 여러 헤드가 예측한다. 규칙 기반 점수의 정답은 학습 데이터 전체에서 어휘 궤적을 오프라인 시뮬레이션해 만든다. 추론 때는 점수들의 가중 로그 합이 가장 좋은 궤적을 고른다. 미분할 수 없는 후처리 없이, 환경이 계획에 주는 영향을 네트워크가 직접 배운다.</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자율주행 자동차</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B.11 E2E 자율주행: 인식에서 계획까지 한 네트워크로</a:t>
            </a:r>
            <a:r>
              <a:rPr sz="1050" b="0" i="0">
                <a:solidFill>
                  <a:srgbClr val="5A6478"/>
                </a:solidFill>
                <a:latin typeface="Arial"/>
                <a:ea typeface="Malgun Gothic"/>
                <a:cs typeface="Malgun Gothic"/>
              </a:rPr>
              <a:t>  4/5</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139 / 516</a:t>
            </a:r>
          </a:p>
        </p:txBody>
      </p:sp>
      <p:pic>
        <p:nvPicPr>
          <p:cNvPr id="5" name="Picture 4" descr="image.jpg"/>
          <p:cNvPicPr>
            <a:picLocks noChangeAspect="1"/>
          </p:cNvPicPr>
          <p:nvPr/>
        </p:nvPicPr>
        <p:blipFill>
          <a:blip r:embed="rId3"/>
          <a:stretch>
            <a:fillRect/>
          </a:stretch>
        </p:blipFill>
        <p:spPr>
          <a:xfrm>
            <a:off x="1016000" y="1244600"/>
            <a:ext cx="10160000" cy="3930650"/>
          </a:xfrm>
          <a:prstGeom prst="rect">
            <a:avLst/>
          </a:prstGeom>
        </p:spPr>
      </p:pic>
      <p:sp>
        <p:nvSpPr>
          <p:cNvPr id="6" name="TextBox 5"/>
          <p:cNvSpPr txBox="1"/>
          <p:nvPr/>
        </p:nvSpPr>
        <p:spPr>
          <a:xfrm>
            <a:off x="1016000" y="5213350"/>
            <a:ext cx="10160000" cy="142180"/>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Hydra-MDP (Fig. 2): 영상과 LiDAR에서 환경 토큰을 만들고, 궤적 어휘 query가 여러 예측 헤드(모방 점수와 규칙별 점수)를 거쳐 궤적마다 점수를 낸다. 출처: arXiv:2406.06978</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자율주행 자동차</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B.11 E2E 자율주행: 인식에서 계획까지 한 네트워크로</a:t>
            </a:r>
            <a:r>
              <a:rPr sz="1050" b="0" i="0">
                <a:solidFill>
                  <a:srgbClr val="5A6478"/>
                </a:solidFill>
                <a:latin typeface="Arial"/>
                <a:ea typeface="Malgun Gothic"/>
                <a:cs typeface="Malgun Gothic"/>
              </a:rPr>
              <a:t>  5/5</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140 / 516</a:t>
            </a:r>
          </a:p>
        </p:txBody>
      </p:sp>
      <p:sp>
        <p:nvSpPr>
          <p:cNvPr id="5" name="TextBox 4"/>
          <p:cNvSpPr txBox="1"/>
          <p:nvPr/>
        </p:nvSpPr>
        <p:spPr>
          <a:xfrm>
            <a:off x="609600" y="1244600"/>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DriveVLM과 EMMA — VLM을 주행 계획에 넣는다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DriveVLM arXiv:2402.12289</a:t>
            </a:r>
            <a:r>
              <a:rPr sz="1050" b="0" i="0">
                <a:solidFill>
                  <a:srgbClr val="16213A"/>
                </a:solidFill>
                <a:latin typeface="Arial"/>
                <a:ea typeface="Malgun Gothic"/>
                <a:cs typeface="Malgun Gothic"/>
              </a:rPr>
              <a:t>, 2024; </a:t>
            </a:r>
            <a:r>
              <a:rPr sz="1050" b="0" i="0">
                <a:solidFill>
                  <a:srgbClr val="1D4ED8"/>
                </a:solidFill>
                <a:latin typeface="Arial"/>
                <a:ea typeface="Malgun Gothic"/>
                <a:cs typeface="Malgun Gothic"/>
                <a:hlinkClick r:id="rId4"/>
              </a:rPr>
              <a:t>EMMA arXiv:2410.23262</a:t>
            </a:r>
            <a:r>
              <a:rPr sz="1050" b="0" i="0">
                <a:solidFill>
                  <a:srgbClr val="16213A"/>
                </a:solidFill>
                <a:latin typeface="Arial"/>
                <a:ea typeface="Malgun Gothic"/>
                <a:cs typeface="Malgun Gothic"/>
              </a:rPr>
              <a:t>, TMLR, Waymo). DriveVLM은 VLM이 장면 설명, 장면 분석, 계층적 계획을 사고 연쇄로 내게 했다. VLM의 약한 공간 추론과 큰 계산량을 보완하려고 기존 주행 파이프라인과 결합한 DriveVLM-Dual을 만들어 양산차에 배포했다. EMMA는 Gemini 같은 다중모달 LLM 위에서 카메라 영상을 받아 계획 궤적, 3D 물체, 도로 그래프를 모두 </a:t>
            </a:r>
            <a:r>
              <a:rPr sz="1050" b="1" i="0">
                <a:solidFill>
                  <a:srgbClr val="16213A"/>
                </a:solidFill>
                <a:latin typeface="Arial"/>
                <a:ea typeface="Malgun Gothic"/>
                <a:cs typeface="Malgun Gothic"/>
              </a:rPr>
              <a:t>텍스트로</a:t>
            </a:r>
            <a:r>
              <a:rPr sz="1050" b="0" i="0">
                <a:solidFill>
                  <a:srgbClr val="16213A"/>
                </a:solidFill>
                <a:latin typeface="Arial"/>
                <a:ea typeface="Malgun Gothic"/>
                <a:cs typeface="Malgun Gothic"/>
              </a:rPr>
              <a:t> 낸다. 내비 지시와 자차 상태 같은 입력도 텍스트로 넣는다. nuScenes 운동 계획에서 최고 성능을 냈고, 세 과제를 함께 학습하면 세 과제 모두 좋아졌다.</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자율주행 자동차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B.11 E2E 자율주행: 인식에서 계획까지 한 네트워크로</a:t>
            </a:r>
            <a:r>
              <a:rPr sz="1050" b="0" i="0">
                <a:solidFill>
                  <a:srgbClr val="5A6478"/>
                </a:solidFill>
                <a:latin typeface="Arial"/>
                <a:ea typeface="Malgun Gothic"/>
                <a:cs typeface="Malgun Gothic"/>
              </a:rPr>
              <a:t>  자세히: NAVSIM의 PDMS와 Hydra-MDP의 점수 증류</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141 / 516</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PDMS.</a:t>
            </a:r>
            <a:r>
              <a:rPr sz="1050" b="0" i="0">
                <a:solidFill>
                  <a:srgbClr val="16213A"/>
                </a:solidFill>
                <a:latin typeface="Arial"/>
                <a:ea typeface="Malgun Gothic"/>
                <a:cs typeface="Malgun Gothic"/>
              </a:rPr>
              <a:t> 하위 점수는 모두 </a:t>
            </a:r>
            <a:r>
              <a:rPr sz="1050" b="0" i="1">
                <a:solidFill>
                  <a:srgbClr val="16213A"/>
                </a:solidFill>
                <a:latin typeface="Arial"/>
                <a:ea typeface="Malgun Gothic"/>
                <a:cs typeface="Malgun Gothic"/>
              </a:rPr>
              <a:t>[0, 1]</a:t>
            </a:r>
            <a:r>
              <a:rPr sz="1050" b="0" i="0">
                <a:solidFill>
                  <a:srgbClr val="16213A"/>
                </a:solidFill>
                <a:latin typeface="Arial"/>
                <a:ea typeface="Malgun Gothic"/>
                <a:cs typeface="Malgun Gothic"/>
              </a:rPr>
              <a:t>이다. 충돌 없음(NC)과 주행 가능 영역 준수(DAC)는 곱하는 벌점이라, 하나라도 0이면 그 장면의 점수가 0이다(정지 물체와의 충돌은 0.5). 진행도(EP), 충돌까지 시간(TTC), 편안함(C)은 가중 평균으로 합치고, 가중치는 5, 5, 2다.</a:t>
            </a:r>
          </a:p>
        </p:txBody>
      </p:sp>
      <p:pic>
        <p:nvPicPr>
          <p:cNvPr id="6" name="Picture 5" descr="image.png"/>
          <p:cNvPicPr>
            <a:picLocks noChangeAspect="1"/>
          </p:cNvPicPr>
          <p:nvPr/>
        </p:nvPicPr>
        <p:blipFill>
          <a:blip r:embed="rId3"/>
          <a:stretch>
            <a:fillRect/>
          </a:stretch>
        </p:blipFill>
        <p:spPr>
          <a:xfrm>
            <a:off x="609600" y="1766491"/>
            <a:ext cx="3752850" cy="504825"/>
          </a:xfrm>
          <a:prstGeom prst="rect">
            <a:avLst/>
          </a:prstGeom>
        </p:spPr>
      </p:pic>
      <p:sp>
        <p:nvSpPr>
          <p:cNvPr id="7" name="TextBox 6"/>
          <p:cNvSpPr txBox="1"/>
          <p:nvPr/>
        </p:nvSpPr>
        <p:spPr>
          <a:xfrm>
            <a:off x="609600" y="2271514"/>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진행도는 규칙 기반 Planner(PDM-Closed)가 낼 수 있는 안전한 진행의 상한 대비 비율이다. TTC는 4초 안에 등속 가정의 충돌까지 시간이 임계값 아래로 떨어지면 0이다. 편안함은 가속도와 jerk를 임계값과 비교한다.</a:t>
            </a:r>
          </a:p>
        </p:txBody>
      </p:sp>
      <p:sp>
        <p:nvSpPr>
          <p:cNvPr id="8" name="TextBox 7"/>
          <p:cNvSpPr txBox="1"/>
          <p:nvPr/>
        </p:nvSpPr>
        <p:spPr>
          <a:xfrm>
            <a:off x="609600" y="2793405"/>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Hydra-MDP의 점수 증류.</a:t>
            </a:r>
            <a:r>
              <a:rPr sz="1050" b="0" i="0">
                <a:solidFill>
                  <a:srgbClr val="16213A"/>
                </a:solidFill>
                <a:latin typeface="Arial"/>
                <a:ea typeface="Malgun Gothic"/>
                <a:cs typeface="Malgun Gothic"/>
              </a:rPr>
              <a:t> 어휘 궤적 </a:t>
            </a:r>
            <a:r>
              <a:rPr sz="1050" b="0" i="1">
                <a:solidFill>
                  <a:srgbClr val="16213A"/>
                </a:solidFill>
                <a:latin typeface="Arial"/>
                <a:ea typeface="Malgun Gothic"/>
                <a:cs typeface="Malgun Gothic"/>
              </a:rPr>
              <a:t>i</a:t>
            </a:r>
            <a:r>
              <a:rPr sz="1050" b="0" i="0">
                <a:solidFill>
                  <a:srgbClr val="16213A"/>
                </a:solidFill>
                <a:latin typeface="Arial"/>
                <a:ea typeface="Malgun Gothic"/>
                <a:cs typeface="Malgun Gothic"/>
              </a:rPr>
              <a:t>와 지표 </a:t>
            </a:r>
            <a:r>
              <a:rPr sz="1050" b="0" i="1">
                <a:solidFill>
                  <a:srgbClr val="16213A"/>
                </a:solidFill>
                <a:latin typeface="Arial"/>
                <a:ea typeface="Malgun Gothic"/>
                <a:cs typeface="Malgun Gothic"/>
              </a:rPr>
              <a:t>m</a:t>
            </a:r>
            <a:r>
              <a:rPr sz="1050" b="0" i="0">
                <a:solidFill>
                  <a:srgbClr val="16213A"/>
                </a:solidFill>
                <a:latin typeface="Arial"/>
                <a:ea typeface="Malgun Gothic"/>
                <a:cs typeface="Malgun Gothic"/>
              </a:rPr>
              <a:t>마다 오프라인 시뮬레이션 점수 </a:t>
            </a:r>
            <a:r>
              <a:rPr sz="1050" b="0" i="1">
                <a:solidFill>
                  <a:srgbClr val="16213A"/>
                </a:solidFill>
                <a:latin typeface="Arial"/>
                <a:ea typeface="Malgun Gothic"/>
                <a:cs typeface="Malgun Gothic"/>
              </a:rPr>
              <a:t>Ŝ^mᵢ</a:t>
            </a:r>
            <a:r>
              <a:rPr sz="1050" b="0" i="0">
                <a:solidFill>
                  <a:srgbClr val="16213A"/>
                </a:solidFill>
                <a:latin typeface="Arial"/>
                <a:ea typeface="Malgun Gothic"/>
                <a:cs typeface="Malgun Gothic"/>
              </a:rPr>
              <a:t>를 정답으로, 예측 </a:t>
            </a:r>
            <a:r>
              <a:rPr sz="1050" b="0" i="1">
                <a:solidFill>
                  <a:srgbClr val="16213A"/>
                </a:solidFill>
                <a:latin typeface="Arial"/>
                <a:ea typeface="Malgun Gothic"/>
                <a:cs typeface="Malgun Gothic"/>
              </a:rPr>
              <a:t>S^mᵢ</a:t>
            </a:r>
            <a:r>
              <a:rPr sz="1050" b="0" i="0">
                <a:solidFill>
                  <a:srgbClr val="16213A"/>
                </a:solidFill>
                <a:latin typeface="Arial"/>
                <a:ea typeface="Malgun Gothic"/>
                <a:cs typeface="Malgun Gothic"/>
              </a:rPr>
              <a:t>에 이진 교차 엔트로피를 건다.</a:t>
            </a:r>
          </a:p>
        </p:txBody>
      </p:sp>
      <p:pic>
        <p:nvPicPr>
          <p:cNvPr id="9" name="Picture 8" descr="image.png"/>
          <p:cNvPicPr>
            <a:picLocks noChangeAspect="1"/>
          </p:cNvPicPr>
          <p:nvPr/>
        </p:nvPicPr>
        <p:blipFill>
          <a:blip r:embed="rId4"/>
          <a:stretch>
            <a:fillRect/>
          </a:stretch>
        </p:blipFill>
        <p:spPr>
          <a:xfrm>
            <a:off x="609600" y="3098800"/>
            <a:ext cx="3644900" cy="457200"/>
          </a:xfrm>
          <a:prstGeom prst="rect">
            <a:avLst/>
          </a:prstGeom>
        </p:spPr>
      </p:pic>
      <p:sp>
        <p:nvSpPr>
          <p:cNvPr id="10" name="TextBox 9"/>
          <p:cNvSpPr txBox="1"/>
          <p:nvPr/>
        </p:nvSpPr>
        <p:spPr>
          <a:xfrm>
            <a:off x="609600" y="3563838"/>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추론 때는 모방 점수와 규칙 점수의 가중 로그 합으로 비용을 만들고, 가장 작은 궤적을 고른다. 격자 탐색으로 찾은 가중치는 모방 점수가 0.01–0.1, 규칙 점수가 0.1–10 범위였다. 규칙 점수를 모방보다 우선해야 한다는 뜻이다.</a:t>
            </a:r>
          </a:p>
        </p:txBody>
      </p:sp>
      <p:pic>
        <p:nvPicPr>
          <p:cNvPr id="11" name="Picture 10" descr="image.png"/>
          <p:cNvPicPr>
            <a:picLocks noChangeAspect="1"/>
          </p:cNvPicPr>
          <p:nvPr/>
        </p:nvPicPr>
        <p:blipFill>
          <a:blip r:embed="rId5"/>
          <a:stretch>
            <a:fillRect/>
          </a:stretch>
        </p:blipFill>
        <p:spPr>
          <a:xfrm>
            <a:off x="609600" y="4085729"/>
            <a:ext cx="6061075" cy="330200"/>
          </a:xfrm>
          <a:prstGeom prst="rect">
            <a:avLst/>
          </a:prstGeom>
        </p:spPr>
      </p:pic>
      <p:sp>
        <p:nvSpPr>
          <p:cNvPr id="12" name="TextBox 11"/>
          <p:cNvSpPr txBox="1"/>
          <p:nvPr/>
        </p:nvSpPr>
        <p:spPr>
          <a:xfrm>
            <a:off x="609600" y="443865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것.</a:t>
            </a:r>
            <a:r>
              <a:rPr sz="1050" b="0" i="0">
                <a:solidFill>
                  <a:srgbClr val="16213A"/>
                </a:solidFill>
                <a:latin typeface="Arial"/>
                <a:ea typeface="Malgun Gothic"/>
                <a:cs typeface="Malgun Gothic"/>
              </a:rPr>
              <a:t> travplan 벤치마크는 성공률과 실패 종류(치명 셀, 전복, 보행자 충돌, 시간 초과)를 따로 센다. PDMS처럼 "치명 셀 진입, 전복, 충돌은 곱하는 벌점, 진행도·jerk·보행자 여유는 가중 평균"으로 한 점수를 더하면 seed 수가 적어도 스택을 비교하기 쉽다. Planner D의 후보 선택은 손으로 정한 규칙 점수(비용 적분, 치명 셀 벌점, cost-to-go)다. Hydra-MDP처럼 후보마다 그 점수를 예측하도록 증류하면, TravMap에 없는 영상 특징도 선택에 쓸 수 있다.</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자율주행 자동차</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B.11 E2E 자율주행: 인식에서 계획까지 한 네트워크로</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142 / 516</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E2E 주행의 결론은 "하나를 회귀하지 말고, 후보를 만들고 규칙과 학습 점수로 고른다"이다.</a:t>
            </a:r>
            <a:r>
              <a:rPr sz="1050" b="0" i="0">
                <a:solidFill>
                  <a:srgbClr val="16213A"/>
                </a:solidFill>
                <a:latin typeface="Arial"/>
                <a:ea typeface="Malgun Gothic"/>
                <a:cs typeface="Malgun Gothic"/>
              </a:rPr>
              <a:t> SparseDrive의 재채점, Hydra-MDP의 증류, GoalFlow의 점수기가 모두 이 구조이고, Planner D도 같다. 자동차 E2E 모델 자체는 멀티카메라 리그와 도로 지도를 전제해 보도 로봇에 옮기기 어렵다. 가져올 것은 평가(PDMS식 점수)와 선택(점수 증류) 설계다.</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자율주행 자동차</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B.13 자율주행 Planner: 연구 역사, 상용화, 지금의 관심 주제</a:t>
            </a:r>
            <a:r>
              <a:rPr sz="1050" b="0" i="0">
                <a:solidFill>
                  <a:srgbClr val="5A6478"/>
                </a:solidFill>
                <a:latin typeface="Arial"/>
                <a:ea typeface="Malgun Gothic"/>
                <a:cs typeface="Malgun Gothic"/>
              </a:rPr>
              <a:t>  1/7</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143 / 516</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자율주행 Planner는 세 번 바뀌었다.</a:t>
            </a:r>
            <a:r>
              <a:rPr sz="1050" b="0" i="0">
                <a:solidFill>
                  <a:srgbClr val="16213A"/>
                </a:solidFill>
                <a:latin typeface="Arial"/>
                <a:ea typeface="Malgun Gothic"/>
                <a:cs typeface="Malgun Gothic"/>
              </a:rPr>
              <a:t> 2004–2017년은 규칙과 최적화의 시대였다. 2018–2022년은 학습 예측 위에 규칙 계획을 얹었다. 2023년부터는 인식에서 계획까지 한 네트워크로 학습하는 E2E가 주류가 됐다. 2025–2026년의 관심은 "모방 다음"이다. 시뮬레이션과 world model 안의 강화학습으로 다듬고(후학습), 폐루프로 평가하고, 규모를 키우고, 규칙 기반 안전 층으로 감싼다. 상용 무인 서비스는 모듈형 + 대규모 학습 쪽(Waymo, Baidu)이 먼저 규모를 냈고, 단일 E2E 네트워크 쪽(Tesla, Wayve)이 뒤따르고 있다.</a:t>
            </a:r>
          </a:p>
        </p:txBody>
      </p:sp>
      <p:sp>
        <p:nvSpPr>
          <p:cNvPr id="6" name="TextBox 5"/>
          <p:cNvSpPr txBox="1"/>
          <p:nvPr/>
        </p:nvSpPr>
        <p:spPr>
          <a:xfrm>
            <a:off x="609600" y="1982986"/>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한눈에 보기</a:t>
            </a:r>
          </a:p>
        </p:txBody>
      </p:sp>
      <p:sp>
        <p:nvSpPr>
          <p:cNvPr id="7" name="TextBox 6"/>
          <p:cNvSpPr txBox="1"/>
          <p:nvPr/>
        </p:nvSpPr>
        <p:spPr>
          <a:xfrm>
            <a:off x="609600" y="2288381"/>
            <a:ext cx="10972800" cy="1184077"/>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흐름</a:t>
            </a:r>
            <a:r>
              <a:rPr sz="1050" b="0" i="0">
                <a:solidFill>
                  <a:srgbClr val="16213A"/>
                </a:solidFill>
                <a:latin typeface="Arial"/>
                <a:ea typeface="Malgun Gothic"/>
                <a:cs typeface="Malgun Gothic"/>
              </a:rPr>
              <a:t>: 규칙·최적화(2005–2017) → 학습 예측 + 규칙 계획(2018–2022) → E2E(2023–) → 후학습(RL)·추론·world model(2025–).</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상용화</a:t>
            </a:r>
            <a:r>
              <a:rPr sz="1050" b="0" i="0">
                <a:solidFill>
                  <a:srgbClr val="16213A"/>
                </a:solidFill>
                <a:latin typeface="Arial"/>
                <a:ea typeface="Malgun Gothic"/>
                <a:cs typeface="Malgun Gothic"/>
              </a:rPr>
              <a:t>: 모듈형 + 대규모 학습(Waymo 주당 50만 회, Baidu 본토 100% 무인)이 앞서고, 단일 E2E(Tesla, Wayve)가 뒤따른다. 모두 학습 계획 위에 규칙 안전 층을 둔다.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현대차그룹</a:t>
            </a:r>
            <a:r>
              <a:rPr sz="1050" b="0" i="0">
                <a:solidFill>
                  <a:srgbClr val="16213A"/>
                </a:solidFill>
                <a:latin typeface="Arial"/>
                <a:ea typeface="Malgun Gothic"/>
                <a:cs typeface="Malgun Gothic"/>
              </a:rPr>
              <a:t>: Motional은 E2E + 규칙 하이브리드로 2026년 말 라스베이거스 무인을 노리고, 42dot의 카메라 중심 E2E(Atria AI)는 NVIDIA 트랙 뒤인 2029년 양산이 목표다.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지금의 관심</a:t>
            </a:r>
            <a:r>
              <a:rPr sz="1050" b="0" i="0">
                <a:solidFill>
                  <a:srgbClr val="16213A"/>
                </a:solidFill>
                <a:latin typeface="Arial"/>
                <a:ea typeface="Malgun Gothic"/>
                <a:cs typeface="Malgun Gothic"/>
              </a:rPr>
              <a:t>: 3DGS·시뮬 안의 RL 후학습(RAD 충돌 1/3), 폐루프 평가(NAVSIM v2), 스케일링 법칙, 추론 VLA 논쟁(Alpamayo-R1 대 NoRD).</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travplan</a:t>
            </a:r>
            <a:r>
              <a:rPr sz="1050" b="0" i="0">
                <a:solidFill>
                  <a:srgbClr val="16213A"/>
                </a:solidFill>
                <a:latin typeface="Arial"/>
                <a:ea typeface="Malgun Gothic"/>
                <a:cs typeface="Malgun Gothic"/>
              </a:rPr>
              <a:t>: Planner D를 폐루프 RL로 후학습한다(TP-0066).</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자율주행 자동차</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B.13 자율주행 Planner: 연구 역사, 상용화, 지금의 관심 주제</a:t>
            </a:r>
            <a:r>
              <a:rPr sz="1050" b="0" i="0">
                <a:solidFill>
                  <a:srgbClr val="5A6478"/>
                </a:solidFill>
                <a:latin typeface="Arial"/>
                <a:ea typeface="Malgun Gothic"/>
                <a:cs typeface="Malgun Gothic"/>
              </a:rPr>
              <a:t>  2/7</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144 / 516</a:t>
            </a:r>
          </a:p>
        </p:txBody>
      </p:sp>
      <p:pic>
        <p:nvPicPr>
          <p:cNvPr id="5" name="Picture 4" descr="image.jpg"/>
          <p:cNvPicPr>
            <a:picLocks noChangeAspect="1"/>
          </p:cNvPicPr>
          <p:nvPr/>
        </p:nvPicPr>
        <p:blipFill>
          <a:blip r:embed="rId3"/>
          <a:stretch>
            <a:fillRect/>
          </a:stretch>
        </p:blipFill>
        <p:spPr>
          <a:xfrm>
            <a:off x="1060450" y="1244600"/>
            <a:ext cx="10071100" cy="3619500"/>
          </a:xfrm>
          <a:prstGeom prst="rect">
            <a:avLst/>
          </a:prstGeom>
        </p:spPr>
      </p:pic>
      <p:sp>
        <p:nvSpPr>
          <p:cNvPr id="6" name="TextBox 5"/>
          <p:cNvSpPr txBox="1"/>
          <p:nvPr/>
        </p:nvSpPr>
        <p:spPr>
          <a:xfrm>
            <a:off x="1060450" y="4902200"/>
            <a:ext cx="10071100" cy="142180"/>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자율주행 Planner의 연구(위)와 상용화(아래) 흐름. 출처: travplan scripts/make_doc_figures.py</a:t>
            </a:r>
          </a:p>
        </p:txBody>
      </p:sp>
      <p:sp>
        <p:nvSpPr>
          <p:cNvPr id="7" name="TextBox 6"/>
          <p:cNvSpPr txBox="1"/>
          <p:nvPr/>
        </p:nvSpPr>
        <p:spPr>
          <a:xfrm>
            <a:off x="609600" y="513328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영상.</a:t>
            </a:r>
            <a:r>
              <a:rPr sz="1050" b="0" i="0">
                <a:solidFill>
                  <a:srgbClr val="16213A"/>
                </a:solidFill>
                <a:latin typeface="Arial"/>
                <a:ea typeface="Malgun Gothic"/>
                <a:cs typeface="Malgun Gothic"/>
              </a:rPr>
              <a:t> Tesla가 ICCV 2025에서 E2E FSD와 신경 world simulator를 설명한 기조 강연(</a:t>
            </a:r>
            <a:r>
              <a:rPr sz="1050" b="0" i="0">
                <a:solidFill>
                  <a:srgbClr val="1D4ED8"/>
                </a:solidFill>
                <a:latin typeface="Arial"/>
                <a:ea typeface="Malgun Gothic"/>
                <a:cs typeface="Malgun Gothic"/>
                <a:hlinkClick r:id="rId4"/>
              </a:rPr>
              <a:t>X 게시물</a:t>
            </a:r>
            <a:r>
              <a:rPr sz="1050" b="0" i="0">
                <a:solidFill>
                  <a:srgbClr val="16213A"/>
                </a:solidFill>
                <a:latin typeface="Arial"/>
                <a:ea typeface="Malgun Gothic"/>
                <a:cs typeface="Malgun Gothic"/>
              </a:rPr>
              <a:t>), 3DGS 현장 복제로 휴머노이드 정책을 학습하는 NVIDIA 영상(</a:t>
            </a:r>
            <a:r>
              <a:rPr sz="1050" b="0" i="0">
                <a:solidFill>
                  <a:srgbClr val="1D4ED8"/>
                </a:solidFill>
                <a:latin typeface="Arial"/>
                <a:ea typeface="Malgun Gothic"/>
                <a:cs typeface="Malgun Gothic"/>
                <a:hlinkClick r:id="rId5"/>
              </a:rPr>
              <a:t>YouTube</a:t>
            </a:r>
            <a:r>
              <a:rPr sz="1050" b="0" i="0">
                <a:solidFill>
                  <a:srgbClr val="16213A"/>
                </a:solidFill>
                <a:latin typeface="Arial"/>
                <a:ea typeface="Malgun Gothic"/>
                <a:cs typeface="Malgun Gothic"/>
              </a:rPr>
              <a:t>, 리서치 A.8.1)이 이 탭의 흐름을 보여 준다.</a:t>
            </a:r>
          </a:p>
        </p:txBody>
      </p:sp>
      <p:sp>
        <p:nvSpPr>
          <p:cNvPr id="8" name="TextBox 7"/>
          <p:cNvSpPr txBox="1"/>
          <p:nvPr/>
        </p:nvSpPr>
        <p:spPr>
          <a:xfrm>
            <a:off x="609600" y="5655171"/>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기술 상세는 다른 탭에 있다. E2E 모델(UniAD, VAD, NAVSIM, Hydra-MDP, EMMA)은 B.11, 오픈소스 스택(Autoware, Apollo, CaRL, Alpamayo)은 B.12.1, 생성형 궤적(Diffusion Planner, DiffusionDrive, GoalFlow)은 B.8이다. 이 탭은 그 위의 흐름과 산업을 본다.</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자율주행 자동차</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B.13 자율주행 Planner: 연구 역사, 상용화, 지금의 관심 주제</a:t>
            </a:r>
            <a:r>
              <a:rPr sz="1050" b="0" i="0">
                <a:solidFill>
                  <a:srgbClr val="5A6478"/>
                </a:solidFill>
                <a:latin typeface="Arial"/>
                <a:ea typeface="Malgun Gothic"/>
                <a:cs typeface="Malgun Gothic"/>
              </a:rPr>
              <a:t>  3/7</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145 / 516</a:t>
            </a:r>
          </a:p>
        </p:txBody>
      </p:sp>
      <p:sp>
        <p:nvSpPr>
          <p:cNvPr id="5" name="TextBox 4"/>
          <p:cNvSpPr txBox="1"/>
          <p:nvPr/>
        </p:nvSpPr>
        <p:spPr>
          <a:xfrm>
            <a:off x="717550" y="1244600"/>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B.13.1 연구 역사</a:t>
            </a:r>
          </a:p>
        </p:txBody>
      </p:sp>
      <p:graphicFrame>
        <p:nvGraphicFramePr>
          <p:cNvPr id="6" name="Table 5"/>
          <p:cNvGraphicFramePr>
            <a:graphicFrameLocks noGrp="1"/>
          </p:cNvGraphicFramePr>
          <p:nvPr/>
        </p:nvGraphicFramePr>
        <p:xfrm>
          <a:off x="609600" y="1547812"/>
          <a:ext cx="10966450" cy="2956320"/>
        </p:xfrm>
        <a:graphic>
          <a:graphicData uri="http://schemas.openxmlformats.org/drawingml/2006/table">
            <a:tbl>
              <a:tblPr firstRow="1" bandRow="1">
                <a:tableStyleId>{5C22544A-7EE6-4342-B048-85BDC9FD1C3A}</a:tableStyleId>
              </a:tblPr>
              <a:tblGrid>
                <a:gridCol w="1027311"/>
                <a:gridCol w="3292078"/>
                <a:gridCol w="6647061"/>
              </a:tblGrid>
              <a:tr h="197088">
                <a:tc>
                  <a:txBody>
                    <a:bodyPr wrap="square"/>
                    <a:lstStyle/>
                    <a:p>
                      <a:r>
                        <a:rPr sz="800" b="1" i="0">
                          <a:solidFill>
                            <a:srgbClr val="F4F1EA"/>
                          </a:solidFill>
                          <a:latin typeface="Arial"/>
                          <a:ea typeface="Malgun Gothic"/>
                          <a:cs typeface="Malgun Gothic"/>
                        </a:rPr>
                        <a:t>연도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이정표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바꾼 것</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2005–2007</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DARPA Grand·Urban Challenge(Stanley, Boss)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임무·행동·운동의 3층 계획, 행동은 상태 기계, 운동은 lattice 탐색</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2016</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NVIDIA PilotNet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카메라 영상에서 조향각을 CNN 하나로 회귀(첫 E2E 시연)</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2018</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Apollo EM planner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Frenet 좌표에서 DP로 경로를 고르고 스플라인 QP로 다듬는 양산형 구조</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2018</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ChauffeurNet(Waymo)</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3,000만 예시로도 순수 모방은 부족했다. 전문가 주행을 흔들어 충돌·이탈 상황을 합성하고 벌점 손실을 더함</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2021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nuPlan(Motional)</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반응형 에이전트가 있는 폐루프 계획 벤치마크. 같은 회사가 2019년 nuScenes를 공개했다</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2023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PDM(“Parting with Misconceptions”)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규칙 기반 IDM 후보 선택이 nuPlan 1위, 열린 루프 지표가 오해를 부른다는 반성</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2023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UniAD, VAD</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인식·예측·계획을 계획 중심으로 한 네트워크에(B.11)</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2023–2024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Tesla FSD v12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양산 차량에 단일 E2E 네트워크 배포</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2024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NAVSIM, Hydra-MDP, EMMA</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비반응 시뮬 지표, 규칙 점수 증류, 다중모달 LLM 주행(B.11)</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2025</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Diffusion Planner, DiffusionDrive, GoalFlow</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생성형 궤적(B.8)</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2025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RAD, CaRL</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3DGS·시뮬 안의 대규모 강화학습</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2025</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Waymo 스케일링 법칙</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50만 시간 데이터에서 계산량에 대한 거듭제곱 법칙, 폐루프 지표도 개선</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2025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Alpamayo-R1, NAVSIM v2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인과 추론 VLA, 3DGS 의사 시뮬레이션 평가</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2026</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NoRD, DriveZero, 후학습 서베이</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추론 주석 없는 VLA, 사람 궤적 없는 E2E, 후학습의 정리</a:t>
                      </a:r>
                    </a:p>
                  </a:txBody>
                  <a:tcPr marL="63500" marR="63500" marT="12700" marB="12700">
                    <a:solidFill>
                      <a:srgbClr val="F3F0E8"/>
                    </a:solidFill>
                  </a:tcPr>
                </a:tc>
              </a:tr>
            </a:tbl>
          </a:graphicData>
        </a:graphic>
      </p:graphicFrame>
      <p:sp>
        <p:nvSpPr>
          <p:cNvPr id="7" name="TextBox 6"/>
          <p:cNvSpPr txBox="1"/>
          <p:nvPr/>
        </p:nvSpPr>
        <p:spPr>
          <a:xfrm>
            <a:off x="609600" y="5338465"/>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ChauffeurNet — 모방만으로는 부족하다는 첫 산업 증거</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arXiv:1812.03079</a:t>
            </a:r>
            <a:r>
              <a:rPr sz="1050" b="0" i="0">
                <a:solidFill>
                  <a:srgbClr val="16213A"/>
                </a:solidFill>
                <a:latin typeface="Arial"/>
                <a:ea typeface="Malgun Gothic"/>
                <a:cs typeface="Malgun Gothic"/>
              </a:rPr>
              <a:t>, 2018, Waymo). 3,000만 개 주행 예시로 행동 복제를 해도 복잡한 상황을 다루지 못했다. 저자들은 전문가 궤적에 교란을 넣어 충돌과 도로 이탈 직전 상황을 합성하고, 모방 손실에 충돌·이탈 벌점과 진행 보상을 더했다. 이 "모방 + 합성한 실패 + 벌점" 구조가 이후 학습 Planner의 기본형이 됐다.</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자율주행 자동차</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B.13 자율주행 Planner: 연구 역사, 상용화, 지금의 관심 주제</a:t>
            </a:r>
            <a:r>
              <a:rPr sz="1050" b="0" i="0">
                <a:solidFill>
                  <a:srgbClr val="5A6478"/>
                </a:solidFill>
                <a:latin typeface="Arial"/>
                <a:ea typeface="Malgun Gothic"/>
                <a:cs typeface="Malgun Gothic"/>
              </a:rPr>
              <a:t>  4/7</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146 / 516</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PDM — 규칙 기반 후보 선택이 학습 Planner를 이겼다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arXiv:2306.07962</a:t>
            </a:r>
            <a:r>
              <a:rPr sz="1050" b="0" i="0">
                <a:solidFill>
                  <a:srgbClr val="16213A"/>
                </a:solidFill>
                <a:latin typeface="Arial"/>
                <a:ea typeface="Malgun Gothic"/>
                <a:cs typeface="Malgun Gothic"/>
              </a:rPr>
              <a:t>, CoRL 2023). nuPlan에서 IDM 후보 15개를 시뮬레이션해 점수로 고르는 단순한 규칙 Planner가 1위를 했다. 열린 루프 지표(정답 궤적과의 거리)로 좋은 모델이 폐루프에서는 나쁠 수 있음을 보였다. 이 반성이 NAVSIM의 PDMS와 Hydra-MDP의 규칙 점수 증류로 이어졌다(B.11).</a:t>
            </a:r>
          </a:p>
        </p:txBody>
      </p:sp>
      <p:sp>
        <p:nvSpPr>
          <p:cNvPr id="6" name="TextBox 5"/>
          <p:cNvSpPr txBox="1"/>
          <p:nvPr/>
        </p:nvSpPr>
        <p:spPr>
          <a:xfrm>
            <a:off x="717550" y="1766491"/>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B.13.2 상용화 (2026-09 기준)</a:t>
            </a:r>
          </a:p>
        </p:txBody>
      </p:sp>
      <p:graphicFrame>
        <p:nvGraphicFramePr>
          <p:cNvPr id="7" name="Table 6"/>
          <p:cNvGraphicFramePr>
            <a:graphicFrameLocks noGrp="1"/>
          </p:cNvGraphicFramePr>
          <p:nvPr/>
        </p:nvGraphicFramePr>
        <p:xfrm>
          <a:off x="609600" y="2069703"/>
          <a:ext cx="10966450" cy="2817096"/>
        </p:xfrm>
        <a:graphic>
          <a:graphicData uri="http://schemas.openxmlformats.org/drawingml/2006/table">
            <a:tbl>
              <a:tblPr firstRow="1" bandRow="1">
                <a:tableStyleId>{5C22544A-7EE6-4342-B048-85BDC9FD1C3A}</a:tableStyleId>
              </a:tblPr>
              <a:tblGrid>
                <a:gridCol w="986135"/>
                <a:gridCol w="2208014"/>
                <a:gridCol w="2781995"/>
                <a:gridCol w="3313112"/>
                <a:gridCol w="1677194"/>
              </a:tblGrid>
              <a:tr h="197088">
                <a:tc>
                  <a:txBody>
                    <a:bodyPr wrap="square"/>
                    <a:lstStyle/>
                    <a:p>
                      <a:r>
                        <a:rPr sz="800" b="1" i="0">
                          <a:solidFill>
                            <a:srgbClr val="F4F1EA"/>
                          </a:solidFill>
                          <a:latin typeface="Arial"/>
                          <a:ea typeface="Malgun Gothic"/>
                          <a:cs typeface="Malgun Gothic"/>
                        </a:rPr>
                        <a:t>회사</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Planner 구조</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센서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규모</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출처</a:t>
                      </a:r>
                    </a:p>
                  </a:txBody>
                  <a:tcPr marL="63500" marR="63500" marT="12700" marB="12700">
                    <a:solidFill>
                      <a:srgbClr val="16213A"/>
                    </a:solidFill>
                  </a:tcPr>
                </a:tc>
              </a:tr>
              <a:tr h="317976">
                <a:tc>
                  <a:txBody>
                    <a:bodyPr wrap="square"/>
                    <a:lstStyle/>
                    <a:p>
                      <a:r>
                        <a:rPr sz="800" b="0" i="0">
                          <a:solidFill>
                            <a:srgbClr val="16213A"/>
                          </a:solidFill>
                          <a:latin typeface="Arial"/>
                          <a:ea typeface="Malgun Gothic"/>
                          <a:cs typeface="Malgun Gothic"/>
                        </a:rPr>
                        <a:t>Waymo</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모듈형 + 대규모 학습(연구: EMMA, 스케일링 법칙)</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LiDAR + 카메라 + 레이더</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차량 4,000대 이상, 주당 유료 50만 회 이상, 14개 도시, 연말 주당 100만 회 목표</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4"/>
                        </a:rPr>
                        <a:t>TechCrunch</a:t>
                      </a:r>
                      <a:r>
                        <a:rPr sz="800" b="0" i="0">
                          <a:solidFill>
                            <a:srgbClr val="16213A"/>
                          </a:solidFill>
                          <a:latin typeface="Arial"/>
                          <a:ea typeface="Malgun Gothic"/>
                          <a:cs typeface="Malgun Gothic"/>
                        </a:rPr>
                        <a:t>, </a:t>
                      </a:r>
                      <a:r>
                        <a:rPr sz="800" b="0" i="0">
                          <a:solidFill>
                            <a:srgbClr val="1D4ED8"/>
                          </a:solidFill>
                          <a:latin typeface="Arial"/>
                          <a:ea typeface="Malgun Gothic"/>
                          <a:cs typeface="Malgun Gothic"/>
                          <a:hlinkClick r:id="rId5"/>
                        </a:rPr>
                        <a:t>Automotive World</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Baidu Apollo Go</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모듈형 + 학습</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LiDAR + 카메라 + 레이더</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2025-02부터 중국 본토 모든 도시 100% 무인, 2026년 1분기 무인 운행 320만 회, 누적 2,200만 회 이상</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6"/>
                        </a:rPr>
                        <a:t>Baidu 6-K</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Pony.ai, WeRide</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모듈형 + 학습</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LiDAR + 카메라 + 레이더</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Pony 1,700대 이상(2026년 3,000대 목표), WeRide 중국 약 1,000대와 아부다비 무인</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7"/>
                        </a:rPr>
                        <a:t>Yahoo Finance</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Tesla</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단일 E2E 네트워크(제어에서 영상까지 기울기가 흐름), 신경 world simulator로 평가</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카메라만</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오스틴·댈러스·휴스턴 무인 로보택시, 고객 차량 무감독 FSD는 2026년 4분기 목표</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8"/>
                        </a:rPr>
                        <a:t>Teslarati(ICCV 2025)</a:t>
                      </a:r>
                      <a:r>
                        <a:rPr sz="800" b="0" i="0">
                          <a:solidFill>
                            <a:srgbClr val="16213A"/>
                          </a:solidFill>
                          <a:latin typeface="Arial"/>
                          <a:ea typeface="Malgun Gothic"/>
                          <a:cs typeface="Malgun Gothic"/>
                        </a:rPr>
                        <a:t>, </a:t>
                      </a:r>
                      <a:r>
                        <a:rPr sz="800" b="0" i="0">
                          <a:solidFill>
                            <a:srgbClr val="1D4ED8"/>
                          </a:solidFill>
                          <a:latin typeface="Arial"/>
                          <a:ea typeface="Malgun Gothic"/>
                          <a:cs typeface="Malgun Gothic"/>
                          <a:hlinkClick r:id="rId9"/>
                        </a:rPr>
                        <a:t>Electrek</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Wayve</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단일 E2E 네트워크(AV2.0, 지도 없음)</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카메라 6 + 레이더</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2026-09 Uber와 런던 로보택시, 2027년 Nissan ProPILOT(L2+) 양산</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0"/>
                        </a:rPr>
                        <a:t>Wayve</a:t>
                      </a:r>
                      <a:r>
                        <a:rPr sz="800" b="0" i="0">
                          <a:solidFill>
                            <a:srgbClr val="16213A"/>
                          </a:solidFill>
                          <a:latin typeface="Arial"/>
                          <a:ea typeface="Malgun Gothic"/>
                          <a:cs typeface="Malgun Gothic"/>
                        </a:rPr>
                        <a:t>, </a:t>
                      </a:r>
                      <a:r>
                        <a:rPr sz="800" b="0" i="0">
                          <a:solidFill>
                            <a:srgbClr val="1D4ED8"/>
                          </a:solidFill>
                          <a:latin typeface="Arial"/>
                          <a:ea typeface="Malgun Gothic"/>
                          <a:cs typeface="Malgun Gothic"/>
                          <a:hlinkClick r:id="rId11"/>
                        </a:rPr>
                        <a:t>Nissan</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Mobileye</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Compound AI + RSS + Primary–Guardian–Fallback</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VW ID.Buzz: 카메라 13, LiDAR 9, 레이더 5</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2026년 미국 로스앤젤레스부터 VW·Uber 로보택시</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2"/>
                        </a:rPr>
                        <a:t>Mobileye CES 2026</a:t>
                      </a:r>
                      <a:r>
                        <a:rPr sz="800" b="0" i="0">
                          <a:solidFill>
                            <a:srgbClr val="16213A"/>
                          </a:solidFill>
                          <a:latin typeface="Arial"/>
                          <a:ea typeface="Malgun Gothic"/>
                          <a:cs typeface="Malgun Gothic"/>
                        </a:rPr>
                        <a:t>, </a:t>
                      </a:r>
                      <a:r>
                        <a:rPr sz="800" b="0" i="0">
                          <a:solidFill>
                            <a:srgbClr val="1D4ED8"/>
                          </a:solidFill>
                          <a:latin typeface="Arial"/>
                          <a:ea typeface="Malgun Gothic"/>
                          <a:cs typeface="Malgun Gothic"/>
                          <a:hlinkClick r:id="rId13"/>
                        </a:rPr>
                        <a:t>New Atlas</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NVIDIA</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플랫폼(Alpamayo 추론 VLA 공개, B.12.1)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완성차·로보택시 회사에 공급</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4"/>
                        </a:rPr>
                        <a:t>NVlabs/alpamayo</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Motional(현대차그룹)</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대형 주행 모델 하나로 합친 E2E + 규칙 기반 소프트웨어(2024년부터 전환)</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LiDAR + 카메라 + 레이더 + 초음파(IONIQ 5 로보택시)</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2026-03 라스베이거스 Uber 시범(운전석 감독자 탑승), 2026년 말 무인 L4 목표</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5"/>
                        </a:rPr>
                        <a:t>TechCrunch</a:t>
                      </a:r>
                      <a:r>
                        <a:rPr sz="800" b="0" i="0">
                          <a:solidFill>
                            <a:srgbClr val="16213A"/>
                          </a:solidFill>
                          <a:latin typeface="Arial"/>
                          <a:ea typeface="Malgun Gothic"/>
                          <a:cs typeface="Malgun Gothic"/>
                        </a:rPr>
                        <a:t>, </a:t>
                      </a:r>
                      <a:r>
                        <a:rPr sz="800" b="0" i="0">
                          <a:solidFill>
                            <a:srgbClr val="1D4ED8"/>
                          </a:solidFill>
                          <a:latin typeface="Arial"/>
                          <a:ea typeface="Malgun Gothic"/>
                          <a:cs typeface="Malgun Gothic"/>
                          <a:hlinkClick r:id="rId16"/>
                        </a:rPr>
                        <a:t>현대차그룹</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현대차그룹(42dot·AVP)</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두 트랙: NVIDIA 플랫폼 기반 양산 ADAS와 자체 E2E인 Atria AI, VLA 병행 개발</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Atria 시험차(IONIQ 6): 카메라 8 + 레이더 1, LiDAR 없음. 양산 센서는 NVIDIA DRIVE Hyperion 10으로 표준화</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NVIDIA 기반 L2+ 2028 상반기·L2++ 2028 하반기, Atria L2++ 2029 하반기. Waymo에 IONIQ 5 공급(2026년 4분기 인도 시작)</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7"/>
                        </a:rPr>
                        <a:t>현대차그룹(2026-09-13)</a:t>
                      </a:r>
                      <a:r>
                        <a:rPr sz="800" b="0" i="0">
                          <a:solidFill>
                            <a:srgbClr val="16213A"/>
                          </a:solidFill>
                          <a:latin typeface="Arial"/>
                          <a:ea typeface="Malgun Gothic"/>
                          <a:cs typeface="Malgun Gothic"/>
                        </a:rPr>
                        <a:t>, </a:t>
                      </a:r>
                      <a:r>
                        <a:rPr sz="800" b="0" i="0">
                          <a:solidFill>
                            <a:srgbClr val="1D4ED8"/>
                          </a:solidFill>
                          <a:latin typeface="Arial"/>
                          <a:ea typeface="Malgun Gothic"/>
                          <a:cs typeface="Malgun Gothic"/>
                          <a:hlinkClick r:id="rId18"/>
                        </a:rPr>
                        <a:t>Tarantas</a:t>
                      </a:r>
                      <a:r>
                        <a:rPr sz="800" b="0" i="0">
                          <a:solidFill>
                            <a:srgbClr val="16213A"/>
                          </a:solidFill>
                          <a:latin typeface="Arial"/>
                          <a:ea typeface="Malgun Gothic"/>
                          <a:cs typeface="Malgun Gothic"/>
                        </a:rPr>
                        <a:t>, </a:t>
                      </a:r>
                      <a:r>
                        <a:rPr sz="800" b="0" i="0">
                          <a:solidFill>
                            <a:srgbClr val="1D4ED8"/>
                          </a:solidFill>
                          <a:latin typeface="Arial"/>
                          <a:ea typeface="Malgun Gothic"/>
                          <a:cs typeface="Malgun Gothic"/>
                          <a:hlinkClick r:id="rId19"/>
                        </a:rPr>
                        <a:t>WardsAuto</a:t>
                      </a:r>
                    </a:p>
                  </a:txBody>
                  <a:tcPr marL="63500" marR="63500" marT="12700" marB="12700">
                    <a:solidFill>
                      <a:srgbClr val="FFFDF8"/>
                    </a:solidFill>
                  </a:tcPr>
                </a:tc>
              </a:tr>
            </a:tbl>
          </a:graphicData>
        </a:graphic>
      </p:graphicFrame>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자율주행 자동차</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B.13 자율주행 Planner: 연구 역사, 상용화, 지금의 관심 주제</a:t>
            </a:r>
            <a:r>
              <a:rPr sz="1050" b="0" i="0">
                <a:solidFill>
                  <a:srgbClr val="5A6478"/>
                </a:solidFill>
                <a:latin typeface="Arial"/>
                <a:ea typeface="Malgun Gothic"/>
                <a:cs typeface="Malgun Gothic"/>
              </a:rPr>
              <a:t>  5/7</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147 / 516</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두 갈래가 있다.</a:t>
            </a:r>
            <a:r>
              <a:rPr sz="1050" b="0" i="0">
                <a:solidFill>
                  <a:srgbClr val="16213A"/>
                </a:solidFill>
                <a:latin typeface="Arial"/>
                <a:ea typeface="Malgun Gothic"/>
                <a:cs typeface="Malgun Gothic"/>
              </a:rPr>
              <a:t> 하나는 모듈형 스택에 학습을 깊게 넣고, 규칙과 여러 센서로 안전을 검증하는 쪽이다(Waymo, Baidu, Pony, WeRide, Mobileye). 다른 하나는 영상에서 제어까지 한 네트워크로 배우고, 데이터 규모와 world simulator 평가로 신뢰를 쌓는 쪽이다(Tesla, Wayve). 완전 무인 유료 서비스의 규모는 지금 첫째 갈래가 크다. Waymo는 2024-05 주당 5만 회에서 2년이 안 돼 10배가 됐다.</a:t>
            </a:r>
          </a:p>
        </p:txBody>
      </p:sp>
      <p:sp>
        <p:nvSpPr>
          <p:cNvPr id="6" name="TextBox 5"/>
          <p:cNvSpPr txBox="1"/>
          <p:nvPr/>
        </p:nvSpPr>
        <p:spPr>
          <a:xfrm>
            <a:off x="609600" y="1982986"/>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현대차그룹은 세 길을 한꺼번에 간다.</a:t>
            </a:r>
            <a:r>
              <a:rPr sz="1050" b="0" i="0">
                <a:solidFill>
                  <a:srgbClr val="16213A"/>
                </a:solidFill>
                <a:latin typeface="Arial"/>
                <a:ea typeface="Malgun Gothic"/>
                <a:cs typeface="Malgun Gothic"/>
              </a:rPr>
              <a:t> 로보택시는 자회사 Motional이 맡고, Waymo에는 차량을 공급하고, 양산차 ADAS는 42dot과 AVP(첨단차량플랫폼) 본부가 만든다. 세 길의 Planner 구조가 서로 다르다.</a:t>
            </a:r>
          </a:p>
        </p:txBody>
      </p:sp>
      <p:sp>
        <p:nvSpPr>
          <p:cNvPr id="7" name="TextBox 6"/>
          <p:cNvSpPr txBox="1"/>
          <p:nvPr/>
        </p:nvSpPr>
        <p:spPr>
          <a:xfrm>
            <a:off x="609600" y="2504877"/>
            <a:ext cx="10972800" cy="1999258"/>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Motional — 모듈형에서 E2E로 다시 시작했다.</a:t>
            </a:r>
            <a:r>
              <a:rPr sz="1050" b="0" i="0">
                <a:solidFill>
                  <a:srgbClr val="16213A"/>
                </a:solidFill>
                <a:latin typeface="Arial"/>
                <a:ea typeface="Malgun Gothic"/>
                <a:cs typeface="Malgun Gothic"/>
              </a:rPr>
              <a:t> 2020년 Hyundai·Aptiv 합작(40억 달러)으로 출발했다. 2024-05 Aptiv가 빠지고 현대차가 10억 달러를 더 넣었으며, 인력 약 40%를 줄이고 상용 운행을 멈췄다. 그 뒤 규칙 기반 스택과 개별 학습 모델을 트랜스포머 기반 대형 주행 모델 하나로 합쳤다. 새 도시에는 스택을 다시 짜지 않고 데이터를 모아 학습한다. 규칙 기반 소프트웨어는 버리지 않고 E2E와 함께 둔다(하이브리드). 2026-03 라스베이거스에서 Uber 앱으로 시범 운행을 시작했고, 2026년 말 감독자를 빼는 것이 목표다. nuScenes(2019)와 nuPlan(2021)을 공개한 회사이기도 하다.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42dot·AVP — 카메라 중심 E2E와 NVIDIA 플랫폼을 함께 쓴다.</a:t>
            </a:r>
            <a:r>
              <a:rPr sz="1050" b="0" i="0">
                <a:solidFill>
                  <a:srgbClr val="16213A"/>
                </a:solidFill>
                <a:latin typeface="Arial"/>
                <a:ea typeface="Malgun Gothic"/>
                <a:cs typeface="Malgun Gothic"/>
              </a:rPr>
              <a:t> 자체 E2E인 Atria AI는 센서 입력에서 주행 명령까지 한 네트워크로 낸다. 2025-12 시험차는 IONIQ 6에 카메라 8대와 레이더 1대를 달았고 LiDAR는 없었다. 2026-09-13 발표에서 일정을 두 트랙으로 나눴다. NVIDIA 플랫폼 기반 L2+와 L2++를 2028년에 먼저 내고, Atria AI 기반 L2++는 2029년 하반기에 낸다. VLA는 E2E와 병행해 개발하며, 시뮬레이션 검증 단계이고 실차 시험은 2026년 말부터 2027년 초까지다. 2026년 말에는 Atria AI를 실은 SDV 페이스카를 광주에서 L4 실증에 쓴다.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데이터 플라이휠이 공통 기반이다.</a:t>
            </a:r>
            <a:r>
              <a:rPr sz="1050" b="0" i="0">
                <a:solidFill>
                  <a:srgbClr val="16213A"/>
                </a:solidFill>
                <a:latin typeface="Arial"/>
                <a:ea typeface="Malgun Gothic"/>
                <a:cs typeface="Malgun Gothic"/>
              </a:rPr>
              <a:t> 전용 데이터 수집차 약 40대가 상시 달린다. 어려운 사례 채굴(hard example mining), 지속 학습 파이프라인, 3DGS로 어려운 장면을 복원하는 가상 검증, 한국·미국 팀의 24시간 개발 주기를 묶었다. 현대·기아·42dot·Motional의 데이터 형식을 하나로 맞춘다.</a:t>
            </a:r>
          </a:p>
        </p:txBody>
      </p:sp>
      <p:sp>
        <p:nvSpPr>
          <p:cNvPr id="8" name="TextBox 7"/>
          <p:cNvSpPr txBox="1"/>
          <p:nvPr/>
        </p:nvSpPr>
        <p:spPr>
          <a:xfrm>
            <a:off x="609600" y="4593034"/>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공개 연구 결과는 적다. 42dot의 E2E Planner 논문이나 공개 모델은 확인하지 못했다. 공개 자산 가운데 travplan에 직접 쓸 수 있는 것은 Motional의 nuPlan 폐루프 평가 설계다(B.12.1).</a:t>
            </a:r>
          </a:p>
        </p:txBody>
      </p:sp>
      <p:sp>
        <p:nvSpPr>
          <p:cNvPr id="9" name="TextBox 8"/>
          <p:cNvSpPr txBox="1"/>
          <p:nvPr/>
        </p:nvSpPr>
        <p:spPr>
          <a:xfrm>
            <a:off x="609600" y="489843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Mobileye의 Primary–Guardian–Fallback.</a:t>
            </a:r>
            <a:r>
              <a:rPr sz="1050" b="0" i="0">
                <a:solidFill>
                  <a:srgbClr val="16213A"/>
                </a:solidFill>
                <a:latin typeface="Arial"/>
                <a:ea typeface="Malgun Gothic"/>
                <a:cs typeface="Malgun Gothic"/>
              </a:rPr>
              <a:t> 주 시스템과 대체 시스템이 각자 궤적을 내고, 감시 시스템이 둘 가운데 무엇을 따를지 정한다. 여기에 수학적 안전 규칙(RSS)이 더해진다. 학습 Planner를 규칙 기반 층이 감싸는 구조는 Autoware의 새 계획 구조(B.12.1), Hydra-MDP의 규칙 점수(B.11)와 같은 발상이다.</a:t>
            </a:r>
          </a:p>
        </p:txBody>
      </p:sp>
      <p:sp>
        <p:nvSpPr>
          <p:cNvPr id="10" name="TextBox 9"/>
          <p:cNvSpPr txBox="1"/>
          <p:nvPr/>
        </p:nvSpPr>
        <p:spPr>
          <a:xfrm>
            <a:off x="609600" y="542032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Tesla의 신경 world simulator.</a:t>
            </a:r>
            <a:r>
              <a:rPr sz="1050" b="0" i="0">
                <a:solidFill>
                  <a:srgbClr val="16213A"/>
                </a:solidFill>
                <a:latin typeface="Arial"/>
                <a:ea typeface="Malgun Gothic"/>
                <a:cs typeface="Malgun Gothic"/>
              </a:rPr>
              <a:t> ICCV 2025 기조 강연에서 Tesla는 현재 상태와 다음 행동으로 미래 영상을 합성하는 world simulator로 새 주행 모델을 평가한다고 밝혔다. 같은 시뮬레이터로 Optimus 영상도 만든다고 했다. 폐루프 평가를 실제 도로 대신 학습한 시뮬레이터에서 하는 흐름이다(A.6의 world model과 같은 계열).</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자율주행 자동차</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B.13 자율주행 Planner: 연구 역사, 상용화, 지금의 관심 주제</a:t>
            </a:r>
            <a:r>
              <a:rPr sz="1050" b="0" i="0">
                <a:solidFill>
                  <a:srgbClr val="5A6478"/>
                </a:solidFill>
                <a:latin typeface="Arial"/>
                <a:ea typeface="Malgun Gothic"/>
                <a:cs typeface="Malgun Gothic"/>
              </a:rPr>
              <a:t>  6/7</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148 / 516</a:t>
            </a:r>
          </a:p>
        </p:txBody>
      </p:sp>
      <p:sp>
        <p:nvSpPr>
          <p:cNvPr id="5" name="TextBox 4"/>
          <p:cNvSpPr txBox="1"/>
          <p:nvPr/>
        </p:nvSpPr>
        <p:spPr>
          <a:xfrm>
            <a:off x="717550" y="1244600"/>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B.13.3 지금의 관심 주제 (2025–2026)</a:t>
            </a:r>
          </a:p>
        </p:txBody>
      </p:sp>
      <p:sp>
        <p:nvSpPr>
          <p:cNvPr id="6" name="TextBox 5"/>
          <p:cNvSpPr txBox="1"/>
          <p:nvPr/>
        </p:nvSpPr>
        <p:spPr>
          <a:xfrm>
            <a:off x="609600" y="1547812"/>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1. 모방 다음은 후학습이다.</a:t>
            </a:r>
            <a:r>
              <a:rPr sz="1050" b="0" i="0">
                <a:solidFill>
                  <a:srgbClr val="16213A"/>
                </a:solidFill>
                <a:latin typeface="Arial"/>
                <a:ea typeface="Malgun Gothic"/>
                <a:cs typeface="Malgun Gothic"/>
              </a:rPr>
              <a:t> 모방 학습은 작은 실행 오차가 쌓이고, 회복 행동이 데이터에 드물다. 그래서 시뮬레이션, 3DGS, world model 안의 강화학습과 선호 최적화로 다듬는다(</a:t>
            </a:r>
            <a:r>
              <a:rPr sz="1050" b="0" i="0">
                <a:solidFill>
                  <a:srgbClr val="1D4ED8"/>
                </a:solidFill>
                <a:latin typeface="Arial"/>
                <a:ea typeface="Malgun Gothic"/>
                <a:cs typeface="Malgun Gothic"/>
                <a:hlinkClick r:id="rId3"/>
              </a:rPr>
              <a:t>후학습 서베이 arXiv:2607.08072</a:t>
            </a:r>
            <a:r>
              <a:rPr sz="1050" b="0" i="0">
                <a:solidFill>
                  <a:srgbClr val="16213A"/>
                </a:solidFill>
                <a:latin typeface="Arial"/>
                <a:ea typeface="Malgun Gothic"/>
                <a:cs typeface="Malgun Gothic"/>
              </a:rPr>
              <a:t>, 2026-07).</a:t>
            </a:r>
          </a:p>
        </p:txBody>
      </p:sp>
      <p:sp>
        <p:nvSpPr>
          <p:cNvPr id="7" name="TextBox 6"/>
          <p:cNvSpPr txBox="1"/>
          <p:nvPr/>
        </p:nvSpPr>
        <p:spPr>
          <a:xfrm>
            <a:off x="609600" y="2069703"/>
            <a:ext cx="10972800" cy="1133277"/>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RAD</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4"/>
              </a:rPr>
              <a:t>arXiv:2502.13144</a:t>
            </a:r>
            <a:r>
              <a:rPr sz="1050" b="0" i="0">
                <a:solidFill>
                  <a:srgbClr val="16213A"/>
                </a:solidFill>
                <a:latin typeface="Arial"/>
                <a:ea typeface="Malgun Gothic"/>
                <a:cs typeface="Malgun Gothic"/>
              </a:rPr>
              <a:t>, NeurIPS 2025, Horizon Robotics·HUST): 실제 도로를 3DGS로 복원한 사진 같은 환경에서 대규모 강화학습을 하고, 모방 손실을 정규화로 둔다. 같은 폐루프 평가에서 충돌률이 모방만 한 정책의 1/3이 됐다.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DriveZero</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5"/>
              </a:rPr>
              <a:t>arXiv:2609.06055</a:t>
            </a:r>
            <a:r>
              <a:rPr sz="1050" b="0" i="0">
                <a:solidFill>
                  <a:srgbClr val="16213A"/>
                </a:solidFill>
                <a:latin typeface="Arial"/>
                <a:ea typeface="Malgun Gothic"/>
                <a:cs typeface="Malgun Gothic"/>
              </a:rPr>
              <a:t>, 2026-09): 주행 로그를 상호작용 시뮬레이션으로 바꿔 PPO 교사를 학습하고, 목표 조건 학습으로 로그에 없는 다양한 주행 의도를 만든다. 사람 궤적 감독 없이 nuPlan 평균 93.57점으로 로그 재생 전문가를 넘었고, NAVSIM v1·v2와 HUGSIM에서도 최고였다.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GRPO 계열</a:t>
            </a:r>
            <a:r>
              <a:rPr sz="1050" b="0" i="0">
                <a:solidFill>
                  <a:srgbClr val="16213A"/>
                </a:solidFill>
                <a:latin typeface="Arial"/>
                <a:ea typeface="Malgun Gothic"/>
                <a:cs typeface="Malgun Gothic"/>
              </a:rPr>
              <a:t>: LLM의 그룹 상대 정책 최적화를 주행 VLA에 쓴다. NoRD는 난이도 편향을 고친 Dr. GRPO를 제안했다(아래 4번).</a:t>
            </a:r>
          </a:p>
        </p:txBody>
      </p:sp>
      <p:sp>
        <p:nvSpPr>
          <p:cNvPr id="8" name="TextBox 7"/>
          <p:cNvSpPr txBox="1"/>
          <p:nvPr/>
        </p:nvSpPr>
        <p:spPr>
          <a:xfrm>
            <a:off x="609600" y="329188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2. 폐루프 평가 격차를 줄인다.</a:t>
            </a:r>
            <a:r>
              <a:rPr sz="1050" b="0" i="0">
                <a:solidFill>
                  <a:srgbClr val="16213A"/>
                </a:solidFill>
                <a:latin typeface="Arial"/>
                <a:ea typeface="Malgun Gothic"/>
                <a:cs typeface="Malgun Gothic"/>
              </a:rPr>
              <a:t> 열린 루프 점수와 실제 폐루프 성능이 어긋난다는 것이 PDM(2023) 이후의 공통 인식이다. NAVSIM v2는 3DGS로 미리 그린 합성 관측에서 두 번째 평가를 해, 계획이 조금 어긋난 상태에서의 회복력까지 점수에 넣는다. 전통 폐루프 시뮬레이션과 상관이 강하면서 계산은 1/6이다(</a:t>
            </a:r>
            <a:r>
              <a:rPr sz="1050" b="0" i="0">
                <a:solidFill>
                  <a:srgbClr val="1D4ED8"/>
                </a:solidFill>
                <a:latin typeface="Arial"/>
                <a:ea typeface="Malgun Gothic"/>
                <a:cs typeface="Malgun Gothic"/>
                <a:hlinkClick r:id="rId6"/>
              </a:rPr>
              <a:t>autonomousvision/navsim</a:t>
            </a:r>
            <a:r>
              <a:rPr sz="1050" b="0" i="0">
                <a:solidFill>
                  <a:srgbClr val="16213A"/>
                </a:solidFill>
                <a:latin typeface="Arial"/>
                <a:ea typeface="Malgun Gothic"/>
                <a:cs typeface="Malgun Gothic"/>
              </a:rPr>
              <a:t>, CoRL 2025). CVPR 2025 챌린지의 주 평가였다.</a:t>
            </a:r>
          </a:p>
        </p:txBody>
      </p:sp>
      <p:sp>
        <p:nvSpPr>
          <p:cNvPr id="9" name="TextBox 8"/>
          <p:cNvSpPr txBox="1"/>
          <p:nvPr/>
        </p:nvSpPr>
        <p:spPr>
          <a:xfrm>
            <a:off x="609600" y="381377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3. 규모의 법칙을 잰다.</a:t>
            </a:r>
            <a:r>
              <a:rPr sz="1050" b="0" i="0">
                <a:solidFill>
                  <a:srgbClr val="16213A"/>
                </a:solidFill>
                <a:latin typeface="Arial"/>
                <a:ea typeface="Malgun Gothic"/>
                <a:cs typeface="Malgun Gothic"/>
              </a:rPr>
              <a:t> Waymo는 50만 시간 주행 데이터로 운동 예측과 계획의 스케일링 법칙을 쟀다(</a:t>
            </a:r>
            <a:r>
              <a:rPr sz="1050" b="0" i="0">
                <a:solidFill>
                  <a:srgbClr val="1D4ED8"/>
                </a:solidFill>
                <a:latin typeface="Arial"/>
                <a:ea typeface="Malgun Gothic"/>
                <a:cs typeface="Malgun Gothic"/>
                <a:hlinkClick r:id="rId7"/>
              </a:rPr>
              <a:t>arXiv:2506.08228</a:t>
            </a:r>
            <a:r>
              <a:rPr sz="1050" b="0" i="0">
                <a:solidFill>
                  <a:srgbClr val="16213A"/>
                </a:solidFill>
                <a:latin typeface="Arial"/>
                <a:ea typeface="Malgun Gothic"/>
                <a:cs typeface="Malgun Gothic"/>
              </a:rPr>
              <a:t>). 성능은 계산량의 거듭제곱으로 좋아졌고, 폐루프 지표도 함께 좋아졌다. 계산 예산이 커질 때 최적 모델 크기는 데이터보다 1.5배 빠르게 키워야 했다. 작은 모델에서 여러 번 샘플해 군집하면 어느 지점까지는 큰 모델만큼 좋았다.</a:t>
            </a:r>
          </a:p>
        </p:txBody>
      </p:sp>
      <p:sp>
        <p:nvSpPr>
          <p:cNvPr id="10" name="TextBox 9"/>
          <p:cNvSpPr txBox="1"/>
          <p:nvPr/>
        </p:nvSpPr>
        <p:spPr>
          <a:xfrm>
            <a:off x="609600" y="4335661"/>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4. 추론을 넣을 것인가.</a:t>
            </a:r>
            <a:r>
              <a:rPr sz="1050" b="0" i="0">
                <a:solidFill>
                  <a:srgbClr val="16213A"/>
                </a:solidFill>
                <a:latin typeface="Arial"/>
                <a:ea typeface="Malgun Gothic"/>
                <a:cs typeface="Malgun Gothic"/>
              </a:rPr>
              <a:t> Alpamayo-R1(</a:t>
            </a:r>
            <a:r>
              <a:rPr sz="1050" b="0" i="0">
                <a:solidFill>
                  <a:srgbClr val="1D4ED8"/>
                </a:solidFill>
                <a:latin typeface="Arial"/>
                <a:ea typeface="Malgun Gothic"/>
                <a:cs typeface="Malgun Gothic"/>
                <a:hlinkClick r:id="rId8"/>
              </a:rPr>
              <a:t>arXiv:2511.00088</a:t>
            </a:r>
            <a:r>
              <a:rPr sz="1050" b="0" i="0">
                <a:solidFill>
                  <a:srgbClr val="16213A"/>
                </a:solidFill>
                <a:latin typeface="Arial"/>
                <a:ea typeface="Malgun Gothic"/>
                <a:cs typeface="Malgun Gothic"/>
              </a:rPr>
              <a:t>, NVIDIA)은 행동 전에 "인과 사슬" 추론을 낸다. 궤적만 내는 기준선보다 어려운 경우의 계획 정확도가 12% 높았고, 폐루프에서 도로 이탈이 35%, 근접 조우가 25% 줄었다. 10B 모델이 99 ms로 돈다. 반대로 NoRD(</a:t>
            </a:r>
            <a:r>
              <a:rPr sz="1050" b="0" i="0">
                <a:solidFill>
                  <a:srgbClr val="1D4ED8"/>
                </a:solidFill>
                <a:latin typeface="Arial"/>
                <a:ea typeface="Malgun Gothic"/>
                <a:cs typeface="Malgun Gothic"/>
                <a:hlinkClick r:id="rId9"/>
              </a:rPr>
              <a:t>arXiv:2602.21172</a:t>
            </a:r>
            <a:r>
              <a:rPr sz="1050" b="0" i="0">
                <a:solidFill>
                  <a:srgbClr val="16213A"/>
                </a:solidFill>
                <a:latin typeface="Arial"/>
                <a:ea typeface="Malgun Gothic"/>
                <a:cs typeface="Malgun Gothic"/>
              </a:rPr>
              <a:t>, CVPR 2026)는 추론 주석 없이, 데이터 60% 미만과 토큰 1/3로 Waymo와 NAVSIM에서 경쟁력 있는 성능을 냈다. 추론이 성능에 필요한지, 설명과 검증에 필요한지는 아직 열린 질문이다.</a:t>
            </a:r>
          </a:p>
        </p:txBody>
      </p:sp>
      <p:sp>
        <p:nvSpPr>
          <p:cNvPr id="11" name="TextBox 10"/>
          <p:cNvSpPr txBox="1"/>
          <p:nvPr/>
        </p:nvSpPr>
        <p:spPr>
          <a:xfrm>
            <a:off x="609600" y="5074047"/>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5. world model로 데이터와 평가를 만든다.</a:t>
            </a:r>
            <a:r>
              <a:rPr sz="1050" b="0" i="0">
                <a:solidFill>
                  <a:srgbClr val="16213A"/>
                </a:solidFill>
                <a:latin typeface="Arial"/>
                <a:ea typeface="Malgun Gothic"/>
                <a:cs typeface="Malgun Gothic"/>
              </a:rPr>
              <a:t> Tesla의 신경 world simulator, Wayve의 생성 world model, NVIDIA Cosmos 계열이 드문 상황을 합성하고 새 모델을 평가한다(A.6).</a:t>
            </a:r>
          </a:p>
        </p:txBody>
      </p:sp>
      <p:sp>
        <p:nvSpPr>
          <p:cNvPr id="12" name="TextBox 11"/>
          <p:cNvSpPr txBox="1"/>
          <p:nvPr/>
        </p:nvSpPr>
        <p:spPr>
          <a:xfrm>
            <a:off x="609600" y="5379442"/>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6. 학습 Planner를 규칙 안전 층이 감싼다.</a:t>
            </a:r>
            <a:r>
              <a:rPr sz="1050" b="0" i="0">
                <a:solidFill>
                  <a:srgbClr val="16213A"/>
                </a:solidFill>
                <a:latin typeface="Arial"/>
                <a:ea typeface="Malgun Gothic"/>
                <a:cs typeface="Malgun Gothic"/>
              </a:rPr>
              <a:t> Mobileye PGF, RSS, Autoware의 규칙 검증기, Hydra-MDP의 규칙 점수가 같은 방향이다. 상용 무인 서비스는 모두 학습 계획 위에 설명 가능한 안전 규칙을 둔다.</a:t>
            </a:r>
          </a:p>
        </p:txBody>
      </p:sp>
      <p:sp>
        <p:nvSpPr>
          <p:cNvPr id="13" name="TextBox 12"/>
          <p:cNvSpPr txBox="1"/>
          <p:nvPr/>
        </p:nvSpPr>
        <p:spPr>
          <a:xfrm>
            <a:off x="609600" y="5901333"/>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travplan의 "학습 Planner가 후보를 내고, 규칙 기반 Controller와 점수가 고른다"는 구조는 상용 흐름과 같은 방향이다.</a:t>
            </a:r>
            <a:r>
              <a:rPr sz="1050" b="0" i="0">
                <a:solidFill>
                  <a:srgbClr val="16213A"/>
                </a:solidFill>
                <a:latin typeface="Arial"/>
                <a:ea typeface="Malgun Gothic"/>
                <a:cs typeface="Malgun Gothic"/>
              </a:rPr>
              <a:t> 다음 단계도 같다.</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자율주행 자동차</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B.13 자율주행 Planner: 연구 역사, 상용화, 지금의 관심 주제</a:t>
            </a:r>
            <a:r>
              <a:rPr sz="1050" b="0" i="0">
                <a:solidFill>
                  <a:srgbClr val="5A6478"/>
                </a:solidFill>
                <a:latin typeface="Arial"/>
                <a:ea typeface="Malgun Gothic"/>
                <a:cs typeface="Malgun Gothic"/>
              </a:rPr>
              <a:t>  7/7</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149 / 516</a:t>
            </a:r>
          </a:p>
        </p:txBody>
      </p:sp>
      <p:sp>
        <p:nvSpPr>
          <p:cNvPr id="5" name="TextBox 4"/>
          <p:cNvSpPr txBox="1"/>
          <p:nvPr/>
        </p:nvSpPr>
        <p:spPr>
          <a:xfrm>
            <a:off x="609600" y="1244600"/>
            <a:ext cx="10972800" cy="1158677"/>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1. </a:t>
            </a:r>
            <a:r>
              <a:rPr sz="1050" b="1" i="0">
                <a:solidFill>
                  <a:srgbClr val="16213A"/>
                </a:solidFill>
                <a:latin typeface="Arial"/>
                <a:ea typeface="Malgun Gothic"/>
                <a:cs typeface="Malgun Gothic"/>
              </a:rPr>
              <a:t>Planner D를 폐루프 강화학습으로 후학습한다.</a:t>
            </a:r>
            <a:r>
              <a:rPr sz="1050" b="0" i="0">
                <a:solidFill>
                  <a:srgbClr val="16213A"/>
                </a:solidFill>
                <a:latin typeface="Arial"/>
                <a:ea typeface="Malgun Gothic"/>
                <a:cs typeface="Malgun Gothic"/>
              </a:rPr>
              <a:t> 지금은 Guidance + MPPI 시연의 모방뿐이다. RAD·DriveZero처럼 운동학 시뮬(빠름)과 3DGS 현장 복제(A.8.1, S.4.2) 안에서 PPO나 GRPO로 다듬으면, L1 belief에서의 분포 밖 실패(TP-0055)와 보행자 회피(TP-0051)를 직접 겨냥할 수 있다.</a:t>
            </a:r>
          </a:p>
          <a:p>
            <a:pPr>
              <a:spcBef>
                <a:spcPts val="200"/>
              </a:spcBef>
            </a:pPr>
            <a:r>
              <a:rPr sz="1050" b="0" i="0">
                <a:solidFill>
                  <a:srgbClr val="5A6478"/>
                </a:solidFill>
                <a:latin typeface="Arial"/>
                <a:ea typeface="Malgun Gothic"/>
                <a:cs typeface="Malgun Gothic"/>
              </a:rPr>
              <a:t>2. </a:t>
            </a:r>
            <a:r>
              <a:rPr sz="1050" b="1" i="0">
                <a:solidFill>
                  <a:srgbClr val="16213A"/>
                </a:solidFill>
                <a:latin typeface="Arial"/>
                <a:ea typeface="Malgun Gothic"/>
                <a:cs typeface="Malgun Gothic"/>
              </a:rPr>
              <a:t>평가는 폐루프로 한다.</a:t>
            </a:r>
            <a:r>
              <a:rPr sz="1050" b="0" i="0">
                <a:solidFill>
                  <a:srgbClr val="16213A"/>
                </a:solidFill>
                <a:latin typeface="Arial"/>
                <a:ea typeface="Malgun Gothic"/>
                <a:cs typeface="Malgun Gothic"/>
              </a:rPr>
              <a:t> travplan 벤치마크는 이미 폐루프다. 여기에 NAVSIM v2처럼 "조금 어긋난 시작 상태"에서의 회복력을 더하면 좋다.</a:t>
            </a:r>
          </a:p>
          <a:p>
            <a:pPr>
              <a:spcBef>
                <a:spcPts val="200"/>
              </a:spcBef>
            </a:pPr>
            <a:r>
              <a:rPr sz="1050" b="0" i="0">
                <a:solidFill>
                  <a:srgbClr val="5A6478"/>
                </a:solidFill>
                <a:latin typeface="Arial"/>
                <a:ea typeface="Malgun Gothic"/>
                <a:cs typeface="Malgun Gothic"/>
              </a:rPr>
              <a:t>3. </a:t>
            </a:r>
            <a:r>
              <a:rPr sz="1050" b="1" i="0">
                <a:solidFill>
                  <a:srgbClr val="16213A"/>
                </a:solidFill>
                <a:latin typeface="Arial"/>
                <a:ea typeface="Malgun Gothic"/>
                <a:cs typeface="Malgun Gothic"/>
              </a:rPr>
              <a:t>데이터를 키울 때는 모델도 키운다.</a:t>
            </a:r>
            <a:r>
              <a:rPr sz="1050" b="0" i="0">
                <a:solidFill>
                  <a:srgbClr val="16213A"/>
                </a:solidFill>
                <a:latin typeface="Arial"/>
                <a:ea typeface="Malgun Gothic"/>
                <a:cs typeface="Malgun Gothic"/>
              </a:rPr>
              <a:t> 시연 3만 2,768개로 학습한 Planner D는 작다. 스케일링 법칙은 데이터와 모델을 함께 키우라고 한다.</a:t>
            </a:r>
          </a:p>
          <a:p>
            <a:pPr>
              <a:spcBef>
                <a:spcPts val="200"/>
              </a:spcBef>
            </a:pPr>
            <a:r>
              <a:rPr sz="1050" b="0" i="0">
                <a:solidFill>
                  <a:srgbClr val="5A6478"/>
                </a:solidFill>
                <a:latin typeface="Arial"/>
                <a:ea typeface="Malgun Gothic"/>
                <a:cs typeface="Malgun Gothic"/>
              </a:rPr>
              <a:t>4. </a:t>
            </a:r>
            <a:r>
              <a:rPr sz="1050" b="1" i="0">
                <a:solidFill>
                  <a:srgbClr val="16213A"/>
                </a:solidFill>
                <a:latin typeface="Arial"/>
                <a:ea typeface="Malgun Gothic"/>
                <a:cs typeface="Malgun Gothic"/>
              </a:rPr>
              <a:t>추론 VLA는 당장 필요하지 않다.</a:t>
            </a:r>
            <a:r>
              <a:rPr sz="1050" b="0" i="0">
                <a:solidFill>
                  <a:srgbClr val="16213A"/>
                </a:solidFill>
                <a:latin typeface="Arial"/>
                <a:ea typeface="Malgun Gothic"/>
                <a:cs typeface="Malgun Gothic"/>
              </a:rPr>
              <a:t> NoRD의 결과처럼 추론 없이도 성능이 나고, travplan의 계산 예산(Orin, 리서치 H.4)에는 무겁다.</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F59E5B"/>
                </a:solidFill>
                <a:latin typeface="Consolas"/>
                <a:ea typeface="Malgun Gothic"/>
                <a:cs typeface="Malgun Gothic"/>
              </a:rPr>
              <a:t>Planner · 탭</a:t>
            </a:r>
          </a:p>
        </p:txBody>
      </p:sp>
      <p:sp>
        <p:nvSpPr>
          <p:cNvPr id="3" name="TextBox 2"/>
          <p:cNvSpPr txBox="1"/>
          <p:nvPr/>
        </p:nvSpPr>
        <p:spPr>
          <a:xfrm>
            <a:off x="609600" y="609600"/>
            <a:ext cx="10972800" cy="381000"/>
          </a:xfrm>
          <a:prstGeom prst="rect">
            <a:avLst/>
          </a:prstGeom>
          <a:noFill/>
        </p:spPr>
        <p:txBody>
          <a:bodyPr wrap="square" lIns="0" rIns="0" tIns="0" bIns="0" anchor="t">
            <a:spAutoFit/>
            <a:normAutofit/>
          </a:bodyPr>
          <a:lstStyle/>
          <a:p>
            <a:r>
              <a:rPr sz="2650" b="1" i="0">
                <a:solidFill>
                  <a:srgbClr val="F4F1EA"/>
                </a:solidFill>
                <a:latin typeface="Arial"/>
                <a:ea typeface="Malgun Gothic"/>
                <a:cs typeface="Malgun Gothic"/>
              </a:rPr>
              <a:t>다리·바퀴 로봇과 계보</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9AA6BC"/>
                </a:solidFill>
                <a:latin typeface="Arial"/>
                <a:ea typeface="Malgun Gothic"/>
                <a:cs typeface="Malgun Gothic"/>
              </a:rPr>
              <a:t>travplan 리서치 · Planner (docs/research-planner.md)    150 / 516</a:t>
            </a:r>
          </a:p>
        </p:txBody>
      </p:sp>
      <p:sp>
        <p:nvSpPr>
          <p:cNvPr id="5" name="TextBox 4"/>
          <p:cNvSpPr txBox="1"/>
          <p:nvPr/>
        </p:nvSpPr>
        <p:spPr>
          <a:xfrm>
            <a:off x="609600" y="1244600"/>
            <a:ext cx="5283200" cy="5080000"/>
          </a:xfrm>
          <a:prstGeom prst="rect">
            <a:avLst/>
          </a:prstGeom>
          <a:noFill/>
        </p:spPr>
        <p:txBody>
          <a:bodyPr wrap="square" lIns="0" rIns="0" tIns="0" bIns="0" anchor="t">
            <a:spAutoFit/>
            <a:normAutofit/>
          </a:bodyPr>
          <a:lstStyle/>
          <a:p>
            <a:pPr>
              <a:spcAft>
                <a:spcPts val="400"/>
              </a:spcAft>
            </a:pPr>
            <a:r>
              <a:rPr sz="1000" b="0" i="0">
                <a:solidFill>
                  <a:srgbClr val="C9D1E0"/>
                </a:solidFill>
                <a:latin typeface="Arial"/>
                <a:ea typeface="Malgun Gothic"/>
                <a:cs typeface="Malgun Gothic"/>
              </a:rPr>
              <a:t>B.12 로봇별 오픈소스 Planner: 자율주행 자동차, 사족보행, 휴머노이드, 바퀴 로봇</a:t>
            </a:r>
          </a:p>
          <a:p>
            <a:pPr>
              <a:spcAft>
                <a:spcPts val="400"/>
              </a:spcAft>
            </a:pPr>
            <a:r>
              <a:rPr sz="1000" b="0" i="0">
                <a:solidFill>
                  <a:srgbClr val="C9D1E0"/>
                </a:solidFill>
                <a:latin typeface="Arial"/>
                <a:ea typeface="Malgun Gothic"/>
                <a:cs typeface="Malgun Gothic"/>
              </a:rPr>
              <a:t>B.14 ETH RSL(Marco Hutter)의 계보: 높이 지도에서 배달로봇까지</a:t>
            </a:r>
          </a:p>
        </p:txBody>
      </p:sp>
      <p:sp>
        <p:nvSpPr>
          <p:cNvPr id="6" name="TextBox 5"/>
          <p:cNvSpPr txBox="1"/>
          <p:nvPr/>
        </p:nvSpPr>
        <p:spPr>
          <a:xfrm>
            <a:off x="6299200" y="1244600"/>
            <a:ext cx="5283200" cy="5080000"/>
          </a:xfrm>
          <a:prstGeom prst="rect">
            <a:avLst/>
          </a:prstGeom>
          <a:noFill/>
        </p:spPr>
        <p:txBody>
          <a:bodyPr wrap="square" lIns="0" rIns="0" tIns="0" bIns="0" anchor="t">
            <a:spAutoFit/>
            <a:normAutofit/>
          </a:bodyPr>
          <a:lstStyle/>
          <a:p>
            <a:pPr>
              <a:spcAft>
                <a:spcPts val="400"/>
              </a:spcAft>
            </a:pPr>
            <a:r>
              <a:rPr sz="1000" b="0" i="0">
                <a:solidFill>
                  <a:srgbClr val="C9D1E0"/>
                </a:solidFill>
                <a:latin typeface="Arial"/>
                <a:ea typeface="Malgun Gothic"/>
                <a:cs typeface="Malgun Gothic"/>
              </a:rPr>
              <a:t>B.16 사족보행·휴머노이드 연구실별 계보: NVIDIA, Google DeepMind, 취리히, RAI Institute와 다른 연구실</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B.12 로봇별 오픈소스 Planner: 자율주행 자동차, 사족보행, 휴머노이드, 바퀴 로봇</a:t>
            </a:r>
            <a:r>
              <a:rPr sz="1050" b="0" i="0">
                <a:solidFill>
                  <a:srgbClr val="5A6478"/>
                </a:solidFill>
                <a:latin typeface="Arial"/>
                <a:ea typeface="Malgun Gothic"/>
                <a:cs typeface="Malgun Gothic"/>
              </a:rPr>
              <a:t>  1/3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151 / 516</a:t>
            </a:r>
          </a:p>
        </p:txBody>
      </p:sp>
      <p:sp>
        <p:nvSpPr>
          <p:cNvPr id="5" name="TextBox 4"/>
          <p:cNvSpPr txBox="1"/>
          <p:nvPr/>
        </p:nvSpPr>
        <p:spPr>
          <a:xfrm>
            <a:off x="609600" y="1244600"/>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네 종류 로봇의 오픈소스 Planner는 모두 "전역 경로, 로컬 계획, 추종 제어"의 세 층이다.</a:t>
            </a:r>
            <a:r>
              <a:rPr sz="1050" b="0" i="0">
                <a:solidFill>
                  <a:srgbClr val="16213A"/>
                </a:solidFill>
                <a:latin typeface="Arial"/>
                <a:ea typeface="Malgun Gothic"/>
                <a:cs typeface="Malgun Gothic"/>
              </a:rPr>
              <a:t> 로봇마다 다른 것은 로컬 계획이 무엇을 지키느냐다. 자동차는 교통 규칙과 차량 기구학을, 사족보행은 발 디딜 곳과 몸통 충돌을, 휴머노이드는 발자국 순서와 전신 균형을, 바퀴 로봇은 비용 지도와 구동 방식(차동, 전방향, 스워브)을 지킨다. travplan의 스워브 보도 로봇은 바퀴 로봇 층위에 있다. 그래도 2.5D 지형 비용은 다리 로봇 스택에서, 후보 생성과 규칙 선택은 자율주행 스택에서 가장 많이 배울 수 있다. 별 수, 라이선스, 최근 커밋은 2026-09 기준이다. 인식 쪽 공개 코드(지형 지도, traversability 필터)는 인식 문서 A.2b와 A.7에 있다. 사족보행과 휴머노이드의 학습 연구를 조직별 계보로 묶은 것은 B.16에 있다.</a:t>
            </a:r>
          </a:p>
        </p:txBody>
      </p:sp>
      <p:graphicFrame>
        <p:nvGraphicFramePr>
          <p:cNvPr id="6" name="Table 5"/>
          <p:cNvGraphicFramePr>
            <a:graphicFrameLocks noGrp="1"/>
          </p:cNvGraphicFramePr>
          <p:nvPr/>
        </p:nvGraphicFramePr>
        <p:xfrm>
          <a:off x="609600" y="2199481"/>
          <a:ext cx="10966449" cy="1348104"/>
        </p:xfrm>
        <a:graphic>
          <a:graphicData uri="http://schemas.openxmlformats.org/drawingml/2006/table">
            <a:tbl>
              <a:tblPr firstRow="1" bandRow="1">
                <a:tableStyleId>{5C22544A-7EE6-4342-B048-85BDC9FD1C3A}</a:tableStyleId>
              </a:tblPr>
              <a:tblGrid>
                <a:gridCol w="510877"/>
                <a:gridCol w="2517279"/>
                <a:gridCol w="1442244"/>
                <a:gridCol w="1688405"/>
                <a:gridCol w="2848173"/>
                <a:gridCol w="1959471"/>
              </a:tblGrid>
              <a:tr h="197088">
                <a:tc>
                  <a:txBody>
                    <a:bodyPr wrap="square"/>
                    <a:lstStyle/>
                    <a:p>
                      <a:r>
                        <a:rPr sz="800" b="1" i="0">
                          <a:solidFill>
                            <a:srgbClr val="F4F1EA"/>
                          </a:solidFill>
                          <a:latin typeface="Arial"/>
                          <a:ea typeface="Malgun Gothic"/>
                          <a:cs typeface="Malgun Gothic"/>
                        </a:rPr>
                        <a:t>층</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자율주행 자동차</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사족보행</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휴머노이드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바퀴 로봇</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travplan</a:t>
                      </a:r>
                    </a:p>
                  </a:txBody>
                  <a:tcPr marL="63500" marR="63500" marT="12700" marB="12700">
                    <a:solidFill>
                      <a:srgbClr val="16213A"/>
                    </a:solidFill>
                  </a:tcPr>
                </a:tc>
              </a:tr>
              <a:tr h="317976">
                <a:tc>
                  <a:txBody>
                    <a:bodyPr wrap="square"/>
                    <a:lstStyle/>
                    <a:p>
                      <a:r>
                        <a:rPr sz="800" b="0" i="0">
                          <a:solidFill>
                            <a:srgbClr val="16213A"/>
                          </a:solidFill>
                          <a:latin typeface="Arial"/>
                          <a:ea typeface="Malgun Gothic"/>
                          <a:cs typeface="Malgun Gothic"/>
                        </a:rPr>
                        <a:t>전역 경로</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Lanelet2 차선 경로(Autoware), Apollo routing</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FAR, GBPlanner, TARE</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IHMC 발자국 계획, HPP</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Nav2 NavFn·Smac, FAR, PUTN</a:t>
                      </a:r>
                    </a:p>
                  </a:txBody>
                  <a:tcPr marL="63500" marR="63500" marT="12700" marB="12700">
                    <a:solidFill>
                      <a:srgbClr val="FFFDF8"/>
                    </a:solidFill>
                  </a:tcPr>
                </a:tc>
                <a:tc>
                  <a:txBody>
                    <a:bodyPr wrap="square"/>
                    <a:lstStyle/>
                    <a:p>
                      <a:r>
                        <a:rPr sz="800" b="0" i="0">
                          <a:solidFill>
                            <a:srgbClr val="16213A"/>
                          </a:solidFill>
                          <a:latin typeface="Consolas"/>
                          <a:ea typeface="Malgun Gothic"/>
                          <a:cs typeface="Malgun Gothic"/>
                        </a:rPr>
                        <a:t>GuidancePlanner</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로컬 계획</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behavior·motion 모듈, EM planner, PDM, Diffusion Planner</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ArtPlanner, ViPlanner, iPlanner</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Click-and-Traverse, Gallant, HEAD</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Nav2 MPPI·DWB·RPP, TEB</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Planner D, LearnedPlanner</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추종·제어</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종방향 MPC(openpilot), 횡방향 제어기</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OCS2 MPC + WBC, RL 보행 정책</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Crocoddyl, TSID, HOVER, RL 보행 정책</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ros2_controllers, ffw_swerve_drive_controller, Choreo 궤적 추종</a:t>
                      </a:r>
                    </a:p>
                  </a:txBody>
                  <a:tcPr marL="63500" marR="63500" marT="12700" marB="12700">
                    <a:solidFill>
                      <a:srgbClr val="FFFDF8"/>
                    </a:solidFill>
                  </a:tcPr>
                </a:tc>
                <a:tc>
                  <a:txBody>
                    <a:bodyPr wrap="square"/>
                    <a:lstStyle/>
                    <a:p>
                      <a:r>
                        <a:rPr sz="800" b="0" i="0">
                          <a:solidFill>
                            <a:srgbClr val="16213A"/>
                          </a:solidFill>
                          <a:latin typeface="Consolas"/>
                          <a:ea typeface="Malgun Gothic"/>
                          <a:cs typeface="Malgun Gothic"/>
                        </a:rPr>
                        <a:t>MPPIController</a:t>
                      </a:r>
                      <a:r>
                        <a:rPr sz="800" b="0" i="0">
                          <a:solidFill>
                            <a:srgbClr val="16213A"/>
                          </a:solidFill>
                          <a:latin typeface="Arial"/>
                          <a:ea typeface="Malgun Gothic"/>
                          <a:cs typeface="Malgun Gothic"/>
                        </a:rPr>
                        <a:t>, </a:t>
                      </a:r>
                      <a:r>
                        <a:rPr sz="800" b="0" i="0">
                          <a:solidFill>
                            <a:srgbClr val="16213A"/>
                          </a:solidFill>
                          <a:latin typeface="Consolas"/>
                          <a:ea typeface="Malgun Gothic"/>
                          <a:cs typeface="Malgun Gothic"/>
                        </a:rPr>
                        <a:t>TrackerController</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평가</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nuPlan, NAVSIM, Bench2Drive, Waymax</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DARPA SubT 현장</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실물 시연 위주</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CrowdNav 시뮬, 보도 시뮬레이터(시뮬레이션 문서 S.2)</a:t>
                      </a:r>
                    </a:p>
                  </a:txBody>
                  <a:tcPr marL="63500" marR="63500" marT="12700" marB="12700">
                    <a:solidFill>
                      <a:srgbClr val="F3F0E8"/>
                    </a:solidFill>
                  </a:tcPr>
                </a:tc>
                <a:tc>
                  <a:txBody>
                    <a:bodyPr wrap="square"/>
                    <a:lstStyle/>
                    <a:p>
                      <a:r>
                        <a:rPr sz="800" b="0" i="0">
                          <a:solidFill>
                            <a:srgbClr val="16213A"/>
                          </a:solidFill>
                          <a:latin typeface="Consolas"/>
                          <a:ea typeface="Malgun Gothic"/>
                          <a:cs typeface="Malgun Gothic"/>
                        </a:rPr>
                        <a:t>scripts/run_benchmark.py</a:t>
                      </a:r>
                    </a:p>
                  </a:txBody>
                  <a:tcPr marL="63500" marR="63500" marT="12700" marB="12700">
                    <a:solidFill>
                      <a:srgbClr val="F3F0E8"/>
                    </a:solidFill>
                  </a:tcPr>
                </a:tc>
              </a:tr>
            </a:tbl>
          </a:graphicData>
        </a:graphic>
      </p:graphicFrame>
      <p:sp>
        <p:nvSpPr>
          <p:cNvPr id="7" name="TextBox 6"/>
          <p:cNvSpPr txBox="1"/>
          <p:nvPr/>
        </p:nvSpPr>
        <p:spPr>
          <a:xfrm>
            <a:off x="609600" y="3979862"/>
            <a:ext cx="10972800" cy="343495"/>
          </a:xfrm>
          <a:prstGeom prst="rect">
            <a:avLst/>
          </a:prstGeom>
          <a:solidFill>
            <a:srgbClr val="EEF1F6"/>
          </a:solidFill>
        </p:spPr>
        <p:txBody>
          <a:bodyPr wrap="square" lIns="114300" rIns="114300" tIns="63500" bIns="63500" anchor="t">
            <a:spAutoFit/>
            <a:normAutofit/>
          </a:bodyPr>
          <a:lstStyle/>
          <a:p>
            <a:r>
              <a:rPr sz="1050" b="0" i="0">
                <a:solidFill>
                  <a:srgbClr val="33405A"/>
                </a:solidFill>
                <a:latin typeface="Arial"/>
                <a:ea typeface="Malgun Gothic"/>
                <a:cs typeface="Malgun Gothic"/>
              </a:rPr>
              <a:t>자율주행 자동차(</a:t>
            </a:r>
            <a:r>
              <a:rPr sz="1050" b="1" i="0">
                <a:solidFill>
                  <a:srgbClr val="33405A"/>
                </a:solidFill>
                <a:latin typeface="Arial"/>
                <a:ea typeface="Malgun Gothic"/>
                <a:cs typeface="Malgun Gothic"/>
              </a:rPr>
              <a:t>B.12.1</a:t>
            </a:r>
            <a:r>
              <a:rPr sz="1050" b="0" i="0">
                <a:solidFill>
                  <a:srgbClr val="33405A"/>
                </a:solidFill>
                <a:latin typeface="Arial"/>
                <a:ea typeface="Malgun Gothic"/>
                <a:cs typeface="Malgun Gothic"/>
              </a:rPr>
              <a:t>)는 「자율주행 자동차」 탭으로 옮겼다 — 같은 도메인의 E2E(B.11)·역사·상용화(B.13)와 한자리에 두기 위해서다. 아래 표의 자동차 열은 그대로 둔다.</a:t>
            </a:r>
          </a:p>
        </p:txBody>
      </p:sp>
      <p:sp>
        <p:nvSpPr>
          <p:cNvPr id="8" name="TextBox 7"/>
          <p:cNvSpPr txBox="1"/>
          <p:nvPr/>
        </p:nvSpPr>
        <p:spPr>
          <a:xfrm>
            <a:off x="717550" y="4412258"/>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B.12.2 사족보행: 발이 닿고 몸통이 지나가는 곳을 찾는다</a:t>
            </a:r>
          </a:p>
        </p:txBody>
      </p:sp>
      <p:sp>
        <p:nvSpPr>
          <p:cNvPr id="9" name="TextBox 8"/>
          <p:cNvSpPr txBox="1"/>
          <p:nvPr/>
        </p:nvSpPr>
        <p:spPr>
          <a:xfrm>
            <a:off x="609600" y="471547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사족보행 오픈소스 Planner의 핵심은 높이 지도 위에서 "몸통이 충돌하지 않고 발이 닿는" 자세를 찾는 2.5D 계획이다.</a:t>
            </a:r>
            <a:r>
              <a:rPr sz="1050" b="0" i="0">
                <a:solidFill>
                  <a:srgbClr val="16213A"/>
                </a:solidFill>
                <a:latin typeface="Arial"/>
                <a:ea typeface="Malgun Gothic"/>
                <a:cs typeface="Malgun Gothic"/>
              </a:rPr>
              <a:t> 경로는 높이 지도 위의 샘플링·그래프 계획(ArtPlanner, FAR, GBPlanner)이 내고, 걸음은 MPC(OCS2, TOWR)나 RL 보행 정책(legged_gym 계열)이 만든다. ViPlanner와 NaVILA처럼 경로 Planner 아래에 RL 보행 정책을 두는 구성이 많아졌다.</a:t>
            </a:r>
          </a:p>
        </p:txBody>
      </p:sp>
      <p:graphicFrame>
        <p:nvGraphicFramePr>
          <p:cNvPr id="10" name="Table 9"/>
          <p:cNvGraphicFramePr>
            <a:graphicFrameLocks noGrp="1"/>
          </p:cNvGraphicFramePr>
          <p:nvPr/>
        </p:nvGraphicFramePr>
        <p:xfrm>
          <a:off x="609600" y="5237361"/>
          <a:ext cx="10966449" cy="712152"/>
        </p:xfrm>
        <a:graphic>
          <a:graphicData uri="http://schemas.openxmlformats.org/drawingml/2006/table">
            <a:tbl>
              <a:tblPr firstRow="1" bandRow="1">
                <a:tableStyleId>{5C22544A-7EE6-4342-B048-85BDC9FD1C3A}</a:tableStyleId>
              </a:tblPr>
              <a:tblGrid>
                <a:gridCol w="1932880"/>
                <a:gridCol w="804466"/>
                <a:gridCol w="2299295"/>
                <a:gridCol w="2178050"/>
                <a:gridCol w="1157585"/>
                <a:gridCol w="2594173"/>
              </a:tblGrid>
              <a:tr h="197088">
                <a:tc>
                  <a:txBody>
                    <a:bodyPr wrap="square"/>
                    <a:lstStyle/>
                    <a:p>
                      <a:r>
                        <a:rPr sz="800" b="1" i="0">
                          <a:solidFill>
                            <a:srgbClr val="F4F1EA"/>
                          </a:solidFill>
                          <a:latin typeface="Arial"/>
                          <a:ea typeface="Malgun Gothic"/>
                          <a:cs typeface="Malgun Gothic"/>
                        </a:rPr>
                        <a:t>이름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층</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방식</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검증 로봇</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라이선스</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코드(★)</a:t>
                      </a:r>
                    </a:p>
                  </a:txBody>
                  <a:tcPr marL="63500" marR="63500" marT="12700" marB="12700">
                    <a:solidFill>
                      <a:srgbClr val="16213A"/>
                    </a:solidFill>
                  </a:tcPr>
                </a:tc>
              </a:tr>
              <a:tr h="317976">
                <a:tc>
                  <a:txBody>
                    <a:bodyPr wrap="square"/>
                    <a:lstStyle/>
                    <a:p>
                      <a:r>
                        <a:rPr sz="800" b="0" i="0">
                          <a:solidFill>
                            <a:srgbClr val="16213A"/>
                          </a:solidFill>
                          <a:latin typeface="Arial"/>
                          <a:ea typeface="Malgun Gothic"/>
                          <a:cs typeface="Malgun Gothic"/>
                        </a:rPr>
                        <a:t>ArtPlanner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로컬 경로</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도달 가능성 자세 검증 + 학습 발판 점수 + 학습 이동 비용</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ANYmal(DARPA SubT 우승)</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BSD-3-Clause</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3"/>
                        </a:rPr>
                        <a:t>leggedrobotics/art_planner</a:t>
                      </a:r>
                      <a:r>
                        <a:rPr sz="800" b="0" i="0">
                          <a:solidFill>
                            <a:srgbClr val="16213A"/>
                          </a:solidFill>
                          <a:latin typeface="Arial"/>
                          <a:ea typeface="Malgun Gothic"/>
                          <a:cs typeface="Malgun Gothic"/>
                        </a:rPr>
                        <a:t> 0.3k</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GBPlanner</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탐사·경로</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지하 환경의 그래프 기반 탐사 계획</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ANYmal, 드론</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BSD-3-Clause</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4"/>
                        </a:rPr>
                        <a:t>ntnu-arl/gbplanner_ros</a:t>
                      </a:r>
                      <a:r>
                        <a:rPr sz="800" b="0" i="0">
                          <a:solidFill>
                            <a:srgbClr val="16213A"/>
                          </a:solidFill>
                          <a:latin typeface="Arial"/>
                          <a:ea typeface="Malgun Gothic"/>
                          <a:cs typeface="Malgun Gothic"/>
                        </a:rPr>
                        <a:t> 0.9k</a:t>
                      </a:r>
                    </a:p>
                  </a:txBody>
                  <a:tcPr marL="63500" marR="63500" marT="12700" marB="12700">
                    <a:solidFill>
                      <a:srgbClr val="F3F0E8"/>
                    </a:solidFill>
                  </a:tcPr>
                </a:tc>
              </a:tr>
            </a:tbl>
          </a:graphicData>
        </a:graphic>
      </p:graphicFrame>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B.12 로봇별 오픈소스 Planner: 자율주행 자동차, 사족보행, 휴머노이드, 바퀴 로봇</a:t>
            </a:r>
            <a:r>
              <a:rPr sz="1050" b="0" i="0">
                <a:solidFill>
                  <a:srgbClr val="5A6478"/>
                </a:solidFill>
                <a:latin typeface="Arial"/>
                <a:ea typeface="Malgun Gothic"/>
                <a:cs typeface="Malgun Gothic"/>
              </a:rPr>
              <a:t>  2/3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152 / 516</a:t>
            </a:r>
          </a:p>
        </p:txBody>
      </p:sp>
      <p:graphicFrame>
        <p:nvGraphicFramePr>
          <p:cNvPr id="5" name="Table 4"/>
          <p:cNvGraphicFramePr>
            <a:graphicFrameLocks noGrp="1"/>
          </p:cNvGraphicFramePr>
          <p:nvPr/>
        </p:nvGraphicFramePr>
        <p:xfrm>
          <a:off x="609600" y="1244600"/>
          <a:ext cx="10966449" cy="2060256"/>
        </p:xfrm>
        <a:graphic>
          <a:graphicData uri="http://schemas.openxmlformats.org/drawingml/2006/table">
            <a:tbl>
              <a:tblPr firstRow="1" bandRow="1">
                <a:tableStyleId>{5C22544A-7EE6-4342-B048-85BDC9FD1C3A}</a:tableStyleId>
              </a:tblPr>
              <a:tblGrid>
                <a:gridCol w="1932880"/>
                <a:gridCol w="804466"/>
                <a:gridCol w="2299295"/>
                <a:gridCol w="2178050"/>
                <a:gridCol w="1157585"/>
                <a:gridCol w="2594173"/>
              </a:tblGrid>
              <a:tr h="197088">
                <a:tc>
                  <a:txBody>
                    <a:bodyPr wrap="square"/>
                    <a:lstStyle/>
                    <a:p>
                      <a:r>
                        <a:rPr sz="800" b="1" i="0">
                          <a:solidFill>
                            <a:srgbClr val="F4F1EA"/>
                          </a:solidFill>
                          <a:latin typeface="Arial"/>
                          <a:ea typeface="Malgun Gothic"/>
                          <a:cs typeface="Malgun Gothic"/>
                        </a:rPr>
                        <a:t>이름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층</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방식</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검증 로봇</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라이선스</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코드(★)</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FAR Planner, TARE</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경로, 탐사</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가시성 그래프 경로, 계층형 탐사</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바퀴 차량, Go2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BSD(package.xml)</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3"/>
                        </a:rPr>
                        <a:t>far_planner</a:t>
                      </a:r>
                      <a:r>
                        <a:rPr sz="800" b="0" i="0">
                          <a:solidFill>
                            <a:srgbClr val="16213A"/>
                          </a:solidFill>
                          <a:latin typeface="Arial"/>
                          <a:ea typeface="Malgun Gothic"/>
                          <a:cs typeface="Malgun Gothic"/>
                        </a:rPr>
                        <a:t> 1.0k, </a:t>
                      </a:r>
                      <a:r>
                        <a:rPr sz="800" b="0" i="0">
                          <a:solidFill>
                            <a:srgbClr val="1D4ED8"/>
                          </a:solidFill>
                          <a:latin typeface="Arial"/>
                          <a:ea typeface="Malgun Gothic"/>
                          <a:cs typeface="Malgun Gothic"/>
                          <a:hlinkClick r:id="rId4"/>
                        </a:rPr>
                        <a:t>tare_planner</a:t>
                      </a:r>
                      <a:r>
                        <a:rPr sz="800" b="0" i="0">
                          <a:solidFill>
                            <a:srgbClr val="16213A"/>
                          </a:solidFill>
                          <a:latin typeface="Arial"/>
                          <a:ea typeface="Malgun Gothic"/>
                          <a:cs typeface="Malgun Gothic"/>
                        </a:rPr>
                        <a:t> 0.7k</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autonomy_stack_go2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풀스택</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SLAM, 지형 분석, 충돌 회피, FAR 경로</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Unitree Go2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표기 없음</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5"/>
                        </a:rPr>
                        <a:t>jizhang-cmu/autonomy_stack_go2</a:t>
                      </a:r>
                      <a:r>
                        <a:rPr sz="800" b="0" i="0">
                          <a:solidFill>
                            <a:srgbClr val="16213A"/>
                          </a:solidFill>
                          <a:latin typeface="Arial"/>
                          <a:ea typeface="Malgun Gothic"/>
                          <a:cs typeface="Malgun Gothic"/>
                        </a:rPr>
                        <a:t> 0.5k</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ViPlanner, iPlanner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학습 로컬 경로</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비용 지도 자기지도(B.4b)</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ANYmal</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BSD-3-Clause, MIT</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6"/>
                        </a:rPr>
                        <a:t>viplanner</a:t>
                      </a:r>
                      <a:r>
                        <a:rPr sz="800" b="0" i="0">
                          <a:solidFill>
                            <a:srgbClr val="16213A"/>
                          </a:solidFill>
                          <a:latin typeface="Arial"/>
                          <a:ea typeface="Malgun Gothic"/>
                          <a:cs typeface="Malgun Gothic"/>
                        </a:rPr>
                        <a:t> 0.7k, </a:t>
                      </a:r>
                      <a:r>
                        <a:rPr sz="800" b="0" i="0">
                          <a:solidFill>
                            <a:srgbClr val="1D4ED8"/>
                          </a:solidFill>
                          <a:latin typeface="Arial"/>
                          <a:ea typeface="Malgun Gothic"/>
                          <a:cs typeface="Malgun Gothic"/>
                          <a:hlinkClick r:id="rId7"/>
                        </a:rPr>
                        <a:t>iPlanner</a:t>
                      </a:r>
                      <a:r>
                        <a:rPr sz="800" b="0" i="0">
                          <a:solidFill>
                            <a:srgbClr val="16213A"/>
                          </a:solidFill>
                          <a:latin typeface="Arial"/>
                          <a:ea typeface="Malgun Gothic"/>
                          <a:cs typeface="Malgun Gothic"/>
                        </a:rPr>
                        <a:t> 0.4k</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OCS2, legged_control</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전신 MPC</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전환 시스템 최적 제어(SLQ, iLQR, SQP), NMPC + WBC</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ANYmal, Unitree</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BSD-3-Clause</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8"/>
                        </a:rPr>
                        <a:t>leggedrobotics/ocs2</a:t>
                      </a:r>
                      <a:r>
                        <a:rPr sz="800" b="0" i="0">
                          <a:solidFill>
                            <a:srgbClr val="16213A"/>
                          </a:solidFill>
                          <a:latin typeface="Arial"/>
                          <a:ea typeface="Malgun Gothic"/>
                          <a:cs typeface="Malgun Gothic"/>
                        </a:rPr>
                        <a:t> 1.5k, </a:t>
                      </a:r>
                      <a:r>
                        <a:rPr sz="800" b="0" i="0">
                          <a:solidFill>
                            <a:srgbClr val="1D4ED8"/>
                          </a:solidFill>
                          <a:latin typeface="Arial"/>
                          <a:ea typeface="Malgun Gothic"/>
                          <a:cs typeface="Malgun Gothic"/>
                          <a:hlinkClick r:id="rId9"/>
                        </a:rPr>
                        <a:t>legged_control</a:t>
                      </a:r>
                      <a:r>
                        <a:rPr sz="800" b="0" i="0">
                          <a:solidFill>
                            <a:srgbClr val="16213A"/>
                          </a:solidFill>
                          <a:latin typeface="Arial"/>
                          <a:ea typeface="Malgun Gothic"/>
                          <a:cs typeface="Malgun Gothic"/>
                        </a:rPr>
                        <a:t> 1.8k</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TOWR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궤적 최적화</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접촉 위상 길이까지 변수로 두고 걸음새와 궤적을 함께</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여러 다리 로봇</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BSD-3-Clause</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0"/>
                        </a:rPr>
                        <a:t>ethz-adrl/towr</a:t>
                      </a:r>
                      <a:r>
                        <a:rPr sz="800" b="0" i="0">
                          <a:solidFill>
                            <a:srgbClr val="16213A"/>
                          </a:solidFill>
                          <a:latin typeface="Arial"/>
                          <a:ea typeface="Malgun Gothic"/>
                          <a:cs typeface="Malgun Gothic"/>
                        </a:rPr>
                        <a:t> 1.1k</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CHAMP</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보행 제어 + 내비</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MIT Cheetah I 계층 제어기 + ROS 내비 스택</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여러 로봇 URDF(Anymal, Mini Cheetah, Spot 등)</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BSD-3-Clause</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1"/>
                        </a:rPr>
                        <a:t>chvmp/champ</a:t>
                      </a:r>
                      <a:r>
                        <a:rPr sz="800" b="0" i="0">
                          <a:solidFill>
                            <a:srgbClr val="16213A"/>
                          </a:solidFill>
                          <a:latin typeface="Arial"/>
                          <a:ea typeface="Malgun Gothic"/>
                          <a:cs typeface="Malgun Gothic"/>
                        </a:rPr>
                        <a:t> 2.3k</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legged_gym, walk-these-ways, parkour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RL 보행 정책</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대규모 병렬 RL, 여러 걸음새를 한 정책에, 비전 파쿠르</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ANYmal, Go1, A1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BSD-3 계열, MIT, MIT</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2"/>
                        </a:rPr>
                        <a:t>legged_gym</a:t>
                      </a:r>
                      <a:r>
                        <a:rPr sz="800" b="0" i="0">
                          <a:solidFill>
                            <a:srgbClr val="16213A"/>
                          </a:solidFill>
                          <a:latin typeface="Arial"/>
                          <a:ea typeface="Malgun Gothic"/>
                          <a:cs typeface="Malgun Gothic"/>
                        </a:rPr>
                        <a:t> 3.1k, </a:t>
                      </a:r>
                      <a:r>
                        <a:rPr sz="800" b="0" i="0">
                          <a:solidFill>
                            <a:srgbClr val="1D4ED8"/>
                          </a:solidFill>
                          <a:latin typeface="Arial"/>
                          <a:ea typeface="Malgun Gothic"/>
                          <a:cs typeface="Malgun Gothic"/>
                          <a:hlinkClick r:id="rId13"/>
                        </a:rPr>
                        <a:t>walk-these-ways</a:t>
                      </a:r>
                      <a:r>
                        <a:rPr sz="800" b="0" i="0">
                          <a:solidFill>
                            <a:srgbClr val="16213A"/>
                          </a:solidFill>
                          <a:latin typeface="Arial"/>
                          <a:ea typeface="Malgun Gothic"/>
                          <a:cs typeface="Malgun Gothic"/>
                        </a:rPr>
                        <a:t> 1.5k, </a:t>
                      </a:r>
                      <a:r>
                        <a:rPr sz="800" b="0" i="0">
                          <a:solidFill>
                            <a:srgbClr val="1D4ED8"/>
                          </a:solidFill>
                          <a:latin typeface="Arial"/>
                          <a:ea typeface="Malgun Gothic"/>
                          <a:cs typeface="Malgun Gothic"/>
                          <a:hlinkClick r:id="rId14"/>
                        </a:rPr>
                        <a:t>parkour</a:t>
                      </a:r>
                      <a:r>
                        <a:rPr sz="800" b="0" i="0">
                          <a:solidFill>
                            <a:srgbClr val="16213A"/>
                          </a:solidFill>
                          <a:latin typeface="Arial"/>
                          <a:ea typeface="Malgun Gothic"/>
                          <a:cs typeface="Malgun Gothic"/>
                        </a:rPr>
                        <a:t> 1.1k</a:t>
                      </a:r>
                    </a:p>
                  </a:txBody>
                  <a:tcPr marL="63500" marR="63500" marT="12700" marB="12700">
                    <a:solidFill>
                      <a:srgbClr val="FFFDF8"/>
                    </a:solidFill>
                  </a:tcPr>
                </a:tc>
              </a:tr>
            </a:tbl>
          </a:graphicData>
        </a:graphic>
      </p:graphicFrame>
      <p:sp>
        <p:nvSpPr>
          <p:cNvPr id="6" name="TextBox 5"/>
          <p:cNvSpPr txBox="1"/>
          <p:nvPr/>
        </p:nvSpPr>
        <p:spPr>
          <a:xfrm>
            <a:off x="609600" y="3915172"/>
            <a:ext cx="10972800" cy="108247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ArtPlanner — DARPA SubT 결승에서 한 번도 실패하지 않은 다리 로봇 Planner</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15"/>
              </a:rPr>
              <a:t>arXiv:2303.01420</a:t>
            </a:r>
            <a:r>
              <a:rPr sz="1050" b="0" i="0">
                <a:solidFill>
                  <a:srgbClr val="16213A"/>
                </a:solidFill>
                <a:latin typeface="Arial"/>
                <a:ea typeface="Malgun Gothic"/>
                <a:cs typeface="Malgun Gothic"/>
              </a:rPr>
              <a:t>, Field Robotics 2023, ETH RSL, </a:t>
            </a:r>
            <a:r>
              <a:rPr sz="1050" b="0" i="0">
                <a:solidFill>
                  <a:srgbClr val="1D4ED8"/>
                </a:solidFill>
                <a:latin typeface="Arial"/>
                <a:ea typeface="Malgun Gothic"/>
                <a:cs typeface="Malgun Gothic"/>
                <a:hlinkClick r:id="rId16"/>
              </a:rPr>
              <a:t>코드</a:t>
            </a:r>
            <a:r>
              <a:rPr sz="1050" b="0" i="0">
                <a:solidFill>
                  <a:srgbClr val="16213A"/>
                </a:solidFill>
                <a:latin typeface="Arial"/>
                <a:ea typeface="Malgun Gothic"/>
                <a:cs typeface="Malgun Gothic"/>
              </a:rPr>
              <a:t>, BSD-3-Clause). 다리 로봇은 장애물을 넘어설 수 있어서 "갈 수 있는 곳"을 바퀴 로봇처럼 정의할 수 없다. ArtPlanner는 몸통 부피가 어디에도 닿지 않고, 다리의 도달 부피가 발 디딜 만한 지면에 닿는 자세만 유효하다고 본다. 발 디딜 만한 곳은 사람이 라벨한 20개 샘플로 학습한 작은 CNN의 발판 점수로 정한다(벽은 제외). 그래프는 자세만 검사하며 게으르게 샘플링하고, 간선 비용은 시뮬레이션으로 학습한 신경망이 높이 지도 조각과 목표 상대 자세에서 예측한 이동 시간과 실패 확률로 매긴다. 실패 확률이 임계값을 넘는 간선을 지운 뒤 A*로 경로를 찾는다. 팀 CERBERUS의 DARPA SubT 결승 우승에서 ArtPlanner는 ANYmal 네 대를 합쳐 90분 동안 켜져 있었고, 그동안 계획·보행 실패가 없었다(B.14.3).</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B.12 로봇별 오픈소스 Planner: 자율주행 자동차, 사족보행, 휴머노이드, 바퀴 로봇</a:t>
            </a:r>
            <a:r>
              <a:rPr sz="1050" b="0" i="0">
                <a:solidFill>
                  <a:srgbClr val="5A6478"/>
                </a:solidFill>
                <a:latin typeface="Arial"/>
                <a:ea typeface="Malgun Gothic"/>
                <a:cs typeface="Malgun Gothic"/>
              </a:rPr>
              <a:t>  3/3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153 / 516</a:t>
            </a:r>
          </a:p>
        </p:txBody>
      </p:sp>
      <p:pic>
        <p:nvPicPr>
          <p:cNvPr id="5" name="Picture 4" descr="image.jpg"/>
          <p:cNvPicPr>
            <a:picLocks noChangeAspect="1"/>
          </p:cNvPicPr>
          <p:nvPr/>
        </p:nvPicPr>
        <p:blipFill>
          <a:blip r:embed="rId3"/>
          <a:stretch>
            <a:fillRect/>
          </a:stretch>
        </p:blipFill>
        <p:spPr>
          <a:xfrm>
            <a:off x="1905000" y="1244600"/>
            <a:ext cx="8382000" cy="4445000"/>
          </a:xfrm>
          <a:prstGeom prst="rect">
            <a:avLst/>
          </a:prstGeom>
        </p:spPr>
      </p:pic>
      <p:sp>
        <p:nvSpPr>
          <p:cNvPr id="6" name="TextBox 5"/>
          <p:cNvSpPr txBox="1"/>
          <p:nvPr/>
        </p:nvSpPr>
        <p:spPr>
          <a:xfrm>
            <a:off x="1905000" y="5727700"/>
            <a:ext cx="8382000" cy="142180"/>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ArtPlanner (Fig. 1): 동굴 통로를 걷는 ANYmal C 한 대다. 원문 캡션은 이 Planner가 결승 Prize Round의 한 시간 임무 동안 네 대를 모두 안전하게 안내했다고 적는다. 출처: arXiv:2303.01420</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B.12 로봇별 오픈소스 Planner: 자율주행 자동차, 사족보행, 휴머노이드, 바퀴 로봇</a:t>
            </a:r>
            <a:r>
              <a:rPr sz="1050" b="0" i="0">
                <a:solidFill>
                  <a:srgbClr val="5A6478"/>
                </a:solidFill>
                <a:latin typeface="Arial"/>
                <a:ea typeface="Malgun Gothic"/>
                <a:cs typeface="Malgun Gothic"/>
              </a:rPr>
              <a:t>  자세히: ArtPlanner의 자세 검증과 학습 이동 비용</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154 / 516</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자세 검증.</a:t>
            </a:r>
            <a:r>
              <a:rPr sz="1050" b="0" i="0">
                <a:solidFill>
                  <a:srgbClr val="16213A"/>
                </a:solidFill>
                <a:latin typeface="Arial"/>
                <a:ea typeface="Malgun Gothic"/>
                <a:cs typeface="Malgun Gothic"/>
              </a:rPr>
              <a:t> 로봇을 몸통 부피 </a:t>
            </a:r>
            <a:r>
              <a:rPr sz="1050" b="0" i="1">
                <a:solidFill>
                  <a:srgbClr val="16213A"/>
                </a:solidFill>
                <a:latin typeface="Arial"/>
                <a:ea typeface="Malgun Gothic"/>
                <a:cs typeface="Malgun Gothic"/>
              </a:rPr>
              <a:t>Bₜₒᵣₛₒ</a:t>
            </a:r>
            <a:r>
              <a:rPr sz="1050" b="0" i="0">
                <a:solidFill>
                  <a:srgbClr val="16213A"/>
                </a:solidFill>
                <a:latin typeface="Arial"/>
                <a:ea typeface="Malgun Gothic"/>
                <a:cs typeface="Malgun Gothic"/>
              </a:rPr>
              <a:t>와 다리 도달 부피 </a:t>
            </a:r>
            <a:r>
              <a:rPr sz="1050" b="0" i="1">
                <a:solidFill>
                  <a:srgbClr val="16213A"/>
                </a:solidFill>
                <a:latin typeface="Arial"/>
                <a:ea typeface="Malgun Gothic"/>
                <a:cs typeface="Malgun Gothic"/>
              </a:rPr>
              <a:t>B_(leg,j)</a:t>
            </a:r>
            <a:r>
              <a:rPr sz="1050" b="0" i="0">
                <a:solidFill>
                  <a:srgbClr val="16213A"/>
                </a:solidFill>
                <a:latin typeface="Arial"/>
                <a:ea typeface="Malgun Gothic"/>
                <a:cs typeface="Malgun Gothic"/>
              </a:rPr>
              <a:t>로 나눈다. 높이 지도 전체를 몸통 충돌 세계 </a:t>
            </a:r>
            <a:r>
              <a:rPr sz="1050" b="0" i="1">
                <a:solidFill>
                  <a:srgbClr val="16213A"/>
                </a:solidFill>
                <a:latin typeface="Arial"/>
                <a:ea typeface="Malgun Gothic"/>
                <a:cs typeface="Malgun Gothic"/>
              </a:rPr>
              <a:t>𝒲</a:t>
            </a:r>
            <a:r>
              <a:rPr sz="1050" b="0" i="0">
                <a:solidFill>
                  <a:srgbClr val="16213A"/>
                </a:solidFill>
                <a:latin typeface="Arial"/>
                <a:ea typeface="Malgun Gothic"/>
                <a:cs typeface="Malgun Gothic"/>
              </a:rPr>
              <a:t>로, 발판 점수가 낮은 곳을 뺀 것을 도달 세계 </a:t>
            </a:r>
            <a:r>
              <a:rPr sz="1050" b="0" i="1">
                <a:solidFill>
                  <a:srgbClr val="16213A"/>
                </a:solidFill>
                <a:latin typeface="Arial"/>
                <a:ea typeface="Malgun Gothic"/>
                <a:cs typeface="Malgun Gothic"/>
              </a:rPr>
              <a:t>𝒲_(foot)</a:t>
            </a:r>
            <a:r>
              <a:rPr sz="1050" b="0" i="0">
                <a:solidFill>
                  <a:srgbClr val="16213A"/>
                </a:solidFill>
                <a:latin typeface="Arial"/>
                <a:ea typeface="Malgun Gothic"/>
                <a:cs typeface="Malgun Gothic"/>
              </a:rPr>
              <a:t>로 둔다. 자세 </a:t>
            </a:r>
            <a:r>
              <a:rPr sz="1050" b="0" i="1">
                <a:solidFill>
                  <a:srgbClr val="16213A"/>
                </a:solidFill>
                <a:latin typeface="Arial"/>
                <a:ea typeface="Malgun Gothic"/>
                <a:cs typeface="Malgun Gothic"/>
              </a:rPr>
              <a:t>x</a:t>
            </a:r>
            <a:r>
              <a:rPr sz="1050" b="0" i="0">
                <a:solidFill>
                  <a:srgbClr val="16213A"/>
                </a:solidFill>
                <a:latin typeface="Arial"/>
                <a:ea typeface="Malgun Gothic"/>
                <a:cs typeface="Malgun Gothic"/>
              </a:rPr>
              <a:t>가 유효하려면 두 조건을 모두 만족해야 한다.</a:t>
            </a:r>
          </a:p>
        </p:txBody>
      </p:sp>
      <p:pic>
        <p:nvPicPr>
          <p:cNvPr id="6" name="Picture 5" descr="image.png"/>
          <p:cNvPicPr>
            <a:picLocks noChangeAspect="1"/>
          </p:cNvPicPr>
          <p:nvPr/>
        </p:nvPicPr>
        <p:blipFill>
          <a:blip r:embed="rId3"/>
          <a:stretch>
            <a:fillRect/>
          </a:stretch>
        </p:blipFill>
        <p:spPr>
          <a:xfrm>
            <a:off x="609600" y="1766491"/>
            <a:ext cx="3467100" cy="241300"/>
          </a:xfrm>
          <a:prstGeom prst="rect">
            <a:avLst/>
          </a:prstGeom>
        </p:spPr>
      </p:pic>
      <p:sp>
        <p:nvSpPr>
          <p:cNvPr id="7" name="TextBox 6"/>
          <p:cNvSpPr txBox="1"/>
          <p:nvPr/>
        </p:nvSpPr>
        <p:spPr>
          <a:xfrm>
            <a:off x="609600" y="2044005"/>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학습 이동 비용.</a:t>
            </a:r>
            <a:r>
              <a:rPr sz="1050" b="0" i="0">
                <a:solidFill>
                  <a:srgbClr val="16213A"/>
                </a:solidFill>
                <a:latin typeface="Arial"/>
                <a:ea typeface="Malgun Gothic"/>
                <a:cs typeface="Malgun Gothic"/>
              </a:rPr>
              <a:t> 신경망이 높이 지도 조각, 현재 방향, 목표의 상대 2D 자세에서 이동 시간 </a:t>
            </a:r>
            <a:r>
              <a:rPr sz="1050" b="0" i="1">
                <a:solidFill>
                  <a:srgbClr val="16213A"/>
                </a:solidFill>
                <a:latin typeface="Arial"/>
                <a:ea typeface="Malgun Gothic"/>
                <a:cs typeface="Malgun Gothic"/>
              </a:rPr>
              <a:t>cₜ</a:t>
            </a:r>
            <a:r>
              <a:rPr sz="1050" b="0" i="0">
                <a:solidFill>
                  <a:srgbClr val="16213A"/>
                </a:solidFill>
                <a:latin typeface="Arial"/>
                <a:ea typeface="Malgun Gothic"/>
                <a:cs typeface="Malgun Gothic"/>
              </a:rPr>
              <a:t>, 에너지 </a:t>
            </a:r>
            <a:r>
              <a:rPr sz="1050" b="0" i="1">
                <a:solidFill>
                  <a:srgbClr val="16213A"/>
                </a:solidFill>
                <a:latin typeface="Arial"/>
                <a:ea typeface="Malgun Gothic"/>
                <a:cs typeface="Malgun Gothic"/>
              </a:rPr>
              <a:t>cₑ</a:t>
            </a:r>
            <a:r>
              <a:rPr sz="1050" b="0" i="0">
                <a:solidFill>
                  <a:srgbClr val="16213A"/>
                </a:solidFill>
                <a:latin typeface="Arial"/>
                <a:ea typeface="Malgun Gothic"/>
                <a:cs typeface="Malgun Gothic"/>
              </a:rPr>
              <a:t>, 실패 확률 </a:t>
            </a:r>
            <a:r>
              <a:rPr sz="1050" b="0" i="1">
                <a:solidFill>
                  <a:srgbClr val="16213A"/>
                </a:solidFill>
                <a:latin typeface="Arial"/>
                <a:ea typeface="Malgun Gothic"/>
                <a:cs typeface="Malgun Gothic"/>
              </a:rPr>
              <a:t>cᵣ</a:t>
            </a:r>
            <a:r>
              <a:rPr sz="1050" b="0" i="0">
                <a:solidFill>
                  <a:srgbClr val="16213A"/>
                </a:solidFill>
                <a:latin typeface="Arial"/>
                <a:ea typeface="Malgun Gothic"/>
                <a:cs typeface="Malgun Gothic"/>
              </a:rPr>
              <a:t>을 예측한다. 간선 비용은 가중합이고, 결승에서는 실패를 가장 크게 벌했다(</a:t>
            </a:r>
            <a:r>
              <a:rPr sz="1050" b="0" i="1">
                <a:solidFill>
                  <a:srgbClr val="16213A"/>
                </a:solidFill>
                <a:latin typeface="Arial"/>
                <a:ea typeface="Malgun Gothic"/>
                <a:cs typeface="Malgun Gothic"/>
              </a:rPr>
              <a:t>wₜ = 1</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wₑ = 0</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wᵣ = 5</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cᵣ</a:t>
            </a:r>
            <a:r>
              <a:rPr sz="1050" b="0" i="0">
                <a:solidFill>
                  <a:srgbClr val="16213A"/>
                </a:solidFill>
                <a:latin typeface="Arial"/>
                <a:ea typeface="Malgun Gothic"/>
                <a:cs typeface="Malgun Gothic"/>
              </a:rPr>
              <a:t>이 임계값을 넘는 간선은 그래프에서 지운다.</a:t>
            </a:r>
          </a:p>
        </p:txBody>
      </p:sp>
      <p:pic>
        <p:nvPicPr>
          <p:cNvPr id="8" name="Picture 7" descr="image.png"/>
          <p:cNvPicPr>
            <a:picLocks noChangeAspect="1"/>
          </p:cNvPicPr>
          <p:nvPr/>
        </p:nvPicPr>
        <p:blipFill>
          <a:blip r:embed="rId4"/>
          <a:stretch>
            <a:fillRect/>
          </a:stretch>
        </p:blipFill>
        <p:spPr>
          <a:xfrm>
            <a:off x="609600" y="2565896"/>
            <a:ext cx="1762125" cy="241300"/>
          </a:xfrm>
          <a:prstGeom prst="rect">
            <a:avLst/>
          </a:prstGeom>
        </p:spPr>
      </p:pic>
      <p:sp>
        <p:nvSpPr>
          <p:cNvPr id="9" name="TextBox 8"/>
          <p:cNvSpPr txBox="1"/>
          <p:nvPr/>
        </p:nvSpPr>
        <p:spPr>
          <a:xfrm>
            <a:off x="609600" y="284341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것.</a:t>
            </a:r>
            <a:r>
              <a:rPr sz="1050" b="0" i="0">
                <a:solidFill>
                  <a:srgbClr val="16213A"/>
                </a:solidFill>
                <a:latin typeface="Arial"/>
                <a:ea typeface="Malgun Gothic"/>
                <a:cs typeface="Malgun Gothic"/>
              </a:rPr>
              <a:t> 이동 비용을 "시뮬레이션에서 여러 번 굴려 본 시간과 실패 확률"로 학습하는 것은 TravNet 자기지도 라벨(TP-0010)과 같은 발상이다. 차이는 칸 하나가 아니라 두 자세 사이의 이동을 라벨로 삼는다는 것이다. 실패 확률로 간선을 지우는 규칙은 travplan의 치명 셀과 같고, 시간과 위험을 따로 예측해 가중합하는 방식은 TravMap의 cost와 σ를 합치는 방식에 참고가 된다.</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B.12 로봇별 오픈소스 Planner: 자율주행 자동차, 사족보행, 휴머노이드, 바퀴 로봇</a:t>
            </a:r>
            <a:r>
              <a:rPr sz="1050" b="0" i="0">
                <a:solidFill>
                  <a:srgbClr val="5A6478"/>
                </a:solidFill>
                <a:latin typeface="Arial"/>
                <a:ea typeface="Malgun Gothic"/>
                <a:cs typeface="Malgun Gothic"/>
              </a:rPr>
              <a:t>  1/5</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155 / 516</a:t>
            </a:r>
          </a:p>
        </p:txBody>
      </p:sp>
      <p:sp>
        <p:nvSpPr>
          <p:cNvPr id="5" name="TextBox 4"/>
          <p:cNvSpPr txBox="1"/>
          <p:nvPr/>
        </p:nvSpPr>
        <p:spPr>
          <a:xfrm>
            <a:off x="609600" y="1244600"/>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CMU 탐사·내비 스택 — FAR, TARE, 개발 환경, Go2 스택</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FAR arXiv:2110.09460</a:t>
            </a:r>
            <a:r>
              <a:rPr sz="1050" b="0" i="0">
                <a:solidFill>
                  <a:srgbClr val="16213A"/>
                </a:solidFill>
                <a:latin typeface="Arial"/>
                <a:ea typeface="Malgun Gothic"/>
                <a:cs typeface="Malgun Gothic"/>
              </a:rPr>
              <a:t>, IROS 2022; </a:t>
            </a:r>
            <a:r>
              <a:rPr sz="1050" b="0" i="0">
                <a:solidFill>
                  <a:srgbClr val="1D4ED8"/>
                </a:solidFill>
                <a:latin typeface="Arial"/>
                <a:ea typeface="Malgun Gothic"/>
                <a:cs typeface="Malgun Gothic"/>
                <a:hlinkClick r:id="rId4"/>
              </a:rPr>
              <a:t>TARE</a:t>
            </a:r>
            <a:r>
              <a:rPr sz="1050" b="0" i="0">
                <a:solidFill>
                  <a:srgbClr val="16213A"/>
                </a:solidFill>
                <a:latin typeface="Arial"/>
                <a:ea typeface="Malgun Gothic"/>
                <a:cs typeface="Malgun Gothic"/>
              </a:rPr>
              <a:t>, RSS 2021; </a:t>
            </a:r>
            <a:r>
              <a:rPr sz="1050" b="0" i="0">
                <a:solidFill>
                  <a:srgbClr val="1D4ED8"/>
                </a:solidFill>
                <a:latin typeface="Arial"/>
                <a:ea typeface="Malgun Gothic"/>
                <a:cs typeface="Malgun Gothic"/>
                <a:hlinkClick r:id="rId5"/>
              </a:rPr>
              <a:t>개발 환경 arXiv:2110.14573</a:t>
            </a:r>
            <a:r>
              <a:rPr sz="1050" b="0" i="0">
                <a:solidFill>
                  <a:srgbClr val="16213A"/>
                </a:solidFill>
                <a:latin typeface="Arial"/>
                <a:ea typeface="Malgun Gothic"/>
                <a:cs typeface="Malgun Gothic"/>
              </a:rPr>
              <a:t>, ICRA 2022, CMU, </a:t>
            </a:r>
            <a:r>
              <a:rPr sz="1050" b="0" i="0">
                <a:solidFill>
                  <a:srgbClr val="1D4ED8"/>
                </a:solidFill>
                <a:latin typeface="Arial"/>
                <a:ea typeface="Malgun Gothic"/>
                <a:cs typeface="Malgun Gothic"/>
                <a:hlinkClick r:id="rId6"/>
              </a:rPr>
              <a:t>사이트</a:t>
            </a:r>
            <a:r>
              <a:rPr sz="1050" b="0" i="0">
                <a:solidFill>
                  <a:srgbClr val="16213A"/>
                </a:solidFill>
                <a:latin typeface="Arial"/>
                <a:ea typeface="Malgun Gothic"/>
                <a:cs typeface="Malgun Gothic"/>
              </a:rPr>
              <a:t>). 세 층으로 나뉜다. 아래 층은 상태 추정과 운동 제어이고, 가운데 층(개발 환경)은 지형 traversability 분석, 충돌 회피 로컬 Planner, waypoint 추종이며, 위 층이 FAR(경로)와 TARE(탐사)다. FAR는 장애물 가장자리 점으로 다각형을 만들어 가시성 그래프를 동적으로 갱신하고, 새로 보인 장애물에 가려진 간선은 지운다. 미지 환경에서 A*와 D* Lite보다 이동 시간을 12–47%, RRT*, BIT*, SPARS보다 24–35% 줄였다. CMU-OSU 팀이 DARPA SubT에 쓴 스택이고, 같은 구성을 Unitree Go2로 옮긴 </a:t>
            </a:r>
            <a:r>
              <a:rPr sz="1050" b="0" i="0">
                <a:solidFill>
                  <a:srgbClr val="1D4ED8"/>
                </a:solidFill>
                <a:latin typeface="Arial"/>
                <a:ea typeface="Malgun Gothic"/>
                <a:cs typeface="Malgun Gothic"/>
                <a:hlinkClick r:id="rId7"/>
              </a:rPr>
              <a:t>autonomy_stack_go2</a:t>
            </a:r>
            <a:r>
              <a:rPr sz="1050" b="0" i="0">
                <a:solidFill>
                  <a:srgbClr val="16213A"/>
                </a:solidFill>
                <a:latin typeface="Arial"/>
                <a:ea typeface="Malgun Gothic"/>
                <a:cs typeface="Malgun Gothic"/>
              </a:rPr>
              <a:t>가 있다. 원래 플랫폼은 바퀴 차량이다.</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B.12 로봇별 오픈소스 Planner: 자율주행 자동차, 사족보행, 휴머노이드, 바퀴 로봇</a:t>
            </a:r>
            <a:r>
              <a:rPr sz="1050" b="0" i="0">
                <a:solidFill>
                  <a:srgbClr val="5A6478"/>
                </a:solidFill>
                <a:latin typeface="Arial"/>
                <a:ea typeface="Malgun Gothic"/>
                <a:cs typeface="Malgun Gothic"/>
              </a:rPr>
              <a:t>  2/5</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156 / 516</a:t>
            </a:r>
          </a:p>
        </p:txBody>
      </p:sp>
      <p:pic>
        <p:nvPicPr>
          <p:cNvPr id="5" name="Picture 4" descr="image.jpg"/>
          <p:cNvPicPr>
            <a:picLocks noChangeAspect="1"/>
          </p:cNvPicPr>
          <p:nvPr/>
        </p:nvPicPr>
        <p:blipFill>
          <a:blip r:embed="rId3"/>
          <a:stretch>
            <a:fillRect/>
          </a:stretch>
        </p:blipFill>
        <p:spPr>
          <a:xfrm>
            <a:off x="1016000" y="1244600"/>
            <a:ext cx="10160000" cy="4406900"/>
          </a:xfrm>
          <a:prstGeom prst="rect">
            <a:avLst/>
          </a:prstGeom>
        </p:spPr>
      </p:pic>
      <p:sp>
        <p:nvSpPr>
          <p:cNvPr id="6" name="TextBox 5"/>
          <p:cNvSpPr txBox="1"/>
          <p:nvPr/>
        </p:nvSpPr>
        <p:spPr>
          <a:xfrm>
            <a:off x="1016000" y="5689600"/>
            <a:ext cx="10160000" cy="142180"/>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CMU 탐사 개발 환경 (Fig. 1): 저장소들이 세 층 내비 시스템의 가운데 층과 위 층을 이룬다. 아래 층(상태 추정, 운동 제어)에 연결하면 실물에서, 환경 모델과 함께 쓰면 시뮬레이션에서 돈다. 출처: arXiv:2110.14573</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B.12 로봇별 오픈소스 Planner: 자율주행 자동차, 사족보행, 휴머노이드, 바퀴 로봇</a:t>
            </a:r>
            <a:r>
              <a:rPr sz="1050" b="0" i="0">
                <a:solidFill>
                  <a:srgbClr val="5A6478"/>
                </a:solidFill>
                <a:latin typeface="Arial"/>
                <a:ea typeface="Malgun Gothic"/>
                <a:cs typeface="Malgun Gothic"/>
              </a:rPr>
              <a:t>  3/5</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157 / 516</a:t>
            </a:r>
          </a:p>
        </p:txBody>
      </p:sp>
      <p:sp>
        <p:nvSpPr>
          <p:cNvPr id="5" name="TextBox 4"/>
          <p:cNvSpPr txBox="1"/>
          <p:nvPr/>
        </p:nvSpPr>
        <p:spPr>
          <a:xfrm>
            <a:off x="609600" y="1244600"/>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모델 기반 보행 계획 — OCS2, legged_control, TOWR, CHAMP</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OCS2</a:t>
            </a:r>
            <a:r>
              <a:rPr sz="1050" b="0" i="0">
                <a:solidFill>
                  <a:srgbClr val="16213A"/>
                </a:solidFill>
                <a:latin typeface="Arial"/>
                <a:ea typeface="Malgun Gothic"/>
                <a:cs typeface="Malgun Gothic"/>
              </a:rPr>
              <a:t>, BSD-3-Clause, ROS 2 가지 있음; </a:t>
            </a:r>
            <a:r>
              <a:rPr sz="1050" b="0" i="0">
                <a:solidFill>
                  <a:srgbClr val="1D4ED8"/>
                </a:solidFill>
                <a:latin typeface="Arial"/>
                <a:ea typeface="Malgun Gothic"/>
                <a:cs typeface="Malgun Gothic"/>
                <a:hlinkClick r:id="rId4"/>
              </a:rPr>
              <a:t>TOWR</a:t>
            </a:r>
            <a:r>
              <a:rPr sz="1050" b="0" i="0">
                <a:solidFill>
                  <a:srgbClr val="16213A"/>
                </a:solidFill>
                <a:latin typeface="Arial"/>
                <a:ea typeface="Malgun Gothic"/>
                <a:cs typeface="Malgun Gothic"/>
              </a:rPr>
              <a:t>, RA-L 2018). OCS2는 접촉 순서가 바뀌는 전환 시스템의 최적 제어 도구로, 연속 시간 DDP(SLQ), iLQR, 다중 사격 SQP, 내부점법 풀이기를 갖췄고 다리 로봇을 포함한 실시간 MPC 예제를 제공한다. legged_control은 OCS2 위에 NMPC, 전신 제어(WBC), 상태 추정을 묶어 Unitree A1에 올렸다(지금은 유지보수가 끝났다). TOWR는 발의 움직임과 힘을 구간 다항식으로, 접촉 위상의 길이까지 최적화 변수로 두어 걸음새와 궤적을 한 번에 푼다. CHAMP는 MIT Cheetah I의 계층 제어기를 구현하고 ROS 내비 스택과 연결해, 여러 저가 사족 로봇에서 자율 내비를 돌린다.</a:t>
            </a:r>
          </a:p>
        </p:txBody>
      </p:sp>
      <p:sp>
        <p:nvSpPr>
          <p:cNvPr id="6" name="TextBox 5"/>
          <p:cNvSpPr txBox="1"/>
          <p:nvPr/>
        </p:nvSpPr>
        <p:spPr>
          <a:xfrm>
            <a:off x="609600" y="2199481"/>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RL 보행 정책 — legged_gym, walk-these-ways, parkour</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5"/>
              </a:rPr>
              <a:t>legged_gym arXiv:2109.11978</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6"/>
              </a:rPr>
              <a:t>walk-these-ways arXiv:2212.03238</a:t>
            </a:r>
            <a:r>
              <a:rPr sz="1050" b="0" i="0">
                <a:solidFill>
                  <a:srgbClr val="16213A"/>
                </a:solidFill>
                <a:latin typeface="Arial"/>
                <a:ea typeface="Malgun Gothic"/>
                <a:cs typeface="Malgun Gothic"/>
              </a:rPr>
              <a:t>, CoRL 2022; </a:t>
            </a:r>
            <a:r>
              <a:rPr sz="1050" b="0" i="0">
                <a:solidFill>
                  <a:srgbClr val="1D4ED8"/>
                </a:solidFill>
                <a:latin typeface="Arial"/>
                <a:ea typeface="Malgun Gothic"/>
                <a:cs typeface="Malgun Gothic"/>
                <a:hlinkClick r:id="rId7"/>
              </a:rPr>
              <a:t>parkour arXiv:2309.05665</a:t>
            </a:r>
            <a:r>
              <a:rPr sz="1050" b="0" i="0">
                <a:solidFill>
                  <a:srgbClr val="16213A"/>
                </a:solidFill>
                <a:latin typeface="Arial"/>
                <a:ea typeface="Malgun Gothic"/>
                <a:cs typeface="Malgun Gothic"/>
              </a:rPr>
              <a:t>, CoRL 2023). 경로 Planner 아래의 보행 층은 이제 대부분 RL 정책이다. legged_gym은 GPU 병렬 시뮬레이션으로 몇 분 만에 보행을 학습하는 틀이고, walk-these-ways는 걸음새, 발 높이, 자세, 속도를 명령으로 바꿀 수 있는 한 정책을, parkour는 깊이 카메라로 높은 장애물 오르기, 틈 뛰어넘기, 낮은 장벽 밑 기기를 고르는 한 정책을 공개했다. 인식 기반 보행과 계층형 내비의 자세한 비교는 인식 문서 A.7.1에 있다.</a:t>
            </a:r>
          </a:p>
        </p:txBody>
      </p:sp>
      <p:sp>
        <p:nvSpPr>
          <p:cNvPr id="7" name="TextBox 6"/>
          <p:cNvSpPr txBox="1"/>
          <p:nvPr/>
        </p:nvSpPr>
        <p:spPr>
          <a:xfrm>
            <a:off x="609600" y="3154362"/>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다리 로봇 Planner는 비용 지도가 아니라 "자세가 유효한가"와 "이동이 실패할 확률"로 경로를 고른다.</a:t>
            </a:r>
            <a:r>
              <a:rPr sz="1050" b="0" i="0">
                <a:solidFill>
                  <a:srgbClr val="16213A"/>
                </a:solidFill>
                <a:latin typeface="Arial"/>
                <a:ea typeface="Malgun Gothic"/>
                <a:cs typeface="Malgun Gothic"/>
              </a:rPr>
              <a:t> travplan은 바퀴 로봇이지만 2.5D 지형을 다룬다는 점에서 이 계열과 가장 가깝다. ArtPlanner의 학습 이동 비용은 TravNet 라벨 설계의 참고가 되고, CMU 스택의 세 층 구성(지형 분석과 로컬 Planner, 그 위의 경로와 탐사)은 travplan이 "센서 범위 밖 미관측 영역 탐색"이라는 알려진 한계를 풀 때 쓸 수 있는 공개 구현이다.</a:t>
            </a:r>
          </a:p>
        </p:txBody>
      </p:sp>
      <p:sp>
        <p:nvSpPr>
          <p:cNvPr id="8" name="TextBox 7"/>
          <p:cNvSpPr txBox="1"/>
          <p:nvPr/>
        </p:nvSpPr>
        <p:spPr>
          <a:xfrm>
            <a:off x="717550" y="3892748"/>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B.12.3 휴머노이드: 발자국 계획에서 학습 전신 정책으로</a:t>
            </a:r>
          </a:p>
        </p:txBody>
      </p:sp>
      <p:sp>
        <p:nvSpPr>
          <p:cNvPr id="9" name="TextBox 8"/>
          <p:cNvSpPr txBox="1"/>
          <p:nvPr/>
        </p:nvSpPr>
        <p:spPr>
          <a:xfrm>
            <a:off x="609600" y="4195961"/>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휴머노이드 Planner는 오래 "발자국 계획 + 전신 최적 제어"였고, 2024년 이후 "학습 내비 정책 + RL 전신 정책"으로 빠르게 옮겨 가고 있다.</a:t>
            </a:r>
            <a:r>
              <a:rPr sz="1050" b="0" i="0">
                <a:solidFill>
                  <a:srgbClr val="16213A"/>
                </a:solidFill>
                <a:latin typeface="Arial"/>
                <a:ea typeface="Malgun Gothic"/>
                <a:cs typeface="Malgun Gothic"/>
              </a:rPr>
              <a:t> 발자국 그래프 탐색(humanoid_navigation, IHMC, AIST)과 다접촉 최적 제어(Crocoddyl, TSID, HPP)는 검증된 도구다. 새 연구(Gallant, Click-and-Traverse, HEAD)는 인식에서 전신 동작까지를 학습 정책으로 잇는다. 실외 장거리 내비를 검증한 공개 휴머노이드 스택은 아직 드물다.</a:t>
            </a:r>
          </a:p>
        </p:txBody>
      </p:sp>
      <p:graphicFrame>
        <p:nvGraphicFramePr>
          <p:cNvPr id="10" name="Table 9"/>
          <p:cNvGraphicFramePr>
            <a:graphicFrameLocks noGrp="1"/>
          </p:cNvGraphicFramePr>
          <p:nvPr/>
        </p:nvGraphicFramePr>
        <p:xfrm>
          <a:off x="609600" y="4934347"/>
          <a:ext cx="10966449" cy="909240"/>
        </p:xfrm>
        <a:graphic>
          <a:graphicData uri="http://schemas.openxmlformats.org/drawingml/2006/table">
            <a:tbl>
              <a:tblPr firstRow="1" bandRow="1">
                <a:tableStyleId>{5C22544A-7EE6-4342-B048-85BDC9FD1C3A}</a:tableStyleId>
              </a:tblPr>
              <a:tblGrid>
                <a:gridCol w="2087860"/>
                <a:gridCol w="1132780"/>
                <a:gridCol w="2970510"/>
                <a:gridCol w="2076450"/>
                <a:gridCol w="2698849"/>
              </a:tblGrid>
              <a:tr h="197088">
                <a:tc>
                  <a:txBody>
                    <a:bodyPr wrap="square"/>
                    <a:lstStyle/>
                    <a:p>
                      <a:r>
                        <a:rPr sz="800" b="1" i="0">
                          <a:solidFill>
                            <a:srgbClr val="F4F1EA"/>
                          </a:solidFill>
                          <a:latin typeface="Arial"/>
                          <a:ea typeface="Malgun Gothic"/>
                          <a:cs typeface="Malgun Gothic"/>
                        </a:rPr>
                        <a:t>이름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층</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방식</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라이선스</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코드(★)</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humanoid_navigation</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발자국 계획</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이산 발자국 집합 위의 anytime 탐색(Humanoids 2012)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표기 없음(ROS 1)</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8"/>
                        </a:rPr>
                        <a:t>ahornung/humanoid_navigation</a:t>
                      </a:r>
                      <a:r>
                        <a:rPr sz="800" b="0" i="0">
                          <a:solidFill>
                            <a:srgbClr val="16213A"/>
                          </a:solidFill>
                          <a:latin typeface="Arial"/>
                          <a:ea typeface="Malgun Gothic"/>
                          <a:cs typeface="Malgun Gothic"/>
                        </a:rPr>
                        <a:t> 46</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IHMC Open Robotics Software</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발자국 계획 + 전신 제어</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평면 영역에 발자국을 맞추는 A*, 운동량 기반 전신 제어(Atlas, Valkyrie, Nadia)</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Apache-2.0</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9"/>
                        </a:rPr>
                        <a:t>ihmcrobotics/ihmc-open-robotics-software</a:t>
                      </a:r>
                      <a:r>
                        <a:rPr sz="800" b="0" i="0">
                          <a:solidFill>
                            <a:srgbClr val="16213A"/>
                          </a:solidFill>
                          <a:latin typeface="Arial"/>
                          <a:ea typeface="Malgun Gothic"/>
                          <a:cs typeface="Malgun Gothic"/>
                        </a:rPr>
                        <a:t> 0.3k</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BaselineFootstepPlanner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발자국 계획</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그래프 탐색 기준선(AIST)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BSD-2-Clause</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0"/>
                        </a:rPr>
                        <a:t>isri-aist/BaselineFootstepPlanner</a:t>
                      </a:r>
                      <a:r>
                        <a:rPr sz="800" b="0" i="0">
                          <a:solidFill>
                            <a:srgbClr val="16213A"/>
                          </a:solidFill>
                          <a:latin typeface="Arial"/>
                          <a:ea typeface="Malgun Gothic"/>
                          <a:cs typeface="Malgun Gothic"/>
                        </a:rPr>
                        <a:t> 27</a:t>
                      </a:r>
                    </a:p>
                  </a:txBody>
                  <a:tcPr marL="63500" marR="63500" marT="12700" marB="12700">
                    <a:solidFill>
                      <a:srgbClr val="FFFDF8"/>
                    </a:solidFill>
                  </a:tcPr>
                </a:tc>
              </a:tr>
            </a:tbl>
          </a:graphicData>
        </a:graphic>
      </p:graphicFrame>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B.12 로봇별 오픈소스 Planner: 자율주행 자동차, 사족보행, 휴머노이드, 바퀴 로봇</a:t>
            </a:r>
            <a:r>
              <a:rPr sz="1050" b="0" i="0">
                <a:solidFill>
                  <a:srgbClr val="5A6478"/>
                </a:solidFill>
                <a:latin typeface="Arial"/>
                <a:ea typeface="Malgun Gothic"/>
                <a:cs typeface="Malgun Gothic"/>
              </a:rPr>
              <a:t>  4/5</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158 / 516</a:t>
            </a:r>
          </a:p>
        </p:txBody>
      </p:sp>
      <p:graphicFrame>
        <p:nvGraphicFramePr>
          <p:cNvPr id="5" name="Table 4"/>
          <p:cNvGraphicFramePr>
            <a:graphicFrameLocks noGrp="1"/>
          </p:cNvGraphicFramePr>
          <p:nvPr/>
        </p:nvGraphicFramePr>
        <p:xfrm>
          <a:off x="609600" y="1244600"/>
          <a:ext cx="10966449" cy="3045696"/>
        </p:xfrm>
        <a:graphic>
          <a:graphicData uri="http://schemas.openxmlformats.org/drawingml/2006/table">
            <a:tbl>
              <a:tblPr firstRow="1" bandRow="1">
                <a:tableStyleId>{5C22544A-7EE6-4342-B048-85BDC9FD1C3A}</a:tableStyleId>
              </a:tblPr>
              <a:tblGrid>
                <a:gridCol w="2087860"/>
                <a:gridCol w="1132780"/>
                <a:gridCol w="2970510"/>
                <a:gridCol w="2076450"/>
                <a:gridCol w="2698849"/>
              </a:tblGrid>
              <a:tr h="197088">
                <a:tc>
                  <a:txBody>
                    <a:bodyPr wrap="square"/>
                    <a:lstStyle/>
                    <a:p>
                      <a:r>
                        <a:rPr sz="800" b="1" i="0">
                          <a:solidFill>
                            <a:srgbClr val="F4F1EA"/>
                          </a:solidFill>
                          <a:latin typeface="Arial"/>
                          <a:ea typeface="Malgun Gothic"/>
                          <a:cs typeface="Malgun Gothic"/>
                        </a:rPr>
                        <a:t>이름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층</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방식</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라이선스</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코드(★)</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HPP</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경로 계획</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제약 있는 운동 계획(LAAS)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BSD-2-Clause</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3"/>
                        </a:rPr>
                        <a:t>humanoid-path-planner/hpp-core</a:t>
                      </a:r>
                      <a:r>
                        <a:rPr sz="800" b="0" i="0">
                          <a:solidFill>
                            <a:srgbClr val="16213A"/>
                          </a:solidFill>
                          <a:latin typeface="Arial"/>
                          <a:ea typeface="Malgun Gothic"/>
                          <a:cs typeface="Malgun Gothic"/>
                        </a:rPr>
                        <a:t> 49</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Crocoddyl</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다접촉 최적 제어</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실행 가능성 중심 DDP(FDDP)</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BSD-3-Clause</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4"/>
                        </a:rPr>
                        <a:t>loco-3d/crocoddyl</a:t>
                      </a:r>
                      <a:r>
                        <a:rPr sz="800" b="0" i="0">
                          <a:solidFill>
                            <a:srgbClr val="16213A"/>
                          </a:solidFill>
                          <a:latin typeface="Arial"/>
                          <a:ea typeface="Malgun Gothic"/>
                          <a:cs typeface="Malgun Gothic"/>
                        </a:rPr>
                        <a:t> 1.3k</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Pinocchio, TSID, Aligator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동역학, 역동역학, 궤적 최적화</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강체 동역학과 미분, 작업 공간 역동역학, 제약 궤적 최적화</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BSD-2-Clause</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5"/>
                        </a:rPr>
                        <a:t>pinocchio</a:t>
                      </a:r>
                      <a:r>
                        <a:rPr sz="800" b="0" i="0">
                          <a:solidFill>
                            <a:srgbClr val="16213A"/>
                          </a:solidFill>
                          <a:latin typeface="Arial"/>
                          <a:ea typeface="Malgun Gothic"/>
                          <a:cs typeface="Malgun Gothic"/>
                        </a:rPr>
                        <a:t> 3.8k, </a:t>
                      </a:r>
                      <a:r>
                        <a:rPr sz="800" b="0" i="0">
                          <a:solidFill>
                            <a:srgbClr val="1D4ED8"/>
                          </a:solidFill>
                          <a:latin typeface="Arial"/>
                          <a:ea typeface="Malgun Gothic"/>
                          <a:cs typeface="Malgun Gothic"/>
                          <a:hlinkClick r:id="rId6"/>
                        </a:rPr>
                        <a:t>tsid</a:t>
                      </a:r>
                      <a:r>
                        <a:rPr sz="800" b="0" i="0">
                          <a:solidFill>
                            <a:srgbClr val="16213A"/>
                          </a:solidFill>
                          <a:latin typeface="Arial"/>
                          <a:ea typeface="Malgun Gothic"/>
                          <a:cs typeface="Malgun Gothic"/>
                        </a:rPr>
                        <a:t> 0.3k, </a:t>
                      </a:r>
                      <a:r>
                        <a:rPr sz="800" b="0" i="0">
                          <a:solidFill>
                            <a:srgbClr val="1D4ED8"/>
                          </a:solidFill>
                          <a:latin typeface="Arial"/>
                          <a:ea typeface="Malgun Gothic"/>
                          <a:cs typeface="Malgun Gothic"/>
                          <a:hlinkClick r:id="rId7"/>
                        </a:rPr>
                        <a:t>aligator</a:t>
                      </a:r>
                      <a:r>
                        <a:rPr sz="800" b="0" i="0">
                          <a:solidFill>
                            <a:srgbClr val="16213A"/>
                          </a:solidFill>
                          <a:latin typeface="Arial"/>
                          <a:ea typeface="Malgun Gothic"/>
                          <a:cs typeface="Malgun Gothic"/>
                        </a:rPr>
                        <a:t> 0.3k</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MuJoCo MPC</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예측 제어</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iLQG, 경사 하강, Predictive Sampling</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Apache-2.0</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8"/>
                        </a:rPr>
                        <a:t>google-deepmind/mujoco_mpc</a:t>
                      </a:r>
                      <a:r>
                        <a:rPr sz="800" b="0" i="0">
                          <a:solidFill>
                            <a:srgbClr val="16213A"/>
                          </a:solidFill>
                          <a:latin typeface="Arial"/>
                          <a:ea typeface="Malgun Gothic"/>
                          <a:cs typeface="Malgun Gothic"/>
                        </a:rPr>
                        <a:t> 1.7k</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Drake</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최적화·검증</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수리 계획, 다물체 동역학</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BSD-3-Clause</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9"/>
                        </a:rPr>
                        <a:t>RobotLocomotion/drake</a:t>
                      </a:r>
                      <a:r>
                        <a:rPr sz="800" b="0" i="0">
                          <a:solidFill>
                            <a:srgbClr val="16213A"/>
                          </a:solidFill>
                          <a:latin typeface="Arial"/>
                          <a:ea typeface="Malgun Gothic"/>
                          <a:cs typeface="Malgun Gothic"/>
                        </a:rPr>
                        <a:t> 4.2k</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unitree_rl_gym, humanoid-gym, booster_gym</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RL 보행 정책</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Isaac Gym 병렬 RL, MuJoCo sim-to-sim 검증</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BSD-3-Clause, 표기 없음, Apache-2.0</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0"/>
                        </a:rPr>
                        <a:t>unitree_rl_gym</a:t>
                      </a:r>
                      <a:r>
                        <a:rPr sz="800" b="0" i="0">
                          <a:solidFill>
                            <a:srgbClr val="16213A"/>
                          </a:solidFill>
                          <a:latin typeface="Arial"/>
                          <a:ea typeface="Malgun Gothic"/>
                          <a:cs typeface="Malgun Gothic"/>
                        </a:rPr>
                        <a:t> 3.6k, </a:t>
                      </a:r>
                      <a:r>
                        <a:rPr sz="800" b="0" i="0">
                          <a:solidFill>
                            <a:srgbClr val="1D4ED8"/>
                          </a:solidFill>
                          <a:latin typeface="Arial"/>
                          <a:ea typeface="Malgun Gothic"/>
                          <a:cs typeface="Malgun Gothic"/>
                          <a:hlinkClick r:id="rId11"/>
                        </a:rPr>
                        <a:t>humanoid-gym</a:t>
                      </a:r>
                      <a:r>
                        <a:rPr sz="800" b="0" i="0">
                          <a:solidFill>
                            <a:srgbClr val="16213A"/>
                          </a:solidFill>
                          <a:latin typeface="Arial"/>
                          <a:ea typeface="Malgun Gothic"/>
                          <a:cs typeface="Malgun Gothic"/>
                        </a:rPr>
                        <a:t> 2.1k, </a:t>
                      </a:r>
                      <a:r>
                        <a:rPr sz="800" b="0" i="0">
                          <a:solidFill>
                            <a:srgbClr val="1D4ED8"/>
                          </a:solidFill>
                          <a:latin typeface="Arial"/>
                          <a:ea typeface="Malgun Gothic"/>
                          <a:cs typeface="Malgun Gothic"/>
                          <a:hlinkClick r:id="rId12"/>
                        </a:rPr>
                        <a:t>booster_gym</a:t>
                      </a:r>
                      <a:r>
                        <a:rPr sz="800" b="0" i="0">
                          <a:solidFill>
                            <a:srgbClr val="16213A"/>
                          </a:solidFill>
                          <a:latin typeface="Arial"/>
                          <a:ea typeface="Malgun Gothic"/>
                          <a:cs typeface="Malgun Gothic"/>
                        </a:rPr>
                        <a:t> 0.3k</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HOVER, ASAP</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전신 제어</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여러 명령 모드를 한 정책으로 증류, 실물 데이터로 잔차 행동 모델</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Apache-2.0, MIT</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3"/>
                        </a:rPr>
                        <a:t>NVlabs/HOVER</a:t>
                      </a:r>
                      <a:r>
                        <a:rPr sz="800" b="0" i="0">
                          <a:solidFill>
                            <a:srgbClr val="16213A"/>
                          </a:solidFill>
                          <a:latin typeface="Arial"/>
                          <a:ea typeface="Malgun Gothic"/>
                          <a:cs typeface="Malgun Gothic"/>
                        </a:rPr>
                        <a:t> 0.8k, </a:t>
                      </a:r>
                      <a:r>
                        <a:rPr sz="800" b="0" i="0">
                          <a:solidFill>
                            <a:srgbClr val="1D4ED8"/>
                          </a:solidFill>
                          <a:latin typeface="Arial"/>
                          <a:ea typeface="Malgun Gothic"/>
                          <a:cs typeface="Malgun Gothic"/>
                          <a:hlinkClick r:id="rId14"/>
                        </a:rPr>
                        <a:t>LeCAR-Lab/ASAP</a:t>
                      </a:r>
                      <a:r>
                        <a:rPr sz="800" b="0" i="0">
                          <a:solidFill>
                            <a:srgbClr val="16213A"/>
                          </a:solidFill>
                          <a:latin typeface="Arial"/>
                          <a:ea typeface="Malgun Gothic"/>
                          <a:cs typeface="Malgun Gothic"/>
                        </a:rPr>
                        <a:t> 2.1k</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Gallant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로컬 내비</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LiDAR 복셀 격자 + z축 묶음 2D CNN 정책</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표기 없음</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5"/>
                        </a:rPr>
                        <a:t>InternRobotics/Gallant</a:t>
                      </a:r>
                      <a:r>
                        <a:rPr sz="800" b="0" i="0">
                          <a:solidFill>
                            <a:srgbClr val="16213A"/>
                          </a:solidFill>
                          <a:latin typeface="Arial"/>
                          <a:ea typeface="Malgun Gothic"/>
                          <a:cs typeface="Malgun Gothic"/>
                        </a:rPr>
                        <a:t> 98</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Click-and-Traverse</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로컬 내비</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휴머노이드 퍼텐셜장(HumanoidPF) + RL</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Apache-2.0</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6"/>
                        </a:rPr>
                        <a:t>GalaxyGeneralRobotics/Click-and-Traverse</a:t>
                      </a:r>
                      <a:r>
                        <a:rPr sz="800" b="0" i="0">
                          <a:solidFill>
                            <a:srgbClr val="16213A"/>
                          </a:solidFill>
                          <a:latin typeface="Arial"/>
                          <a:ea typeface="Malgun Gothic"/>
                          <a:cs typeface="Malgun Gothic"/>
                        </a:rPr>
                        <a:t> 0.2k</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HEAD</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내비·도달</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사람 데이터로 배운 상위 정책 + 세 점 추종 전신 정책</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표기 없음</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7"/>
                        </a:rPr>
                        <a:t>Stanford-TML/HEAD_release</a:t>
                      </a:r>
                      <a:r>
                        <a:rPr sz="800" b="0" i="0">
                          <a:solidFill>
                            <a:srgbClr val="16213A"/>
                          </a:solidFill>
                          <a:latin typeface="Arial"/>
                          <a:ea typeface="Malgun Gothic"/>
                          <a:cs typeface="Malgun Gothic"/>
                        </a:rPr>
                        <a:t> 38</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RoM-Nav</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로컬 내비(다층)</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축소 모델 정책을 고정 보행 제어기 위 정책으로 kickstart, Poisson 안전 필터(B.9)</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표기 없음</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8"/>
                        </a:rPr>
                        <a:t>wdc3iii/rom-nav</a:t>
                      </a:r>
                      <a:r>
                        <a:rPr sz="800" b="0" i="0">
                          <a:solidFill>
                            <a:srgbClr val="16213A"/>
                          </a:solidFill>
                          <a:latin typeface="Arial"/>
                          <a:ea typeface="Malgun Gothic"/>
                          <a:cs typeface="Malgun Gothic"/>
                        </a:rPr>
                        <a:t> 0</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Isaac GR00T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VLA</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VLM(System 2) + 확산 transformer(System 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코드 Apache-2.0, 가중치 NVIDIA Open Model License</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9"/>
                        </a:rPr>
                        <a:t>NVIDIA/Isaac-GR00T</a:t>
                      </a:r>
                      <a:r>
                        <a:rPr sz="800" b="0" i="0">
                          <a:solidFill>
                            <a:srgbClr val="16213A"/>
                          </a:solidFill>
                          <a:latin typeface="Arial"/>
                          <a:ea typeface="Malgun Gothic"/>
                          <a:cs typeface="Malgun Gothic"/>
                        </a:rPr>
                        <a:t> 8.1k</a:t>
                      </a:r>
                    </a:p>
                  </a:txBody>
                  <a:tcPr marL="63500" marR="63500" marT="12700" marB="12700">
                    <a:solidFill>
                      <a:srgbClr val="F3F0E8"/>
                    </a:solidFill>
                  </a:tcPr>
                </a:tc>
              </a:tr>
            </a:tbl>
          </a:graphicData>
        </a:graphic>
      </p:graphicFrame>
      <p:sp>
        <p:nvSpPr>
          <p:cNvPr id="6" name="TextBox 5"/>
          <p:cNvSpPr txBox="1"/>
          <p:nvPr/>
        </p:nvSpPr>
        <p:spPr>
          <a:xfrm>
            <a:off x="609600" y="5146973"/>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발자국 계획 — 휴머노이드의 고전 Planner</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20"/>
              </a:rPr>
              <a:t>Hornung 등, Humanoids 2012</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21"/>
              </a:rPr>
              <a:t>IHMC 코드</a:t>
            </a:r>
            <a:r>
              <a:rPr sz="1050" b="0" i="0">
                <a:solidFill>
                  <a:srgbClr val="16213A"/>
                </a:solidFill>
                <a:latin typeface="Arial"/>
                <a:ea typeface="Malgun Gothic"/>
                <a:cs typeface="Malgun Gothic"/>
              </a:rPr>
              <a:t>, Apache-2.0). 두 발 로봇은 발을 어디에 둘지가 곧 경로다. 발자국 계획은 왼발·오른발이 번갈아 가는 발자국 상태를 노드로, 한 걸음으로 갈 수 있는 이산 발자국 집합을 간선으로 둔 그래프를 탐색한다. ROS 1의 humanoid_navigation은 이 그래프를 anytime 탐색으로 풀어, 빨리 찾은 해를 시간이 허락하는 만큼 다듬으면서 최적 대비 비율을 보장했다. IHMC 스택은 인식한 평면 영역에 발자국을 맞추고(snap) 조금씩 옮겨(wiggle) 안전한 발판에 두는 A* 발자국 Planner와 운동량 기반 전신 제어기를 함께 공개했고, Atlas, Valkyrie, Nadia에 쓰였다.</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B.12 로봇별 오픈소스 Planner: 자율주행 자동차, 사족보행, 휴머노이드, 바퀴 로봇</a:t>
            </a:r>
            <a:r>
              <a:rPr sz="1050" b="0" i="0">
                <a:solidFill>
                  <a:srgbClr val="5A6478"/>
                </a:solidFill>
                <a:latin typeface="Arial"/>
                <a:ea typeface="Malgun Gothic"/>
                <a:cs typeface="Malgun Gothic"/>
              </a:rPr>
              <a:t>  5/5</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159 / 516</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Crocoddyl — 접촉 순서가 정해진 다접촉 최적 제어</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arXiv:1909.04947</a:t>
            </a:r>
            <a:r>
              <a:rPr sz="1050" b="0" i="0">
                <a:solidFill>
                  <a:srgbClr val="16213A"/>
                </a:solidFill>
                <a:latin typeface="Arial"/>
                <a:ea typeface="Malgun Gothic"/>
                <a:cs typeface="Malgun Gothic"/>
              </a:rPr>
              <a:t>, ICRA 2020, LAAS·Edinburgh 등, </a:t>
            </a:r>
            <a:r>
              <a:rPr sz="1050" b="0" i="0">
                <a:solidFill>
                  <a:srgbClr val="1D4ED8"/>
                </a:solidFill>
                <a:latin typeface="Arial"/>
                <a:ea typeface="Malgun Gothic"/>
                <a:cs typeface="Malgun Gothic"/>
                <a:hlinkClick r:id="rId4"/>
              </a:rPr>
              <a:t>코드</a:t>
            </a:r>
            <a:r>
              <a:rPr sz="1050" b="0" i="0">
                <a:solidFill>
                  <a:srgbClr val="16213A"/>
                </a:solidFill>
                <a:latin typeface="Arial"/>
                <a:ea typeface="Malgun Gothic"/>
                <a:cs typeface="Malgun Gothic"/>
              </a:rPr>
              <a:t>, BSD-3-Clause). 발자국과 접촉 순서가 정해지면, 그 순서를 지키는 전신 궤적과 제어 정책을 DDP로 푼다. 희소한 해석적 미분과 문제 구조를 활용해 빠르다. 새 풀이기 FDDP는 초기 반복에서 실행 불가능한 궤적(구간 사이의 틈)을 허용해, 다중 사격법처럼 넓게 탐색하면서도 변수를 늘리지 않는다. 점프나 앞구르기 같은 동작을 몇 밀리초 안에 계산했다.</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B.12 로봇별 오픈소스 Planner: 자율주행 자동차, 사족보행, 휴머노이드, 바퀴 로봇</a:t>
            </a:r>
            <a:r>
              <a:rPr sz="1050" b="0" i="0">
                <a:solidFill>
                  <a:srgbClr val="5A6478"/>
                </a:solidFill>
                <a:latin typeface="Arial"/>
                <a:ea typeface="Malgun Gothic"/>
                <a:cs typeface="Malgun Gothic"/>
              </a:rPr>
              <a:t>  자세히: 발자국 그래프 탐색과 DDP의 역방향 패스</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160 / 516</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발자국 그래프.</a:t>
            </a:r>
            <a:r>
              <a:rPr sz="1050" b="0" i="0">
                <a:solidFill>
                  <a:srgbClr val="16213A"/>
                </a:solidFill>
                <a:latin typeface="Arial"/>
                <a:ea typeface="Malgun Gothic"/>
                <a:cs typeface="Malgun Gothic"/>
              </a:rPr>
              <a:t> 상태는 발 위치와 방향, 어느 발인지다: </a:t>
            </a:r>
            <a:r>
              <a:rPr sz="1050" b="0" i="1">
                <a:solidFill>
                  <a:srgbClr val="16213A"/>
                </a:solidFill>
                <a:latin typeface="Arial"/>
                <a:ea typeface="Malgun Gothic"/>
                <a:cs typeface="Malgun Gothic"/>
              </a:rPr>
              <a:t>s = (x, y, θ, side)</a:t>
            </a:r>
            <a:r>
              <a:rPr sz="1050" b="0" i="0">
                <a:solidFill>
                  <a:srgbClr val="16213A"/>
                </a:solidFill>
                <a:latin typeface="Arial"/>
                <a:ea typeface="Malgun Gothic"/>
                <a:cs typeface="Malgun Gothic"/>
              </a:rPr>
              <a:t>. 한 걸음으로 갈 수 있는 상대 발자국 집합 </a:t>
            </a:r>
            <a:r>
              <a:rPr sz="1050" b="0" i="1">
                <a:solidFill>
                  <a:srgbClr val="16213A"/>
                </a:solidFill>
                <a:latin typeface="Arial"/>
                <a:ea typeface="Malgun Gothic"/>
                <a:cs typeface="Malgun Gothic"/>
              </a:rPr>
              <a:t>ℱ</a:t>
            </a:r>
            <a:r>
              <a:rPr sz="1050" b="0" i="0">
                <a:solidFill>
                  <a:srgbClr val="16213A"/>
                </a:solidFill>
                <a:latin typeface="Arial"/>
                <a:ea typeface="Malgun Gothic"/>
                <a:cs typeface="Malgun Gothic"/>
              </a:rPr>
              <a:t>로 이웃을 만들고, 걸음 비용과 목표까지의 휴리스틱으로 탐색한다. anytime 탐색(ARA* 계열)은 휴리스틱에 가중치 </a:t>
            </a:r>
            <a:r>
              <a:rPr sz="1050" b="0" i="1">
                <a:solidFill>
                  <a:srgbClr val="16213A"/>
                </a:solidFill>
                <a:latin typeface="Arial"/>
                <a:ea typeface="Malgun Gothic"/>
                <a:cs typeface="Malgun Gothic"/>
              </a:rPr>
              <a:t>ε ≥ 1</a:t>
            </a:r>
            <a:r>
              <a:rPr sz="1050" b="0" i="0">
                <a:solidFill>
                  <a:srgbClr val="16213A"/>
                </a:solidFill>
                <a:latin typeface="Arial"/>
                <a:ea typeface="Malgun Gothic"/>
                <a:cs typeface="Malgun Gothic"/>
              </a:rPr>
              <a:t>을 곱해 빨리 해를 찾고, </a:t>
            </a:r>
            <a:r>
              <a:rPr sz="1050" b="0" i="1">
                <a:solidFill>
                  <a:srgbClr val="16213A"/>
                </a:solidFill>
                <a:latin typeface="Arial"/>
                <a:ea typeface="Malgun Gothic"/>
                <a:cs typeface="Malgun Gothic"/>
              </a:rPr>
              <a:t>ε</a:t>
            </a:r>
            <a:r>
              <a:rPr sz="1050" b="0" i="0">
                <a:solidFill>
                  <a:srgbClr val="16213A"/>
                </a:solidFill>
                <a:latin typeface="Arial"/>
                <a:ea typeface="Malgun Gothic"/>
                <a:cs typeface="Malgun Gothic"/>
              </a:rPr>
              <a:t>을 줄여 가며 다듬는다. 해의 비용은 최적의 </a:t>
            </a:r>
            <a:r>
              <a:rPr sz="1050" b="0" i="1">
                <a:solidFill>
                  <a:srgbClr val="16213A"/>
                </a:solidFill>
                <a:latin typeface="Arial"/>
                <a:ea typeface="Malgun Gothic"/>
                <a:cs typeface="Malgun Gothic"/>
              </a:rPr>
              <a:t>ε</a:t>
            </a:r>
            <a:r>
              <a:rPr sz="1050" b="0" i="0">
                <a:solidFill>
                  <a:srgbClr val="16213A"/>
                </a:solidFill>
                <a:latin typeface="Arial"/>
                <a:ea typeface="Malgun Gothic"/>
                <a:cs typeface="Malgun Gothic"/>
              </a:rPr>
              <a:t>배를 넘지 않는다.</a:t>
            </a:r>
          </a:p>
        </p:txBody>
      </p:sp>
      <p:pic>
        <p:nvPicPr>
          <p:cNvPr id="6" name="Picture 5" descr="image.png"/>
          <p:cNvPicPr>
            <a:picLocks noChangeAspect="1"/>
          </p:cNvPicPr>
          <p:nvPr/>
        </p:nvPicPr>
        <p:blipFill>
          <a:blip r:embed="rId3"/>
          <a:stretch>
            <a:fillRect/>
          </a:stretch>
        </p:blipFill>
        <p:spPr>
          <a:xfrm>
            <a:off x="609600" y="1766491"/>
            <a:ext cx="3257550" cy="241300"/>
          </a:xfrm>
          <a:prstGeom prst="rect">
            <a:avLst/>
          </a:prstGeom>
        </p:spPr>
      </p:pic>
      <p:sp>
        <p:nvSpPr>
          <p:cNvPr id="7" name="TextBox 6"/>
          <p:cNvSpPr txBox="1"/>
          <p:nvPr/>
        </p:nvSpPr>
        <p:spPr>
          <a:xfrm>
            <a:off x="609600" y="2044005"/>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DDP.</a:t>
            </a:r>
            <a:r>
              <a:rPr sz="1050" b="0" i="0">
                <a:solidFill>
                  <a:srgbClr val="16213A"/>
                </a:solidFill>
                <a:latin typeface="Arial"/>
                <a:ea typeface="Malgun Gothic"/>
                <a:cs typeface="Malgun Gothic"/>
              </a:rPr>
              <a:t> 동역학 </a:t>
            </a:r>
            <a:r>
              <a:rPr sz="1050" b="0" i="1">
                <a:solidFill>
                  <a:srgbClr val="16213A"/>
                </a:solidFill>
                <a:latin typeface="Arial"/>
                <a:ea typeface="Malgun Gothic"/>
                <a:cs typeface="Malgun Gothic"/>
              </a:rPr>
              <a:t>xₖ₊₁ = f(xₖ, uₖ)</a:t>
            </a:r>
            <a:r>
              <a:rPr sz="1050" b="0" i="0">
                <a:solidFill>
                  <a:srgbClr val="16213A"/>
                </a:solidFill>
                <a:latin typeface="Arial"/>
                <a:ea typeface="Malgun Gothic"/>
                <a:cs typeface="Malgun Gothic"/>
              </a:rPr>
              <a:t>와 비용 </a:t>
            </a:r>
            <a:r>
              <a:rPr sz="1050" b="0" i="1">
                <a:solidFill>
                  <a:srgbClr val="16213A"/>
                </a:solidFill>
                <a:latin typeface="Arial"/>
                <a:ea typeface="Malgun Gothic"/>
                <a:cs typeface="Malgun Gothic"/>
              </a:rPr>
              <a:t>ℓ</a:t>
            </a:r>
            <a:r>
              <a:rPr sz="1050" b="0" i="0">
                <a:solidFill>
                  <a:srgbClr val="16213A"/>
                </a:solidFill>
                <a:latin typeface="Arial"/>
                <a:ea typeface="Malgun Gothic"/>
                <a:cs typeface="Malgun Gothic"/>
              </a:rPr>
              <a:t>이 있을 때, 역방향 패스에서 가치 함수의 2차 근사를 뒤에서부터 전파한다.</a:t>
            </a:r>
          </a:p>
        </p:txBody>
      </p:sp>
      <p:pic>
        <p:nvPicPr>
          <p:cNvPr id="8" name="Picture 7" descr="image.png"/>
          <p:cNvPicPr>
            <a:picLocks noChangeAspect="1"/>
          </p:cNvPicPr>
          <p:nvPr/>
        </p:nvPicPr>
        <p:blipFill>
          <a:blip r:embed="rId4"/>
          <a:stretch>
            <a:fillRect/>
          </a:stretch>
        </p:blipFill>
        <p:spPr>
          <a:xfrm>
            <a:off x="609600" y="2349401"/>
            <a:ext cx="5070475" cy="241300"/>
          </a:xfrm>
          <a:prstGeom prst="rect">
            <a:avLst/>
          </a:prstGeom>
        </p:spPr>
      </p:pic>
      <p:pic>
        <p:nvPicPr>
          <p:cNvPr id="9" name="Picture 8" descr="image.png"/>
          <p:cNvPicPr>
            <a:picLocks noChangeAspect="1"/>
          </p:cNvPicPr>
          <p:nvPr/>
        </p:nvPicPr>
        <p:blipFill>
          <a:blip r:embed="rId5"/>
          <a:stretch>
            <a:fillRect/>
          </a:stretch>
        </p:blipFill>
        <p:spPr>
          <a:xfrm>
            <a:off x="609600" y="2626916"/>
            <a:ext cx="4359275" cy="238125"/>
          </a:xfrm>
          <a:prstGeom prst="rect">
            <a:avLst/>
          </a:prstGeom>
        </p:spPr>
      </p:pic>
      <p:sp>
        <p:nvSpPr>
          <p:cNvPr id="10" name="TextBox 9"/>
          <p:cNvSpPr txBox="1"/>
          <p:nvPr/>
        </p:nvSpPr>
        <p:spPr>
          <a:xfrm>
            <a:off x="609600" y="2904430"/>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FDDP는 여기서 구간 사이 틈 </a:t>
            </a:r>
            <a:r>
              <a:rPr sz="1050" b="0" i="1">
                <a:solidFill>
                  <a:srgbClr val="16213A"/>
                </a:solidFill>
                <a:latin typeface="Arial"/>
                <a:ea typeface="Malgun Gothic"/>
                <a:cs typeface="Malgun Gothic"/>
              </a:rPr>
              <a:t>f̄ₖ₊₁ = f(xₖ, uₖ) - xₖ₊₁</a:t>
            </a:r>
            <a:r>
              <a:rPr sz="1050" b="0" i="0">
                <a:solidFill>
                  <a:srgbClr val="16213A"/>
                </a:solidFill>
                <a:latin typeface="Arial"/>
                <a:ea typeface="Malgun Gothic"/>
                <a:cs typeface="Malgun Gothic"/>
              </a:rPr>
              <a:t>을 0으로 강제하지 않고, 역방향 패스에 반영해 점점 닫는다.</a:t>
            </a:r>
          </a:p>
        </p:txBody>
      </p:sp>
      <p:sp>
        <p:nvSpPr>
          <p:cNvPr id="11" name="TextBox 10"/>
          <p:cNvSpPr txBox="1"/>
          <p:nvPr/>
        </p:nvSpPr>
        <p:spPr>
          <a:xfrm>
            <a:off x="609600" y="3209826"/>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것.</a:t>
            </a:r>
            <a:r>
              <a:rPr sz="1050" b="0" i="0">
                <a:solidFill>
                  <a:srgbClr val="16213A"/>
                </a:solidFill>
                <a:latin typeface="Arial"/>
                <a:ea typeface="Malgun Gothic"/>
                <a:cs typeface="Malgun Gothic"/>
              </a:rPr>
              <a:t> travplan의 GuidancePlanner(격자 Dijkstra)는 발자국 대신 칸을 노드로 둔 같은 종류의 그래프 탐색이다. 스워브 로봇의 "모듈 뒤집기"처럼 이산 상태가 섞인 계획이 필요해지면, 발자국 그래프처럼 이산 상태를 노드에 넣는 방식이 참고가 된다.</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B.12 로봇별 오픈소스 Planner: 자율주행 자동차, 사족보행, 휴머노이드, 바퀴 로봇</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161 / 516</a:t>
            </a:r>
          </a:p>
        </p:txBody>
      </p:sp>
      <p:sp>
        <p:nvSpPr>
          <p:cNvPr id="5" name="TextBox 4"/>
          <p:cNvSpPr txBox="1"/>
          <p:nvPr/>
        </p:nvSpPr>
        <p:spPr>
          <a:xfrm>
            <a:off x="609600" y="1244600"/>
            <a:ext cx="10972800" cy="108247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Click-and-Traverse와 Gallant — 인식에서 전신 동작까지 한 정책으로</a:t>
            </a:r>
            <a:r>
              <a:rPr sz="1050" b="0" i="0">
                <a:solidFill>
                  <a:srgbClr val="16213A"/>
                </a:solidFill>
                <a:latin typeface="Arial"/>
                <a:ea typeface="Malgun Gothic"/>
                <a:cs typeface="Malgun Gothic"/>
              </a:rPr>
              <a:t>(Click-and-Traverse </a:t>
            </a:r>
            <a:r>
              <a:rPr sz="1050" b="0" i="0">
                <a:solidFill>
                  <a:srgbClr val="1D4ED8"/>
                </a:solidFill>
                <a:latin typeface="Arial"/>
                <a:ea typeface="Malgun Gothic"/>
                <a:cs typeface="Malgun Gothic"/>
                <a:hlinkClick r:id="rId3"/>
              </a:rPr>
              <a:t>arXiv:2601.16035</a:t>
            </a:r>
            <a:r>
              <a:rPr sz="1050" b="0" i="0">
                <a:solidFill>
                  <a:srgbClr val="16213A"/>
                </a:solidFill>
                <a:latin typeface="Arial"/>
                <a:ea typeface="Malgun Gothic"/>
                <a:cs typeface="Malgun Gothic"/>
              </a:rPr>
              <a:t>, 2026, </a:t>
            </a:r>
            <a:r>
              <a:rPr sz="1050" b="0" i="0">
                <a:solidFill>
                  <a:srgbClr val="1D4ED8"/>
                </a:solidFill>
                <a:latin typeface="Arial"/>
                <a:ea typeface="Malgun Gothic"/>
                <a:cs typeface="Malgun Gothic"/>
                <a:hlinkClick r:id="rId4"/>
              </a:rPr>
              <a:t>코드</a:t>
            </a:r>
            <a:r>
              <a:rPr sz="1050" b="0" i="0">
                <a:solidFill>
                  <a:srgbClr val="16213A"/>
                </a:solidFill>
                <a:latin typeface="Arial"/>
                <a:ea typeface="Malgun Gothic"/>
                <a:cs typeface="Malgun Gothic"/>
              </a:rPr>
              <a:t>, Apache-2.0; Gallant </a:t>
            </a:r>
            <a:r>
              <a:rPr sz="1050" b="0" i="0">
                <a:solidFill>
                  <a:srgbClr val="1D4ED8"/>
                </a:solidFill>
                <a:latin typeface="Arial"/>
                <a:ea typeface="Malgun Gothic"/>
                <a:cs typeface="Malgun Gothic"/>
                <a:hlinkClick r:id="rId5"/>
              </a:rPr>
              <a:t>arXiv:2511.14625</a:t>
            </a:r>
            <a:r>
              <a:rPr sz="1050" b="0" i="0">
                <a:solidFill>
                  <a:srgbClr val="16213A"/>
                </a:solidFill>
                <a:latin typeface="Arial"/>
                <a:ea typeface="Malgun Gothic"/>
                <a:cs typeface="Malgun Gothic"/>
              </a:rPr>
              <a:t>, 2025, </a:t>
            </a:r>
            <a:r>
              <a:rPr sz="1050" b="0" i="0">
                <a:solidFill>
                  <a:srgbClr val="1D4ED8"/>
                </a:solidFill>
                <a:latin typeface="Arial"/>
                <a:ea typeface="Malgun Gothic"/>
                <a:cs typeface="Malgun Gothic"/>
                <a:hlinkClick r:id="rId6"/>
              </a:rPr>
              <a:t>코드</a:t>
            </a:r>
            <a:r>
              <a:rPr sz="1050" b="0" i="0">
                <a:solidFill>
                  <a:srgbClr val="16213A"/>
                </a:solidFill>
                <a:latin typeface="Arial"/>
                <a:ea typeface="Malgun Gothic"/>
                <a:cs typeface="Malgun Gothic"/>
              </a:rPr>
              <a:t>). Click-and-Traverse는 바닥의 물건 넘기, 낮은 장애물 밑으로 숙이기, 좁은 틈 비집기처럼 어지러운 실내에서 부딪히지 않고 지나가는 전신 동작을 RL로 배운다. 핵심은 고전 퍼텐셜장을 몸 부위마다 질의하는 표현(HumanoidPF)이다. 목표 쪽 인력과 장애물 쪽 척력의 기울기를 부위별 "충돌 없는 이동 방향"으로 정책에 넣고, 같은 장으로 충돌 회피 보상도 만든다. 이 표현은 sim-to-real 격차가 거의 없었고, 사용자가 한 번 클릭한 목표로 실물 휴머노이드를 움직였다. Gallant는 LiDAR 점을 복셀 격자로 바꿔 z축으로 묶은 2D CNN에 넣는 한 정책으로, 바닥 장애물뿐 아니라 옆과 위의 장애물, 여러 층 구조, 좁은 통로를 지나고 계단 오르기에서 100%에 가까운 성공률을 냈다.</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B.12 로봇별 오픈소스 Planner: 자율주행 자동차, 사족보행, 휴머노이드, 바퀴 로봇</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162 / 516</a:t>
            </a:r>
          </a:p>
        </p:txBody>
      </p:sp>
      <p:pic>
        <p:nvPicPr>
          <p:cNvPr id="5" name="Picture 4" descr="image.jpg"/>
          <p:cNvPicPr>
            <a:picLocks noChangeAspect="1"/>
          </p:cNvPicPr>
          <p:nvPr/>
        </p:nvPicPr>
        <p:blipFill>
          <a:blip r:embed="rId3"/>
          <a:stretch>
            <a:fillRect/>
          </a:stretch>
        </p:blipFill>
        <p:spPr>
          <a:xfrm>
            <a:off x="1927225" y="1244600"/>
            <a:ext cx="8337550" cy="4445000"/>
          </a:xfrm>
          <a:prstGeom prst="rect">
            <a:avLst/>
          </a:prstGeom>
        </p:spPr>
      </p:pic>
      <p:sp>
        <p:nvSpPr>
          <p:cNvPr id="6" name="TextBox 5"/>
          <p:cNvSpPr txBox="1"/>
          <p:nvPr/>
        </p:nvSpPr>
        <p:spPr>
          <a:xfrm>
            <a:off x="1927225" y="5727700"/>
            <a:ext cx="833755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Click-and-Traverse (Fig. 2): 왼쪽은 HumanoidPF의 구성과 인식 입력·충돌 회피 보상으로서의 쓰임, 오른쪽은 실제 3D 실내 장면 조각과 합성 장애물을 섞은 장면 생성과 배포 파이프라인. 출처: arXiv:2601.16035</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B.12 로봇별 오픈소스 Planner: 자율주행 자동차, 사족보행, 휴머노이드, 바퀴 로봇</a:t>
            </a:r>
            <a:r>
              <a:rPr sz="1050" b="0" i="0">
                <a:solidFill>
                  <a:srgbClr val="5A6478"/>
                </a:solidFill>
                <a:latin typeface="Arial"/>
                <a:ea typeface="Malgun Gothic"/>
                <a:cs typeface="Malgun Gothic"/>
              </a:rPr>
              <a:t>  자세히: HumanoidPF의 인력·척력 퍼텐셜</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163 / 516</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인력.</a:t>
            </a:r>
            <a:r>
              <a:rPr sz="1050" b="0" i="0">
                <a:solidFill>
                  <a:srgbClr val="16213A"/>
                </a:solidFill>
                <a:latin typeface="Arial"/>
                <a:ea typeface="Malgun Gothic"/>
                <a:cs typeface="Malgun Gothic"/>
              </a:rPr>
              <a:t> 장애물을 피해 가는 3D 최단 경로 길이(geodesic 거리)로 정의한다. 유클리드 거리보다 장애물 모양을 반영한다.</a:t>
            </a:r>
          </a:p>
        </p:txBody>
      </p:sp>
      <p:pic>
        <p:nvPicPr>
          <p:cNvPr id="6" name="Picture 5" descr="image.png"/>
          <p:cNvPicPr>
            <a:picLocks noChangeAspect="1"/>
          </p:cNvPicPr>
          <p:nvPr/>
        </p:nvPicPr>
        <p:blipFill>
          <a:blip r:embed="rId3"/>
          <a:stretch>
            <a:fillRect/>
          </a:stretch>
        </p:blipFill>
        <p:spPr>
          <a:xfrm>
            <a:off x="609600" y="1549995"/>
            <a:ext cx="1635125" cy="241300"/>
          </a:xfrm>
          <a:prstGeom prst="rect">
            <a:avLst/>
          </a:prstGeom>
        </p:spPr>
      </p:pic>
      <p:sp>
        <p:nvSpPr>
          <p:cNvPr id="7" name="TextBox 6"/>
          <p:cNvSpPr txBox="1"/>
          <p:nvPr/>
        </p:nvSpPr>
        <p:spPr>
          <a:xfrm>
            <a:off x="609600" y="182751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척력.</a:t>
            </a:r>
            <a:r>
              <a:rPr sz="1050" b="0" i="0">
                <a:solidFill>
                  <a:srgbClr val="16213A"/>
                </a:solidFill>
                <a:latin typeface="Arial"/>
                <a:ea typeface="Malgun Gothic"/>
                <a:cs typeface="Malgun Gothic"/>
              </a:rPr>
              <a:t> 부호 거리 </a:t>
            </a:r>
            <a:r>
              <a:rPr sz="1050" b="0" i="1">
                <a:solidFill>
                  <a:srgbClr val="16213A"/>
                </a:solidFill>
                <a:latin typeface="Arial"/>
                <a:ea typeface="Malgun Gothic"/>
                <a:cs typeface="Malgun Gothic"/>
              </a:rPr>
              <a:t>d(x)</a:t>
            </a:r>
            <a:r>
              <a:rPr sz="1050" b="0" i="0">
                <a:solidFill>
                  <a:srgbClr val="16213A"/>
                </a:solidFill>
                <a:latin typeface="Arial"/>
                <a:ea typeface="Malgun Gothic"/>
                <a:cs typeface="Malgun Gothic"/>
              </a:rPr>
              <a:t>가 영향 범위 </a:t>
            </a:r>
            <a:r>
              <a:rPr sz="1050" b="0" i="1">
                <a:solidFill>
                  <a:srgbClr val="16213A"/>
                </a:solidFill>
                <a:latin typeface="Arial"/>
                <a:ea typeface="Malgun Gothic"/>
                <a:cs typeface="Malgun Gothic"/>
              </a:rPr>
              <a:t>d₀</a:t>
            </a:r>
            <a:r>
              <a:rPr sz="1050" b="0" i="0">
                <a:solidFill>
                  <a:srgbClr val="16213A"/>
                </a:solidFill>
                <a:latin typeface="Arial"/>
                <a:ea typeface="Malgun Gothic"/>
                <a:cs typeface="Malgun Gothic"/>
              </a:rPr>
              <a:t> 안일 때만 커진다.</a:t>
            </a:r>
          </a:p>
        </p:txBody>
      </p:sp>
      <p:pic>
        <p:nvPicPr>
          <p:cNvPr id="8" name="Picture 7" descr="image.png"/>
          <p:cNvPicPr>
            <a:picLocks noChangeAspect="1"/>
          </p:cNvPicPr>
          <p:nvPr/>
        </p:nvPicPr>
        <p:blipFill>
          <a:blip r:embed="rId4"/>
          <a:stretch>
            <a:fillRect/>
          </a:stretch>
        </p:blipFill>
        <p:spPr>
          <a:xfrm>
            <a:off x="609600" y="2132905"/>
            <a:ext cx="4657725" cy="412750"/>
          </a:xfrm>
          <a:prstGeom prst="rect">
            <a:avLst/>
          </a:prstGeom>
        </p:spPr>
      </p:pic>
      <p:sp>
        <p:nvSpPr>
          <p:cNvPr id="9" name="TextBox 8"/>
          <p:cNvSpPr txBox="1"/>
          <p:nvPr/>
        </p:nvSpPr>
        <p:spPr>
          <a:xfrm>
            <a:off x="609600" y="2557661"/>
            <a:ext cx="10972800" cy="432991"/>
          </a:xfrm>
          <a:prstGeom prst="rect">
            <a:avLst/>
          </a:prstGeom>
          <a:noFill/>
        </p:spPr>
        <p:txBody>
          <a:bodyPr wrap="square" lIns="0" rIns="0" tIns="0" bIns="0" anchor="t">
            <a:spAutoFit/>
            <a:normAutofit/>
          </a:bodyPr>
          <a:lstStyle/>
          <a:p>
            <a:r>
              <a:rPr sz="1050" b="0" i="1">
                <a:solidFill>
                  <a:srgbClr val="16213A"/>
                </a:solidFill>
                <a:latin typeface="Arial"/>
                <a:ea typeface="Malgun Gothic"/>
                <a:cs typeface="Malgun Gothic"/>
              </a:rPr>
              <a:t>F</a:t>
            </a:r>
            <a:r>
              <a:rPr sz="1050" b="0" i="0">
                <a:solidFill>
                  <a:srgbClr val="16213A"/>
                </a:solidFill>
                <a:latin typeface="Arial"/>
                <a:ea typeface="Malgun Gothic"/>
                <a:cs typeface="Malgun Gothic"/>
              </a:rPr>
              <a:t>를 몸 부위 </a:t>
            </a:r>
            <a:r>
              <a:rPr sz="1050" b="0" i="1">
                <a:solidFill>
                  <a:srgbClr val="16213A"/>
                </a:solidFill>
                <a:latin typeface="Arial"/>
                <a:ea typeface="Malgun Gothic"/>
                <a:cs typeface="Malgun Gothic"/>
              </a:rPr>
              <a:t>k</a:t>
            </a:r>
            <a:r>
              <a:rPr sz="1050" b="0" i="0">
                <a:solidFill>
                  <a:srgbClr val="16213A"/>
                </a:solidFill>
                <a:latin typeface="Arial"/>
                <a:ea typeface="Malgun Gothic"/>
                <a:cs typeface="Malgun Gothic"/>
              </a:rPr>
              <a:t>의 위치 </a:t>
            </a:r>
            <a:r>
              <a:rPr sz="1050" b="0" i="1">
                <a:solidFill>
                  <a:srgbClr val="16213A"/>
                </a:solidFill>
                <a:latin typeface="Arial"/>
                <a:ea typeface="Malgun Gothic"/>
                <a:cs typeface="Malgun Gothic"/>
              </a:rPr>
              <a:t>xₖ</a:t>
            </a:r>
            <a:r>
              <a:rPr sz="1050" b="0" i="0">
                <a:solidFill>
                  <a:srgbClr val="16213A"/>
                </a:solidFill>
                <a:latin typeface="Arial"/>
                <a:ea typeface="Malgun Gothic"/>
                <a:cs typeface="Malgun Gothic"/>
              </a:rPr>
              <a:t>에서 질의해 부위별 방향 벡터를 얻는다. 좌우 대칭인 장애물 앞에서 부위들의 방향이 서로 상쇄되지 않도록, 골반 같은 뿌리 부위에 높은 우선순위를 주고, 장애물에 빠르게 다가가는 부위의 가중치를 키운다.</a:t>
            </a:r>
          </a:p>
        </p:txBody>
      </p:sp>
      <p:sp>
        <p:nvSpPr>
          <p:cNvPr id="10" name="TextBox 9"/>
          <p:cNvSpPr txBox="1"/>
          <p:nvPr/>
        </p:nvSpPr>
        <p:spPr>
          <a:xfrm>
            <a:off x="609600" y="3079552"/>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것.</a:t>
            </a:r>
            <a:r>
              <a:rPr sz="1050" b="0" i="0">
                <a:solidFill>
                  <a:srgbClr val="16213A"/>
                </a:solidFill>
                <a:latin typeface="Arial"/>
                <a:ea typeface="Malgun Gothic"/>
                <a:cs typeface="Malgun Gothic"/>
              </a:rPr>
              <a:t> travplan의 cost-to-go 지도(GuidancePlanner)는 인력 퍼텐셜의 격자판이다. 여기에 치명 셀까지의 거리로 척력을 더하면, Planner D의 조건 입력이나 선택 점수에 "어느 쪽으로 비켜야 하는가"를 방향 정보로 줄 수 있다.</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B.12 로봇별 오픈소스 Planner: 자율주행 자동차, 사족보행, 휴머노이드, 바퀴 로봇</a:t>
            </a:r>
            <a:r>
              <a:rPr sz="1050" b="0" i="0">
                <a:solidFill>
                  <a:srgbClr val="5A6478"/>
                </a:solidFill>
                <a:latin typeface="Arial"/>
                <a:ea typeface="Malgun Gothic"/>
                <a:cs typeface="Malgun Gothic"/>
              </a:rPr>
              <a:t>  1/6</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164 / 516</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HEAD — 상위 내비 정책과 하위 전신 정책을 나눴다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arXiv:2508.03068</a:t>
            </a:r>
            <a:r>
              <a:rPr sz="1050" b="0" i="0">
                <a:solidFill>
                  <a:srgbClr val="16213A"/>
                </a:solidFill>
                <a:latin typeface="Arial"/>
                <a:ea typeface="Malgun Gothic"/>
                <a:cs typeface="Malgun Gothic"/>
              </a:rPr>
              <a:t>, CoRL 2025, Stanford, </a:t>
            </a:r>
            <a:r>
              <a:rPr sz="1050" b="0" i="0">
                <a:solidFill>
                  <a:srgbClr val="1D4ED8"/>
                </a:solidFill>
                <a:latin typeface="Arial"/>
                <a:ea typeface="Malgun Gothic"/>
                <a:cs typeface="Malgun Gothic"/>
                <a:hlinkClick r:id="rId4"/>
              </a:rPr>
              <a:t>코드</a:t>
            </a:r>
            <a:r>
              <a:rPr sz="1050" b="0" i="0">
                <a:solidFill>
                  <a:srgbClr val="16213A"/>
                </a:solidFill>
                <a:latin typeface="Arial"/>
                <a:ea typeface="Malgun Gothic"/>
                <a:cs typeface="Malgun Gothic"/>
              </a:rPr>
              <a:t>). 상위 정책은 목표까지 눈(카메라)과 두 손의 위치·방향 목표를 낮은 주기로 내고, 하위 전신 정책이 높은 주기로 그 세 점을 따라간다. 하위 정책은 대규모 사람 모션 캡처로, 상위 내비 모듈은 사람이 Aria 안경을 쓰고 모은 1인칭 영상으로 학습했다. 시각 인식과 물리 동작을 떼어 놓아 새 장면으로 넓히기 쉽다.</a:t>
            </a:r>
          </a:p>
        </p:txBody>
      </p:sp>
      <p:pic>
        <p:nvPicPr>
          <p:cNvPr id="6" name="Picture 5" descr="image.jpg"/>
          <p:cNvPicPr>
            <a:picLocks noChangeAspect="1"/>
          </p:cNvPicPr>
          <p:nvPr/>
        </p:nvPicPr>
        <p:blipFill>
          <a:blip r:embed="rId5"/>
          <a:stretch>
            <a:fillRect/>
          </a:stretch>
        </p:blipFill>
        <p:spPr>
          <a:xfrm>
            <a:off x="1016000" y="1982986"/>
            <a:ext cx="10160000" cy="1981200"/>
          </a:xfrm>
          <a:prstGeom prst="rect">
            <a:avLst/>
          </a:prstGeom>
        </p:spPr>
      </p:pic>
      <p:sp>
        <p:nvSpPr>
          <p:cNvPr id="7" name="TextBox 6"/>
          <p:cNvSpPr txBox="1"/>
          <p:nvPr/>
        </p:nvSpPr>
        <p:spPr>
          <a:xfrm>
            <a:off x="1016000" y="4002286"/>
            <a:ext cx="10160000" cy="142180"/>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HEAD (Fig. 2): 내비와 도달 모듈로 된 상위 정책이 낮은 주기로 손·눈 목표를 내고, 전신 제어기가 높은 주기로 그 목표를 추종한다. 출처: arXiv:2508.03068</a:t>
            </a:r>
          </a:p>
        </p:txBody>
      </p:sp>
      <p:sp>
        <p:nvSpPr>
          <p:cNvPr id="8" name="TextBox 7"/>
          <p:cNvSpPr txBox="1"/>
          <p:nvPr/>
        </p:nvSpPr>
        <p:spPr>
          <a:xfrm>
            <a:off x="609600" y="4233366"/>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휴머노이드 스택도 "경로를 정하는 층"과 "몸을 움직이는 층"을 나누고, 그 경계를 몇 개의 목표점으로 둔다.</a:t>
            </a:r>
            <a:r>
              <a:rPr sz="1050" b="0" i="0">
                <a:solidFill>
                  <a:srgbClr val="16213A"/>
                </a:solidFill>
                <a:latin typeface="Arial"/>
                <a:ea typeface="Malgun Gothic"/>
                <a:cs typeface="Malgun Gothic"/>
              </a:rPr>
              <a:t> HEAD의 세 점, HOVER의 명령 모드, NaVILA의 언어 중간 행동(B.6b)이 모두 그 경계다. travplan의 Planner와 Controller 경계(시간 인덱스 궤적)도 같은 역할이다. Click-and-Traverse의 부위별 퍼텐셜장은 cost-to-go 지도에 척력을 더하는 간단한 확장으로 가져올 수 있다. 같은 연구진의 후속 PASSAGE(B.16.6)는 HumanoidPF를 정책 입력에서 빼고, 사람 동작으로 학습하는 flow 계획기의 학습 손실로만 썼다.</a:t>
            </a:r>
          </a:p>
        </p:txBody>
      </p:sp>
      <p:sp>
        <p:nvSpPr>
          <p:cNvPr id="9" name="TextBox 8"/>
          <p:cNvSpPr txBox="1"/>
          <p:nvPr/>
        </p:nvSpPr>
        <p:spPr>
          <a:xfrm>
            <a:off x="717550" y="4971752"/>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B.12.4 바퀴 로봇: Nav2가 표준이고, 스워브는 계획기까지 지원된다</a:t>
            </a:r>
          </a:p>
        </p:txBody>
      </p:sp>
      <p:sp>
        <p:nvSpPr>
          <p:cNvPr id="10" name="TextBox 9"/>
          <p:cNvSpPr txBox="1"/>
          <p:nvPr/>
        </p:nvSpPr>
        <p:spPr>
          <a:xfrm>
            <a:off x="609600" y="5274965"/>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바퀴 로봇 오픈소스의 표준은 Nav2다.</a:t>
            </a:r>
            <a:r>
              <a:rPr sz="1050" b="0" i="0">
                <a:solidFill>
                  <a:srgbClr val="16213A"/>
                </a:solidFill>
                <a:latin typeface="Arial"/>
                <a:ea typeface="Malgun Gothic"/>
                <a:cs typeface="Malgun Gothic"/>
              </a:rPr>
              <a:t> 스워브 같은 전방향 구동은 계획기(Smac lattice의 omni 운동 원시, MPPI의 Omni 모델)까지 지원된다. 구동기 층의 스워브 제어기는 ros2_controllers 공식 패키지로는 아직 없고, ROBOTIS AI Worker의 </a:t>
            </a:r>
            <a:r>
              <a:rPr sz="1050" b="0" i="0">
                <a:solidFill>
                  <a:srgbClr val="16213A"/>
                </a:solidFill>
                <a:latin typeface="Consolas"/>
                <a:ea typeface="Malgun Gothic"/>
                <a:cs typeface="Malgun Gothic"/>
              </a:rPr>
              <a:t>ffw_swerve_drive_controller</a:t>
            </a:r>
            <a:r>
              <a:rPr sz="1050" b="0" i="0">
                <a:solidFill>
                  <a:srgbClr val="16213A"/>
                </a:solidFill>
                <a:latin typeface="Arial"/>
                <a:ea typeface="Malgun Gothic"/>
                <a:cs typeface="Malgun Gothic"/>
              </a:rPr>
              <a:t> 같은 공개 구현을 쓴다. 험지(PUTN), 군중(CrowdNav, DRL-VO, ORCA), 학습 E2E(X-Mobility, COMPASS)는 Nav2 밖의 연구 코드로 있다. 스워브 궤적을 모듈 힘 한계까지 넣어 최적화하는 가장 성숙한 공개 도구는 로봇 경진대회(FRC)용 Choreo다.</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B.12 로봇별 오픈소스 Planner: 자율주행 자동차, 사족보행, 휴머노이드, 바퀴 로봇</a:t>
            </a:r>
            <a:r>
              <a:rPr sz="1050" b="0" i="0">
                <a:solidFill>
                  <a:srgbClr val="5A6478"/>
                </a:solidFill>
                <a:latin typeface="Arial"/>
                <a:ea typeface="Malgun Gothic"/>
                <a:cs typeface="Malgun Gothic"/>
              </a:rPr>
              <a:t>  2/6</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165 / 516</a:t>
            </a:r>
          </a:p>
        </p:txBody>
      </p:sp>
      <p:graphicFrame>
        <p:nvGraphicFramePr>
          <p:cNvPr id="5" name="Table 4"/>
          <p:cNvGraphicFramePr>
            <a:graphicFrameLocks noGrp="1"/>
          </p:cNvGraphicFramePr>
          <p:nvPr/>
        </p:nvGraphicFramePr>
        <p:xfrm>
          <a:off x="609600" y="1244600"/>
          <a:ext cx="10966450" cy="3650136"/>
        </p:xfrm>
        <a:graphic>
          <a:graphicData uri="http://schemas.openxmlformats.org/drawingml/2006/table">
            <a:tbl>
              <a:tblPr firstRow="1" bandRow="1">
                <a:tableStyleId>{5C22544A-7EE6-4342-B048-85BDC9FD1C3A}</a:tableStyleId>
              </a:tblPr>
              <a:tblGrid>
                <a:gridCol w="1654175"/>
                <a:gridCol w="730250"/>
                <a:gridCol w="2985691"/>
                <a:gridCol w="2129730"/>
                <a:gridCol w="1230610"/>
                <a:gridCol w="2235994"/>
              </a:tblGrid>
              <a:tr h="197088">
                <a:tc>
                  <a:txBody>
                    <a:bodyPr wrap="square"/>
                    <a:lstStyle/>
                    <a:p>
                      <a:r>
                        <a:rPr sz="800" b="1" i="0">
                          <a:solidFill>
                            <a:srgbClr val="F4F1EA"/>
                          </a:solidFill>
                          <a:latin typeface="Arial"/>
                          <a:ea typeface="Malgun Gothic"/>
                          <a:cs typeface="Malgun Gothic"/>
                        </a:rPr>
                        <a:t>이름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층</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방식</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구동 방식</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라이선스</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코드(★)</a:t>
                      </a:r>
                    </a:p>
                  </a:txBody>
                  <a:tcPr marL="63500" marR="63500" marT="12700" marB="12700">
                    <a:solidFill>
                      <a:srgbClr val="16213A"/>
                    </a:solidFill>
                  </a:tcPr>
                </a:tc>
              </a:tr>
              <a:tr h="317976">
                <a:tc>
                  <a:txBody>
                    <a:bodyPr wrap="square"/>
                    <a:lstStyle/>
                    <a:p>
                      <a:r>
                        <a:rPr sz="800" b="0" i="0">
                          <a:solidFill>
                            <a:srgbClr val="16213A"/>
                          </a:solidFill>
                          <a:latin typeface="Arial"/>
                          <a:ea typeface="Malgun Gothic"/>
                          <a:cs typeface="Malgun Gothic"/>
                        </a:rPr>
                        <a:t>Nav2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풀스택</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NavFn, Smac(2D, Hybrid-A*, State Lattice), Theta*, DWB, RPP, MPPI, Graceful, route server, docking</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차동, Ackermann, 전방향</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패키지별 혼합</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3"/>
                        </a:rPr>
                        <a:t>ros-navigation/navigation2</a:t>
                      </a:r>
                      <a:r>
                        <a:rPr sz="800" b="0" i="0">
                          <a:solidFill>
                            <a:srgbClr val="16213A"/>
                          </a:solidFill>
                          <a:latin typeface="Arial"/>
                          <a:ea typeface="Malgun Gothic"/>
                          <a:cs typeface="Malgun Gothic"/>
                        </a:rPr>
                        <a:t> 4.7k</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ROS 1 navigation, Move Base Flex</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풀스택</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costmap + 전역·로컬 Planner 플러그인</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차동, 전방향</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BSD</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4"/>
                        </a:rPr>
                        <a:t>ros-planning/navigation</a:t>
                      </a:r>
                      <a:r>
                        <a:rPr sz="800" b="0" i="0">
                          <a:solidFill>
                            <a:srgbClr val="16213A"/>
                          </a:solidFill>
                          <a:latin typeface="Arial"/>
                          <a:ea typeface="Malgun Gothic"/>
                          <a:cs typeface="Malgun Gothic"/>
                        </a:rPr>
                        <a:t> 2.7k(보관됨), </a:t>
                      </a:r>
                      <a:r>
                        <a:rPr sz="800" b="0" i="0">
                          <a:solidFill>
                            <a:srgbClr val="1D4ED8"/>
                          </a:solidFill>
                          <a:latin typeface="Arial"/>
                          <a:ea typeface="Malgun Gothic"/>
                          <a:cs typeface="Malgun Gothic"/>
                          <a:hlinkClick r:id="rId5"/>
                        </a:rPr>
                        <a:t>move_base_flex</a:t>
                      </a:r>
                      <a:r>
                        <a:rPr sz="800" b="0" i="0">
                          <a:solidFill>
                            <a:srgbClr val="16213A"/>
                          </a:solidFill>
                          <a:latin typeface="Arial"/>
                          <a:ea typeface="Malgun Gothic"/>
                          <a:cs typeface="Malgun Gothic"/>
                        </a:rPr>
                        <a:t> 0.5k</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BotBrain</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운용 풀스택</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Nav2(Smac 2D + MPPI)와 RTAB-Map 시각 SLAM을 다리 로봇에 얹고, 명령 우선순위 중재와 웹 UI를 더함</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다리(Go2, G1), 바퀴 다리(Go2-W, Tita). MPPI 운동 모델은 DiffDrive</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MIT</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6"/>
                        </a:rPr>
                        <a:t>botbotrobotics/BotBrain</a:t>
                      </a:r>
                      <a:r>
                        <a:rPr sz="800" b="0" i="0">
                          <a:solidFill>
                            <a:srgbClr val="16213A"/>
                          </a:solidFill>
                          <a:latin typeface="Arial"/>
                          <a:ea typeface="Malgun Gothic"/>
                          <a:cs typeface="Malgun Gothic"/>
                        </a:rPr>
                        <a:t> 0.4k</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dddmr_navigation</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풀스택(3D)</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LeGO-LOAM 매핑, MCL 3DL, 점군 marking·clearing, 지면 점군 위 그래프 A*, 로컬 planner</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사족(Go2), 네 바퀴 조향(Zinger), Ackermann(Saye)</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BSD-3-Clause</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7"/>
                        </a:rPr>
                        <a:t>dfl-rlab/dddmr_navigation</a:t>
                      </a:r>
                      <a:r>
                        <a:rPr sz="800" b="0" i="0">
                          <a:solidFill>
                            <a:srgbClr val="16213A"/>
                          </a:solidFill>
                          <a:latin typeface="Arial"/>
                          <a:ea typeface="Malgun Gothic"/>
                          <a:cs typeface="Malgun Gothic"/>
                        </a:rPr>
                        <a:t> 0.6k</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ros2_controllers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구동 제어</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차동, 메카넘, 옴니휠, 조향 계열 제어기, 스워브 기구학 문서</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스워브 제어기는 PR 단계</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Apache-2.0</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8"/>
                        </a:rPr>
                        <a:t>ros-controls/ros2_controllers</a:t>
                      </a:r>
                      <a:r>
                        <a:rPr sz="800" b="0" i="0">
                          <a:solidFill>
                            <a:srgbClr val="16213A"/>
                          </a:solidFill>
                          <a:latin typeface="Arial"/>
                          <a:ea typeface="Malgun Gothic"/>
                          <a:cs typeface="Malgun Gothic"/>
                        </a:rPr>
                        <a:t> 0.8k</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ffw_swerve_drive_controller</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스워브 구동 제어</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모듈 위치·각도 오프셋, 조향 범위와 조향 각속도 한계, 180° 반전(감속, 조향, 가속)</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스워브</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Apache-2.0</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9"/>
                        </a:rPr>
                        <a:t>ROBOTIS-GIT/ai_worker</a:t>
                      </a:r>
                      <a:r>
                        <a:rPr sz="800" b="0" i="0">
                          <a:solidFill>
                            <a:srgbClr val="16213A"/>
                          </a:solidFill>
                          <a:latin typeface="Arial"/>
                          <a:ea typeface="Malgun Gothic"/>
                          <a:cs typeface="Malgun Gothic"/>
                        </a:rPr>
                        <a:t> 0.2k</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OMPL, SBPL</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계획 라이브러리</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샘플링 기반(RRT*, PRM*, BIT* 등), 탐색 기반(ARA*, lattice)</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모든 로봇</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BSD-3-Clause, 표기 없음</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0"/>
                        </a:rPr>
                        <a:t>ompl/ompl</a:t>
                      </a:r>
                      <a:r>
                        <a:rPr sz="800" b="0" i="0">
                          <a:solidFill>
                            <a:srgbClr val="16213A"/>
                          </a:solidFill>
                          <a:latin typeface="Arial"/>
                          <a:ea typeface="Malgun Gothic"/>
                          <a:cs typeface="Malgun Gothic"/>
                        </a:rPr>
                        <a:t> 2.2k, </a:t>
                      </a:r>
                      <a:r>
                        <a:rPr sz="800" b="0" i="0">
                          <a:solidFill>
                            <a:srgbClr val="1D4ED8"/>
                          </a:solidFill>
                          <a:latin typeface="Arial"/>
                          <a:ea typeface="Malgun Gothic"/>
                          <a:cs typeface="Malgun Gothic"/>
                          <a:hlinkClick r:id="rId11"/>
                        </a:rPr>
                        <a:t>sbpl/sbpl</a:t>
                      </a:r>
                      <a:r>
                        <a:rPr sz="800" b="0" i="0">
                          <a:solidFill>
                            <a:srgbClr val="16213A"/>
                          </a:solidFill>
                          <a:latin typeface="Arial"/>
                          <a:ea typeface="Malgun Gothic"/>
                          <a:cs typeface="Malgun Gothic"/>
                        </a:rPr>
                        <a:t> 0.4k</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FAR, TARE, CMU 개발 환경</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경로, 탐사, 로컬</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가시성 그래프, 계층 탐사, 지형 분석 + 로컬 Planner</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바퀴 차량</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BSD(package.xml)</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2"/>
                        </a:rPr>
                        <a:t>far_planner</a:t>
                      </a:r>
                      <a:r>
                        <a:rPr sz="800" b="0" i="0">
                          <a:solidFill>
                            <a:srgbClr val="16213A"/>
                          </a:solidFill>
                          <a:latin typeface="Arial"/>
                          <a:ea typeface="Malgun Gothic"/>
                          <a:cs typeface="Malgun Gothic"/>
                        </a:rPr>
                        <a:t> 1.0k, </a:t>
                      </a:r>
                      <a:r>
                        <a:rPr sz="800" b="0" i="0">
                          <a:solidFill>
                            <a:srgbClr val="1D4ED8"/>
                          </a:solidFill>
                          <a:latin typeface="Arial"/>
                          <a:ea typeface="Malgun Gothic"/>
                          <a:cs typeface="Malgun Gothic"/>
                          <a:hlinkClick r:id="rId13"/>
                        </a:rPr>
                        <a:t>개발 환경</a:t>
                      </a:r>
                      <a:r>
                        <a:rPr sz="800" b="0" i="0">
                          <a:solidFill>
                            <a:srgbClr val="16213A"/>
                          </a:solidFill>
                          <a:latin typeface="Arial"/>
                          <a:ea typeface="Malgun Gothic"/>
                          <a:cs typeface="Malgun Gothic"/>
                        </a:rPr>
                        <a:t> 1.0k</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PUTN</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험지 경로</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평면 맞춤 RRT* + GPR + NMPC</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4륜(Scout 2.0)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GPL-3.0</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4"/>
                        </a:rPr>
                        <a:t>jianzhuozhuTHU/putn</a:t>
                      </a:r>
                      <a:r>
                        <a:rPr sz="800" b="0" i="0">
                          <a:solidFill>
                            <a:srgbClr val="16213A"/>
                          </a:solidFill>
                          <a:latin typeface="Arial"/>
                          <a:ea typeface="Malgun Gothic"/>
                          <a:cs typeface="Malgun Gothic"/>
                        </a:rPr>
                        <a:t> 0.4k</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Choreo(TrajoptLib)</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스워브 궤적 최적화</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모듈 힘, 바퀴 속도, 마찰 한계 안의 최소 시간 궤적</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스워브, 차동</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BSD-3-Clause</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5"/>
                        </a:rPr>
                        <a:t>SleipnirGroup/Choreo</a:t>
                      </a:r>
                      <a:r>
                        <a:rPr sz="800" b="0" i="0">
                          <a:solidFill>
                            <a:srgbClr val="16213A"/>
                          </a:solidFill>
                          <a:latin typeface="Arial"/>
                          <a:ea typeface="Malgun Gothic"/>
                          <a:cs typeface="Malgun Gothic"/>
                        </a:rPr>
                        <a:t> 0.2k</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PathPlanner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전방향 경로</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Bézier 경로, 회전과 진행 방향 분리, AD* 경로 탐색</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전방향(스워브 등)</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MIT</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16"/>
                        </a:rPr>
                        <a:t>mjansen4857/pathplanner</a:t>
                      </a:r>
                      <a:r>
                        <a:rPr sz="800" b="0" i="0">
                          <a:solidFill>
                            <a:srgbClr val="16213A"/>
                          </a:solidFill>
                          <a:latin typeface="Arial"/>
                          <a:ea typeface="Malgun Gothic"/>
                          <a:cs typeface="Malgun Gothic"/>
                        </a:rPr>
                        <a:t> 0.5k</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TidyBot++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구동 하드웨어·기구학</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powered caster 4개, 2차원 조향축 오프셋, PCV 정식화, 휴대폰 원격조종</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비동축 스워브(전방향)</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MIT</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17"/>
                        </a:rPr>
                        <a:t>jimmyyhwu/tidybot2</a:t>
                      </a:r>
                      <a:r>
                        <a:rPr sz="800" b="0" i="0">
                          <a:solidFill>
                            <a:srgbClr val="16213A"/>
                          </a:solidFill>
                          <a:latin typeface="Arial"/>
                          <a:ea typeface="Malgun Gothic"/>
                          <a:cs typeface="Malgun Gothic"/>
                        </a:rPr>
                        <a:t> 0.6k</a:t>
                      </a:r>
                    </a:p>
                  </a:txBody>
                  <a:tcPr marL="63500" marR="63500" marT="12700" marB="12700">
                    <a:solidFill>
                      <a:srgbClr val="F3F0E8"/>
                    </a:solidFill>
                  </a:tcPr>
                </a:tc>
              </a:tr>
            </a:tbl>
          </a:graphicData>
        </a:graphic>
      </p:graphicFrame>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B.12 로봇별 오픈소스 Planner: 자율주행 자동차, 사족보행, 휴머노이드, 바퀴 로봇</a:t>
            </a:r>
            <a:r>
              <a:rPr sz="1050" b="0" i="0">
                <a:solidFill>
                  <a:srgbClr val="5A6478"/>
                </a:solidFill>
                <a:latin typeface="Arial"/>
                <a:ea typeface="Malgun Gothic"/>
                <a:cs typeface="Malgun Gothic"/>
              </a:rPr>
              <a:t>  3/6</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166 / 516</a:t>
            </a:r>
          </a:p>
        </p:txBody>
      </p:sp>
      <p:graphicFrame>
        <p:nvGraphicFramePr>
          <p:cNvPr id="5" name="Table 4"/>
          <p:cNvGraphicFramePr>
            <a:graphicFrameLocks noGrp="1"/>
          </p:cNvGraphicFramePr>
          <p:nvPr/>
        </p:nvGraphicFramePr>
        <p:xfrm>
          <a:off x="609600" y="1244600"/>
          <a:ext cx="10966450" cy="1030128"/>
        </p:xfrm>
        <a:graphic>
          <a:graphicData uri="http://schemas.openxmlformats.org/drawingml/2006/table">
            <a:tbl>
              <a:tblPr firstRow="1" bandRow="1">
                <a:tableStyleId>{5C22544A-7EE6-4342-B048-85BDC9FD1C3A}</a:tableStyleId>
              </a:tblPr>
              <a:tblGrid>
                <a:gridCol w="1654175"/>
                <a:gridCol w="730250"/>
                <a:gridCol w="2985691"/>
                <a:gridCol w="2129730"/>
                <a:gridCol w="1230610"/>
                <a:gridCol w="2235994"/>
              </a:tblGrid>
              <a:tr h="197088">
                <a:tc>
                  <a:txBody>
                    <a:bodyPr wrap="square"/>
                    <a:lstStyle/>
                    <a:p>
                      <a:r>
                        <a:rPr sz="800" b="1" i="0">
                          <a:solidFill>
                            <a:srgbClr val="F4F1EA"/>
                          </a:solidFill>
                          <a:latin typeface="Arial"/>
                          <a:ea typeface="Malgun Gothic"/>
                          <a:cs typeface="Malgun Gothic"/>
                        </a:rPr>
                        <a:t>이름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층</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방식</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구동 방식</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라이선스</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코드(★)</a:t>
                      </a:r>
                    </a:p>
                  </a:txBody>
                  <a:tcPr marL="63500" marR="63500" marT="12700" marB="12700">
                    <a:solidFill>
                      <a:srgbClr val="16213A"/>
                    </a:solidFill>
                  </a:tcPr>
                </a:tc>
              </a:tr>
              <a:tr h="317976">
                <a:tc>
                  <a:txBody>
                    <a:bodyPr wrap="square"/>
                    <a:lstStyle/>
                    <a:p>
                      <a:r>
                        <a:rPr sz="800" b="0" i="0">
                          <a:solidFill>
                            <a:srgbClr val="16213A"/>
                          </a:solidFill>
                          <a:latin typeface="Arial"/>
                          <a:ea typeface="Malgun Gothic"/>
                          <a:cs typeface="Malgun Gothic"/>
                        </a:rPr>
                        <a:t>CrowdNav, DRL-VO, RVO2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군중 회피</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주의 기반 RL, 속도 장애물 보상 RL, ORCA</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차동</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MIT, GPL-3.0, Apache-2.0</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3"/>
                        </a:rPr>
                        <a:t>CrowdNav</a:t>
                      </a:r>
                      <a:r>
                        <a:rPr sz="800" b="0" i="0">
                          <a:solidFill>
                            <a:srgbClr val="16213A"/>
                          </a:solidFill>
                          <a:latin typeface="Arial"/>
                          <a:ea typeface="Malgun Gothic"/>
                          <a:cs typeface="Malgun Gothic"/>
                        </a:rPr>
                        <a:t> 0.7k, </a:t>
                      </a:r>
                      <a:r>
                        <a:rPr sz="800" b="0" i="0">
                          <a:solidFill>
                            <a:srgbClr val="1D4ED8"/>
                          </a:solidFill>
                          <a:latin typeface="Arial"/>
                          <a:ea typeface="Malgun Gothic"/>
                          <a:cs typeface="Malgun Gothic"/>
                          <a:hlinkClick r:id="rId4"/>
                        </a:rPr>
                        <a:t>drl_vo_nav</a:t>
                      </a:r>
                      <a:r>
                        <a:rPr sz="800" b="0" i="0">
                          <a:solidFill>
                            <a:srgbClr val="16213A"/>
                          </a:solidFill>
                          <a:latin typeface="Arial"/>
                          <a:ea typeface="Malgun Gothic"/>
                          <a:cs typeface="Malgun Gothic"/>
                        </a:rPr>
                        <a:t> 0.3k, </a:t>
                      </a:r>
                      <a:r>
                        <a:rPr sz="800" b="0" i="0">
                          <a:solidFill>
                            <a:srgbClr val="1D4ED8"/>
                          </a:solidFill>
                          <a:latin typeface="Arial"/>
                          <a:ea typeface="Malgun Gothic"/>
                          <a:cs typeface="Malgun Gothic"/>
                          <a:hlinkClick r:id="rId5"/>
                        </a:rPr>
                        <a:t>RVO2</a:t>
                      </a:r>
                      <a:r>
                        <a:rPr sz="800" b="0" i="0">
                          <a:solidFill>
                            <a:srgbClr val="16213A"/>
                          </a:solidFill>
                          <a:latin typeface="Arial"/>
                          <a:ea typeface="Malgun Gothic"/>
                          <a:cs typeface="Malgun Gothic"/>
                        </a:rPr>
                        <a:t> 1.0k</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X-Mobility, COMPASS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학습 E2E</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world model + 행동 정책, 잔차 RL로 몸체 적응</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차동(Nova Carter) 외</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Apache-2.0</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6"/>
                        </a:rPr>
                        <a:t>NVlabs/X-MOBILITY</a:t>
                      </a:r>
                      <a:r>
                        <a:rPr sz="800" b="0" i="0">
                          <a:solidFill>
                            <a:srgbClr val="16213A"/>
                          </a:solidFill>
                          <a:latin typeface="Arial"/>
                          <a:ea typeface="Malgun Gothic"/>
                          <a:cs typeface="Malgun Gothic"/>
                        </a:rPr>
                        <a:t> 0.2k, </a:t>
                      </a:r>
                      <a:r>
                        <a:rPr sz="800" b="0" i="0">
                          <a:solidFill>
                            <a:srgbClr val="1D4ED8"/>
                          </a:solidFill>
                          <a:latin typeface="Arial"/>
                          <a:ea typeface="Malgun Gothic"/>
                          <a:cs typeface="Malgun Gothic"/>
                          <a:hlinkClick r:id="rId7"/>
                        </a:rPr>
                        <a:t>NVlabs/COMPASS</a:t>
                      </a:r>
                      <a:r>
                        <a:rPr sz="800" b="0" i="0">
                          <a:solidFill>
                            <a:srgbClr val="16213A"/>
                          </a:solidFill>
                          <a:latin typeface="Arial"/>
                          <a:ea typeface="Malgun Gothic"/>
                          <a:cs typeface="Malgun Gothic"/>
                        </a:rPr>
                        <a:t> 0.1k</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Open-RMF</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군집 관리</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여러 로봇의 교통 관리와 작업 배정</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Apache-2.0</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8"/>
                        </a:rPr>
                        <a:t>open-rmf/rmf</a:t>
                      </a:r>
                      <a:r>
                        <a:rPr sz="800" b="0" i="0">
                          <a:solidFill>
                            <a:srgbClr val="16213A"/>
                          </a:solidFill>
                          <a:latin typeface="Arial"/>
                          <a:ea typeface="Malgun Gothic"/>
                          <a:cs typeface="Malgun Gothic"/>
                        </a:rPr>
                        <a:t> 0.4k</a:t>
                      </a:r>
                    </a:p>
                  </a:txBody>
                  <a:tcPr marL="63500" marR="63500" marT="12700" marB="12700">
                    <a:solidFill>
                      <a:srgbClr val="FFFDF8"/>
                    </a:solidFill>
                  </a:tcPr>
                </a:tc>
              </a:tr>
            </a:tbl>
          </a:graphicData>
        </a:graphic>
      </p:graphicFrame>
      <p:sp>
        <p:nvSpPr>
          <p:cNvPr id="6" name="TextBox 5"/>
          <p:cNvSpPr txBox="1"/>
          <p:nvPr/>
        </p:nvSpPr>
        <p:spPr>
          <a:xfrm>
            <a:off x="609600" y="2627511"/>
            <a:ext cx="10972800" cy="1298972"/>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Nav2와 스워브 — 계획기는 전방향을 알고, 구동기는 아직이다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9"/>
              </a:rPr>
              <a:t>Nav2 코드</a:t>
            </a:r>
            <a:r>
              <a:rPr sz="1050" b="0" i="0">
                <a:solidFill>
                  <a:srgbClr val="16213A"/>
                </a:solidFill>
                <a:latin typeface="Arial"/>
                <a:ea typeface="Malgun Gothic"/>
                <a:cs typeface="Malgun Gothic"/>
              </a:rPr>
              <a:t>). Nav2의 MPPI Controller는 운동 모델로 차동(DiffDrive), Ackermann, 전방향(Omni)을 고를 수 있다. Smac State Lattice의 운동 원시 생성기는 </a:t>
            </a:r>
            <a:r>
              <a:rPr sz="1050" b="0" i="0">
                <a:solidFill>
                  <a:srgbClr val="16213A"/>
                </a:solidFill>
                <a:latin typeface="Consolas"/>
                <a:ea typeface="Malgun Gothic"/>
                <a:cs typeface="Malgun Gothic"/>
              </a:rPr>
              <a:t>omni</a:t>
            </a:r>
            <a:r>
              <a:rPr sz="1050" b="0" i="0">
                <a:solidFill>
                  <a:srgbClr val="16213A"/>
                </a:solidFill>
                <a:latin typeface="Arial"/>
                <a:ea typeface="Malgun Gothic"/>
                <a:cs typeface="Malgun Gothic"/>
              </a:rPr>
              <a:t> 모델에서 전진 궤적, 제자리 회전, 옆으로 미끄러지는 이동을 함께 만든다. 구동기 층의 ros2_controllers에는 메카넘과 옴니휠 제어기가 있고 스워브 기구학은 문서로 들어갔지만 (2025-06, PR #1712), 스워브 제어기 패키지는 2025-05부터 PR #1694로 검토 중이다. 공개된 대안으로 ROBOTIS AI Worker의 </a:t>
            </a:r>
            <a:r>
              <a:rPr sz="1050" b="0" i="0">
                <a:solidFill>
                  <a:srgbClr val="16213A"/>
                </a:solidFill>
                <a:latin typeface="Consolas"/>
                <a:ea typeface="Malgun Gothic"/>
                <a:cs typeface="Malgun Gothic"/>
              </a:rPr>
              <a:t>ffw_swerve_drive_controller</a:t>
            </a:r>
            <a:r>
              <a:rPr sz="1050" b="0" i="0">
                <a:solidFill>
                  <a:srgbClr val="16213A"/>
                </a:solidFill>
                <a:latin typeface="Arial"/>
                <a:ea typeface="Malgun Gothic"/>
                <a:cs typeface="Malgun Gothic"/>
              </a:rPr>
              <a:t>가 있다. 모듈마다 위치·각도 오프셋, 조향 범위, 바퀴 속도 한계, 조향 각속도 한계를 두고, 바퀴 회전 방향을 바꿀 때는 감속, 조향, 가속의 세 단계를 거친다. travplan 로봇의 모듈 IK가 이 제어기에 있고(</a:t>
            </a:r>
            <a:r>
              <a:rPr sz="1050" b="0" i="0">
                <a:solidFill>
                  <a:srgbClr val="16213A"/>
                </a:solidFill>
                <a:latin typeface="Consolas"/>
                <a:ea typeface="Malgun Gothic"/>
                <a:cs typeface="Malgun Gothic"/>
              </a:rPr>
              <a:t>robot/swerve.py</a:t>
            </a:r>
            <a:r>
              <a:rPr sz="1050" b="0" i="0">
                <a:solidFill>
                  <a:srgbClr val="16213A"/>
                </a:solidFill>
                <a:latin typeface="Arial"/>
                <a:ea typeface="Malgun Gothic"/>
                <a:cs typeface="Malgun Gothic"/>
              </a:rPr>
              <a:t> 주석), L0 스워브 모듈 모델(TP-0034)이 그 Python 이식본을 참고한다(PRD R-F-010). 추종기로는 Regulated Pure Pursuit (</a:t>
            </a:r>
            <a:r>
              <a:rPr sz="1050" b="0" i="0">
                <a:solidFill>
                  <a:srgbClr val="1D4ED8"/>
                </a:solidFill>
                <a:latin typeface="Arial"/>
                <a:ea typeface="Malgun Gothic"/>
                <a:cs typeface="Malgun Gothic"/>
                <a:hlinkClick r:id="rId10"/>
              </a:rPr>
              <a:t>arXiv:2305.20026</a:t>
            </a:r>
            <a:r>
              <a:rPr sz="1050" b="0" i="0">
                <a:solidFill>
                  <a:srgbClr val="16213A"/>
                </a:solidFill>
                <a:latin typeface="Arial"/>
                <a:ea typeface="Malgun Gothic"/>
                <a:cs typeface="Malgun Gothic"/>
              </a:rPr>
              <a:t>)가 곡률과 장애물 근접도로 선속도를 줄이는 방식으로 서비스 로봇에 널리 쓰인다.</a:t>
            </a:r>
          </a:p>
        </p:txBody>
      </p:sp>
      <p:sp>
        <p:nvSpPr>
          <p:cNvPr id="7" name="TextBox 6"/>
          <p:cNvSpPr txBox="1"/>
          <p:nvPr/>
        </p:nvSpPr>
        <p:spPr>
          <a:xfrm>
            <a:off x="609600" y="4015383"/>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BotBrain — Nav2 기본 구성을 다리·바퀴 다리 로봇에 얹는 운용 스택</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11"/>
              </a:rPr>
              <a:t>botbotrobotics/BotBrain</a:t>
            </a:r>
            <a:r>
              <a:rPr sz="1050" b="0" i="0">
                <a:solidFill>
                  <a:srgbClr val="16213A"/>
                </a:solidFill>
                <a:latin typeface="Arial"/>
                <a:ea typeface="Malgun Gothic"/>
                <a:cs typeface="Malgun Gothic"/>
              </a:rPr>
              <a:t>, 2026-01 공개, BotBot, MIT, ★0.4k, </a:t>
            </a:r>
            <a:r>
              <a:rPr sz="1050" b="0" i="0">
                <a:solidFill>
                  <a:srgbClr val="1D4ED8"/>
                </a:solidFill>
                <a:latin typeface="Arial"/>
                <a:ea typeface="Malgun Gothic"/>
                <a:cs typeface="Malgun Gothic"/>
                <a:hlinkClick r:id="rId12"/>
              </a:rPr>
              <a:t>소개 영상</a:t>
            </a:r>
            <a:r>
              <a:rPr sz="1050" b="0" i="0">
                <a:solidFill>
                  <a:srgbClr val="16213A"/>
                </a:solidFill>
                <a:latin typeface="Arial"/>
                <a:ea typeface="Malgun Gothic"/>
                <a:cs typeface="Malgun Gothic"/>
              </a:rPr>
              <a:t>). 계획 알고리즘 연구가 아니라, 표준 ROS 2 Humble 구성요소를 여러 다리 로봇에 빨리 붙이는 제품형 통합이다. 하드웨어(3D 프린트 케이스), 로봇 쪽 ROS 2 작업 공간, 웹 UI(Next.js 15)의 세 부분으로 되어 있다.</a:t>
            </a:r>
          </a:p>
        </p:txBody>
      </p:sp>
      <p:sp>
        <p:nvSpPr>
          <p:cNvPr id="8" name="TextBox 7"/>
          <p:cNvSpPr txBox="1"/>
          <p:nvPr/>
        </p:nvSpPr>
        <p:spPr>
          <a:xfrm>
            <a:off x="609600" y="4537273"/>
            <a:ext cx="10972800" cy="1082477"/>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동작은 다음과 같다. Jetson(Nano, Orin Nano)과 RealSense D435i 두 대(앞·뒤)를 케이스에 넣어 로봇 등에 얹는다. 위치 추정은 RTAB-Map 시각 SLAM이 맡는다. 경로는 Nav2의 SmacPlanner2D가 내고, 추종은 Nav2 MPPI Controller가 한다. Go2 설정은 40스텝 × 0.05 s(2 s 앞), 샘플 1,500개, 앞으로 최대 0.8 m/s다. 옆 방향 한계(0.5 m/s)를 적어 두었지만 운동 모델이 DiffDrive라서 옆걸음은 샘플하지 않는다. 위 문단의 Omni 모델을 쓰지 않은 것이다. 장애물은 앞·뒤 깊이 점군을 </a:t>
            </a:r>
            <a:r>
              <a:rPr sz="1050" b="0" i="0">
                <a:solidFill>
                  <a:srgbClr val="16213A"/>
                </a:solidFill>
                <a:latin typeface="Consolas"/>
                <a:ea typeface="Malgun Gothic"/>
                <a:cs typeface="Malgun Gothic"/>
              </a:rPr>
              <a:t>pointcloud_to_laserscan</a:t>
            </a:r>
            <a:r>
              <a:rPr sz="1050" b="0" i="0">
                <a:solidFill>
                  <a:srgbClr val="16213A"/>
                </a:solidFill>
                <a:latin typeface="Arial"/>
                <a:ea typeface="Malgun Gothic"/>
                <a:cs typeface="Malgun Gothic"/>
              </a:rPr>
              <a:t>으로 2D 스캔(높이 0.1–2.0 m, 3 m 이내)으로 바꿔 2D costmap에 표시한다. 속도 명령은 </a:t>
            </a:r>
            <a:r>
              <a:rPr sz="1050" b="0" i="0">
                <a:solidFill>
                  <a:srgbClr val="16213A"/>
                </a:solidFill>
                <a:latin typeface="Consolas"/>
                <a:ea typeface="Malgun Gothic"/>
                <a:cs typeface="Malgun Gothic"/>
              </a:rPr>
              <a:t>twist_mux</a:t>
            </a:r>
            <a:r>
              <a:rPr sz="1050" b="0" i="0">
                <a:solidFill>
                  <a:srgbClr val="16213A"/>
                </a:solidFill>
                <a:latin typeface="Arial"/>
                <a:ea typeface="Malgun Gothic"/>
                <a:cs typeface="Malgun Gothic"/>
              </a:rPr>
              <a:t>가 우선순위로 고른다. 실물 조이스틱(100)이 가장 높고, 웹 가상 조이스틱(99), 자율 내비(10), LLM 자연어 명령(ROSA, 5)이 뒤를 잇는다. dead-man 스위치가 모든 명령을 잠근다. 웹 UI는 waypoint 임무, 지도 저장·전환, Jetson 상태 감시, 여러 로봇 동시 관리를 제공한다. YOLO 물체 인식은 준비 중이다.</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B.12 로봇별 오픈소스 Planner: 자율주행 자동차, 사족보행, 휴머노이드, 바퀴 로봇</a:t>
            </a:r>
            <a:r>
              <a:rPr sz="1050" b="0" i="0">
                <a:solidFill>
                  <a:srgbClr val="5A6478"/>
                </a:solidFill>
                <a:latin typeface="Arial"/>
                <a:ea typeface="Malgun Gothic"/>
                <a:cs typeface="Malgun Gothic"/>
              </a:rPr>
              <a:t>  4/6</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167 / 516</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BotBrain의 2D 스캔 costmap은 10 cm보다 낮은 턱과 포트홀(음의 장애물)을 보지 못한다. travplan의 TravMap이 메우는 틈이 바로 이것이다. 가져올 것은 두 가지다. 하나는 명령 중재 구조다. P1 ROS 2 통합에서 사람 조종, Planner·Controller 출력, 비상 정지를 </a:t>
            </a:r>
            <a:r>
              <a:rPr sz="1050" b="0" i="0">
                <a:solidFill>
                  <a:srgbClr val="16213A"/>
                </a:solidFill>
                <a:latin typeface="Consolas"/>
                <a:ea typeface="Malgun Gothic"/>
                <a:cs typeface="Malgun Gothic"/>
              </a:rPr>
              <a:t>twist_mux</a:t>
            </a:r>
            <a:r>
              <a:rPr sz="1050" b="0" i="0">
                <a:solidFill>
                  <a:srgbClr val="16213A"/>
                </a:solidFill>
                <a:latin typeface="Arial"/>
                <a:ea typeface="Malgun Gothic"/>
                <a:cs typeface="Malgun Gothic"/>
              </a:rPr>
              <a:t>식 우선순위와 dead-man 잠금으로 묶으면 된다. 다른 하나는 비교 기준이다. "Nav2 Smac + MPPI + 2D costmap" 구성은 보도 로봇의 흔한 출발점이므로, Isaac 폐루프에서 travplan 스택과 나란히 돌리면 2.5D 표현의 이득을 보여 줄 수 있다.</a:t>
            </a:r>
          </a:p>
        </p:txBody>
      </p:sp>
      <p:sp>
        <p:nvSpPr>
          <p:cNvPr id="6" name="TextBox 5"/>
          <p:cNvSpPr txBox="1"/>
          <p:nvPr/>
        </p:nvSpPr>
        <p:spPr>
          <a:xfrm>
            <a:off x="609600" y="1982986"/>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dddmr_navigation — Nav2가 못 하는 3D를 겨냥한 풀스택</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dfl-rlab/dddmr_navigation</a:t>
            </a:r>
            <a:r>
              <a:rPr sz="1050" b="0" i="0">
                <a:solidFill>
                  <a:srgbClr val="16213A"/>
                </a:solidFill>
                <a:latin typeface="Arial"/>
                <a:ea typeface="Malgun Gothic"/>
                <a:cs typeface="Malgun Gothic"/>
              </a:rPr>
              <a:t>, BSD-3-Clause, ★0.6k, 2026-09 활동). 2D costmap으로는 다루지 못하는 다층 바닥, 입체 구조, 3D 점군 위의 marking·clearing을 목표로 한다. 패키지 14개로 매핑부터 제어까지 덮는다. 배포는 Docker이고 기본 이미지가 </a:t>
            </a:r>
            <a:r>
              <a:rPr sz="1050" b="1" i="0">
                <a:solidFill>
                  <a:srgbClr val="16213A"/>
                </a:solidFill>
                <a:latin typeface="Arial"/>
                <a:ea typeface="Malgun Gothic"/>
                <a:cs typeface="Malgun Gothic"/>
              </a:rPr>
              <a:t>ROS 2 Humble</a:t>
            </a:r>
            <a:r>
              <a:rPr sz="1050" b="0" i="0">
                <a:solidFill>
                  <a:srgbClr val="16213A"/>
                </a:solidFill>
                <a:latin typeface="Arial"/>
                <a:ea typeface="Malgun Gothic"/>
                <a:cs typeface="Malgun Gothic"/>
              </a:rPr>
              <a:t>이다(24.04 변형도 있다).</a:t>
            </a:r>
          </a:p>
        </p:txBody>
      </p:sp>
      <p:graphicFrame>
        <p:nvGraphicFramePr>
          <p:cNvPr id="7" name="Table 6"/>
          <p:cNvGraphicFramePr>
            <a:graphicFrameLocks noGrp="1"/>
          </p:cNvGraphicFramePr>
          <p:nvPr/>
        </p:nvGraphicFramePr>
        <p:xfrm>
          <a:off x="609600" y="2504877"/>
          <a:ext cx="10966450" cy="1379616"/>
        </p:xfrm>
        <a:graphic>
          <a:graphicData uri="http://schemas.openxmlformats.org/drawingml/2006/table">
            <a:tbl>
              <a:tblPr firstRow="1" bandRow="1">
                <a:tableStyleId>{5C22544A-7EE6-4342-B048-85BDC9FD1C3A}</a:tableStyleId>
              </a:tblPr>
              <a:tblGrid>
                <a:gridCol w="935335"/>
                <a:gridCol w="4491137"/>
                <a:gridCol w="5539978"/>
              </a:tblGrid>
              <a:tr h="197088">
                <a:tc>
                  <a:txBody>
                    <a:bodyPr wrap="square"/>
                    <a:lstStyle/>
                    <a:p>
                      <a:r>
                        <a:rPr sz="800" b="1" i="0">
                          <a:solidFill>
                            <a:srgbClr val="F4F1EA"/>
                          </a:solidFill>
                          <a:latin typeface="Arial"/>
                          <a:ea typeface="Malgun Gothic"/>
                          <a:cs typeface="Malgun Gothic"/>
                        </a:rPr>
                        <a:t>층</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패키지</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하는 일</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매핑</a:t>
                      </a:r>
                    </a:p>
                  </a:txBody>
                  <a:tcPr marL="63500" marR="63500" marT="12700" marB="12700">
                    <a:solidFill>
                      <a:srgbClr val="FFFDF8"/>
                    </a:solidFill>
                  </a:tcPr>
                </a:tc>
                <a:tc>
                  <a:txBody>
                    <a:bodyPr wrap="square"/>
                    <a:lstStyle/>
                    <a:p>
                      <a:r>
                        <a:rPr sz="800" b="0" i="0">
                          <a:solidFill>
                            <a:srgbClr val="16213A"/>
                          </a:solidFill>
                          <a:latin typeface="Consolas"/>
                          <a:ea typeface="Malgun Gothic"/>
                          <a:cs typeface="Malgun Gothic"/>
                        </a:rPr>
                        <a:t>dddmr_lego_loam</a:t>
                      </a:r>
                      <a:r>
                        <a:rPr sz="800" b="0" i="0">
                          <a:solidFill>
                            <a:srgbClr val="16213A"/>
                          </a:solidFill>
                          <a:latin typeface="Arial"/>
                          <a:ea typeface="Malgun Gothic"/>
                          <a:cs typeface="Malgun Gothic"/>
                        </a:rPr>
                        <a:t>, </a:t>
                      </a:r>
                      <a:r>
                        <a:rPr sz="800" b="0" i="0">
                          <a:solidFill>
                            <a:srgbClr val="16213A"/>
                          </a:solidFill>
                          <a:latin typeface="Consolas"/>
                          <a:ea typeface="Malgun Gothic"/>
                          <a:cs typeface="Malgun Gothic"/>
                        </a:rPr>
                        <a:t>dddmr_pg_map_server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LeGO-LOAM으로 점군 지도를 만들고, pose graph 지도를 서비스한다</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위치 추정</a:t>
                      </a:r>
                    </a:p>
                  </a:txBody>
                  <a:tcPr marL="63500" marR="63500" marT="12700" marB="12700">
                    <a:solidFill>
                      <a:srgbClr val="F3F0E8"/>
                    </a:solidFill>
                  </a:tcPr>
                </a:tc>
                <a:tc>
                  <a:txBody>
                    <a:bodyPr wrap="square"/>
                    <a:lstStyle/>
                    <a:p>
                      <a:r>
                        <a:rPr sz="800" b="0" i="0">
                          <a:solidFill>
                            <a:srgbClr val="16213A"/>
                          </a:solidFill>
                          <a:latin typeface="Consolas"/>
                          <a:ea typeface="Malgun Gothic"/>
                          <a:cs typeface="Malgun Gothic"/>
                        </a:rPr>
                        <a:t>dddmr_mcl_3dl</a:t>
                      </a:r>
                      <a:r>
                        <a:rPr sz="800" b="0" i="0">
                          <a:solidFill>
                            <a:srgbClr val="16213A"/>
                          </a:solidFill>
                          <a:latin typeface="Arial"/>
                          <a:ea typeface="Malgun Gothic"/>
                          <a:cs typeface="Malgun Gothic"/>
                        </a:rPr>
                        <a:t>, </a:t>
                      </a:r>
                      <a:r>
                        <a:rPr sz="800" b="0" i="0">
                          <a:solidFill>
                            <a:srgbClr val="16213A"/>
                          </a:solidFill>
                          <a:latin typeface="Consolas"/>
                          <a:ea typeface="Malgun Gothic"/>
                          <a:cs typeface="Malgun Gothic"/>
                        </a:rPr>
                        <a:t>dddmr_odom_3d</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3D 점군 MCL. 지면 법선(</a:t>
                      </a:r>
                      <a:r>
                        <a:rPr sz="800" b="0" i="0">
                          <a:solidFill>
                            <a:srgbClr val="16213A"/>
                          </a:solidFill>
                          <a:latin typeface="Consolas"/>
                          <a:ea typeface="Malgun Gothic"/>
                          <a:cs typeface="Malgun Gothic"/>
                        </a:rPr>
                        <a:t>knn_num_of_ground_normals</a:t>
                      </a:r>
                      <a:r>
                        <a:rPr sz="800" b="0" i="0">
                          <a:solidFill>
                            <a:srgbClr val="16213A"/>
                          </a:solidFill>
                          <a:latin typeface="Arial"/>
                          <a:ea typeface="Malgun Gothic"/>
                          <a:cs typeface="Malgun Gothic"/>
                        </a:rPr>
                        <a:t>)을 정렬에 쓴다</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인식</a:t>
                      </a:r>
                    </a:p>
                  </a:txBody>
                  <a:tcPr marL="63500" marR="63500" marT="12700" marB="12700">
                    <a:solidFill>
                      <a:srgbClr val="FFFDF8"/>
                    </a:solidFill>
                  </a:tcPr>
                </a:tc>
                <a:tc>
                  <a:txBody>
                    <a:bodyPr wrap="square"/>
                    <a:lstStyle/>
                    <a:p>
                      <a:r>
                        <a:rPr sz="800" b="0" i="0">
                          <a:solidFill>
                            <a:srgbClr val="16213A"/>
                          </a:solidFill>
                          <a:latin typeface="Consolas"/>
                          <a:ea typeface="Malgun Gothic"/>
                          <a:cs typeface="Malgun Gothic"/>
                        </a:rPr>
                        <a:t>dddmr_perception_3d</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정적 지면 그래프 + 센서 동적 그래프, marking·clearing</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계획</a:t>
                      </a:r>
                    </a:p>
                  </a:txBody>
                  <a:tcPr marL="63500" marR="63500" marT="12700" marB="12700">
                    <a:solidFill>
                      <a:srgbClr val="F3F0E8"/>
                    </a:solidFill>
                  </a:tcPr>
                </a:tc>
                <a:tc>
                  <a:txBody>
                    <a:bodyPr wrap="square"/>
                    <a:lstStyle/>
                    <a:p>
                      <a:r>
                        <a:rPr sz="800" b="0" i="0">
                          <a:solidFill>
                            <a:srgbClr val="16213A"/>
                          </a:solidFill>
                          <a:latin typeface="Consolas"/>
                          <a:ea typeface="Malgun Gothic"/>
                          <a:cs typeface="Malgun Gothic"/>
                        </a:rPr>
                        <a:t>dddmr_global_planner</a:t>
                      </a:r>
                      <a:r>
                        <a:rPr sz="800" b="0" i="0">
                          <a:solidFill>
                            <a:srgbClr val="16213A"/>
                          </a:solidFill>
                          <a:latin typeface="Arial"/>
                          <a:ea typeface="Malgun Gothic"/>
                          <a:cs typeface="Malgun Gothic"/>
                        </a:rPr>
                        <a:t>, </a:t>
                      </a:r>
                      <a:r>
                        <a:rPr sz="800" b="0" i="0">
                          <a:solidFill>
                            <a:srgbClr val="16213A"/>
                          </a:solidFill>
                          <a:latin typeface="Consolas"/>
                          <a:ea typeface="Malgun Gothic"/>
                          <a:cs typeface="Malgun Gothic"/>
                        </a:rPr>
                        <a:t>dddmr_local_planner</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지면 점군 그래프 A*, 플러그인 궤적 생성기 + critic</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조정</a:t>
                      </a:r>
                    </a:p>
                  </a:txBody>
                  <a:tcPr marL="63500" marR="63500" marT="12700" marB="12700">
                    <a:solidFill>
                      <a:srgbClr val="FFFDF8"/>
                    </a:solidFill>
                  </a:tcPr>
                </a:tc>
                <a:tc>
                  <a:txBody>
                    <a:bodyPr wrap="square"/>
                    <a:lstStyle/>
                    <a:p>
                      <a:r>
                        <a:rPr sz="800" b="0" i="0">
                          <a:solidFill>
                            <a:srgbClr val="16213A"/>
                          </a:solidFill>
                          <a:latin typeface="Consolas"/>
                          <a:ea typeface="Malgun Gothic"/>
                          <a:cs typeface="Malgun Gothic"/>
                        </a:rPr>
                        <a:t>dddmr_p2p_move_base</a:t>
                      </a:r>
                      <a:r>
                        <a:rPr sz="800" b="0" i="0">
                          <a:solidFill>
                            <a:srgbClr val="16213A"/>
                          </a:solidFill>
                          <a:latin typeface="Arial"/>
                          <a:ea typeface="Malgun Gothic"/>
                          <a:cs typeface="Malgun Gothic"/>
                        </a:rPr>
                        <a:t>, </a:t>
                      </a:r>
                      <a:r>
                        <a:rPr sz="800" b="0" i="0">
                          <a:solidFill>
                            <a:srgbClr val="16213A"/>
                          </a:solidFill>
                          <a:latin typeface="Consolas"/>
                          <a:ea typeface="Malgun Gothic"/>
                          <a:cs typeface="Malgun Gothic"/>
                        </a:rPr>
                        <a:t>dddmr_explore_and_search</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내비 상태 기계, 탐사</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의미</a:t>
                      </a:r>
                    </a:p>
                  </a:txBody>
                  <a:tcPr marL="63500" marR="63500" marT="12700" marB="12700">
                    <a:solidFill>
                      <a:srgbClr val="F3F0E8"/>
                    </a:solidFill>
                  </a:tcPr>
                </a:tc>
                <a:tc>
                  <a:txBody>
                    <a:bodyPr wrap="square"/>
                    <a:lstStyle/>
                    <a:p>
                      <a:r>
                        <a:rPr sz="800" b="0" i="0">
                          <a:solidFill>
                            <a:srgbClr val="16213A"/>
                          </a:solidFill>
                          <a:latin typeface="Consolas"/>
                          <a:ea typeface="Malgun Gothic"/>
                          <a:cs typeface="Malgun Gothic"/>
                        </a:rPr>
                        <a:t>dddmr_semantic_segmentation</a:t>
                      </a:r>
                      <a:r>
                        <a:rPr sz="800" b="0" i="0">
                          <a:solidFill>
                            <a:srgbClr val="16213A"/>
                          </a:solidFill>
                          <a:latin typeface="Arial"/>
                          <a:ea typeface="Malgun Gothic"/>
                          <a:cs typeface="Malgun Gothic"/>
                        </a:rPr>
                        <a:t>, </a:t>
                      </a:r>
                      <a:r>
                        <a:rPr sz="800" b="0" i="0">
                          <a:solidFill>
                            <a:srgbClr val="16213A"/>
                          </a:solidFill>
                          <a:latin typeface="Consolas"/>
                          <a:ea typeface="Malgun Gothic"/>
                          <a:cs typeface="Malgun Gothic"/>
                        </a:rPr>
                        <a:t>dddmr_trt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TensorRT 추론으로 점군에 의미 라벨</a:t>
                      </a:r>
                    </a:p>
                  </a:txBody>
                  <a:tcPr marL="63500" marR="63500" marT="12700" marB="12700">
                    <a:solidFill>
                      <a:srgbClr val="F3F0E8"/>
                    </a:solidFill>
                  </a:tcPr>
                </a:tc>
              </a:tr>
            </a:tbl>
          </a:graphicData>
        </a:graphic>
      </p:graphicFrame>
      <p:sp>
        <p:nvSpPr>
          <p:cNvPr id="8" name="TextBox 7"/>
          <p:cNvSpPr txBox="1"/>
          <p:nvPr/>
        </p:nvSpPr>
        <p:spPr>
          <a:xfrm>
            <a:off x="609600" y="4324648"/>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인식이 무엇을 드는가.</a:t>
            </a:r>
            <a:r>
              <a:rPr sz="1050" b="0" i="0">
                <a:solidFill>
                  <a:srgbClr val="16213A"/>
                </a:solidFill>
                <a:latin typeface="Arial"/>
                <a:ea typeface="Malgun Gothic"/>
                <a:cs typeface="Malgun Gothic"/>
              </a:rPr>
              <a:t> 두 그래프를 겹친다. </a:t>
            </a:r>
            <a:r>
              <a:rPr sz="1050" b="1" i="0">
                <a:solidFill>
                  <a:srgbClr val="16213A"/>
                </a:solidFill>
                <a:latin typeface="Arial"/>
                <a:ea typeface="Malgun Gothic"/>
                <a:cs typeface="Malgun Gothic"/>
              </a:rPr>
              <a:t>정적 그래프</a:t>
            </a:r>
            <a:r>
              <a:rPr sz="1050" b="0" i="0">
                <a:solidFill>
                  <a:srgbClr val="16213A"/>
                </a:solidFill>
                <a:latin typeface="Arial"/>
                <a:ea typeface="Malgun Gothic"/>
                <a:cs typeface="Malgun Gothic"/>
              </a:rPr>
              <a:t>는 지도에서 온 </a:t>
            </a:r>
            <a:r>
              <a:rPr sz="1050" b="1" i="0">
                <a:solidFill>
                  <a:srgbClr val="16213A"/>
                </a:solidFill>
                <a:latin typeface="Arial"/>
                <a:ea typeface="Malgun Gothic"/>
                <a:cs typeface="Malgun Gothic"/>
              </a:rPr>
              <a:t>지면 점군</a:t>
            </a:r>
            <a:r>
              <a:rPr sz="1050" b="0" i="0">
                <a:solidFill>
                  <a:srgbClr val="16213A"/>
                </a:solidFill>
                <a:latin typeface="Arial"/>
                <a:ea typeface="Malgun Gothic"/>
                <a:cs typeface="Malgun Gothic"/>
              </a:rPr>
              <a:t>(</a:t>
            </a:r>
            <a:r>
              <a:rPr sz="1050" b="0" i="0">
                <a:solidFill>
                  <a:srgbClr val="16213A"/>
                </a:solidFill>
                <a:latin typeface="Consolas"/>
                <a:ea typeface="Malgun Gothic"/>
                <a:cs typeface="Malgun Gothic"/>
              </a:rPr>
              <a:t>mapground</a:t>
            </a:r>
            <a:r>
              <a:rPr sz="1050" b="0" i="0">
                <a:solidFill>
                  <a:srgbClr val="16213A"/>
                </a:solidFill>
                <a:latin typeface="Arial"/>
                <a:ea typeface="Malgun Gothic"/>
                <a:cs typeface="Malgun Gothic"/>
              </a:rPr>
              <a:t> 토픽)으로 만든다. 지면 점을 </a:t>
            </a:r>
            <a:r>
              <a:rPr sz="1050" b="0" i="0">
                <a:solidFill>
                  <a:srgbClr val="16213A"/>
                </a:solidFill>
                <a:latin typeface="Consolas"/>
                <a:ea typeface="Malgun Gothic"/>
                <a:cs typeface="Malgun Gothic"/>
              </a:rPr>
              <a:t>radius_of_ground_connection</a:t>
            </a:r>
            <a:r>
              <a:rPr sz="1050" b="0" i="0">
                <a:solidFill>
                  <a:srgbClr val="16213A"/>
                </a:solidFill>
                <a:latin typeface="Arial"/>
                <a:ea typeface="Malgun Gothic"/>
                <a:cs typeface="Malgun Gothic"/>
              </a:rPr>
              <a:t>(기본 1.0 m) 안에서 서로 이어 간선을 만들고, 점마다 경계 근접 벌점을 미리 구워 넣는다 (</a:t>
            </a:r>
            <a:r>
              <a:rPr sz="1050" b="0" i="0">
                <a:solidFill>
                  <a:srgbClr val="16213A"/>
                </a:solidFill>
                <a:latin typeface="Consolas"/>
                <a:ea typeface="Malgun Gothic"/>
                <a:cs typeface="Malgun Gothic"/>
              </a:rPr>
              <a:t>intensity_search_radius</a:t>
            </a:r>
            <a:r>
              <a:rPr sz="1050" b="0" i="0">
                <a:solidFill>
                  <a:srgbClr val="16213A"/>
                </a:solidFill>
                <a:latin typeface="Arial"/>
                <a:ea typeface="Malgun Gothic"/>
                <a:cs typeface="Malgun Gothic"/>
              </a:rPr>
              <a:t> 1.0 m, </a:t>
            </a:r>
            <a:r>
              <a:rPr sz="1050" b="0" i="0">
                <a:solidFill>
                  <a:srgbClr val="16213A"/>
                </a:solidFill>
                <a:latin typeface="Consolas"/>
                <a:ea typeface="Malgun Gothic"/>
                <a:cs typeface="Malgun Gothic"/>
              </a:rPr>
              <a:t>intensity_search_punish_weight</a:t>
            </a:r>
            <a:r>
              <a:rPr sz="1050" b="0" i="0">
                <a:solidFill>
                  <a:srgbClr val="16213A"/>
                </a:solidFill>
                <a:latin typeface="Arial"/>
                <a:ea typeface="Malgun Gothic"/>
                <a:cs typeface="Malgun Gothic"/>
              </a:rPr>
              <a:t> 0.1). </a:t>
            </a:r>
            <a:r>
              <a:rPr sz="1050" b="1" i="0">
                <a:solidFill>
                  <a:srgbClr val="16213A"/>
                </a:solidFill>
                <a:latin typeface="Arial"/>
                <a:ea typeface="Malgun Gothic"/>
                <a:cs typeface="Malgun Gothic"/>
              </a:rPr>
              <a:t>동적 그래프</a:t>
            </a:r>
            <a:r>
              <a:rPr sz="1050" b="0" i="0">
                <a:solidFill>
                  <a:srgbClr val="16213A"/>
                </a:solidFill>
                <a:latin typeface="Arial"/>
                <a:ea typeface="Malgun Gothic"/>
                <a:cs typeface="Malgun Gothic"/>
              </a:rPr>
              <a:t>는 센서 점군을 클러스터로 묶어 중심점을 KDTree에 넣고(</a:t>
            </a:r>
            <a:r>
              <a:rPr sz="1050" b="0" i="0">
                <a:solidFill>
                  <a:srgbClr val="16213A"/>
                </a:solidFill>
                <a:latin typeface="Consolas"/>
                <a:ea typeface="Malgun Gothic"/>
                <a:cs typeface="Malgun Gothic"/>
              </a:rPr>
              <a:t>cluster_kdtree_marking</a:t>
            </a:r>
            <a:r>
              <a:rPr sz="1050" b="0" i="0">
                <a:solidFill>
                  <a:srgbClr val="16213A"/>
                </a:solidFill>
                <a:latin typeface="Arial"/>
                <a:ea typeface="Malgun Gothic"/>
                <a:cs typeface="Malgun Gothic"/>
              </a:rPr>
              <a:t>), 시선이 비어 있는 곳을 ray casting으로 지운다. 깊이 카메라는 절두체 안팎을 따로 판정한다 (</a:t>
            </a:r>
            <a:r>
              <a:rPr sz="1050" b="0" i="0">
                <a:solidFill>
                  <a:srgbClr val="16213A"/>
                </a:solidFill>
                <a:latin typeface="Consolas"/>
                <a:ea typeface="Malgun Gothic"/>
                <a:cs typeface="Malgun Gothic"/>
              </a:rPr>
              <a:t>depth_camera_layer</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frustum_utils</a:t>
            </a:r>
            <a:r>
              <a:rPr sz="1050" b="0" i="0">
                <a:solidFill>
                  <a:srgbClr val="16213A"/>
                </a:solidFill>
                <a:latin typeface="Arial"/>
                <a:ea typeface="Malgun Gothic"/>
                <a:cs typeface="Malgun Gothic"/>
              </a:rPr>
              <a:t>). 층은 정적·속도 제한·진입 금지 셋으로 쌓는다.</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B.12 로봇별 오픈소스 Planner: 자율주행 자동차, 사족보행, 휴머노이드, 바퀴 로봇</a:t>
            </a:r>
            <a:r>
              <a:rPr sz="1050" b="0" i="0">
                <a:solidFill>
                  <a:srgbClr val="5A6478"/>
                </a:solidFill>
                <a:latin typeface="Arial"/>
                <a:ea typeface="Malgun Gothic"/>
                <a:cs typeface="Malgun Gothic"/>
              </a:rPr>
              <a:t>  5/6</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168 / 516</a:t>
            </a:r>
          </a:p>
        </p:txBody>
      </p:sp>
      <p:pic>
        <p:nvPicPr>
          <p:cNvPr id="5" name="Picture 4" descr="image.jpg"/>
          <p:cNvPicPr>
            <a:picLocks noChangeAspect="1"/>
          </p:cNvPicPr>
          <p:nvPr/>
        </p:nvPicPr>
        <p:blipFill>
          <a:blip r:embed="rId3"/>
          <a:stretch>
            <a:fillRect/>
          </a:stretch>
        </p:blipFill>
        <p:spPr>
          <a:xfrm>
            <a:off x="3178175" y="1244600"/>
            <a:ext cx="5835650" cy="4445000"/>
          </a:xfrm>
          <a:prstGeom prst="rect">
            <a:avLst/>
          </a:prstGeom>
        </p:spPr>
      </p:pic>
      <p:sp>
        <p:nvSpPr>
          <p:cNvPr id="6" name="TextBox 5"/>
          <p:cNvSpPr txBox="1"/>
          <p:nvPr/>
        </p:nvSpPr>
        <p:spPr>
          <a:xfrm>
            <a:off x="3178175" y="5727700"/>
            <a:ext cx="583565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dddmr_navigation (구성도): 매핑, 위치 추정, 3D 점군 인식, 전역·로컬 계획이 이어지는 스택 구조. 출처: dfl-rlab/dddmr_documentation_materials</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B.12 로봇별 오픈소스 Planner: 자율주행 자동차, 사족보행, 휴머노이드, 바퀴 로봇</a:t>
            </a:r>
            <a:r>
              <a:rPr sz="1050" b="0" i="0">
                <a:solidFill>
                  <a:srgbClr val="5A6478"/>
                </a:solidFill>
                <a:latin typeface="Arial"/>
                <a:ea typeface="Malgun Gothic"/>
                <a:cs typeface="Malgun Gothic"/>
              </a:rPr>
              <a:t>  6/6</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169 / 516</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계획.</a:t>
            </a:r>
            <a:r>
              <a:rPr sz="1050" b="0" i="0">
                <a:solidFill>
                  <a:srgbClr val="16213A"/>
                </a:solidFill>
                <a:latin typeface="Arial"/>
                <a:ea typeface="Malgun Gothic"/>
                <a:cs typeface="Malgun Gothic"/>
              </a:rPr>
              <a:t> 전역은 지면 그래프 위의 A*다(</a:t>
            </a:r>
            <a:r>
              <a:rPr sz="1050" b="0" i="0">
                <a:solidFill>
                  <a:srgbClr val="16213A"/>
                </a:solidFill>
                <a:latin typeface="Consolas"/>
                <a:ea typeface="Malgun Gothic"/>
                <a:cs typeface="Malgun Gothic"/>
              </a:rPr>
              <a:t>a_star_on_pre_graph.cpp</a:t>
            </a:r>
            <a:r>
              <a:rPr sz="1050" b="0" i="0">
                <a:solidFill>
                  <a:srgbClr val="16213A"/>
                </a:solidFill>
                <a:latin typeface="Arial"/>
                <a:ea typeface="Malgun Gothic"/>
                <a:cs typeface="Malgun Gothic"/>
              </a:rPr>
              <a:t>). 로컬은 플러그인 구조로, 궤적 생성기가 후보를 내고 critic이 점수를 매긴다. 생성기는 차동(</a:t>
            </a:r>
            <a:r>
              <a:rPr sz="1050" b="0" i="0">
                <a:solidFill>
                  <a:srgbClr val="16213A"/>
                </a:solidFill>
                <a:latin typeface="Consolas"/>
                <a:ea typeface="Malgun Gothic"/>
                <a:cs typeface="Malgun Gothic"/>
              </a:rPr>
              <a:t>dd_simple_trajectory_generator</a:t>
            </a:r>
            <a:r>
              <a:rPr sz="1050" b="0" i="0">
                <a:solidFill>
                  <a:srgbClr val="16213A"/>
                </a:solidFill>
                <a:latin typeface="Arial"/>
                <a:ea typeface="Malgun Gothic"/>
                <a:cs typeface="Malgun Gothic"/>
              </a:rPr>
              <a:t>), 조향(Ackermann), 전방향을 지원하고 </a:t>
            </a:r>
            <a:r>
              <a:rPr sz="1050" b="0" i="0">
                <a:solidFill>
                  <a:srgbClr val="16213A"/>
                </a:solidFill>
                <a:latin typeface="Consolas"/>
                <a:ea typeface="Malgun Gothic"/>
                <a:cs typeface="Malgun Gothic"/>
              </a:rPr>
              <a:t>MOTOR</a:t>
            </a:r>
            <a:r>
              <a:rPr sz="1050" b="0" i="0">
                <a:solidFill>
                  <a:srgbClr val="16213A"/>
                </a:solidFill>
                <a:latin typeface="Arial"/>
                <a:ea typeface="Malgun Gothic"/>
                <a:cs typeface="Malgun Gothic"/>
              </a:rPr>
              <a:t>와 </a:t>
            </a:r>
            <a:r>
              <a:rPr sz="1050" b="0" i="0">
                <a:solidFill>
                  <a:srgbClr val="16213A"/>
                </a:solidFill>
                <a:latin typeface="Consolas"/>
                <a:ea typeface="Malgun Gothic"/>
                <a:cs typeface="Malgun Gothic"/>
              </a:rPr>
              <a:t>STEERING</a:t>
            </a:r>
            <a:r>
              <a:rPr sz="1050" b="0" i="0">
                <a:solidFill>
                  <a:srgbClr val="16213A"/>
                </a:solidFill>
                <a:latin typeface="Arial"/>
                <a:ea typeface="Malgun Gothic"/>
                <a:cs typeface="Malgun Gothic"/>
              </a:rPr>
              <a:t> 중 하나를 선언해 </a:t>
            </a:r>
            <a:r>
              <a:rPr sz="1050" b="0" i="0">
                <a:solidFill>
                  <a:srgbClr val="16213A"/>
                </a:solidFill>
                <a:latin typeface="Consolas"/>
                <a:ea typeface="Malgun Gothic"/>
                <a:cs typeface="Malgun Gothic"/>
              </a:rPr>
              <a:t>Twist</a:t>
            </a:r>
            <a:r>
              <a:rPr sz="1050" b="0" i="0">
                <a:solidFill>
                  <a:srgbClr val="16213A"/>
                </a:solidFill>
                <a:latin typeface="Arial"/>
                <a:ea typeface="Malgun Gothic"/>
                <a:cs typeface="Malgun Gothic"/>
              </a:rPr>
              <a:t>와 </a:t>
            </a:r>
            <a:r>
              <a:rPr sz="1050" b="0" i="0">
                <a:solidFill>
                  <a:srgbClr val="16213A"/>
                </a:solidFill>
                <a:latin typeface="Consolas"/>
                <a:ea typeface="Malgun Gothic"/>
                <a:cs typeface="Malgun Gothic"/>
              </a:rPr>
              <a:t>Ackermann</a:t>
            </a:r>
            <a:r>
              <a:rPr sz="1050" b="0" i="0">
                <a:solidFill>
                  <a:srgbClr val="16213A"/>
                </a:solidFill>
                <a:latin typeface="Arial"/>
                <a:ea typeface="Malgun Gothic"/>
                <a:cs typeface="Malgun Gothic"/>
              </a:rPr>
              <a:t> 출력을 가른다. 충돌 검사는 2D 투영이 아니라 </a:t>
            </a:r>
            <a:r>
              <a:rPr sz="1050" b="1" i="0">
                <a:solidFill>
                  <a:srgbClr val="16213A"/>
                </a:solidFill>
                <a:latin typeface="Arial"/>
                <a:ea typeface="Malgun Gothic"/>
                <a:cs typeface="Malgun Gothic"/>
              </a:rPr>
              <a:t>3D 직육면체 안의 점군 확인</a:t>
            </a:r>
            <a:r>
              <a:rPr sz="1050" b="0" i="0">
                <a:solidFill>
                  <a:srgbClr val="16213A"/>
                </a:solidFill>
                <a:latin typeface="Arial"/>
                <a:ea typeface="Malgun Gothic"/>
                <a:cs typeface="Malgun Gothic"/>
              </a:rPr>
              <a:t>으로 한다. v2.0.0의 </a:t>
            </a:r>
            <a:r>
              <a:rPr sz="1050" b="0" i="0">
                <a:solidFill>
                  <a:srgbClr val="16213A"/>
                </a:solidFill>
                <a:latin typeface="Consolas"/>
                <a:ea typeface="Malgun Gothic"/>
                <a:cs typeface="Malgun Gothic"/>
              </a:rPr>
              <a:t>expertScoring()</a:t>
            </a:r>
            <a:r>
              <a:rPr sz="1050" b="0" i="0">
                <a:solidFill>
                  <a:srgbClr val="16213A"/>
                </a:solidFill>
                <a:latin typeface="Arial"/>
                <a:ea typeface="Malgun Gothic"/>
                <a:cs typeface="Malgun Gothic"/>
              </a:rPr>
              <a:t>은 MPPI식 채점을 받는 자리다.</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B.12 로봇별 오픈소스 Planner: 자율주행 자동차, 사족보행, 휴머노이드, 바퀴 로봇</a:t>
            </a:r>
            <a:r>
              <a:rPr sz="1050" b="0" i="0">
                <a:solidFill>
                  <a:srgbClr val="5A6478"/>
                </a:solidFill>
                <a:latin typeface="Arial"/>
                <a:ea typeface="Malgun Gothic"/>
                <a:cs typeface="Malgun Gothic"/>
              </a:rPr>
              <a:t>  자세히: dddmr의 A\* 비용과 travplan 비용의 차이</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170 / 516</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간선 비용.</a:t>
            </a:r>
            <a:r>
              <a:rPr sz="1050" b="0" i="0">
                <a:solidFill>
                  <a:srgbClr val="16213A"/>
                </a:solidFill>
                <a:latin typeface="Arial"/>
                <a:ea typeface="Malgun Gothic"/>
                <a:cs typeface="Malgun Gothic"/>
              </a:rPr>
              <a:t> 노드 </a:t>
            </a:r>
            <a:r>
              <a:rPr sz="1050" b="0" i="1">
                <a:solidFill>
                  <a:srgbClr val="16213A"/>
                </a:solidFill>
                <a:latin typeface="Arial"/>
                <a:ea typeface="Malgun Gothic"/>
                <a:cs typeface="Malgun Gothic"/>
              </a:rPr>
              <a:t>n</a:t>
            </a:r>
            <a:r>
              <a:rPr sz="1050" b="0" i="0">
                <a:solidFill>
                  <a:srgbClr val="16213A"/>
                </a:solidFill>
                <a:latin typeface="Arial"/>
                <a:ea typeface="Malgun Gothic"/>
                <a:cs typeface="Malgun Gothic"/>
              </a:rPr>
              <a:t>에서 </a:t>
            </a:r>
            <a:r>
              <a:rPr sz="1050" b="0" i="1">
                <a:solidFill>
                  <a:srgbClr val="16213A"/>
                </a:solidFill>
                <a:latin typeface="Arial"/>
                <a:ea typeface="Malgun Gothic"/>
                <a:cs typeface="Malgun Gothic"/>
              </a:rPr>
              <a:t>n'</a:t>
            </a:r>
            <a:r>
              <a:rPr sz="1050" b="0" i="0">
                <a:solidFill>
                  <a:srgbClr val="16213A"/>
                </a:solidFill>
                <a:latin typeface="Arial"/>
                <a:ea typeface="Malgun Gothic"/>
                <a:cs typeface="Malgun Gothic"/>
              </a:rPr>
              <a:t>로 확장할 때의 비용은 네 항의 합이다. </a:t>
            </a:r>
            <a:r>
              <a:rPr sz="1050" b="0" i="1">
                <a:solidFill>
                  <a:srgbClr val="16213A"/>
                </a:solidFill>
                <a:latin typeface="Arial"/>
                <a:ea typeface="Malgun Gothic"/>
                <a:cs typeface="Malgun Gothic"/>
              </a:rPr>
              <a:t>d(n,n')</a:t>
            </a:r>
            <a:r>
              <a:rPr sz="1050" b="0" i="0">
                <a:solidFill>
                  <a:srgbClr val="16213A"/>
                </a:solidFill>
                <a:latin typeface="Arial"/>
                <a:ea typeface="Malgun Gothic"/>
                <a:cs typeface="Malgun Gothic"/>
              </a:rPr>
              <a:t>는 두 지면 점 사이 거리, </a:t>
            </a:r>
            <a:r>
              <a:rPr sz="1050" b="0" i="1">
                <a:solidFill>
                  <a:srgbClr val="16213A"/>
                </a:solidFill>
                <a:latin typeface="Arial"/>
                <a:ea typeface="Malgun Gothic"/>
                <a:cs typeface="Malgun Gothic"/>
              </a:rPr>
              <a:t>dₗₑₜₕₐₗ</a:t>
            </a:r>
            <a:r>
              <a:rPr sz="1050" b="0" i="0">
                <a:solidFill>
                  <a:srgbClr val="16213A"/>
                </a:solidFill>
                <a:latin typeface="Arial"/>
                <a:ea typeface="Malgun Gothic"/>
                <a:cs typeface="Malgun Gothic"/>
              </a:rPr>
              <a:t>은 치명까지의 거리, </a:t>
            </a:r>
            <a:r>
              <a:rPr sz="1050" b="0" i="1">
                <a:solidFill>
                  <a:srgbClr val="16213A"/>
                </a:solidFill>
                <a:latin typeface="Arial"/>
                <a:ea typeface="Malgun Gothic"/>
                <a:cs typeface="Malgun Gothic"/>
              </a:rPr>
              <a:t>rᵢₙ</a:t>
            </a:r>
            <a:r>
              <a:rPr sz="1050" b="0" i="0">
                <a:solidFill>
                  <a:srgbClr val="16213A"/>
                </a:solidFill>
                <a:latin typeface="Arial"/>
                <a:ea typeface="Malgun Gothic"/>
                <a:cs typeface="Malgun Gothic"/>
              </a:rPr>
              <a:t>은 로봇 내접 반지름, </a:t>
            </a:r>
            <a:r>
              <a:rPr sz="1050" b="0" i="1">
                <a:solidFill>
                  <a:srgbClr val="16213A"/>
                </a:solidFill>
                <a:latin typeface="Arial"/>
                <a:ea typeface="Malgun Gothic"/>
                <a:cs typeface="Malgun Gothic"/>
              </a:rPr>
              <a:t>θ</a:t>
            </a:r>
            <a:r>
              <a:rPr sz="1050" b="0" i="0">
                <a:solidFill>
                  <a:srgbClr val="16213A"/>
                </a:solidFill>
                <a:latin typeface="Arial"/>
                <a:ea typeface="Malgun Gothic"/>
                <a:cs typeface="Malgun Gothic"/>
              </a:rPr>
              <a:t>는 직전 간선과의 방향 변화, </a:t>
            </a:r>
            <a:r>
              <a:rPr sz="1050" b="0" i="1">
                <a:solidFill>
                  <a:srgbClr val="16213A"/>
                </a:solidFill>
                <a:latin typeface="Arial"/>
                <a:ea typeface="Malgun Gothic"/>
                <a:cs typeface="Malgun Gothic"/>
              </a:rPr>
              <a:t>p(n)</a:t>
            </a:r>
            <a:r>
              <a:rPr sz="1050" b="0" i="0">
                <a:solidFill>
                  <a:srgbClr val="16213A"/>
                </a:solidFill>
                <a:latin typeface="Arial"/>
                <a:ea typeface="Malgun Gothic"/>
                <a:cs typeface="Malgun Gothic"/>
              </a:rPr>
              <a:t>은 정적 층이 미리 구워 둔 경계 근접 벌점이다.</a:t>
            </a:r>
          </a:p>
        </p:txBody>
      </p:sp>
      <p:pic>
        <p:nvPicPr>
          <p:cNvPr id="6" name="Picture 5" descr="image.png"/>
          <p:cNvPicPr>
            <a:picLocks noChangeAspect="1"/>
          </p:cNvPicPr>
          <p:nvPr/>
        </p:nvPicPr>
        <p:blipFill>
          <a:blip r:embed="rId3"/>
          <a:stretch>
            <a:fillRect/>
          </a:stretch>
        </p:blipFill>
        <p:spPr>
          <a:xfrm>
            <a:off x="609600" y="1766491"/>
            <a:ext cx="3971925" cy="257175"/>
          </a:xfrm>
          <a:prstGeom prst="rect">
            <a:avLst/>
          </a:prstGeom>
        </p:spPr>
      </p:pic>
      <p:sp>
        <p:nvSpPr>
          <p:cNvPr id="7" name="TextBox 6"/>
          <p:cNvSpPr txBox="1"/>
          <p:nvPr/>
        </p:nvSpPr>
        <p:spPr>
          <a:xfrm>
            <a:off x="609600" y="2056209"/>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휴리스틱 </a:t>
            </a:r>
            <a:r>
              <a:rPr sz="1050" b="0" i="1">
                <a:solidFill>
                  <a:srgbClr val="16213A"/>
                </a:solidFill>
                <a:latin typeface="Arial"/>
                <a:ea typeface="Malgun Gothic"/>
                <a:cs typeface="Malgun Gothic"/>
              </a:rPr>
              <a:t>h</a:t>
            </a:r>
            <a:r>
              <a:rPr sz="1050" b="0" i="0">
                <a:solidFill>
                  <a:srgbClr val="16213A"/>
                </a:solidFill>
                <a:latin typeface="Arial"/>
                <a:ea typeface="Malgun Gothic"/>
                <a:cs typeface="Malgun Gothic"/>
              </a:rPr>
              <a:t>는 목표까지의 유클리드 거리다. 치명 판정은 딱딱한 제약으로 들어간다. </a:t>
            </a:r>
            <a:r>
              <a:rPr sz="1050" b="0" i="1">
                <a:solidFill>
                  <a:srgbClr val="16213A"/>
                </a:solidFill>
                <a:latin typeface="Arial"/>
                <a:ea typeface="Malgun Gothic"/>
                <a:cs typeface="Malgun Gothic"/>
              </a:rPr>
              <a:t>dₗₑₜₕₐₗ(n') &lt; rᵢₙ</a:t>
            </a:r>
            <a:r>
              <a:rPr sz="1050" b="0" i="0">
                <a:solidFill>
                  <a:srgbClr val="16213A"/>
                </a:solidFill>
                <a:latin typeface="Arial"/>
                <a:ea typeface="Malgun Gothic"/>
                <a:cs typeface="Malgun Gothic"/>
              </a:rPr>
              <a:t>이면 그 노드는 확장하지 않는다.</a:t>
            </a:r>
          </a:p>
        </p:txBody>
      </p:sp>
      <p:sp>
        <p:nvSpPr>
          <p:cNvPr id="8" name="TextBox 7"/>
          <p:cNvSpPr txBox="1"/>
          <p:nvPr/>
        </p:nvSpPr>
        <p:spPr>
          <a:xfrm>
            <a:off x="609600" y="2361605"/>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무엇이 없는가.</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네 항 어디에도 높이 방향 정보가 없다. 경사도, 턱 높이, 거칠기가 비용에 들어가지 않는다.</a:t>
            </a:r>
            <a:r>
              <a:rPr sz="1050" b="0" i="0">
                <a:solidFill>
                  <a:srgbClr val="16213A"/>
                </a:solidFill>
                <a:latin typeface="Arial"/>
                <a:ea typeface="Malgun Gothic"/>
                <a:cs typeface="Malgun Gothic"/>
              </a:rPr>
              <a:t> 지면인지 아닌지는 </a:t>
            </a:r>
            <a:r>
              <a:rPr sz="1050" b="0" i="0">
                <a:solidFill>
                  <a:srgbClr val="16213A"/>
                </a:solidFill>
                <a:latin typeface="Consolas"/>
                <a:ea typeface="Malgun Gothic"/>
                <a:cs typeface="Malgun Gothic"/>
              </a:rPr>
              <a:t>mapground</a:t>
            </a:r>
            <a:r>
              <a:rPr sz="1050" b="0" i="0">
                <a:solidFill>
                  <a:srgbClr val="16213A"/>
                </a:solidFill>
                <a:latin typeface="Arial"/>
                <a:ea typeface="Malgun Gothic"/>
                <a:cs typeface="Malgun Gothic"/>
              </a:rPr>
              <a:t> 점군에 들어 있는지로 정해지고, 그 분리는 지도를 만들 때 오프라인으로 끝난다. 소스에서 slope, step, roughness에 해당하는 계산을 찾지 못했다. 지면 법선은 쓰이지만 </a:t>
            </a:r>
            <a:r>
              <a:rPr sz="1050" b="0" i="0">
                <a:solidFill>
                  <a:srgbClr val="16213A"/>
                </a:solidFill>
                <a:latin typeface="Consolas"/>
                <a:ea typeface="Malgun Gothic"/>
                <a:cs typeface="Malgun Gothic"/>
              </a:rPr>
              <a:t>dddmr_mcl_3dl</a:t>
            </a:r>
            <a:r>
              <a:rPr sz="1050" b="0" i="0">
                <a:solidFill>
                  <a:srgbClr val="16213A"/>
                </a:solidFill>
                <a:latin typeface="Arial"/>
                <a:ea typeface="Malgun Gothic"/>
                <a:cs typeface="Malgun Gothic"/>
              </a:rPr>
              <a:t>의 위치 정렬용이고 비용이 아니다.</a:t>
            </a:r>
          </a:p>
        </p:txBody>
      </p:sp>
      <p:sp>
        <p:nvSpPr>
          <p:cNvPr id="9" name="TextBox 8"/>
          <p:cNvSpPr txBox="1"/>
          <p:nvPr/>
        </p:nvSpPr>
        <p:spPr>
          <a:xfrm>
            <a:off x="609600" y="2883495"/>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travplan의 비용.</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GeometricTraversability</a:t>
            </a:r>
            <a:r>
              <a:rPr sz="1050" b="0" i="0">
                <a:solidFill>
                  <a:srgbClr val="16213A"/>
                </a:solidFill>
                <a:latin typeface="Arial"/>
                <a:ea typeface="Malgun Gothic"/>
                <a:cs typeface="Malgun Gothic"/>
              </a:rPr>
              <a:t>는 매 스텝 belief 지도에서 세 가지를 재고 그중 최댓값을 쓴다(B.12.4의 PUTN 토글과 같은 식).</a:t>
            </a:r>
          </a:p>
        </p:txBody>
      </p:sp>
      <p:pic>
        <p:nvPicPr>
          <p:cNvPr id="10" name="Picture 9" descr="image.png"/>
          <p:cNvPicPr>
            <a:picLocks noChangeAspect="1"/>
          </p:cNvPicPr>
          <p:nvPr/>
        </p:nvPicPr>
        <p:blipFill>
          <a:blip r:embed="rId4"/>
          <a:stretch>
            <a:fillRect/>
          </a:stretch>
        </p:blipFill>
        <p:spPr>
          <a:xfrm>
            <a:off x="609600" y="3188891"/>
            <a:ext cx="5946775" cy="241300"/>
          </a:xfrm>
          <a:prstGeom prst="rect">
            <a:avLst/>
          </a:prstGeom>
        </p:spPr>
      </p:pic>
      <p:sp>
        <p:nvSpPr>
          <p:cNvPr id="11" name="TextBox 10"/>
          <p:cNvSpPr txBox="1"/>
          <p:nvPr/>
        </p:nvSpPr>
        <p:spPr>
          <a:xfrm>
            <a:off x="609600" y="3466405"/>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그래서 무엇이 갈리는가.</a:t>
            </a:r>
            <a:r>
              <a:rPr sz="1050" b="0" i="0">
                <a:solidFill>
                  <a:srgbClr val="16213A"/>
                </a:solidFill>
                <a:latin typeface="Arial"/>
                <a:ea typeface="Malgun Gothic"/>
                <a:cs typeface="Malgun Gothic"/>
              </a:rPr>
              <a:t> 세 가지다. 첫째, </a:t>
            </a:r>
            <a:r>
              <a:rPr sz="1050" b="1" i="0">
                <a:solidFill>
                  <a:srgbClr val="16213A"/>
                </a:solidFill>
                <a:latin typeface="Arial"/>
                <a:ea typeface="Malgun Gothic"/>
                <a:cs typeface="Malgun Gothic"/>
              </a:rPr>
              <a:t>넘어갈 수 있는 낙차와 없는 낙차를 구분하지 못한다.</a:t>
            </a:r>
            <a:r>
              <a:rPr sz="1050" b="0" i="0">
                <a:solidFill>
                  <a:srgbClr val="16213A"/>
                </a:solidFill>
                <a:latin typeface="Arial"/>
                <a:ea typeface="Malgun Gothic"/>
                <a:cs typeface="Malgun Gothic"/>
              </a:rPr>
              <a:t> 0.07 m 턱과 0.24 m 연석이 둘 다 지면 점군에 있으면 둘 다 같은 비용이다. travplan은 </a:t>
            </a:r>
            <a:r>
              <a:rPr sz="1050" b="0" i="0">
                <a:solidFill>
                  <a:srgbClr val="16213A"/>
                </a:solidFill>
                <a:latin typeface="Consolas"/>
                <a:ea typeface="Malgun Gothic"/>
                <a:cs typeface="Malgun Gothic"/>
              </a:rPr>
              <a:t>max_step_m</a:t>
            </a:r>
            <a:r>
              <a:rPr sz="1050" b="0" i="0">
                <a:solidFill>
                  <a:srgbClr val="16213A"/>
                </a:solidFill>
                <a:latin typeface="Arial"/>
                <a:ea typeface="Malgun Gothic"/>
                <a:cs typeface="Malgun Gothic"/>
              </a:rPr>
              <a:t>(0.08 m)을 기준으로 가른다. 둘째, </a:t>
            </a:r>
            <a:r>
              <a:rPr sz="1050" b="1" i="0">
                <a:solidFill>
                  <a:srgbClr val="16213A"/>
                </a:solidFill>
                <a:latin typeface="Arial"/>
                <a:ea typeface="Malgun Gothic"/>
                <a:cs typeface="Malgun Gothic"/>
              </a:rPr>
              <a:t>지도에 없는 것을 보지 못한다.</a:t>
            </a:r>
            <a:r>
              <a:rPr sz="1050" b="0" i="0">
                <a:solidFill>
                  <a:srgbClr val="16213A"/>
                </a:solidFill>
                <a:latin typeface="Arial"/>
                <a:ea typeface="Malgun Gothic"/>
                <a:cs typeface="Malgun Gothic"/>
              </a:rPr>
              <a:t> 지면 분리가 오프라인이므로, 새로 생긴 포트홀은 점이 아예 없어 그래프에 구멍으로 남거나 그냥 이어진다. travplan은 매 스텝 belief에서 계산하고 미관측을 σ로 들고 간다. 셋째, </a:t>
            </a:r>
            <a:r>
              <a:rPr sz="1050" b="1" i="0">
                <a:solidFill>
                  <a:srgbClr val="16213A"/>
                </a:solidFill>
                <a:latin typeface="Arial"/>
                <a:ea typeface="Malgun Gothic"/>
                <a:cs typeface="Malgun Gothic"/>
              </a:rPr>
              <a:t>불확실성 채널이 없다.</a:t>
            </a:r>
            <a:r>
              <a:rPr sz="1050" b="0" i="0">
                <a:solidFill>
                  <a:srgbClr val="16213A"/>
                </a:solidFill>
                <a:latin typeface="Arial"/>
                <a:ea typeface="Malgun Gothic"/>
                <a:cs typeface="Malgun Gothic"/>
              </a:rPr>
              <a:t> 가림으로 못 본 곳과 평평하다고 관측한 곳이 같다. TP-0044·TP-0047의 그림자 상한과 깊이 prior가 다루는 문제가 여기서는 표현되지 않는다.</a:t>
            </a:r>
          </a:p>
        </p:txBody>
      </p:sp>
      <p:sp>
        <p:nvSpPr>
          <p:cNvPr id="12" name="TextBox 11"/>
          <p:cNvSpPr txBox="1"/>
          <p:nvPr/>
        </p:nvSpPr>
        <p:spPr>
          <a:xfrm>
            <a:off x="609600" y="4421287"/>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공정하게 볼 점.</a:t>
            </a:r>
            <a:r>
              <a:rPr sz="1050" b="0" i="0">
                <a:solidFill>
                  <a:srgbClr val="16213A"/>
                </a:solidFill>
                <a:latin typeface="Arial"/>
                <a:ea typeface="Malgun Gothic"/>
                <a:cs typeface="Malgun Gothic"/>
              </a:rPr>
              <a:t> 반대로 dddmr이 travplan보다 나은 부분도 분명하다. 다층 구조에서 위아래 통로를 구분하는 것은 2.5D 격자로는 안 되고 3D 그래프라야 한다. 오버행도 마찬가지다. travplan의 알려진 한계("오버행 미표현")가 바로 그것이다. 그리고 매핑·위치 추정·탐사까지 갖춘 운용 스택인 반면 travplan은 표현과 계획만 다룬다.</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B.12 로봇별 오픈소스 Planner: 자율주행 자동차, 사족보행, 휴머노이드, 바퀴 로봇</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171 / 516</a:t>
            </a:r>
          </a:p>
        </p:txBody>
      </p:sp>
      <p:sp>
        <p:nvSpPr>
          <p:cNvPr id="5" name="TextBox 4"/>
          <p:cNvSpPr txBox="1"/>
          <p:nvPr/>
        </p:nvSpPr>
        <p:spPr>
          <a:xfrm>
            <a:off x="609600" y="1244600"/>
            <a:ext cx="10972800" cy="108247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두 가지 쓰임이 있고, 둘 다 아직 선택지다. 하나는 </a:t>
            </a:r>
            <a:r>
              <a:rPr sz="1050" b="1" i="0">
                <a:solidFill>
                  <a:srgbClr val="16213A"/>
                </a:solidFill>
                <a:latin typeface="Arial"/>
                <a:ea typeface="Malgun Gothic"/>
                <a:cs typeface="Malgun Gothic"/>
              </a:rPr>
              <a:t>비교 기준선</a:t>
            </a:r>
            <a:r>
              <a:rPr sz="1050" b="0" i="0">
                <a:solidFill>
                  <a:srgbClr val="16213A"/>
                </a:solidFill>
                <a:latin typeface="Arial"/>
                <a:ea typeface="Malgun Gothic"/>
                <a:cs typeface="Malgun Gothic"/>
              </a:rPr>
              <a:t>이다. 3D 점군을 직접 쓰고 지면 위에서 계획하므로 BotBrain의 2D 스캔 costmap보다 훨씬 강한 상대다. 그런데도 위 토글의 세 가지가 갈리므로, 같은 지형에서 나란히 돌리면 "2.5D traversability가 무엇을 더 사는가"를 숫자로 보일 수 있다. 특히 </a:t>
            </a:r>
            <a:r>
              <a:rPr sz="1050" b="1" i="0">
                <a:solidFill>
                  <a:srgbClr val="16213A"/>
                </a:solidFill>
                <a:latin typeface="Arial"/>
                <a:ea typeface="Malgun Gothic"/>
                <a:cs typeface="Malgun Gothic"/>
              </a:rPr>
              <a:t>0.07 m와 0.24 m를 가르는 실험</a:t>
            </a:r>
            <a:r>
              <a:rPr sz="1050" b="0" i="0">
                <a:solidFill>
                  <a:srgbClr val="16213A"/>
                </a:solidFill>
                <a:latin typeface="Arial"/>
                <a:ea typeface="Malgun Gothic"/>
                <a:cs typeface="Malgun Gothic"/>
              </a:rPr>
              <a:t>은 travplan의 논지를 그대로 겨냥한다(TP-0067의 내림 턱 시나리오를 그대로 쓸 수 있다). 다른 하나는 </a:t>
            </a:r>
            <a:r>
              <a:rPr sz="1050" b="1" i="0">
                <a:solidFill>
                  <a:srgbClr val="16213A"/>
                </a:solidFill>
                <a:latin typeface="Arial"/>
                <a:ea typeface="Malgun Gothic"/>
                <a:cs typeface="Malgun Gothic"/>
              </a:rPr>
              <a:t>ROS 2 폐루프 리그</a:t>
            </a:r>
            <a:r>
              <a:rPr sz="1050" b="0" i="0">
                <a:solidFill>
                  <a:srgbClr val="16213A"/>
                </a:solidFill>
                <a:latin typeface="Arial"/>
                <a:ea typeface="Malgun Gothic"/>
                <a:cs typeface="Malgun Gothic"/>
              </a:rPr>
              <a:t>다. 기본 Docker가 Humble이라 Isaac Sim과 Jazzy가 없는 장비에서도 돈다(시뮬레이션 문서 S.9). 다만 이 저장소의 세계는 다층 실내와 입체 구조이고, travplan 시나리오는 </a:t>
            </a:r>
            <a:r>
              <a:rPr sz="1050" b="0" i="0">
                <a:solidFill>
                  <a:srgbClr val="16213A"/>
                </a:solidFill>
                <a:latin typeface="Consolas"/>
                <a:ea typeface="Malgun Gothic"/>
                <a:cs typeface="Malgun Gothic"/>
              </a:rPr>
              <a:t>sim/terrain.py</a:t>
            </a:r>
            <a:r>
              <a:rPr sz="1050" b="0" i="0">
                <a:solidFill>
                  <a:srgbClr val="16213A"/>
                </a:solidFill>
                <a:latin typeface="Arial"/>
                <a:ea typeface="Malgun Gothic"/>
                <a:cs typeface="Malgun Gothic"/>
              </a:rPr>
              <a:t>에서 Isaac USD로 나간다. 쓰려면 heightfield를 Gazebo 지형으로 내보내는 일이 먼저다. PRD는 Gazebo를 주력 엔진으로 쓰지 않기로 했다(</a:t>
            </a:r>
            <a:r>
              <a:rPr sz="1050" b="0" i="0">
                <a:solidFill>
                  <a:srgbClr val="16213A"/>
                </a:solidFill>
                <a:latin typeface="Consolas"/>
                <a:ea typeface="Malgun Gothic"/>
                <a:cs typeface="Malgun Gothic"/>
              </a:rPr>
              <a:t>docs/prd-p2.md</a:t>
            </a:r>
            <a:r>
              <a:rPr sz="1050" b="0" i="0">
                <a:solidFill>
                  <a:srgbClr val="16213A"/>
                </a:solidFill>
                <a:latin typeface="Arial"/>
                <a:ea typeface="Malgun Gothic"/>
                <a:cs typeface="Malgun Gothic"/>
              </a:rPr>
              <a:t> 하지 않는 것).</a:t>
            </a:r>
          </a:p>
        </p:txBody>
      </p:sp>
      <p:sp>
        <p:nvSpPr>
          <p:cNvPr id="6" name="TextBox 5"/>
          <p:cNvSpPr txBox="1"/>
          <p:nvPr/>
        </p:nvSpPr>
        <p:spPr>
          <a:xfrm>
            <a:off x="609600" y="2415977"/>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Choreo — 스워브 모듈 한계를 넣은 최소 시간 궤적 최적화</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코드</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4"/>
              </a:rPr>
              <a:t>문서</a:t>
            </a:r>
            <a:r>
              <a:rPr sz="1050" b="0" i="0">
                <a:solidFill>
                  <a:srgbClr val="16213A"/>
                </a:solidFill>
                <a:latin typeface="Arial"/>
                <a:ea typeface="Malgun Gothic"/>
                <a:cs typeface="Malgun Gothic"/>
              </a:rPr>
              <a:t>, BSD-3-Clause). FIRST Robotics Competition 팀을 위한 도구지만, 공개된 스워브 궤적 최적화기 가운데 모델이 가장 구체적이다. 로봇 질량, 관성 모멘트, 바퀴 반지름, 바퀴 최대 각속도, 최대 토크, 마찰 계수, 모듈 위치를 받는다. 경유점, 속도 제약, 금지 영역(원, 다각형)을 지키면서 전체 시간을 최소화하는 비선형 계획 문제를 만들고, 자체 NLP 풀이기(Sleipnir)의 내부점법으로 푼다. 로봇 쪽 라이브러리(ChoreoLib)가 그 궤적을 추종한다. 조향 속도 한계와 비동축 오프셋은 모델에 없다.</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B.12 로봇별 오픈소스 Planner: 자율주행 자동차, 사족보행, 휴머노이드, 바퀴 로봇</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172 / 516</a:t>
            </a:r>
          </a:p>
        </p:txBody>
      </p:sp>
      <p:pic>
        <p:nvPicPr>
          <p:cNvPr id="5" name="Picture 4" descr="image.jpg"/>
          <p:cNvPicPr>
            <a:picLocks noChangeAspect="1"/>
          </p:cNvPicPr>
          <p:nvPr/>
        </p:nvPicPr>
        <p:blipFill>
          <a:blip r:embed="rId3"/>
          <a:stretch>
            <a:fillRect/>
          </a:stretch>
        </p:blipFill>
        <p:spPr>
          <a:xfrm>
            <a:off x="2943225" y="1244600"/>
            <a:ext cx="6305550" cy="4445000"/>
          </a:xfrm>
          <a:prstGeom prst="rect">
            <a:avLst/>
          </a:prstGeom>
        </p:spPr>
      </p:pic>
      <p:sp>
        <p:nvSpPr>
          <p:cNvPr id="6" name="TextBox 5"/>
          <p:cNvSpPr txBox="1"/>
          <p:nvPr/>
        </p:nvSpPr>
        <p:spPr>
          <a:xfrm>
            <a:off x="2943225" y="5727700"/>
            <a:ext cx="6305550" cy="142180"/>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Choreo (README 화면): 경유점과 금지 영역을 놓고 최소 시간 스워브 궤적을 만드는 편집기 화면. 출처: SleipnirGroup/Choreo</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B.12 로봇별 오픈소스 Planner: 자율주행 자동차, 사족보행, 휴머노이드, 바퀴 로봇</a:t>
            </a:r>
            <a:r>
              <a:rPr sz="1050" b="0" i="0">
                <a:solidFill>
                  <a:srgbClr val="5A6478"/>
                </a:solidFill>
                <a:latin typeface="Arial"/>
                <a:ea typeface="Malgun Gothic"/>
                <a:cs typeface="Malgun Gothic"/>
              </a:rPr>
              <a:t>  자세히: TrajoptLib의 스워브 궤적 최적화</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173 / 516</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결정 변수와 목적.</a:t>
            </a:r>
            <a:r>
              <a:rPr sz="1050" b="0" i="0">
                <a:solidFill>
                  <a:srgbClr val="16213A"/>
                </a:solidFill>
                <a:latin typeface="Arial"/>
                <a:ea typeface="Malgun Gothic"/>
                <a:cs typeface="Malgun Gothic"/>
              </a:rPr>
              <a:t> 구간마다 시간 간격 </a:t>
            </a:r>
            <a:r>
              <a:rPr sz="1050" b="0" i="1">
                <a:solidFill>
                  <a:srgbClr val="16213A"/>
                </a:solidFill>
                <a:latin typeface="Arial"/>
                <a:ea typeface="Malgun Gothic"/>
                <a:cs typeface="Malgun Gothic"/>
              </a:rPr>
              <a:t>Δ tₖ</a:t>
            </a:r>
            <a:r>
              <a:rPr sz="1050" b="0" i="0">
                <a:solidFill>
                  <a:srgbClr val="16213A"/>
                </a:solidFill>
                <a:latin typeface="Arial"/>
                <a:ea typeface="Malgun Gothic"/>
                <a:cs typeface="Malgun Gothic"/>
              </a:rPr>
              <a:t>, 자세 </a:t>
            </a:r>
            <a:r>
              <a:rPr sz="1050" b="0" i="1">
                <a:solidFill>
                  <a:srgbClr val="16213A"/>
                </a:solidFill>
                <a:latin typeface="Arial"/>
                <a:ea typeface="Malgun Gothic"/>
                <a:cs typeface="Malgun Gothic"/>
              </a:rPr>
              <a:t>(x, y, θ)</a:t>
            </a:r>
            <a:r>
              <a:rPr sz="1050" b="0" i="0">
                <a:solidFill>
                  <a:srgbClr val="16213A"/>
                </a:solidFill>
                <a:latin typeface="Arial"/>
                <a:ea typeface="Malgun Gothic"/>
                <a:cs typeface="Malgun Gothic"/>
              </a:rPr>
              <a:t>, 속도, 가속도, 모듈 힘 </a:t>
            </a:r>
            <a:r>
              <a:rPr sz="1050" b="0" i="1">
                <a:solidFill>
                  <a:srgbClr val="16213A"/>
                </a:solidFill>
                <a:latin typeface="Arial"/>
                <a:ea typeface="Malgun Gothic"/>
                <a:cs typeface="Malgun Gothic"/>
              </a:rPr>
              <a:t>F_(i,k)</a:t>
            </a:r>
            <a:r>
              <a:rPr sz="1050" b="0" i="0">
                <a:solidFill>
                  <a:srgbClr val="16213A"/>
                </a:solidFill>
                <a:latin typeface="Arial"/>
                <a:ea typeface="Malgun Gothic"/>
                <a:cs typeface="Malgun Gothic"/>
              </a:rPr>
              <a:t>를 변수로 두고 전체 시간을 최소화한다.</a:t>
            </a:r>
          </a:p>
        </p:txBody>
      </p:sp>
      <p:pic>
        <p:nvPicPr>
          <p:cNvPr id="6" name="Picture 5" descr="image.png"/>
          <p:cNvPicPr>
            <a:picLocks noChangeAspect="1"/>
          </p:cNvPicPr>
          <p:nvPr/>
        </p:nvPicPr>
        <p:blipFill>
          <a:blip r:embed="rId3"/>
          <a:stretch>
            <a:fillRect/>
          </a:stretch>
        </p:blipFill>
        <p:spPr>
          <a:xfrm>
            <a:off x="609600" y="1549995"/>
            <a:ext cx="882650" cy="422275"/>
          </a:xfrm>
          <a:prstGeom prst="rect">
            <a:avLst/>
          </a:prstGeom>
        </p:spPr>
      </p:pic>
      <p:sp>
        <p:nvSpPr>
          <p:cNvPr id="7" name="TextBox 6"/>
          <p:cNvSpPr txBox="1"/>
          <p:nvPr/>
        </p:nvSpPr>
        <p:spPr>
          <a:xfrm>
            <a:off x="609600" y="1983879"/>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운동학.</a:t>
            </a:r>
            <a:r>
              <a:rPr sz="1050" b="0" i="0">
                <a:solidFill>
                  <a:srgbClr val="16213A"/>
                </a:solidFill>
                <a:latin typeface="Arial"/>
                <a:ea typeface="Malgun Gothic"/>
                <a:cs typeface="Malgun Gothic"/>
              </a:rPr>
              <a:t> 등가속도 적분으로 이웃 점을 잇는다.</a:t>
            </a:r>
          </a:p>
        </p:txBody>
      </p:sp>
      <p:pic>
        <p:nvPicPr>
          <p:cNvPr id="8" name="Picture 7" descr="image.png"/>
          <p:cNvPicPr>
            <a:picLocks noChangeAspect="1"/>
          </p:cNvPicPr>
          <p:nvPr/>
        </p:nvPicPr>
        <p:blipFill>
          <a:blip r:embed="rId4"/>
          <a:stretch>
            <a:fillRect/>
          </a:stretch>
        </p:blipFill>
        <p:spPr>
          <a:xfrm>
            <a:off x="609600" y="2289274"/>
            <a:ext cx="5778500" cy="238125"/>
          </a:xfrm>
          <a:prstGeom prst="rect">
            <a:avLst/>
          </a:prstGeom>
        </p:spPr>
      </p:pic>
      <p:sp>
        <p:nvSpPr>
          <p:cNvPr id="9" name="TextBox 8"/>
          <p:cNvSpPr txBox="1"/>
          <p:nvPr/>
        </p:nvSpPr>
        <p:spPr>
          <a:xfrm>
            <a:off x="609600" y="2566789"/>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모듈 제약.</a:t>
            </a:r>
            <a:r>
              <a:rPr sz="1050" b="0" i="0">
                <a:solidFill>
                  <a:srgbClr val="16213A"/>
                </a:solidFill>
                <a:latin typeface="Arial"/>
                <a:ea typeface="Malgun Gothic"/>
                <a:cs typeface="Malgun Gothic"/>
              </a:rPr>
              <a:t> 모듈 </a:t>
            </a:r>
            <a:r>
              <a:rPr sz="1050" b="0" i="1">
                <a:solidFill>
                  <a:srgbClr val="16213A"/>
                </a:solidFill>
                <a:latin typeface="Arial"/>
                <a:ea typeface="Malgun Gothic"/>
                <a:cs typeface="Malgun Gothic"/>
              </a:rPr>
              <a:t>i</a:t>
            </a:r>
            <a:r>
              <a:rPr sz="1050" b="0" i="0">
                <a:solidFill>
                  <a:srgbClr val="16213A"/>
                </a:solidFill>
                <a:latin typeface="Arial"/>
                <a:ea typeface="Malgun Gothic"/>
                <a:cs typeface="Malgun Gothic"/>
              </a:rPr>
              <a:t> 위치에서의 바퀴 속도는 최대 속도 </a:t>
            </a:r>
            <a:r>
              <a:rPr sz="1050" b="0" i="1">
                <a:solidFill>
                  <a:srgbClr val="16213A"/>
                </a:solidFill>
                <a:latin typeface="Arial"/>
                <a:ea typeface="Malgun Gothic"/>
                <a:cs typeface="Malgun Gothic"/>
              </a:rPr>
              <a:t>vₘₐₓ = ω_(wheel,max) r</a:t>
            </a:r>
            <a:r>
              <a:rPr sz="1050" b="0" i="0">
                <a:solidFill>
                  <a:srgbClr val="16213A"/>
                </a:solidFill>
                <a:latin typeface="Arial"/>
                <a:ea typeface="Malgun Gothic"/>
                <a:cs typeface="Malgun Gothic"/>
              </a:rPr>
              <a:t>를 넘지 않는다. 모듈 힘은 모터 토크 한계와 마찰 한계 중 작은 쪽을 넘지 않는다. 마찰 한계는 무게를 모듈 </a:t>
            </a:r>
            <a:r>
              <a:rPr sz="1050" b="0" i="1">
                <a:solidFill>
                  <a:srgbClr val="16213A"/>
                </a:solidFill>
                <a:latin typeface="Arial"/>
                <a:ea typeface="Malgun Gothic"/>
                <a:cs typeface="Malgun Gothic"/>
              </a:rPr>
              <a:t>N</a:t>
            </a:r>
            <a:r>
              <a:rPr sz="1050" b="0" i="0">
                <a:solidFill>
                  <a:srgbClr val="16213A"/>
                </a:solidFill>
                <a:latin typeface="Arial"/>
                <a:ea typeface="Malgun Gothic"/>
                <a:cs typeface="Malgun Gothic"/>
              </a:rPr>
              <a:t>개가 나눠 진다고 본다.</a:t>
            </a:r>
          </a:p>
        </p:txBody>
      </p:sp>
      <p:pic>
        <p:nvPicPr>
          <p:cNvPr id="10" name="Picture 9" descr="image.png"/>
          <p:cNvPicPr>
            <a:picLocks noChangeAspect="1"/>
          </p:cNvPicPr>
          <p:nvPr/>
        </p:nvPicPr>
        <p:blipFill>
          <a:blip r:embed="rId5"/>
          <a:stretch>
            <a:fillRect/>
          </a:stretch>
        </p:blipFill>
        <p:spPr>
          <a:xfrm>
            <a:off x="609600" y="3088680"/>
            <a:ext cx="3968750" cy="336550"/>
          </a:xfrm>
          <a:prstGeom prst="rect">
            <a:avLst/>
          </a:prstGeom>
        </p:spPr>
      </p:pic>
      <p:sp>
        <p:nvSpPr>
          <p:cNvPr id="11" name="TextBox 10"/>
          <p:cNvSpPr txBox="1"/>
          <p:nvPr/>
        </p:nvSpPr>
        <p:spPr>
          <a:xfrm>
            <a:off x="609600" y="3446859"/>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뉴턴–오일러.</a:t>
            </a:r>
            <a:r>
              <a:rPr sz="1050" b="0" i="0">
                <a:solidFill>
                  <a:srgbClr val="16213A"/>
                </a:solidFill>
                <a:latin typeface="Arial"/>
                <a:ea typeface="Malgun Gothic"/>
                <a:cs typeface="Malgun Gothic"/>
              </a:rPr>
              <a:t> 모듈 힘의 합이 차체 가속도를, 모듈 힘이 만드는 토크의 합이 각가속도를 만든다.</a:t>
            </a:r>
          </a:p>
        </p:txBody>
      </p:sp>
      <p:pic>
        <p:nvPicPr>
          <p:cNvPr id="12" name="Picture 11" descr="image.png"/>
          <p:cNvPicPr>
            <a:picLocks noChangeAspect="1"/>
          </p:cNvPicPr>
          <p:nvPr/>
        </p:nvPicPr>
        <p:blipFill>
          <a:blip r:embed="rId6"/>
          <a:stretch>
            <a:fillRect/>
          </a:stretch>
        </p:blipFill>
        <p:spPr>
          <a:xfrm>
            <a:off x="609600" y="3752255"/>
            <a:ext cx="2949575" cy="419100"/>
          </a:xfrm>
          <a:prstGeom prst="rect">
            <a:avLst/>
          </a:prstGeom>
        </p:spPr>
      </p:pic>
      <p:sp>
        <p:nvSpPr>
          <p:cNvPr id="13" name="TextBox 12"/>
          <p:cNvSpPr txBox="1"/>
          <p:nvPr/>
        </p:nvSpPr>
        <p:spPr>
          <a:xfrm>
            <a:off x="609600" y="4182566"/>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것.</a:t>
            </a:r>
            <a:r>
              <a:rPr sz="1050" b="0" i="0">
                <a:solidFill>
                  <a:srgbClr val="16213A"/>
                </a:solidFill>
                <a:latin typeface="Arial"/>
                <a:ea typeface="Malgun Gothic"/>
                <a:cs typeface="Malgun Gothic"/>
              </a:rPr>
              <a:t> travplan </a:t>
            </a:r>
            <a:r>
              <a:rPr sz="1050" b="0" i="0">
                <a:solidFill>
                  <a:srgbClr val="16213A"/>
                </a:solidFill>
                <a:latin typeface="Consolas"/>
                <a:ea typeface="Malgun Gothic"/>
                <a:cs typeface="Malgun Gothic"/>
              </a:rPr>
              <a:t>SwerveModel</a:t>
            </a:r>
            <a:r>
              <a:rPr sz="1050" b="0" i="0">
                <a:solidFill>
                  <a:srgbClr val="16213A"/>
                </a:solidFill>
                <a:latin typeface="Arial"/>
                <a:ea typeface="Malgun Gothic"/>
                <a:cs typeface="Malgun Gothic"/>
              </a:rPr>
              <a:t>은 차체 속도·가속도의 축별 한계만 둔다. L0 스워브 모듈 모델(TP-0034)은 먼저 </a:t>
            </a:r>
            <a:r>
              <a:rPr sz="1050" b="0" i="0">
                <a:solidFill>
                  <a:srgbClr val="16213A"/>
                </a:solidFill>
                <a:latin typeface="Consolas"/>
                <a:ea typeface="Malgun Gothic"/>
                <a:cs typeface="Malgun Gothic"/>
              </a:rPr>
              <a:t>ffw_swerve_drive_controller</a:t>
            </a:r>
            <a:r>
              <a:rPr sz="1050" b="0" i="0">
                <a:solidFill>
                  <a:srgbClr val="16213A"/>
                </a:solidFill>
                <a:latin typeface="Arial"/>
                <a:ea typeface="Malgun Gothic"/>
                <a:cs typeface="Malgun Gothic"/>
              </a:rPr>
              <a:t>의 조향 각속도 한계와 180° 반전 규칙을 옮긴다. 그다음 단계가 이 절의 모듈 힘 제약이다. 축별 가속 한계 대신 모듈 힘을 "토크 한계와 마찰 한계 중 작은 쪽"으로 묶으면, 한쪽 모듈이 미끄러질 때의 가속 한계가 자연히 나온다. 비동축 스워브는 조향축 오프셋이 만드는 접지점 이동을 여기에 더해야 한다(TP-0035에서 받을 파라미터).</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B.12 로봇별 오픈소스 Planner: 자율주행 자동차, 사족보행, 휴머노이드, 바퀴 로봇</a:t>
            </a:r>
            <a:r>
              <a:rPr sz="1050" b="0" i="0">
                <a:solidFill>
                  <a:srgbClr val="5A6478"/>
                </a:solidFill>
                <a:latin typeface="Arial"/>
                <a:ea typeface="Malgun Gothic"/>
                <a:cs typeface="Malgun Gothic"/>
              </a:rPr>
              <a:t>  1/3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174 / 516</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TidyBot++ — travplan과 같은 비동축 스워브를 쓰는 공개 하드웨어</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arXiv:2412.10447</a:t>
            </a:r>
            <a:r>
              <a:rPr sz="1050" b="0" i="0">
                <a:solidFill>
                  <a:srgbClr val="16213A"/>
                </a:solidFill>
                <a:latin typeface="Arial"/>
                <a:ea typeface="Malgun Gothic"/>
                <a:cs typeface="Malgun Gothic"/>
              </a:rPr>
              <a:t>, CoRL 2024, Stanford·Princeton, </a:t>
            </a:r>
            <a:r>
              <a:rPr sz="1050" b="0" i="0">
                <a:solidFill>
                  <a:srgbClr val="1D4ED8"/>
                </a:solidFill>
                <a:latin typeface="Arial"/>
                <a:ea typeface="Malgun Gothic"/>
                <a:cs typeface="Malgun Gothic"/>
                <a:hlinkClick r:id="rId4"/>
              </a:rPr>
              <a:t>코드</a:t>
            </a:r>
            <a:r>
              <a:rPr sz="1050" b="0" i="0">
                <a:solidFill>
                  <a:srgbClr val="16213A"/>
                </a:solidFill>
                <a:latin typeface="Arial"/>
                <a:ea typeface="Malgun Gothic"/>
                <a:cs typeface="Malgun Gothic"/>
              </a:rPr>
              <a:t> MIT, ★0.6k). 앞 문단의 Choreo는 모듈 힘까지 모델링하지만 조향축 오프셋이 없다. </a:t>
            </a:r>
            <a:r>
              <a:rPr sz="1050" b="1" i="0">
                <a:solidFill>
                  <a:srgbClr val="C2410C"/>
                </a:solidFill>
                <a:latin typeface="Arial"/>
                <a:ea typeface="Malgun Gothic"/>
                <a:cs typeface="Malgun Gothic"/>
              </a:rPr>
              <a:t>TidyBot++는 그 오프셋을 설계의 중심에 둔 powered caster 구동을 CAD·부품표·코드까지 공개했다.</a:t>
            </a:r>
            <a:r>
              <a:rPr sz="1050" b="0" i="0">
                <a:solidFill>
                  <a:srgbClr val="16213A"/>
                </a:solidFill>
                <a:latin typeface="Arial"/>
                <a:ea typeface="Malgun Gothic"/>
                <a:cs typeface="Malgun Gothic"/>
              </a:rPr>
              <a:t> 실내 모바일 조작 연구용이라 계획 알고리즘은 없다. 가져올 것은 기구학과 하드웨어 수치다.</a:t>
            </a:r>
          </a:p>
        </p:txBody>
      </p:sp>
      <p:sp>
        <p:nvSpPr>
          <p:cNvPr id="6" name="TextBox 5"/>
          <p:cNvSpPr txBox="1"/>
          <p:nvPr/>
        </p:nvSpPr>
        <p:spPr>
          <a:xfrm>
            <a:off x="609600" y="1982986"/>
            <a:ext cx="10972800" cy="649486"/>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바퀴 네 개가 각각 조향 모터와 구동 모터를 가진다. 조향축에는 절대 엔코더가 있어 켤 때 원점 잡기를 하지 않는다. 오프셋은 2차원이다. 세로 오프셋 </a:t>
            </a:r>
            <a:r>
              <a:rPr sz="1050" b="0" i="1">
                <a:solidFill>
                  <a:srgbClr val="16213A"/>
                </a:solidFill>
                <a:latin typeface="Arial"/>
                <a:ea typeface="Malgun Gothic"/>
                <a:cs typeface="Malgun Gothic"/>
              </a:rPr>
              <a:t>bₓ</a:t>
            </a:r>
            <a:r>
              <a:rPr sz="1050" b="0" i="0">
                <a:solidFill>
                  <a:srgbClr val="16213A"/>
                </a:solidFill>
                <a:latin typeface="Arial"/>
                <a:ea typeface="Malgun Gothic"/>
                <a:cs typeface="Malgun Gothic"/>
              </a:rPr>
              <a:t>에 더해 가로 오프셋 </a:t>
            </a:r>
            <a:r>
              <a:rPr sz="1050" b="0" i="1">
                <a:solidFill>
                  <a:srgbClr val="16213A"/>
                </a:solidFill>
                <a:latin typeface="Arial"/>
                <a:ea typeface="Malgun Gothic"/>
                <a:cs typeface="Malgun Gothic"/>
              </a:rPr>
              <a:t>b_y</a:t>
            </a:r>
            <a:r>
              <a:rPr sz="1050" b="0" i="0">
                <a:solidFill>
                  <a:srgbClr val="16213A"/>
                </a:solidFill>
                <a:latin typeface="Arial"/>
                <a:ea typeface="Malgun Gothic"/>
                <a:cs typeface="Malgun Gothic"/>
              </a:rPr>
              <a:t>(약 14 mm)가 있는데, 맞춤 부품 수를 줄이려다 생긴 것이라고 논문이 밝혔다. 기구학은 powered-caster vehicle(PCV) 정식화를 따른다(</a:t>
            </a:r>
            <a:r>
              <a:rPr sz="1050" b="0" i="0">
                <a:solidFill>
                  <a:srgbClr val="1D4ED8"/>
                </a:solidFill>
                <a:latin typeface="Arial"/>
                <a:ea typeface="Malgun Gothic"/>
                <a:cs typeface="Malgun Gothic"/>
                <a:hlinkClick r:id="rId5"/>
              </a:rPr>
              <a:t>Holmberg·Khatib, IJRR 2000</a:t>
            </a:r>
            <a:r>
              <a:rPr sz="1050" b="0" i="0">
                <a:solidFill>
                  <a:srgbClr val="16213A"/>
                </a:solidFill>
                <a:latin typeface="Arial"/>
                <a:ea typeface="Malgun Gothic"/>
                <a:cs typeface="Malgun Gothic"/>
              </a:rPr>
              <a:t>). 메카넘 바퀴는 진동이 크고 문턱을 잘 넘지 못해 뺐다. 크기는 54 × 50 cm, 기저 무게 34 kg, 팔까지 46 kg, 최고 속도 1 m/s, 적재 60 kg, 연속 원격조종 8시간이다. 부품비는 5,400–6,000 달러다. 오도메트리 드리프트는 1 m당 1 cm 미만이다.</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B.12 로봇별 오픈소스 Planner: 자율주행 자동차, 사족보행, 휴머노이드, 바퀴 로봇</a:t>
            </a:r>
            <a:r>
              <a:rPr sz="1050" b="0" i="0">
                <a:solidFill>
                  <a:srgbClr val="5A6478"/>
                </a:solidFill>
                <a:latin typeface="Arial"/>
                <a:ea typeface="Malgun Gothic"/>
                <a:cs typeface="Malgun Gothic"/>
              </a:rPr>
              <a:t>  2/3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175 / 516</a:t>
            </a:r>
          </a:p>
        </p:txBody>
      </p:sp>
      <p:pic>
        <p:nvPicPr>
          <p:cNvPr id="5" name="Picture 4" descr="image.jpg"/>
          <p:cNvPicPr>
            <a:picLocks noChangeAspect="1"/>
          </p:cNvPicPr>
          <p:nvPr/>
        </p:nvPicPr>
        <p:blipFill>
          <a:blip r:embed="rId3"/>
          <a:stretch>
            <a:fillRect/>
          </a:stretch>
        </p:blipFill>
        <p:spPr>
          <a:xfrm>
            <a:off x="1485900" y="1244600"/>
            <a:ext cx="9220200" cy="4445000"/>
          </a:xfrm>
          <a:prstGeom prst="rect">
            <a:avLst/>
          </a:prstGeom>
        </p:spPr>
      </p:pic>
      <p:sp>
        <p:nvSpPr>
          <p:cNvPr id="6" name="TextBox 5"/>
          <p:cNvSpPr txBox="1"/>
          <p:nvPr/>
        </p:nvSpPr>
        <p:spPr>
          <a:xfrm>
            <a:off x="1485900" y="5727700"/>
            <a:ext cx="9220200" cy="142180"/>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TidyBot++ (Fig. 4): caster 모듈의 등각도와 평면도. 세로·가로 조향축 오프셋, 바퀴 반지름, 조향 관절과 구동 관절, 차체 원점에서 본 모듈 위치를 표시했다. 출처: arXiv:2412.10447</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B.12 로봇별 오픈소스 Planner: 자율주행 자동차, 사족보행, 휴머노이드, 바퀴 로봇</a:t>
            </a:r>
            <a:r>
              <a:rPr sz="1050" b="0" i="0">
                <a:solidFill>
                  <a:srgbClr val="5A6478"/>
                </a:solidFill>
                <a:latin typeface="Arial"/>
                <a:ea typeface="Malgun Gothic"/>
                <a:cs typeface="Malgun Gothic"/>
              </a:rPr>
              <a:t>  3/3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176 / 516</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전방향 구동이 실제로 이득인지를 같은 정책 학습으로 쟀다. 조리대 닦기 과제에서 전방향 기저는 9/10, 차동 구동으로 제한한 기저는 4/10이었다. 경로도 짧았다. 회당 평균 이동 거리가 2.03 m(27.4초) 대 4.03 m(65.2초)다. 실외는 "의도한 사용처가 아니다"라고 적었지만, 옮겨 다니는 동안 울퉁불퉁한 보도, 강판, 6.5°까지의 경사, 과속방지턱을 넘었다.</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B.12 로봇별 오픈소스 Planner: 자율주행 자동차, 사족보행, 휴머노이드, 바퀴 로봇</a:t>
            </a:r>
            <a:r>
              <a:rPr sz="1050" b="0" i="0">
                <a:solidFill>
                  <a:srgbClr val="5A6478"/>
                </a:solidFill>
                <a:latin typeface="Arial"/>
                <a:ea typeface="Malgun Gothic"/>
                <a:cs typeface="Malgun Gothic"/>
              </a:rPr>
              <a:t>  자세히: 비동축 스워브(PCV)의 기구학과 동축 스워브와의 차이</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177 / 516</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무엇이 다른가.</a:t>
            </a:r>
            <a:r>
              <a:rPr sz="1050" b="0" i="0">
                <a:solidFill>
                  <a:srgbClr val="16213A"/>
                </a:solidFill>
                <a:latin typeface="Arial"/>
                <a:ea typeface="Malgun Gothic"/>
                <a:cs typeface="Malgun Gothic"/>
              </a:rPr>
              <a:t> 동축 스워브는 조향축과 바퀴 접지점이 같은 수직선 위에 있다(</a:t>
            </a:r>
            <a:r>
              <a:rPr sz="1050" b="0" i="1">
                <a:solidFill>
                  <a:srgbClr val="16213A"/>
                </a:solidFill>
                <a:latin typeface="Arial"/>
                <a:ea typeface="Malgun Gothic"/>
                <a:cs typeface="Malgun Gothic"/>
              </a:rPr>
              <a:t>b = 0</a:t>
            </a:r>
            <a:r>
              <a:rPr sz="1050" b="0" i="0">
                <a:solidFill>
                  <a:srgbClr val="16213A"/>
                </a:solidFill>
                <a:latin typeface="Arial"/>
                <a:ea typeface="Malgun Gothic"/>
                <a:cs typeface="Malgun Gothic"/>
              </a:rPr>
              <a:t>). 비동축 스워브는 접지점이 조향축에서 </a:t>
            </a:r>
            <a:r>
              <a:rPr sz="1050" b="0" i="1">
                <a:solidFill>
                  <a:srgbClr val="16213A"/>
                </a:solidFill>
                <a:latin typeface="Arial"/>
                <a:ea typeface="Malgun Gothic"/>
                <a:cs typeface="Malgun Gothic"/>
              </a:rPr>
              <a:t>b</a:t>
            </a:r>
            <a:r>
              <a:rPr sz="1050" b="0" i="0">
                <a:solidFill>
                  <a:srgbClr val="16213A"/>
                </a:solidFill>
                <a:latin typeface="Arial"/>
                <a:ea typeface="Malgun Gothic"/>
                <a:cs typeface="Malgun Gothic"/>
              </a:rPr>
              <a:t>만큼 떨어져 있다. 이 하나가 운동학을 바꾼다. 시뮬레이션 문서 S.5.3의 오프셋 </a:t>
            </a:r>
            <a:r>
              <a:rPr sz="1050" b="0" i="1">
                <a:solidFill>
                  <a:srgbClr val="16213A"/>
                </a:solidFill>
                <a:latin typeface="Arial"/>
                <a:ea typeface="Malgun Gothic"/>
                <a:cs typeface="Malgun Gothic"/>
              </a:rPr>
              <a:t>e</a:t>
            </a:r>
            <a:r>
              <a:rPr sz="1050" b="0" i="0">
                <a:solidFill>
                  <a:srgbClr val="16213A"/>
                </a:solidFill>
                <a:latin typeface="Arial"/>
                <a:ea typeface="Malgun Gothic"/>
                <a:cs typeface="Malgun Gothic"/>
              </a:rPr>
              <a:t>와 같은 양인데, 거기서는 조향 중 차체를 끄는 외란으로 보고 여기서는 전방향 운동을 만드는 원인으로 본다.</a:t>
            </a:r>
          </a:p>
        </p:txBody>
      </p:sp>
      <p:sp>
        <p:nvSpPr>
          <p:cNvPr id="6" name="TextBox 5"/>
          <p:cNvSpPr txBox="1"/>
          <p:nvPr/>
        </p:nvSpPr>
        <p:spPr>
          <a:xfrm>
            <a:off x="609600" y="176649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접지점 속도.</a:t>
            </a:r>
            <a:r>
              <a:rPr sz="1050" b="0" i="0">
                <a:solidFill>
                  <a:srgbClr val="16213A"/>
                </a:solidFill>
                <a:latin typeface="Arial"/>
                <a:ea typeface="Malgun Gothic"/>
                <a:cs typeface="Malgun Gothic"/>
              </a:rPr>
              <a:t> 차체 twist를 </a:t>
            </a:r>
            <a:r>
              <a:rPr sz="1050" b="0" i="1">
                <a:solidFill>
                  <a:srgbClr val="16213A"/>
                </a:solidFill>
                <a:latin typeface="Arial"/>
                <a:ea typeface="Malgun Gothic"/>
                <a:cs typeface="Malgun Gothic"/>
              </a:rPr>
              <a:t>(vₓ, v_y, ω)</a:t>
            </a:r>
            <a:r>
              <a:rPr sz="1050" b="0" i="0">
                <a:solidFill>
                  <a:srgbClr val="16213A"/>
                </a:solidFill>
                <a:latin typeface="Arial"/>
                <a:ea typeface="Malgun Gothic"/>
                <a:cs typeface="Malgun Gothic"/>
              </a:rPr>
              <a:t>, 모듈 </a:t>
            </a:r>
            <a:r>
              <a:rPr sz="1050" b="0" i="1">
                <a:solidFill>
                  <a:srgbClr val="16213A"/>
                </a:solidFill>
                <a:latin typeface="Arial"/>
                <a:ea typeface="Malgun Gothic"/>
                <a:cs typeface="Malgun Gothic"/>
              </a:rPr>
              <a:t>i</a:t>
            </a:r>
            <a:r>
              <a:rPr sz="1050" b="0" i="0">
                <a:solidFill>
                  <a:srgbClr val="16213A"/>
                </a:solidFill>
                <a:latin typeface="Arial"/>
                <a:ea typeface="Malgun Gothic"/>
                <a:cs typeface="Malgun Gothic"/>
              </a:rPr>
              <a:t>의 조향축 위치를 </a:t>
            </a:r>
            <a:r>
              <a:rPr sz="1050" b="0" i="1">
                <a:solidFill>
                  <a:srgbClr val="16213A"/>
                </a:solidFill>
                <a:latin typeface="Arial"/>
                <a:ea typeface="Malgun Gothic"/>
                <a:cs typeface="Malgun Gothic"/>
              </a:rPr>
              <a:t>pᵢ</a:t>
            </a:r>
            <a:r>
              <a:rPr sz="1050" b="0" i="0">
                <a:solidFill>
                  <a:srgbClr val="16213A"/>
                </a:solidFill>
                <a:latin typeface="Arial"/>
                <a:ea typeface="Malgun Gothic"/>
                <a:cs typeface="Malgun Gothic"/>
              </a:rPr>
              <a:t>, 조향각을 </a:t>
            </a:r>
            <a:r>
              <a:rPr sz="1050" b="0" i="1">
                <a:solidFill>
                  <a:srgbClr val="16213A"/>
                </a:solidFill>
                <a:latin typeface="Arial"/>
                <a:ea typeface="Malgun Gothic"/>
                <a:cs typeface="Malgun Gothic"/>
              </a:rPr>
              <a:t>φᵢ</a:t>
            </a:r>
            <a:r>
              <a:rPr sz="1050" b="0" i="0">
                <a:solidFill>
                  <a:srgbClr val="16213A"/>
                </a:solidFill>
                <a:latin typeface="Arial"/>
                <a:ea typeface="Malgun Gothic"/>
                <a:cs typeface="Malgun Gothic"/>
              </a:rPr>
              <a:t>라 하자. 접지점은 조향축에서 조향 방향으로 </a:t>
            </a:r>
            <a:r>
              <a:rPr sz="1050" b="0" i="1">
                <a:solidFill>
                  <a:srgbClr val="16213A"/>
                </a:solidFill>
                <a:latin typeface="Arial"/>
                <a:ea typeface="Malgun Gothic"/>
                <a:cs typeface="Malgun Gothic"/>
              </a:rPr>
              <a:t>b</a:t>
            </a:r>
            <a:r>
              <a:rPr sz="1050" b="0" i="0">
                <a:solidFill>
                  <a:srgbClr val="16213A"/>
                </a:solidFill>
                <a:latin typeface="Arial"/>
                <a:ea typeface="Malgun Gothic"/>
                <a:cs typeface="Malgun Gothic"/>
              </a:rPr>
              <a:t>만큼 떨어진 </a:t>
            </a:r>
            <a:r>
              <a:rPr sz="1050" b="0" i="1">
                <a:solidFill>
                  <a:srgbClr val="16213A"/>
                </a:solidFill>
                <a:latin typeface="Arial"/>
                <a:ea typeface="Malgun Gothic"/>
                <a:cs typeface="Malgun Gothic"/>
              </a:rPr>
              <a:t>cᵢ = pᵢ + b [cosφᵢ, sinφᵢ]^⊤</a:t>
            </a:r>
            <a:r>
              <a:rPr sz="1050" b="0" i="0">
                <a:solidFill>
                  <a:srgbClr val="16213A"/>
                </a:solidFill>
                <a:latin typeface="Arial"/>
                <a:ea typeface="Malgun Gothic"/>
                <a:cs typeface="Malgun Gothic"/>
              </a:rPr>
              <a:t>이고, 그 점의 속도는 강체 운동으로 정해진다.</a:t>
            </a:r>
          </a:p>
        </p:txBody>
      </p:sp>
      <p:pic>
        <p:nvPicPr>
          <p:cNvPr id="7" name="Picture 6" descr="image.png"/>
          <p:cNvPicPr>
            <a:picLocks noChangeAspect="1"/>
          </p:cNvPicPr>
          <p:nvPr/>
        </p:nvPicPr>
        <p:blipFill>
          <a:blip r:embed="rId3"/>
          <a:stretch>
            <a:fillRect/>
          </a:stretch>
        </p:blipFill>
        <p:spPr>
          <a:xfrm>
            <a:off x="609600" y="2288381"/>
            <a:ext cx="1577975" cy="431800"/>
          </a:xfrm>
          <a:prstGeom prst="rect">
            <a:avLst/>
          </a:prstGeom>
        </p:spPr>
      </p:pic>
      <p:sp>
        <p:nvSpPr>
          <p:cNvPr id="8" name="TextBox 7"/>
          <p:cNvSpPr txBox="1"/>
          <p:nvPr/>
        </p:nvSpPr>
        <p:spPr>
          <a:xfrm>
            <a:off x="609600" y="2729309"/>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두 관절로 나눠 받기.</a:t>
            </a:r>
            <a:r>
              <a:rPr sz="1050" b="0" i="0">
                <a:solidFill>
                  <a:srgbClr val="16213A"/>
                </a:solidFill>
                <a:latin typeface="Arial"/>
                <a:ea typeface="Malgun Gothic"/>
                <a:cs typeface="Malgun Gothic"/>
              </a:rPr>
              <a:t> 바퀴는 구르는 방향 </a:t>
            </a:r>
            <a:r>
              <a:rPr sz="1050" b="0" i="1">
                <a:solidFill>
                  <a:srgbClr val="16213A"/>
                </a:solidFill>
                <a:latin typeface="Arial"/>
                <a:ea typeface="Malgun Gothic"/>
                <a:cs typeface="Malgun Gothic"/>
              </a:rPr>
              <a:t>ûᵢ</a:t>
            </a:r>
            <a:r>
              <a:rPr sz="1050" b="0" i="0">
                <a:solidFill>
                  <a:srgbClr val="16213A"/>
                </a:solidFill>
                <a:latin typeface="Arial"/>
                <a:ea typeface="Malgun Gothic"/>
                <a:cs typeface="Malgun Gothic"/>
              </a:rPr>
              <a:t>로만 속도를 낼 수 있고, 그것과 수직인 방향 </a:t>
            </a:r>
            <a:r>
              <a:rPr sz="1050" b="0" i="1">
                <a:solidFill>
                  <a:srgbClr val="16213A"/>
                </a:solidFill>
                <a:latin typeface="Arial"/>
                <a:ea typeface="Malgun Gothic"/>
                <a:cs typeface="Malgun Gothic"/>
              </a:rPr>
              <a:t>n̂ᵢ</a:t>
            </a:r>
            <a:r>
              <a:rPr sz="1050" b="0" i="0">
                <a:solidFill>
                  <a:srgbClr val="16213A"/>
                </a:solidFill>
                <a:latin typeface="Arial"/>
                <a:ea typeface="Malgun Gothic"/>
                <a:cs typeface="Malgun Gothic"/>
              </a:rPr>
              <a:t>의 속도는 조향이 받는다. 바퀴 반지름을 </a:t>
            </a:r>
            <a:r>
              <a:rPr sz="1050" b="0" i="1">
                <a:solidFill>
                  <a:srgbClr val="16213A"/>
                </a:solidFill>
                <a:latin typeface="Arial"/>
                <a:ea typeface="Malgun Gothic"/>
                <a:cs typeface="Malgun Gothic"/>
              </a:rPr>
              <a:t>r</a:t>
            </a:r>
            <a:r>
              <a:rPr sz="1050" b="0" i="0">
                <a:solidFill>
                  <a:srgbClr val="16213A"/>
                </a:solidFill>
                <a:latin typeface="Arial"/>
                <a:ea typeface="Malgun Gothic"/>
                <a:cs typeface="Malgun Gothic"/>
              </a:rPr>
              <a:t>, 구동 관절 속도를 </a:t>
            </a:r>
            <a:r>
              <a:rPr sz="1050" b="0" i="1">
                <a:solidFill>
                  <a:srgbClr val="16213A"/>
                </a:solidFill>
                <a:latin typeface="Arial"/>
                <a:ea typeface="Malgun Gothic"/>
                <a:cs typeface="Malgun Gothic"/>
              </a:rPr>
              <a:t>ρ̇ᵢ</a:t>
            </a:r>
            <a:r>
              <a:rPr sz="1050" b="0" i="0">
                <a:solidFill>
                  <a:srgbClr val="16213A"/>
                </a:solidFill>
                <a:latin typeface="Arial"/>
                <a:ea typeface="Malgun Gothic"/>
                <a:cs typeface="Malgun Gothic"/>
              </a:rPr>
              <a:t>, 조향 관절 속도를 </a:t>
            </a:r>
            <a:r>
              <a:rPr sz="1050" b="0" i="1">
                <a:solidFill>
                  <a:srgbClr val="16213A"/>
                </a:solidFill>
                <a:latin typeface="Arial"/>
                <a:ea typeface="Malgun Gothic"/>
                <a:cs typeface="Malgun Gothic"/>
              </a:rPr>
              <a:t>φ̇ᵢ</a:t>
            </a:r>
            <a:r>
              <a:rPr sz="1050" b="0" i="0">
                <a:solidFill>
                  <a:srgbClr val="16213A"/>
                </a:solidFill>
                <a:latin typeface="Arial"/>
                <a:ea typeface="Malgun Gothic"/>
                <a:cs typeface="Malgun Gothic"/>
              </a:rPr>
              <a:t>라 하면 다음과 같다.</a:t>
            </a:r>
          </a:p>
        </p:txBody>
      </p:sp>
      <p:pic>
        <p:nvPicPr>
          <p:cNvPr id="9" name="Picture 8" descr="image.png"/>
          <p:cNvPicPr>
            <a:picLocks noChangeAspect="1"/>
          </p:cNvPicPr>
          <p:nvPr/>
        </p:nvPicPr>
        <p:blipFill>
          <a:blip r:embed="rId4"/>
          <a:stretch>
            <a:fillRect/>
          </a:stretch>
        </p:blipFill>
        <p:spPr>
          <a:xfrm>
            <a:off x="609600" y="3034705"/>
            <a:ext cx="2352675" cy="241300"/>
          </a:xfrm>
          <a:prstGeom prst="rect">
            <a:avLst/>
          </a:prstGeom>
        </p:spPr>
      </p:pic>
      <p:sp>
        <p:nvSpPr>
          <p:cNvPr id="10" name="TextBox 9"/>
          <p:cNvSpPr txBox="1"/>
          <p:nvPr/>
        </p:nvSpPr>
        <p:spPr>
          <a:xfrm>
            <a:off x="609600" y="3312220"/>
            <a:ext cx="10972800" cy="649486"/>
          </a:xfrm>
          <a:prstGeom prst="rect">
            <a:avLst/>
          </a:prstGeom>
          <a:noFill/>
        </p:spPr>
        <p:txBody>
          <a:bodyPr wrap="square" lIns="0" rIns="0" tIns="0" bIns="0" anchor="t">
            <a:spAutoFit/>
            <a:normAutofit/>
          </a:bodyPr>
          <a:lstStyle/>
          <a:p>
            <a:r>
              <a:rPr sz="1050" b="1" i="1">
                <a:solidFill>
                  <a:srgbClr val="16213A"/>
                </a:solidFill>
                <a:latin typeface="Arial"/>
                <a:ea typeface="Malgun Gothic"/>
                <a:cs typeface="Malgun Gothic"/>
              </a:rPr>
              <a:t>b = 0</a:t>
            </a:r>
            <a:r>
              <a:rPr sz="1050" b="1" i="0">
                <a:solidFill>
                  <a:srgbClr val="16213A"/>
                </a:solidFill>
                <a:latin typeface="Arial"/>
                <a:ea typeface="Malgun Gothic"/>
                <a:cs typeface="Malgun Gothic"/>
              </a:rPr>
              <a:t>이면 무슨 일이 생기나.</a:t>
            </a:r>
            <a:r>
              <a:rPr sz="1050" b="0" i="0">
                <a:solidFill>
                  <a:srgbClr val="16213A"/>
                </a:solidFill>
                <a:latin typeface="Arial"/>
                <a:ea typeface="Malgun Gothic"/>
                <a:cs typeface="Malgun Gothic"/>
              </a:rPr>
              <a:t> 두 번째 식의 좌변이 사라진다. 조향 각속도로 흡수할 수 없으니 </a:t>
            </a:r>
            <a:r>
              <a:rPr sz="1050" b="0" i="1">
                <a:solidFill>
                  <a:srgbClr val="16213A"/>
                </a:solidFill>
                <a:latin typeface="Arial"/>
                <a:ea typeface="Malgun Gothic"/>
                <a:cs typeface="Malgun Gothic"/>
              </a:rPr>
              <a:t>v_(cᵢ) · n̂ᵢ = 0</a:t>
            </a:r>
            <a:r>
              <a:rPr sz="1050" b="0" i="0">
                <a:solidFill>
                  <a:srgbClr val="16213A"/>
                </a:solidFill>
                <a:latin typeface="Arial"/>
                <a:ea typeface="Malgun Gothic"/>
                <a:cs typeface="Malgun Gothic"/>
              </a:rPr>
              <a:t>이라는 비홀로노믹 구속이 남는다. 그래서 동축 스워브는 원하는 방향으로 가기 전에 제자리에서 모듈을 먼저 돌려야 하고, 정지 상태에서 조향각이 정해지지 않는 특이점이 생긴다. 오프셋이 있으면 이 구속이 사라져 세 자유도를 동시에 낼 수 있다. 대신 조향 각속도가 차체 속도에 비례해 커지므로, 조향 각속도 한계가 곧 차체 가속 한계가 된다.</a:t>
            </a:r>
          </a:p>
        </p:txBody>
      </p:sp>
      <p:sp>
        <p:nvSpPr>
          <p:cNvPr id="11" name="TextBox 10"/>
          <p:cNvSpPr txBox="1"/>
          <p:nvPr/>
        </p:nvSpPr>
        <p:spPr>
          <a:xfrm>
            <a:off x="609600" y="4050605"/>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것.</a:t>
            </a:r>
            <a:r>
              <a:rPr sz="1050" b="0" i="0">
                <a:solidFill>
                  <a:srgbClr val="16213A"/>
                </a:solidFill>
                <a:latin typeface="Arial"/>
                <a:ea typeface="Malgun Gothic"/>
                <a:cs typeface="Malgun Gothic"/>
              </a:rPr>
              <a:t> travplan </a:t>
            </a:r>
            <a:r>
              <a:rPr sz="1050" b="0" i="0">
                <a:solidFill>
                  <a:srgbClr val="16213A"/>
                </a:solidFill>
                <a:latin typeface="Consolas"/>
                <a:ea typeface="Malgun Gothic"/>
                <a:cs typeface="Malgun Gothic"/>
              </a:rPr>
              <a:t>SwerveModel</a:t>
            </a:r>
            <a:r>
              <a:rPr sz="1050" b="0" i="0">
                <a:solidFill>
                  <a:srgbClr val="16213A"/>
                </a:solidFill>
                <a:latin typeface="Arial"/>
                <a:ea typeface="Malgun Gothic"/>
                <a:cs typeface="Malgun Gothic"/>
              </a:rPr>
              <a:t>은 차체 속도와 가속도의 축별 한계만 둔다. 위 두 식이 없어서, 옆으로 빠르게 움직일 때 조향 각속도 한계에 걸리는 상황을 표현하지 못한다. L0 스워브 모듈 모델(TP-0034)은 </a:t>
            </a:r>
            <a:r>
              <a:rPr sz="1050" b="0" i="0">
                <a:solidFill>
                  <a:srgbClr val="16213A"/>
                </a:solidFill>
                <a:latin typeface="Consolas"/>
                <a:ea typeface="Malgun Gothic"/>
                <a:cs typeface="Malgun Gothic"/>
              </a:rPr>
              <a:t>ffw_swerve_drive_controller</a:t>
            </a:r>
            <a:r>
              <a:rPr sz="1050" b="0" i="0">
                <a:solidFill>
                  <a:srgbClr val="16213A"/>
                </a:solidFill>
                <a:latin typeface="Arial"/>
                <a:ea typeface="Malgun Gothic"/>
                <a:cs typeface="Malgun Gothic"/>
              </a:rPr>
              <a:t>의 조향 각속도 한계와 180° 반전 규칙을 먼저 옮기기로 했는데, 그 제어기는 </a:t>
            </a:r>
            <a:r>
              <a:rPr sz="1050" b="0" i="1">
                <a:solidFill>
                  <a:srgbClr val="16213A"/>
                </a:solidFill>
                <a:latin typeface="Arial"/>
                <a:ea typeface="Malgun Gothic"/>
                <a:cs typeface="Malgun Gothic"/>
              </a:rPr>
              <a:t>b = 0</a:t>
            </a:r>
            <a:r>
              <a:rPr sz="1050" b="0" i="0">
                <a:solidFill>
                  <a:srgbClr val="16213A"/>
                </a:solidFill>
                <a:latin typeface="Arial"/>
                <a:ea typeface="Malgun Gothic"/>
                <a:cs typeface="Malgun Gothic"/>
              </a:rPr>
              <a:t>을 가정한다. travplan 로봇이 비동축이면 위 식으로 바꿔야 하고, 필요한 값은 모듈 위치와 오프셋 </a:t>
            </a:r>
            <a:r>
              <a:rPr sz="1050" b="0" i="1">
                <a:solidFill>
                  <a:srgbClr val="16213A"/>
                </a:solidFill>
                <a:latin typeface="Arial"/>
                <a:ea typeface="Malgun Gothic"/>
                <a:cs typeface="Malgun Gothic"/>
              </a:rPr>
              <a:t>b</a:t>
            </a:r>
            <a:r>
              <a:rPr sz="1050" b="0" i="0">
                <a:solidFill>
                  <a:srgbClr val="16213A"/>
                </a:solidFill>
                <a:latin typeface="Arial"/>
                <a:ea typeface="Malgun Gothic"/>
                <a:cs typeface="Malgun Gothic"/>
              </a:rPr>
              <a:t>다(TP-0035에서 받는다).</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B.12 로봇별 오픈소스 Planner: 자율주행 자동차, 사족보행, 휴머노이드, 바퀴 로봇</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178 / 516</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하드웨어 수치는 그대로 쓸 수 없다. 오프셋 14 mm, 경사 6.5°, 최고 속도 1 m/s는 실내 기준이고, travplan은 연석 0.24 m와 경사로 11.3°를 다룬다. 가져올 것은 세 가지다. 첫째, PCV 기구학이다. Choreo에 없던 조향축 오프셋 모델이 여기 있다(TP-0034). 둘째, 전방향 구동의 이득을 재는 방법이다. 같은 정책을 차동 구동으로 제한해 비교한 9/10 대 4/10은 travplan이 스워브를 쓰는 근거를 같은 방식으로 보일 수 있다는 뜻이다. 셋째, MIT 라이선스라 코드를 읽고 옮길 수 있다.</a:t>
            </a:r>
          </a:p>
        </p:txBody>
      </p:sp>
      <p:sp>
        <p:nvSpPr>
          <p:cNvPr id="6" name="TextBox 5"/>
          <p:cNvSpPr txBox="1"/>
          <p:nvPr/>
        </p:nvSpPr>
        <p:spPr>
          <a:xfrm>
            <a:off x="609600" y="1982986"/>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PUTN — 점군 평면 맞춤으로 험지를 평가한다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arXiv:2203.04541</a:t>
            </a:r>
            <a:r>
              <a:rPr sz="1050" b="0" i="0">
                <a:solidFill>
                  <a:srgbClr val="16213A"/>
                </a:solidFill>
                <a:latin typeface="Arial"/>
                <a:ea typeface="Malgun Gothic"/>
                <a:cs typeface="Malgun Gothic"/>
              </a:rPr>
              <a:t>, IROS 2022, Tsinghua, </a:t>
            </a:r>
            <a:r>
              <a:rPr sz="1050" b="0" i="0">
                <a:solidFill>
                  <a:srgbClr val="1D4ED8"/>
                </a:solidFill>
                <a:latin typeface="Arial"/>
                <a:ea typeface="Malgun Gothic"/>
                <a:cs typeface="Malgun Gothic"/>
                <a:hlinkClick r:id="rId4"/>
              </a:rPr>
              <a:t>코드</a:t>
            </a:r>
            <a:r>
              <a:rPr sz="1050" b="0" i="0">
                <a:solidFill>
                  <a:srgbClr val="16213A"/>
                </a:solidFill>
                <a:latin typeface="Arial"/>
                <a:ea typeface="Malgun Gothic"/>
                <a:cs typeface="Malgun Gothic"/>
              </a:rPr>
              <a:t>, GPL-3.0). 전역 계획에서 RRT*가 샘플한 점마다 주변 점군에 평면을 맞추고, 경사, 평탄도(평면 잔차), 희소도(점 밀도)로 traversability 지수를 매긴다. 평면들이 이어진 "지나갈 수 있는 띠"를 따라 성긴 경로를 만들고, 가우시안 과정 회귀로 촘촘한 경로의 traversability와 불확실성을 채운다. 로컬 계획은 traversability와 불확실성을 비용에, 실시간 점군 장애물을 제약에 넣은 NMPC가 맡는다. 4륜 Scout 2.0으로 가파른 경사, 다리, 숲, 아치 다리에서 실험했다.</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B.12 로봇별 오픈소스 Planner: 자율주행 자동차, 사족보행, 휴머노이드, 바퀴 로봇</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179 / 516</a:t>
            </a:r>
          </a:p>
        </p:txBody>
      </p:sp>
      <p:pic>
        <p:nvPicPr>
          <p:cNvPr id="5" name="Picture 4" descr="image.jpg"/>
          <p:cNvPicPr>
            <a:picLocks noChangeAspect="1"/>
          </p:cNvPicPr>
          <p:nvPr/>
        </p:nvPicPr>
        <p:blipFill>
          <a:blip r:embed="rId3"/>
          <a:stretch>
            <a:fillRect/>
          </a:stretch>
        </p:blipFill>
        <p:spPr>
          <a:xfrm>
            <a:off x="1016000" y="1244600"/>
            <a:ext cx="10160000" cy="4356100"/>
          </a:xfrm>
          <a:prstGeom prst="rect">
            <a:avLst/>
          </a:prstGeom>
        </p:spPr>
      </p:pic>
      <p:sp>
        <p:nvSpPr>
          <p:cNvPr id="6" name="TextBox 5"/>
          <p:cNvSpPr txBox="1"/>
          <p:nvPr/>
        </p:nvSpPr>
        <p:spPr>
          <a:xfrm>
            <a:off x="1016000" y="5638800"/>
            <a:ext cx="10160000" cy="142180"/>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PUTN (Fig. 2): LiDAR 점군으로 SLAM 지도를 만들고, 평면 맞춤 RRT*로 성긴 전역 경로를, GPR로 촘촘한 경로를 만든 뒤 NMPC가 제어 입력을 낸다. 출처: arXiv:2203.04541</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B.12 로봇별 오픈소스 Planner: 자율주행 자동차, 사족보행, 휴머노이드, 바퀴 로봇</a:t>
            </a:r>
            <a:r>
              <a:rPr sz="1050" b="0" i="0">
                <a:solidFill>
                  <a:srgbClr val="5A6478"/>
                </a:solidFill>
                <a:latin typeface="Arial"/>
                <a:ea typeface="Malgun Gothic"/>
                <a:cs typeface="Malgun Gothic"/>
              </a:rPr>
              <a:t>  자세히: PUTN의 traversability 지수와 travplan 비용의 차이</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180 / 516</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PUTN.</a:t>
            </a:r>
            <a:r>
              <a:rPr sz="1050" b="0" i="0">
                <a:solidFill>
                  <a:srgbClr val="16213A"/>
                </a:solidFill>
                <a:latin typeface="Arial"/>
                <a:ea typeface="Malgun Gothic"/>
                <a:cs typeface="Malgun Gothic"/>
              </a:rPr>
              <a:t> 경사 </a:t>
            </a:r>
            <a:r>
              <a:rPr sz="1050" b="0" i="1">
                <a:solidFill>
                  <a:srgbClr val="16213A"/>
                </a:solidFill>
                <a:latin typeface="Arial"/>
                <a:ea typeface="Malgun Gothic"/>
                <a:cs typeface="Malgun Gothic"/>
              </a:rPr>
              <a:t>s</a:t>
            </a:r>
            <a:r>
              <a:rPr sz="1050" b="0" i="0">
                <a:solidFill>
                  <a:srgbClr val="16213A"/>
                </a:solidFill>
                <a:latin typeface="Arial"/>
                <a:ea typeface="Malgun Gothic"/>
                <a:cs typeface="Malgun Gothic"/>
              </a:rPr>
              <a:t>, 평탄도 </a:t>
            </a:r>
            <a:r>
              <a:rPr sz="1050" b="0" i="1">
                <a:solidFill>
                  <a:srgbClr val="16213A"/>
                </a:solidFill>
                <a:latin typeface="Arial"/>
                <a:ea typeface="Malgun Gothic"/>
                <a:cs typeface="Malgun Gothic"/>
              </a:rPr>
              <a:t>f</a:t>
            </a:r>
            <a:r>
              <a:rPr sz="1050" b="0" i="0">
                <a:solidFill>
                  <a:srgbClr val="16213A"/>
                </a:solidFill>
                <a:latin typeface="Arial"/>
                <a:ea typeface="Malgun Gothic"/>
                <a:cs typeface="Malgun Gothic"/>
              </a:rPr>
              <a:t>, 희소도 </a:t>
            </a:r>
            <a:r>
              <a:rPr sz="1050" b="0" i="1">
                <a:solidFill>
                  <a:srgbClr val="16213A"/>
                </a:solidFill>
                <a:latin typeface="Arial"/>
                <a:ea typeface="Malgun Gothic"/>
                <a:cs typeface="Malgun Gothic"/>
              </a:rPr>
              <a:t>λ</a:t>
            </a:r>
            <a:r>
              <a:rPr sz="1050" b="0" i="0">
                <a:solidFill>
                  <a:srgbClr val="16213A"/>
                </a:solidFill>
                <a:latin typeface="Arial"/>
                <a:ea typeface="Malgun Gothic"/>
                <a:cs typeface="Malgun Gothic"/>
              </a:rPr>
              <a:t>를 각자의 임계값으로 나눈 뒤 가중합한다. 가중치의 합은 1이고, </a:t>
            </a:r>
            <a:r>
              <a:rPr sz="1050" b="0" i="1">
                <a:solidFill>
                  <a:srgbClr val="16213A"/>
                </a:solidFill>
                <a:latin typeface="Arial"/>
                <a:ea typeface="Malgun Gothic"/>
                <a:cs typeface="Malgun Gothic"/>
              </a:rPr>
              <a:t>τ = 1</a:t>
            </a:r>
            <a:r>
              <a:rPr sz="1050" b="0" i="0">
                <a:solidFill>
                  <a:srgbClr val="16213A"/>
                </a:solidFill>
                <a:latin typeface="Arial"/>
                <a:ea typeface="Malgun Gothic"/>
                <a:cs typeface="Malgun Gothic"/>
              </a:rPr>
              <a:t>이면 완전히 지나갈 수 없다.</a:t>
            </a:r>
          </a:p>
        </p:txBody>
      </p:sp>
      <p:pic>
        <p:nvPicPr>
          <p:cNvPr id="6" name="Picture 5" descr="image.png"/>
          <p:cNvPicPr>
            <a:picLocks noChangeAspect="1"/>
          </p:cNvPicPr>
          <p:nvPr/>
        </p:nvPicPr>
        <p:blipFill>
          <a:blip r:embed="rId3"/>
          <a:stretch>
            <a:fillRect/>
          </a:stretch>
        </p:blipFill>
        <p:spPr>
          <a:xfrm>
            <a:off x="609600" y="1549995"/>
            <a:ext cx="3886200" cy="406400"/>
          </a:xfrm>
          <a:prstGeom prst="rect">
            <a:avLst/>
          </a:prstGeom>
        </p:spPr>
      </p:pic>
      <p:sp>
        <p:nvSpPr>
          <p:cNvPr id="7" name="TextBox 6"/>
          <p:cNvSpPr txBox="1"/>
          <p:nvPr/>
        </p:nvSpPr>
        <p:spPr>
          <a:xfrm>
            <a:off x="609600" y="1969195"/>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GeometricTraversability</a:t>
            </a:r>
            <a:r>
              <a:rPr sz="1050" b="0" i="0">
                <a:solidFill>
                  <a:srgbClr val="16213A"/>
                </a:solidFill>
                <a:latin typeface="Arial"/>
                <a:ea typeface="Malgun Gothic"/>
                <a:cs typeface="Malgun Gothic"/>
              </a:rPr>
              <a:t>는 경사, 턱, 거칠기를 각자의 한계로 나눈 값 가운데 </a:t>
            </a:r>
            <a:r>
              <a:rPr sz="1050" b="1" i="0">
                <a:solidFill>
                  <a:srgbClr val="16213A"/>
                </a:solidFill>
                <a:latin typeface="Arial"/>
                <a:ea typeface="Malgun Gothic"/>
                <a:cs typeface="Malgun Gothic"/>
              </a:rPr>
              <a:t>가장 큰 것</a:t>
            </a:r>
            <a:r>
              <a:rPr sz="1050" b="0" i="0">
                <a:solidFill>
                  <a:srgbClr val="16213A"/>
                </a:solidFill>
                <a:latin typeface="Arial"/>
                <a:ea typeface="Malgun Gothic"/>
                <a:cs typeface="Malgun Gothic"/>
              </a:rPr>
              <a:t>을 비용으로 쓴다.</a:t>
            </a:r>
          </a:p>
        </p:txBody>
      </p:sp>
      <p:pic>
        <p:nvPicPr>
          <p:cNvPr id="8" name="Picture 7" descr="image.png"/>
          <p:cNvPicPr>
            <a:picLocks noChangeAspect="1"/>
          </p:cNvPicPr>
          <p:nvPr/>
        </p:nvPicPr>
        <p:blipFill>
          <a:blip r:embed="rId4"/>
          <a:stretch>
            <a:fillRect/>
          </a:stretch>
        </p:blipFill>
        <p:spPr>
          <a:xfrm>
            <a:off x="609600" y="2274590"/>
            <a:ext cx="5946775" cy="238125"/>
          </a:xfrm>
          <a:prstGeom prst="rect">
            <a:avLst/>
          </a:prstGeom>
        </p:spPr>
      </p:pic>
      <p:sp>
        <p:nvSpPr>
          <p:cNvPr id="9" name="TextBox 8"/>
          <p:cNvSpPr txBox="1"/>
          <p:nvPr/>
        </p:nvSpPr>
        <p:spPr>
          <a:xfrm>
            <a:off x="609600" y="2552105"/>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가중합은 평평하면 경사를 조금 봐준다. 최댓값은 한 가지만 나빠도 비용이 높다. 보도 로봇은 턱 하나로도 넘어지므로 최댓값이 더 안전하다. 대신 PUTN처럼 GPR로 불확실성을 함께 내는 것은 TravMap의 σ 채널을 경로 전체로 보간할 때 참고가 된다.</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B.12 로봇별 오픈소스 Planner: 자율주행 자동차, 사족보행, 휴머노이드, 바퀴 로봇</a:t>
            </a:r>
            <a:r>
              <a:rPr sz="1050" b="0" i="0">
                <a:solidFill>
                  <a:srgbClr val="5A6478"/>
                </a:solidFill>
                <a:latin typeface="Arial"/>
                <a:ea typeface="Malgun Gothic"/>
                <a:cs typeface="Malgun Gothic"/>
              </a:rPr>
              <a:t>  1/3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181 / 516</a:t>
            </a:r>
          </a:p>
        </p:txBody>
      </p:sp>
      <p:sp>
        <p:nvSpPr>
          <p:cNvPr id="5" name="TextBox 4"/>
          <p:cNvSpPr txBox="1"/>
          <p:nvPr/>
        </p:nvSpPr>
        <p:spPr>
          <a:xfrm>
            <a:off x="609600" y="1244600"/>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군중 속 주행 — CrowdNav, DRL-VO, ORCA</a:t>
            </a:r>
            <a:r>
              <a:rPr sz="1050" b="0" i="0">
                <a:solidFill>
                  <a:srgbClr val="16213A"/>
                </a:solidFill>
                <a:latin typeface="Arial"/>
                <a:ea typeface="Malgun Gothic"/>
                <a:cs typeface="Malgun Gothic"/>
              </a:rPr>
              <a:t>(CrowdNav </a:t>
            </a:r>
            <a:r>
              <a:rPr sz="1050" b="0" i="0">
                <a:solidFill>
                  <a:srgbClr val="1D4ED8"/>
                </a:solidFill>
                <a:latin typeface="Arial"/>
                <a:ea typeface="Malgun Gothic"/>
                <a:cs typeface="Malgun Gothic"/>
                <a:hlinkClick r:id="rId3"/>
              </a:rPr>
              <a:t>arXiv:1809.08835</a:t>
            </a:r>
            <a:r>
              <a:rPr sz="1050" b="0" i="0">
                <a:solidFill>
                  <a:srgbClr val="16213A"/>
                </a:solidFill>
                <a:latin typeface="Arial"/>
                <a:ea typeface="Malgun Gothic"/>
                <a:cs typeface="Malgun Gothic"/>
              </a:rPr>
              <a:t>, ICRA 2019; DRL-VO </a:t>
            </a:r>
            <a:r>
              <a:rPr sz="1050" b="0" i="0">
                <a:solidFill>
                  <a:srgbClr val="1D4ED8"/>
                </a:solidFill>
                <a:latin typeface="Arial"/>
                <a:ea typeface="Malgun Gothic"/>
                <a:cs typeface="Malgun Gothic"/>
                <a:hlinkClick r:id="rId4"/>
              </a:rPr>
              <a:t>arXiv:2301.06512</a:t>
            </a:r>
            <a:r>
              <a:rPr sz="1050" b="0" i="0">
                <a:solidFill>
                  <a:srgbClr val="16213A"/>
                </a:solidFill>
                <a:latin typeface="Arial"/>
                <a:ea typeface="Malgun Gothic"/>
                <a:cs typeface="Malgun Gothic"/>
              </a:rPr>
              <a:t>, T-RO 2023; ORCA </a:t>
            </a:r>
            <a:r>
              <a:rPr sz="1050" b="0" i="0">
                <a:solidFill>
                  <a:srgbClr val="1D4ED8"/>
                </a:solidFill>
                <a:latin typeface="Arial"/>
                <a:ea typeface="Malgun Gothic"/>
                <a:cs typeface="Malgun Gothic"/>
                <a:hlinkClick r:id="rId5"/>
              </a:rPr>
              <a:t>ISRR 2009</a:t>
            </a:r>
            <a:r>
              <a:rPr sz="1050" b="0" i="0">
                <a:solidFill>
                  <a:srgbClr val="16213A"/>
                </a:solidFill>
                <a:latin typeface="Arial"/>
                <a:ea typeface="Malgun Gothic"/>
                <a:cs typeface="Malgun Gothic"/>
              </a:rPr>
              <a:t>). ORCA는 서로 피한다고 가정하고 각자의 속도를 선형 계획으로 고르는 고전 방법으로, 시뮬레이터의 보행자 모델로도 널리 쓰인다(시뮬레이션 문서 S.3). CrowdNav는 사람과 로봇, 사람과 사람 사이의 상호작용을 self-attention으로 모아 군중 속 가치 함수를 RL로 배운다. DRL-VO는 LiDAR 이력, 주변 보행자 운동, subgoal을 받아 조향과 속도를 내는 정책을 속도 장애물 기반 보상으로 학습해, 최대 55명의 3D 시뮬레이션과 재학습 없는 실물 실험에서 성공률과 속도의 균형이 좋았다.</a:t>
            </a:r>
          </a:p>
        </p:txBody>
      </p:sp>
      <p:sp>
        <p:nvSpPr>
          <p:cNvPr id="6" name="TextBox 5"/>
          <p:cNvSpPr txBox="1"/>
          <p:nvPr/>
        </p:nvSpPr>
        <p:spPr>
          <a:xfrm>
            <a:off x="609600" y="2199481"/>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X-Mobility와 COMPASS — 한 로봇에서 배워 여러 몸체로 넓힌다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6"/>
              </a:rPr>
              <a:t>X-Mobility arXiv:2410.17491</a:t>
            </a:r>
            <a:r>
              <a:rPr sz="1050" b="0" i="0">
                <a:solidFill>
                  <a:srgbClr val="16213A"/>
                </a:solidFill>
                <a:latin typeface="Arial"/>
                <a:ea typeface="Malgun Gothic"/>
                <a:cs typeface="Malgun Gothic"/>
              </a:rPr>
              <a:t>, 2024; </a:t>
            </a:r>
            <a:r>
              <a:rPr sz="1050" b="0" i="0">
                <a:solidFill>
                  <a:srgbClr val="1D4ED8"/>
                </a:solidFill>
                <a:latin typeface="Arial"/>
                <a:ea typeface="Malgun Gothic"/>
                <a:cs typeface="Malgun Gothic"/>
                <a:hlinkClick r:id="rId7"/>
              </a:rPr>
              <a:t>COMPASS arXiv:2502.16372</a:t>
            </a:r>
            <a:r>
              <a:rPr sz="1050" b="0" i="0">
                <a:solidFill>
                  <a:srgbClr val="16213A"/>
                </a:solidFill>
                <a:latin typeface="Arial"/>
                <a:ea typeface="Malgun Gothic"/>
                <a:cs typeface="Malgun Gothic"/>
              </a:rPr>
              <a:t>, 2025, NVIDIA, 코드 Apache-2.0). X-Mobility는 잠재 상태 공간의 자기회귀 world model과 행동 정책을 분리해, 전문가가 없는 무작위 행동 데이터로는 세계 동역학을, 전문가 데이터로는 정책을 배운다. Isaac Sim의 Nova Carter(차동) 데이터로 학습했고, 시뮬레이션에서 지게차(Ackermann), Go2, G1에도 올렸으며, Jetson AGX Orin에서 실행 시간을 쟀다. COMPASS는 X-Mobility를 기본 정책으로 두고 몸체마다 잔차 RL로 고친 뒤, 몸체 임베딩을 조건으로 받는 한 정책으로 증류한다. 처음 보는 몸체에서 모방 학습 정책보다 성공률이 약 5배 높았고, Jetson Orin을 단 Carter와 G1 실물에 zero-shot으로 옮겼다.</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B.12 로봇별 오픈소스 Planner: 자율주행 자동차, 사족보행, 휴머노이드, 바퀴 로봇</a:t>
            </a:r>
            <a:r>
              <a:rPr sz="1050" b="0" i="0">
                <a:solidFill>
                  <a:srgbClr val="5A6478"/>
                </a:solidFill>
                <a:latin typeface="Arial"/>
                <a:ea typeface="Malgun Gothic"/>
                <a:cs typeface="Malgun Gothic"/>
              </a:rPr>
              <a:t>  2/3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182 / 516</a:t>
            </a:r>
          </a:p>
        </p:txBody>
      </p:sp>
      <p:pic>
        <p:nvPicPr>
          <p:cNvPr id="5" name="Picture 4" descr="image.jpg"/>
          <p:cNvPicPr>
            <a:picLocks noChangeAspect="1"/>
          </p:cNvPicPr>
          <p:nvPr/>
        </p:nvPicPr>
        <p:blipFill>
          <a:blip r:embed="rId3"/>
          <a:stretch>
            <a:fillRect/>
          </a:stretch>
        </p:blipFill>
        <p:spPr>
          <a:xfrm>
            <a:off x="2555875" y="1244600"/>
            <a:ext cx="7080250" cy="4445000"/>
          </a:xfrm>
          <a:prstGeom prst="rect">
            <a:avLst/>
          </a:prstGeom>
        </p:spPr>
      </p:pic>
      <p:sp>
        <p:nvSpPr>
          <p:cNvPr id="6" name="TextBox 5"/>
          <p:cNvSpPr txBox="1"/>
          <p:nvPr/>
        </p:nvSpPr>
        <p:spPr>
          <a:xfrm>
            <a:off x="2555875" y="5727700"/>
            <a:ext cx="708025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COMPASS (Fig. 1): 한 이동 로봇의 교사 정책으로 모방 학습한 기본 정책과 world model을, 잔차 RL로 여러 몸체에 맞추고, 몸체별 전문 정책을 한 정책으로 증류한다. 출처: arXiv:2502.16372</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B.12 로봇별 오픈소스 Planner: 자율주행 자동차, 사족보행, 휴머노이드, 바퀴 로봇</a:t>
            </a:r>
            <a:r>
              <a:rPr sz="1050" b="0" i="0">
                <a:solidFill>
                  <a:srgbClr val="5A6478"/>
                </a:solidFill>
                <a:latin typeface="Arial"/>
                <a:ea typeface="Malgun Gothic"/>
                <a:cs typeface="Malgun Gothic"/>
              </a:rPr>
              <a:t>  3/3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183 / 516</a:t>
            </a:r>
          </a:p>
        </p:txBody>
      </p:sp>
      <p:sp>
        <p:nvSpPr>
          <p:cNvPr id="5" name="TextBox 4"/>
          <p:cNvSpPr txBox="1"/>
          <p:nvPr/>
        </p:nvSpPr>
        <p:spPr>
          <a:xfrm>
            <a:off x="609600" y="1244600"/>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스워브 보도 로봇에 필요한 부품은 한 스택에 없고 공개 코드 여러 곳에 흩어져 있다.</a:t>
            </a:r>
            <a:r>
              <a:rPr sz="1050" b="0" i="0">
                <a:solidFill>
                  <a:srgbClr val="16213A"/>
                </a:solidFill>
                <a:latin typeface="Arial"/>
                <a:ea typeface="Malgun Gothic"/>
                <a:cs typeface="Malgun Gothic"/>
              </a:rPr>
              <a:t> 계획 인터페이스는 Nav2, 모듈 조향 규칙은 ROBOTIS 제어기, 모듈 힘 모델은 Choreo, 비동축 조향축 오프셋 기구학은 TidyBot++, 험지 평가는 PUTN이 가장 가깝다. ROS 2 통합(P1) 때는 travplan Planner를 Nav2의 계획기 플러그인 경계에, Controller를 MPPI의 Omni 모델 자리에 맞추면 Nav2의 나머지(behavior tree, 복구, 도킹)를 그대로 쓸 수 있다. 스워브 구동기는 ros2_controllers 공식 패키지가 없어 </a:t>
            </a:r>
            <a:r>
              <a:rPr sz="1050" b="0" i="0">
                <a:solidFill>
                  <a:srgbClr val="16213A"/>
                </a:solidFill>
                <a:latin typeface="Consolas"/>
                <a:ea typeface="Malgun Gothic"/>
                <a:cs typeface="Malgun Gothic"/>
              </a:rPr>
              <a:t>ffw_swerve_drive_controller</a:t>
            </a:r>
            <a:r>
              <a:rPr sz="1050" b="0" i="0">
                <a:solidFill>
                  <a:srgbClr val="16213A"/>
                </a:solidFill>
                <a:latin typeface="Arial"/>
                <a:ea typeface="Malgun Gothic"/>
                <a:cs typeface="Malgun Gothic"/>
              </a:rPr>
              <a:t>를 쓴다. 군중 회피 코드는 대부분 차동 구동을 가정한다. travplan의 </a:t>
            </a:r>
            <a:r>
              <a:rPr sz="1050" b="0" i="0">
                <a:solidFill>
                  <a:srgbClr val="16213A"/>
                </a:solidFill>
                <a:latin typeface="Consolas"/>
                <a:ea typeface="Malgun Gothic"/>
                <a:cs typeface="Malgun Gothic"/>
              </a:rPr>
              <a:t>DynamicObstacles</a:t>
            </a:r>
            <a:r>
              <a:rPr sz="1050" b="0" i="0">
                <a:solidFill>
                  <a:srgbClr val="16213A"/>
                </a:solidFill>
                <a:latin typeface="Arial"/>
                <a:ea typeface="Malgun Gothic"/>
                <a:cs typeface="Malgun Gothic"/>
              </a:rPr>
              <a:t> 비용 층과 같은 조건에서 비교하려면 A.12의 예측 기준선을 먼저 맞춘다.</a:t>
            </a:r>
          </a:p>
        </p:txBody>
      </p:sp>
      <p:sp>
        <p:nvSpPr>
          <p:cNvPr id="6" name="TextBox 5"/>
          <p:cNvSpPr txBox="1"/>
          <p:nvPr/>
        </p:nvSpPr>
        <p:spPr>
          <a:xfrm>
            <a:off x="717550" y="2199481"/>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B.12.5 네 로봇에서 travplan이 가져올 것</a:t>
            </a:r>
          </a:p>
        </p:txBody>
      </p:sp>
      <p:sp>
        <p:nvSpPr>
          <p:cNvPr id="7" name="TextBox 6"/>
          <p:cNvSpPr txBox="1"/>
          <p:nvPr/>
        </p:nvSpPr>
        <p:spPr>
          <a:xfrm>
            <a:off x="609600" y="2502694"/>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네 로봇의 공개 스택은 층의 경계와 후보 선택 방식에서 같은 답을 낸다.</a:t>
            </a:r>
            <a:r>
              <a:rPr sz="1050" b="0" i="0">
                <a:solidFill>
                  <a:srgbClr val="16213A"/>
                </a:solidFill>
                <a:latin typeface="Arial"/>
                <a:ea typeface="Malgun Gothic"/>
                <a:cs typeface="Malgun Gothic"/>
              </a:rPr>
              <a:t> 로봇마다 가장 가져올 만한 것을 travplan 위치와 함께 정리했다.</a:t>
            </a:r>
          </a:p>
        </p:txBody>
      </p:sp>
      <p:graphicFrame>
        <p:nvGraphicFramePr>
          <p:cNvPr id="8" name="Table 7"/>
          <p:cNvGraphicFramePr>
            <a:graphicFrameLocks noGrp="1"/>
          </p:cNvGraphicFramePr>
          <p:nvPr/>
        </p:nvGraphicFramePr>
        <p:xfrm>
          <a:off x="609600" y="2808089"/>
          <a:ext cx="10966450" cy="2167968"/>
        </p:xfrm>
        <a:graphic>
          <a:graphicData uri="http://schemas.openxmlformats.org/drawingml/2006/table">
            <a:tbl>
              <a:tblPr firstRow="1" bandRow="1">
                <a:tableStyleId>{5C22544A-7EE6-4342-B048-85BDC9FD1C3A}</a:tableStyleId>
              </a:tblPr>
              <a:tblGrid>
                <a:gridCol w="1080393"/>
                <a:gridCol w="4130774"/>
                <a:gridCol w="3111401"/>
                <a:gridCol w="2643882"/>
              </a:tblGrid>
              <a:tr h="197088">
                <a:tc>
                  <a:txBody>
                    <a:bodyPr wrap="square"/>
                    <a:lstStyle/>
                    <a:p>
                      <a:r>
                        <a:rPr sz="800" b="1" i="0">
                          <a:solidFill>
                            <a:srgbClr val="F4F1EA"/>
                          </a:solidFill>
                          <a:latin typeface="Arial"/>
                          <a:ea typeface="Malgun Gothic"/>
                          <a:cs typeface="Malgun Gothic"/>
                        </a:rPr>
                        <a:t>로봇</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가져올 것</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공개 코드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travplan 반영 위치</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자율주행 자동차</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후보 생성, 검증기, 순위기로 고르는 구조</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Autoware 새 계획 구조, tuplan_garage(PDM)</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Planner D 선택기, 비학습 Planner D 기준선</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자율주행 자동차</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곱하는 벌점과 가중 평균을 섞은 평가</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NAVSIM, nuPlan devkit</a:t>
                      </a:r>
                    </a:p>
                  </a:txBody>
                  <a:tcPr marL="63500" marR="63500" marT="12700" marB="12700">
                    <a:solidFill>
                      <a:srgbClr val="F3F0E8"/>
                    </a:solidFill>
                  </a:tcPr>
                </a:tc>
                <a:tc>
                  <a:txBody>
                    <a:bodyPr wrap="square"/>
                    <a:lstStyle/>
                    <a:p>
                      <a:r>
                        <a:rPr sz="800" b="0" i="0">
                          <a:solidFill>
                            <a:srgbClr val="16213A"/>
                          </a:solidFill>
                          <a:latin typeface="Consolas"/>
                          <a:ea typeface="Malgun Gothic"/>
                          <a:cs typeface="Malgun Gothic"/>
                        </a:rPr>
                        <a:t>run_benchmark.py</a:t>
                      </a:r>
                      <a:r>
                        <a:rPr sz="800" b="0" i="0">
                          <a:solidFill>
                            <a:srgbClr val="16213A"/>
                          </a:solidFill>
                          <a:latin typeface="Arial"/>
                          <a:ea typeface="Malgun Gothic"/>
                          <a:cs typeface="Malgun Gothic"/>
                        </a:rPr>
                        <a:t> 지표(B.11)</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사족보행</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이동 시간과 실패 확률을 학습한 간선 비용</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ArtPlanner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TravNet 라벨(TP-0010, TP-0022)</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사족보행</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지형 분석, 로컬 Planner, 경로·탐사의 세 층</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CMU 스택, autonomy_stack_go2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미관측 영역 탐색(알려진 한계)</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휴머노이드</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몇 개의 목표점으로 된 Planner–Controller 경계</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HEAD, HOVER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시간 인덱스 궤적 경계 유지</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휴머노이드</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부위별 퍼텐셜장</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Click-and-Traverse</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cost-to-go에 척력 추가</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바퀴 로봇</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전방향 운동 모델과 계획기 플러그인</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Nav2 MPPI Omni, Smac omni lattice</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ROS 2 통합(P1)</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바퀴 로봇</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조향 각속도 한계, 180° 반전 규칙, 모듈 힘 한계</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ffw_swerve_drive_controller, Choreo(TrajoptLib)</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스워브 모듈 모델(TP-0034, TP-0035)</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바퀴 로봇</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비동축 조향축 오프셋을 넣은 전방향 기구학</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TidyBot++(PCV 정식화)</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스워브 모듈 모델(TP-0034, TP-0035)</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바퀴 로봇</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사람 조종, 자율 주행, 비상 정지의 명령 우선순위 중재와 dead-man 잠금</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BotBrain(</a:t>
                      </a:r>
                      <a:r>
                        <a:rPr sz="800" b="0" i="0">
                          <a:solidFill>
                            <a:srgbClr val="16213A"/>
                          </a:solidFill>
                          <a:latin typeface="Consolas"/>
                          <a:ea typeface="Malgun Gothic"/>
                          <a:cs typeface="Malgun Gothic"/>
                        </a:rPr>
                        <a:t>twist_mux</a:t>
                      </a:r>
                      <a:r>
                        <a:rPr sz="800" b="0" i="0">
                          <a:solidFill>
                            <a:srgbClr val="16213A"/>
                          </a:solidFill>
                          <a:latin typeface="Arial"/>
                          <a:ea typeface="Malgun Gothic"/>
                          <a:cs typeface="Malgun Gothic"/>
                        </a:rPr>
                        <a: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ROS 2 통합(P1)</a:t>
                      </a:r>
                    </a:p>
                  </a:txBody>
                  <a:tcPr marL="63500" marR="63500" marT="12700" marB="12700">
                    <a:solidFill>
                      <a:srgbClr val="F3F0E8"/>
                    </a:solidFill>
                  </a:tcPr>
                </a:tc>
              </a:tr>
            </a:tbl>
          </a:graphicData>
        </a:graphic>
      </p:graphicFrame>
      <p:sp>
        <p:nvSpPr>
          <p:cNvPr id="9" name="TextBox 8"/>
          <p:cNvSpPr txBox="1"/>
          <p:nvPr/>
        </p:nvSpPr>
        <p:spPr>
          <a:xfrm>
            <a:off x="609600" y="5613301"/>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보도 배달로봇 전용으로 널리 쓰이는 오픈소스 스택은 없다(2026-09, GitHub 별 50개 이상 기준). 그래서 travplan은 위 네 계열에서 부품을 가져와 조합하는 쪽이 현실적이다. 라이선스가 표기되지 않은 저장소(PlanTF, PLUTO, CMU의 Go2 스택, humanoid-gym, Gallant, HEAD)는 코드를 읽고 설계를 참고하는 데까지만 쓴다.</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B.14 ETH RSL(Marco Hutter)의 계보: 높이 지도에서 배달로봇까지</a:t>
            </a:r>
            <a:r>
              <a:rPr sz="1050" b="0" i="0">
                <a:solidFill>
                  <a:srgbClr val="5A6478"/>
                </a:solidFill>
                <a:latin typeface="Arial"/>
                <a:ea typeface="Malgun Gothic"/>
                <a:cs typeface="Malgun Gothic"/>
              </a:rPr>
              <a:t>  1/3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184 / 516</a:t>
            </a:r>
          </a:p>
        </p:txBody>
      </p:sp>
      <p:sp>
        <p:nvSpPr>
          <p:cNvPr id="5" name="TextBox 4"/>
          <p:cNvSpPr txBox="1"/>
          <p:nvPr/>
        </p:nvSpPr>
        <p:spPr>
          <a:xfrm>
            <a:off x="609600" y="1244600"/>
            <a:ext cx="10972800" cy="1298972"/>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travplan이 쓰는 인식 도구와 비교 대상 상당수가 한 연구실에서 나왔다.</a:t>
            </a:r>
            <a:r>
              <a:rPr sz="1050" b="0" i="0">
                <a:solidFill>
                  <a:srgbClr val="16213A"/>
                </a:solidFill>
                <a:latin typeface="Arial"/>
                <a:ea typeface="Malgun Gothic"/>
                <a:cs typeface="Malgun Gothic"/>
              </a:rPr>
              <a:t> ETH Zürich의 Robotic Systems Lab(RSL)이고, Marco Hutter 교수가 이끈다. 이 계보는 2014년의 로봇 중심 높이 지도에서 출발했다. 그 뒤 사족 보행 강화학습(RL, reinforcement learning)과 바퀴 달린 다리 로봇을 거쳐 도시 배송 시험까지 왔다. </a:t>
            </a:r>
            <a:r>
              <a:rPr sz="1050" b="1" i="0">
                <a:solidFill>
                  <a:srgbClr val="C2410C"/>
                </a:solidFill>
                <a:latin typeface="Arial"/>
                <a:ea typeface="Malgun Gothic"/>
                <a:cs typeface="Malgun Gothic"/>
              </a:rPr>
              <a:t>그 끝의 스핀오프 RIVR(구 Swiss-Mile)가 계단을 오르는 배달로봇으로 시범 배송까지 갔고, 2026-03-19 Amazon에 인수됐다.</a:t>
            </a:r>
            <a:r>
              <a:rPr sz="1050" b="0" i="0">
                <a:solidFill>
                  <a:srgbClr val="16213A"/>
                </a:solidFill>
                <a:latin typeface="Arial"/>
                <a:ea typeface="Malgun Gothic"/>
                <a:cs typeface="Malgun Gothic"/>
              </a:rPr>
              <a:t> travplan과 문제 설정이 가장 가까운 산업 사례다. 이 절은 RSL 연구를 travplan의 층(인식·Planner·Controller·시뮬레이션)에 맞춰 계보 하나로 묶는다. 층마다의 깊은 설명은 제자리에 둔다. 인식 도구의 연표는 인식 문서 A.7.2에, 하위 제어와 커리큘럼은 Controller 문서 F.1에 있다. 이 절은 그 사이를 잇고, 아직 다룬 곳이 없던 논문은 카드와 상세 토글로 새로 쓴다. B.14.1은 토대(2014–2021)이고, B.14.2는 인식 보행과 추종이다. B.14.3은 내비게이션과 Planner, B.14.4는 바퀴·다리 로봇과 상용화를 다룬다. B.14.5는 사람들이고, B.14.6은 travplan이 가져올 순서다. RSL 밖의 취리히 연구(ETH의 다른 연구실·Disney Research·Flexion)와 다른 조직의 사족·휴머노이드 계보는 B.16에 있다.</a:t>
            </a:r>
          </a:p>
        </p:txBody>
      </p:sp>
      <p:graphicFrame>
        <p:nvGraphicFramePr>
          <p:cNvPr id="6" name="Table 5"/>
          <p:cNvGraphicFramePr>
            <a:graphicFrameLocks noGrp="1"/>
          </p:cNvGraphicFramePr>
          <p:nvPr/>
        </p:nvGraphicFramePr>
        <p:xfrm>
          <a:off x="609600" y="2632472"/>
          <a:ext cx="10966946" cy="2485944"/>
        </p:xfrm>
        <a:graphic>
          <a:graphicData uri="http://schemas.openxmlformats.org/drawingml/2006/table">
            <a:tbl>
              <a:tblPr firstRow="1" bandRow="1">
                <a:tableStyleId>{5C22544A-7EE6-4342-B048-85BDC9FD1C3A}</a:tableStyleId>
              </a:tblPr>
              <a:tblGrid>
                <a:gridCol w="1089620"/>
                <a:gridCol w="3321050"/>
                <a:gridCol w="3846810"/>
                <a:gridCol w="2709466"/>
              </a:tblGrid>
              <a:tr h="197088">
                <a:tc>
                  <a:txBody>
                    <a:bodyPr wrap="square"/>
                    <a:lstStyle/>
                    <a:p>
                      <a:r>
                        <a:rPr sz="800" b="1" i="0">
                          <a:solidFill>
                            <a:srgbClr val="F4F1EA"/>
                          </a:solidFill>
                          <a:latin typeface="Arial"/>
                          <a:ea typeface="Malgun Gothic"/>
                          <a:cs typeface="Malgun Gothic"/>
                        </a:rPr>
                        <a:t>층</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RSL 연구</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핵심</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다룬 곳</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인식</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로봇 중심 elevation mapping (CLAWAR 2014, RA-L 2018)</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칸별 높이 칼만 융합, 자세 흐름을 칸의 수평 불확실성으로 옮김</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B.14.1, A.2b</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인식</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elevation_mapping_cupy (IROS 2022), traversability_estimation</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GPU 높이 지도, 가시성 정리와 상한 층, 기하 필터 비용</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A.2b, A.7.2, travplan L1 인식</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인식</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WVN(Wild Visual Navigation, RSS 2023)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고정 DINO 특징 위의 현장 자기지도 traversability</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B.14.3, A.7, TP-0010</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보행</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actuator net (Science Robotics 2019)</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실물 데이터로 학습한 구동기 모델과 혼합 시뮬레이터</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B.14.1, MPC 문서 M.1.3</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보행</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험지 blind 보행 (Science Robotics 2020)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특권 교사, TCN(temporal convolutional network) 학생, 적응 지형 커리큘럼</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B.14.1, A.7</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인식 + 보행</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Miki 2022 (Science Robotics)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높이 샘플과 proprioception을 합치는 belief encoder</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B.14.2, A.7.1</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보행 + Planner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ANYmal Parkour (Science Robotics 2024)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내비게이션 정책이 기술 하나와 국소 목표(위치·방향·시간)를 고른다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B.14.2, A.7.1</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Controller</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DTC(Deep Tracking Control, Science Robotics 2024)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궤적 최적화가 낸 발 디딤을 RL 정책이 밟는다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B.14.2</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Controller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바퀴 ANYmal: Keep Rollin'(RA-L 2019)부터 Multi-AMP(ICRA 2023)까지</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토크 제어 바퀴, ZMP(zero-moment point) 계획과 전신 제어기에서 전신 MPC를 거쳐 RL로</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B.14.4</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Planner</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ArtPlanner (Field Robotics 2023)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도달 가능성 자세 검증과 학습 이동 비용, 2021 DARPA SubT 결승</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B.14.3, B.12.2</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Planner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ViPlanner (ICRA 2024)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깊이와 의미 분할에서 비용 지도 손실로 학습한 로컬 경로</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B.14.3, B.4b</a:t>
                      </a:r>
                    </a:p>
                  </a:txBody>
                  <a:tcPr marL="63500" marR="63500" marT="12700" marB="12700">
                    <a:solidFill>
                      <a:srgbClr val="FFFDF8"/>
                    </a:solidFill>
                  </a:tcPr>
                </a:tc>
              </a:tr>
            </a:tbl>
          </a:graphicData>
        </a:graphic>
      </p:graphicFrame>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B.14 ETH RSL(Marco Hutter)의 계보: 높이 지도에서 배달로봇까지</a:t>
            </a:r>
            <a:r>
              <a:rPr sz="1050" b="0" i="0">
                <a:solidFill>
                  <a:srgbClr val="5A6478"/>
                </a:solidFill>
                <a:latin typeface="Arial"/>
                <a:ea typeface="Malgun Gothic"/>
                <a:cs typeface="Malgun Gothic"/>
              </a:rPr>
              <a:t>  2/3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185 / 516</a:t>
            </a:r>
          </a:p>
        </p:txBody>
      </p:sp>
      <p:graphicFrame>
        <p:nvGraphicFramePr>
          <p:cNvPr id="5" name="Table 4"/>
          <p:cNvGraphicFramePr>
            <a:graphicFrameLocks noGrp="1"/>
          </p:cNvGraphicFramePr>
          <p:nvPr/>
        </p:nvGraphicFramePr>
        <p:xfrm>
          <a:off x="609600" y="1244600"/>
          <a:ext cx="10966946" cy="1742280"/>
        </p:xfrm>
        <a:graphic>
          <a:graphicData uri="http://schemas.openxmlformats.org/drawingml/2006/table">
            <a:tbl>
              <a:tblPr firstRow="1" bandRow="1">
                <a:tableStyleId>{5C22544A-7EE6-4342-B048-85BDC9FD1C3A}</a:tableStyleId>
              </a:tblPr>
              <a:tblGrid>
                <a:gridCol w="1089620"/>
                <a:gridCol w="3321050"/>
                <a:gridCol w="3846810"/>
                <a:gridCol w="2709466"/>
              </a:tblGrid>
              <a:tr h="197088">
                <a:tc>
                  <a:txBody>
                    <a:bodyPr wrap="square"/>
                    <a:lstStyle/>
                    <a:p>
                      <a:r>
                        <a:rPr sz="800" b="1" i="0">
                          <a:solidFill>
                            <a:srgbClr val="F4F1EA"/>
                          </a:solidFill>
                          <a:latin typeface="Arial"/>
                          <a:ea typeface="Malgun Gothic"/>
                          <a:cs typeface="Malgun Gothic"/>
                        </a:rPr>
                        <a:t>층</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RSL 연구</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핵심</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다룬 곳</a:t>
                      </a:r>
                    </a:p>
                  </a:txBody>
                  <a:tcPr marL="63500" marR="63500" marT="12700" marB="12700">
                    <a:solidFill>
                      <a:srgbClr val="16213A"/>
                    </a:solidFill>
                  </a:tcPr>
                </a:tc>
              </a:tr>
              <a:tr h="317976">
                <a:tc>
                  <a:txBody>
                    <a:bodyPr wrap="square"/>
                    <a:lstStyle/>
                    <a:p>
                      <a:r>
                        <a:rPr sz="800" b="0" i="0">
                          <a:solidFill>
                            <a:srgbClr val="16213A"/>
                          </a:solidFill>
                          <a:latin typeface="Arial"/>
                          <a:ea typeface="Malgun Gothic"/>
                          <a:cs typeface="Malgun Gothic"/>
                        </a:rPr>
                        <a:t>Planner + Controller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바퀴·다리 도시 내비 (Science Robotics 2024)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전역 그래프, 학습 내비 정책, 학습 보행 정책의 3층</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B.14.4</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Planner + Controller</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FDM(forward dynamics model, RSS 2025)</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명령 위의 속도 보정과 실패 확률을 내는 학습 전방 동역학, MPPI</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B.14.3</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Planner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SRU(spatially-enhanced recurrent unit, IJRR 2026)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원소별 곱으로 자기 운동 정합을 배우는 순환 기억</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B.14.3</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Planner</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Path-conditioned RL (IROS 2026)</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전역 경로를 따를 선이 아니라 문맥으로 받는 RL 로컬 정책</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B.14.3, B.9</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시뮬레이션</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legged_gym (CoRL 2021), Isaac Lab</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GPU 병렬 RL, 게임식 지형 커리큘럼</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B.14.1, S.1.1(Isaac Lab), S.5.1, Controller F.1·F.6, B.12.2</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상용화</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RIVR(구 Swiss-Mile)</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바퀴·다리 배달로봇, 2026-03 Amazon 인수</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B.14.4</a:t>
                      </a:r>
                    </a:p>
                  </a:txBody>
                  <a:tcPr marL="63500" marR="63500" marT="12700" marB="12700">
                    <a:solidFill>
                      <a:srgbClr val="F3F0E8"/>
                    </a:solidFill>
                  </a:tcPr>
                </a:tc>
              </a:tr>
            </a:tbl>
          </a:graphicData>
        </a:graphic>
      </p:graphicFrame>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B.14 ETH RSL(Marco Hutter)의 계보: 높이 지도에서 배달로봇까지</a:t>
            </a:r>
            <a:r>
              <a:rPr sz="1050" b="0" i="0">
                <a:solidFill>
                  <a:srgbClr val="5A6478"/>
                </a:solidFill>
                <a:latin typeface="Arial"/>
                <a:ea typeface="Malgun Gothic"/>
                <a:cs typeface="Malgun Gothic"/>
              </a:rPr>
              <a:t>  3/3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186 / 516</a:t>
            </a:r>
          </a:p>
        </p:txBody>
      </p:sp>
      <p:pic>
        <p:nvPicPr>
          <p:cNvPr id="5" name="Picture 4" descr="image.jpg"/>
          <p:cNvPicPr>
            <a:picLocks noChangeAspect="1"/>
          </p:cNvPicPr>
          <p:nvPr/>
        </p:nvPicPr>
        <p:blipFill>
          <a:blip r:embed="rId3"/>
          <a:stretch>
            <a:fillRect/>
          </a:stretch>
        </p:blipFill>
        <p:spPr>
          <a:xfrm>
            <a:off x="2009775" y="1244600"/>
            <a:ext cx="8172450" cy="4445000"/>
          </a:xfrm>
          <a:prstGeom prst="rect">
            <a:avLst/>
          </a:prstGeom>
        </p:spPr>
      </p:pic>
      <p:sp>
        <p:nvSpPr>
          <p:cNvPr id="6" name="TextBox 5"/>
          <p:cNvSpPr txBox="1"/>
          <p:nvPr/>
        </p:nvSpPr>
        <p:spPr>
          <a:xfrm>
            <a:off x="2009775" y="5727700"/>
            <a:ext cx="8172450" cy="42654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ETH RSL 계보: 이 절의 연구를 층별 띠 다섯 개에 연도순으로 놓았다. 가로축은 연도이고, 상자가 겹치지 않게 조금씩 옮겼다. 상자 안 괄호는 발표처이고(SubT 상자만 팀 이름), 상용화 띠는 법인 설립·개명·인수 시점이다. 화살표는 뒤 연구가 앞 연구를 직접 이어 쓴 관계이고, 상용화 띠의 화살표는 연구진과 기술이 회사로 이어진 관계다. 출처: travplan scripts/make_doc_figures.py의 fig_rsl_lineage</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B.14 ETH RSL(Marco Hutter)의 계보: 높이 지도에서 배달로봇까지</a:t>
            </a:r>
            <a:r>
              <a:rPr sz="1050" b="0" i="0">
                <a:solidFill>
                  <a:srgbClr val="5A6478"/>
                </a:solidFill>
                <a:latin typeface="Arial"/>
                <a:ea typeface="Malgun Gothic"/>
                <a:cs typeface="Malgun Gothic"/>
              </a:rPr>
              <a:t>  자세히: RSL 연표(2014–2026)</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187 / 516</a:t>
            </a:r>
          </a:p>
        </p:txBody>
      </p:sp>
      <p:graphicFrame>
        <p:nvGraphicFramePr>
          <p:cNvPr id="5" name="Table 4"/>
          <p:cNvGraphicFramePr>
            <a:graphicFrameLocks noGrp="1"/>
          </p:cNvGraphicFramePr>
          <p:nvPr/>
        </p:nvGraphicFramePr>
        <p:xfrm>
          <a:off x="609600" y="1244600"/>
          <a:ext cx="10966450" cy="2606832"/>
        </p:xfrm>
        <a:graphic>
          <a:graphicData uri="http://schemas.openxmlformats.org/drawingml/2006/table">
            <a:tbl>
              <a:tblPr firstRow="1" bandRow="1">
                <a:tableStyleId>{5C22544A-7EE6-4342-B048-85BDC9FD1C3A}</a:tableStyleId>
              </a:tblPr>
              <a:tblGrid>
                <a:gridCol w="417909"/>
                <a:gridCol w="10548541"/>
              </a:tblGrid>
              <a:tr h="197088">
                <a:tc>
                  <a:txBody>
                    <a:bodyPr wrap="square"/>
                    <a:lstStyle/>
                    <a:p>
                      <a:r>
                        <a:rPr sz="800" b="1" i="0">
                          <a:solidFill>
                            <a:srgbClr val="F4F1EA"/>
                          </a:solidFill>
                          <a:latin typeface="Arial"/>
                          <a:ea typeface="Malgun Gothic"/>
                          <a:cs typeface="Malgun Gothic"/>
                        </a:rPr>
                        <a:t>연도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연구·사건</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2014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로봇 중심 elevation mapping(CLAWAR 2014, ETH Autonomous Systems Lab 소속, Hutter 공저)</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2016</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ANYbotics 설립(ETH 스핀오프, Fankhauser·Hutter 공동 창업)</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2018</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불확실한 자세의 확률 지형 지도(RA-L 2018), 스케이트 보행(IROS 2018, 수동 바퀴와 스케이트), 첫 구동 바퀴(직접 구동, 최대 4 N·m)</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2019</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actuator net(Science Robotics, 01), Keep Rollin'(RA-L), 감속기를 넣은 32 N·m 바퀴, 바퀴 ANYmal의 DARPA SubT(Subterranean Challenge) 터널 서킷 출전</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2020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험지 blind 보행(Science Robotics), Rolling in the Deep(RA-L), DARPA SubT 어반 서킷에서 ANYmal-B 두 대의 보행 실패 0</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2021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legged_gym(CoRL 2021), 전신 MPC(IROS 2021), Bjelonic 박사 논문, DARPA SubT 결승 우승(Prize Round 09-23, CERBERUS 팀, ANYmal C 네 대와 ArtPlanner), IEEE Spectrum의 Swiss-Mile 소개(12)</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2022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Miki 인식 보행(Science Robotics, 01), elevation_mapping_cupy(IROS 2022), CERBERUS 팀 논문(Science Robotics, 05), 오프라인 라이브러리와 온라인 MPC(IJRR), Multi-AMP(arXiv, 03)</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2023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ArtPlanner(Field Robotics), Swiss-Mile Robotics AG 설립(04), WVN(RSS 2023), Multi-AMP(ICRA 2023), ANYmal Parkour(arXiv, 06), DTC(arXiv, 09), ViPlanner(arXiv, 10), Hutter의 The AI Institute(지금 RAI Institute) 취리히 책임자 발표(12)</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2024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DTC(Science Robotics, 01-17), ANYmal Parkour(Science Robotics, 03-13), 바퀴·다리 도시 내비(Science Robotics, 04-24), ViPlanner(ICRA 2024), Swiss-Mile 2,200만 달러 시드(08), Flexion Robotics AG 등기(12, Rudin·Hoeller 등 다섯이 공동 창업)</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2025</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RIVR로 개명(01), FDM(RSS 2025), 오스틴 Veho 시범(05), SRU(arXiv, 06; IJRR 온라인, 12), WVN 확장판(Autonomous Robots, 07), 취리히 Just Eat 시범(08)</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2026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Path-conditioned RL(arXiv, 03; IROS 2026), RIVR TWO 공개(03), Amazon의 RIVR 인수 확인(03-19), SRU(IJRR 45(11))</a:t>
                      </a:r>
                    </a:p>
                  </a:txBody>
                  <a:tcPr marL="63500" marR="63500" marT="12700" marB="12700">
                    <a:solidFill>
                      <a:srgbClr val="FFFDF8"/>
                    </a:solidFill>
                  </a:tcPr>
                </a:tc>
              </a:tr>
            </a:tbl>
          </a:graphicData>
        </a:graphic>
      </p:graphicFrame>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B.14 ETH RSL(Marco Hutter)의 계보: 높이 지도에서 배달로봇까지</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188 / 516</a:t>
            </a:r>
          </a:p>
        </p:txBody>
      </p:sp>
      <p:sp>
        <p:nvSpPr>
          <p:cNvPr id="5" name="TextBox 4"/>
          <p:cNvSpPr txBox="1"/>
          <p:nvPr/>
        </p:nvSpPr>
        <p:spPr>
          <a:xfrm>
            <a:off x="717550" y="1244600"/>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B.14.1 토대 (2014–2021)</a:t>
            </a:r>
          </a:p>
        </p:txBody>
      </p:sp>
      <p:sp>
        <p:nvSpPr>
          <p:cNvPr id="6" name="TextBox 5"/>
          <p:cNvSpPr txBox="1"/>
          <p:nvPr/>
        </p:nvSpPr>
        <p:spPr>
          <a:xfrm>
            <a:off x="609600" y="1547812"/>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RSL의 뒤 연구는 네 가지 토대 위에 있다.</a:t>
            </a:r>
            <a:r>
              <a:rPr sz="1050" b="0" i="0">
                <a:solidFill>
                  <a:srgbClr val="16213A"/>
                </a:solidFill>
                <a:latin typeface="Arial"/>
                <a:ea typeface="Malgun Gothic"/>
                <a:cs typeface="Malgun Gothic"/>
              </a:rPr>
              <a:t> 로봇 중심 높이 지도, 실물 데이터로 학습한 구동기 모델, 특권 교사에서 학생으로의 증류, GPU 병렬 학습 환경이다. 넷 모두 travplan의 한 층과 바로 닿는다. 높이 지도는 L1 인식의 코어로, 구동기 모델은 plant 지연과 GP(Gaussian process) 잔차로 이어진다. 증류는 Planner D의 DAgger(dataset aggregation)로, 병렬 학습 환경은 지형 레벨 커리큘럼으로 이어진다.</a:t>
            </a:r>
          </a:p>
        </p:txBody>
      </p:sp>
      <p:sp>
        <p:nvSpPr>
          <p:cNvPr id="7" name="TextBox 6"/>
          <p:cNvSpPr txBox="1"/>
          <p:nvPr/>
        </p:nvSpPr>
        <p:spPr>
          <a:xfrm>
            <a:off x="609600" y="2286198"/>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로봇 중심 elevation mapping — 지도를 로봇에 붙이고, 자세가 흐른 만큼 칸의 수평 불확실성을 키운다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RA-L 2018</a:t>
            </a:r>
            <a:r>
              <a:rPr sz="1050" b="0" i="0">
                <a:solidFill>
                  <a:srgbClr val="16213A"/>
                </a:solidFill>
                <a:latin typeface="Arial"/>
                <a:ea typeface="Malgun Gothic"/>
                <a:cs typeface="Malgun Gothic"/>
              </a:rPr>
              <a:t>, Fankhauser·Bloesch·Hutter, IEEE RA-L 3(4) 2018; 원형 </a:t>
            </a:r>
            <a:r>
              <a:rPr sz="1050" b="0" i="0">
                <a:solidFill>
                  <a:srgbClr val="1D4ED8"/>
                </a:solidFill>
                <a:latin typeface="Arial"/>
                <a:ea typeface="Malgun Gothic"/>
                <a:cs typeface="Malgun Gothic"/>
                <a:hlinkClick r:id="rId4"/>
              </a:rPr>
              <a:t>CLAWAR 2014</a:t>
            </a:r>
            <a:r>
              <a:rPr sz="1050" b="0" i="0">
                <a:solidFill>
                  <a:srgbClr val="16213A"/>
                </a:solidFill>
                <a:latin typeface="Arial"/>
                <a:ea typeface="Malgun Gothic"/>
                <a:cs typeface="Malgun Gothic"/>
              </a:rPr>
              <a:t>, Fankhauser·Bloesch·Gehring·Hutter·Siegwart; </a:t>
            </a:r>
            <a:r>
              <a:rPr sz="1050" b="0" i="0">
                <a:solidFill>
                  <a:srgbClr val="1D4ED8"/>
                </a:solidFill>
                <a:latin typeface="Arial"/>
                <a:ea typeface="Malgun Gothic"/>
                <a:cs typeface="Malgun Gothic"/>
                <a:hlinkClick r:id="rId5"/>
              </a:rPr>
              <a:t>코드 ANYbotics/elevation_mapping</a:t>
            </a:r>
            <a:r>
              <a:rPr sz="1050" b="0" i="0">
                <a:solidFill>
                  <a:srgbClr val="16213A"/>
                </a:solidFill>
                <a:latin typeface="Arial"/>
                <a:ea typeface="Malgun Gothic"/>
                <a:cs typeface="Malgun Gothic"/>
              </a:rPr>
              <a:t>). travplan L1의 코어인 elevation_mapping_cupy(A.2b, A.7.2)는 이 계보의 칸별 칼만 갱신을 이어받아 GPU로 새로 만든 후속이다. 이 논문의 로봇은 관절 기구학과 IMU(inertial measurement unit)만으로 자세를 추정하고, 지도는 거리 센서 측정으로 만든다. 이 추정에서 위치와 yaw는 관측되지 않아 시간이 갈수록 흐른다. 그래서 지도를 로봇 좌표에 붙이고, 흐름을 지도 쪽 불확실성으로 옮긴다.</a:t>
            </a:r>
          </a:p>
        </p:txBody>
      </p:sp>
      <p:sp>
        <p:nvSpPr>
          <p:cNvPr id="8" name="TextBox 7"/>
          <p:cNvSpPr txBox="1"/>
          <p:nvPr/>
        </p:nvSpPr>
        <p:spPr>
          <a:xfrm>
            <a:off x="609600" y="3241080"/>
            <a:ext cx="10972800" cy="86598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칸마다 높이와 그 불확실성을 둔다. 갱신은 두 갈래다. 측정 갱신은 점 하나를 그 칸의 높이 측정으로 바꿔 1차원 칼만 필터로 합친다(식은 A.2b 토글). 지도가 로봇에 붙어 있어서 위치와 yaw의 불확실성은 측정 쪽에서 빠진다. 그 몫은 운동 갱신이 맡는다. 로봇이 움직일 때마다 그 사이의 위치·yaw 불확실성을 모든 칸의 공간 공분산에 더한다. 융합 단계는 지도가 필요할 때만 돈다. 칸마다 이웃 칸을 공분산 타원 안에서 가중해 평균 높이와 95% 신뢰 구간의 상한·하한을 낸다. 그래서 평평한 곳은 자세가 흘러도 구간이 좁게 남고, 턱 가장자리만 넓어진다. StarlETH 실물 실험에서 참 지형은 이 구간 안에 들었다.</a:t>
            </a:r>
          </a:p>
        </p:txBody>
      </p:sp>
      <p:sp>
        <p:nvSpPr>
          <p:cNvPr id="9" name="TextBox 8"/>
          <p:cNvSpPr txBox="1"/>
          <p:nvPr/>
        </p:nvSpPr>
        <p:spPr>
          <a:xfrm>
            <a:off x="609600" y="4195961"/>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가장 직접 닿는 것은 자세 드리프트가 아니라 반 칸 수평 분산이다. 이 논문은 측정을 받은 칸에도 격자 이산화 몫의 수평 분산 </a:t>
            </a:r>
            <a:r>
              <a:rPr sz="1050" b="0" i="1">
                <a:solidFill>
                  <a:srgbClr val="16213A"/>
                </a:solidFill>
                <a:latin typeface="Arial"/>
                <a:ea typeface="Malgun Gothic"/>
                <a:cs typeface="Malgun Gothic"/>
              </a:rPr>
              <a:t>(d/2)²</a:t>
            </a:r>
            <a:r>
              <a:rPr sz="1050" b="0" i="0">
                <a:solidFill>
                  <a:srgbClr val="16213A"/>
                </a:solidFill>
                <a:latin typeface="Arial"/>
                <a:ea typeface="Malgun Gothic"/>
                <a:cs typeface="Malgun Gothic"/>
              </a:rPr>
              <a:t>를 두고, 융합에서 이웃 높이의 퍼짐을 거쳐 높이 구간으로 바꾼다. 인식 문서 A.13.13(TP-0054)이 L1 매퍼의 잡음 모델에 없다고 찾은 항이 바로 이것이다. 5 cm 칸 하나가 턱의 위아래를 섞는 모서리에서 생기는 오차이고, 시뮬 자세가 정확해도 남는다. 가시성 검사와 자세 드리프트에서 가져올 것은 아래 토글 끝에 있다.</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B.14 ETH RSL(Marco Hutter)의 계보: 높이 지도에서 배달로봇까지</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189 / 516</a:t>
            </a:r>
          </a:p>
        </p:txBody>
      </p:sp>
      <p:pic>
        <p:nvPicPr>
          <p:cNvPr id="5" name="Picture 4" descr="image.jpg"/>
          <p:cNvPicPr>
            <a:picLocks noChangeAspect="1"/>
          </p:cNvPicPr>
          <p:nvPr/>
        </p:nvPicPr>
        <p:blipFill>
          <a:blip r:embed="rId3"/>
          <a:stretch>
            <a:fillRect/>
          </a:stretch>
        </p:blipFill>
        <p:spPr>
          <a:xfrm>
            <a:off x="1031875" y="1244600"/>
            <a:ext cx="10128250" cy="4445000"/>
          </a:xfrm>
          <a:prstGeom prst="rect">
            <a:avLst/>
          </a:prstGeom>
        </p:spPr>
      </p:pic>
      <p:sp>
        <p:nvSpPr>
          <p:cNvPr id="6" name="TextBox 5"/>
          <p:cNvSpPr txBox="1"/>
          <p:nvPr/>
        </p:nvSpPr>
        <p:spPr>
          <a:xfrm>
            <a:off x="1031875" y="5727700"/>
            <a:ext cx="1012825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Probabilistic Terrain Mapping (Fig. 1): 전방 스테레오 카메라로 만든 로봇 중심 지도 위에서 렌더링한 ANYmal이 계단을 오른다. 색은 칸마다 하한과 상한 사이의 신뢰 구간이다(0–25 cm). 시야 안의 앞쪽은 좁고, 지나온 뒤쪽과 계단 모서리는 넓다. 출처: Fankhauser 외, RA-L 2018, 이미지 파일은 ANYbotics/elevation_mapping</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B.14 ETH RSL(Marco Hutter)의 계보: 높이 지도에서 배달로봇까지</a:t>
            </a:r>
            <a:r>
              <a:rPr sz="1050" b="0" i="0">
                <a:solidFill>
                  <a:srgbClr val="5A6478"/>
                </a:solidFill>
                <a:latin typeface="Arial"/>
                <a:ea typeface="Malgun Gothic"/>
                <a:cs typeface="Malgun Gothic"/>
              </a:rPr>
              <a:t>  자세히: 로봇 중심 elevation mapping의 방법과 수식</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190 / 516</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풀려는 문제.</a:t>
            </a:r>
            <a:r>
              <a:rPr sz="1050" b="0" i="0">
                <a:solidFill>
                  <a:srgbClr val="16213A"/>
                </a:solidFill>
                <a:latin typeface="Arial"/>
                <a:ea typeface="Malgun Gothic"/>
                <a:cs typeface="Malgun Gothic"/>
              </a:rPr>
              <a:t> 기존 지형 지도는 외부 기준(GPS, 시각 특징, 스캔 정합)으로 자세를 정확히 안다고 가정했다. 이런 기준은 조명과 특징 수, 신호에 좌우된다. 이 논문은 자세를 고유감각 오도메트리(관절 기구학과 IMU)만으로 추정하고, 지도는 거리 센서 측정으로 만든다. 이때 위치와 yaw는 관측되지 않아 흐른다. 흐른 자세를 세계 좌표 지도에 그대로 쓰면 지도가 흐려지거나 어긋난다. 지도에서 자세 추정으로 되먹이는 보정은 일부러 두지 않았다. 지도 오류가 상태 추정과 제어로 번지지 않게 하려는 것이다.</a:t>
            </a:r>
          </a:p>
        </p:txBody>
      </p:sp>
      <p:sp>
        <p:nvSpPr>
          <p:cNvPr id="6" name="TextBox 5"/>
          <p:cNvSpPr txBox="1"/>
          <p:nvPr/>
        </p:nvSpPr>
        <p:spPr>
          <a:xfrm>
            <a:off x="609600" y="1982986"/>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좌표계.</a:t>
            </a:r>
            <a:r>
              <a:rPr sz="1050" b="0" i="0">
                <a:solidFill>
                  <a:srgbClr val="16213A"/>
                </a:solidFill>
                <a:latin typeface="Arial"/>
                <a:ea typeface="Malgun Gothic"/>
                <a:cs typeface="Malgun Gothic"/>
              </a:rPr>
              <a:t> 지도 좌표 </a:t>
            </a:r>
            <a:r>
              <a:rPr sz="1050" b="0" i="1">
                <a:solidFill>
                  <a:srgbClr val="16213A"/>
                </a:solidFill>
                <a:latin typeface="Arial"/>
                <a:ea typeface="Malgun Gothic"/>
                <a:cs typeface="Malgun Gothic"/>
              </a:rPr>
              <a:t>M</a:t>
            </a:r>
            <a:r>
              <a:rPr sz="1050" b="0" i="0">
                <a:solidFill>
                  <a:srgbClr val="16213A"/>
                </a:solidFill>
                <a:latin typeface="Arial"/>
                <a:ea typeface="Malgun Gothic"/>
                <a:cs typeface="Malgun Gothic"/>
              </a:rPr>
              <a:t>은 로봇에 붙는다. </a:t>
            </a:r>
            <a:r>
              <a:rPr sz="1050" b="0" i="1">
                <a:solidFill>
                  <a:srgbClr val="16213A"/>
                </a:solidFill>
                <a:latin typeface="Arial"/>
                <a:ea typeface="Malgun Gothic"/>
                <a:cs typeface="Malgun Gothic"/>
              </a:rPr>
              <a:t>z</a:t>
            </a:r>
            <a:r>
              <a:rPr sz="1050" b="0" i="0">
                <a:solidFill>
                  <a:srgbClr val="16213A"/>
                </a:solidFill>
                <a:latin typeface="Arial"/>
                <a:ea typeface="Malgun Gothic"/>
                <a:cs typeface="Malgun Gothic"/>
              </a:rPr>
              <a:t>축은 중력 방향에 맞추고, yaw는 로봇의 yaw를 따라간다. 이렇게 두면 불확실성이 두 갱신으로 나뉜다.</a:t>
            </a:r>
          </a:p>
        </p:txBody>
      </p:sp>
      <p:sp>
        <p:nvSpPr>
          <p:cNvPr id="7" name="TextBox 6"/>
          <p:cNvSpPr txBox="1"/>
          <p:nvPr/>
        </p:nvSpPr>
        <p:spPr>
          <a:xfrm>
            <a:off x="609600" y="228838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측정 갱신.</a:t>
            </a:r>
            <a:r>
              <a:rPr sz="1050" b="0" i="0">
                <a:solidFill>
                  <a:srgbClr val="16213A"/>
                </a:solidFill>
                <a:latin typeface="Arial"/>
                <a:ea typeface="Malgun Gothic"/>
                <a:cs typeface="Malgun Gothic"/>
              </a:rPr>
              <a:t> 측정점을 지도 좌표의 높이 </a:t>
            </a:r>
            <a:r>
              <a:rPr sz="1050" b="0" i="1">
                <a:solidFill>
                  <a:srgbClr val="16213A"/>
                </a:solidFill>
                <a:latin typeface="Arial"/>
                <a:ea typeface="Malgun Gothic"/>
                <a:cs typeface="Malgun Gothic"/>
              </a:rPr>
              <a:t>p</a:t>
            </a:r>
            <a:r>
              <a:rPr sz="1050" b="0" i="0">
                <a:solidFill>
                  <a:srgbClr val="16213A"/>
                </a:solidFill>
                <a:latin typeface="Arial"/>
                <a:ea typeface="Malgun Gothic"/>
                <a:cs typeface="Malgun Gothic"/>
              </a:rPr>
              <a:t>로 바꾸고, 그 분산을 1차 오차 전파로 구한다. 1차 오차 전파는 입력의 공분산 </a:t>
            </a:r>
            <a:r>
              <a:rPr sz="1050" b="0" i="1">
                <a:solidFill>
                  <a:srgbClr val="16213A"/>
                </a:solidFill>
                <a:latin typeface="Arial"/>
                <a:ea typeface="Malgun Gothic"/>
                <a:cs typeface="Malgun Gothic"/>
              </a:rPr>
              <a:t>Σ</a:t>
            </a:r>
            <a:r>
              <a:rPr sz="1050" b="0" i="0">
                <a:solidFill>
                  <a:srgbClr val="16213A"/>
                </a:solidFill>
                <a:latin typeface="Arial"/>
                <a:ea typeface="Malgun Gothic"/>
                <a:cs typeface="Malgun Gothic"/>
              </a:rPr>
              <a:t>를 야코비안 </a:t>
            </a:r>
            <a:r>
              <a:rPr sz="1050" b="0" i="1">
                <a:solidFill>
                  <a:srgbClr val="16213A"/>
                </a:solidFill>
                <a:latin typeface="Arial"/>
                <a:ea typeface="Malgun Gothic"/>
                <a:cs typeface="Malgun Gothic"/>
              </a:rPr>
              <a:t>J</a:t>
            </a:r>
            <a:r>
              <a:rPr sz="1050" b="0" i="0">
                <a:solidFill>
                  <a:srgbClr val="16213A"/>
                </a:solidFill>
                <a:latin typeface="Arial"/>
                <a:ea typeface="Malgun Gothic"/>
                <a:cs typeface="Malgun Gothic"/>
              </a:rPr>
              <a:t>로 옮겨 </a:t>
            </a:r>
            <a:r>
              <a:rPr sz="1050" b="0" i="1">
                <a:solidFill>
                  <a:srgbClr val="16213A"/>
                </a:solidFill>
                <a:latin typeface="Arial"/>
                <a:ea typeface="Malgun Gothic"/>
                <a:cs typeface="Malgun Gothic"/>
              </a:rPr>
              <a:t>JΣ J^⊤</a:t>
            </a:r>
            <a:r>
              <a:rPr sz="1050" b="0" i="0">
                <a:solidFill>
                  <a:srgbClr val="16213A"/>
                </a:solidFill>
                <a:latin typeface="Arial"/>
                <a:ea typeface="Malgun Gothic"/>
                <a:cs typeface="Malgun Gothic"/>
              </a:rPr>
              <a:t>로 근사하는 방법이다. 변환을 그 점 근처에서 선형으로 본다는 가정이 들어 있다.</a:t>
            </a:r>
          </a:p>
        </p:txBody>
      </p:sp>
      <p:pic>
        <p:nvPicPr>
          <p:cNvPr id="8" name="Picture 7" descr="image.png"/>
          <p:cNvPicPr>
            <a:picLocks noChangeAspect="1"/>
          </p:cNvPicPr>
          <p:nvPr/>
        </p:nvPicPr>
        <p:blipFill>
          <a:blip r:embed="rId3"/>
          <a:stretch>
            <a:fillRect/>
          </a:stretch>
        </p:blipFill>
        <p:spPr>
          <a:xfrm>
            <a:off x="609600" y="2810272"/>
            <a:ext cx="2127250" cy="244475"/>
          </a:xfrm>
          <a:prstGeom prst="rect">
            <a:avLst/>
          </a:prstGeom>
        </p:spPr>
      </p:pic>
      <p:sp>
        <p:nvSpPr>
          <p:cNvPr id="9" name="TextBox 8"/>
          <p:cNvSpPr txBox="1"/>
          <p:nvPr/>
        </p:nvSpPr>
        <p:spPr>
          <a:xfrm>
            <a:off x="609600" y="3088680"/>
            <a:ext cx="10972800" cy="649486"/>
          </a:xfrm>
          <a:prstGeom prst="rect">
            <a:avLst/>
          </a:prstGeom>
          <a:noFill/>
        </p:spPr>
        <p:txBody>
          <a:bodyPr wrap="square" lIns="0" rIns="0" tIns="0" bIns="0" anchor="t">
            <a:spAutoFit/>
            <a:normAutofit/>
          </a:bodyPr>
          <a:lstStyle/>
          <a:p>
            <a:r>
              <a:rPr sz="1050" b="0" i="1">
                <a:solidFill>
                  <a:srgbClr val="16213A"/>
                </a:solidFill>
                <a:latin typeface="Arial"/>
                <a:ea typeface="Malgun Gothic"/>
                <a:cs typeface="Malgun Gothic"/>
              </a:rPr>
              <a:t>Σ_S</a:t>
            </a:r>
            <a:r>
              <a:rPr sz="1050" b="0" i="0">
                <a:solidFill>
                  <a:srgbClr val="16213A"/>
                </a:solidFill>
                <a:latin typeface="Arial"/>
                <a:ea typeface="Malgun Gothic"/>
                <a:cs typeface="Malgun Gothic"/>
              </a:rPr>
              <a:t>는 센서 잡음 모델이다. 구현에 RealSense, Kinect, Hokuyo, Velodyne 모델이 들어 있다. </a:t>
            </a:r>
            <a:r>
              <a:rPr sz="1050" b="0" i="1">
                <a:solidFill>
                  <a:srgbClr val="16213A"/>
                </a:solidFill>
                <a:latin typeface="Arial"/>
                <a:ea typeface="Malgun Gothic"/>
                <a:cs typeface="Malgun Gothic"/>
              </a:rPr>
              <a:t>Σ_(Φ,IS)</a:t>
            </a:r>
            <a:r>
              <a:rPr sz="1050" b="0" i="0">
                <a:solidFill>
                  <a:srgbClr val="16213A"/>
                </a:solidFill>
                <a:latin typeface="Arial"/>
                <a:ea typeface="Malgun Gothic"/>
                <a:cs typeface="Malgun Gothic"/>
              </a:rPr>
              <a:t>는 센서 자세 회전의 공분산이다. 높이만 뽑는 투영 때문에 yaw는 이 식에 영향을 주지 않는다. 센서 위치의 불확실성도 지도 좌표의 정의상 빠진다. 그래서 측정 분산에는 센서 잡음과 roll·pitch 불확실성만 들어간다. 높이 융합은 A.2b 토글의 1차원 칼만 식과 같다. 한 칸에 높이가 다른 점이 여럿 떨어지면(벽) Mahalanobis 거리로 높은 쪽을 융합하고, 추정보다 많이 낮은 측정은 버린다.</a:t>
            </a:r>
          </a:p>
        </p:txBody>
      </p:sp>
      <p:sp>
        <p:nvSpPr>
          <p:cNvPr id="10" name="TextBox 9"/>
          <p:cNvSpPr txBox="1"/>
          <p:nvPr/>
        </p:nvSpPr>
        <p:spPr>
          <a:xfrm>
            <a:off x="609600" y="3827066"/>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운동 갱신.</a:t>
            </a:r>
            <a:r>
              <a:rPr sz="1050" b="0" i="0">
                <a:solidFill>
                  <a:srgbClr val="16213A"/>
                </a:solidFill>
                <a:latin typeface="Arial"/>
                <a:ea typeface="Malgun Gothic"/>
                <a:cs typeface="Malgun Gothic"/>
              </a:rPr>
              <a:t> 측정에서 빠진 위치·yaw 불확실성이 여기서 들어간다. 2018년 판은 칸마다 </a:t>
            </a:r>
            <a:r>
              <a:rPr sz="1050" b="0" i="1">
                <a:solidFill>
                  <a:srgbClr val="16213A"/>
                </a:solidFill>
                <a:latin typeface="Arial"/>
                <a:ea typeface="Malgun Gothic"/>
                <a:cs typeface="Malgun Gothic"/>
              </a:rPr>
              <a:t>3×3</a:t>
            </a:r>
            <a:r>
              <a:rPr sz="1050" b="0" i="0">
                <a:solidFill>
                  <a:srgbClr val="16213A"/>
                </a:solidFill>
                <a:latin typeface="Arial"/>
                <a:ea typeface="Malgun Gothic"/>
                <a:cs typeface="Malgun Gothic"/>
              </a:rPr>
              <a:t> 공간 공분산 </a:t>
            </a:r>
            <a:r>
              <a:rPr sz="1050" b="0" i="1">
                <a:solidFill>
                  <a:srgbClr val="16213A"/>
                </a:solidFill>
                <a:latin typeface="Arial"/>
                <a:ea typeface="Malgun Gothic"/>
                <a:cs typeface="Malgun Gothic"/>
              </a:rPr>
              <a:t>Σ_(Pᵢ)</a:t>
            </a:r>
            <a:r>
              <a:rPr sz="1050" b="0" i="0">
                <a:solidFill>
                  <a:srgbClr val="16213A"/>
                </a:solidFill>
                <a:latin typeface="Arial"/>
                <a:ea typeface="Malgun Gothic"/>
                <a:cs typeface="Malgun Gothic"/>
              </a:rPr>
              <a:t>를 둔다. 측정을 받은 칸은 격자 한 변 </a:t>
            </a:r>
            <a:r>
              <a:rPr sz="1050" b="0" i="1">
                <a:solidFill>
                  <a:srgbClr val="16213A"/>
                </a:solidFill>
                <a:latin typeface="Arial"/>
                <a:ea typeface="Malgun Gothic"/>
                <a:cs typeface="Malgun Gothic"/>
              </a:rPr>
              <a:t>d</a:t>
            </a:r>
            <a:r>
              <a:rPr sz="1050" b="0" i="0">
                <a:solidFill>
                  <a:srgbClr val="16213A"/>
                </a:solidFill>
                <a:latin typeface="Arial"/>
                <a:ea typeface="Malgun Gothic"/>
                <a:cs typeface="Malgun Gothic"/>
              </a:rPr>
              <a:t>로 수평 분산을 초기화한다. 칸 안 어디에 점이 떨어졌는지 모른다는 격자 이산화의 몫이다.</a:t>
            </a:r>
          </a:p>
        </p:txBody>
      </p:sp>
      <p:pic>
        <p:nvPicPr>
          <p:cNvPr id="11" name="Picture 10" descr="image.png"/>
          <p:cNvPicPr>
            <a:picLocks noChangeAspect="1"/>
          </p:cNvPicPr>
          <p:nvPr/>
        </p:nvPicPr>
        <p:blipFill>
          <a:blip r:embed="rId4"/>
          <a:stretch>
            <a:fillRect/>
          </a:stretch>
        </p:blipFill>
        <p:spPr>
          <a:xfrm>
            <a:off x="609600" y="4348956"/>
            <a:ext cx="4883150" cy="260350"/>
          </a:xfrm>
          <a:prstGeom prst="rect">
            <a:avLst/>
          </a:prstGeom>
        </p:spPr>
      </p:pic>
      <p:sp>
        <p:nvSpPr>
          <p:cNvPr id="12" name="TextBox 11"/>
          <p:cNvSpPr txBox="1"/>
          <p:nvPr/>
        </p:nvSpPr>
        <p:spPr>
          <a:xfrm>
            <a:off x="609600" y="4642445"/>
            <a:ext cx="10972800" cy="649486"/>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둘째 식은 로봇이 </a:t>
            </a:r>
            <a:r>
              <a:rPr sz="1050" b="0" i="1">
                <a:solidFill>
                  <a:srgbClr val="16213A"/>
                </a:solidFill>
                <a:latin typeface="Arial"/>
                <a:ea typeface="Malgun Gothic"/>
                <a:cs typeface="Malgun Gothic"/>
              </a:rPr>
              <a:t>k</a:t>
            </a:r>
            <a:r>
              <a:rPr sz="1050" b="0" i="0">
                <a:solidFill>
                  <a:srgbClr val="16213A"/>
                </a:solidFill>
                <a:latin typeface="Arial"/>
                <a:ea typeface="Malgun Gothic"/>
                <a:cs typeface="Malgun Gothic"/>
              </a:rPr>
              <a:t>에서 </a:t>
            </a:r>
            <a:r>
              <a:rPr sz="1050" b="0" i="1">
                <a:solidFill>
                  <a:srgbClr val="16213A"/>
                </a:solidFill>
                <a:latin typeface="Arial"/>
                <a:ea typeface="Malgun Gothic"/>
                <a:cs typeface="Malgun Gothic"/>
              </a:rPr>
              <a:t>k+1</a:t>
            </a:r>
            <a:r>
              <a:rPr sz="1050" b="0" i="0">
                <a:solidFill>
                  <a:srgbClr val="16213A"/>
                </a:solidFill>
                <a:latin typeface="Arial"/>
                <a:ea typeface="Malgun Gothic"/>
                <a:cs typeface="Malgun Gothic"/>
              </a:rPr>
              <a:t>로 움직일 때 모든 칸에 더하는 항이다. </a:t>
            </a:r>
            <a:r>
              <a:rPr sz="1050" b="0" i="1">
                <a:solidFill>
                  <a:srgbClr val="16213A"/>
                </a:solidFill>
                <a:latin typeface="Arial"/>
                <a:ea typeface="Malgun Gothic"/>
                <a:cs typeface="Malgun Gothic"/>
              </a:rPr>
              <a:t>Σᵣ</a:t>
            </a:r>
            <a:r>
              <a:rPr sz="1050" b="0" i="0">
                <a:solidFill>
                  <a:srgbClr val="16213A"/>
                </a:solidFill>
                <a:latin typeface="Arial"/>
                <a:ea typeface="Malgun Gothic"/>
                <a:cs typeface="Malgun Gothic"/>
              </a:rPr>
              <a:t>은 그 사이 상대 이동의 위치 공분산이고, </a:t>
            </a:r>
            <a:r>
              <a:rPr sz="1050" b="0" i="1">
                <a:solidFill>
                  <a:srgbClr val="16213A"/>
                </a:solidFill>
                <a:latin typeface="Arial"/>
                <a:ea typeface="Malgun Gothic"/>
                <a:cs typeface="Malgun Gothic"/>
              </a:rPr>
              <a:t>Σ_Φ</a:t>
            </a:r>
            <a:r>
              <a:rPr sz="1050" b="0" i="0">
                <a:solidFill>
                  <a:srgbClr val="16213A"/>
                </a:solidFill>
                <a:latin typeface="Arial"/>
                <a:ea typeface="Malgun Gothic"/>
                <a:cs typeface="Malgun Gothic"/>
              </a:rPr>
              <a:t>는 상대 yaw의 분산이다. 부록이 상태 추정기의 절대 공분산에서 이 상대 공분산을 유도한다. 회전 야코비안에는 로봇에서 그 칸까지의 위치 벡터가 들어간다. 그래서 같은 yaw 불확실성이 먼 칸일수록 큰 수평 불확실성이 된다. 평균 높이는 바꾸지 않는다. 2014년 판은 공분산 대신 칸마다 분산 셋(</a:t>
            </a:r>
            <a:r>
              <a:rPr sz="1050" b="0" i="1">
                <a:solidFill>
                  <a:srgbClr val="16213A"/>
                </a:solidFill>
                <a:latin typeface="Arial"/>
                <a:ea typeface="Malgun Gothic"/>
                <a:cs typeface="Malgun Gothic"/>
              </a:rPr>
              <a:t>σₓ²</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σ_y²</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σₕ²</a:t>
            </a:r>
            <a:r>
              <a:rPr sz="1050" b="0" i="0">
                <a:solidFill>
                  <a:srgbClr val="16213A"/>
                </a:solidFill>
                <a:latin typeface="Arial"/>
                <a:ea typeface="Malgun Gothic"/>
                <a:cs typeface="Malgun Gothic"/>
              </a:rPr>
              <a:t>)만 두었다.</a:t>
            </a:r>
          </a:p>
        </p:txBody>
      </p:sp>
      <p:sp>
        <p:nvSpPr>
          <p:cNvPr id="13" name="TextBox 12"/>
          <p:cNvSpPr txBox="1"/>
          <p:nvPr/>
        </p:nvSpPr>
        <p:spPr>
          <a:xfrm>
            <a:off x="609600" y="538083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융합.</a:t>
            </a:r>
            <a:r>
              <a:rPr sz="1050" b="0" i="0">
                <a:solidFill>
                  <a:srgbClr val="16213A"/>
                </a:solidFill>
                <a:latin typeface="Arial"/>
                <a:ea typeface="Malgun Gothic"/>
                <a:cs typeface="Malgun Gothic"/>
              </a:rPr>
              <a:t> 지도가 필요할 때 필요한 부분만 돈다. 2014년 판은 이웃 칸 </a:t>
            </a:r>
            <a:r>
              <a:rPr sz="1050" b="0" i="1">
                <a:solidFill>
                  <a:srgbClr val="16213A"/>
                </a:solidFill>
                <a:latin typeface="Arial"/>
                <a:ea typeface="Malgun Gothic"/>
                <a:cs typeface="Malgun Gothic"/>
              </a:rPr>
              <a:t>n</a:t>
            </a:r>
            <a:r>
              <a:rPr sz="1050" b="0" i="0">
                <a:solidFill>
                  <a:srgbClr val="16213A"/>
                </a:solidFill>
                <a:latin typeface="Arial"/>
                <a:ea typeface="Malgun Gothic"/>
                <a:cs typeface="Malgun Gothic"/>
              </a:rPr>
              <a:t>이 사실 이 칸에 있을 확률로 가중해 평균과 분산을 낸다.</a:t>
            </a:r>
          </a:p>
        </p:txBody>
      </p:sp>
      <p:sp>
        <p:nvSpPr>
          <p:cNvPr id="14" name="TextBox 13"/>
          <p:cNvSpPr txBox="1"/>
          <p:nvPr/>
        </p:nvSpPr>
        <p:spPr>
          <a:xfrm>
            <a:off x="609600" y="5686227"/>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8개(문단·식·그림)는 대시보드 리서치 탭의 "자세히: 로봇 중심 elevation mapping의 방법과 수식" 토글에 있다.</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B.14 ETH RSL(Marco Hutter)의 계보: 높이 지도에서 배달로봇까지</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191 / 516</a:t>
            </a:r>
          </a:p>
        </p:txBody>
      </p:sp>
      <p:sp>
        <p:nvSpPr>
          <p:cNvPr id="5" name="TextBox 4"/>
          <p:cNvSpPr txBox="1"/>
          <p:nvPr/>
        </p:nvSpPr>
        <p:spPr>
          <a:xfrm>
            <a:off x="609600" y="1244600"/>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Actuator net과 혼합 시뮬레이터 — 시뮬레이션에서만 학습한 정책이 실물 ANYmal에서 기존 모델 기반 제어기를 넘었다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arXiv:1901.08652</a:t>
            </a:r>
            <a:r>
              <a:rPr sz="1050" b="0" i="0">
                <a:solidFill>
                  <a:srgbClr val="16213A"/>
                </a:solidFill>
                <a:latin typeface="Arial"/>
                <a:ea typeface="Malgun Gothic"/>
                <a:cs typeface="Malgun Gothic"/>
              </a:rPr>
              <a:t>, Hwangbo·Lee·Dosovitskiy·Bellicoso·Tsounis·Koltun·Hutter, Science Robotics 4(26) 2019). Lee 2020과 Rudin 2021은 이 논문의 학습 액추에이터 모델 방식을 이어 쓴다. Lee는 로봇마다 다시 학습했고, Rudin은 LSTM(long short-term memory)으로 바꿨다. 시뮬레이션에서 배우려면 관절 구동기가 걸림돌이었다. ANYmal의 관절 12개는 SEA(series elastic actuator, 직렬 탄성 구동기)다. 그 해석 모델은 파라미터가 100개 가까이 되면서도 지연을 다 담지 못했다.</a:t>
            </a:r>
          </a:p>
        </p:txBody>
      </p:sp>
      <p:sp>
        <p:nvSpPr>
          <p:cNvPr id="6" name="TextBox 5"/>
          <p:cNvSpPr txBox="1"/>
          <p:nvPr/>
        </p:nvSpPr>
        <p:spPr>
          <a:xfrm>
            <a:off x="609600" y="2199481"/>
            <a:ext cx="10972800" cy="86598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방법은 네 단계다(그림은 MPC 문서 M.1.3의 Fig. 1). 첫째, CAD로 강체 모델을 만들고 관성 오차에 대비해 무작위 모델 30개를 둔다. 둘째, 관절마다 위치 오차와 속도의 짧은 이력에서 토크를 내는 작은 신경망(actuator net)을 실물 데이터로 학습한다. 셋째, 강체 시뮬레이션에 actuator net을 끼운 혼합 시뮬레이터에서 정책을 TRPO(trust region policy optimization)로 학습한다. 넷째, 정책을 실물에 그대로 올린다. 정책은 몸체 속도 명령(전진, 횡, yaw rate)을 받아 관절 목표 위치를 낸다. 무작위 명령 추종 오차는 선속도 0.143 m/s, yaw rate 0.174 rad/s였다. 같은 로봇의 기존 최고 제어기(flying trot)는 0.231 m/s, 0.278 rad/s였다.</a:t>
            </a:r>
          </a:p>
        </p:txBody>
      </p:sp>
      <p:sp>
        <p:nvSpPr>
          <p:cNvPr id="7" name="TextBox 6"/>
          <p:cNvSpPr txBox="1"/>
          <p:nvPr/>
        </p:nvSpPr>
        <p:spPr>
          <a:xfrm>
            <a:off x="609600" y="3154362"/>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travplan이 가져올 것은 정책보다 시뮬레이터 쪽 교훈이고, 가장 큰 것은 지연이다. </a:t>
            </a:r>
            <a:r>
              <a:rPr sz="1050" b="1" i="0">
                <a:solidFill>
                  <a:srgbClr val="C2410C"/>
                </a:solidFill>
                <a:latin typeface="Arial"/>
                <a:ea typeface="Malgun Gothic"/>
                <a:cs typeface="Malgun Gothic"/>
              </a:rPr>
              <a:t>이상 모델과 해석 모델로 학습한 정책은 실물에서 한 걸음도 걷지 못했고, 저자들은 지연을 제대로 담지 못한 탓으로 본다.</a:t>
            </a:r>
            <a:r>
              <a:rPr sz="1050" b="0" i="0">
                <a:solidFill>
                  <a:srgbClr val="16213A"/>
                </a:solidFill>
                <a:latin typeface="Arial"/>
                <a:ea typeface="Malgun Gothic"/>
                <a:cs typeface="Malgun Gothic"/>
              </a:rPr>
              <a:t> travplan도 스워브에서 같은 방향의 결과를 쟀다. 권장 L1과 스워브 plant의 레벨 3 360회에서, 지연을 모르는 MPPI(model predictive path integral, 배경 0.2) rollout은 치명 실패 55회를 냈다. rollout에 지연을 넣자 4회가 됐다(TP-0150). 데이터 수집법과 인터페이스에서 가져올 것은 아래 토글 끝에 있다.</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B.14 ETH RSL(Marco Hutter)의 계보: 높이 지도에서 배달로봇까지</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192 / 516</a:t>
            </a:r>
          </a:p>
        </p:txBody>
      </p:sp>
      <p:pic>
        <p:nvPicPr>
          <p:cNvPr id="5" name="Picture 4" descr="image.jpg"/>
          <p:cNvPicPr>
            <a:picLocks noChangeAspect="1"/>
          </p:cNvPicPr>
          <p:nvPr/>
        </p:nvPicPr>
        <p:blipFill>
          <a:blip r:embed="rId3"/>
          <a:stretch>
            <a:fillRect/>
          </a:stretch>
        </p:blipFill>
        <p:spPr>
          <a:xfrm>
            <a:off x="609600" y="1244600"/>
            <a:ext cx="5410200" cy="2298700"/>
          </a:xfrm>
          <a:prstGeom prst="rect">
            <a:avLst/>
          </a:prstGeom>
        </p:spPr>
      </p:pic>
      <p:sp>
        <p:nvSpPr>
          <p:cNvPr id="6" name="TextBox 5"/>
          <p:cNvSpPr txBox="1"/>
          <p:nvPr/>
        </p:nvSpPr>
        <p:spPr>
          <a:xfrm>
            <a:off x="609600" y="3581400"/>
            <a:ext cx="5410200" cy="42654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Learning agile and dynamic motor skills (Fig. 4): 실물 ANYmal이 학습한 복구 정책으로 몸을 바로 세우는 여섯 장면이다. 무작위 자세에서 시작해 오른쪽 앞발로 땅을 짚고 다리 질량을 옮긴다. 첫 충격 뒤에는 운동량으로 구르며 무릎을 접고, 몸통이 바로 놓인 자세로 끝난다. 전체가 3초 안에 끝난다. 출처: arXiv:1901.08652</a:t>
            </a:r>
          </a:p>
        </p:txBody>
      </p:sp>
      <p:pic>
        <p:nvPicPr>
          <p:cNvPr id="7" name="Picture 6" descr="image.jpg"/>
          <p:cNvPicPr>
            <a:picLocks noChangeAspect="1"/>
          </p:cNvPicPr>
          <p:nvPr/>
        </p:nvPicPr>
        <p:blipFill>
          <a:blip r:embed="rId4"/>
          <a:stretch>
            <a:fillRect/>
          </a:stretch>
        </p:blipFill>
        <p:spPr>
          <a:xfrm>
            <a:off x="6172200" y="1244600"/>
            <a:ext cx="3390900" cy="2667000"/>
          </a:xfrm>
          <a:prstGeom prst="rect">
            <a:avLst/>
          </a:prstGeom>
        </p:spPr>
      </p:pic>
      <p:sp>
        <p:nvSpPr>
          <p:cNvPr id="8" name="TextBox 7"/>
          <p:cNvSpPr txBox="1"/>
          <p:nvPr/>
        </p:nvSpPr>
        <p:spPr>
          <a:xfrm>
            <a:off x="6172200" y="3949700"/>
            <a:ext cx="5410200" cy="42654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Learning agile and dynamic motor skills (Fig. 2): (A) 1.0 m/s 명령에서 학습 정책이 스스로 찾은 걸음새(다리별 접지 구간), (B) 실물과 시뮬레이션의 속도 추종, (C–E) 기존 최고 모델 기반 제어기(Bellicoso 외)의 flying trot·dynamic walk와 비교한 속도 오차, 기계 출력, 평균 토크다. 학습 정책은 모든 속도에서 오차와 토크가 가장 작다. 출처: arXiv:1901.08652</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B.14 ETH RSL(Marco Hutter)의 계보: 높이 지도에서 배달로봇까지</a:t>
            </a:r>
            <a:r>
              <a:rPr sz="1050" b="0" i="0">
                <a:solidFill>
                  <a:srgbClr val="5A6478"/>
                </a:solidFill>
                <a:latin typeface="Arial"/>
                <a:ea typeface="Malgun Gothic"/>
                <a:cs typeface="Malgun Gothic"/>
              </a:rPr>
              <a:t>  자세히: Actuator net 논문의 방법과 수식</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193 / 516</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수치는 arXiv v1(2019-01-24)에서 읽었다. Science Robotics 출판본과는 대조하지 못했다.</a:t>
            </a:r>
          </a:p>
        </p:txBody>
      </p:sp>
      <p:sp>
        <p:nvSpPr>
          <p:cNvPr id="6" name="TextBox 5"/>
          <p:cNvSpPr txBox="1"/>
          <p:nvPr/>
        </p:nvSpPr>
        <p:spPr>
          <a:xfrm>
            <a:off x="609600" y="1549995"/>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풀려는 문제.</a:t>
            </a:r>
            <a:r>
              <a:rPr sz="1050" b="0" i="0">
                <a:solidFill>
                  <a:srgbClr val="16213A"/>
                </a:solidFill>
                <a:latin typeface="Arial"/>
                <a:ea typeface="Malgun Gothic"/>
                <a:cs typeface="Malgun Gothic"/>
              </a:rPr>
              <a:t> 다리 로봇 제어는 대개 모듈식이다. 단순화한 동역학으로 발 디딤을 정하고, 발 궤적을 만들고, PID로 따라간다. 모듈마다 근사가 맞는 좁은 영역에 묶이므로 가속이 느리고 몸 자세가 고정된다. 당시 보행 제어기는 모듈마다 손으로 조정했고, 새 로봇이나 새 동작마다 몇 달이 걸렸다. 궤적 최적화는 접촉 시점을 미리 정하거나 접촉을 매끄럽게 근사해야 하고, 실행 중 계산이 무겁다. RL은 이 설계를 자동으로 하지만 실물에서는 몇 주에서 몇 달의 상호작용이 필요하다. 실물에서 RL을 돌리기에는 느리고 위험했다. 시뮬레이션에서 배우면 현실 격차가 문제다. 직접 구동 모터를 쓰는 Minitaur는 해석 액추에이터 모델로 격차를 메웠다. ANYmal의 SEA는 그렇게 되지 않는다.</a:t>
            </a:r>
          </a:p>
        </p:txBody>
      </p:sp>
      <p:sp>
        <p:nvSpPr>
          <p:cNvPr id="7" name="TextBox 6"/>
          <p:cNvSpPr txBox="1"/>
          <p:nvPr/>
        </p:nvSpPr>
        <p:spPr>
          <a:xfrm>
            <a:off x="609600" y="2504877"/>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SEA가 어려운 이유.</a:t>
            </a:r>
            <a:r>
              <a:rPr sz="1050" b="0" i="0">
                <a:solidFill>
                  <a:srgbClr val="16213A"/>
                </a:solidFill>
                <a:latin typeface="Arial"/>
                <a:ea typeface="Malgun Gothic"/>
                <a:cs typeface="Malgun Gothic"/>
              </a:rPr>
              <a:t> 관절 하나 안에 제어 루프가 겹겹이 있다. 위치 명령이 PD로 목표 토크가 되고, PID가 목표 전류를 만들고, FOC(field-oriented control)가 전압을 낸다. 그 토크가 감속기를 지나 스프링을 비틀어야 관절 토크가 된다. 내부 상태 대부분은 잴 수 없다. 이 구조의 해석 모델(Gehring 외)은 파라미터가 100개 가까이 되고, ANYmal용으로 만드는 데 적어도 3주가 걸린다.</a:t>
            </a:r>
          </a:p>
        </p:txBody>
      </p:sp>
      <p:sp>
        <p:nvSpPr>
          <p:cNvPr id="8" name="TextBox 7"/>
          <p:cNvSpPr txBox="1"/>
          <p:nvPr/>
        </p:nvSpPr>
        <p:spPr>
          <a:xfrm>
            <a:off x="609600" y="3026767"/>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① 강체 모델.</a:t>
            </a:r>
            <a:r>
              <a:rPr sz="1050" b="0" i="0">
                <a:solidFill>
                  <a:srgbClr val="16213A"/>
                </a:solidFill>
                <a:latin typeface="Arial"/>
                <a:ea typeface="Malgun Gothic"/>
                <a:cs typeface="Malgun Gothic"/>
              </a:rPr>
              <a:t> 관성은 CAD에서 가져오고, 배선과 전장 때문에 최대 약 20% 오차를 예상했다. 그래서 무게중심과 관절 위치를 ±2 cm, 링크 질량을 ±15% 흔든 모델 30개로 학습한다. 접촉은 쿨롱 마찰 원뿔을 지키는 hard contact 솔버가 푼다. 뒤에 RaiSim이 되는 per-contact iteration 방식(Hwangbo 외 2018)이고, 4족 로봇 하나에 초당 약 90만 스텝이다.</a:t>
            </a:r>
          </a:p>
        </p:txBody>
      </p:sp>
      <p:sp>
        <p:nvSpPr>
          <p:cNvPr id="9" name="TextBox 8"/>
          <p:cNvSpPr txBox="1"/>
          <p:nvPr/>
        </p:nvSpPr>
        <p:spPr>
          <a:xfrm>
            <a:off x="609600" y="3548658"/>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② Actuator net.</a:t>
            </a:r>
            <a:r>
              <a:rPr sz="1050" b="0" i="0">
                <a:solidFill>
                  <a:srgbClr val="16213A"/>
                </a:solidFill>
                <a:latin typeface="Arial"/>
                <a:ea typeface="Malgun Gothic"/>
                <a:cs typeface="Malgun Gothic"/>
              </a:rPr>
              <a:t> 입력은 관절 위치 오차(목표 빼기 현재)와 관절 속도의 현재·0.01 s 전·0.02 s 전 값이다. 출력은 관절 토크다. 은닉층 3개(층마다 32유닛)의 MLP이고 활성 함수는 softsign이다. 관절끼리 독립이라 가정하고 관절 12개 각각에 적용하며, 12개를 다 도는 데 12.2 µs다(tanh면 31.6 µs). 데이터는 발끝을 사인 궤적(진폭 5–10 cm, 주파수 1–25 Hz)으로 움직이고 사람이 로봇을 밀어 모았다. 같은 구동기 12개에서 한꺼번에 모아 4분이 안 걸렸고, 400 Hz로 100만 샘플을 넘겼다. 검증 오차는 평균 0.740 N·m로 토크 측정 분해능(0.2 N·m)에 가깝다. 지연 0과 무한 대역폭을 가정한 이상 모델은 3.55 N·m였다. 학습 정책으로 걸은 시험 데이터에서는 0.966 대 5.74 N·m였다. 이력 길이는 모든 통신 지연과 기계 응답 시간의 합보다 충분히 길게 잡고, 검증 오차로 맞춘다.</a:t>
            </a:r>
          </a:p>
        </p:txBody>
      </p:sp>
      <p:sp>
        <p:nvSpPr>
          <p:cNvPr id="10" name="TextBox 9"/>
          <p:cNvSpPr txBox="1"/>
          <p:nvPr/>
        </p:nvSpPr>
        <p:spPr>
          <a:xfrm>
            <a:off x="609600" y="4503539"/>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③ 정책.</a:t>
            </a:r>
            <a:r>
              <a:rPr sz="1050" b="0" i="0">
                <a:solidFill>
                  <a:srgbClr val="16213A"/>
                </a:solidFill>
                <a:latin typeface="Arial"/>
                <a:ea typeface="Malgun Gothic"/>
                <a:cs typeface="Malgun Gothic"/>
              </a:rPr>
              <a:t> 관측은 아홉 성분이다. 중력 방향·몸체 높이·선속도·각속도·관절 위치·관절 속도·관절 상태 이력·직전 행동·명령이다. 몸체 높이는 다리 기구학으로 추정하고, 복구 과제에서는 뺀다. 이력(0.01 s·0.02 s 전)이 없으면 보행을 배우지 못했다. 저자들은 이력이 접촉 감지 역할을 한다고 본다. 관측에서 속도를 빼면 학습 자체가 실패했다. 정책은 은닉 256·128의 tanh MLP이고, 추론은 CPU 한 스레드에서 25 µs다. 저자들은 ReLU처럼 값이 막히지 않는 활성 함수가 처음 보는 상태에서 큰 행동을 내 실물 성능을 떨어뜨린다고 설명한다. 비교 수치는 없다. 출력은 관절 목표 위치이고, 낮은 이득 PD가 토크로 바꾼다.</a:t>
            </a:r>
          </a:p>
        </p:txBody>
      </p:sp>
      <p:pic>
        <p:nvPicPr>
          <p:cNvPr id="11" name="Picture 10" descr="image.png"/>
          <p:cNvPicPr>
            <a:picLocks noChangeAspect="1"/>
          </p:cNvPicPr>
          <p:nvPr/>
        </p:nvPicPr>
        <p:blipFill>
          <a:blip r:embed="rId3"/>
          <a:stretch>
            <a:fillRect/>
          </a:stretch>
        </p:blipFill>
        <p:spPr>
          <a:xfrm>
            <a:off x="609600" y="5458420"/>
            <a:ext cx="4864100" cy="244475"/>
          </a:xfrm>
          <a:prstGeom prst="rect">
            <a:avLst/>
          </a:prstGeom>
        </p:spPr>
      </p:pic>
      <p:sp>
        <p:nvSpPr>
          <p:cNvPr id="12" name="TextBox 11"/>
          <p:cNvSpPr txBox="1"/>
          <p:nvPr/>
        </p:nvSpPr>
        <p:spPr>
          <a:xfrm>
            <a:off x="609600" y="5739209"/>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11개(문단·식·그림)는 대시보드 리서치 탭의 "자세히: Actuator net 논문의 방법과 수식" 토글에 있다.</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B.14 ETH RSL(Marco Hutter)의 계보: 높이 지도에서 배달로봇까지</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194 / 516</a:t>
            </a:r>
          </a:p>
        </p:txBody>
      </p:sp>
      <p:sp>
        <p:nvSpPr>
          <p:cNvPr id="5" name="TextBox 4"/>
          <p:cNvSpPr txBox="1"/>
          <p:nvPr/>
        </p:nvSpPr>
        <p:spPr>
          <a:xfrm>
            <a:off x="609600" y="1244600"/>
            <a:ext cx="10972800" cy="108247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험지 blind 보행 — 특권 교사와 TCN 학생으로, 단단한 시뮬레이션 지형에서만 배우고 진흙·눈·수풀을 걸었다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arXiv:2010.11251</a:t>
            </a:r>
            <a:r>
              <a:rPr sz="1050" b="0" i="0">
                <a:solidFill>
                  <a:srgbClr val="16213A"/>
                </a:solidFill>
                <a:latin typeface="Arial"/>
                <a:ea typeface="Malgun Gothic"/>
                <a:cs typeface="Malgun Gothic"/>
              </a:rPr>
              <a:t>, Lee·Hwangbo·Wellhausen·Koltun·Hutter, Science Robotics 5(47) 2020, </a:t>
            </a:r>
            <a:r>
              <a:rPr sz="1050" b="0" i="0">
                <a:solidFill>
                  <a:srgbClr val="1D4ED8"/>
                </a:solidFill>
                <a:latin typeface="Arial"/>
                <a:ea typeface="Malgun Gothic"/>
                <a:cs typeface="Malgun Gothic"/>
                <a:hlinkClick r:id="rId4"/>
              </a:rPr>
              <a:t>프로젝트</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5"/>
              </a:rPr>
              <a:t>학습된 정책·환경</a:t>
            </a:r>
            <a:r>
              <a:rPr sz="1050" b="0" i="0">
                <a:solidFill>
                  <a:srgbClr val="16213A"/>
                </a:solidFill>
                <a:latin typeface="Arial"/>
                <a:ea typeface="Malgun Gothic"/>
                <a:cs typeface="Malgun Gothic"/>
              </a:rPr>
              <a:t>). Hwangbo 2019의 학습 액추에이터 망 방식(같은 입력 구성)을 로봇마다 다시 학습해 쓰면서 세 가지를 더했다. 특권 정보를 보는 교사, 관절·IMU 이력만 보는 TCN(temporal convolutional network) 학생, 통과율 0.5–0.9인 지형을 입자 필터로 따라가는 커리큘럼이다. travplan Planner D의 DAgger는 학생이 굴린 상태에 교사 라벨을 붙이는 부분만 같다. 교사와 학생이 같은 GT 지도를 보므로 특권 교사에서 관측이 제한된 학생으로 줄이는 비대칭은 없다. 그 비대칭은 TP-0066 RL 후학습(정책은 belief, 보상은 GT)에 있고, DAgger에 넣는 일은 TP-0055다. 방법·수식·절제는 인식 문서 A.7 토글에 있다.</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B.14 ETH RSL(Marco Hutter)의 계보: 높이 지도에서 배달로봇까지</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195 / 516</a:t>
            </a:r>
          </a:p>
        </p:txBody>
      </p:sp>
      <p:pic>
        <p:nvPicPr>
          <p:cNvPr id="5" name="Picture 4" descr="image.jpg"/>
          <p:cNvPicPr>
            <a:picLocks noChangeAspect="1"/>
          </p:cNvPicPr>
          <p:nvPr/>
        </p:nvPicPr>
        <p:blipFill>
          <a:blip r:embed="rId3"/>
          <a:stretch>
            <a:fillRect/>
          </a:stretch>
        </p:blipFill>
        <p:spPr>
          <a:xfrm>
            <a:off x="3657600" y="1244600"/>
            <a:ext cx="4876800" cy="4445000"/>
          </a:xfrm>
          <a:prstGeom prst="rect">
            <a:avLst/>
          </a:prstGeom>
        </p:spPr>
      </p:pic>
      <p:sp>
        <p:nvSpPr>
          <p:cNvPr id="6" name="TextBox 5"/>
          <p:cNvSpPr txBox="1"/>
          <p:nvPr/>
        </p:nvSpPr>
        <p:spPr>
          <a:xfrm>
            <a:off x="3657600" y="5727700"/>
            <a:ext cx="4876800" cy="42654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Learning quadrupedal locomotion over challenging terrain (Fig. 2): 학습한 고유감각 제어기를 그대로 올린 현장 장면이다. (A) 눈 덮인 경사, (B) 돌무더기, (C) 개울, (D–F) 숲의 젖은 이끼·진흙·수풀, (G) DARPA SubT 어반 서킷의 계단 하강(단 높이 18 cm, 경사 약 45°). 출처: arXiv:2010.11251</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B.14 ETH RSL(Marco Hutter)의 계보: 높이 지도에서 배달로봇까지</a:t>
            </a:r>
            <a:r>
              <a:rPr sz="1050" b="0" i="0">
                <a:solidFill>
                  <a:srgbClr val="5A6478"/>
                </a:solidFill>
                <a:latin typeface="Arial"/>
                <a:ea typeface="Malgun Gothic"/>
                <a:cs typeface="Malgun Gothic"/>
              </a:rPr>
              <a:t>  자세히: 험지 blind 보행에서 A.7에 없는 실험 세부와 공개 자료</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196 / 516</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A.7 토글(방법·수식·절제·내부 표현)에 없는 것만 적는다.</a:t>
            </a:r>
          </a:p>
        </p:txBody>
      </p:sp>
      <p:sp>
        <p:nvSpPr>
          <p:cNvPr id="6" name="TextBox 5"/>
          <p:cNvSpPr txBox="1"/>
          <p:nvPr/>
        </p:nvSpPr>
        <p:spPr>
          <a:xfrm>
            <a:off x="609600" y="1549995"/>
            <a:ext cx="10972800" cy="2533848"/>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두 세대.</a:t>
            </a:r>
            <a:r>
              <a:rPr sz="1050" b="0" i="0">
                <a:solidFill>
                  <a:srgbClr val="16213A"/>
                </a:solidFill>
                <a:latin typeface="Arial"/>
                <a:ea typeface="Malgun Gothic"/>
                <a:cs typeface="Malgun Gothic"/>
              </a:rPr>
              <a:t> ANYmal-B(Fig. 2 D–G)와 ANYmal-C(Fig. 2 A–C와 Fig. 3)는 기구학·관성·구동기가 다르다. 시뮬레이션의 구동기는 Hwangbo 2019 방식으로 로봇마다 학습한 액추에이터 망이고, 시뮬레이터는 RaiSim이다.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숲 비교.</a:t>
            </a:r>
            <a:r>
              <a:rPr sz="1050" b="0" i="0">
                <a:solidFill>
                  <a:srgbClr val="16213A"/>
                </a:solidFill>
                <a:latin typeface="Arial"/>
                <a:ea typeface="Malgun Gothic"/>
                <a:cs typeface="Malgun Gothic"/>
              </a:rPr>
              <a:t> 기존 모델 기반 기준선은 평평하고 트인 곳만 지났고, 흩어진 가지·수풀·진흙에서 자주 실패했다. 이 제어기는 한 번도 실패하지 않았다. A.7의 속도·COT(cost of transport) 표(Table 1)는 기준선이 걸은 구간만 쟀다. 기준선이 실패하면 사람이 안정된 자세로 다시 세웠고, 그 실패는 수치에 들어가지 않는다.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DARPA SubT 어반 서킷.</a:t>
            </a:r>
            <a:r>
              <a:rPr sz="1050" b="0" i="0">
                <a:solidFill>
                  <a:srgbClr val="16213A"/>
                </a:solidFill>
                <a:latin typeface="Arial"/>
                <a:ea typeface="Malgun Gothic"/>
                <a:cs typeface="Malgun Gothic"/>
              </a:rPr>
              <a:t> ANYmal-B 두 대로 60분 임무 네 번을 도는 동안 보행 제어기가 한 번도 넘어지지 않았다. 논문이 말한 것은 이 실패율 0이고, 임무 성적은 아니다. 한 로봇이 내려간 계단은 단 높이 18 cm, 경사 약 45°다(Fig. 2G).</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턱 실험 절차.</a:t>
            </a:r>
            <a:r>
              <a:rPr sz="1050" b="0" i="0">
                <a:solidFill>
                  <a:srgbClr val="16213A"/>
                </a:solidFill>
                <a:latin typeface="Arial"/>
                <a:ea typeface="Malgun Gothic"/>
                <a:cs typeface="Malgun Gothic"/>
              </a:rPr>
              <a:t> 10 s 동안 턱으로 직진시키고, 앞다리와 뒷다리가 모두 넘으면 성공으로 센다. 높이마다 10회다. 기준선은 0.2 m/s와 0.6 m/s(기준선의 최대 속도)로 명령했다.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반사의 범위.</a:t>
            </a:r>
            <a:r>
              <a:rPr sz="1050" b="0" i="0">
                <a:solidFill>
                  <a:srgbClr val="16213A"/>
                </a:solidFill>
                <a:latin typeface="Arial"/>
                <a:ea typeface="Malgun Gothic"/>
                <a:cs typeface="Malgun Gothic"/>
              </a:rPr>
              <a:t> 발이 걸리면 앞발 높이가 평지 최대 12.9·13.6 cm(LF·RF)에서 22.5·18.5 cm까지 오른다. 앞발이 턱 위에 있을 때 뒷발도 13.5·9.06 cm(LH·RH)에서 16.6·15.9 cm로 높아진다. 스윙 중 정강이 가운데가 걸려도 반응한다(Fig. 3C). 발 접촉 이벤트로 반사를 거는 상태 기계는 이 경우를 놓친다.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공개 자료.</a:t>
            </a:r>
            <a:r>
              <a:rPr sz="1050" b="0" i="0">
                <a:solidFill>
                  <a:srgbClr val="16213A"/>
                </a:solidFill>
                <a:latin typeface="Arial"/>
                <a:ea typeface="Malgun Gothic"/>
                <a:cs typeface="Malgun Gothic"/>
              </a:rPr>
              <a:t> 보충 저장소에 ANYmal-C용 학습된 정책 두 벌(c010, c100)과 RaiSim 환경이 있다. MIT 라이선스이고(로봇 모델 파일은 ANYbotics 라이선스), 2020-10 뒤로 갱신이 없다.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사람.</a:t>
            </a:r>
            <a:r>
              <a:rPr sz="1050" b="0" i="0">
                <a:solidFill>
                  <a:srgbClr val="16213A"/>
                </a:solidFill>
                <a:latin typeface="Arial"/>
                <a:ea typeface="Malgun Gothic"/>
                <a:cs typeface="Malgun Gothic"/>
              </a:rPr>
              <a:t> 1저자 Joonho Lee는 B.14.4의 바퀴·다리 도시 내비(2024) 1저자이고, 공저자 Lorenz Wellhausen은 RIVR 공동 창업자다. Hwangbo는 이 논문에 KAIST 소속을 함께 적었다.</a:t>
            </a:r>
          </a:p>
        </p:txBody>
      </p:sp>
      <p:sp>
        <p:nvSpPr>
          <p:cNvPr id="7" name="TextBox 6"/>
          <p:cNvSpPr txBox="1"/>
          <p:nvPr/>
        </p:nvSpPr>
        <p:spPr>
          <a:xfrm>
            <a:off x="609600" y="4172744"/>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것.</a:t>
            </a:r>
            <a:r>
              <a:rPr sz="1050" b="0" i="0">
                <a:solidFill>
                  <a:srgbClr val="16213A"/>
                </a:solidFill>
                <a:latin typeface="Arial"/>
                <a:ea typeface="Malgun Gothic"/>
                <a:cs typeface="Malgun Gothic"/>
              </a:rPr>
              <a:t> A.7 토글이 제안한 통과율 커리큘럼은 아직 들어오지 않았다. Planner D의 DAgger와 RL 후학습은 지금도 지도마다 레벨을 균등하게 뽑는다(</a:t>
            </a:r>
            <a:r>
              <a:rPr sz="1050" b="0" i="0">
                <a:solidFill>
                  <a:srgbClr val="16213A"/>
                </a:solidFill>
                <a:latin typeface="Consolas"/>
                <a:ea typeface="Malgun Gothic"/>
                <a:cs typeface="Malgun Gothic"/>
              </a:rPr>
              <a:t>--levels</a:t>
            </a:r>
            <a:r>
              <a:rPr sz="1050" b="0" i="0">
                <a:solidFill>
                  <a:srgbClr val="16213A"/>
                </a:solidFill>
                <a:latin typeface="Arial"/>
                <a:ea typeface="Malgun Gothic"/>
                <a:cs typeface="Malgun Gothic"/>
              </a:rPr>
              <a:t>, TP-0075·TP-0066). 이 논문의 절제에서 균등 표집으로 학습한 교사는 더 낮은 보상에서 멈췄다(Fig. 5H–J). 못 넘는 지형을 자주 뽑아 일찍 실패하고, 그만큼 학습 신호를 덜 받기 때문이다.</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B.14 ETH RSL(Marco Hutter)의 계보: 높이 지도에서 배달로봇까지</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197 / 516</a:t>
            </a:r>
          </a:p>
        </p:txBody>
      </p:sp>
      <p:sp>
        <p:nvSpPr>
          <p:cNvPr id="5" name="TextBox 4"/>
          <p:cNvSpPr txBox="1"/>
          <p:nvPr/>
        </p:nvSpPr>
        <p:spPr>
          <a:xfrm>
            <a:off x="609600" y="1244600"/>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Learning to Walk in Minutes — GPU 한 장에서 로봇 수천 대를 함께 굴려 험지 보행을 20분에 배운다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arXiv:2109.11978</a:t>
            </a:r>
            <a:r>
              <a:rPr sz="1050" b="0" i="0">
                <a:solidFill>
                  <a:srgbClr val="16213A"/>
                </a:solidFill>
                <a:latin typeface="Arial"/>
                <a:ea typeface="Malgun Gothic"/>
                <a:cs typeface="Malgun Gothic"/>
              </a:rPr>
              <a:t>, Rudin·Hoeller·Reist·Hutter, CoRL 2021(PMLR 164, 2022-01 발행), </a:t>
            </a:r>
            <a:r>
              <a:rPr sz="1050" b="0" i="0">
                <a:solidFill>
                  <a:srgbClr val="1D4ED8"/>
                </a:solidFill>
                <a:latin typeface="Arial"/>
                <a:ea typeface="Malgun Gothic"/>
                <a:cs typeface="Malgun Gothic"/>
                <a:hlinkClick r:id="rId4"/>
              </a:rPr>
              <a:t>프로젝트</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5"/>
              </a:rPr>
              <a:t>코드 legged_gym</a:t>
            </a:r>
            <a:r>
              <a:rPr sz="1050" b="0" i="0">
                <a:solidFill>
                  <a:srgbClr val="16213A"/>
                </a:solidFill>
                <a:latin typeface="Arial"/>
                <a:ea typeface="Malgun Gothic"/>
                <a:cs typeface="Malgun Gothic"/>
              </a:rPr>
              <a:t>). 시뮬레이션부터 PPO(proximal policy optimization) 갱신까지 전부 GPU에서 돈다. 시뮬레이터는 Isaac Lab의 전신인 NVIDIA Isaac Gym이다. 평지 보행은 4분, 경사·계단·장애물 보행은 20분 안에 학습했다(RTX A6000 한 장). 같은 계열의 이전 학습 시간은 12–120시간이었다. 많은 후속 공개 구현이 이 환경 코드(legged_gym)와 PPO 구현(rsl_rl) 위에서 시작했다.</a:t>
            </a:r>
          </a:p>
        </p:txBody>
      </p:sp>
      <p:sp>
        <p:nvSpPr>
          <p:cNvPr id="6" name="TextBox 5"/>
          <p:cNvSpPr txBox="1"/>
          <p:nvPr/>
        </p:nvSpPr>
        <p:spPr>
          <a:xfrm>
            <a:off x="609600" y="2199481"/>
            <a:ext cx="10972800" cy="649486"/>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병렬화는 RL 설정 세 곳을 바꿨다. 배치 구성(로봇 수와 로봇당 스텝 수), 시간 초과 처리, 지형 커리큘럼이다. 앞의 둘은 아래 토글에 있다. 게임식 커리큘럼은 지형 다섯 종(평지·경사·거친 면·계단·장애물)을 8 m 칸으로 깔고 줄마다 어렵게 만든다. 칸 밖으로 걸어 나간 로봇은 다음 리셋에 한 단계 올라간다. 명령 속도가 요구한 거리의 절반도 못 간 로봇은 내려간다. 맨 위를 푼 로봇은 무작위 단계로 돌려보내 망각을 막는다. 로봇 수천 대의 분포가 곧 정책 실력의 분포다. 실물 ANYmal C는 LiDAR로 만든 elevation map에서 지형 높이를 읽었고, 속도 명령을 0.6 m/s로 낮춰 계단과 장애물을 넘었다.</a:t>
            </a:r>
          </a:p>
        </p:txBody>
      </p:sp>
      <p:sp>
        <p:nvSpPr>
          <p:cNvPr id="7" name="TextBox 6"/>
          <p:cNvSpPr txBox="1"/>
          <p:nvPr/>
        </p:nvSpPr>
        <p:spPr>
          <a:xfrm>
            <a:off x="609600" y="2937867"/>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travplan의 지형 레벨(TP-0039)이 이 커리큘럼의 축소판이다. 시나리오 넷에 레벨이 0–3이다. 그런데 Planner D의 DAgger와 RL 후학습은 지도마다 레벨을 균등하게 뽑는다(</a:t>
            </a:r>
            <a:r>
              <a:rPr sz="1050" b="0" i="0">
                <a:solidFill>
                  <a:srgbClr val="16213A"/>
                </a:solidFill>
                <a:latin typeface="Consolas"/>
                <a:ea typeface="Malgun Gothic"/>
                <a:cs typeface="Malgun Gothic"/>
              </a:rPr>
              <a:t>--levels</a:t>
            </a:r>
            <a:r>
              <a:rPr sz="1050" b="0" i="0">
                <a:solidFill>
                  <a:srgbClr val="16213A"/>
                </a:solidFill>
                <a:latin typeface="Arial"/>
                <a:ea typeface="Malgun Gothic"/>
                <a:cs typeface="Malgun Gothic"/>
              </a:rPr>
              <a:t>). 어려운 레벨에 학습을 모으는 일은 손으로 했다(TP-0138의 </a:t>
            </a:r>
            <a:r>
              <a:rPr sz="1050" b="0" i="0">
                <a:solidFill>
                  <a:srgbClr val="16213A"/>
                </a:solidFill>
                <a:latin typeface="Consolas"/>
                <a:ea typeface="Malgun Gothic"/>
                <a:cs typeface="Malgun Gothic"/>
              </a:rPr>
              <a:t>--scenarios curb_ramp --levels 3</a:t>
            </a:r>
            <a:r>
              <a:rPr sz="1050" b="0" i="0">
                <a:solidFill>
                  <a:srgbClr val="16213A"/>
                </a:solidFill>
                <a:latin typeface="Arial"/>
                <a:ea typeface="Malgun Gothic"/>
                <a:cs typeface="Malgun Gothic"/>
              </a:rPr>
              <a:t>). 게임식 규칙은 그 손 작업을 몇 줄로 대신한다. 지도 슬롯마다 레벨을 두고, 목표에 닿으면 올리고, 경로의 절반도 못 가면 내린다. 레벨 3을 푼 슬롯은 무작위 레벨로 돌린다. 기대할 것은 표집 효율과 망각 방지까지다. 그 이유와 실물 지도 격차는 아래 토글 끝에 있다.</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B.14 ETH RSL(Marco Hutter)의 계보: 높이 지도에서 배달로봇까지</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198 / 516</a:t>
            </a:r>
          </a:p>
        </p:txBody>
      </p:sp>
      <p:pic>
        <p:nvPicPr>
          <p:cNvPr id="5" name="Picture 4" descr="image.jpg"/>
          <p:cNvPicPr>
            <a:picLocks noChangeAspect="1"/>
          </p:cNvPicPr>
          <p:nvPr/>
        </p:nvPicPr>
        <p:blipFill>
          <a:blip r:embed="rId3"/>
          <a:stretch>
            <a:fillRect/>
          </a:stretch>
        </p:blipFill>
        <p:spPr>
          <a:xfrm>
            <a:off x="609600" y="1244600"/>
            <a:ext cx="5410200" cy="2082800"/>
          </a:xfrm>
          <a:prstGeom prst="rect">
            <a:avLst/>
          </a:prstGeom>
        </p:spPr>
      </p:pic>
      <p:sp>
        <p:nvSpPr>
          <p:cNvPr id="6" name="TextBox 5"/>
          <p:cNvSpPr txBox="1"/>
          <p:nvPr/>
        </p:nvSpPr>
        <p:spPr>
          <a:xfrm>
            <a:off x="609600" y="3365500"/>
            <a:ext cx="54102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Learning to Walk in Minutes (Fig. 1): 시뮬레이션 한 장면에서 ANYmal 수천 대가 계단 피라미드와 장애물 칸 위를 함께 걷는다. 모든 지형 칸을 메시 하나에 나란히 깔았다. 출처: arXiv:2109.11978</a:t>
            </a:r>
          </a:p>
        </p:txBody>
      </p:sp>
      <p:pic>
        <p:nvPicPr>
          <p:cNvPr id="7" name="Picture 6" descr="image.jpg"/>
          <p:cNvPicPr>
            <a:picLocks noChangeAspect="1"/>
          </p:cNvPicPr>
          <p:nvPr/>
        </p:nvPicPr>
        <p:blipFill>
          <a:blip r:embed="rId4"/>
          <a:stretch>
            <a:fillRect/>
          </a:stretch>
        </p:blipFill>
        <p:spPr>
          <a:xfrm>
            <a:off x="6172200" y="1244600"/>
            <a:ext cx="4743450" cy="2667000"/>
          </a:xfrm>
          <a:prstGeom prst="rect">
            <a:avLst/>
          </a:prstGeom>
        </p:spPr>
      </p:pic>
      <p:sp>
        <p:nvSpPr>
          <p:cNvPr id="8" name="TextBox 7"/>
          <p:cNvSpPr txBox="1"/>
          <p:nvPr/>
        </p:nvSpPr>
        <p:spPr>
          <a:xfrm>
            <a:off x="6172200" y="3949700"/>
            <a:ext cx="54102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Learning to Walk in Minutes (Fig. 7b): 20분 안에 학습한 정책을 실물 ANYmal C에 그대로 올려 나무 블록 더미를 넘는다. 지형 높이는 LiDAR로 만든 elevation map에서 읽는다. 출처: arXiv:2109.11978</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B.14 ETH RSL(Marco Hutter)의 계보: 높이 지도에서 배달로봇까지</a:t>
            </a:r>
            <a:r>
              <a:rPr sz="1050" b="0" i="0">
                <a:solidFill>
                  <a:srgbClr val="5A6478"/>
                </a:solidFill>
                <a:latin typeface="Arial"/>
                <a:ea typeface="Malgun Gothic"/>
                <a:cs typeface="Malgun Gothic"/>
              </a:rPr>
              <a:t>  자세히: Learning to Walk in Minutes의 방법과 수식</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199 / 516</a:t>
            </a:r>
          </a:p>
        </p:txBody>
      </p:sp>
      <p:sp>
        <p:nvSpPr>
          <p:cNvPr id="5" name="TextBox 4"/>
          <p:cNvSpPr txBox="1"/>
          <p:nvPr/>
        </p:nvSpPr>
        <p:spPr>
          <a:xfrm>
            <a:off x="609600" y="1244600"/>
            <a:ext cx="10972800" cy="108247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풀려는 문제.</a:t>
            </a:r>
            <a:r>
              <a:rPr sz="1050" b="0" i="0">
                <a:solidFill>
                  <a:srgbClr val="16213A"/>
                </a:solidFill>
                <a:latin typeface="Arial"/>
                <a:ea typeface="Malgun Gothic"/>
                <a:cs typeface="Malgun Gothic"/>
              </a:rPr>
              <a:t> 4족 보행 RL은 시뮬레이션에서도 학습에 몇 시간에서 며칠이 걸렸다(Lee 2020 12시간, Miki 2022 120시간). RL은 보상과 하이퍼파라미터를 여러 번 돌려 맞춰야 하므로 학습 시간이 곧 개발 속도다. 기존 시뮬레이터(MuJoCo, Bullet, RaiSim)는 CPU에서 돌아 병렬 수가 코어 수에 묶였다. CPU에서 모은 데이터는 갱신 때마다 GPU로 옮겨야 하고, PCIe 전송은 GPU 계산보다 최대 50배 느릴 수 있다. 이 논문은 수집과 갱신을 모두 GPU에 두고, 그 규모에서 on-policy RL의 설정을 어떻게 바꿔야 하는지 잰다. 학습이 분 단위가 되자 설정을 여러 번 바꿔 돌릴 수 있었고, 저자들은 그렇게 꼭 필요한 요소만 남겼다. 이 코드 위에서 시작한 후속 공개 구현으로는 walk-these-ways와 Robot Parkour Learning(B.12.2), Extreme Parkour(Controller 문서 F.6.2), DreamWaQ 비공식 구현들(Controller 문서 F.6.1)이 있다.</a:t>
            </a:r>
          </a:p>
        </p:txBody>
      </p:sp>
      <p:sp>
        <p:nvSpPr>
          <p:cNvPr id="6" name="TextBox 5"/>
          <p:cNvSpPr txBox="1"/>
          <p:nvPr/>
        </p:nvSpPr>
        <p:spPr>
          <a:xfrm>
            <a:off x="609600" y="2415977"/>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한 장면, 한 메시.</a:t>
            </a:r>
            <a:r>
              <a:rPr sz="1050" b="0" i="0">
                <a:solidFill>
                  <a:srgbClr val="16213A"/>
                </a:solidFill>
                <a:latin typeface="Arial"/>
                <a:ea typeface="Malgun Gothic"/>
                <a:cs typeface="Malgun Gothic"/>
              </a:rPr>
              <a:t> 로봇 수천 대가 한 시뮬레이션에 있으므로 리셋마다 지형을 바꿀 수 없다. 그래서 모든 지형 종류와 레벨을 메시 하나에 나란히 깔고, 레벨을 바꿀 때는 로봇을 메시 위에서 옮긴다. 높이장(heightfield)은 수직면을 표현하지 못한다. 그래서 낮은 해상도 높이장을 삼각형 메시로 바꾸고 가파른 면을 수직으로 고쳤다. 충돌체는 발, 정강이, 무릎, 몸통만 남겼다. 로봇끼리의 접촉은 무시해도 검출은 되므로 로봇이 흩어질수록 빨라진다. 학습 처음과 끝의 시뮬레이션 시간이 두 배 차이 났다.</a:t>
            </a:r>
          </a:p>
        </p:txBody>
      </p:sp>
      <p:sp>
        <p:nvSpPr>
          <p:cNvPr id="7" name="TextBox 6"/>
          <p:cNvSpPr txBox="1"/>
          <p:nvPr/>
        </p:nvSpPr>
        <p:spPr>
          <a:xfrm>
            <a:off x="609600" y="3154362"/>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배치와 지평.</a:t>
            </a:r>
            <a:r>
              <a:rPr sz="1050" b="0" i="0">
                <a:solidFill>
                  <a:srgbClr val="16213A"/>
                </a:solidFill>
                <a:latin typeface="Arial"/>
                <a:ea typeface="Malgun Gothic"/>
                <a:cs typeface="Malgun Gothic"/>
              </a:rPr>
              <a:t> 배치 크기는 로봇 수와 로봇당 스텝 수의 곱이다.</a:t>
            </a:r>
          </a:p>
        </p:txBody>
      </p:sp>
      <p:pic>
        <p:nvPicPr>
          <p:cNvPr id="8" name="Picture 7" descr="image.png"/>
          <p:cNvPicPr>
            <a:picLocks noChangeAspect="1"/>
          </p:cNvPicPr>
          <p:nvPr/>
        </p:nvPicPr>
        <p:blipFill>
          <a:blip r:embed="rId3"/>
          <a:stretch>
            <a:fillRect/>
          </a:stretch>
        </p:blipFill>
        <p:spPr>
          <a:xfrm>
            <a:off x="609600" y="3459758"/>
            <a:ext cx="1308100" cy="241300"/>
          </a:xfrm>
          <a:prstGeom prst="rect">
            <a:avLst/>
          </a:prstGeom>
        </p:spPr>
      </p:pic>
      <p:sp>
        <p:nvSpPr>
          <p:cNvPr id="9" name="TextBox 8"/>
          <p:cNvSpPr txBox="1"/>
          <p:nvPr/>
        </p:nvSpPr>
        <p:spPr>
          <a:xfrm>
            <a:off x="609600" y="3737273"/>
            <a:ext cx="10972800" cy="1082477"/>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로봇을 늘리고 </a:t>
            </a:r>
            <a:r>
              <a:rPr sz="1050" b="0" i="1">
                <a:solidFill>
                  <a:srgbClr val="16213A"/>
                </a:solidFill>
                <a:latin typeface="Arial"/>
                <a:ea typeface="Malgun Gothic"/>
                <a:cs typeface="Malgun Gothic"/>
              </a:rPr>
              <a:t>B</a:t>
            </a:r>
            <a:r>
              <a:rPr sz="1050" b="0" i="0">
                <a:solidFill>
                  <a:srgbClr val="16213A"/>
                </a:solidFill>
                <a:latin typeface="Arial"/>
                <a:ea typeface="Malgun Gothic"/>
                <a:cs typeface="Malgun Gothic"/>
              </a:rPr>
              <a:t>를 유지하면 로봇당 스텝이 줄어든다. GAE(generalized advantage estimation)는 여러 스텝의 보상이 있어야 이득을 잘 추정한다(인식 A.8의 '배경: 이득 추정' 토글). 그래서 25스텝(0.5 s) 아래에서는 학습이 최적해로 수렴하지 못했다. 반대로 로봇이 너무 적으면 표본이 서로 닮아 독립 가정에서 멀어진다(Fig. 4). 배치를 고정하고 로봇 수를 늘리면 학습 시간은 4,000대 근처까지 거의 선형으로 준다. 이 실험(Fig. 4)은 커리큘럼을 끄고 계단·장애물 높이를 낮춘 단순화 과제에서 했다. 로봇 2,048–4,096대에 배치 약 10만–20만이 성능과 학습 시간의 균형점이라는 결론도 그 과제의 것이다. 최종 설정은 로봇 4,096대 × 24스텝 = 98,304다. 미니배치는 24,576(4,096 × 6)이고 epoch은 5다. 원문 본문의 25스텝 하한과 원문 표의 24스텝은 한 스텝 어긋난다. 미니배치를 보통보다 훨씬 크게(수만) 잡자 학습이 안정됐다.</a:t>
            </a:r>
          </a:p>
        </p:txBody>
      </p:sp>
      <p:sp>
        <p:nvSpPr>
          <p:cNvPr id="10" name="TextBox 9"/>
          <p:cNvSpPr txBox="1"/>
          <p:nvPr/>
        </p:nvSpPr>
        <p:spPr>
          <a:xfrm>
            <a:off x="609600" y="4908649"/>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시간 초과 부트스트랩.</a:t>
            </a:r>
            <a:r>
              <a:rPr sz="1050" b="0" i="0">
                <a:solidFill>
                  <a:srgbClr val="16213A"/>
                </a:solidFill>
                <a:latin typeface="Arial"/>
                <a:ea typeface="Malgun Gothic"/>
                <a:cs typeface="Malgun Gothic"/>
              </a:rPr>
              <a:t> 로봇은 넘어지면 리셋되고, 넘어지지 않아도 20 s가 지나면 리셋된다. 넘어짐은 critic이 상태에서 예측할 수 있다. 시간 초과는 관측에 시간이 없으니 예측할 수 없다. 둘을 같은 종료로 다루면 critic이 틀린 가치를 배운다. 그래서 실패로 끝날 때만 미래 가치를 0으로 두고, 시간 초과로 끊길 때는 critic의 예측을 이어 붙인다.</a:t>
            </a:r>
          </a:p>
        </p:txBody>
      </p:sp>
      <p:pic>
        <p:nvPicPr>
          <p:cNvPr id="11" name="Picture 10" descr="image.png"/>
          <p:cNvPicPr>
            <a:picLocks noChangeAspect="1"/>
          </p:cNvPicPr>
          <p:nvPr/>
        </p:nvPicPr>
        <p:blipFill>
          <a:blip r:embed="rId4"/>
          <a:stretch>
            <a:fillRect/>
          </a:stretch>
        </p:blipFill>
        <p:spPr>
          <a:xfrm>
            <a:off x="609600" y="5430540"/>
            <a:ext cx="4191000" cy="241300"/>
          </a:xfrm>
          <a:prstGeom prst="rect">
            <a:avLst/>
          </a:prstGeom>
        </p:spPr>
      </p:pic>
      <p:sp>
        <p:nvSpPr>
          <p:cNvPr id="12" name="TextBox 11"/>
          <p:cNvSpPr txBox="1"/>
          <p:nvPr/>
        </p:nvSpPr>
        <p:spPr>
          <a:xfrm>
            <a:off x="609600" y="5708055"/>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15개(문단·식·그림)는 대시보드 리서치 탭의 "자세히: Learning to Walk in Minutes의 방법과 수식" 토글에 있다.</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B.14 ETH RSL(Marco Hutter)의 계보: 높이 지도에서 배달로봇까지</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200 / 516</a:t>
            </a:r>
          </a:p>
        </p:txBody>
      </p:sp>
      <p:sp>
        <p:nvSpPr>
          <p:cNvPr id="5" name="TextBox 4"/>
          <p:cNvSpPr txBox="1"/>
          <p:nvPr/>
        </p:nvSpPr>
        <p:spPr>
          <a:xfrm>
            <a:off x="717550" y="1244600"/>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B.14.2 인식 보행과 추종 (2022–2024)</a:t>
            </a:r>
          </a:p>
        </p:txBody>
      </p:sp>
      <p:sp>
        <p:nvSpPr>
          <p:cNvPr id="6" name="TextBox 5"/>
          <p:cNvSpPr txBox="1"/>
          <p:nvPr/>
        </p:nvSpPr>
        <p:spPr>
          <a:xfrm>
            <a:off x="609600" y="1547812"/>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2022년부터 RSL의 보행 정책은 지도를 보기 시작했고, 위 층이 무엇을 넘겨줄지가 주제가 됐다.</a:t>
            </a:r>
            <a:r>
              <a:rPr sz="1050" b="0" i="0">
                <a:solidFill>
                  <a:srgbClr val="16213A"/>
                </a:solidFill>
                <a:latin typeface="Arial"/>
                <a:ea typeface="Malgun Gothic"/>
                <a:cs typeface="Malgun Gothic"/>
              </a:rPr>
              <a:t> Miki 2022는 지도를 얼마나 믿을지를 정책이 정하게 했다. DTC는 궤적 최적화가 고른 발 디딤을 정책이 밟게 했고, ANYmal Parkour는 내비게이션 정책이 기술과 국소 목표를 고르게 했다. 셋 모두 travplan의 Planner와 Controller 경계와 같은 질문을 다룬다. 위 층이 아래 층에 넘기는 것은 이 소절 끝의 표에 모았다.</a:t>
            </a:r>
          </a:p>
        </p:txBody>
      </p:sp>
      <p:sp>
        <p:nvSpPr>
          <p:cNvPr id="7" name="TextBox 6"/>
          <p:cNvSpPr txBox="1"/>
          <p:nvPr/>
        </p:nvSpPr>
        <p:spPr>
          <a:xfrm>
            <a:off x="609600" y="2286198"/>
            <a:ext cx="10972800" cy="108247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Robust Perceptive Locomotion — 보행 정책이 지도를 얼마나 믿을지 스스로 정한다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arXiv:2201.08117</a:t>
            </a:r>
            <a:r>
              <a:rPr sz="1050" b="0" i="0">
                <a:solidFill>
                  <a:srgbClr val="16213A"/>
                </a:solidFill>
                <a:latin typeface="Arial"/>
                <a:ea typeface="Malgun Gothic"/>
                <a:cs typeface="Malgun Gothic"/>
              </a:rPr>
              <a:t>, Miki·Lee·Hwangbo·Wellhausen·Koltun·Hutter, Science Robotics 7(62) 2022). ANYmal C의 보행 정책은 발 주변 높이 208개와 proprioception을 GRU(gated recurrent unit) belief encoder에 넣는다. 게이트가 지도 신호를 얼마나 통과시킬지 배워서, 눈·수풀·드리프트로 지도가 틀리는 곳에서는 proprioception 쪽으로 물러난다. 학습은 참값을 보는 교사를 PPO로 만든 뒤, 실물 로봇에서 얻을 수 있는 입력(잡음 섞은 높이 샘플과 proprioception)만 보는 학생에게 증류하는 두 단계다. 여러 계절의 알프스·숲·지하·도시 배치에서 넘어진 적이 없다. 이 정책의 빠른 걸음을 따라가려고 만든 GPU 높이 지도가 elevation_mapping_cupy로 공개됐고, travplan L1이 그 코어를 쓴다. 방법·수식·잡음 모델은 인식 문서 A.7.1에, 교사–학생 증류는 배경 0.12에 있다.</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B.14 ETH RSL(Marco Hutter)의 계보: 높이 지도에서 배달로봇까지</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201 / 516</a:t>
            </a:r>
          </a:p>
        </p:txBody>
      </p:sp>
      <p:pic>
        <p:nvPicPr>
          <p:cNvPr id="5" name="Picture 4" descr="image.jpg"/>
          <p:cNvPicPr>
            <a:picLocks noChangeAspect="1"/>
          </p:cNvPicPr>
          <p:nvPr/>
        </p:nvPicPr>
        <p:blipFill>
          <a:blip r:embed="rId3"/>
          <a:stretch>
            <a:fillRect/>
          </a:stretch>
        </p:blipFill>
        <p:spPr>
          <a:xfrm>
            <a:off x="4105275" y="1244600"/>
            <a:ext cx="3981450" cy="4445000"/>
          </a:xfrm>
          <a:prstGeom prst="rect">
            <a:avLst/>
          </a:prstGeom>
        </p:spPr>
      </p:pic>
      <p:sp>
        <p:nvSpPr>
          <p:cNvPr id="6" name="TextBox 5"/>
          <p:cNvSpPr txBox="1"/>
          <p:nvPr/>
        </p:nvSpPr>
        <p:spPr>
          <a:xfrm>
            <a:off x="4105275" y="5727700"/>
            <a:ext cx="3981450" cy="568722"/>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Robust Perceptive Locomotion (Fig. 1): 여러 계절에 걸친 현장 시험이다. A–J는 자연(산길·꽃 덤불·숲 비탈·돌길·풀 덮인 계단·잔해·눈)이고, I에서는 원숭이가 짐 상자에 올라탔다. K–N은 갱도와 동굴(자갈·물웅덩이·어둠)이다. O–R은 도시(철제 계단·안개 낀 계단·넓은 계단·눈 덮인 계단)다. 원문은 이 배치들에서 넘어진 적이 없다고 적는다. 출처: arXiv:2201.08117</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B.14 ETH RSL(Marco Hutter)의 계보: 높이 지도에서 배달로봇까지</a:t>
            </a:r>
            <a:r>
              <a:rPr sz="1050" b="0" i="0">
                <a:solidFill>
                  <a:srgbClr val="5A6478"/>
                </a:solidFill>
                <a:latin typeface="Arial"/>
                <a:ea typeface="Malgun Gothic"/>
                <a:cs typeface="Malgun Gothic"/>
              </a:rPr>
              <a:t>  자세히: Robust Perceptive Locomotion에서 A.7.1에 없는 것</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202 / 516</a:t>
            </a:r>
          </a:p>
        </p:txBody>
      </p:sp>
      <p:sp>
        <p:nvSpPr>
          <p:cNvPr id="5" name="TextBox 4"/>
          <p:cNvSpPr txBox="1"/>
          <p:nvPr/>
        </p:nvSpPr>
        <p:spPr>
          <a:xfrm>
            <a:off x="609600" y="1244600"/>
            <a:ext cx="10972800" cy="3208734"/>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계단을 아무 방향으로 걷는다.</a:t>
            </a:r>
            <a:r>
              <a:rPr sz="1050" b="0" i="0">
                <a:solidFill>
                  <a:srgbClr val="16213A"/>
                </a:solidFill>
                <a:latin typeface="Arial"/>
                <a:ea typeface="Malgun Gothic"/>
                <a:cs typeface="Malgun Gothic"/>
              </a:rPr>
              <a:t> 원문은 Spot이 계단 전용 모드를 켜고 몸을 계단에 맞춰야 한다고 비교한다(Spot 사용 설명서 2.0판 33쪽 인용). 이 정책은 모드 전환 없이 옆으로, 비스듬히, 계단 위에서 돌며 걷는다. 눈 덮인 계단에서는 깊이 센서가 반사로 실패하거나 눈 표면을 읽고, 다리는 그 아래로 빠진다. 여기서도 실패가 없었다.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Etzel 산행의 세부.</a:t>
            </a:r>
            <a:r>
              <a:rPr sz="1050" b="0" i="0">
                <a:solidFill>
                  <a:srgbClr val="16213A"/>
                </a:solidFill>
                <a:latin typeface="Arial"/>
                <a:ea typeface="Malgun Gothic"/>
                <a:cs typeface="Malgun Gothic"/>
              </a:rPr>
              <a:t> 2.2 km 산길(고도 상승 120 m)을 78분에 걸었다. 산행 서비스 Komoot의 안내 시간은 76분이고, Komoot는 이 길을 '어려움'으로 매겼다. 정상까지 31분으로 표지판 안내(35분)보다 빨랐고, 하산은 47분이었다. 빠진 발 덮개를 다시 끼우고 배터리를 바꾼 것 말고는 사람 도움이 없었고, 넘어지지 않고 완주했다. 로봇 위의 초목은 때때로 지도에 심한 허상을 만들었다.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장애물 코스(지형 인지의 기여 평가).</a:t>
            </a:r>
            <a:r>
              <a:rPr sz="1050" b="0" i="0">
                <a:solidFill>
                  <a:srgbClr val="16213A"/>
                </a:solidFill>
                <a:latin typeface="Arial"/>
                <a:ea typeface="Malgun Gothic"/>
                <a:cs typeface="Malgun Gothic"/>
              </a:rPr>
              <a:t> 높이 20 cm의 경사판과 발판, 높이 17 cm·깊이 29 cm 계단, 높이 20 cm 블록 더미를 고정 경로로 이었다. pure pursuit가 그 경로를 추종하며 속도 명령을 냈다. proprioception 기준선은 세 장애물 모두에서 막혀 사람이 들어 밀어야 했다.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턱 시험 방식.</a:t>
            </a:r>
            <a:r>
              <a:rPr sz="1050" b="0" i="0">
                <a:solidFill>
                  <a:srgbClr val="16213A"/>
                </a:solidFill>
                <a:latin typeface="Arial"/>
                <a:ea typeface="Malgun Gothic"/>
                <a:cs typeface="Malgun Gothic"/>
              </a:rPr>
              <a:t> 12–36.5 cm 나무 턱마다 10회 시도하고, 5초 안에 넘으면 성공이다. 30.5 cm까지의 주된 실패는 넘어짐이 아니라 턱을 옆으로 피한 것이다.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시뮬레이션 비교(S2, 그림 S1).</a:t>
            </a:r>
            <a:r>
              <a:rPr sz="1050" b="0" i="0">
                <a:solidFill>
                  <a:srgbClr val="16213A"/>
                </a:solidFill>
                <a:latin typeface="Arial"/>
                <a:ea typeface="Malgun Gothic"/>
                <a:cs typeface="Malgun Gothic"/>
              </a:rPr>
              <a:t> 0.7 m/s 고정 명령으로 10초 동안 4 m를 가면 성공이다. 성공률은 300회 시행으로 냈고, 격자 턱과 계단 각각 41 × 41 지형 매개변수 조합에서 기준선보다 훨씬 넓은 범위를 넘었다.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후속 비교.</a:t>
            </a:r>
            <a:r>
              <a:rPr sz="1050" b="0" i="0">
                <a:solidFill>
                  <a:srgbClr val="16213A"/>
                </a:solidFill>
                <a:latin typeface="Arial"/>
                <a:ea typeface="Malgun Gothic"/>
                <a:cs typeface="Malgun Gothic"/>
              </a:rPr>
              <a:t> DTC(이 소절)는 이 정책을 RL 기준선 baseline-rl-1로 썼다. 0.1 m 갭과 1.0 m 빔에서 이 정책은 실패했다. 반대로 눈을 가린 0.18 m 계단 두 단은 이 정책도 넘었다. NMPC 계획기와 묶은 DTC는 이 정책보다 50% 높은 0.48 m 상자를 올랐다.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GPU 높이 지도.</a:t>
            </a:r>
            <a:r>
              <a:rPr sz="1050" b="0" i="0">
                <a:solidFill>
                  <a:srgbClr val="16213A"/>
                </a:solidFill>
                <a:latin typeface="Arial"/>
                <a:ea typeface="Malgun Gothic"/>
                <a:cs typeface="Malgun Gothic"/>
              </a:rPr>
              <a:t> Methods는 빠른 지형 지도를 위해 GPU elevation mapping(칸별 칼만 갱신·드리프트 보정·광선 추적)을 따로 만들었고, 빠른 처리 속도를 지키는 데 결정적이었다고 적는다. 같은 1저자가 이것을 elevation_mapping_cupy(IROS 2022, 인식 A.7.2)로 공개했다.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코드.</a:t>
            </a:r>
            <a:r>
              <a:rPr sz="1050" b="0" i="0">
                <a:solidFill>
                  <a:srgbClr val="16213A"/>
                </a:solidFill>
                <a:latin typeface="Arial"/>
                <a:ea typeface="Malgun Gothic"/>
                <a:cs typeface="Malgun Gothic"/>
              </a:rPr>
              <a:t> 보행 정책 코드는 leggedrobotics 조직의 공개 저장소에서 찾지 못했다(2026-10-06 확인). 같은 조직의 cerberus_anymal_locomotion은 SubT 가상 대회용 Lee 2020 정책이다.</a:t>
            </a:r>
          </a:p>
        </p:txBody>
      </p:sp>
      <p:sp>
        <p:nvSpPr>
          <p:cNvPr id="6" name="TextBox 5"/>
          <p:cNvSpPr txBox="1"/>
          <p:nvPr/>
        </p:nvSpPr>
        <p:spPr>
          <a:xfrm>
            <a:off x="609600" y="4542234"/>
            <a:ext cx="10972800" cy="108247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것.</a:t>
            </a:r>
            <a:r>
              <a:rPr sz="1050" b="0" i="0">
                <a:solidFill>
                  <a:srgbClr val="16213A"/>
                </a:solidFill>
                <a:latin typeface="Arial"/>
                <a:ea typeface="Malgun Gothic"/>
                <a:cs typeface="Malgun Gothic"/>
              </a:rPr>
              <a:t> travplan의 층으로 옮기면 이 정책은 Controller가 아니라 그 아래 plant 자리다. 장애물 코스 실험에서 고정 경로를 따라 속도 명령을 낸 것은 pure pursuit였고, 정책은 그 명령을 걸음으로 바꿨다. travplan의 </a:t>
            </a:r>
            <a:r>
              <a:rPr sz="1050" b="0" i="0">
                <a:solidFill>
                  <a:srgbClr val="16213A"/>
                </a:solidFill>
                <a:latin typeface="Consolas"/>
                <a:ea typeface="Malgun Gothic"/>
                <a:cs typeface="Malgun Gothic"/>
              </a:rPr>
              <a:t>TrackerController</a:t>
            </a:r>
            <a:r>
              <a:rPr sz="1050" b="0" i="0">
                <a:solidFill>
                  <a:srgbClr val="16213A"/>
                </a:solidFill>
                <a:latin typeface="Arial"/>
                <a:ea typeface="Malgun Gothic"/>
                <a:cs typeface="Malgun Gothic"/>
              </a:rPr>
              <a:t>가 스워브 plant에 body twist를 넘기는 구조와 같다. 지도 없는 대조군은 travplan도 쟀다(TP-0129, Controller 문서 E.12). 파이썬 평가에서 지도와 경로 없이 학습한 같은 정책은 스워브가 10/12에서 3/12로, 사족이 10/12에서 8/12로 떨어졌다. Playground에서는 스워브가 8/12에서 0/12, 사족이 12/12에서 8/12다. 다만 travplan의 사족은 다리 동역학 없이 턱 한계만 0.20 m로 둔 운동학 모델이라, 지도 없이도 15 cm 연석을 넘는다. 바퀴는 한계가 0.08 m라 같은 연석이 치명이다. 지도가 비싼 쪽은 기동력이 낮은 쪽이다(E.12). TravMap을 Planner와 Controller의 공통 표현으로 둔 설계와 같은 방향의 결과다.</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B.14 ETH RSL(Marco Hutter)의 계보: 높이 지도에서 배달로봇까지</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203 / 516</a:t>
            </a:r>
          </a:p>
        </p:txBody>
      </p:sp>
      <p:sp>
        <p:nvSpPr>
          <p:cNvPr id="5" name="TextBox 4"/>
          <p:cNvSpPr txBox="1"/>
          <p:nvPr/>
        </p:nvSpPr>
        <p:spPr>
          <a:xfrm>
            <a:off x="609600" y="1244600"/>
            <a:ext cx="10972800" cy="108247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DTC(Deep Tracking Control) — 궤적 최적화가 발 디딤을 정하고 RL 정책이 그 발 디딤을 밟는다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arXiv:2309.15462</a:t>
            </a:r>
            <a:r>
              <a:rPr sz="1050" b="0" i="0">
                <a:solidFill>
                  <a:srgbClr val="16213A"/>
                </a:solidFill>
                <a:latin typeface="Arial"/>
                <a:ea typeface="Malgun Gothic"/>
                <a:cs typeface="Malgun Gothic"/>
              </a:rPr>
              <a:t>, Jenelten·He·Farshidian·Hutter, Science Robotics 9(86) 2024, </a:t>
            </a:r>
            <a:r>
              <a:rPr sz="1050" b="0" i="0">
                <a:solidFill>
                  <a:srgbClr val="1D4ED8"/>
                </a:solidFill>
                <a:latin typeface="Arial"/>
                <a:ea typeface="Malgun Gothic"/>
                <a:cs typeface="Malgun Gothic"/>
                <a:hlinkClick r:id="rId4"/>
              </a:rPr>
              <a:t>실험 데이터</a:t>
            </a:r>
            <a:r>
              <a:rPr sz="1050" b="0" i="0">
                <a:solidFill>
                  <a:srgbClr val="16213A"/>
                </a:solidFill>
                <a:latin typeface="Arial"/>
                <a:ea typeface="Malgun Gothic"/>
                <a:cs typeface="Malgun Gothic"/>
              </a:rPr>
              <a:t>). 다리 로봇 제어의 두 전통에 한 층씩 맡긴다. 모델 기반 궤적 최적화(TO, trajectory optimization)가 발을 어디에 디딜지 계산한다. 시뮬레이션에서 학습한 신경망 정책은 그 발 디딤을 추종하며 관절 목표를 낸다. 최적화는 디딜 곳이 드문 갭·징검돌에서 정확하고, 학습 정책은 미끄럽거나 무르거나 지도가 틀린 곳에서 버틴다. 실물 ANYmal은 0.6 m 갭 넷을 연달아 건넜다(4회 모두 성공). 인식에 보이지 않는 함정 바닥에서 최적화 단독 제어기는 넘어졌고, DTC는 회복해 지나갔다. Controller 문서 E.8의 DTC(deterministic training conditional)는 희소 GP 근사로, 이름만 같은 다른 것이다.</a:t>
            </a:r>
          </a:p>
        </p:txBody>
      </p:sp>
      <p:sp>
        <p:nvSpPr>
          <p:cNvPr id="6" name="TextBox 5"/>
          <p:cNvSpPr txBox="1"/>
          <p:nvPr/>
        </p:nvSpPr>
        <p:spPr>
          <a:xfrm>
            <a:off x="609600" y="2415977"/>
            <a:ext cx="10972800" cy="649486"/>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최적화기는 TAMOLS다. 발 디딤과 몸통 자세를 함께 푸는 TO이고, 같은 1저자의 이전 연구다(T-RO 2022). 학습 때는 시뮬레이터의 참값 지도로 풀고, 다리가 착지할 때마다 새 해를 낸다. 정책은 그 해의 일부만 관측으로 받는다. 네 발의 목표 발 디딤 xy, 착지 순간의 관절각, 다리별 접촉 상태와 위상의 남은 시간이다. 최적화된 몸통 궤적은 critic만 본다. 배포 때는 최적화기가 별도 스레드에서 약 400 Hz로 다시 풀고, 정책은 50 Hz로 최신 해를 읽는다.</a:t>
            </a:r>
          </a:p>
        </p:txBody>
      </p:sp>
      <p:sp>
        <p:nvSpPr>
          <p:cNvPr id="7" name="TextBox 6"/>
          <p:cNvSpPr txBox="1"/>
          <p:nvPr/>
        </p:nvSpPr>
        <p:spPr>
          <a:xfrm>
            <a:off x="609600" y="3154362"/>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계획을 넘기고 추종하는 경계는 travplan의 Planner와 Controller 사이와 같고, 학습을 둔 쪽은 반대다. DTC는 최적화를 위에, 학습을 아래에 두었다. travplan은 학습 Planner D를 위에, MPPI와 NMPC(nonlinear model predictive control) Controller를 아래에 둔다. DTC에서 바로 가져올 것은 학습 Controller를 키울 때의 학습 절차다. </a:t>
            </a:r>
            <a:r>
              <a:rPr sz="1050" b="1" i="0">
                <a:solidFill>
                  <a:srgbClr val="C2410C"/>
                </a:solidFill>
                <a:latin typeface="Arial"/>
                <a:ea typeface="Malgun Gothic"/>
                <a:cs typeface="Malgun Gothic"/>
              </a:rPr>
              <a:t>학습 중에 계획을 매 스텝 다시 풀면, 정책은 대충 따라가도 보상을 받는다.</a:t>
            </a:r>
            <a:r>
              <a:rPr sz="1050" b="0" i="0">
                <a:solidFill>
                  <a:srgbClr val="16213A"/>
                </a:solidFill>
                <a:latin typeface="Arial"/>
                <a:ea typeface="Malgun Gothic"/>
                <a:cs typeface="Malgun Gothic"/>
              </a:rPr>
              <a:t> travplan 벤치마크는 Planner를 매 스텝(0.1 s) 다시 부르므로, 학습 Controller를 이 루프에서 키우면 같은 함정에 빠진다. 층 배치의 근거를 travplan 결과와 맞댄 것과 관측 설계는 아래 토글 끝에 있다.</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B.14 ETH RSL(Marco Hutter)의 계보: 높이 지도에서 배달로봇까지</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204 / 516</a:t>
            </a:r>
          </a:p>
        </p:txBody>
      </p:sp>
      <p:pic>
        <p:nvPicPr>
          <p:cNvPr id="5" name="Picture 4" descr="image.jpg"/>
          <p:cNvPicPr>
            <a:picLocks noChangeAspect="1"/>
          </p:cNvPicPr>
          <p:nvPr/>
        </p:nvPicPr>
        <p:blipFill>
          <a:blip r:embed="rId3"/>
          <a:stretch>
            <a:fillRect/>
          </a:stretch>
        </p:blipFill>
        <p:spPr>
          <a:xfrm>
            <a:off x="609600" y="1244600"/>
            <a:ext cx="3746500" cy="2667000"/>
          </a:xfrm>
          <a:prstGeom prst="rect">
            <a:avLst/>
          </a:prstGeom>
        </p:spPr>
      </p:pic>
      <p:sp>
        <p:nvSpPr>
          <p:cNvPr id="6" name="TextBox 5"/>
          <p:cNvSpPr txBox="1"/>
          <p:nvPr/>
        </p:nvSpPr>
        <p:spPr>
          <a:xfrm>
            <a:off x="609600" y="3949700"/>
            <a:ext cx="5410200" cy="42654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DTC (Fig. 1): 실내외에서 걷는 ANYmal이다. 왼쪽 아래 주황 테두리(Precision)는 나무 상자 징검돌과 좁은 다리처럼 디딜 곳이 드문 곳이고, 오른쪽 위 주황 테두리(Robustness)는 미끄러운 판, 기울어지는 덮개판, 매트로 덮은 구멍처럼 불확실성이 큰 곳이다. 콘크리트 잔해·계단·모래 비탈도 지난다. 출처: arXiv:2309.15462</a:t>
            </a:r>
          </a:p>
        </p:txBody>
      </p:sp>
      <p:pic>
        <p:nvPicPr>
          <p:cNvPr id="7" name="Picture 6" descr="image.jpg"/>
          <p:cNvPicPr>
            <a:picLocks noChangeAspect="1"/>
          </p:cNvPicPr>
          <p:nvPr/>
        </p:nvPicPr>
        <p:blipFill>
          <a:blip r:embed="rId4"/>
          <a:stretch>
            <a:fillRect/>
          </a:stretch>
        </p:blipFill>
        <p:spPr>
          <a:xfrm>
            <a:off x="6172200" y="1244600"/>
            <a:ext cx="2863850" cy="2667000"/>
          </a:xfrm>
          <a:prstGeom prst="rect">
            <a:avLst/>
          </a:prstGeom>
        </p:spPr>
      </p:pic>
      <p:sp>
        <p:nvSpPr>
          <p:cNvPr id="8" name="TextBox 7"/>
          <p:cNvSpPr txBox="1"/>
          <p:nvPr/>
        </p:nvSpPr>
        <p:spPr>
          <a:xfrm>
            <a:off x="6172200" y="3949700"/>
            <a:ext cx="5410200" cy="42654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DTC (Fig. 3): (A) 좁은 탁자 위 제자리 회전과 팔레트로 내려오기. (B) 다리별·전진 명령별 발 디딤 추종 오차로, 실선이 평균이고 점선이 최대다. (C) 계획기를 baseline-to-2(NMPC)로 바꿨을 때의 오차. (D) baseline-to-2와 함께 0.48 m 상자를 오른다. 출처: arXiv:2309.15462</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B.14 ETH RSL(Marco Hutter)의 계보: 높이 지도에서 배달로봇까지</a:t>
            </a:r>
            <a:r>
              <a:rPr sz="1050" b="0" i="0">
                <a:solidFill>
                  <a:srgbClr val="5A6478"/>
                </a:solidFill>
                <a:latin typeface="Arial"/>
                <a:ea typeface="Malgun Gothic"/>
                <a:cs typeface="Malgun Gothic"/>
              </a:rPr>
              <a:t>  자세히: DTC의 방법과 수식</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205 / 516</a:t>
            </a:r>
          </a:p>
        </p:txBody>
      </p:sp>
      <p:sp>
        <p:nvSpPr>
          <p:cNvPr id="5" name="TextBox 4"/>
          <p:cNvSpPr txBox="1"/>
          <p:nvPr/>
        </p:nvSpPr>
        <p:spPr>
          <a:xfrm>
            <a:off x="609600" y="1244600"/>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풀려는 문제.</a:t>
            </a:r>
            <a:r>
              <a:rPr sz="1050" b="0" i="0">
                <a:solidFill>
                  <a:srgbClr val="16213A"/>
                </a:solidFill>
                <a:latin typeface="Arial"/>
                <a:ea typeface="Malgun Gothic"/>
                <a:cs typeface="Malgun Gothic"/>
              </a:rPr>
              <a:t> 다리 로봇 제어는 두 전통으로 갈린다. TO는 로봇 모델과 지형으로 앞을 내다보고 발 디딤을 정확히 고른다. 하지만 사실상 열린 루프라서 모델 가정이 깨지면 무너진다. 완벽한 상태 추정, 가림 없는 시야, 알려진 접촉 상태, 미끄럼 없음이 그런 가정이다. 가정이 깨질 때마다 손으로 짠 상태 기계가 필요했다. RL은 시뮬레이션의 무작위 경험으로 강건한 폐루프 정책을 얻는다. 그런데 디딜 곳이 드문 갭·징검돌에서는 보상이 희소해 탐색이 막힌다. 그런 지형은 한 시나리오나 비슷한 지형 몇 종에 맞춘 전용 정책만 풀었다. DTC는 최적화 해를 전문가 시연이 아니라 기준(reference)으로 쓴다. 정책이 최적화기의 의도를 매 순간 관측으로 보면서 추종하게 한다.</a:t>
            </a:r>
          </a:p>
        </p:txBody>
      </p:sp>
      <p:sp>
        <p:nvSpPr>
          <p:cNvPr id="6" name="TextBox 5"/>
          <p:cNvSpPr txBox="1"/>
          <p:nvPr/>
        </p:nvSpPr>
        <p:spPr>
          <a:xfrm>
            <a:off x="609600" y="2199481"/>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계보.</a:t>
            </a:r>
            <a:r>
              <a:rPr sz="1050" b="0" i="0">
                <a:solidFill>
                  <a:srgbClr val="16213A"/>
                </a:solidFill>
                <a:latin typeface="Arial"/>
                <a:ea typeface="Malgun Gothic"/>
                <a:cs typeface="Malgun Gothic"/>
              </a:rPr>
              <a:t> 상위가 낮은 주기로 발 디딤을 내고 하위가 높은 주기로 따르는 계층은 DeepLoco(Peng 2017)에서 왔다. DTC는 그 상위 신경망을 TO로 바꿨다. 비대칭 actor-critic은 Brakel 2022를 따른다. Miki 2022의 교사–학생 증류와 게이트 GRU는 쓰지 않았다. 정책의 이력은 직전 행동뿐인 MLP다. 저자들은 이 단순한 구조로 교사–학생 학습과 비슷한 강건성을 얻었다고 비교한다. 학습 환경은 legged_gym(B.14.1)과 거의 같다. 시간 기반 보상과 위치 기반 목표 추종은 Rudin 2022(IROS)에서 왔고, 이 소절의 ANYmal Parkour도 같은 뿌리에서 나왔다.</a:t>
            </a:r>
          </a:p>
        </p:txBody>
      </p:sp>
      <p:sp>
        <p:nvSpPr>
          <p:cNvPr id="7" name="TextBox 6"/>
          <p:cNvSpPr txBox="1"/>
          <p:nvPr/>
        </p:nvSpPr>
        <p:spPr>
          <a:xfrm>
            <a:off x="609600" y="2937867"/>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구조(원문 그림 8).</a:t>
            </a:r>
            <a:r>
              <a:rPr sz="1050" b="0" i="0">
                <a:solidFill>
                  <a:srgbClr val="16213A"/>
                </a:solidFill>
                <a:latin typeface="Arial"/>
                <a:ea typeface="Malgun Gothic"/>
                <a:cs typeface="Malgun Gothic"/>
              </a:rPr>
              <a:t> 학습 루프에서 최적화기는 시뮬레이션과 나란히 돌며 다리 착지마다 새 해 </a:t>
            </a:r>
            <a:r>
              <a:rPr sz="1050" b="0" i="1">
                <a:solidFill>
                  <a:srgbClr val="16213A"/>
                </a:solidFill>
                <a:latin typeface="Arial"/>
                <a:ea typeface="Malgun Gothic"/>
                <a:cs typeface="Malgun Gothic"/>
              </a:rPr>
              <a:t>x'(s)</a:t>
            </a:r>
            <a:r>
              <a:rPr sz="1050" b="0" i="0">
                <a:solidFill>
                  <a:srgbClr val="16213A"/>
                </a:solidFill>
                <a:latin typeface="Arial"/>
                <a:ea typeface="Malgun Gothic"/>
                <a:cs typeface="Malgun Gothic"/>
              </a:rPr>
              <a:t>를 낸다. 정책 </a:t>
            </a:r>
            <a:r>
              <a:rPr sz="1050" b="0" i="1">
                <a:solidFill>
                  <a:srgbClr val="16213A"/>
                </a:solidFill>
                <a:latin typeface="Arial"/>
                <a:ea typeface="Malgun Gothic"/>
                <a:cs typeface="Malgun Gothic"/>
              </a:rPr>
              <a:t>π(a | o)</a:t>
            </a:r>
            <a:r>
              <a:rPr sz="1050" b="0" i="0">
                <a:solidFill>
                  <a:srgbClr val="16213A"/>
                </a:solidFill>
                <a:latin typeface="Arial"/>
                <a:ea typeface="Malgun Gothic"/>
                <a:cs typeface="Malgun Gothic"/>
              </a:rPr>
              <a:t>는 50 Hz로 관절 위치 목표를 내고, PD 제어기가 이를 따른다. 보상은 최적화 해와 실제 상태의 차이 </a:t>
            </a:r>
            <a:r>
              <a:rPr sz="1050" b="0" i="1">
                <a:solidFill>
                  <a:srgbClr val="16213A"/>
                </a:solidFill>
                <a:latin typeface="Arial"/>
                <a:ea typeface="Malgun Gothic"/>
                <a:cs typeface="Malgun Gothic"/>
              </a:rPr>
              <a:t>x'(s) ominus x(s')</a:t>
            </a:r>
            <a:r>
              <a:rPr sz="1050" b="0" i="0">
                <a:solidFill>
                  <a:srgbClr val="16213A"/>
                </a:solidFill>
                <a:latin typeface="Arial"/>
                <a:ea typeface="Malgun Gothic"/>
                <a:cs typeface="Malgun Gothic"/>
              </a:rPr>
              <a:t>에 대해 단조 감소하는 함수다. 원문은 이 정책을 최적화기를 기준 모델로 둔 학습형 모델 기준 적응 제어기(MRAC, model reference adaptive control)로 볼 수 있다고 적는다. 배포 루프에서는 최적화기가 별도 스레드에서 가장 빠르게 돈다. 정책은 매 스텝 최신 해를 받아 </a:t>
            </a:r>
            <a:r>
              <a:rPr sz="1050" b="0" i="1">
                <a:solidFill>
                  <a:srgbClr val="16213A"/>
                </a:solidFill>
                <a:latin typeface="Arial"/>
                <a:ea typeface="Malgun Gothic"/>
                <a:cs typeface="Malgun Gothic"/>
              </a:rPr>
              <a:t>Δ t = 0.02</a:t>
            </a:r>
            <a:r>
              <a:rPr sz="1050" b="0" i="0">
                <a:solidFill>
                  <a:srgbClr val="16213A"/>
                </a:solidFill>
                <a:latin typeface="Arial"/>
                <a:ea typeface="Malgun Gothic"/>
                <a:cs typeface="Malgun Gothic"/>
              </a:rPr>
              <a:t> s 앞의 값을 읽는다.</a:t>
            </a:r>
          </a:p>
        </p:txBody>
      </p:sp>
      <p:sp>
        <p:nvSpPr>
          <p:cNvPr id="8" name="TextBox 7"/>
          <p:cNvSpPr txBox="1"/>
          <p:nvPr/>
        </p:nvSpPr>
        <p:spPr>
          <a:xfrm>
            <a:off x="609600" y="3676253"/>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기준 동작(TAMOLS).</a:t>
            </a:r>
            <a:r>
              <a:rPr sz="1050" b="0" i="0">
                <a:solidFill>
                  <a:srgbClr val="16213A"/>
                </a:solidFill>
                <a:latin typeface="Arial"/>
                <a:ea typeface="Malgun Gothic"/>
                <a:cs typeface="Malgun Gothic"/>
              </a:rPr>
              <a:t> TAMOLS(</a:t>
            </a:r>
            <a:r>
              <a:rPr sz="1050" b="0" i="0">
                <a:solidFill>
                  <a:srgbClr val="1D4ED8"/>
                </a:solidFill>
                <a:latin typeface="Arial"/>
                <a:ea typeface="Malgun Gothic"/>
                <a:cs typeface="Malgun Gothic"/>
                <a:hlinkClick r:id="rId3"/>
              </a:rPr>
              <a:t>arXiv:2206.14049</a:t>
            </a:r>
            <a:r>
              <a:rPr sz="1050" b="0" i="0">
                <a:solidFill>
                  <a:srgbClr val="16213A"/>
                </a:solidFill>
                <a:latin typeface="Arial"/>
                <a:ea typeface="Malgun Gothic"/>
                <a:cs typeface="Malgun Gothic"/>
              </a:rPr>
              <a:t>)는 높이 지도 위에서 몸통 자세와 발 디딤을 함께 최적화한다. 지형 분할이나 발 디딤 사전 계산이 필요 없고, 초기값이 달라도 해가 안정적이다. 국소 최적을 피하려고 점진(graduated) 최적화를 쓰고, 온라인에서 10 ms 안에 푼다. 저자들은 세 가지를 더했다. CPU 병렬화, pybind11 파이썬 인터페이스, 그리고 측정 접촉 상태가 늘 계획 접촉 상태와 같다는 가정이다. 마지막 가정 덕에 최적화기가 접촉 추정에서 독립한다. 저자들은 접촉 추정을 모델 기반 제어기에서 가장 취약한 모듈로 꼽는다. 지도는 시뮬레이터에서 0.04 × 0.04 m² 격자로 바로 뽑는다. 걸음새는 학습과 배포 모두 고정 trot(주기 0.93 s, 스윙 0.465 s)다. 더 정교한 NMPC(baseline-to-2)를 학습 루프에 넣으면 학습 시간이 약 8배가 될 것으로 저자들은 추정했다.</a:t>
            </a:r>
          </a:p>
        </p:txBody>
      </p:sp>
      <p:sp>
        <p:nvSpPr>
          <p:cNvPr id="9" name="TextBox 8"/>
          <p:cNvSpPr txBox="1"/>
          <p:nvPr/>
        </p:nvSpPr>
        <p:spPr>
          <a:xfrm>
            <a:off x="609600" y="4631134"/>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관측(표 2).</a:t>
            </a:r>
            <a:r>
              <a:rPr sz="1050" b="0" i="0">
                <a:solidFill>
                  <a:srgbClr val="16213A"/>
                </a:solidFill>
                <a:latin typeface="Arial"/>
                <a:ea typeface="Malgun Gothic"/>
                <a:cs typeface="Malgun Gothic"/>
              </a:rPr>
              <a:t> 정책이 보는 것은 최적화 해의 일부다. 몸통 기준 궤적은 일부러 정책에서 뺐다. 지도 오차에 덜 민감하고 계획기에 독립하게 하려는 선택이다. 높이 스캔은 발의 현재 위치와 목표 발 디딤을 잇는 선 위에서만 뽑는다. 저자들이 든 이점은 셋이다. 스윙 다리에 필요한 곳만 촘촘히 본다. 가림·반사·드리프트로 가장 불확실한 나머지 지도는 보지 않는다. 표류를 발마다 다르게 넣기 쉽다. 착지 관절각은 계획 몸통 자세에서 해석적 IK(inverse kinematics, 역기구학)로 구한다. 발 위치는 지지 다리가 측정값, 스윙 다리가 목표 발 디딤이다. 스윙 궤적은 쓰지 않는다. 그래서 critic만 보는 몸통 계획도 착지 관절각을 거쳐 정책에 들어간다.</a:t>
            </a:r>
          </a:p>
        </p:txBody>
      </p:sp>
      <p:sp>
        <p:nvSpPr>
          <p:cNvPr id="10" name="TextBox 9"/>
          <p:cNvSpPr txBox="1"/>
          <p:nvPr/>
        </p:nvSpPr>
        <p:spPr>
          <a:xfrm>
            <a:off x="609600" y="5586016"/>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29개(문단·식·그림)는 대시보드 리서치 탭의 "자세히: DTC의 방법과 수식" 토글에 있다.</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B.14 ETH RSL(Marco Hutter)의 계보: 높이 지도에서 배달로봇까지</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206 / 516</a:t>
            </a:r>
          </a:p>
        </p:txBody>
      </p:sp>
      <p:sp>
        <p:nvSpPr>
          <p:cNvPr id="5" name="TextBox 4"/>
          <p:cNvSpPr txBox="1"/>
          <p:nvPr/>
        </p:nvSpPr>
        <p:spPr>
          <a:xfrm>
            <a:off x="609600" y="1244600"/>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ANYmal Parkour — 내비게이션 정책이 기술 다섯 개 가운데 하나와 국소 목표를 고른다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arXiv:2306.14874</a:t>
            </a:r>
            <a:r>
              <a:rPr sz="1050" b="0" i="0">
                <a:solidFill>
                  <a:srgbClr val="16213A"/>
                </a:solidFill>
                <a:latin typeface="Arial"/>
                <a:ea typeface="Malgun Gothic"/>
                <a:cs typeface="Malgun Gothic"/>
              </a:rPr>
              <a:t>, Hoeller·Rudin·Sako·Hutter, Science Robotics 9(88) 2024, </a:t>
            </a:r>
            <a:r>
              <a:rPr sz="1050" b="0" i="0">
                <a:solidFill>
                  <a:srgbClr val="1D4ED8"/>
                </a:solidFill>
                <a:latin typeface="Arial"/>
                <a:ea typeface="Malgun Gothic"/>
                <a:cs typeface="Malgun Gothic"/>
                <a:hlinkClick r:id="rId4"/>
              </a:rPr>
              <a:t>프로젝트</a:t>
            </a:r>
            <a:r>
              <a:rPr sz="1050" b="0" i="0">
                <a:solidFill>
                  <a:srgbClr val="16213A"/>
                </a:solidFill>
                <a:latin typeface="Arial"/>
                <a:ea typeface="Malgun Gothic"/>
                <a:cs typeface="Malgun Gothic"/>
              </a:rPr>
              <a:t>). B.12.2의 Robot Parkour Learning(Zhuang 외)과는 다른 논문이다. 신경망 8개를 시뮬레이션에서만 학습해 실물 ANYmal D에 올렸고, 로봇은 점프·오르기·웅크리기가 섞인 연속 장애물을 최고 2 m/s로 지났다. 인식 모듈이 점군에서 가려진 장애물까지 3D로 복원하고, 5 Hz 내비게이션 정책이 기술 하나와 국소 목표(위치·방향·도달 시간)를 50 Hz 기술 정책에 넘긴다. 내비게이션 정책은 실제 기술 정책을 굴리며 학습해서 기술의 한계를 안다. 상자가 너무 높으면 직진 대신 돌아간다. 방법·보상 식·수치는 인식 문서 A.7.1 토글에 있다.</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B.14 ETH RSL(Marco Hutter)의 계보: 높이 지도에서 배달로봇까지</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207 / 516</a:t>
            </a:r>
          </a:p>
        </p:txBody>
      </p:sp>
      <p:pic>
        <p:nvPicPr>
          <p:cNvPr id="5" name="Picture 4" descr="image.jpg"/>
          <p:cNvPicPr>
            <a:picLocks noChangeAspect="1"/>
          </p:cNvPicPr>
          <p:nvPr/>
        </p:nvPicPr>
        <p:blipFill>
          <a:blip r:embed="rId3"/>
          <a:stretch>
            <a:fillRect/>
          </a:stretch>
        </p:blipFill>
        <p:spPr>
          <a:xfrm>
            <a:off x="4343400" y="1244600"/>
            <a:ext cx="3505200" cy="4445000"/>
          </a:xfrm>
          <a:prstGeom prst="rect">
            <a:avLst/>
          </a:prstGeom>
        </p:spPr>
      </p:pic>
      <p:sp>
        <p:nvSpPr>
          <p:cNvPr id="6" name="TextBox 5"/>
          <p:cNvSpPr txBox="1"/>
          <p:nvPr/>
        </p:nvSpPr>
        <p:spPr>
          <a:xfrm>
            <a:off x="4343400" y="5727700"/>
            <a:ext cx="3505200" cy="568722"/>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ANYmal Parkour (Fig. 1): ANYmal D가 탁자 밑을 웅크려 지나고, 팔레트 상자 사이를 뛰어 건너고, 상자를 기어오르거나 내려온다. 필요하면 무릎과 정강이로도 짚는다. 실내 장면에는 노란 안전 줄이 보이고, 맨 아래 세 장은 물가 잔디밭에서 한 실외 시험이다. 출처: arXiv:2306.14874</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B.14 ETH RSL(Marco Hutter)의 계보: 높이 지도에서 배달로봇까지</a:t>
            </a:r>
            <a:r>
              <a:rPr sz="1050" b="0" i="0">
                <a:solidFill>
                  <a:srgbClr val="5A6478"/>
                </a:solidFill>
                <a:latin typeface="Arial"/>
                <a:ea typeface="Malgun Gothic"/>
                <a:cs typeface="Malgun Gothic"/>
              </a:rPr>
              <a:t>  자세히: ANYmal Parkour에서 A.7.1에 없는 것</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208 / 516</a:t>
            </a:r>
          </a:p>
        </p:txBody>
      </p:sp>
      <p:sp>
        <p:nvSpPr>
          <p:cNvPr id="5" name="TextBox 4"/>
          <p:cNvSpPr txBox="1"/>
          <p:nvPr/>
        </p:nvSpPr>
        <p:spPr>
          <a:xfrm>
            <a:off x="609600" y="1244600"/>
            <a:ext cx="10972800" cy="3208734"/>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목표를 멀리 찍어 빨리 간다(II-B, IV-B3).</a:t>
            </a:r>
            <a:r>
              <a:rPr sz="1050" b="0" i="0">
                <a:solidFill>
                  <a:srgbClr val="16213A"/>
                </a:solidFill>
                <a:latin typeface="Arial"/>
                <a:ea typeface="Malgun Gothic"/>
                <a:cs typeface="Malgun Gothic"/>
              </a:rPr>
              <a:t> 손으로 짠 궤적은 장애물 가운데 같은 요지에 목표를 두어 느렸다. 학습한 내비게이션 정책은 목표를 더 멀리 두어 속도를 올렸고, 좁은 통로에서는 정밀한 발 디딤을 위해 목표를 조심스럽게 놓았다. 손으로 짠 궤적은 지형을 바꿀 때마다 새로 짜야 해서 확장되지 않는다.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오를 때 더 일찍 돌아가는 이유(II-B, 그림 5).</a:t>
            </a:r>
            <a:r>
              <a:rPr sz="1050" b="0" i="0">
                <a:solidFill>
                  <a:srgbClr val="16213A"/>
                </a:solidFill>
                <a:latin typeface="Arial"/>
                <a:ea typeface="Malgun Gothic"/>
                <a:cs typeface="Malgun Gothic"/>
              </a:rPr>
              <a:t> 저자들은 상위 학습 때 넣은 외란이 오르기 기술에 더 크게 작용했기 때문으로 본다. 실물 시험은 상자 높이 0.75 m와 1.15 m에서 했다.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정적 장면만 학습했는데 바뀌는 장면에 대응했다(II).</a:t>
            </a:r>
            <a:r>
              <a:rPr sz="1050" b="0" i="0">
                <a:solidFill>
                  <a:srgbClr val="16213A"/>
                </a:solidFill>
                <a:latin typeface="Arial"/>
                <a:ea typeface="Malgun Gothic"/>
                <a:cs typeface="Malgun Gothic"/>
              </a:rPr>
              <a:t> 상자에서 떨어진 뒤 일어나 코스를 마쳤고, 바닥에서 크게 미끄러진 뒤에도 탁자를 지났다. 실행 중에 장애물을 끌어내도 곧바로 경로를 바꿨다. 저자들은 모듈마다 반응이 빠르고, 믿음과 측정이 어긋나면 인식 모듈이 출력을 바로 고치기 때문이라고 본다. 기술 전환은 실물에서 매끄러워 눈에 띄지 않았다.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기술의 한계(II-A, 그림 4F, IV-B2).</a:t>
            </a:r>
            <a:r>
              <a:rPr sz="1050" b="0" i="0">
                <a:solidFill>
                  <a:srgbClr val="16213A"/>
                </a:solidFill>
                <a:latin typeface="Arial"/>
                <a:ea typeface="Malgun Gothic"/>
                <a:cs typeface="Malgun Gothic"/>
              </a:rPr>
              <a:t> 걷기 기술은 40° 짧은 비탈, 0.25 m 계단, 평지 2 m/s를 냈다. 다섯 기술 모두 학습 최대 난이도의 90%까지는 잘했다. 그 위에서는 통로가 로봇 키보다 낮아지는 웅크리기가 가장 빨리 무너졌고, 걷기만 학습 범위 밖까지 유지됐다. 학습 지형은 걷기가 계단 60%·비탈 20%·무작위 장애물 20%이고, 나머지 기술은 자기 장애물 80%·거친 지형 20%다.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실행 구성과 지연(II, II-C, S2, S6).</a:t>
            </a:r>
            <a:r>
              <a:rPr sz="1050" b="0" i="0">
                <a:solidFill>
                  <a:srgbClr val="16213A"/>
                </a:solidFill>
                <a:latin typeface="Arial"/>
                <a:ea typeface="Malgun Gothic"/>
                <a:cs typeface="Malgun Gothic"/>
              </a:rPr>
              <a:t> 깊이 카메라 여섯 대는 앞 둘, 뒤 둘, 좌우 하나씩이다. 보행과 내비게이션 정책은 온보드 컴퓨터의 한 노드에서 동기로 돌고, 인식은 Jetson Orin에서 비동기로 돈다. 학습은 인식 지연을 0으로 가정했다. 실물에서는 RealSense 점군 지연(최대 250 ms)을 깊이 영상 직접 수신으로 25 ms까지 줄였다. 그 뒤로는 비동기 인식의 지연이 성능에 영향을 주지 않았다고 원문은 적는다. 이 카메라 배치는 로봇 바로 아래가 사각이다. 센서 배치 문서 H.1이 다루는 근거리 사각과 같은 문제다.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출력 ablation의 지형 C(표 S6).</a:t>
            </a:r>
            <a:r>
              <a:rPr sz="1050" b="0" i="0">
                <a:solidFill>
                  <a:srgbClr val="16213A"/>
                </a:solidFill>
                <a:latin typeface="Arial"/>
                <a:ea typeface="Malgun Gothic"/>
                <a:cs typeface="Malgun Gothic"/>
              </a:rPr>
              <a:t> 시간 출력을 빼면 91.6%, 방향 출력을 빼면 94.6%, 둘 다 빼면 94.0%다(전체 97.6%). 지형 A·B 수치는 A.7.1에 있다.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계보.</a:t>
            </a:r>
            <a:r>
              <a:rPr sz="1050" b="0" i="0">
                <a:solidFill>
                  <a:srgbClr val="16213A"/>
                </a:solidFill>
                <a:latin typeface="Arial"/>
                <a:ea typeface="Malgun Gothic"/>
                <a:cs typeface="Malgun Gothic"/>
              </a:rPr>
              <a:t> 기술 정책의 학습 설정은 Rudin 2022(IROS)의 위치 기반 명령과 거의 같다. DTC와 한 뿌리다.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코드와 판본.</a:t>
            </a:r>
            <a:r>
              <a:rPr sz="1050" b="0" i="0">
                <a:solidFill>
                  <a:srgbClr val="16213A"/>
                </a:solidFill>
                <a:latin typeface="Arial"/>
                <a:ea typeface="Malgun Gothic"/>
                <a:cs typeface="Malgun Gothic"/>
              </a:rPr>
              <a:t> 공개 코드는 없다(leggedrobotics 조직 공개 저장소, 2026-10-06 확인). 프로젝트 페이지에 기술별 영상과 실물 영상이 있다. A.7.1과 이 토글의 수치는 arXiv v1(심사 중 판본)에서 읽었다.</a:t>
            </a:r>
          </a:p>
        </p:txBody>
      </p:sp>
      <p:sp>
        <p:nvSpPr>
          <p:cNvPr id="6" name="TextBox 5"/>
          <p:cNvSpPr txBox="1"/>
          <p:nvPr/>
        </p:nvSpPr>
        <p:spPr>
          <a:xfrm>
            <a:off x="609600" y="4542234"/>
            <a:ext cx="10972800" cy="108247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것.</a:t>
            </a:r>
            <a:r>
              <a:rPr sz="1050" b="0" i="0">
                <a:solidFill>
                  <a:srgbClr val="16213A"/>
                </a:solidFill>
                <a:latin typeface="Arial"/>
                <a:ea typeface="Malgun Gothic"/>
                <a:cs typeface="Malgun Gothic"/>
              </a:rPr>
              <a:t> B.15.5는 Planner D 후학습이 curb_ramp 레벨 3에서 멈춘 원인 후보로, 한 계획 시점의 후보(4 s 개루프 rollout)를 한 번씩 채점하는 보상을 봤다. B.15.6에서는 경사로를 지나친 상태부터 시작한 DAgger로도 단독 도달이 늘지 않았다(23/30). 그래서 남은 가설은 관측 범위와 지평이다(TP-0145). Parkour의 내비게이션 정책은 반대 형태의 보상을 쓴다. 보상은 남은 시간이 0이 되는 마지막 스텝에만 있고, 그때 목표 0.4 m 안이면 큰 보상을 받는다. 제시간에만 닿으면 돌아가는 길도 손해가 없다. 대가는 느린 수렴이다. 저자들은 목표를 처음엔 가깝게 두고 점점 멀리 옮기는 커리큘럼이 없으면 큰 장애물 앞에서 막혔다고 적었다. 이 마지막 스텝 보상(A.7.1에서 제안)은 TP-0145 재학습과 함께 볼 후보다. 소목표를 놓는 법도 다르다. travplan의 Guidance 소목표는 경로 4 m 앞에 고정이고, Planner D 관측에서 3 m로 잘린다. 학습한 정책은 목표를 더 멀리 찍어 속도를 내고, 좁은 통로에서는 조심스럽게 찍었다.</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B.14 ETH RSL(Marco Hutter)의 계보: 높이 지도에서 배달로봇까지</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209 / 516</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위 층이 넘기는 것.</a:t>
            </a:r>
            <a:r>
              <a:rPr sz="1050" b="0" i="0">
                <a:solidFill>
                  <a:srgbClr val="16213A"/>
                </a:solidFill>
                <a:latin typeface="Arial"/>
                <a:ea typeface="Malgun Gothic"/>
                <a:cs typeface="Malgun Gothic"/>
              </a:rPr>
              <a:t> 세 연구와 travplan이 위 층에서 아래 층으로 넘기는 것을 나란히 두면 이렇다. 마지막 행의 Watch Your Step(2026, B.16.3)은 DTC와 같은 발 디딤을 넘기지만, 밟을 목표가 아니라 정책이 지도를 읽을 위치로 쓴다.</a:t>
            </a:r>
          </a:p>
        </p:txBody>
      </p:sp>
      <p:graphicFrame>
        <p:nvGraphicFramePr>
          <p:cNvPr id="6" name="Table 5"/>
          <p:cNvGraphicFramePr>
            <a:graphicFrameLocks noGrp="1"/>
          </p:cNvGraphicFramePr>
          <p:nvPr/>
        </p:nvGraphicFramePr>
        <p:xfrm>
          <a:off x="609600" y="1766491"/>
          <a:ext cx="10966450" cy="1621392"/>
        </p:xfrm>
        <a:graphic>
          <a:graphicData uri="http://schemas.openxmlformats.org/drawingml/2006/table">
            <a:tbl>
              <a:tblPr firstRow="1" bandRow="1">
                <a:tableStyleId>{5C22544A-7EE6-4342-B048-85BDC9FD1C3A}</a:tableStyleId>
              </a:tblPr>
              <a:tblGrid>
                <a:gridCol w="1338262"/>
                <a:gridCol w="5124847"/>
                <a:gridCol w="2804418"/>
                <a:gridCol w="1698923"/>
              </a:tblGrid>
              <a:tr h="197088">
                <a:tc>
                  <a:txBody>
                    <a:bodyPr wrap="square"/>
                    <a:lstStyle/>
                    <a:p>
                      <a:r>
                        <a:rPr sz="800" b="1" i="0">
                          <a:solidFill>
                            <a:srgbClr val="F4F1EA"/>
                          </a:solidFill>
                          <a:latin typeface="Arial"/>
                          <a:ea typeface="Malgun Gothic"/>
                          <a:cs typeface="Malgun Gothic"/>
                        </a:rPr>
                        <a:t>연구</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위 층이 넘기는 것</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갱신</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아래 층의 출력</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Miki 2022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몸통 속도 명령(장애물 코스 실험에서는 pure pursuit가 고정 경로를 따라 냄)</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정책 50 Hz</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관절 목표</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ANYmal Parkour</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기술 번호 하나와 국소 목표의 위치·방향·도달 시간</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내비게이션 5 Hz, 기술 50 Hz</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관절 목표</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DTC</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목표 발 디딤 xy 넷, 착지 관절각, 접촉 상태, 위상 남은 시간, 기준 twist(몸통 궤적은 critic만)</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최적화 약 400 Hz(학습 때는 착지마다), 정책 50 Hz</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관절 목표</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travplan 벤치마크</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경로 또는 시간 인덱스 궤적(</a:t>
                      </a:r>
                      <a:r>
                        <a:rPr sz="800" b="0" i="0">
                          <a:solidFill>
                            <a:srgbClr val="16213A"/>
                          </a:solidFill>
                          <a:latin typeface="Consolas"/>
                          <a:ea typeface="Malgun Gothic"/>
                          <a:cs typeface="Malgun Gothic"/>
                        </a:rPr>
                        <a:t>PlanResult.path</a:t>
                      </a:r>
                      <a:r>
                        <a:rPr sz="800" b="0" i="0">
                          <a:solidFill>
                            <a:srgbClr val="16213A"/>
                          </a:solidFill>
                          <a:latin typeface="Arial"/>
                          <a:ea typeface="Malgun Gothic"/>
                          <a:cs typeface="Malgun Gothic"/>
                        </a:rPr>
                        <a:t>, </a:t>
                      </a:r>
                      <a:r>
                        <a:rPr sz="800" b="0" i="0">
                          <a:solidFill>
                            <a:srgbClr val="16213A"/>
                          </a:solidFill>
                          <a:latin typeface="Consolas"/>
                          <a:ea typeface="Malgun Gothic"/>
                          <a:cs typeface="Malgun Gothic"/>
                        </a:rPr>
                        <a:t>times</a:t>
                      </a:r>
                      <a:r>
                        <a:rPr sz="800" b="0" i="0">
                          <a:solidFill>
                            <a:srgbClr val="16213A"/>
                          </a:solidFill>
                          <a:latin typeface="Arial"/>
                          <a:ea typeface="Malgun Gothic"/>
                          <a:cs typeface="Malgun Gothic"/>
                        </a:rPr>
                        <a: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매 스텝(0.1 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body twist(MPPI·NMPC·tracker)</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travplan </a:t>
                      </a:r>
                      <a:r>
                        <a:rPr sz="800" b="0" i="0">
                          <a:solidFill>
                            <a:srgbClr val="16213A"/>
                          </a:solidFill>
                          <a:latin typeface="Consolas"/>
                          <a:ea typeface="Malgun Gothic"/>
                          <a:cs typeface="Malgun Gothic"/>
                        </a:rPr>
                        <a:t>TinyPolicy</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경로 앞 네 점(0.5·1·2·3 m)과 남은 경로 길이</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학습 때 경로 고정</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body twist</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Watch Your Step(B.16.3)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목표가 아니라 관측의 위치. 고유감각만 보는 FPM이 예측한 발 디딤 둘의 좌표와 그 둘레 7 × 7 높이(위 층은 속도 명령)</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FPM과 정책 모두 50 Hz, FPM은 500 iteration마다 다시 학습</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관절 목표</a:t>
                      </a:r>
                    </a:p>
                  </a:txBody>
                  <a:tcPr marL="63500" marR="63500" marT="12700" marB="12700">
                    <a:solidFill>
                      <a:srgbClr val="F3F0E8"/>
                    </a:solidFill>
                  </a:tcPr>
                </a:tc>
              </a:tr>
            </a:tbl>
          </a:graphicData>
        </a:graphic>
      </p:graphicFrame>
      <p:sp>
        <p:nvSpPr>
          <p:cNvPr id="7" name="TextBox 6"/>
          <p:cNvSpPr txBox="1"/>
          <p:nvPr/>
        </p:nvSpPr>
        <p:spPr>
          <a:xfrm>
            <a:off x="717550" y="3888482"/>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B.14.3 내비게이션과 Planner (2021–2026)</a:t>
            </a:r>
          </a:p>
        </p:txBody>
      </p:sp>
      <p:sp>
        <p:nvSpPr>
          <p:cNvPr id="8" name="TextBox 7"/>
          <p:cNvSpPr txBox="1"/>
          <p:nvPr/>
        </p:nvSpPr>
        <p:spPr>
          <a:xfrm>
            <a:off x="609600" y="4191695"/>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RSL의 Planner 연구는 손으로 짠 비용을 로봇 자신의 경험으로 바꾸는 쪽으로 움직였다.</a:t>
            </a:r>
            <a:r>
              <a:rPr sz="1050" b="0" i="0">
                <a:solidFill>
                  <a:srgbClr val="16213A"/>
                </a:solidFill>
                <a:latin typeface="Arial"/>
                <a:ea typeface="Malgun Gothic"/>
                <a:cs typeface="Malgun Gothic"/>
              </a:rPr>
              <a:t> ArtPlanner는 이동 비용을 학습했고, WVN은 주행 경험에서 traversability를 배웠다. ViPlanner는 비용 지도로 경로를 배웠고, FDM은 로봇이 실제로 어떻게 움직이고 언제 실패하는지를 배웠다. SRU와 Path-conditioned RL은 지도 없는 학습 로컬 정책에 기억과 경로 문맥을 더했다. travplan의 TravNet, GP 잔차, Planner D가 각각 이 흐름의 한 자리에 있다.</a:t>
            </a:r>
          </a:p>
        </p:txBody>
      </p:sp>
      <p:sp>
        <p:nvSpPr>
          <p:cNvPr id="9" name="TextBox 8"/>
          <p:cNvSpPr txBox="1"/>
          <p:nvPr/>
        </p:nvSpPr>
        <p:spPr>
          <a:xfrm>
            <a:off x="609600" y="4930080"/>
            <a:ext cx="10972800" cy="108247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ArtPlanner와 CERBERUS — 2021 DARPA SubT 결승에서 ANYmal C 네 대를 모두 안내한 로컬 Planner</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arXiv:2303.01420</a:t>
            </a:r>
            <a:r>
              <a:rPr sz="1050" b="0" i="0">
                <a:solidFill>
                  <a:srgbClr val="16213A"/>
                </a:solidFill>
                <a:latin typeface="Arial"/>
                <a:ea typeface="Malgun Gothic"/>
                <a:cs typeface="Malgun Gothic"/>
              </a:rPr>
              <a:t>, Wellhausen·Hutter, Field Robotics 3, 2023, </a:t>
            </a:r>
            <a:r>
              <a:rPr sz="1050" b="0" i="0">
                <a:solidFill>
                  <a:srgbClr val="1D4ED8"/>
                </a:solidFill>
                <a:latin typeface="Arial"/>
                <a:ea typeface="Malgun Gothic"/>
                <a:cs typeface="Malgun Gothic"/>
                <a:hlinkClick r:id="rId4"/>
              </a:rPr>
              <a:t>코드</a:t>
            </a:r>
            <a:r>
              <a:rPr sz="1050" b="0" i="0">
                <a:solidFill>
                  <a:srgbClr val="16213A"/>
                </a:solidFill>
                <a:latin typeface="Arial"/>
                <a:ea typeface="Malgun Gothic"/>
                <a:cs typeface="Malgun Gothic"/>
              </a:rPr>
              <a:t>; 팀 개요 </a:t>
            </a:r>
            <a:r>
              <a:rPr sz="1050" b="0" i="0">
                <a:solidFill>
                  <a:srgbClr val="1D4ED8"/>
                </a:solidFill>
                <a:latin typeface="Arial"/>
                <a:ea typeface="Malgun Gothic"/>
                <a:cs typeface="Malgun Gothic"/>
                <a:hlinkClick r:id="rId5"/>
              </a:rPr>
              <a:t>arXiv:2207.04914</a:t>
            </a:r>
            <a:r>
              <a:rPr sz="1050" b="0" i="0">
                <a:solidFill>
                  <a:srgbClr val="16213A"/>
                </a:solidFill>
                <a:latin typeface="Arial"/>
                <a:ea typeface="Malgun Gothic"/>
                <a:cs typeface="Malgun Gothic"/>
              </a:rPr>
              <a:t>, Tranzatto 외, Field Robotics 4, 2024; </a:t>
            </a:r>
            <a:r>
              <a:rPr sz="1050" b="0" i="0">
                <a:solidFill>
                  <a:srgbClr val="1D4ED8"/>
                </a:solidFill>
                <a:latin typeface="Arial"/>
                <a:ea typeface="Malgun Gothic"/>
                <a:cs typeface="Malgun Gothic"/>
                <a:hlinkClick r:id="rId6"/>
              </a:rPr>
              <a:t>CERBERUS 팀 논문</a:t>
            </a:r>
            <a:r>
              <a:rPr sz="1050" b="0" i="0">
                <a:solidFill>
                  <a:srgbClr val="16213A"/>
                </a:solidFill>
                <a:latin typeface="Arial"/>
                <a:ea typeface="Malgun Gothic"/>
                <a:cs typeface="Malgun Gothic"/>
              </a:rPr>
              <a:t>, Science Robotics 7(66) 2022). ArtPlanner는 2021-09-23 DARPA SubT 결승 Prize Round에서 CERBERUS 팀의 ANYmal C 네 대를 모두 안내한 로컬 Planner다. CERBERUS와 CSIRO Data61이 똑같이 23점을 얻었고, 마지막 점수를 더 일찍 보고한 쪽이 이기는 동점 규칙으로 CERBERUS가 우승했다(상금 200만 달러). 위층 탐사 Planner(GBPlanner2)는 좁은 틈을 지나도록 낙관적으로, ArtPlanner는 로봇 중심 높이 지도 위에서 보수적으로 튜닝했다. ArtPlanner는 네 대를 합쳐 90분(로봇이 움직인 시간의 88.94%) 켜져 있었고, 그동안 계획 실패와 보행 실패가 없었다. 자세 검증과 간선 비용의 식은 B.12.2에, 가려진 칸을 virtual surface로 쓰는 규칙은 인식 문서 A.2b.7에 있다.</a:t>
            </a: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B.14 ETH RSL(Marco Hutter)의 계보: 높이 지도에서 배달로봇까지</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210 / 516</a:t>
            </a:r>
          </a:p>
        </p:txBody>
      </p:sp>
      <p:pic>
        <p:nvPicPr>
          <p:cNvPr id="5" name="Picture 4" descr="image.jpg"/>
          <p:cNvPicPr>
            <a:picLocks noChangeAspect="1"/>
          </p:cNvPicPr>
          <p:nvPr/>
        </p:nvPicPr>
        <p:blipFill>
          <a:blip r:embed="rId3"/>
          <a:stretch>
            <a:fillRect/>
          </a:stretch>
        </p:blipFill>
        <p:spPr>
          <a:xfrm>
            <a:off x="1660525" y="1244600"/>
            <a:ext cx="8870950" cy="4445000"/>
          </a:xfrm>
          <a:prstGeom prst="rect">
            <a:avLst/>
          </a:prstGeom>
        </p:spPr>
      </p:pic>
      <p:sp>
        <p:nvSpPr>
          <p:cNvPr id="6" name="TextBox 5"/>
          <p:cNvSpPr txBox="1"/>
          <p:nvPr/>
        </p:nvSpPr>
        <p:spPr>
          <a:xfrm>
            <a:off x="1660525" y="5727700"/>
            <a:ext cx="887095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CERBERUS 개요 (Fig. 1): DARPA SubT에 나간 CERBERUS 팀의 로봇들이다. 윗줄은 동굴과 지하철역 같은 지하 환경을 걷는 ANYmal C다. 아랫줄은 비행 로봇 RMF-Owl, Alpha Aerial Scout, Kolibri와 통신 중계용 유선 바퀴 로봇이다. 출처: arXiv:2207.04914</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B.14 ETH RSL(Marco Hutter)의 계보: 높이 지도에서 배달로봇까지</a:t>
            </a:r>
            <a:r>
              <a:rPr sz="1050" b="0" i="0">
                <a:solidFill>
                  <a:srgbClr val="5A6478"/>
                </a:solidFill>
                <a:latin typeface="Arial"/>
                <a:ea typeface="Malgun Gothic"/>
                <a:cs typeface="Malgun Gothic"/>
              </a:rPr>
              <a:t>  자세히: ArtPlanner의 결승 수치, 실패 사례, travplan에 주는 것</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211 / 516</a:t>
            </a:r>
          </a:p>
        </p:txBody>
      </p:sp>
      <p:sp>
        <p:nvSpPr>
          <p:cNvPr id="5" name="TextBox 4"/>
          <p:cNvSpPr txBox="1"/>
          <p:nvPr/>
        </p:nvSpPr>
        <p:spPr>
          <a:xfrm>
            <a:off x="609600" y="1244600"/>
            <a:ext cx="10972800" cy="108247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결승 Prize Round.</a:t>
            </a:r>
            <a:r>
              <a:rPr sz="1050" b="0" i="0">
                <a:solidFill>
                  <a:srgbClr val="16213A"/>
                </a:solidFill>
                <a:latin typeface="Arial"/>
                <a:ea typeface="Malgun Gothic"/>
                <a:cs typeface="Malgun Gothic"/>
              </a:rPr>
              <a:t> 60분 동안 유물 40개를 찾는 경기였고, 보고는 45번까지 할 수 있었다. 종류가 맞고 위치가 5 m 안이면 1점이다. 23점은 모두 ANYmal C 네 대가 보낸 보고와 영상에서 나왔다. ANYmal C SubT는 탑재물을 포함해 55 kg이고, 계속 걸으면 80분을 간다. 네 대가 걸은 거리는 합 1,738 m다(CERBERUS 개요 Table 3). 가장 멀리 간 로봇이 687 m, 가장 짧게 간 로봇이 240 m다. 보행 속도는 Tunnel 회로 0.3 m/s와 Urban 회로 0.45 m/s를 거쳐 결승에서 0.7 m/s가 됐다. 1 m/s 넘게 걸을 수 있었지만 일부러 묶었다. 결승 동안 네 대 모두 한 번도 넘어지지 않았다. '계획·보행 실패 0'은 ArtPlanner 범위의 말이다. ANYmal 1은 동적 장애물 때문에 남은 시간 내내 갇혔다. 전역 재배치 경로가 막히자 감시 모듈이 되돌아가기를 걸었고, 그 구간에는 통신이 없어 감독자가 멈추지 못했다. 저자들은 전역 재배치와 귀환이 동적 장애물을 고려하지 않았다고 적었다.</a:t>
            </a:r>
          </a:p>
        </p:txBody>
      </p:sp>
      <p:sp>
        <p:nvSpPr>
          <p:cNvPr id="6" name="TextBox 5"/>
          <p:cNvSpPr txBox="1"/>
          <p:nvPr/>
        </p:nvSpPr>
        <p:spPr>
          <a:xfrm>
            <a:off x="609600" y="2415977"/>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구성.</a:t>
            </a:r>
            <a:r>
              <a:rPr sz="1050" b="0" i="0">
                <a:solidFill>
                  <a:srgbClr val="16213A"/>
                </a:solidFill>
                <a:latin typeface="Arial"/>
                <a:ea typeface="Malgun Gothic"/>
                <a:cs typeface="Malgun Gothic"/>
              </a:rPr>
              <a:t> 결승의 모든 런에서 네 대 모두에 배포됐다. 높이 지도는 로봇 중심 8 m × 8 m, 4 cm 해상도다. 위층 GBPlanner2는 20 cm 복셀 지도에서 정보 이득을 좇는다. ArtPlanner는 그 탐사 경로의 자세를 가장 먼 것부터 거꾸로 시도하며 0.5 Hz로 다시 계획한다. 지도가 바뀔 때마다 그래프를 새로 만든다. 노드 수, 간선 수, 샘플링 시간 가운데 하나가 상한에 닿으면 모든 간선의 이동 비용을 GPU에서 한 번에 추론한다. 위험이 문턱을 넘는 간선을 지운 뒤 A*를 한 번 돈다. 그래서 계획 시간에 상한이 생겼다. 대가로 확률적 완전성(경로가 있으면 표본을 늘릴수록 찾을 확률이 1로 간다는 보장)을 포기했다. 추종은 pure pursuit PID, 보행은 Miki 2022의 단일 제어기다.</a:t>
            </a:r>
          </a:p>
        </p:txBody>
      </p:sp>
      <p:sp>
        <p:nvSpPr>
          <p:cNvPr id="7" name="TextBox 6"/>
          <p:cNvSpPr txBox="1"/>
          <p:nvPr/>
        </p:nvSpPr>
        <p:spPr>
          <a:xfrm>
            <a:off x="609600" y="3370858"/>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계산 예산.</a:t>
            </a:r>
            <a:r>
              <a:rPr sz="1050" b="0" i="0">
                <a:solidFill>
                  <a:srgbClr val="16213A"/>
                </a:solidFill>
                <a:latin typeface="Arial"/>
                <a:ea typeface="Malgun Gothic"/>
                <a:cs typeface="Malgun Gothic"/>
              </a:rPr>
              <a:t> 새 경로를 2 s마다 내는 것이 목표였다. 실시간 한계는 최고 속도 0.9 m/s로 4 m 떨어진 지도 가장자리에 닿는 시간인 4.44 s다(운용 속도는 0.7 m/s였다). 샘플링 상한 2 s에 지도 처리와 비용 추론이 더해져, 결승 데이터 재생에서 최대 계획 시간은 4.65 s였다. 목표 시간 안에 든 계획은 75%이고, 실시간 한계를 넘은 것은 0.21 s 초과 한 번이다. 그래프를 유지하며 질의 때 간선을 검사하는 IROS 2021판은 질의 시간 중앙값이 빨랐다. 다만 그 중앙값은 샘플링 시간을 뺀 값이고, 더하면 ArtPlanner와 비슷하다. 이 판은 26.53 s 이상치를 냈고, 다른 기록에서는 더 긴 것도 있었다.</a:t>
            </a:r>
          </a:p>
        </p:txBody>
      </p:sp>
      <p:sp>
        <p:nvSpPr>
          <p:cNvPr id="8" name="TextBox 7"/>
          <p:cNvSpPr txBox="1"/>
          <p:nvPr/>
        </p:nvSpPr>
        <p:spPr>
          <a:xfrm>
            <a:off x="609600" y="4109244"/>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결승 데이터 재생 비교(Table 1).</a:t>
            </a:r>
            <a:r>
              <a:rPr sz="1050" b="0" i="0">
                <a:solidFill>
                  <a:srgbClr val="16213A"/>
                </a:solidFill>
                <a:latin typeface="Arial"/>
                <a:ea typeface="Malgun Gothic"/>
                <a:cs typeface="Malgun Gothic"/>
              </a:rPr>
              <a:t> 결승 기록을 다시 틀어 같은 탐사 경로를 모든 방법에 넣었다. 충돌은 경로를 낸 시점의 지도로 검사했고, 몸통 상자는 10 cm 줄였다. 심한 충돌은 자세의 3분의 1 넘게 부딪친 경로다. 위험 문턱은 모두 0.5다.</a:t>
            </a:r>
          </a:p>
        </p:txBody>
      </p:sp>
      <p:sp>
        <p:nvSpPr>
          <p:cNvPr id="9" name="TextBox 8"/>
          <p:cNvSpPr txBox="1"/>
          <p:nvPr/>
        </p:nvSpPr>
        <p:spPr>
          <a:xfrm>
            <a:off x="609600" y="4631134"/>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8개(문단·식·그림)는 대시보드 리서치 탭의 "자세히: ArtPlanner의 결승 수치, 실패 사례, travplan에 주는 것" 토글에 있다.</a:t>
            </a: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B.14 ETH RSL(Marco Hutter)의 계보: 높이 지도에서 배달로봇까지</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212 / 516</a:t>
            </a:r>
          </a:p>
        </p:txBody>
      </p:sp>
      <p:sp>
        <p:nvSpPr>
          <p:cNvPr id="5" name="TextBox 4"/>
          <p:cNvSpPr txBox="1"/>
          <p:nvPr/>
        </p:nvSpPr>
        <p:spPr>
          <a:xfrm>
            <a:off x="609600" y="1244600"/>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WVN(Wild Visual Navigation) — 사람이 몇 분 몰아 준 주행에서 갈 수 있는 지형을 현장에서 배운다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arXiv:2305.08510</a:t>
            </a:r>
            <a:r>
              <a:rPr sz="1050" b="0" i="0">
                <a:solidFill>
                  <a:srgbClr val="16213A"/>
                </a:solidFill>
                <a:latin typeface="Arial"/>
                <a:ea typeface="Malgun Gothic"/>
                <a:cs typeface="Malgun Gothic"/>
              </a:rPr>
              <a:t>, Frey·Mattamala·Chebrolu·Cadena·Fallon·Hutter, RSS 2023, </a:t>
            </a:r>
            <a:r>
              <a:rPr sz="1050" b="0" i="0">
                <a:solidFill>
                  <a:srgbClr val="1D4ED8"/>
                </a:solidFill>
                <a:latin typeface="Arial"/>
                <a:ea typeface="Malgun Gothic"/>
                <a:cs typeface="Malgun Gothic"/>
                <a:hlinkClick r:id="rId4"/>
              </a:rPr>
              <a:t>코드</a:t>
            </a:r>
            <a:r>
              <a:rPr sz="1050" b="0" i="0">
                <a:solidFill>
                  <a:srgbClr val="16213A"/>
                </a:solidFill>
                <a:latin typeface="Arial"/>
                <a:ea typeface="Malgun Gothic"/>
                <a:cs typeface="Malgun Gothic"/>
              </a:rPr>
              <a:t>; 확장판 </a:t>
            </a:r>
            <a:r>
              <a:rPr sz="1050" b="0" i="0">
                <a:solidFill>
                  <a:srgbClr val="1D4ED8"/>
                </a:solidFill>
                <a:latin typeface="Arial"/>
                <a:ea typeface="Malgun Gothic"/>
                <a:cs typeface="Malgun Gothic"/>
                <a:hlinkClick r:id="rId5"/>
              </a:rPr>
              <a:t>arXiv:2404.07110</a:t>
            </a:r>
            <a:r>
              <a:rPr sz="1050" b="0" i="0">
                <a:solidFill>
                  <a:srgbClr val="16213A"/>
                </a:solidFill>
                <a:latin typeface="Arial"/>
                <a:ea typeface="Malgun Gothic"/>
                <a:cs typeface="Malgun Gothic"/>
              </a:rPr>
              <a:t>, Autonomous Robots 2025). ETH Zürich와 Oxford가 함께 낸 연구다. 높은 풀과 덤불은 높이 지도에서 단단한 장애물처럼 솟는다. WVN은 카메라 영상으로 이 착시를 푼다. 고정한 DINO-ViT 특징 위의 작은 MLP를 주행하면서 학습하고, 명령 속도와 추정 속도의 차이를 라벨로 쓴다. 옥스퍼드 University Parks에서는 2분이 안 되는 시연 뒤 학습을 끄고 자갈 보도를 세 번(0.55 km, 0.5 km, 1.4 km) 따라갔다. 방법과 수식, 확장판의 결과는 인식 문서 A.7에 있다.</a:t>
            </a: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B.14 ETH RSL(Marco Hutter)의 계보: 높이 지도에서 배달로봇까지</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213 / 516</a:t>
            </a:r>
          </a:p>
        </p:txBody>
      </p:sp>
      <p:pic>
        <p:nvPicPr>
          <p:cNvPr id="5" name="Picture 4" descr="image.jpg"/>
          <p:cNvPicPr>
            <a:picLocks noChangeAspect="1"/>
          </p:cNvPicPr>
          <p:nvPr/>
        </p:nvPicPr>
        <p:blipFill>
          <a:blip r:embed="rId3"/>
          <a:stretch>
            <a:fillRect/>
          </a:stretch>
        </p:blipFill>
        <p:spPr>
          <a:xfrm>
            <a:off x="1016000" y="1244600"/>
            <a:ext cx="10160000" cy="3911600"/>
          </a:xfrm>
          <a:prstGeom prst="rect">
            <a:avLst/>
          </a:prstGeom>
        </p:spPr>
      </p:pic>
      <p:sp>
        <p:nvSpPr>
          <p:cNvPr id="6" name="TextBox 5"/>
          <p:cNvSpPr txBox="1"/>
          <p:nvPr/>
        </p:nvSpPr>
        <p:spPr>
          <a:xfrm>
            <a:off x="1016000" y="5194300"/>
            <a:ext cx="101600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WVN RSS 2023 (Fig. 11): 공원 자갈 보도를 2분이 안 되는 시연으로 배운 뒤 학습을 끄고 세 번(0.55 km, 0.5 km, 1.4 km) 따라간 궤적이다. 원은 교차로에서 방향을 잡아 준 작은 개입이고, 별은 진흙 풀밭을 길로 오인해 생긴 큰 개입이다. 오른쪽 사진은 성공 구간과 두 종류의 개입 장면이다. 출처: arXiv:2305.08510</a:t>
            </a: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B.14 ETH RSL(Marco Hutter)의 계보: 높이 지도에서 배달로봇까지</a:t>
            </a:r>
            <a:r>
              <a:rPr sz="1050" b="0" i="0">
                <a:solidFill>
                  <a:srgbClr val="5A6478"/>
                </a:solidFill>
                <a:latin typeface="Arial"/>
                <a:ea typeface="Malgun Gothic"/>
                <a:cs typeface="Malgun Gothic"/>
              </a:rPr>
              <a:t>  자세히: WVN RSS 2023판의 수치와 travplan에 주는 것</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214 / 516</a:t>
            </a:r>
          </a:p>
        </p:txBody>
      </p:sp>
      <p:sp>
        <p:nvSpPr>
          <p:cNvPr id="5" name="TextBox 4"/>
          <p:cNvSpPr txBox="1"/>
          <p:nvPr/>
        </p:nvSpPr>
        <p:spPr>
          <a:xfrm>
            <a:off x="609600" y="1244600"/>
            <a:ext cx="10972800" cy="2966839"/>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보도 따라가기.</a:t>
            </a:r>
            <a:r>
              <a:rPr sz="1050" b="0" i="0">
                <a:solidFill>
                  <a:srgbClr val="16213A"/>
                </a:solidFill>
                <a:latin typeface="Arial"/>
                <a:ea typeface="Malgun Gothic"/>
                <a:cs typeface="Malgun Gothic"/>
              </a:rPr>
              <a:t> 전역 경로가 없었다. 목표는 로봇 앞 SDF(signed distance field)에서 장애물과 가장 먼 점을 계속 다시 고르는 'smart carrot'이었다. 길 위에 머무는 행동은 시연으로 배운 시각 traversability에서만 나왔다. 보도 경계가 기하로는 구분되지 않는 곳이 많았다.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둘째 주행의 개입.</a:t>
            </a:r>
            <a:r>
              <a:rPr sz="1050" b="0" i="0">
                <a:solidFill>
                  <a:srgbClr val="16213A"/>
                </a:solidFill>
                <a:latin typeface="Arial"/>
                <a:ea typeface="Malgun Gothic"/>
                <a:cs typeface="Malgun Gothic"/>
              </a:rPr>
              <a:t> 둘째 주행은 낯섦을 덜 벌하고(재구성 신뢰도 배율 </a:t>
            </a:r>
            <a:r>
              <a:rPr sz="1050" b="0" i="1">
                <a:solidFill>
                  <a:srgbClr val="16213A"/>
                </a:solidFill>
                <a:latin typeface="Arial"/>
                <a:ea typeface="Malgun Gothic"/>
                <a:cs typeface="Malgun Gothic"/>
              </a:rPr>
              <a:t>k_σ</a:t>
            </a:r>
            <a:r>
              <a:rPr sz="1050" b="0" i="0">
                <a:solidFill>
                  <a:srgbClr val="16213A"/>
                </a:solidFill>
                <a:latin typeface="Arial"/>
                <a:ea typeface="Malgun Gothic"/>
                <a:cs typeface="Malgun Gothic"/>
              </a:rPr>
              <a:t> 2에서 3) 허용 오탐률을 올린(FPR, false positive rate 0.15에서 0.3) 설정이었다. 그래서 길과 닮은 진흙 풀밭을 길로 받아들였고, 큰 개입이 다섯 번 났다. 기본 설정으로 돈 셋째 주행(1.4 km)에서도 진흙 자리에서 큰 개입이 두 번 있었다. 학습 스레드는 시연 뒤 껐으므로 주행 중 자기지도 신호는 바뀌지 않았다.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오프라인 정확도.</a:t>
            </a:r>
            <a:r>
              <a:rPr sz="1050" b="0" i="0">
                <a:solidFill>
                  <a:srgbClr val="16213A"/>
                </a:solidFill>
                <a:latin typeface="Arial"/>
                <a:ea typeface="Malgun Gothic"/>
                <a:cs typeface="Malgun Gothic"/>
              </a:rPr>
              <a:t> 평가는 원격 조종한 ANYmal C로 모은 세 환경(Hilly·Forest·Grass)에서 했다. 사람이 칠한 이진 라벨 기준 픽셀 정확도는 차례로 81.05%, 82.45%, 78.21%다(seed 5개의 Table III 값). 무작위 초기화에서 200스텝 안에 좋은 성능에 닿았다. 영상 한 장이 학습 표본 100개(SLIC 조각)를 주기 때문이라고 저자들은 본다.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평가 라벨에 따라 순위가 뒤집힌다.</a:t>
            </a:r>
            <a:r>
              <a:rPr sz="1050" b="0" i="0">
                <a:solidFill>
                  <a:srgbClr val="16213A"/>
                </a:solidFill>
                <a:latin typeface="Arial"/>
                <a:ea typeface="Malgun Gothic"/>
                <a:cs typeface="Malgun Gothic"/>
              </a:rPr>
              <a:t> 사람 라벨로 재면 WVN이 가장 높다. 자기지도 라벨로 재면 '지나가지 않은 곳은 모두 못 감'으로 배운 방법들이 WVN보다 높다(Hilly 87.51·88.32 대 78.58). 저자도 그 방법이 자기 라벨에는 잘 맞지만 실제 traversability를 반영하지 못한다고 적었다.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환경 간 전이.</a:t>
            </a:r>
            <a:r>
              <a:rPr sz="1050" b="0" i="0">
                <a:solidFill>
                  <a:srgbClr val="16213A"/>
                </a:solidFill>
                <a:latin typeface="Arial"/>
                <a:ea typeface="Malgun Gothic"/>
                <a:cs typeface="Malgun Gothic"/>
              </a:rPr>
              <a:t> 한 환경에서 배운 모델을 다른 환경에서 재면 대체로 떨어졌다. Grass로 배워 Forest에서 재면 73.22%로, Forest로 배운 모델(82.45%)보다 9.23%p 낮다(Table VI). 반대로 Hilly로 배운 모델은 Grass에서 82.14%로 Grass 모델(78.21%)보다 높았다. 저자들은 같은 날 몇 km 안의 환경 사이에서도 성능이 떨어지므로 현장 적응이 필요하다고 본다.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백본과 속도.</a:t>
            </a:r>
            <a:r>
              <a:rPr sz="1050" b="0" i="0">
                <a:solidFill>
                  <a:srgbClr val="16213A"/>
                </a:solidFill>
                <a:latin typeface="Arial"/>
                <a:ea typeface="Malgun Gothic"/>
                <a:cs typeface="Malgun Gothic"/>
              </a:rPr>
              <a:t> 자기지도로 사전학습한 DINO-ViT와 DINO판 ResNet-50이, ImageNet으로 학습한 ResNet-50과 EfficientNet-B4보다 세 환경 모두에서 나았다(Table V). DINO-ViT는 파라미터 2,100만 개이고 Jetson Orin 추론은 17.0 ms다. 최적화하지 않은 Python 코드로 Orin에서 2.5 Hz로 돌았다.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코드.</a:t>
            </a:r>
            <a:r>
              <a:rPr sz="1050" b="0" i="0">
                <a:solidFill>
                  <a:srgbClr val="16213A"/>
                </a:solidFill>
                <a:latin typeface="Arial"/>
                <a:ea typeface="Malgun Gothic"/>
                <a:cs typeface="Malgun Gothic"/>
              </a:rPr>
              <a:t> MIT 라이선스이고, ANYmal과 바퀴 로봇 Jackal의 ROS 1 통합, Jackal 시뮬레이션 빠른 시작, elevation_mapping_cupy 통합이 들어 있다.</a:t>
            </a:r>
          </a:p>
        </p:txBody>
      </p:sp>
      <p:sp>
        <p:nvSpPr>
          <p:cNvPr id="6" name="TextBox 5"/>
          <p:cNvSpPr txBox="1"/>
          <p:nvPr/>
        </p:nvSpPr>
        <p:spPr>
          <a:xfrm>
            <a:off x="609600" y="4300339"/>
            <a:ext cx="10972800" cy="151546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것.</a:t>
            </a:r>
            <a:r>
              <a:rPr sz="1050" b="0" i="0">
                <a:solidFill>
                  <a:srgbClr val="16213A"/>
                </a:solidFill>
                <a:latin typeface="Arial"/>
                <a:ea typeface="Malgun Gothic"/>
                <a:cs typeface="Malgun Gothic"/>
              </a:rPr>
              <a:t> travplan의 TravNet 자기지도 학습(TP-0010, TP-0022, </a:t>
            </a:r>
            <a:r>
              <a:rPr sz="1050" b="0" i="0">
                <a:solidFill>
                  <a:srgbClr val="16213A"/>
                </a:solidFill>
                <a:latin typeface="Consolas"/>
                <a:ea typeface="Malgun Gothic"/>
                <a:cs typeface="Malgun Gothic"/>
              </a:rPr>
              <a:t>representation/self_supervised.py</a:t>
            </a:r>
            <a:r>
              <a:rPr sz="1050" b="0" i="0">
                <a:solidFill>
                  <a:srgbClr val="16213A"/>
                </a:solidFill>
                <a:latin typeface="Arial"/>
                <a:ea typeface="Malgun Gothic"/>
                <a:cs typeface="Malgun Gothic"/>
              </a:rPr>
              <a:t>)은 WVN에서 밟은 칸만 라벨로 쓰는 발상을 가져왔다. 나머지는 다르다. 입력은 영상 특징이 아니라 기하 특징 넷(slope·step·rough·known)이다. 라벨은 자세·수직 가속도 proxy이고, 학습은 운동학 시뮬에서 오프라인으로 한다. 지나가지 않은 칸도 다르게 다룬다. travplan은 그 칸을 손실에서 빼고, WVN은 낯선 만큼 '못 감' 쪽으로 당긴다. 그 낯섦이 들어갈 자리는 </a:t>
            </a:r>
            <a:r>
              <a:rPr sz="1050" b="0" i="0">
                <a:solidFill>
                  <a:srgbClr val="16213A"/>
                </a:solidFill>
                <a:latin typeface="Consolas"/>
                <a:ea typeface="Malgun Gothic"/>
                <a:cs typeface="Malgun Gothic"/>
              </a:rPr>
              <a:t>TravMap.SIGMA</a:t>
            </a:r>
            <a:r>
              <a:rPr sz="1050" b="0" i="0">
                <a:solidFill>
                  <a:srgbClr val="16213A"/>
                </a:solidFill>
                <a:latin typeface="Arial"/>
                <a:ea typeface="Malgun Gothic"/>
                <a:cs typeface="Malgun Gothic"/>
              </a:rPr>
              <a:t>다. 바퀴 로봇에서는 모듈 명령 속도와 오도메트리의 차이(슬립)가 WVN의 속도 오차 자리이고, Isaac 마찰 패치 실험(TP-0059)이 이 라벨을 쓸 곳이다. 보도 따라가기는 보도 배달의 문제를 그대로 보여 준다. 보도와 높이가 같은 잔디밭이나 흙길은 TravMap의 기하 채널로 가를 수 없고, 시각 채널(인식 문서 A.11)이 있어야 한다. Jackal 통합이 그 시험의 가장 가까운 출발점이다. 진흙 개입의 교훈은 학습 요소가 낯선 곳의 cost를 낮추게 두면 겉모습이 비슷한 위험을 편하다고 읽는다는 것이다. TP-0057에서 TravNet 잔차를 cost를 올리는 쪽으로만 허용한 것도 같은 판단이다. 환경을 바꾸면 9.23%p까지 떨어진다는 결과는 TravNet을 지형마다 다시 맞춰야 한다는 근거다. 순위 역전은 TravNet을 자기 proxy 라벨로 채점하지 않아야 한다는 근거다. 인식 A.13.5의 GT 순환과 같은 구조다.</a:t>
            </a: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B.14 ETH RSL(Marco Hutter)의 계보: 높이 지도에서 배달로봇까지</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215 / 516</a:t>
            </a:r>
          </a:p>
        </p:txBody>
      </p:sp>
      <p:sp>
        <p:nvSpPr>
          <p:cNvPr id="5" name="TextBox 4"/>
          <p:cNvSpPr txBox="1"/>
          <p:nvPr/>
        </p:nvSpPr>
        <p:spPr>
          <a:xfrm>
            <a:off x="609600" y="1244600"/>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ViPlanner — 깊이와 의미 분할 영상으로 로컬 경로를 내고, 시뮬레이션만으로 배운 Planner가 취리히의 횡단보도를 건넜다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arXiv:2310.00982</a:t>
            </a:r>
            <a:r>
              <a:rPr sz="1050" b="0" i="0">
                <a:solidFill>
                  <a:srgbClr val="16213A"/>
                </a:solidFill>
                <a:latin typeface="Arial"/>
                <a:ea typeface="Malgun Gothic"/>
                <a:cs typeface="Malgun Gothic"/>
              </a:rPr>
              <a:t>, Roth·Nubert·Yang·Mittal·Hutter, ICRA 2024, </a:t>
            </a:r>
            <a:r>
              <a:rPr sz="1050" b="0" i="0">
                <a:solidFill>
                  <a:srgbClr val="1D4ED8"/>
                </a:solidFill>
                <a:latin typeface="Arial"/>
                <a:ea typeface="Malgun Gothic"/>
                <a:cs typeface="Malgun Gothic"/>
                <a:hlinkClick r:id="rId4"/>
              </a:rPr>
              <a:t>코드</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5"/>
              </a:rPr>
              <a:t>프로젝트</a:t>
            </a:r>
            <a:r>
              <a:rPr sz="1050" b="0" i="0">
                <a:solidFill>
                  <a:srgbClr val="16213A"/>
                </a:solidFill>
                <a:latin typeface="Arial"/>
                <a:ea typeface="Malgun Gothic"/>
                <a:cs typeface="Malgun Gothic"/>
              </a:rPr>
              <a:t>). iPlanner의 명령형 학습을 의미 비용 지도로 넓힌 Planner다(B.4b). 기하만 보면 계단은 벽이고, 보도와 도로는 같은 평면이다. 의미를 더하면 두 문제를 다룰 수 있고, 실물에서는 횡단보도와 계단 두 장면으로 정성적으로 보였다. 의미 분할망 Mask2Former는 취리히 실영상으로 미세 조정했다. 시뮬레이션에서 의미를 더하면 의미 비용은 줄었지만 목표 도달도 함께 줄었다(CARLA 95.91%에서 87.75%). 손실과 비용표는 B.4b 토글에 있다.</a:t>
            </a:r>
          </a:p>
        </p:txBody>
      </p:sp>
      <p:pic>
        <p:nvPicPr>
          <p:cNvPr id="6" name="Picture 5" descr="image.jpg"/>
          <p:cNvPicPr>
            <a:picLocks noChangeAspect="1"/>
          </p:cNvPicPr>
          <p:nvPr/>
        </p:nvPicPr>
        <p:blipFill>
          <a:blip r:embed="rId6"/>
          <a:stretch>
            <a:fillRect/>
          </a:stretch>
        </p:blipFill>
        <p:spPr>
          <a:xfrm>
            <a:off x="1016000" y="2199481"/>
            <a:ext cx="10160000" cy="3695700"/>
          </a:xfrm>
          <a:prstGeom prst="rect">
            <a:avLst/>
          </a:prstGeom>
        </p:spPr>
      </p:pic>
      <p:sp>
        <p:nvSpPr>
          <p:cNvPr id="7" name="TextBox 6"/>
          <p:cNvSpPr txBox="1"/>
          <p:nvPr/>
        </p:nvSpPr>
        <p:spPr>
          <a:xfrm>
            <a:off x="1016000" y="5933281"/>
            <a:ext cx="101600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ViPlanner (Fig. 1): 취리히 도심에서 ANYmal이 횡단보도를 건너 보도를 따라간 실험이다. 왼쪽은 지나간 궤적, 계획 시점 A–D, 사람이 준 waypoint(파란 점)다. 오른쪽 윗줄은 각 시점의 ANYmal 사진이다. 가운데 줄은 의미 영상 위의 ViPlanner 경로이고, 아래 줄은 같은 시점 깊이 영상 위의 iPlanner 경로다. 출처: ViPlanner 저장소, arXiv:2310.00982</a:t>
            </a: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B.14 ETH RSL(Marco Hutter)의 계보: 높이 지도에서 배달로봇까지</a:t>
            </a:r>
            <a:r>
              <a:rPr sz="1050" b="0" i="0">
                <a:solidFill>
                  <a:srgbClr val="5A6478"/>
                </a:solidFill>
                <a:latin typeface="Arial"/>
                <a:ea typeface="Malgun Gothic"/>
                <a:cs typeface="Malgun Gothic"/>
              </a:rPr>
              <a:t>  자세히: ViPlanner가 iPlanner 손실에서 바꾼 것과 시뮬레이션 수치</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216 / 516</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구조와 학습.</a:t>
            </a:r>
            <a:r>
              <a:rPr sz="1050" b="0" i="0">
                <a:solidFill>
                  <a:srgbClr val="16213A"/>
                </a:solidFill>
                <a:latin typeface="Arial"/>
                <a:ea typeface="Malgun Gothic"/>
                <a:cs typeface="Malgun Gothic"/>
              </a:rPr>
              <a:t> 깊이 영상과 의미 영상을 ResNet-18 두 개로 따로 인코딩하고, 목표 임베딩과 이어 붙인다. 출력은 key point 경로와 그 경로의 충돌 확률이다. 충돌 확률이 0.5 이상인 경로는 실행하지 않는다. 의미 비용 지도는 학습 손실에만 쓰고, 배포 때 Planner는 영상만 본다. 학습 데이터는 Omniverse로 불러온 Matterport3D 실내 11곳, CARLA 도시 1곳(400 m × 400 m), 창고 3곳에서 뽑은 출발·목표 쌍 약 8만 개다. RTX 3090 한 장으로 약 6시간 학습했다. 실물 ANYmal에서는 Mask2Former가 약 3 Hz로 의미 영상을 내고, Planner는 Jetson Orin AGX에서 10 Hz로 돈다.</a:t>
            </a:r>
          </a:p>
        </p:txBody>
      </p:sp>
      <p:sp>
        <p:nvSpPr>
          <p:cNvPr id="6" name="TextBox 5"/>
          <p:cNvSpPr txBox="1"/>
          <p:nvPr/>
        </p:nvSpPr>
        <p:spPr>
          <a:xfrm>
            <a:off x="609600" y="1982986"/>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손실에서 바꾼 셋.</a:t>
            </a:r>
            <a:r>
              <a:rPr sz="1050" b="0" i="0">
                <a:solidFill>
                  <a:srgbClr val="16213A"/>
                </a:solidFill>
                <a:latin typeface="Arial"/>
                <a:ea typeface="Malgun Gothic"/>
                <a:cs typeface="Malgun Gothic"/>
              </a:rPr>
              <a:t> 과제 손실은 iPlanner처럼 궤적 항과 충돌 확률 항(이진 교차 엔트로피)의 합이다(B.4b 토글). 궤적 항은 비용·목표·운동·높이 네 항의 가중합이다. 운동 항만 iPlanner와 같다. 비용 항은 경로 점 </a:t>
            </a:r>
            <a:r>
              <a:rPr sz="1050" b="0" i="1">
                <a:solidFill>
                  <a:srgbClr val="16213A"/>
                </a:solidFill>
                <a:latin typeface="Arial"/>
                <a:ea typeface="Malgun Gothic"/>
                <a:cs typeface="Malgun Gothic"/>
              </a:rPr>
              <a:t>pᵢ</a:t>
            </a:r>
            <a:r>
              <a:rPr sz="1050" b="0" i="0">
                <a:solidFill>
                  <a:srgbClr val="16213A"/>
                </a:solidFill>
                <a:latin typeface="Arial"/>
                <a:ea typeface="Malgun Gothic"/>
                <a:cs typeface="Malgun Gothic"/>
              </a:rPr>
              <a:t>와 함께, 경로 법선 </a:t>
            </a:r>
            <a:r>
              <a:rPr sz="1050" b="0" i="1">
                <a:solidFill>
                  <a:srgbClr val="16213A"/>
                </a:solidFill>
                <a:latin typeface="Arial"/>
                <a:ea typeface="Malgun Gothic"/>
                <a:cs typeface="Malgun Gothic"/>
              </a:rPr>
              <a:t>nᵢ</a:t>
            </a:r>
            <a:r>
              <a:rPr sz="1050" b="0" i="0">
                <a:solidFill>
                  <a:srgbClr val="16213A"/>
                </a:solidFill>
                <a:latin typeface="Arial"/>
                <a:ea typeface="Malgun Gothic"/>
                <a:cs typeface="Malgun Gothic"/>
              </a:rPr>
              <a:t> 방향으로 로봇 폭 </a:t>
            </a:r>
            <a:r>
              <a:rPr sz="1050" b="0" i="1">
                <a:solidFill>
                  <a:srgbClr val="16213A"/>
                </a:solidFill>
                <a:latin typeface="Arial"/>
                <a:ea typeface="Malgun Gothic"/>
                <a:cs typeface="Malgun Gothic"/>
              </a:rPr>
              <a:t>w^R</a:t>
            </a:r>
            <a:r>
              <a:rPr sz="1050" b="0" i="0">
                <a:solidFill>
                  <a:srgbClr val="16213A"/>
                </a:solidFill>
                <a:latin typeface="Arial"/>
                <a:ea typeface="Malgun Gothic"/>
                <a:cs typeface="Malgun Gothic"/>
              </a:rPr>
              <a:t>만큼 떨어진 두 점에서도 비용 지도 </a:t>
            </a:r>
            <a:r>
              <a:rPr sz="1050" b="0" i="1">
                <a:solidFill>
                  <a:srgbClr val="16213A"/>
                </a:solidFill>
                <a:latin typeface="Arial"/>
                <a:ea typeface="Malgun Gothic"/>
                <a:cs typeface="Malgun Gothic"/>
              </a:rPr>
              <a:t>m̃</a:t>
            </a:r>
            <a:r>
              <a:rPr sz="1050" b="0" i="0">
                <a:solidFill>
                  <a:srgbClr val="16213A"/>
                </a:solidFill>
                <a:latin typeface="Arial"/>
                <a:ea typeface="Malgun Gothic"/>
                <a:cs typeface="Malgun Gothic"/>
              </a:rPr>
              <a:t>을 읽는다.</a:t>
            </a:r>
          </a:p>
        </p:txBody>
      </p:sp>
      <p:pic>
        <p:nvPicPr>
          <p:cNvPr id="7" name="Picture 6" descr="image.png"/>
          <p:cNvPicPr>
            <a:picLocks noChangeAspect="1"/>
          </p:cNvPicPr>
          <p:nvPr/>
        </p:nvPicPr>
        <p:blipFill>
          <a:blip r:embed="rId3"/>
          <a:stretch>
            <a:fillRect/>
          </a:stretch>
        </p:blipFill>
        <p:spPr>
          <a:xfrm>
            <a:off x="609600" y="2504877"/>
            <a:ext cx="4076700" cy="520700"/>
          </a:xfrm>
          <a:prstGeom prst="rect">
            <a:avLst/>
          </a:prstGeom>
        </p:spPr>
      </p:pic>
      <p:sp>
        <p:nvSpPr>
          <p:cNvPr id="8" name="TextBox 7"/>
          <p:cNvSpPr txBox="1"/>
          <p:nvPr/>
        </p:nvSpPr>
        <p:spPr>
          <a:xfrm>
            <a:off x="609600" y="3023394"/>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목표 항은 먼 목표의 영향을 줄이려고 로그를 씌운다. </a:t>
            </a:r>
            <a:r>
              <a:rPr sz="1050" b="0" i="1">
                <a:solidFill>
                  <a:srgbClr val="16213A"/>
                </a:solidFill>
                <a:latin typeface="Arial"/>
                <a:ea typeface="Malgun Gothic"/>
                <a:cs typeface="Malgun Gothic"/>
              </a:rPr>
              <a:t>pₙ</a:t>
            </a:r>
            <a:r>
              <a:rPr sz="1050" b="0" i="0">
                <a:solidFill>
                  <a:srgbClr val="16213A"/>
                </a:solidFill>
                <a:latin typeface="Arial"/>
                <a:ea typeface="Malgun Gothic"/>
                <a:cs typeface="Malgun Gothic"/>
              </a:rPr>
              <a:t>은 경로의 끝점, </a:t>
            </a:r>
            <a:r>
              <a:rPr sz="1050" b="0" i="1">
                <a:solidFill>
                  <a:srgbClr val="16213A"/>
                </a:solidFill>
                <a:latin typeface="Arial"/>
                <a:ea typeface="Malgun Gothic"/>
                <a:cs typeface="Malgun Gothic"/>
              </a:rPr>
              <a:t>p^G</a:t>
            </a:r>
            <a:r>
              <a:rPr sz="1050" b="0" i="0">
                <a:solidFill>
                  <a:srgbClr val="16213A"/>
                </a:solidFill>
                <a:latin typeface="Arial"/>
                <a:ea typeface="Malgun Gothic"/>
                <a:cs typeface="Malgun Gothic"/>
              </a:rPr>
              <a:t>는 목표다.</a:t>
            </a:r>
          </a:p>
        </p:txBody>
      </p:sp>
      <p:pic>
        <p:nvPicPr>
          <p:cNvPr id="9" name="Picture 8" descr="image.png"/>
          <p:cNvPicPr>
            <a:picLocks noChangeAspect="1"/>
          </p:cNvPicPr>
          <p:nvPr/>
        </p:nvPicPr>
        <p:blipFill>
          <a:blip r:embed="rId4"/>
          <a:stretch>
            <a:fillRect/>
          </a:stretch>
        </p:blipFill>
        <p:spPr>
          <a:xfrm>
            <a:off x="609600" y="3328789"/>
            <a:ext cx="2003425" cy="241300"/>
          </a:xfrm>
          <a:prstGeom prst="rect">
            <a:avLst/>
          </a:prstGeom>
        </p:spPr>
      </p:pic>
      <p:sp>
        <p:nvSpPr>
          <p:cNvPr id="10" name="TextBox 9"/>
          <p:cNvSpPr txBox="1"/>
          <p:nvPr/>
        </p:nvSpPr>
        <p:spPr>
          <a:xfrm>
            <a:off x="609600" y="3606304"/>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높이 항은 경로 점의 높이 </a:t>
            </a:r>
            <a:r>
              <a:rPr sz="1050" b="0" i="1">
                <a:solidFill>
                  <a:srgbClr val="16213A"/>
                </a:solidFill>
                <a:latin typeface="Arial"/>
                <a:ea typeface="Malgun Gothic"/>
                <a:cs typeface="Malgun Gothic"/>
              </a:rPr>
              <a:t>zᵢ</a:t>
            </a:r>
            <a:r>
              <a:rPr sz="1050" b="0" i="0">
                <a:solidFill>
                  <a:srgbClr val="16213A"/>
                </a:solidFill>
                <a:latin typeface="Arial"/>
                <a:ea typeface="Malgun Gothic"/>
                <a:cs typeface="Malgun Gothic"/>
              </a:rPr>
              <a:t>가 지면 </a:t>
            </a:r>
            <a:r>
              <a:rPr sz="1050" b="0" i="1">
                <a:solidFill>
                  <a:srgbClr val="16213A"/>
                </a:solidFill>
                <a:latin typeface="Arial"/>
                <a:ea typeface="Malgun Gothic"/>
                <a:cs typeface="Malgun Gothic"/>
              </a:rPr>
              <a:t>h̃</a:t>
            </a:r>
            <a:r>
              <a:rPr sz="1050" b="0" i="0">
                <a:solidFill>
                  <a:srgbClr val="16213A"/>
                </a:solidFill>
                <a:latin typeface="Arial"/>
                <a:ea typeface="Malgun Gothic"/>
                <a:cs typeface="Malgun Gothic"/>
              </a:rPr>
              <a:t> 위 몸통 높이 </a:t>
            </a:r>
            <a:r>
              <a:rPr sz="1050" b="0" i="1">
                <a:solidFill>
                  <a:srgbClr val="16213A"/>
                </a:solidFill>
                <a:latin typeface="Arial"/>
                <a:ea typeface="Malgun Gothic"/>
                <a:cs typeface="Malgun Gothic"/>
              </a:rPr>
              <a:t>h^R</a:t>
            </a:r>
            <a:r>
              <a:rPr sz="1050" b="0" i="0">
                <a:solidFill>
                  <a:srgbClr val="16213A"/>
                </a:solidFill>
                <a:latin typeface="Arial"/>
                <a:ea typeface="Malgun Gothic"/>
                <a:cs typeface="Malgun Gothic"/>
              </a:rPr>
              <a:t>에 머물게 한다. 장애물을 위나 아래로 넘는 경로를 막는다.</a:t>
            </a:r>
          </a:p>
        </p:txBody>
      </p:sp>
      <p:pic>
        <p:nvPicPr>
          <p:cNvPr id="11" name="Picture 10" descr="image.png"/>
          <p:cNvPicPr>
            <a:picLocks noChangeAspect="1"/>
          </p:cNvPicPr>
          <p:nvPr/>
        </p:nvPicPr>
        <p:blipFill>
          <a:blip r:embed="rId5"/>
          <a:stretch>
            <a:fillRect/>
          </a:stretch>
        </p:blipFill>
        <p:spPr>
          <a:xfrm>
            <a:off x="609600" y="3911699"/>
            <a:ext cx="2171700" cy="520700"/>
          </a:xfrm>
          <a:prstGeom prst="rect">
            <a:avLst/>
          </a:prstGeom>
        </p:spPr>
      </p:pic>
      <p:sp>
        <p:nvSpPr>
          <p:cNvPr id="12" name="TextBox 11"/>
          <p:cNvSpPr txBox="1"/>
          <p:nvPr/>
        </p:nvSpPr>
        <p:spPr>
          <a:xfrm>
            <a:off x="609600" y="4430216"/>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비용 지도 다듬기.</a:t>
            </a:r>
            <a:r>
              <a:rPr sz="1050" b="0" i="0">
                <a:solidFill>
                  <a:srgbClr val="16213A"/>
                </a:solidFill>
                <a:latin typeface="Arial"/>
                <a:ea typeface="Malgun Gothic"/>
                <a:cs typeface="Malgun Gothic"/>
              </a:rPr>
              <a:t> 칸마다 메시의 의미 클래스로 비용(0–2)을 매기고, 가우시안 필터로 분류 오류를 지운다. 비용이 평평한 넓은 영역에도 기울기가 생기도록 가장 가까운 클래스 경계 쪽으로 부호 거리 기울기를 넣는다. 가장 싼 영역에서는 그 기울기를 뒤집어 경로를 복도 가운데로 민다. 마지막으로 가우시안 필터를 한 번 더 건다.</a:t>
            </a:r>
          </a:p>
        </p:txBody>
      </p:sp>
      <p:sp>
        <p:nvSpPr>
          <p:cNvPr id="13" name="TextBox 12"/>
          <p:cNvSpPr txBox="1"/>
          <p:nvPr/>
        </p:nvSpPr>
        <p:spPr>
          <a:xfrm>
            <a:off x="609600" y="4952107"/>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시뮬레이션 비교(Table II).</a:t>
            </a:r>
            <a:r>
              <a:rPr sz="1050" b="0" i="0">
                <a:solidFill>
                  <a:srgbClr val="16213A"/>
                </a:solidFill>
                <a:latin typeface="Arial"/>
                <a:ea typeface="Malgun Gothic"/>
                <a:cs typeface="Malgun Gothic"/>
              </a:rPr>
              <a:t> 환경마다 무작위 출발·목표 쌍 500개를 썼고, 목표 0.5 m 안이면 도달이다. 의미 비용은 의미 비용 지도로 잰 경로 비용이다.</a:t>
            </a:r>
          </a:p>
        </p:txBody>
      </p:sp>
      <p:sp>
        <p:nvSpPr>
          <p:cNvPr id="14" name="TextBox 13"/>
          <p:cNvSpPr txBox="1"/>
          <p:nvPr/>
        </p:nvSpPr>
        <p:spPr>
          <a:xfrm>
            <a:off x="609600" y="5257502"/>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5개(문단·식·그림)는 대시보드 리서치 탭의 "자세히: ViPlanner가 iPlanner 손실에서 바꾼 것과 시뮬레이션 수치" 토글에 있다.</a:t>
            </a: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B.14 ETH RSL(Marco Hutter)의 계보: 높이 지도에서 배달로봇까지</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217 / 516</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학습 전방 동역학 모델(FDM) — 높이 스캔과 최근 움직임을 보고, 이 명령열을 내면 5초 동안 어디로 가고 언제 실패할지를 예측해 MPPI에 넣는다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arXiv:2504.19322</a:t>
            </a:r>
            <a:r>
              <a:rPr sz="1050" b="0" i="0">
                <a:solidFill>
                  <a:srgbClr val="16213A"/>
                </a:solidFill>
                <a:latin typeface="Arial"/>
                <a:ea typeface="Malgun Gothic"/>
                <a:cs typeface="Malgun Gothic"/>
              </a:rPr>
              <a:t>, Roth·Frey·Cadena·Hutter, RSS 2025, </a:t>
            </a:r>
            <a:r>
              <a:rPr sz="1050" b="0" i="0">
                <a:solidFill>
                  <a:srgbClr val="1D4ED8"/>
                </a:solidFill>
                <a:latin typeface="Arial"/>
                <a:ea typeface="Malgun Gothic"/>
                <a:cs typeface="Malgun Gothic"/>
                <a:hlinkClick r:id="rId4"/>
              </a:rPr>
              <a:t>프로젝트</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5"/>
              </a:rPr>
              <a:t>코드</a:t>
            </a:r>
            <a:r>
              <a:rPr sz="1050" b="0" i="0">
                <a:solidFill>
                  <a:srgbClr val="16213A"/>
                </a:solidFill>
                <a:latin typeface="Arial"/>
                <a:ea typeface="Malgun Gothic"/>
                <a:cs typeface="Malgun Gothic"/>
              </a:rPr>
              <a:t>, BSD-3-Clause). ViPlanner를 쓴 Pascal Roth가 1저자다. MPPI(배경 0.2)의 비용을 경사·턱·거칠기로 손으로 짜는 대신, 로봇과 그 보행 정책이 실제로 어떻게 움직이고 언제 실패하는지를 데이터로 배운다. 그러면 MPPI에 남는 보상은 목표까지의 거리와 실패 위험 두 항이다.</a:t>
            </a:r>
          </a:p>
        </p:txBody>
      </p:sp>
      <p:sp>
        <p:nvSpPr>
          <p:cNvPr id="6" name="TextBox 5"/>
          <p:cNvSpPr txBox="1"/>
          <p:nvPr/>
        </p:nvSpPr>
        <p:spPr>
          <a:xfrm>
            <a:off x="609600" y="1982986"/>
            <a:ext cx="10972800" cy="86598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입력은 셋이다. 첫째는 로봇 둘레의 높이 스캔 한 장이다. 둘째는 0.05 s 간격 10스텝(0.5 s)의 자세와 proprioception 이력이다. 셋째는 앞으로 보낼 속도 명령 10개(0.5 s 간격으로 5 s)다. 머리는 둘이다. 하나는 명령과 실제 속도의 차이를 내고, 다른 하나는 스텝별 실패 확률을 낸다. 자세는 명령에 그 차이를 더한 속도를 적분해 얻는다. 시뮬 네 종류 환경에서 5 s 뒤 위치 오차는 2D LiDAR를 쓰는 앞선 FDM(Kim 2022, MPC 문서 M.1.3)보다 41%, 등속 가정보다 71% 작았다. 계단과 경사로가 있는 3D 환경의 MPPI 성공률은 73.8%로, Kim 2022 FDM(48.8%)과 손으로 짠 높이 지도 traversability(33.1%)를 앞섰다.</a:t>
            </a:r>
          </a:p>
        </p:txBody>
      </p:sp>
      <p:sp>
        <p:nvSpPr>
          <p:cNvPr id="7" name="TextBox 6"/>
          <p:cNvSpPr txBox="1"/>
          <p:nvPr/>
        </p:nvSpPr>
        <p:spPr>
          <a:xfrm>
            <a:off x="609600" y="2937867"/>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FDM도 명령한 twist와 실제 twist의 차이를 배우는 잔차 모델이라, travplan의 GP 잔차(TP-0068)와 같은 자리를 채운다.</a:t>
            </a:r>
            <a:r>
              <a:rPr sz="1050" b="0" i="0">
                <a:solidFill>
                  <a:srgbClr val="16213A"/>
                </a:solidFill>
                <a:latin typeface="Arial"/>
                <a:ea typeface="Malgun Gothic"/>
                <a:cs typeface="Malgun Gothic"/>
              </a:rPr>
              <a:t> 명목 모델도 거의 같다. 명령한 twist가 그대로 실현된다고 보고 적분한다. travplan의 </a:t>
            </a:r>
            <a:r>
              <a:rPr sz="1050" b="0" i="0">
                <a:solidFill>
                  <a:srgbClr val="16213A"/>
                </a:solidFill>
                <a:latin typeface="Consolas"/>
                <a:ea typeface="Malgun Gothic"/>
                <a:cs typeface="Malgun Gothic"/>
              </a:rPr>
              <a:t>SwerveModel</a:t>
            </a:r>
            <a:r>
              <a:rPr sz="1050" b="0" i="0">
                <a:solidFill>
                  <a:srgbClr val="16213A"/>
                </a:solidFill>
                <a:latin typeface="Arial"/>
                <a:ea typeface="Malgun Gothic"/>
                <a:cs typeface="Malgun Gothic"/>
              </a:rPr>
              <a:t>은 여기에 속도·가속 한계를 더했을 뿐이다. 처음 쓸 곳은 MPPI rollout이 아니라 Planner D 선택기다. FDM은 0.5 s 간격으로 5 s를 본다. Orin에서 명령열 2,048개를 한 번 추론하는 데 40.6 ms가 걸렸고, 탑재 계획은 7 Hz로 돈다. travplan MPPI는 0.1 s마다 768개를 4 s 굴린다(배경 0.2). Planner D는 후보 16개만 채점하므로 부담이 작다. 학습 FDM 계획(TP-0126)에 더할 장치, 실패 라벨, GP 잔차와의 차이는 아래 토글 끝에 있다.</a:t>
            </a: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B.14 ETH RSL(Marco Hutter)의 계보: 높이 지도에서 배달로봇까지</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218 / 516</a:t>
            </a:r>
          </a:p>
        </p:txBody>
      </p:sp>
      <p:pic>
        <p:nvPicPr>
          <p:cNvPr id="5" name="Picture 4" descr="image.jpg"/>
          <p:cNvPicPr>
            <a:picLocks noChangeAspect="1"/>
          </p:cNvPicPr>
          <p:nvPr/>
        </p:nvPicPr>
        <p:blipFill>
          <a:blip r:embed="rId3"/>
          <a:stretch>
            <a:fillRect/>
          </a:stretch>
        </p:blipFill>
        <p:spPr>
          <a:xfrm>
            <a:off x="609600" y="1244600"/>
            <a:ext cx="4806950" cy="2667000"/>
          </a:xfrm>
          <a:prstGeom prst="rect">
            <a:avLst/>
          </a:prstGeom>
        </p:spPr>
      </p:pic>
      <p:sp>
        <p:nvSpPr>
          <p:cNvPr id="6" name="TextBox 5"/>
          <p:cNvSpPr txBox="1"/>
          <p:nvPr/>
        </p:nvSpPr>
        <p:spPr>
          <a:xfrm>
            <a:off x="609600" y="3949700"/>
            <a:ext cx="5410200" cy="568722"/>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FDM (Fig. 1): (A) 옥상 테라스의 ANYmal과 후보 명령열 10개. 색은 보상이고(빨강 낮음, 파랑 높음), 목표에 가장 가까우면서 충돌하지 않는 경로가 가장 높다. 오른쪽 위는 실내외를 잇는 주행 경로와 waypoint이고, 그 아래는 FDM이 앞 자세와 위험을 예측하면 MPPI가 보상 최대 명령을 고르는 흐름이다. (B–E) 실내 실험실·복도와 옥상 정원에서의 계획 장면(초록이 고른 궤적). 출처: GitHub leggedrobotics/fdm</a:t>
            </a:r>
          </a:p>
        </p:txBody>
      </p:sp>
      <p:pic>
        <p:nvPicPr>
          <p:cNvPr id="7" name="Picture 6" descr="image.jpg"/>
          <p:cNvPicPr>
            <a:picLocks noChangeAspect="1"/>
          </p:cNvPicPr>
          <p:nvPr/>
        </p:nvPicPr>
        <p:blipFill>
          <a:blip r:embed="rId4"/>
          <a:stretch>
            <a:fillRect/>
          </a:stretch>
        </p:blipFill>
        <p:spPr>
          <a:xfrm>
            <a:off x="6172200" y="1244600"/>
            <a:ext cx="5410200" cy="1054100"/>
          </a:xfrm>
          <a:prstGeom prst="rect">
            <a:avLst/>
          </a:prstGeom>
        </p:spPr>
      </p:pic>
      <p:sp>
        <p:nvSpPr>
          <p:cNvPr id="8" name="TextBox 7"/>
          <p:cNvSpPr txBox="1"/>
          <p:nvPr/>
        </p:nvSpPr>
        <p:spPr>
          <a:xfrm>
            <a:off x="6172200" y="2336800"/>
            <a:ext cx="5410200" cy="42654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FDM 학습 (Fig. 2): 시뮬(무작위 시간 상관 명령과 FDM 기반 계획기 명령)과 실물에서 모은 궤적을 재생 버퍼에 넣고 표본을 뽑는다. 상태·proprioception 이력은 GRU가, 높이 스캔은 합성곱 인코더가 읽는다. 명령 인코딩을 받는 예측 GRU의 출력에서 두 머리가 속도 보정(적분해 위치와 방향)과 실패 확률을 낸다. 출처: arXiv:2504.19322</a:t>
            </a: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B.14 ETH RSL(Marco Hutter)의 계보: 높이 지도에서 배달로봇까지</a:t>
            </a:r>
            <a:r>
              <a:rPr sz="1050" b="0" i="0">
                <a:solidFill>
                  <a:srgbClr val="5A6478"/>
                </a:solidFill>
                <a:latin typeface="Arial"/>
                <a:ea typeface="Malgun Gothic"/>
                <a:cs typeface="Malgun Gothic"/>
              </a:rPr>
              <a:t>  자세히: FDM의 방법과 수식, 그리고 GP 잔차와의 차이</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219 / 516</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풀려는 문제.</a:t>
            </a:r>
            <a:r>
              <a:rPr sz="1050" b="0" i="0">
                <a:solidFill>
                  <a:srgbClr val="16213A"/>
                </a:solidFill>
                <a:latin typeface="Arial"/>
                <a:ea typeface="Malgun Gothic"/>
                <a:cs typeface="Malgun Gothic"/>
              </a:rPr>
              <a:t> 샘플링 계획은 후보 명령열을 굴려 볼 동역학 모델과, 결과를 매길 비용이 필요하다. 보통 모델은 명령대로 움직인다는 단순 모델이고, 비용은 높이 지도에서 경사와 턱을 손으로 매긴 traversability다. 이 비용은 환경마다 다시 맞춰야 한다. 논문 그림 11이 그 예다. 높이 기반 휴리스틱(Wellhausen·Hutter)은 오를 수 있는 계단과 너무 가파른 경사로에 비슷한 점수를 준다. 앞선 학습 FDM(Kim 2022)은 2D LiDAR만 봐서 계단과 벽을 가르지 못했다. FDM은 높이 스캔과 proprioception 이력을 보고, 로봇과 그 보행 정책이 실제로 어떻게 움직이고 언제 실패하는지를 배운다.</a:t>
            </a:r>
          </a:p>
        </p:txBody>
      </p:sp>
      <p:sp>
        <p:nvSpPr>
          <p:cNvPr id="6" name="TextBox 5"/>
          <p:cNvSpPr txBox="1"/>
          <p:nvPr/>
        </p:nvSpPr>
        <p:spPr>
          <a:xfrm>
            <a:off x="609600" y="1982986"/>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입력과 출력(표 I).</a:t>
            </a:r>
            <a:r>
              <a:rPr sz="1050" b="0" i="0">
                <a:solidFill>
                  <a:srgbClr val="16213A"/>
                </a:solidFill>
                <a:latin typeface="Arial"/>
                <a:ea typeface="Malgun Gothic"/>
                <a:cs typeface="Malgun Gothic"/>
              </a:rPr>
              <a:t> 높이 스캔 </a:t>
            </a:r>
            <a:r>
              <a:rPr sz="1050" b="0" i="1">
                <a:solidFill>
                  <a:srgbClr val="16213A"/>
                </a:solidFill>
                <a:latin typeface="Arial"/>
                <a:ea typeface="Malgun Gothic"/>
                <a:cs typeface="Malgun Gothic"/>
              </a:rPr>
              <a:t>hₜ</a:t>
            </a:r>
            <a:r>
              <a:rPr sz="1050" b="0" i="0">
                <a:solidFill>
                  <a:srgbClr val="16213A"/>
                </a:solidFill>
                <a:latin typeface="Arial"/>
                <a:ea typeface="Malgun Gothic"/>
                <a:cs typeface="Malgun Gothic"/>
              </a:rPr>
              <a:t>, 상태·proprioception 이력 </a:t>
            </a:r>
            <a:r>
              <a:rPr sz="1050" b="0" i="1">
                <a:solidFill>
                  <a:srgbClr val="16213A"/>
                </a:solidFill>
                <a:latin typeface="Arial"/>
                <a:ea typeface="Malgun Gothic"/>
                <a:cs typeface="Malgun Gothic"/>
              </a:rPr>
              <a:t>s_(t-9:t)</a:t>
            </a:r>
            <a:r>
              <a:rPr sz="1050" b="0" i="0">
                <a:solidFill>
                  <a:srgbClr val="16213A"/>
                </a:solidFill>
                <a:latin typeface="Arial"/>
                <a:ea typeface="Malgun Gothic"/>
                <a:cs typeface="Malgun Gothic"/>
              </a:rPr>
              <a:t>, 명령열 </a:t>
            </a:r>
            <a:r>
              <a:rPr sz="1050" b="0" i="1">
                <a:solidFill>
                  <a:srgbClr val="16213A"/>
                </a:solidFill>
                <a:latin typeface="Arial"/>
                <a:ea typeface="Malgun Gothic"/>
                <a:cs typeface="Malgun Gothic"/>
              </a:rPr>
              <a:t>a_(t:t+9)</a:t>
            </a:r>
            <a:r>
              <a:rPr sz="1050" b="0" i="0">
                <a:solidFill>
                  <a:srgbClr val="16213A"/>
                </a:solidFill>
                <a:latin typeface="Arial"/>
                <a:ea typeface="Malgun Gothic"/>
                <a:cs typeface="Malgun Gothic"/>
              </a:rPr>
              <a:t>에서 앞 10스텝의 SE(2) 자세 </a:t>
            </a:r>
            <a:r>
              <a:rPr sz="1050" b="0" i="1">
                <a:solidFill>
                  <a:srgbClr val="16213A"/>
                </a:solidFill>
                <a:latin typeface="Arial"/>
                <a:ea typeface="Malgun Gothic"/>
                <a:cs typeface="Malgun Gothic"/>
              </a:rPr>
              <a:t>p̃</a:t>
            </a:r>
            <a:r>
              <a:rPr sz="1050" b="0" i="0">
                <a:solidFill>
                  <a:srgbClr val="16213A"/>
                </a:solidFill>
                <a:latin typeface="Arial"/>
                <a:ea typeface="Malgun Gothic"/>
                <a:cs typeface="Malgun Gothic"/>
              </a:rPr>
              <a:t>와 실패 확률 </a:t>
            </a:r>
            <a:r>
              <a:rPr sz="1050" b="0" i="1">
                <a:solidFill>
                  <a:srgbClr val="16213A"/>
                </a:solidFill>
                <a:latin typeface="Arial"/>
                <a:ea typeface="Malgun Gothic"/>
                <a:cs typeface="Malgun Gothic"/>
              </a:rPr>
              <a:t>r̃</a:t>
            </a:r>
            <a:r>
              <a:rPr sz="1050" b="0" i="0">
                <a:solidFill>
                  <a:srgbClr val="16213A"/>
                </a:solidFill>
                <a:latin typeface="Arial"/>
                <a:ea typeface="Malgun Gothic"/>
                <a:cs typeface="Malgun Gothic"/>
              </a:rPr>
              <a:t>을 낸다.</a:t>
            </a:r>
          </a:p>
        </p:txBody>
      </p:sp>
      <p:pic>
        <p:nvPicPr>
          <p:cNvPr id="7" name="Picture 6" descr="image.png"/>
          <p:cNvPicPr>
            <a:picLocks noChangeAspect="1"/>
          </p:cNvPicPr>
          <p:nvPr/>
        </p:nvPicPr>
        <p:blipFill>
          <a:blip r:embed="rId3"/>
          <a:stretch>
            <a:fillRect/>
          </a:stretch>
        </p:blipFill>
        <p:spPr>
          <a:xfrm>
            <a:off x="609600" y="2288381"/>
            <a:ext cx="3025775" cy="241300"/>
          </a:xfrm>
          <a:prstGeom prst="rect">
            <a:avLst/>
          </a:prstGeom>
        </p:spPr>
      </p:pic>
      <p:sp>
        <p:nvSpPr>
          <p:cNvPr id="8" name="TextBox 7"/>
          <p:cNvSpPr txBox="1"/>
          <p:nvPr/>
        </p:nvSpPr>
        <p:spPr>
          <a:xfrm>
            <a:off x="609600" y="2565896"/>
            <a:ext cx="10972800" cy="1133277"/>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명령: 전진·횡·회전 속도 </a:t>
            </a:r>
            <a:r>
              <a:rPr sz="1050" b="0" i="1">
                <a:solidFill>
                  <a:srgbClr val="16213A"/>
                </a:solidFill>
                <a:latin typeface="Arial"/>
                <a:ea typeface="Malgun Gothic"/>
                <a:cs typeface="Malgun Gothic"/>
              </a:rPr>
              <a:t>a ∈ ℝ³</a:t>
            </a:r>
            <a:r>
              <a:rPr sz="1050" b="0" i="0">
                <a:solidFill>
                  <a:srgbClr val="16213A"/>
                </a:solidFill>
                <a:latin typeface="Arial"/>
                <a:ea typeface="Malgun Gothic"/>
                <a:cs typeface="Malgun Gothic"/>
              </a:rPr>
              <a:t> 10개, 0.5 s 간격.</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이력: 0.05 s 간격 10스텝의 자세와 proprioception 일곱 가지다. 명령·중력 방향·몸체 선속도와 각속도·관절 위치와 속도·직전 관절 행동 둘이다. 시뮬 표본에는 균등 잡음을 더한다(선속도 ±0.1, 각속도 ±0.2, 관절 속도 ±1.5 등).</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높이 스캔 한 장: ±0.1 균등 잡음을 더하고, 빠진 조각을 만들고, 깊이 카메라에서 직선으로 보이지 않는 칸을 가린다. 크기는 본문에 없다. 공개 코드 기본값은 0.1 m 해상도의 4.5 m × 5.9 m이고 로봇 앞으로 1.75 m 치우쳐 있다(</a:t>
            </a:r>
            <a:r>
              <a:rPr sz="1050" b="0" i="0">
                <a:solidFill>
                  <a:srgbClr val="16213A"/>
                </a:solidFill>
                <a:latin typeface="Consolas"/>
                <a:ea typeface="Malgun Gothic"/>
                <a:cs typeface="Malgun Gothic"/>
              </a:rPr>
              <a:t>env_cfg_height.py</a:t>
            </a:r>
            <a:r>
              <a:rPr sz="1050" b="0" i="0">
                <a:solidFill>
                  <a:srgbClr val="16213A"/>
                </a:solidFill>
                <a:latin typeface="Arial"/>
                <a:ea typeface="Malgun Gothic"/>
                <a:cs typeface="Malgun Gothic"/>
              </a:rPr>
              <a:t>).</a:t>
            </a:r>
          </a:p>
        </p:txBody>
      </p:sp>
      <p:sp>
        <p:nvSpPr>
          <p:cNvPr id="9" name="TextBox 8"/>
          <p:cNvSpPr txBox="1"/>
          <p:nvPr/>
        </p:nvSpPr>
        <p:spPr>
          <a:xfrm>
            <a:off x="609600" y="3788073"/>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잔차 구조.</a:t>
            </a:r>
            <a:r>
              <a:rPr sz="1050" b="0" i="0">
                <a:solidFill>
                  <a:srgbClr val="16213A"/>
                </a:solidFill>
                <a:latin typeface="Arial"/>
                <a:ea typeface="Malgun Gothic"/>
                <a:cs typeface="Malgun Gothic"/>
              </a:rPr>
              <a:t> 망은 자세를 바로 내지 않는다. 스텝마다 명령과 실제 속도의 차 </a:t>
            </a:r>
            <a:r>
              <a:rPr sz="1050" b="0" i="1">
                <a:solidFill>
                  <a:srgbClr val="16213A"/>
                </a:solidFill>
                <a:latin typeface="Arial"/>
                <a:ea typeface="Malgun Gothic"/>
                <a:cs typeface="Malgun Gothic"/>
              </a:rPr>
              <a:t>Δãₖ</a:t>
            </a:r>
            <a:r>
              <a:rPr sz="1050" b="0" i="0">
                <a:solidFill>
                  <a:srgbClr val="16213A"/>
                </a:solidFill>
                <a:latin typeface="Arial"/>
                <a:ea typeface="Malgun Gothic"/>
                <a:cs typeface="Malgun Gothic"/>
              </a:rPr>
              <a:t>를 내고, 명령에 더한 속도를 등속으로 적분한다. </a:t>
            </a:r>
            <a:r>
              <a:rPr sz="1050" b="0" i="1">
                <a:solidFill>
                  <a:srgbClr val="16213A"/>
                </a:solidFill>
                <a:latin typeface="Arial"/>
                <a:ea typeface="Malgun Gothic"/>
                <a:cs typeface="Malgun Gothic"/>
              </a:rPr>
              <a:t>⊕</a:t>
            </a:r>
            <a:r>
              <a:rPr sz="1050" b="0" i="0">
                <a:solidFill>
                  <a:srgbClr val="16213A"/>
                </a:solidFill>
                <a:latin typeface="Arial"/>
                <a:ea typeface="Malgun Gothic"/>
                <a:cs typeface="Malgun Gothic"/>
              </a:rPr>
              <a:t>는 몸체 속도를 한 스텝 적분해 SE(2) 자세에 붙이는 연산이다.</a:t>
            </a:r>
          </a:p>
        </p:txBody>
      </p:sp>
      <p:pic>
        <p:nvPicPr>
          <p:cNvPr id="10" name="Picture 9" descr="image.png"/>
          <p:cNvPicPr>
            <a:picLocks noChangeAspect="1"/>
          </p:cNvPicPr>
          <p:nvPr/>
        </p:nvPicPr>
        <p:blipFill>
          <a:blip r:embed="rId4"/>
          <a:stretch>
            <a:fillRect/>
          </a:stretch>
        </p:blipFill>
        <p:spPr>
          <a:xfrm>
            <a:off x="609600" y="4093468"/>
            <a:ext cx="4095750" cy="241300"/>
          </a:xfrm>
          <a:prstGeom prst="rect">
            <a:avLst/>
          </a:prstGeom>
        </p:spPr>
      </p:pic>
      <p:sp>
        <p:nvSpPr>
          <p:cNvPr id="11" name="TextBox 10"/>
          <p:cNvSpPr txBox="1"/>
          <p:nvPr/>
        </p:nvSpPr>
        <p:spPr>
          <a:xfrm>
            <a:off x="609600" y="4370983"/>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구조(부록 C, ANYmal 기준).</a:t>
            </a:r>
            <a:r>
              <a:rPr sz="1050" b="0" i="0">
                <a:solidFill>
                  <a:srgbClr val="16213A"/>
                </a:solidFill>
                <a:latin typeface="Arial"/>
                <a:ea typeface="Malgun Gothic"/>
                <a:cs typeface="Malgun Gothic"/>
              </a:rPr>
              <a:t> 이력 GRU는 2층, 은닉 64다. 높이 스캔 CNN은 합성곱 4층(채널 32·64·128·256)이다. 명령 MLP는 3차원을 16차원으로 바꾼다. 이력 GRU의 마지막 출력과 높이 CNN 특징을 이은 문맥 벡터를 매 스텝 명령 인코딩에 붙여 예측 GRU(2층·은닉 128)에 넣는다(부록 C의 입력 596차원과 공개 코드). 본문 §V-B는 이 문맥을 '초기 은닉 상태'라고 적어 부록과 어긋난다. 예측 GRU의 10스텝 잠재를 이어 붙인 1,280차원을 두 머리가 읽는다. 속도 보정 머리는 30개(10스텝 × 3)를 내고, 실패 머리는 10개에 시그모이드를 씌운다. 모두 116만 파라미터다. 공개 코드에는 논문에 없는 마찰 예측 머리(문맥 4차원)도 있다.</a:t>
            </a:r>
          </a:p>
        </p:txBody>
      </p:sp>
      <p:sp>
        <p:nvSpPr>
          <p:cNvPr id="12" name="TextBox 11"/>
          <p:cNvSpPr txBox="1"/>
          <p:nvPr/>
        </p:nvSpPr>
        <p:spPr>
          <a:xfrm>
            <a:off x="609600" y="5325864"/>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19개(문단·식·그림)는 대시보드 리서치 탭의 "자세히: FDM의 방법과 수식, 그리고 GP 잔차와의 차이" 토글에 있다.</a:t>
            </a: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B.14 ETH RSL(Marco Hutter)의 계보: 높이 지도에서 배달로봇까지</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220 / 516</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SRU — 자기 운동을 입력으로 받아도 LSTM·GRU는 과거에 본 것을 지금 좌표로 옮기지 못하고, 원소별 곱 하나가 그것을 고친다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arXiv:2506.05997</a:t>
            </a:r>
            <a:r>
              <a:rPr sz="1050" b="0" i="0">
                <a:solidFill>
                  <a:srgbClr val="16213A"/>
                </a:solidFill>
                <a:latin typeface="Arial"/>
                <a:ea typeface="Malgun Gothic"/>
                <a:cs typeface="Malgun Gothic"/>
              </a:rPr>
              <a:t>, Yang·Frivik·Hoeller·Wang·Cadena·Hutter, IJRR 45(11), 2026(온라인 2025-12), </a:t>
            </a:r>
            <a:r>
              <a:rPr sz="1050" b="0" i="0">
                <a:solidFill>
                  <a:srgbClr val="1D4ED8"/>
                </a:solidFill>
                <a:latin typeface="Arial"/>
                <a:ea typeface="Malgun Gothic"/>
                <a:cs typeface="Malgun Gothic"/>
                <a:hlinkClick r:id="rId4"/>
              </a:rPr>
              <a:t>프로젝트</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5"/>
              </a:rPr>
              <a:t>코드</a:t>
            </a:r>
            <a:r>
              <a:rPr sz="1050" b="0" i="0">
                <a:solidFill>
                  <a:srgbClr val="16213A"/>
                </a:solidFill>
                <a:latin typeface="Arial"/>
                <a:ea typeface="Malgun Gothic"/>
                <a:cs typeface="Malgun Gothic"/>
              </a:rPr>
              <a:t>). iPlanner(B.4b)를 쓴 Fan Yang이 1저자다. 앞을 보는 스테레오 깊이 카메라 하나와 상대 목표만으로, 지도 없이 막다른 길을 되돌아 나오는 내비게이션 정책을 강화학습으로 끝에서 끝까지 배웠다.</a:t>
            </a:r>
          </a:p>
        </p:txBody>
      </p:sp>
      <p:sp>
        <p:nvSpPr>
          <p:cNvPr id="6" name="TextBox 5"/>
          <p:cNvSpPr txBox="1"/>
          <p:nvPr/>
        </p:nvSpPr>
        <p:spPr>
          <a:xfrm>
            <a:off x="609600" y="1982986"/>
            <a:ext cx="10972800" cy="86598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먼저 작은 과제로 순환망의 약점을 보였다. 로봇이 움직이며 본 랜드마크를 마지막 로봇 좌표로 옮겨 말해야 하는 과제다. LSTM·GRU·S4·Mamba는 모두 라벨은 맞혔지만 좌표는 옮기지 못했다(Fig. 1b). SRU(spatially-enhanced recurrent unit)는 LSTM이나 GRU 후보 상태의 tanh 안에, 입력의 아핀 사상 </a:t>
            </a:r>
            <a:r>
              <a:rPr sz="1050" b="0" i="1">
                <a:solidFill>
                  <a:srgbClr val="16213A"/>
                </a:solidFill>
                <a:latin typeface="Arial"/>
                <a:ea typeface="Malgun Gothic"/>
                <a:cs typeface="Malgun Gothic"/>
              </a:rPr>
              <a:t>sₜ</a:t>
            </a:r>
            <a:r>
              <a:rPr sz="1050" b="0" i="0">
                <a:solidFill>
                  <a:srgbClr val="16213A"/>
                </a:solidFill>
                <a:latin typeface="Arial"/>
                <a:ea typeface="Malgun Gothic"/>
                <a:cs typeface="Malgun Gothic"/>
              </a:rPr>
              <a:t>를 원소별로 곱한다. 동차 변환이 곱의 꼴이라는 데서 착안했다. 시뮬 미로·기둥·계단·구덩이 120개 환경 4,800 에피소드에서 성공률은 LSTM 63.5%, GRU 61.0%에서 SRU 78.9%로 올랐다. 실물은 RIVR의 보행 정책을 올린 Unitree B2W다. 실물 데이터로 다듬지 않고도 사무실의 막다른 곳 둘을 되돌아 나왔다.</a:t>
            </a:r>
          </a:p>
        </p:txBody>
      </p:sp>
      <p:sp>
        <p:nvSpPr>
          <p:cNvPr id="7" name="TextBox 6"/>
          <p:cNvSpPr txBox="1"/>
          <p:nvPr/>
        </p:nvSpPr>
        <p:spPr>
          <a:xfrm>
            <a:off x="609600" y="2937867"/>
            <a:ext cx="10972800" cy="108247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SRU의 공간 기억 실험이 지지하는 것은 '정합을 일반 순환망에 맡기지 말라'다. travplan은 그 정합을 오도메트리로 명시적으로 한다. L1 매퍼는 로봇 중심 지도를 갱신마다 세계 고정 격자에 붙여 넣고(</a:t>
            </a:r>
            <a:r>
              <a:rPr sz="1050" b="0" i="0">
                <a:solidFill>
                  <a:srgbClr val="16213A"/>
                </a:solidFill>
                <a:latin typeface="Consolas"/>
                <a:ea typeface="Malgun Gothic"/>
                <a:cs typeface="Malgun Gothic"/>
              </a:rPr>
              <a:t>perception/emap_mapper.py</a:t>
            </a:r>
            <a:r>
              <a:rPr sz="1050" b="0" i="0">
                <a:solidFill>
                  <a:srgbClr val="16213A"/>
                </a:solidFill>
                <a:latin typeface="Arial"/>
                <a:ea typeface="Malgun Gothic"/>
                <a:cs typeface="Malgun Gothic"/>
              </a:rPr>
              <a:t>), Planner D는 그 지도에서 로봇 방향으로 돌린 6.4 m 크롭을 받는다(</a:t>
            </a:r>
            <a:r>
              <a:rPr sz="1050" b="0" i="0">
                <a:solidFill>
                  <a:srgbClr val="16213A"/>
                </a:solidFill>
                <a:latin typeface="Consolas"/>
                <a:ea typeface="Malgun Gothic"/>
                <a:cs typeface="Malgun Gothic"/>
              </a:rPr>
              <a:t>planners/learned/obs.py</a:t>
            </a:r>
            <a:r>
              <a:rPr sz="1050" b="0" i="0">
                <a:solidFill>
                  <a:srgbClr val="16213A"/>
                </a:solidFill>
                <a:latin typeface="Arial"/>
                <a:ea typeface="Malgun Gothic"/>
                <a:cs typeface="Malgun Gothic"/>
              </a:rPr>
              <a:t>). 다만 논문의 주 결과는 반대 방향이다. B.14.4 도시 내비의 명시 지도 방식(EMHP, explicit mapping and historical path)을 같은 조건으로 다시 학습해 맞대면, SRU 암묵 기억이 60.4% 대 78.3%로 이겼다. 그 기준선의 약점은 지도 자체가 아니라 고정 길이 위치 기록(약 20 m)과 국소 지도였다. travplan처럼 세계 고정 격자에 쌓는 지도와 맞댄 실험은 없다. 그래서 이 논문은 travplan의 지도 선택을 지지하지도 반박하지도 않는다. 기억이 필요해질 자리는 아래 토글 끝에 있다.</a:t>
            </a:r>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B.14 ETH RSL(Marco Hutter)의 계보: 높이 지도에서 배달로봇까지</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221 / 516</a:t>
            </a:r>
          </a:p>
        </p:txBody>
      </p:sp>
      <p:pic>
        <p:nvPicPr>
          <p:cNvPr id="5" name="Picture 4" descr="image.jpg"/>
          <p:cNvPicPr>
            <a:picLocks noChangeAspect="1"/>
          </p:cNvPicPr>
          <p:nvPr/>
        </p:nvPicPr>
        <p:blipFill>
          <a:blip r:embed="rId3"/>
          <a:stretch>
            <a:fillRect/>
          </a:stretch>
        </p:blipFill>
        <p:spPr>
          <a:xfrm>
            <a:off x="609600" y="1244600"/>
            <a:ext cx="3994150" cy="2667000"/>
          </a:xfrm>
          <a:prstGeom prst="rect">
            <a:avLst/>
          </a:prstGeom>
        </p:spPr>
      </p:pic>
      <p:sp>
        <p:nvSpPr>
          <p:cNvPr id="6" name="TextBox 5"/>
          <p:cNvSpPr txBox="1"/>
          <p:nvPr/>
        </p:nvSpPr>
        <p:spPr>
          <a:xfrm>
            <a:off x="609600" y="3949700"/>
            <a:ext cx="5410200" cy="42654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SRU 공간 기억 과제 (Fig. 1b): 랜드마크 좌표를 마지막 로봇 좌표로 옮겨 기억하는 손실(MSE). GRU, LSTM, S4, Mamba는 학습 끝까지 약 5–9에 머물고, SRU 셋(SRU-GRU, SRU-LSTM, SRU-Ours)은 0 가까이 내려간다. 라벨 순서를 기억하는 시간 과제(Fig. 1a)는 모든 망이 푼다. 출처: arXiv:2506.05997</a:t>
            </a:r>
          </a:p>
        </p:txBody>
      </p:sp>
      <p:pic>
        <p:nvPicPr>
          <p:cNvPr id="7" name="Picture 6" descr="image.jpg"/>
          <p:cNvPicPr>
            <a:picLocks noChangeAspect="1"/>
          </p:cNvPicPr>
          <p:nvPr/>
        </p:nvPicPr>
        <p:blipFill>
          <a:blip r:embed="rId4"/>
          <a:stretch>
            <a:fillRect/>
          </a:stretch>
        </p:blipFill>
        <p:spPr>
          <a:xfrm>
            <a:off x="6172200" y="1244600"/>
            <a:ext cx="3333750" cy="2667000"/>
          </a:xfrm>
          <a:prstGeom prst="rect">
            <a:avLst/>
          </a:prstGeom>
        </p:spPr>
      </p:pic>
      <p:sp>
        <p:nvSpPr>
          <p:cNvPr id="8" name="TextBox 7"/>
          <p:cNvSpPr txBox="1"/>
          <p:nvPr/>
        </p:nvSpPr>
        <p:spPr>
          <a:xfrm>
            <a:off x="6172200" y="3949700"/>
            <a:ext cx="5410200" cy="42654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SRU 실물 시험 (Fig. 17a): 지나갈 길 몇 곳을 막아 둔 사무실에서 Unitree B2W가 SRU 정책으로 출발점에서 목표까지 간 궤적(주황). A, B, C 순서로 지나며 막다른 곳 둘을 만나고 되돌아 나와 목표에 닿았다. A 구역의 막이는 처음에 두었다가 주행 중에 치웠다. 아래 사진은 각 구역의 로봇이다. 같은 조건의 LSTM 정책은 B와 C 사이를 맴돌았다(Fig. 17b). 출처: arXiv:2506.05997</a:t>
            </a:r>
          </a:p>
        </p:txBody>
      </p:sp>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B.14 ETH RSL(Marco Hutter)의 계보: 높이 지도에서 배달로봇까지</a:t>
            </a:r>
            <a:r>
              <a:rPr sz="1050" b="0" i="0">
                <a:solidFill>
                  <a:srgbClr val="5A6478"/>
                </a:solidFill>
                <a:latin typeface="Arial"/>
                <a:ea typeface="Malgun Gothic"/>
                <a:cs typeface="Malgun Gothic"/>
              </a:rPr>
              <a:t>  자세히: SRU의 방법과 수식, 실험 결과</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222 / 516</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풀려는 문제.</a:t>
            </a:r>
            <a:r>
              <a:rPr sz="1050" b="0" i="0">
                <a:solidFill>
                  <a:srgbClr val="16213A"/>
                </a:solidFill>
                <a:latin typeface="Arial"/>
                <a:ea typeface="Malgun Gothic"/>
                <a:cs typeface="Malgun Gothic"/>
              </a:rPr>
              <a:t> 끝에서 끝 강화학습 내비게이션은 지도를 따로 만들지 않고, 순환망의 은닉 상태에 과거 관측을 합친다. 고전 파이프라인은 같은 일을 동차 변환으로 한다. 과거 관측을 지금 로봇 좌표로 옮겨(정합) 한 지도에 쌓는다. 질문은 순환망이 이 정합을 스스로 배우느냐다. 저자들은 시간 기억(무엇을 어떤 순서로 봤나)과 공간 기억(본 것이 지금 어디 있나)을 나눠 쟀다. 일반 순환망은 앞의 것만 했다.</a:t>
            </a:r>
          </a:p>
        </p:txBody>
      </p:sp>
      <p:sp>
        <p:nvSpPr>
          <p:cNvPr id="6" name="TextBox 5"/>
          <p:cNvSpPr txBox="1"/>
          <p:nvPr/>
        </p:nvSpPr>
        <p:spPr>
          <a:xfrm>
            <a:off x="609600" y="1982986"/>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공간·시간 기억 과제(부록 A).</a:t>
            </a:r>
            <a:r>
              <a:rPr sz="1050" b="0" i="0">
                <a:solidFill>
                  <a:srgbClr val="16213A"/>
                </a:solidFill>
                <a:latin typeface="Arial"/>
                <a:ea typeface="Malgun Gothic"/>
                <a:cs typeface="Malgun Gothic"/>
              </a:rPr>
              <a:t> 매 스텝 입력은 셋이다. 지금 로봇 좌표로 본 랜드마크 좌표 </a:t>
            </a:r>
            <a:r>
              <a:rPr sz="1050" b="0" i="1">
                <a:solidFill>
                  <a:srgbClr val="16213A"/>
                </a:solidFill>
                <a:latin typeface="Arial"/>
                <a:ea typeface="Malgun Gothic"/>
                <a:cs typeface="Malgun Gothic"/>
              </a:rPr>
              <a:t>lⁱₜ</a:t>
            </a:r>
            <a:r>
              <a:rPr sz="1050" b="0" i="0">
                <a:solidFill>
                  <a:srgbClr val="16213A"/>
                </a:solidFill>
                <a:latin typeface="Arial"/>
                <a:ea typeface="Malgun Gothic"/>
                <a:cs typeface="Malgun Gothic"/>
              </a:rPr>
              <a:t>, 이진 라벨 </a:t>
            </a:r>
            <a:r>
              <a:rPr sz="1050" b="0" i="1">
                <a:solidFill>
                  <a:srgbClr val="16213A"/>
                </a:solidFill>
                <a:latin typeface="Arial"/>
                <a:ea typeface="Malgun Gothic"/>
                <a:cs typeface="Malgun Gothic"/>
              </a:rPr>
              <a:t>cⁱ</a:t>
            </a:r>
            <a:r>
              <a:rPr sz="1050" b="0" i="0">
                <a:solidFill>
                  <a:srgbClr val="16213A"/>
                </a:solidFill>
                <a:latin typeface="Arial"/>
                <a:ea typeface="Malgun Gothic"/>
                <a:cs typeface="Malgun Gothic"/>
              </a:rPr>
              <a:t>, 직전 자세에서 지금 자세로의 변환 </a:t>
            </a:r>
            <a:r>
              <a:rPr sz="1050" b="0" i="1">
                <a:solidFill>
                  <a:srgbClr val="16213A"/>
                </a:solidFill>
                <a:latin typeface="Arial"/>
                <a:ea typeface="Malgun Gothic"/>
                <a:cs typeface="Malgun Gothic"/>
              </a:rPr>
              <a:t>Mᵗ⁻¹ₜ</a:t>
            </a:r>
            <a:r>
              <a:rPr sz="1050" b="0" i="0">
                <a:solidFill>
                  <a:srgbClr val="16213A"/>
                </a:solidFill>
                <a:latin typeface="Arial"/>
                <a:ea typeface="Malgun Gothic"/>
                <a:cs typeface="Malgun Gothic"/>
              </a:rPr>
              <a:t>다. 마지막 스텝에서 은닉 상태만으로 모든 랜드마크를 마지막 좌표로 옮겨 회귀하고(MSE), 라벨을 순서대로 맞힌다(BCE). 자기 운동은 이동 ±2 m, 회전 ±π에서, 랜드마크는 ±5 m에서 무작위로 뽑는다. NAdam으로 1,000 에폭을 학습했다. 라벨은 모든 망이 맞혔다. 좌표 손실은 학습 끝에 S4와 Mamba가 약 8.5, LSTM이 약 6, GRU가 약 5.2에 머물렀다. SRU 셋은 전체의 약 3분의 2 지점에서 0 가까이 내려갔다(그림 1b를 읽은 값). 나선 경로 예(그림 2)에서 LSTM은 먼저 본 랜드마크일수록 크게 틀렸고, S4와 Mamba는 더 나빴다.</a:t>
            </a:r>
          </a:p>
        </p:txBody>
      </p:sp>
      <p:sp>
        <p:nvSpPr>
          <p:cNvPr id="7" name="TextBox 6"/>
          <p:cNvSpPr txBox="1"/>
          <p:nvPr/>
        </p:nvSpPr>
        <p:spPr>
          <a:xfrm>
            <a:off x="609600" y="2937867"/>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SRU.</a:t>
            </a:r>
            <a:r>
              <a:rPr sz="1050" b="0" i="0">
                <a:solidFill>
                  <a:srgbClr val="16213A"/>
                </a:solidFill>
                <a:latin typeface="Arial"/>
                <a:ea typeface="Malgun Gothic"/>
                <a:cs typeface="Malgun Gothic"/>
              </a:rPr>
              <a:t> LSTM의 후보 </a:t>
            </a:r>
            <a:r>
              <a:rPr sz="1050" b="0" i="1">
                <a:solidFill>
                  <a:srgbClr val="16213A"/>
                </a:solidFill>
                <a:latin typeface="Arial"/>
                <a:ea typeface="Malgun Gothic"/>
                <a:cs typeface="Malgun Gothic"/>
              </a:rPr>
              <a:t>gₜ</a:t>
            </a:r>
            <a:r>
              <a:rPr sz="1050" b="0" i="0">
                <a:solidFill>
                  <a:srgbClr val="16213A"/>
                </a:solidFill>
                <a:latin typeface="Arial"/>
                <a:ea typeface="Malgun Gothic"/>
                <a:cs typeface="Malgun Gothic"/>
              </a:rPr>
              <a:t> 계산에서 tanh 안에 입력의 아핀 사상 </a:t>
            </a:r>
            <a:r>
              <a:rPr sz="1050" b="0" i="1">
                <a:solidFill>
                  <a:srgbClr val="16213A"/>
                </a:solidFill>
                <a:latin typeface="Arial"/>
                <a:ea typeface="Malgun Gothic"/>
                <a:cs typeface="Malgun Gothic"/>
              </a:rPr>
              <a:t>sₜ</a:t>
            </a:r>
            <a:r>
              <a:rPr sz="1050" b="0" i="0">
                <a:solidFill>
                  <a:srgbClr val="16213A"/>
                </a:solidFill>
                <a:latin typeface="Arial"/>
                <a:ea typeface="Malgun Gothic"/>
                <a:cs typeface="Malgun Gothic"/>
              </a:rPr>
              <a:t>를 원소별로 곱한다. 나머지 게이트는 그대로다.</a:t>
            </a:r>
          </a:p>
        </p:txBody>
      </p:sp>
      <p:pic>
        <p:nvPicPr>
          <p:cNvPr id="8" name="Picture 7" descr="image.png"/>
          <p:cNvPicPr>
            <a:picLocks noChangeAspect="1"/>
          </p:cNvPicPr>
          <p:nvPr/>
        </p:nvPicPr>
        <p:blipFill>
          <a:blip r:embed="rId3"/>
          <a:stretch>
            <a:fillRect/>
          </a:stretch>
        </p:blipFill>
        <p:spPr>
          <a:xfrm>
            <a:off x="609600" y="3243262"/>
            <a:ext cx="4600575" cy="238125"/>
          </a:xfrm>
          <a:prstGeom prst="rect">
            <a:avLst/>
          </a:prstGeom>
        </p:spPr>
      </p:pic>
      <p:sp>
        <p:nvSpPr>
          <p:cNvPr id="9" name="TextBox 8"/>
          <p:cNvSpPr txBox="1"/>
          <p:nvPr/>
        </p:nvSpPr>
        <p:spPr>
          <a:xfrm>
            <a:off x="609600" y="3520777"/>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GRU판(SRU-GRU)은 후보 </a:t>
            </a:r>
            <a:r>
              <a:rPr sz="1050" b="0" i="1">
                <a:solidFill>
                  <a:srgbClr val="16213A"/>
                </a:solidFill>
                <a:latin typeface="Arial"/>
                <a:ea typeface="Malgun Gothic"/>
                <a:cs typeface="Malgun Gothic"/>
              </a:rPr>
              <a:t>h̃ₜ</a:t>
            </a:r>
            <a:r>
              <a:rPr sz="1050" b="0" i="0">
                <a:solidFill>
                  <a:srgbClr val="16213A"/>
                </a:solidFill>
                <a:latin typeface="Arial"/>
                <a:ea typeface="Malgun Gothic"/>
                <a:cs typeface="Malgun Gothic"/>
              </a:rPr>
              <a:t>의 tanh 안에 같은 곱을 넣는다. 최종판(SRU-Ours)은 SRU-LSTM에 게이트 포화를 줄이는 정제 게이트(Gu 외 2020)를 더했다.</a:t>
            </a:r>
          </a:p>
        </p:txBody>
      </p:sp>
      <p:pic>
        <p:nvPicPr>
          <p:cNvPr id="10" name="Picture 9" descr="image.png"/>
          <p:cNvPicPr>
            <a:picLocks noChangeAspect="1"/>
          </p:cNvPicPr>
          <p:nvPr/>
        </p:nvPicPr>
        <p:blipFill>
          <a:blip r:embed="rId4"/>
          <a:stretch>
            <a:fillRect/>
          </a:stretch>
        </p:blipFill>
        <p:spPr>
          <a:xfrm>
            <a:off x="609600" y="3826173"/>
            <a:ext cx="5343525" cy="241300"/>
          </a:xfrm>
          <a:prstGeom prst="rect">
            <a:avLst/>
          </a:prstGeom>
        </p:spPr>
      </p:pic>
      <p:sp>
        <p:nvSpPr>
          <p:cNvPr id="11" name="TextBox 10"/>
          <p:cNvSpPr txBox="1"/>
          <p:nvPr/>
        </p:nvSpPr>
        <p:spPr>
          <a:xfrm>
            <a:off x="609600" y="4103688"/>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저자가 든 착안은 둘이다. 동차 변환 </a:t>
            </a:r>
            <a:r>
              <a:rPr sz="1050" b="0" i="1">
                <a:solidFill>
                  <a:srgbClr val="16213A"/>
                </a:solidFill>
                <a:latin typeface="Arial"/>
                <a:ea typeface="Malgun Gothic"/>
                <a:cs typeface="Malgun Gothic"/>
              </a:rPr>
              <a:t>p' = Rp + t</a:t>
            </a:r>
            <a:r>
              <a:rPr sz="1050" b="0" i="0">
                <a:solidFill>
                  <a:srgbClr val="16213A"/>
                </a:solidFill>
                <a:latin typeface="Arial"/>
                <a:ea typeface="Malgun Gothic"/>
                <a:cs typeface="Malgun Gothic"/>
              </a:rPr>
              <a:t>가 곱의 꼴이라는 점, 그리고 원소별 곱(star operation)이 망의 표현력을 키운다는 최근 결과다. 우리는 이것을 덧셈과 게이트만으로는 자기 운동과 기억한 좌표를 곱하는 상호작용을 만들기 어렵다는 뜻으로 해석한다. 실제 내비게이션 망에서는 proprioception(선속도·각속도·중력 방향·직전 행동)이 </a:t>
            </a:r>
            <a:r>
              <a:rPr sz="1050" b="0" i="1">
                <a:solidFill>
                  <a:srgbClr val="16213A"/>
                </a:solidFill>
                <a:latin typeface="Arial"/>
                <a:ea typeface="Malgun Gothic"/>
                <a:cs typeface="Malgun Gothic"/>
              </a:rPr>
              <a:t>Mᵗ⁻¹ₜ</a:t>
            </a:r>
            <a:r>
              <a:rPr sz="1050" b="0" i="0">
                <a:solidFill>
                  <a:srgbClr val="16213A"/>
                </a:solidFill>
                <a:latin typeface="Arial"/>
                <a:ea typeface="Malgun Gothic"/>
                <a:cs typeface="Malgun Gothic"/>
              </a:rPr>
              <a:t> 대신 자기 운동을 알려 준다.</a:t>
            </a:r>
          </a:p>
        </p:txBody>
      </p:sp>
      <p:sp>
        <p:nvSpPr>
          <p:cNvPr id="12" name="TextBox 11"/>
          <p:cNvSpPr txBox="1"/>
          <p:nvPr/>
        </p:nvSpPr>
        <p:spPr>
          <a:xfrm>
            <a:off x="609600" y="4625578"/>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내비게이션 망(그림 3).</a:t>
            </a:r>
          </a:p>
        </p:txBody>
      </p:sp>
      <p:sp>
        <p:nvSpPr>
          <p:cNvPr id="13" name="TextBox 12"/>
          <p:cNvSpPr txBox="1"/>
          <p:nvPr/>
        </p:nvSpPr>
        <p:spPr>
          <a:xfrm>
            <a:off x="609600" y="4930973"/>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10개(문단·식·그림)는 대시보드 리서치 탭의 "자세히: SRU의 방법과 수식, 실험 결과" 토글에 있다.</a:t>
            </a:r>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B.14 ETH RSL(Marco Hutter)의 계보: 높이 지도에서 배달로봇까지</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223 / 516</a:t>
            </a:r>
          </a:p>
        </p:txBody>
      </p:sp>
      <p:sp>
        <p:nvSpPr>
          <p:cNvPr id="5" name="TextBox 4"/>
          <p:cNvSpPr txBox="1"/>
          <p:nvPr/>
        </p:nvSpPr>
        <p:spPr>
          <a:xfrm>
            <a:off x="609600" y="1244600"/>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Path-conditioned RL — 전역 경로 전체를 따라야 할 선이 아니라 참고할 문맥으로 받는 RL 로컬 정책</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arXiv:2603.13888</a:t>
            </a:r>
            <a:r>
              <a:rPr sz="1050" b="0" i="0">
                <a:solidFill>
                  <a:srgbClr val="16213A"/>
                </a:solidFill>
                <a:latin typeface="Arial"/>
                <a:ea typeface="Malgun Gothic"/>
                <a:cs typeface="Malgun Gothic"/>
              </a:rPr>
              <a:t>, Haro·Richter·Yang·Cadena·Hutter, IROS 2026(프로젝트 페이지 기준), </a:t>
            </a:r>
            <a:r>
              <a:rPr sz="1050" b="0" i="0">
                <a:solidFill>
                  <a:srgbClr val="1D4ED8"/>
                </a:solidFill>
                <a:latin typeface="Arial"/>
                <a:ea typeface="Malgun Gothic"/>
                <a:cs typeface="Malgun Gothic"/>
                <a:hlinkClick r:id="rId4"/>
              </a:rPr>
              <a:t>코드</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5"/>
              </a:rPr>
              <a:t>프로젝트</a:t>
            </a:r>
            <a:r>
              <a:rPr sz="1050" b="0" i="0">
                <a:solidFill>
                  <a:srgbClr val="16213A"/>
                </a:solidFill>
                <a:latin typeface="Arial"/>
                <a:ea typeface="Malgun Gothic"/>
                <a:cs typeface="Malgun Gothic"/>
              </a:rPr>
              <a:t>). 바로 앞 SRU 정책에 경로 인코더(파라미터 12,960개)를 더했고, 보상에는 경로 추종 항이 없다. 대신 최적 경로와 일부러 돌아가는 경로, 흔든 경로를 섞어 학습한다. 최적 경로를 받으면 SPL(success weighted by path length)이 0.7463에서 0.8165로 오르고, 나쁜 경로를 받으면 경로 없는 SRU와 같은 성적을 냈다. 실물은 발끝에 바퀴가 달린 Unitree B2W로, 처음 보는 대학 건물에서 약 93 m와 91 m를 갔다. 경로 인코딩과 보상의 식은 B.9 토글에 있다.</a:t>
            </a:r>
          </a:p>
        </p:txBody>
      </p:sp>
      <p:pic>
        <p:nvPicPr>
          <p:cNvPr id="6" name="Picture 5" descr="image.jpg"/>
          <p:cNvPicPr>
            <a:picLocks noChangeAspect="1"/>
          </p:cNvPicPr>
          <p:nvPr/>
        </p:nvPicPr>
        <p:blipFill>
          <a:blip r:embed="rId6"/>
          <a:stretch>
            <a:fillRect/>
          </a:stretch>
        </p:blipFill>
        <p:spPr>
          <a:xfrm>
            <a:off x="1016000" y="2199481"/>
            <a:ext cx="10160000" cy="3689350"/>
          </a:xfrm>
          <a:prstGeom prst="rect">
            <a:avLst/>
          </a:prstGeom>
        </p:spPr>
      </p:pic>
      <p:sp>
        <p:nvSpPr>
          <p:cNvPr id="7" name="TextBox 6"/>
          <p:cNvSpPr txBox="1"/>
          <p:nvPr/>
        </p:nvSpPr>
        <p:spPr>
          <a:xfrm>
            <a:off x="1016000" y="5926931"/>
            <a:ext cx="101600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Path-conditioned RL (Fig. 6): 발끝에 바퀴가 달린 Unitree B2W가 처음 보는 대학 건물에서 간 두 궤적(진한 빨강, 약 93 m와 91 m)이다. 파란 점열은 waypoint가 달린 참조 경로이고, 빨간 점선 화살표는 길이는 비슷하지만 계단이 더 많거나 막다른 다른 길이다. 사진 A–F는 궤적 위 지점에서 찍은 로봇이다. 출처: arXiv:2603.13888</a:t>
            </a:r>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B.14 ETH RSL(Marco Hutter)의 계보: 높이 지도에서 배달로봇까지</a:t>
            </a:r>
            <a:r>
              <a:rPr sz="1050" b="0" i="0">
                <a:solidFill>
                  <a:srgbClr val="5A6478"/>
                </a:solidFill>
                <a:latin typeface="Arial"/>
                <a:ea typeface="Malgun Gothic"/>
                <a:cs typeface="Malgun Gothic"/>
              </a:rPr>
              <a:t>  자세히: Path-conditioned RL의 학습 설정, 절제 실험, travplan에 주는 것</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224 / 516</a:t>
            </a:r>
          </a:p>
        </p:txBody>
      </p:sp>
      <p:pic>
        <p:nvPicPr>
          <p:cNvPr id="5" name="Picture 4" descr="image.jpg"/>
          <p:cNvPicPr>
            <a:picLocks noChangeAspect="1"/>
          </p:cNvPicPr>
          <p:nvPr/>
        </p:nvPicPr>
        <p:blipFill>
          <a:blip r:embed="rId3"/>
          <a:stretch>
            <a:fillRect/>
          </a:stretch>
        </p:blipFill>
        <p:spPr>
          <a:xfrm>
            <a:off x="4584700" y="1244600"/>
            <a:ext cx="3022600" cy="2984500"/>
          </a:xfrm>
          <a:prstGeom prst="rect">
            <a:avLst/>
          </a:prstGeom>
        </p:spPr>
      </p:pic>
      <p:sp>
        <p:nvSpPr>
          <p:cNvPr id="6" name="TextBox 5"/>
          <p:cNvSpPr txBox="1"/>
          <p:nvPr/>
        </p:nvSpPr>
        <p:spPr>
          <a:xfrm>
            <a:off x="4584700" y="4267200"/>
            <a:ext cx="3022600" cy="710902"/>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Path-conditioned RL (Fig. 3b): 50 m × 50 m 미로에서 최적이 아닌 참조 경로(파랑)를 준 장면이다. 경로를 받은 정책(진한 빨강, 100회)은 경로를 따라가다 왼쪽 위의 우회를 대각선으로 질러 간다. 경로 없는 SRU 기준선(초록)은 목표 쪽으로 곧장 가다 막다른 곳을 헤맨다. 출처: arXiv:2603.13888</a:t>
            </a:r>
          </a:p>
        </p:txBody>
      </p:sp>
      <p:sp>
        <p:nvSpPr>
          <p:cNvPr id="7" name="TextBox 6"/>
          <p:cNvSpPr txBox="1"/>
          <p:nvPr/>
        </p:nvSpPr>
        <p:spPr>
          <a:xfrm>
            <a:off x="609600" y="5067002"/>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구조.</a:t>
            </a:r>
            <a:r>
              <a:rPr sz="1050" b="0" i="0">
                <a:solidFill>
                  <a:srgbClr val="16213A"/>
                </a:solidFill>
                <a:latin typeface="Arial"/>
                <a:ea typeface="Malgun Gothic"/>
                <a:cs typeface="Malgun Gothic"/>
              </a:rPr>
              <a:t> 참조 경로는 waypoint 15개다. 점마다 방향 단위벡터와 정규화한 로그 거리로 4차원을 만든다. self-attention과 학습 query의 cross-attention이 이를 요약하고, 그 결과를 SRU 출력 뒤에 붙인다. 경로 인코더의 파라미터는 12,960개로, actor 전체 176만 개의 1%가 안 된다.</a:t>
            </a:r>
          </a:p>
        </p:txBody>
      </p:sp>
      <p:sp>
        <p:nvSpPr>
          <p:cNvPr id="8" name="TextBox 7"/>
          <p:cNvSpPr txBox="1"/>
          <p:nvPr/>
        </p:nvSpPr>
        <p:spPr>
          <a:xfrm>
            <a:off x="609600" y="5588893"/>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13개(문단·식·그림)는 대시보드 리서치 탭의 "자세히: Path-conditioned RL의 학습 설정, 절제 실험, travplan에 주는 것" 토글에 있다.</a:t>
            </a:r>
          </a:p>
        </p:txBody>
      </p:sp>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B.14 ETH RSL(Marco Hutter)의 계보: 높이 지도에서 배달로봇까지</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225 / 516</a:t>
            </a:r>
          </a:p>
        </p:txBody>
      </p:sp>
      <p:sp>
        <p:nvSpPr>
          <p:cNvPr id="5" name="TextBox 4"/>
          <p:cNvSpPr txBox="1"/>
          <p:nvPr/>
        </p:nvSpPr>
        <p:spPr>
          <a:xfrm>
            <a:off x="717550" y="1244600"/>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B.14.4 바퀴·다리 로봇과 상용화 (2018–2026)</a:t>
            </a:r>
          </a:p>
        </p:txBody>
      </p:sp>
      <p:sp>
        <p:nvSpPr>
          <p:cNvPr id="6" name="TextBox 5"/>
          <p:cNvSpPr txBox="1"/>
          <p:nvPr/>
        </p:nvSpPr>
        <p:spPr>
          <a:xfrm>
            <a:off x="609600" y="1547812"/>
            <a:ext cx="10972800" cy="108247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바퀴 달린 ANYmal 연구는 Controller 세 가지를 거쳐 모의 배송 임무까지 갔다</a:t>
            </a:r>
            <a:r>
              <a:rPr sz="1050" b="0" i="0">
                <a:solidFill>
                  <a:srgbClr val="16213A"/>
                </a:solidFill>
                <a:latin typeface="Arial"/>
                <a:ea typeface="Malgun Gothic"/>
                <a:cs typeface="Malgun Gothic"/>
              </a:rPr>
              <a:t>(Marko Bjelonic 박사 논문 </a:t>
            </a:r>
            <a:r>
              <a:rPr sz="1050" b="0" i="0">
                <a:solidFill>
                  <a:srgbClr val="1D4ED8"/>
                </a:solidFill>
                <a:latin typeface="Arial"/>
                <a:ea typeface="Malgun Gothic"/>
                <a:cs typeface="Malgun Gothic"/>
                <a:hlinkClick r:id="rId3"/>
              </a:rPr>
              <a:t>Diss. ETH 27527</a:t>
            </a:r>
            <a:r>
              <a:rPr sz="1050" b="0" i="0">
                <a:solidFill>
                  <a:srgbClr val="16213A"/>
                </a:solidFill>
                <a:latin typeface="Arial"/>
                <a:ea typeface="Malgun Gothic"/>
                <a:cs typeface="Malgun Gothic"/>
              </a:rPr>
              <a:t>, 2021; </a:t>
            </a:r>
            <a:r>
              <a:rPr sz="1050" b="0" i="0">
                <a:solidFill>
                  <a:srgbClr val="1D4ED8"/>
                </a:solidFill>
                <a:latin typeface="Arial"/>
                <a:ea typeface="Malgun Gothic"/>
                <a:cs typeface="Malgun Gothic"/>
                <a:hlinkClick r:id="rId4"/>
              </a:rPr>
              <a:t>Science Robotics 2024</a:t>
            </a:r>
            <a:r>
              <a:rPr sz="1050" b="0" i="0">
                <a:solidFill>
                  <a:srgbClr val="16213A"/>
                </a:solidFill>
                <a:latin typeface="Arial"/>
                <a:ea typeface="Malgun Gothic"/>
                <a:cs typeface="Malgun Gothic"/>
              </a:rPr>
              <a:t>). RSL은 2017년 ANYmal에 수동 바퀴를, 2018년 구동 바퀴를 달았다. 구동 바퀴를 단 뒤의 Controller는 세 가지다. ZMP(zero-moment point) 계획기와 전신 제어기가 먼저다. 다음은 몸통과 바퀴를 한 번에 푸는 MPC(model predictive control)이고, 마지막은 강화학습 정책이다. 앞의 것을 버린 것이 아니라 쌓았다. 전신 MPC 아래에서도 Keep Rollin'의 전신 제어기가 토크를 냈고, IJRR 2022도 MPC 아래에 400 Hz 역동역학을 둔다. 연구진은 2023-04 Swiss-Mile Robotics AG를 세웠고, 이 회사(지금 RIVR)는 감독 아래 시범 배송까지 갔다(이 소절 끝의 RIVR 카드). 표의 수치는 각 논문의 실물 실험 값이다. COT(cost of transport)는 무게와 이동 거리로 나눈 기계 일이다.</a:t>
            </a:r>
          </a:p>
        </p:txBody>
      </p:sp>
      <p:graphicFrame>
        <p:nvGraphicFramePr>
          <p:cNvPr id="7" name="Table 6"/>
          <p:cNvGraphicFramePr>
            <a:graphicFrameLocks noGrp="1"/>
          </p:cNvGraphicFramePr>
          <p:nvPr/>
        </p:nvGraphicFramePr>
        <p:xfrm>
          <a:off x="609600" y="2719189"/>
          <a:ext cx="10966450" cy="1576704"/>
        </p:xfrm>
        <a:graphic>
          <a:graphicData uri="http://schemas.openxmlformats.org/drawingml/2006/table">
            <a:tbl>
              <a:tblPr firstRow="1" bandRow="1">
                <a:tableStyleId>{5C22544A-7EE6-4342-B048-85BDC9FD1C3A}</a:tableStyleId>
              </a:tblPr>
              <a:tblGrid>
                <a:gridCol w="598388"/>
                <a:gridCol w="3321844"/>
                <a:gridCol w="4253111"/>
                <a:gridCol w="2793107"/>
              </a:tblGrid>
              <a:tr h="197088">
                <a:tc>
                  <a:txBody>
                    <a:bodyPr wrap="square"/>
                    <a:lstStyle/>
                    <a:p>
                      <a:r>
                        <a:rPr sz="800" b="1" i="0">
                          <a:solidFill>
                            <a:srgbClr val="F4F1EA"/>
                          </a:solidFill>
                          <a:latin typeface="Arial"/>
                          <a:ea typeface="Malgun Gothic"/>
                          <a:cs typeface="Malgun Gothic"/>
                        </a:rPr>
                        <a:t>연도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논문</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더한 것</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대표 수치</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2018</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Skating (IROS 2018)</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수동 바퀴와 스케이트로 미끄러지는 보행, 가상 모델 제어기(VMC)</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COT 최대 80% 감소</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2019</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Keep Rollin' (RA-L 2019)</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토크 제어 바퀴, 구름 구속을 넣은 전신 제어기</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최고 4 m/s, 트롯 대비 COT 83% 감소</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2020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Rolling in the Deep (RA-L 2020)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걸으면서 구르기, 바퀴·몸통 궤적 분해 최적화</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DARPA SubT 광산에서 100 m 넘게 주행</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2021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전신 MPC (IROS 2021)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몸통과 바퀴를 한 MPC로, 걸음 순서 자동 생성</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0.8 s 앞 예측 오차 약 71% 감소</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2022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오프라인 라이브러리 + 온라인 MPC (IJRR 2022)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오프라인 궤적을 MPC 비용으로 추종</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실물 성공 동작 89개</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2023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Multi-AMP (ICRA 2023)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궤적 최적화 동작을 RL의 스타일 prior로</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네 바퀴 자세와 두 바퀴로 선 자세 전환</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2024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도시 내비 (Science Robotics 2024)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학습 보행과 학습 내비, km 단위 자율 임무</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이동 중 평균 1.68 m/s, 총 8.3 km</a:t>
                      </a:r>
                    </a:p>
                  </a:txBody>
                  <a:tcPr marL="63500" marR="63500" marT="12700" marB="12700">
                    <a:solidFill>
                      <a:srgbClr val="FFFDF8"/>
                    </a:solidFill>
                  </a:tcPr>
                </a:tc>
              </a:tr>
            </a:tbl>
          </a:graphicData>
        </a:graphic>
      </p:graphicFrame>
      <p:sp>
        <p:nvSpPr>
          <p:cNvPr id="8" name="TextBox 7"/>
          <p:cNvSpPr txBox="1"/>
          <p:nvPr/>
        </p:nvSpPr>
        <p:spPr>
          <a:xfrm>
            <a:off x="609600" y="4785320"/>
            <a:ext cx="10972800" cy="108247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RSL이 MPC에서 RL로 옮긴 이유를 그대로 가져오면 안 된다. Science Robotics 2024는 이전 MPC가 그 논문 그림 6의 환경에서 동작하지 못한다고 한 문장으로 적는다. 그 환경은 기어가기가 필요한 높은 턱, 실외 계단과 급경사, 60 cm 낙차, 바퀴가 모두 뜨는 약 40 cm 블록이다. 비교 실험은 없다. 같은 MPC는 2021년에 0.175 m 계단과 0.20 m 턱을 넘었다. travplan 스워브는 이런 접촉 전환을 겪지 않는다. 0.08 m를 넘는 턱은 넘는 대상이 아니라 피하는 대상이다(max_step 0.08 m). 그래서 이 계보는 MPPI와 NMPC를 함께 개발한다는 결정(2026-09-30)을 뒤집는 근거가 아니다. 대신 단계마다 바퀴 로봇에 옮길 부품이 하나씩 나온다. 2021년 논문은 기구학으로 투영한 모듈 식을 예측 모델에 넣는 법을 보였다. 2022년 논문은 Planner 궤적을 Controller 비용으로 넣는 법을, 2024년 논문은 하위 정책의 능력을 아는 상위 정책을 학습하는 법을 보였다.</a:t>
            </a:r>
          </a:p>
        </p:txBody>
      </p:sp>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B.14 ETH RSL(Marco Hutter)의 계보: 높이 지도에서 배달로봇까지</a:t>
            </a:r>
            <a:r>
              <a:rPr sz="1050" b="0" i="0">
                <a:solidFill>
                  <a:srgbClr val="5A6478"/>
                </a:solidFill>
                <a:latin typeface="Arial"/>
                <a:ea typeface="Malgun Gothic"/>
                <a:cs typeface="Malgun Gothic"/>
              </a:rPr>
              <a:t>  자세히: 바퀴 ANYmal의 하드웨어 세대</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226 / 516</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2018년 첫 구동 바퀴는 직접 구동 4 N·m라 혼합 보행에는 토크가 모자랐고, 2019년 판은 감속기를 넣어 32 N·m가 됐다(DARPA SubT 출전). 마지막 판은 바퀴를 키우고 모터를 허브 안에 넣었다. ANYmal 자체도 세대가 바뀌어(35–50 kg), 2018–2019년 사진의 검정·파랑 로봇이 2020년 이후 빨강으로 바뀐다. 법인 뒤 회사가 쓴 플랫폼(Unitree B2, 자체 설계 RIVR TWO)은 RIVR 카드에 있다.</a:t>
            </a:r>
          </a:p>
        </p:txBody>
      </p:sp>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B.14 ETH RSL(Marco Hutter)의 계보: 높이 지도에서 배달로봇까지</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227 / 516</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Keep Rollin' — 다리 끝 바퀴를 토크 제어하고, 구름 구속을 전신 제어기에 넣었다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arXiv:1809.03557</a:t>
            </a:r>
            <a:r>
              <a:rPr sz="1050" b="0" i="0">
                <a:solidFill>
                  <a:srgbClr val="16213A"/>
                </a:solidFill>
                <a:latin typeface="Arial"/>
                <a:ea typeface="Malgun Gothic"/>
                <a:cs typeface="Malgun Gothic"/>
              </a:rPr>
              <a:t>, Bjelonic·Bellicoso·de Viragh·Sako·Tresoldi·Jenelten·Hutter, IEEE RA-L 4(2) 2019, </a:t>
            </a:r>
            <a:r>
              <a:rPr sz="1050" b="0" i="0">
                <a:solidFill>
                  <a:srgbClr val="1D4ED8"/>
                </a:solidFill>
                <a:latin typeface="Arial"/>
                <a:ea typeface="Malgun Gothic"/>
                <a:cs typeface="Malgun Gothic"/>
                <a:hlinkClick r:id="rId4"/>
              </a:rPr>
              <a:t>영상</a:t>
            </a:r>
            <a:r>
              <a:rPr sz="1050" b="0" i="0">
                <a:solidFill>
                  <a:srgbClr val="16213A"/>
                </a:solidFill>
                <a:latin typeface="Arial"/>
                <a:ea typeface="Malgun Gothic"/>
                <a:cs typeface="Malgun Gothic"/>
              </a:rPr>
              <a:t>). ANYmal 다리 끝에 조향 없는 토크 제어 바퀴 넷을 달고, 걷기와 구르기를 같은 계획기와 제어기로 다뤘다. 당시 바퀴·다리 로봇(Momaro·Centauro·DRC-HUBO+)은 대부분 바퀴를 기구학 속도 명령으로 굴렸고, 걷기는 느린 정적 동작이었다. 이 논문은 바퀴의 구름 방향 자유도를 운동 계획과 전신 제어에 함께 넣었다. 그래서 같은 로봇이 평지는 구르고, 턱은 걸어 오르거나 굴러 내려간다.</a:t>
            </a:r>
          </a:p>
        </p:txBody>
      </p:sp>
      <p:sp>
        <p:nvSpPr>
          <p:cNvPr id="6" name="TextBox 5"/>
          <p:cNvSpPr txBox="1"/>
          <p:nvPr/>
        </p:nvSpPr>
        <p:spPr>
          <a:xfrm>
            <a:off x="609600" y="1982986"/>
            <a:ext cx="10972800" cy="86598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계획과 제어는 두 층이다. 위층 운동 최적화기는 무게중심(COM, center of mass) 궤적을 5차 스플라인으로 두고 SQP(sequential quadratic programming)로 푼다. 안정 조건은 ZMP가 지지 다각형 안에 있는 것이다. 구를 때는 접지점이 움직이므로 지지 다각형의 변을 시간에 따라 보간한다. 아래층 계층형 전신 제어기(WBC, whole-body controller)는 우선순위가 다른 QP(quadratic program)를 차례로 푼다. 1순위는 운동방정식, 토크 한계와 마찰 원뿔, 비홀로노믹 구름 구속이다. 궤적 추종은 2순위다. 평지 최고 속도는 4 m/s로, 이전 ANYmal 기록 1.5 m/s를 넘었다. 2 m/s 주행의 COT는 0.1로 트롯보다 83% 낮았다.</a:t>
            </a:r>
          </a:p>
        </p:txBody>
      </p:sp>
      <p:sp>
        <p:nvSpPr>
          <p:cNvPr id="7" name="TextBox 6"/>
          <p:cNvSpPr txBox="1"/>
          <p:nvPr/>
        </p:nvSpPr>
        <p:spPr>
          <a:xfrm>
            <a:off x="609600" y="2937867"/>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턱을 다루는 자리가 travplan과 반대다. Keep Rollin'은 지형을 보지 않고 토크 제어로 턱을 흡수한다. travplan 스워브에는 그런 다리가 없으므로 Controller가 턱을 흡수할 수 없다. 그래서 0.08 m를 넘는 턱은 TravMap의 step 채널과 Planner·MPPI 비용 단계에서 피해야 한다. WBC의 우선순위 구조와 구름 구속에서 가져올 것은 아래 토글 끝에 있다.</a:t>
            </a:r>
          </a:p>
        </p:txBody>
      </p:sp>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B.14 ETH RSL(Marco Hutter)의 계보: 높이 지도에서 배달로봇까지</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228 / 516</a:t>
            </a:r>
          </a:p>
        </p:txBody>
      </p:sp>
      <p:pic>
        <p:nvPicPr>
          <p:cNvPr id="5" name="Picture 4" descr="image.jpg"/>
          <p:cNvPicPr>
            <a:picLocks noChangeAspect="1"/>
          </p:cNvPicPr>
          <p:nvPr/>
        </p:nvPicPr>
        <p:blipFill>
          <a:blip r:embed="rId3"/>
          <a:stretch>
            <a:fillRect/>
          </a:stretch>
        </p:blipFill>
        <p:spPr>
          <a:xfrm>
            <a:off x="609600" y="1244600"/>
            <a:ext cx="4000500" cy="2667000"/>
          </a:xfrm>
          <a:prstGeom prst="rect">
            <a:avLst/>
          </a:prstGeom>
        </p:spPr>
      </p:pic>
      <p:sp>
        <p:nvSpPr>
          <p:cNvPr id="6" name="TextBox 5"/>
          <p:cNvSpPr txBox="1"/>
          <p:nvPr/>
        </p:nvSpPr>
        <p:spPr>
          <a:xfrm>
            <a:off x="609600" y="3949700"/>
            <a:ext cx="54102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Keep Rollin' (Fig. 1): 조향 없는 토크 제어 바퀴 넷을 단 ANYmal. 다리 관절 12개와 바퀴 관절 4개가 모두 토크 제어된다. 오른쪽 아래는 바퀴 확대다. 출처: arXiv:1809.03557</a:t>
            </a:r>
          </a:p>
        </p:txBody>
      </p:sp>
      <p:pic>
        <p:nvPicPr>
          <p:cNvPr id="7" name="Picture 6" descr="image.jpg"/>
          <p:cNvPicPr>
            <a:picLocks noChangeAspect="1"/>
          </p:cNvPicPr>
          <p:nvPr/>
        </p:nvPicPr>
        <p:blipFill>
          <a:blip r:embed="rId4"/>
          <a:stretch>
            <a:fillRect/>
          </a:stretch>
        </p:blipFill>
        <p:spPr>
          <a:xfrm>
            <a:off x="6172200" y="1244600"/>
            <a:ext cx="3746500" cy="2667000"/>
          </a:xfrm>
          <a:prstGeom prst="rect">
            <a:avLst/>
          </a:prstGeom>
        </p:spPr>
      </p:pic>
      <p:sp>
        <p:nvSpPr>
          <p:cNvPr id="8" name="TextBox 7"/>
          <p:cNvSpPr txBox="1"/>
          <p:nvPr/>
        </p:nvSpPr>
        <p:spPr>
          <a:xfrm>
            <a:off x="6172200" y="3949700"/>
            <a:ext cx="54102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Keep Rollin' (Fig. 7): 길 건너기와 계단 실험. 왼쪽 위는 1 m/s로 턱을 굴러 내려가기, 오른쪽 위는 다른 턱 걸어 오르기, 왼쪽 아래는 몸통 yaw로 곡선 주행, 오른쪽 아래는 실내 계단을 1 m/s로 굴러 내려가기다. 출처: arXiv:1809.03557</a:t>
            </a:r>
          </a:p>
        </p:txBody>
      </p:sp>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B.14 ETH RSL(Marco Hutter)의 계보: 높이 지도에서 배달로봇까지</a:t>
            </a:r>
            <a:r>
              <a:rPr sz="1050" b="0" i="0">
                <a:solidFill>
                  <a:srgbClr val="5A6478"/>
                </a:solidFill>
                <a:latin typeface="Arial"/>
                <a:ea typeface="Malgun Gothic"/>
                <a:cs typeface="Malgun Gothic"/>
              </a:rPr>
              <a:t>  자세히: Keep Rollin'의 방법과 수식</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229 / 516</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풀려는 문제.</a:t>
            </a:r>
            <a:r>
              <a:rPr sz="1050" b="0" i="0">
                <a:solidFill>
                  <a:srgbClr val="16213A"/>
                </a:solidFill>
                <a:latin typeface="Arial"/>
                <a:ea typeface="Malgun Gothic"/>
                <a:cs typeface="Malgun Gothic"/>
              </a:rPr>
              <a:t> 당시 바퀴·다리 로봇은 대부분 바퀴를 기구학 속도 명령으로 굴렸고, 걷기는 느린 정적 동작이었다(원문 I-A). 저자들은 바퀴를 토크 제어하고 전신 동역학에 넣어야 미끄럼 없는 조건(마찰 제약)을 지키고 모르는 턱에 강건해진다고 본다. 목표는 같은 계획기와 제어기로 동적으로 걷고 구르는 것이다.</a:t>
            </a:r>
          </a:p>
        </p:txBody>
      </p:sp>
      <p:sp>
        <p:nvSpPr>
          <p:cNvPr id="6" name="TextBox 5"/>
          <p:cNvSpPr txBox="1"/>
          <p:nvPr/>
        </p:nvSpPr>
        <p:spPr>
          <a:xfrm>
            <a:off x="609600" y="176649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모델.</a:t>
            </a:r>
            <a:r>
              <a:rPr sz="1050" b="0" i="0">
                <a:solidFill>
                  <a:srgbClr val="16213A"/>
                </a:solidFill>
                <a:latin typeface="Arial"/>
                <a:ea typeface="Malgun Gothic"/>
                <a:cs typeface="Malgun Gothic"/>
              </a:rPr>
              <a:t> 바퀴를 끝단으로 가진 부유 기저 로봇이다. 다리 관절 12개와 바퀴 관절 4개, 모두 16개가 토크 제어된다(원문 그림 1). 운동방정식은 다리 로봇과 같다.</a:t>
            </a:r>
          </a:p>
        </p:txBody>
      </p:sp>
      <p:pic>
        <p:nvPicPr>
          <p:cNvPr id="7" name="Picture 6" descr="image.png"/>
          <p:cNvPicPr>
            <a:picLocks noChangeAspect="1"/>
          </p:cNvPicPr>
          <p:nvPr/>
        </p:nvPicPr>
        <p:blipFill>
          <a:blip r:embed="rId3"/>
          <a:stretch>
            <a:fillRect/>
          </a:stretch>
        </p:blipFill>
        <p:spPr>
          <a:xfrm>
            <a:off x="609600" y="2071886"/>
            <a:ext cx="2279650" cy="241300"/>
          </a:xfrm>
          <a:prstGeom prst="rect">
            <a:avLst/>
          </a:prstGeom>
        </p:spPr>
      </p:pic>
      <p:sp>
        <p:nvSpPr>
          <p:cNvPr id="8" name="TextBox 7"/>
          <p:cNvSpPr txBox="1"/>
          <p:nvPr/>
        </p:nvSpPr>
        <p:spPr>
          <a:xfrm>
            <a:off x="609600" y="2349401"/>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차이는 접지점이다. 점 발은 접지점 가속도가 0이다. 바퀴에 붙은 접지점은 구르는 동안 구심 가속도를 가진다. 평면에서 그 크기는 </a:t>
            </a:r>
            <a:r>
              <a:rPr sz="1050" b="0" i="1">
                <a:solidFill>
                  <a:srgbClr val="16213A"/>
                </a:solidFill>
                <a:latin typeface="Arial"/>
                <a:ea typeface="Malgun Gothic"/>
                <a:cs typeface="Malgun Gothic"/>
              </a:rPr>
              <a:t>r₀(χ̇ + θ̇)²</a:t>
            </a:r>
            <a:r>
              <a:rPr sz="1050" b="0" i="0">
                <a:solidFill>
                  <a:srgbClr val="16213A"/>
                </a:solidFill>
                <a:latin typeface="Arial"/>
                <a:ea typeface="Malgun Gothic"/>
                <a:cs typeface="Malgun Gothic"/>
              </a:rPr>
              <a:t>이다. </a:t>
            </a:r>
            <a:r>
              <a:rPr sz="1050" b="0" i="1">
                <a:solidFill>
                  <a:srgbClr val="16213A"/>
                </a:solidFill>
                <a:latin typeface="Arial"/>
                <a:ea typeface="Malgun Gothic"/>
                <a:cs typeface="Malgun Gothic"/>
              </a:rPr>
              <a:t>r₀</a:t>
            </a:r>
            <a:r>
              <a:rPr sz="1050" b="0" i="0">
                <a:solidFill>
                  <a:srgbClr val="16213A"/>
                </a:solidFill>
                <a:latin typeface="Arial"/>
                <a:ea typeface="Malgun Gothic"/>
                <a:cs typeface="Malgun Gothic"/>
              </a:rPr>
              <a:t>는 바퀴 반지름, </a:t>
            </a:r>
            <a:r>
              <a:rPr sz="1050" b="0" i="1">
                <a:solidFill>
                  <a:srgbClr val="16213A"/>
                </a:solidFill>
                <a:latin typeface="Arial"/>
                <a:ea typeface="Malgun Gothic"/>
                <a:cs typeface="Malgun Gothic"/>
              </a:rPr>
              <a:t>θ</a:t>
            </a:r>
            <a:r>
              <a:rPr sz="1050" b="0" i="0">
                <a:solidFill>
                  <a:srgbClr val="16213A"/>
                </a:solidFill>
                <a:latin typeface="Arial"/>
                <a:ea typeface="Malgun Gothic"/>
                <a:cs typeface="Malgun Gothic"/>
              </a:rPr>
              <a:t>는 바퀴 관절각, </a:t>
            </a:r>
            <a:r>
              <a:rPr sz="1050" b="0" i="1">
                <a:solidFill>
                  <a:srgbClr val="16213A"/>
                </a:solidFill>
                <a:latin typeface="Arial"/>
                <a:ea typeface="Malgun Gothic"/>
                <a:cs typeface="Malgun Gothic"/>
              </a:rPr>
              <a:t>χ</a:t>
            </a:r>
            <a:r>
              <a:rPr sz="1050" b="0" i="0">
                <a:solidFill>
                  <a:srgbClr val="16213A"/>
                </a:solidFill>
                <a:latin typeface="Arial"/>
                <a:ea typeface="Malgun Gothic"/>
                <a:cs typeface="Malgun Gothic"/>
              </a:rPr>
              <a:t>는 바퀴 프레임의 pitch다(원문 식 3). WBC는 이 값을 구름 구속의 우변에 넣는다(원문 식 9). 추종 과제에는 바퀴 관절각에 의존하지 않는 '다리 고정 접지점'을 써서 바퀴 회전과 분리한다.</a:t>
            </a:r>
          </a:p>
        </p:txBody>
      </p:sp>
      <p:sp>
        <p:nvSpPr>
          <p:cNvPr id="9" name="TextBox 8"/>
          <p:cNvSpPr txBox="1"/>
          <p:nvPr/>
        </p:nvSpPr>
        <p:spPr>
          <a:xfrm>
            <a:off x="609600" y="2871291"/>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계획.</a:t>
            </a:r>
            <a:r>
              <a:rPr sz="1050" b="0" i="0">
                <a:solidFill>
                  <a:srgbClr val="16213A"/>
                </a:solidFill>
                <a:latin typeface="Arial"/>
                <a:ea typeface="Malgun Gothic"/>
                <a:cs typeface="Malgun Gothic"/>
              </a:rPr>
              <a:t> 접촉 스케줄러가 걸음새 라이브러리에서 들고 내리는 시각을 정한다. 구르기는 들기 사건이 없는 걸음새로 표현된다. 발 디딤 최적화기는 걸을 때 발 위치를 QP로 고르고, 역진자 모델로 균형 보정을 더한다. 구를 때는 지평 </a:t>
            </a:r>
            <a:r>
              <a:rPr sz="1050" b="0" i="1">
                <a:solidFill>
                  <a:srgbClr val="16213A"/>
                </a:solidFill>
                <a:latin typeface="Arial"/>
                <a:ea typeface="Malgun Gothic"/>
                <a:cs typeface="Malgun Gothic"/>
              </a:rPr>
              <a:t>τ</a:t>
            </a:r>
            <a:r>
              <a:rPr sz="1050" b="0" i="0">
                <a:solidFill>
                  <a:srgbClr val="16213A"/>
                </a:solidFill>
                <a:latin typeface="Arial"/>
                <a:ea typeface="Malgun Gothic"/>
                <a:cs typeface="Malgun Gothic"/>
              </a:rPr>
              <a:t> 동안 몸통 기준 속도 </a:t>
            </a:r>
            <a:r>
              <a:rPr sz="1050" b="0" i="1">
                <a:solidFill>
                  <a:srgbClr val="16213A"/>
                </a:solidFill>
                <a:latin typeface="Arial"/>
                <a:ea typeface="Malgun Gothic"/>
                <a:cs typeface="Malgun Gothic"/>
              </a:rPr>
              <a:t>v^(ref)_B</a:t>
            </a:r>
            <a:r>
              <a:rPr sz="1050" b="0" i="0">
                <a:solidFill>
                  <a:srgbClr val="16213A"/>
                </a:solidFill>
                <a:latin typeface="Arial"/>
                <a:ea typeface="Malgun Gothic"/>
                <a:cs typeface="Malgun Gothic"/>
              </a:rPr>
              <a:t>와 yaw 속도가 일정하다고 보고, 시간 적분한 Rodrigues 식으로 미래 접지점을 구한다(원문 식 6). yaw 속도가 0에 가까우면 식은 다음으로 줄어든다.</a:t>
            </a:r>
          </a:p>
        </p:txBody>
      </p:sp>
      <p:pic>
        <p:nvPicPr>
          <p:cNvPr id="10" name="Picture 9" descr="image.png"/>
          <p:cNvPicPr>
            <a:picLocks noChangeAspect="1"/>
          </p:cNvPicPr>
          <p:nvPr/>
        </p:nvPicPr>
        <p:blipFill>
          <a:blip r:embed="rId4"/>
          <a:stretch>
            <a:fillRect/>
          </a:stretch>
        </p:blipFill>
        <p:spPr>
          <a:xfrm>
            <a:off x="609600" y="3609677"/>
            <a:ext cx="1311275" cy="254000"/>
          </a:xfrm>
          <a:prstGeom prst="rect">
            <a:avLst/>
          </a:prstGeom>
        </p:spPr>
      </p:pic>
      <p:sp>
        <p:nvSpPr>
          <p:cNvPr id="11" name="TextBox 10"/>
          <p:cNvSpPr txBox="1"/>
          <p:nvPr/>
        </p:nvSpPr>
        <p:spPr>
          <a:xfrm>
            <a:off x="609600" y="3895725"/>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운동 최적화기는 COM 궤적을 5차 스플라인 계수로 두고 SQP로 푼다. 비용은 COM 가속도, 직전 해와의 차이, 상위 기준 궤적 추종이다(원문 표 I). 안정 조건은 ZMP 부등식이다. 중력·관성 렌치는 </a:t>
            </a:r>
            <a:r>
              <a:rPr sz="1050" b="0" i="1">
                <a:solidFill>
                  <a:srgbClr val="16213A"/>
                </a:solidFill>
                <a:latin typeface="Arial"/>
                <a:ea typeface="Malgun Gothic"/>
                <a:cs typeface="Malgun Gothic"/>
              </a:rPr>
              <a:t>f^(gi) = m(g - p̈_(COM))</a:t>
            </a:r>
            <a:r>
              <a:rPr sz="1050" b="0" i="0">
                <a:solidFill>
                  <a:srgbClr val="16213A"/>
                </a:solidFill>
                <a:latin typeface="Arial"/>
                <a:ea typeface="Malgun Gothic"/>
                <a:cs typeface="Malgun Gothic"/>
              </a:rPr>
              <a:t>와 </a:t>
            </a:r>
            <a:r>
              <a:rPr sz="1050" b="0" i="1">
                <a:solidFill>
                  <a:srgbClr val="16213A"/>
                </a:solidFill>
                <a:latin typeface="Arial"/>
                <a:ea typeface="Malgun Gothic"/>
                <a:cs typeface="Malgun Gothic"/>
              </a:rPr>
              <a:t>m^(gi) = m p_(COM) × (g - p̈_(COM))</a:t>
            </a:r>
            <a:r>
              <a:rPr sz="1050" b="0" i="0">
                <a:solidFill>
                  <a:srgbClr val="16213A"/>
                </a:solidFill>
                <a:latin typeface="Arial"/>
                <a:ea typeface="Malgun Gothic"/>
                <a:cs typeface="Malgun Gothic"/>
              </a:rPr>
              <a:t>다. 이것으로 ZMP를 구하고, 지지 다각형 변마다 직선 계수 </a:t>
            </a:r>
            <a:r>
              <a:rPr sz="1050" b="0" i="1">
                <a:solidFill>
                  <a:srgbClr val="16213A"/>
                </a:solidFill>
                <a:latin typeface="Arial"/>
                <a:ea typeface="Malgun Gothic"/>
                <a:cs typeface="Malgun Gothic"/>
              </a:rPr>
              <a:t>(p, q, r)</a:t>
            </a:r>
            <a:r>
              <a:rPr sz="1050" b="0" i="0">
                <a:solidFill>
                  <a:srgbClr val="16213A"/>
                </a:solidFill>
                <a:latin typeface="Arial"/>
                <a:ea typeface="Malgun Gothic"/>
                <a:cs typeface="Malgun Gothic"/>
              </a:rPr>
              <a:t>로 부등식을 건다. 각운동량 변화는 0으로 둔다.</a:t>
            </a:r>
          </a:p>
        </p:txBody>
      </p:sp>
      <p:pic>
        <p:nvPicPr>
          <p:cNvPr id="12" name="Picture 11" descr="image.png"/>
          <p:cNvPicPr>
            <a:picLocks noChangeAspect="1"/>
          </p:cNvPicPr>
          <p:nvPr/>
        </p:nvPicPr>
        <p:blipFill>
          <a:blip r:embed="rId5"/>
          <a:stretch>
            <a:fillRect/>
          </a:stretch>
        </p:blipFill>
        <p:spPr>
          <a:xfrm>
            <a:off x="609600" y="4417616"/>
            <a:ext cx="3448050" cy="425450"/>
          </a:xfrm>
          <a:prstGeom prst="rect">
            <a:avLst/>
          </a:prstGeom>
        </p:spPr>
      </p:pic>
      <p:sp>
        <p:nvSpPr>
          <p:cNvPr id="13" name="TextBox 12"/>
          <p:cNvSpPr txBox="1"/>
          <p:nvPr/>
        </p:nvSpPr>
        <p:spPr>
          <a:xfrm>
            <a:off x="609600" y="4855865"/>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구를 때는 지금 다각형의 변 계수와 지평 끝 다각형의 변 계수를 시간에 따라 선형 보간한다(원문 식 7). 지평 동안 변의 수가 바뀌지 않는다고 가정하므로 스플라인 하나로 충분하다.</a:t>
            </a:r>
          </a:p>
        </p:txBody>
      </p:sp>
      <p:sp>
        <p:nvSpPr>
          <p:cNvPr id="14" name="TextBox 13"/>
          <p:cNvSpPr txBox="1"/>
          <p:nvPr/>
        </p:nvSpPr>
        <p:spPr>
          <a:xfrm>
            <a:off x="609600" y="516126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전신 제어기.</a:t>
            </a:r>
            <a:r>
              <a:rPr sz="1050" b="0" i="0">
                <a:solidFill>
                  <a:srgbClr val="16213A"/>
                </a:solidFill>
                <a:latin typeface="Arial"/>
                <a:ea typeface="Malgun Gothic"/>
                <a:cs typeface="Malgun Gothic"/>
              </a:rPr>
              <a:t> 과제마다 등식과 부등식을 두고, 위 순위의 해 집합 안에서만 아래 순위를 최적화하는 QP 연쇄다(원문 식 8, 표 II). 1순위는 부유 기저 운동방정식, 토크 한계와 마찰 원뿔, 비홀로노믹 구름 구속이다. 2순위는 COM 선·각운동 추종, 스윙 다리 추종, 스윙 바퀴 회전 감쇠, 접지 다리의 구름 방향 추종이다. 3순위는 미끄럼을 줄이는 접촉력 최소화다. 최적 가속도와 접촉력에서 역동역학으로 토크를 낸다(원문 식 13). 지형은 보지 않고, 최근 접지점에 평면을 맞춰 지면 법선을 추정한다. WBC는 400 Hz, 운동 최적화는 걸음새에 따라 100–200 Hz로 돈다.</a:t>
            </a:r>
          </a:p>
        </p:txBody>
      </p:sp>
      <p:sp>
        <p:nvSpPr>
          <p:cNvPr id="15" name="TextBox 14"/>
          <p:cNvSpPr txBox="1"/>
          <p:nvPr/>
        </p:nvSpPr>
        <p:spPr>
          <a:xfrm>
            <a:off x="609600" y="5899646"/>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5개(문단·식·그림)는 대시보드 리서치 탭의 "자세히: Keep Rollin'의 방법과 수식" 토글에 있다.</a:t>
            </a:r>
          </a:p>
        </p:txBody>
      </p:sp>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B.14 ETH RSL(Marco Hutter)의 계보: 높이 지도에서 배달로봇까지</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230 / 516</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Rolling in the Deep — 바퀴 궤적과 몸통 궤적을 나눠 풀어, 걸으면서 구른다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arXiv:1909.07193</a:t>
            </a:r>
            <a:r>
              <a:rPr sz="1050" b="0" i="0">
                <a:solidFill>
                  <a:srgbClr val="16213A"/>
                </a:solidFill>
                <a:latin typeface="Arial"/>
                <a:ea typeface="Malgun Gothic"/>
                <a:cs typeface="Malgun Gothic"/>
              </a:rPr>
              <a:t>, Bjelonic·Sankar·Bellicoso·Vallery·Hutter, IEEE RA-L 5(2) 2020, </a:t>
            </a:r>
            <a:r>
              <a:rPr sz="1050" b="0" i="0">
                <a:solidFill>
                  <a:srgbClr val="1D4ED8"/>
                </a:solidFill>
                <a:latin typeface="Arial"/>
                <a:ea typeface="Malgun Gothic"/>
                <a:cs typeface="Malgun Gothic"/>
                <a:hlinkClick r:id="rId4"/>
              </a:rPr>
              <a:t>영상</a:t>
            </a:r>
            <a:r>
              <a:rPr sz="1050" b="0" i="0">
                <a:solidFill>
                  <a:srgbClr val="16213A"/>
                </a:solidFill>
                <a:latin typeface="Arial"/>
                <a:ea typeface="Malgun Gothic"/>
                <a:cs typeface="Malgun Gothic"/>
              </a:rPr>
              <a:t>). Keep Rollin'의 로봇은 장애물 앞에서 멈추고 걷기 모드로 바꿔야 했다. 이 논문은 다리를 들고 내리는 동안에도 바퀴가 계속 구르는 혼합 보행(hybrid locomotion)을 실시간으로 계획한다. 핵심은 고차원 문제를 바퀴 궤적 최적화와 몸통 궤적 최적화로 나눠 각각 밀리초 단위로 푸는 것이다. 이 로봇은 2019년 DARPA SubT 터널 서킷에 CERBERUS 팀으로 나갔다.</a:t>
            </a:r>
          </a:p>
        </p:txBody>
      </p:sp>
      <p:sp>
        <p:nvSpPr>
          <p:cNvPr id="6" name="TextBox 5"/>
          <p:cNvSpPr txBox="1"/>
          <p:nvPr/>
        </p:nvSpPr>
        <p:spPr>
          <a:xfrm>
            <a:off x="609600" y="1982986"/>
            <a:ext cx="10972800" cy="649486"/>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세 단계가 병렬 스레드로 돈다. 먼저 바퀴마다 QP 하나가 바퀴 궤적을 낸다. 접지 구간에서는 구름 방향 속도만 2차 다항식으로 두고, 나머지 방향 속도는 0으로 둔다. 그래서 옆 미끄럼 없음이 매개변수화 자체로 지켜진다. 다음으로 몸통 궤적 최적화가 바퀴 궤적에서 만든 지지 다각형으로 ZMP 부등식을 건다. 마지막으로 Keep Rollin'의 전신 제어기가 토크를 낸다. 다리 길이 20% 높이의 턱을 지형 인식 없이 멈추지 않고 넘었다. SubT 광산에서는 바퀴에 체인을 감은 둘째 주행이 100 m 넘게 갔고, 속도는 지도 갱신 주기에 묶였다.</a:t>
            </a:r>
          </a:p>
        </p:txBody>
      </p:sp>
      <p:sp>
        <p:nvSpPr>
          <p:cNvPr id="7" name="TextBox 6"/>
          <p:cNvSpPr txBox="1"/>
          <p:nvPr/>
        </p:nvSpPr>
        <p:spPr>
          <a:xfrm>
            <a:off x="609600" y="2721372"/>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속도의 상한이 인식에서 왔다. 광산에서 로봇은 더 빨리 갈 수 있었지만 지도 갱신이 따라오지 못했다. Science Robotics 2024도 같은 관찰을 적는다. 하드웨어 한계는 약 6.3 m/s이지만, 지도 지연과 좁은 지도 때문에 자율 주행에서는 내지 못했다. travplan L1 인식 루프(TP-0053)를 평가할 때는 지도 갱신 주기와 범위를 </a:t>
            </a:r>
            <a:r>
              <a:rPr sz="1050" b="0" i="0">
                <a:solidFill>
                  <a:srgbClr val="16213A"/>
                </a:solidFill>
                <a:latin typeface="Consolas"/>
                <a:ea typeface="Malgun Gothic"/>
                <a:cs typeface="Malgun Gothic"/>
              </a:rPr>
              <a:t>SwerveLimits</a:t>
            </a:r>
            <a:r>
              <a:rPr sz="1050" b="0" i="0">
                <a:solidFill>
                  <a:srgbClr val="16213A"/>
                </a:solidFill>
                <a:latin typeface="Arial"/>
                <a:ea typeface="Malgun Gothic"/>
                <a:cs typeface="Malgun Gothic"/>
              </a:rPr>
              <a:t>의 최고 속도 1.5 m/s와 함께 재야 한다. 구속을 매개변수화로 지키는 발상은 아래 토글 끝에 있다.</a:t>
            </a:r>
          </a:p>
        </p:txBody>
      </p:sp>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B.14 ETH RSL(Marco Hutter)의 계보: 높이 지도에서 배달로봇까지</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231 / 516</a:t>
            </a:r>
          </a:p>
        </p:txBody>
      </p:sp>
      <p:pic>
        <p:nvPicPr>
          <p:cNvPr id="5" name="Picture 4" descr="image.jpg"/>
          <p:cNvPicPr>
            <a:picLocks noChangeAspect="1"/>
          </p:cNvPicPr>
          <p:nvPr/>
        </p:nvPicPr>
        <p:blipFill>
          <a:blip r:embed="rId3"/>
          <a:stretch>
            <a:fillRect/>
          </a:stretch>
        </p:blipFill>
        <p:spPr>
          <a:xfrm>
            <a:off x="609600" y="1244600"/>
            <a:ext cx="2286000" cy="2667000"/>
          </a:xfrm>
          <a:prstGeom prst="rect">
            <a:avLst/>
          </a:prstGeom>
        </p:spPr>
      </p:pic>
      <p:sp>
        <p:nvSpPr>
          <p:cNvPr id="6" name="TextBox 5"/>
          <p:cNvSpPr txBox="1"/>
          <p:nvPr/>
        </p:nvSpPr>
        <p:spPr>
          <a:xfrm>
            <a:off x="609600" y="3949700"/>
            <a:ext cx="54102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Rolling in the Deep (Fig. 1): 나무 판자 넘기(위), 자갈 노면(가운데 왼쪽), 진흙용 체인을 감은 바퀴(가운데 오른쪽), DARPA SubT 터널 서킷 광산 주행(아래). 출처: arXiv:1909.07193</a:t>
            </a:r>
          </a:p>
        </p:txBody>
      </p:sp>
      <p:pic>
        <p:nvPicPr>
          <p:cNvPr id="7" name="Picture 6" descr="image.jpg"/>
          <p:cNvPicPr>
            <a:picLocks noChangeAspect="1"/>
          </p:cNvPicPr>
          <p:nvPr/>
        </p:nvPicPr>
        <p:blipFill>
          <a:blip r:embed="rId4"/>
          <a:stretch>
            <a:fillRect/>
          </a:stretch>
        </p:blipFill>
        <p:spPr>
          <a:xfrm>
            <a:off x="6172200" y="1244600"/>
            <a:ext cx="3111500" cy="2667000"/>
          </a:xfrm>
          <a:prstGeom prst="rect">
            <a:avLst/>
          </a:prstGeom>
        </p:spPr>
      </p:pic>
      <p:sp>
        <p:nvSpPr>
          <p:cNvPr id="8" name="TextBox 7"/>
          <p:cNvSpPr txBox="1"/>
          <p:nvPr/>
        </p:nvSpPr>
        <p:spPr>
          <a:xfrm>
            <a:off x="6172200" y="3949700"/>
            <a:ext cx="54102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Rolling in the Deep (Fig. 2): 바퀴 궤적 최적화(QP)가 바퀴 궤적을 내면 몸통 궤적 최적화가 그것으로 ZMP 조건을 세운다. 추종 제어기가 토크를 낸다. 셋은 병렬로 돈다. 출처: arXiv:1909.07193</a:t>
            </a:r>
          </a:p>
        </p:txBody>
      </p:sp>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B.14 ETH RSL(Marco Hutter)의 계보: 높이 지도에서 배달로봇까지</a:t>
            </a:r>
            <a:r>
              <a:rPr sz="1050" b="0" i="0">
                <a:solidFill>
                  <a:srgbClr val="5A6478"/>
                </a:solidFill>
                <a:latin typeface="Arial"/>
                <a:ea typeface="Malgun Gothic"/>
                <a:cs typeface="Malgun Gothic"/>
              </a:rPr>
              <a:t>  자세히: Rolling in the Deep의 방법과 수식</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232 / 516</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풀려는 문제.</a:t>
            </a:r>
            <a:r>
              <a:rPr sz="1050" b="0" i="0">
                <a:solidFill>
                  <a:srgbClr val="16213A"/>
                </a:solidFill>
                <a:latin typeface="Arial"/>
                <a:ea typeface="Malgun Gothic"/>
                <a:cs typeface="Malgun Gothic"/>
              </a:rPr>
              <a:t> 바퀴·다리 로봇의 걷기와 구르기를 동시에, 로봇 안에서 실시간으로 계획하는 것이다. 선행 연구는 다리를 서스펜션으로만 쓰거나, 시뮬레이션에서만 보이거나, 비선형 계획이 너무 느려 receding horizon으로 돌릴 수 없었다(원문 I-A). 같은 연구실의 단일 최적화 판(de Viragh 외 2019)은 갱신이 50 Hz로 떨어졌고 실물에서 혼합 보행을 보이지 못했다.</a:t>
            </a:r>
          </a:p>
        </p:txBody>
      </p:sp>
      <p:sp>
        <p:nvSpPr>
          <p:cNvPr id="6" name="TextBox 5"/>
          <p:cNvSpPr txBox="1"/>
          <p:nvPr/>
        </p:nvSpPr>
        <p:spPr>
          <a:xfrm>
            <a:off x="609600" y="176649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바퀴 궤적 최적화.</a:t>
            </a:r>
            <a:r>
              <a:rPr sz="1050" b="0" i="0">
                <a:solidFill>
                  <a:srgbClr val="16213A"/>
                </a:solidFill>
                <a:latin typeface="Arial"/>
                <a:ea typeface="Malgun Gothic"/>
                <a:cs typeface="Malgun Gothic"/>
              </a:rPr>
              <a:t> 바퀴마다 따로 푸는 QP다. 한 스트라이드를 스플라인 넷으로 나눈다. 접지 구간 둘, 공중 구간 둘이다(원문 그림 3). 공중 구간은 5차 스플라인이다. 접지 구간은 바퀴 프레임에서 구름 방향 속도만 2차 다항식으로 둔다.</a:t>
            </a:r>
          </a:p>
        </p:txBody>
      </p:sp>
      <p:pic>
        <p:nvPicPr>
          <p:cNvPr id="7" name="Picture 6" descr="image.png"/>
          <p:cNvPicPr>
            <a:picLocks noChangeAspect="1"/>
          </p:cNvPicPr>
          <p:nvPr/>
        </p:nvPicPr>
        <p:blipFill>
          <a:blip r:embed="rId3"/>
          <a:stretch>
            <a:fillRect/>
          </a:stretch>
        </p:blipFill>
        <p:spPr>
          <a:xfrm>
            <a:off x="609600" y="2288381"/>
            <a:ext cx="2355850" cy="273050"/>
          </a:xfrm>
          <a:prstGeom prst="rect">
            <a:avLst/>
          </a:prstGeom>
        </p:spPr>
      </p:pic>
      <p:sp>
        <p:nvSpPr>
          <p:cNvPr id="8" name="TextBox 7"/>
          <p:cNvSpPr txBox="1"/>
          <p:nvPr/>
        </p:nvSpPr>
        <p:spPr>
          <a:xfrm>
            <a:off x="609600" y="2592288"/>
            <a:ext cx="10972800" cy="649486"/>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기준 yaw 속도가 지평 동안 일정하다고 보면 이 속도를 해석적으로 적분할 수 있다. 그래서 위치도 계수에 대해 선형이고 문제는 QP로 남는다(원문 식 4). 비용은 여섯 항이다. 가속도 최소화와 직전 해와의 차이, 접지 중 기준 속도 추종과 기본 다리 위치와의 차이, 공중 구간의 착지점 투영과 스윙 높이다. 제약은 초기 상태, 스플라인 연속, 상자 모양의 기구학 한계다(원문 식 5). 착지점 투영에는 역진자 피드백을 더한다. </a:t>
            </a:r>
            <a:r>
              <a:rPr sz="1050" b="0" i="1">
                <a:solidFill>
                  <a:srgbClr val="16213A"/>
                </a:solidFill>
                <a:latin typeface="Arial"/>
                <a:ea typeface="Malgun Gothic"/>
                <a:cs typeface="Malgun Gothic"/>
              </a:rPr>
              <a:t>v_(BH)</a:t>
            </a:r>
            <a:r>
              <a:rPr sz="1050" b="0" i="0">
                <a:solidFill>
                  <a:srgbClr val="16213A"/>
                </a:solidFill>
                <a:latin typeface="Arial"/>
                <a:ea typeface="Malgun Gothic"/>
                <a:cs typeface="Malgun Gothic"/>
              </a:rPr>
              <a:t>는 몸통에 대한 엉덩이 속도, </a:t>
            </a:r>
            <a:r>
              <a:rPr sz="1050" b="0" i="1">
                <a:solidFill>
                  <a:srgbClr val="16213A"/>
                </a:solidFill>
                <a:latin typeface="Arial"/>
                <a:ea typeface="Malgun Gothic"/>
                <a:cs typeface="Malgun Gothic"/>
              </a:rPr>
              <a:t>h</a:t>
            </a:r>
            <a:r>
              <a:rPr sz="1050" b="0" i="0">
                <a:solidFill>
                  <a:srgbClr val="16213A"/>
                </a:solidFill>
                <a:latin typeface="Arial"/>
                <a:ea typeface="Malgun Gothic"/>
                <a:cs typeface="Malgun Gothic"/>
              </a:rPr>
              <a:t>는 엉덩이 높이, </a:t>
            </a:r>
            <a:r>
              <a:rPr sz="1050" b="0" i="1">
                <a:solidFill>
                  <a:srgbClr val="16213A"/>
                </a:solidFill>
                <a:latin typeface="Arial"/>
                <a:ea typeface="Malgun Gothic"/>
                <a:cs typeface="Malgun Gothic"/>
              </a:rPr>
              <a:t>g</a:t>
            </a:r>
            <a:r>
              <a:rPr sz="1050" b="0" i="0">
                <a:solidFill>
                  <a:srgbClr val="16213A"/>
                </a:solidFill>
                <a:latin typeface="Arial"/>
                <a:ea typeface="Malgun Gothic"/>
                <a:cs typeface="Malgun Gothic"/>
              </a:rPr>
              <a:t>는 중력 가속도다(원문 식 11).</a:t>
            </a:r>
          </a:p>
        </p:txBody>
      </p:sp>
      <p:pic>
        <p:nvPicPr>
          <p:cNvPr id="9" name="Picture 8" descr="image.png"/>
          <p:cNvPicPr>
            <a:picLocks noChangeAspect="1"/>
          </p:cNvPicPr>
          <p:nvPr/>
        </p:nvPicPr>
        <p:blipFill>
          <a:blip r:embed="rId4"/>
          <a:stretch>
            <a:fillRect/>
          </a:stretch>
        </p:blipFill>
        <p:spPr>
          <a:xfrm>
            <a:off x="609600" y="3330674"/>
            <a:ext cx="2381250" cy="254000"/>
          </a:xfrm>
          <a:prstGeom prst="rect">
            <a:avLst/>
          </a:prstGeom>
        </p:spPr>
      </p:pic>
      <p:sp>
        <p:nvSpPr>
          <p:cNvPr id="10" name="TextBox 9"/>
          <p:cNvSpPr txBox="1"/>
          <p:nvPr/>
        </p:nvSpPr>
        <p:spPr>
          <a:xfrm>
            <a:off x="609600" y="3619202"/>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몸통 궤적 최적화.</a:t>
            </a:r>
            <a:r>
              <a:rPr sz="1050" b="0" i="0">
                <a:solidFill>
                  <a:srgbClr val="16213A"/>
                </a:solidFill>
                <a:latin typeface="Arial"/>
                <a:ea typeface="Malgun Gothic"/>
                <a:cs typeface="Malgun Gothic"/>
              </a:rPr>
              <a:t> COM 위치와 몸통 Euler 각을 5차 스플라인으로 두는 비선형 문제다. 바퀴 궤적이 들어가는 곳은 ZMP 부등식 하나다. 다리 로봇과 달리 접지 중에도 접지점이 움직이므로, 지지 다각형의 변 계수가 시각 </a:t>
            </a:r>
            <a:r>
              <a:rPr sz="1050" b="0" i="1">
                <a:solidFill>
                  <a:srgbClr val="16213A"/>
                </a:solidFill>
                <a:latin typeface="Arial"/>
                <a:ea typeface="Malgun Gothic"/>
                <a:cs typeface="Malgun Gothic"/>
              </a:rPr>
              <a:t>tₖ</a:t>
            </a:r>
            <a:r>
              <a:rPr sz="1050" b="0" i="0">
                <a:solidFill>
                  <a:srgbClr val="16213A"/>
                </a:solidFill>
                <a:latin typeface="Arial"/>
                <a:ea typeface="Malgun Gothic"/>
                <a:cs typeface="Malgun Gothic"/>
              </a:rPr>
              <a:t>마다 바뀐다(원문 식 15).</a:t>
            </a:r>
          </a:p>
        </p:txBody>
      </p:sp>
      <p:pic>
        <p:nvPicPr>
          <p:cNvPr id="11" name="Picture 10" descr="image.png"/>
          <p:cNvPicPr>
            <a:picLocks noChangeAspect="1"/>
          </p:cNvPicPr>
          <p:nvPr/>
        </p:nvPicPr>
        <p:blipFill>
          <a:blip r:embed="rId5"/>
          <a:stretch>
            <a:fillRect/>
          </a:stretch>
        </p:blipFill>
        <p:spPr>
          <a:xfrm>
            <a:off x="609600" y="4141093"/>
            <a:ext cx="3854450" cy="241300"/>
          </a:xfrm>
          <a:prstGeom prst="rect">
            <a:avLst/>
          </a:prstGeom>
        </p:spPr>
      </p:pic>
      <p:sp>
        <p:nvSpPr>
          <p:cNvPr id="12" name="TextBox 11"/>
          <p:cNvSpPr txBox="1"/>
          <p:nvPr/>
        </p:nvSpPr>
        <p:spPr>
          <a:xfrm>
            <a:off x="609600" y="4418608"/>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구현.</a:t>
            </a:r>
            <a:r>
              <a:rPr sz="1050" b="0" i="0">
                <a:solidFill>
                  <a:srgbClr val="16213A"/>
                </a:solidFill>
                <a:latin typeface="Arial"/>
                <a:ea typeface="Malgun Gothic"/>
                <a:cs typeface="Malgun Gothic"/>
              </a:rPr>
              <a:t> 바퀴 QP·몸통 최적화·전신 제어기·상태 추정기가 2코어 PC(i7-7500U) 하나의 병렬 스레드로 돈다. 각 최적화는 앞 단계의 마지막 해를 읽는다. 자율 기능(인식과 지도, 위치 추정, 경로 계획과 물체 검출)은 다른 PC 셋이 맡는다. 비용 가중치는 손으로 맞췄고, 보인 모든 동작에 한 세트를 썼다(원문 V-A). 후속 전신 MPC 논문(IV-D)은 반대로 분해형이 걸음새마다 비용 항을 다시 맞춰야 한다고 적는다. 두 논문이 같은 계획기를 두고 엇갈린다.</a:t>
            </a:r>
          </a:p>
        </p:txBody>
      </p:sp>
      <p:sp>
        <p:nvSpPr>
          <p:cNvPr id="13" name="TextBox 12"/>
          <p:cNvSpPr txBox="1"/>
          <p:nvPr/>
        </p:nvSpPr>
        <p:spPr>
          <a:xfrm>
            <a:off x="609600" y="5156994"/>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결과.</a:t>
            </a:r>
            <a:r>
              <a:rPr sz="1050" b="0" i="0">
                <a:solidFill>
                  <a:srgbClr val="16213A"/>
                </a:solidFill>
                <a:latin typeface="Arial"/>
                <a:ea typeface="Malgun Gothic"/>
                <a:cs typeface="Malgun Gothic"/>
              </a:rPr>
              <a:t> 계산 시간은 걸음새마다 다르다(원문 표 I). 모델 준비 시간을 포함하고, 바퀴 QP는 바퀴 하나의 값이다.</a:t>
            </a:r>
          </a:p>
        </p:txBody>
      </p:sp>
      <p:sp>
        <p:nvSpPr>
          <p:cNvPr id="14" name="TextBox 13"/>
          <p:cNvSpPr txBox="1"/>
          <p:nvPr/>
        </p:nvSpPr>
        <p:spPr>
          <a:xfrm>
            <a:off x="609600" y="5462389"/>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5개(문단·식·그림)는 대시보드 리서치 탭의 "자세히: Rolling in the Deep의 방법과 수식" 토글에 있다.</a:t>
            </a:r>
          </a:p>
        </p:txBody>
      </p:sp>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B.14 ETH RSL(Marco Hutter)의 계보: 높이 지도에서 배달로봇까지</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233 / 516</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바퀴·다리 전신 MPC — 몸통과 바퀴를 한 MPC로 풀고, 걸음 순서는 다리의 기구학 여유로 정한다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arXiv:2010.06322</a:t>
            </a:r>
            <a:r>
              <a:rPr sz="1050" b="0" i="0">
                <a:solidFill>
                  <a:srgbClr val="16213A"/>
                </a:solidFill>
                <a:latin typeface="Arial"/>
                <a:ea typeface="Malgun Gothic"/>
                <a:cs typeface="Malgun Gothic"/>
              </a:rPr>
              <a:t>, Bjelonic·Grandia·Harley·Galliard·Zimmermann·Hutter, IROS 2021, </a:t>
            </a:r>
            <a:r>
              <a:rPr sz="1050" b="0" i="0">
                <a:solidFill>
                  <a:srgbClr val="1D4ED8"/>
                </a:solidFill>
                <a:latin typeface="Arial"/>
                <a:ea typeface="Malgun Gothic"/>
                <a:cs typeface="Malgun Gothic"/>
                <a:hlinkClick r:id="rId4"/>
              </a:rPr>
              <a:t>영상</a:t>
            </a:r>
            <a:r>
              <a:rPr sz="1050" b="0" i="0">
                <a:solidFill>
                  <a:srgbClr val="16213A"/>
                </a:solidFill>
                <a:latin typeface="Arial"/>
                <a:ea typeface="Malgun Gothic"/>
                <a:cs typeface="Malgun Gothic"/>
              </a:rPr>
              <a:t>). Rolling in the Deep처럼 바퀴와 몸통을 나눠 풀면 둘을 맞추는 휴리스틱이 필요하고, 빠를 때 예측이 어긋난다. 이 논문은 둘을 한 최적화로 묶은 단일 과제 MPC를 실물에 올렸다. 걸음 순서도 미리 정하지 않고, 다리가 기구학 한계에 가까워질 때만 든다. 그래서 평지에서는 거의 구르기만 하고, 회전이 클수록 걸음이 늘어난다(순수 구르기·한 다리씩·트롯). 걸음 순서 생성은 지형을 보지 않는다.</a:t>
            </a:r>
          </a:p>
        </p:txBody>
      </p:sp>
      <p:sp>
        <p:nvSpPr>
          <p:cNvPr id="6" name="TextBox 5"/>
          <p:cNvSpPr txBox="1"/>
          <p:nvPr/>
        </p:nvSpPr>
        <p:spPr>
          <a:xfrm>
            <a:off x="609600" y="1982986"/>
            <a:ext cx="10972800" cy="86598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모델은 단일 강체 동역학(SRBD, single rigid body dynamics)에 다리 기구학을 더한 kinodynamic 모델이다. 바퀴는 상태에 넣지 않고 관절이 잠긴 채 움직이는 접지점으로 본다. 그래서 바퀴 넷을 더해도 계산 시간이 다리 로봇 MPC와 같다. 풀이기는 연속 시간 DDP(differential dynamic programming) 계열인 SLQ(sequential linear quadratic)다. 결과는 분해형보다 확실히 좋았다. 0.8 s 앞 COM 위치 예측 오차가 0.214 m에서 0.061 m로 약 71% 줄었다. 안정적으로 낼 수 있는 최고 속도는 1.5 m/s에서 2.5 m/s로 올랐다. 갱신 주기가 100–200 Hz에서 20–50 Hz로 낮아졌는데도 그렇다.</a:t>
            </a:r>
          </a:p>
        </p:txBody>
      </p:sp>
      <p:sp>
        <p:nvSpPr>
          <p:cNvPr id="7" name="TextBox 6"/>
          <p:cNvSpPr txBox="1"/>
          <p:nvPr/>
        </p:nvSpPr>
        <p:spPr>
          <a:xfrm>
            <a:off x="609600" y="2937867"/>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예측 오차라는 지표를 그대로 쓸 수 있다. 일정한 명령에서 </a:t>
            </a:r>
            <a:r>
              <a:rPr sz="1050" b="0" i="1">
                <a:solidFill>
                  <a:srgbClr val="16213A"/>
                </a:solidFill>
                <a:latin typeface="Arial"/>
                <a:ea typeface="Malgun Gothic"/>
                <a:cs typeface="Malgun Gothic"/>
              </a:rPr>
              <a:t>T</a:t>
            </a:r>
            <a:r>
              <a:rPr sz="1050" b="0" i="0">
                <a:solidFill>
                  <a:srgbClr val="16213A"/>
                </a:solidFill>
                <a:latin typeface="Arial"/>
                <a:ea typeface="Malgun Gothic"/>
                <a:cs typeface="Malgun Gothic"/>
              </a:rPr>
              <a:t>초 전에 예측한 위치와 지금 측정한 위치의 거리다. TP-0124는 기구학, 동역학, 학습 rollout 모델을 같은 벤치마크에서 비교하려 한다. 이 지표가 그 비교의 축이 된다. TP-0150에서 MPPI rollout이 가속 1.0 m/s²를 믿고 실제는 약 0.33 m/s²였던 어긋남도 이 지표에 바로 드러난다. 모델 정확도의 값과 구름 구속을 넣는 법은 아래 토글 끝에 있다.</a:t>
            </a:r>
          </a:p>
        </p:txBody>
      </p:sp>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B.14 ETH RSL(Marco Hutter)의 계보: 높이 지도에서 배달로봇까지</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234 / 516</a:t>
            </a:r>
          </a:p>
        </p:txBody>
      </p:sp>
      <p:pic>
        <p:nvPicPr>
          <p:cNvPr id="5" name="Picture 4" descr="image.jpg"/>
          <p:cNvPicPr>
            <a:picLocks noChangeAspect="1"/>
          </p:cNvPicPr>
          <p:nvPr/>
        </p:nvPicPr>
        <p:blipFill>
          <a:blip r:embed="rId3"/>
          <a:stretch>
            <a:fillRect/>
          </a:stretch>
        </p:blipFill>
        <p:spPr>
          <a:xfrm>
            <a:off x="609600" y="1244600"/>
            <a:ext cx="2324100" cy="2667000"/>
          </a:xfrm>
          <a:prstGeom prst="rect">
            <a:avLst/>
          </a:prstGeom>
        </p:spPr>
      </p:pic>
      <p:sp>
        <p:nvSpPr>
          <p:cNvPr id="6" name="TextBox 5"/>
          <p:cNvSpPr txBox="1"/>
          <p:nvPr/>
        </p:nvSpPr>
        <p:spPr>
          <a:xfrm>
            <a:off x="609600" y="3949700"/>
            <a:ext cx="54102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바퀴·다리 전신 MPC (Fig. 1): 풀밭과 언덕을 최고 2 m/s로 달리며 걸음 순서를 스스로 찾는다(위). 0.20 m 턱과 0.175 m 계단을 지형 인식 없이 넘는다(가운데). 페이스 걸음과 앞다리 0.28 m 점프(아래). 출처: arXiv:2010.06322</a:t>
            </a:r>
          </a:p>
        </p:txBody>
      </p:sp>
      <p:pic>
        <p:nvPicPr>
          <p:cNvPr id="7" name="Picture 6" descr="image.jpg"/>
          <p:cNvPicPr>
            <a:picLocks noChangeAspect="1"/>
          </p:cNvPicPr>
          <p:nvPr/>
        </p:nvPicPr>
        <p:blipFill>
          <a:blip r:embed="rId4"/>
          <a:stretch>
            <a:fillRect/>
          </a:stretch>
        </p:blipFill>
        <p:spPr>
          <a:xfrm>
            <a:off x="6172200" y="1244600"/>
            <a:ext cx="2228850" cy="2667000"/>
          </a:xfrm>
          <a:prstGeom prst="rect">
            <a:avLst/>
          </a:prstGeom>
        </p:spPr>
      </p:pic>
      <p:sp>
        <p:nvSpPr>
          <p:cNvPr id="8" name="TextBox 7"/>
          <p:cNvSpPr txBox="1"/>
          <p:nvPr/>
        </p:nvSpPr>
        <p:spPr>
          <a:xfrm>
            <a:off x="6172200" y="3949700"/>
            <a:ext cx="54102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바퀴·다리 전신 MPC (Fig. 4): 평지 혼합 트롯에서 0.8 s 앞 COM 위치 예측 오차를 선속도와 yaw 속도에 따라 그린 면이다. 위는 이 MPC(0.061 ± 0.044 m), 아래는 분해형(0.214 ± 0.061 m)이다. 출처: arXiv:2010.06322</a:t>
            </a:r>
          </a:p>
        </p:txBody>
      </p:sp>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B.14 ETH RSL(Marco Hutter)의 계보: 높이 지도에서 배달로봇까지</a:t>
            </a:r>
            <a:r>
              <a:rPr sz="1050" b="0" i="0">
                <a:solidFill>
                  <a:srgbClr val="5A6478"/>
                </a:solidFill>
                <a:latin typeface="Arial"/>
                <a:ea typeface="Malgun Gothic"/>
                <a:cs typeface="Malgun Gothic"/>
              </a:rPr>
              <a:t>  자세히: 바퀴·다리 전신 MPC의 방법과 수식</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235 / 516</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풀려는 문제.</a:t>
            </a:r>
            <a:r>
              <a:rPr sz="1050" b="0" i="0">
                <a:solidFill>
                  <a:srgbClr val="16213A"/>
                </a:solidFill>
                <a:latin typeface="Arial"/>
                <a:ea typeface="Malgun Gothic"/>
                <a:cs typeface="Malgun Gothic"/>
              </a:rPr>
              <a:t> 혼합 보행에는 두 결정이 있다. 연속 결정은 몸통과 바퀴의 궤적이고, 이산 결정은 들고 내리는 순서다. 분해형(바퀴 궤적과 몸통 궤적을 차례로 푸는 방식)은 둘을 맞출 휴리스틱이 필요하고, ZMP 같은 단순 모델은 동적 동작을 담지 못한다. 걸음 순서를 손으로 짜기도 어렵다. 바퀴·다리 로봇에는 본뜰 동물이 없기 때문이다(원문 I).</a:t>
            </a:r>
          </a:p>
        </p:txBody>
      </p:sp>
      <p:sp>
        <p:nvSpPr>
          <p:cNvPr id="6" name="TextBox 5"/>
          <p:cNvSpPr txBox="1"/>
          <p:nvPr/>
        </p:nvSpPr>
        <p:spPr>
          <a:xfrm>
            <a:off x="609600" y="176649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MPC 문제.</a:t>
            </a:r>
            <a:r>
              <a:rPr sz="1050" b="0" i="0">
                <a:solidFill>
                  <a:srgbClr val="16213A"/>
                </a:solidFill>
                <a:latin typeface="Arial"/>
                <a:ea typeface="Malgun Gothic"/>
                <a:cs typeface="Malgun Gothic"/>
              </a:rPr>
              <a:t> 마지막 측정 상태 </a:t>
            </a:r>
            <a:r>
              <a:rPr sz="1050" b="0" i="1">
                <a:solidFill>
                  <a:srgbClr val="16213A"/>
                </a:solidFill>
                <a:latin typeface="Arial"/>
                <a:ea typeface="Malgun Gothic"/>
                <a:cs typeface="Malgun Gothic"/>
              </a:rPr>
              <a:t>x₀</a:t>
            </a:r>
            <a:r>
              <a:rPr sz="1050" b="0" i="0">
                <a:solidFill>
                  <a:srgbClr val="16213A"/>
                </a:solidFill>
                <a:latin typeface="Arial"/>
                <a:ea typeface="Malgun Gothic"/>
                <a:cs typeface="Malgun Gothic"/>
              </a:rPr>
              <a:t>에서 지평 </a:t>
            </a:r>
            <a:r>
              <a:rPr sz="1050" b="0" i="1">
                <a:solidFill>
                  <a:srgbClr val="16213A"/>
                </a:solidFill>
                <a:latin typeface="Arial"/>
                <a:ea typeface="Malgun Gothic"/>
                <a:cs typeface="Malgun Gothic"/>
              </a:rPr>
              <a:t>T</a:t>
            </a:r>
            <a:r>
              <a:rPr sz="1050" b="0" i="0">
                <a:solidFill>
                  <a:srgbClr val="16213A"/>
                </a:solidFill>
                <a:latin typeface="Arial"/>
                <a:ea typeface="Malgun Gothic"/>
                <a:cs typeface="Malgun Gothic"/>
              </a:rPr>
              <a:t>의 최적 제어를 풀고, 새 해가 나올 때까지 그 피드백 정책을 쓴다.</a:t>
            </a:r>
          </a:p>
        </p:txBody>
      </p:sp>
      <p:pic>
        <p:nvPicPr>
          <p:cNvPr id="7" name="Picture 6" descr="image.png"/>
          <p:cNvPicPr>
            <a:picLocks noChangeAspect="1"/>
          </p:cNvPicPr>
          <p:nvPr/>
        </p:nvPicPr>
        <p:blipFill>
          <a:blip r:embed="rId3"/>
          <a:stretch>
            <a:fillRect/>
          </a:stretch>
        </p:blipFill>
        <p:spPr>
          <a:xfrm>
            <a:off x="609600" y="2071886"/>
            <a:ext cx="8150225" cy="457200"/>
          </a:xfrm>
          <a:prstGeom prst="rect">
            <a:avLst/>
          </a:prstGeom>
        </p:spPr>
      </p:pic>
      <p:sp>
        <p:nvSpPr>
          <p:cNvPr id="8" name="TextBox 7"/>
          <p:cNvSpPr txBox="1"/>
          <p:nvPr/>
        </p:nvSpPr>
        <p:spPr>
          <a:xfrm>
            <a:off x="609600" y="2535833"/>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상태-입력 등식은 Lagrangian 방법, 상태 등식은 벌점법, 부등식은 완화 장벽 함수(relaxed barrier)로 다룬다. 풀이기는 Farshidian 외의 SLQ에 Grandia 외의 피드백 정책을 붙인 것이다(원문 II). 비용은 기준 상태와 기준 입력에서 벗어난 정도의 2차식이다(원문 식 3). 몸통 기준 궤적은 조이스틱이나 내비게이션 계획기가 준 속도 명령을 적분해 만든다.</a:t>
            </a:r>
          </a:p>
        </p:txBody>
      </p:sp>
      <p:sp>
        <p:nvSpPr>
          <p:cNvPr id="9" name="TextBox 8"/>
          <p:cNvSpPr txBox="1"/>
          <p:nvPr/>
        </p:nvSpPr>
        <p:spPr>
          <a:xfrm>
            <a:off x="609600" y="3057723"/>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모델.</a:t>
            </a:r>
            <a:r>
              <a:rPr sz="1050" b="0" i="0">
                <a:solidFill>
                  <a:srgbClr val="16213A"/>
                </a:solidFill>
                <a:latin typeface="Arial"/>
                <a:ea typeface="Malgun Gothic"/>
                <a:cs typeface="Malgun Gothic"/>
              </a:rPr>
              <a:t> 상태는 </a:t>
            </a:r>
            <a:r>
              <a:rPr sz="1050" b="0" i="1">
                <a:solidFill>
                  <a:srgbClr val="16213A"/>
                </a:solidFill>
                <a:latin typeface="Arial"/>
                <a:ea typeface="Malgun Gothic"/>
                <a:cs typeface="Malgun Gothic"/>
              </a:rPr>
              <a:t>x = (θ, p, ω, v, q_j) ∈ ℝ²⁴</a:t>
            </a:r>
            <a:r>
              <a:rPr sz="1050" b="0" i="0">
                <a:solidFill>
                  <a:srgbClr val="16213A"/>
                </a:solidFill>
                <a:latin typeface="Arial"/>
                <a:ea typeface="Malgun Gothic"/>
                <a:cs typeface="Malgun Gothic"/>
              </a:rPr>
              <a:t>이고 입력은 </a:t>
            </a:r>
            <a:r>
              <a:rPr sz="1050" b="0" i="1">
                <a:solidFill>
                  <a:srgbClr val="16213A"/>
                </a:solidFill>
                <a:latin typeface="Arial"/>
                <a:ea typeface="Malgun Gothic"/>
                <a:cs typeface="Malgun Gothic"/>
              </a:rPr>
              <a:t>u = (λ_E, u_j) ∈ ℝ²⁴</a:t>
            </a:r>
            <a:r>
              <a:rPr sz="1050" b="0" i="0">
                <a:solidFill>
                  <a:srgbClr val="16213A"/>
                </a:solidFill>
                <a:latin typeface="Arial"/>
                <a:ea typeface="Malgun Gothic"/>
                <a:cs typeface="Malgun Gothic"/>
              </a:rPr>
              <a:t>다. 관절 12개, 다리 4개다. 동역학은 SRBD에 관절 속도 적분을 더한 것이다. 관성은 기준 자세에서 잰 값으로 고정한다(원문 식 4).</a:t>
            </a:r>
          </a:p>
        </p:txBody>
      </p:sp>
      <p:pic>
        <p:nvPicPr>
          <p:cNvPr id="10" name="Picture 9" descr="image.png"/>
          <p:cNvPicPr>
            <a:picLocks noChangeAspect="1"/>
          </p:cNvPicPr>
          <p:nvPr/>
        </p:nvPicPr>
        <p:blipFill>
          <a:blip r:embed="rId4"/>
          <a:stretch>
            <a:fillRect/>
          </a:stretch>
        </p:blipFill>
        <p:spPr>
          <a:xfrm>
            <a:off x="609600" y="3579614"/>
            <a:ext cx="5826125" cy="466725"/>
          </a:xfrm>
          <a:prstGeom prst="rect">
            <a:avLst/>
          </a:prstGeom>
        </p:spPr>
      </p:pic>
      <p:sp>
        <p:nvSpPr>
          <p:cNvPr id="11" name="TextBox 10"/>
          <p:cNvSpPr txBox="1"/>
          <p:nvPr/>
        </p:nvSpPr>
        <p:spPr>
          <a:xfrm>
            <a:off x="609600" y="4049712"/>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접지점 </a:t>
            </a:r>
            <a:r>
              <a:rPr sz="1050" b="0" i="1">
                <a:solidFill>
                  <a:srgbClr val="16213A"/>
                </a:solidFill>
                <a:latin typeface="Arial"/>
                <a:ea typeface="Malgun Gothic"/>
                <a:cs typeface="Malgun Gothic"/>
              </a:rPr>
              <a:t>r_(Eᵢ)(q_j)</a:t>
            </a:r>
            <a:r>
              <a:rPr sz="1050" b="0" i="0">
                <a:solidFill>
                  <a:srgbClr val="16213A"/>
                </a:solidFill>
                <a:latin typeface="Arial"/>
                <a:ea typeface="Malgun Gothic"/>
                <a:cs typeface="Malgun Gothic"/>
              </a:rPr>
              <a:t>가 관절각의 함수라서 순기구학으로 구름 방향을 정확히 얻는다. 기구학이 없는 SRBD와 다른 점이다. 바퀴 모델을 통째로 넣으면 다리마다 상태와 입력이 둘씩 늘고, SLQ 역방향 패스 비용은 차원의 세제곱으로 커진다. 그래서 바퀴를 관절이 잠긴 움직이는 접지점으로 두고, 바퀴 명령은 접지점 속도와 바퀴 반지름으로 바꾼다(원문 III-A1).</a:t>
            </a:r>
          </a:p>
        </p:txBody>
      </p:sp>
      <p:sp>
        <p:nvSpPr>
          <p:cNvPr id="12" name="TextBox 11"/>
          <p:cNvSpPr txBox="1"/>
          <p:nvPr/>
        </p:nvSpPr>
        <p:spPr>
          <a:xfrm>
            <a:off x="609600" y="4571603"/>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구름 구속.</a:t>
            </a:r>
            <a:r>
              <a:rPr sz="1050" b="0" i="0">
                <a:solidFill>
                  <a:srgbClr val="16213A"/>
                </a:solidFill>
                <a:latin typeface="Arial"/>
                <a:ea typeface="Malgun Gothic"/>
                <a:cs typeface="Malgun Gothic"/>
              </a:rPr>
              <a:t> 접지한 다리 </a:t>
            </a:r>
            <a:r>
              <a:rPr sz="1050" b="0" i="1">
                <a:solidFill>
                  <a:srgbClr val="16213A"/>
                </a:solidFill>
                <a:latin typeface="Arial"/>
                <a:ea typeface="Malgun Gothic"/>
                <a:cs typeface="Malgun Gothic"/>
              </a:rPr>
              <a:t>i</a:t>
            </a:r>
            <a:r>
              <a:rPr sz="1050" b="0" i="0">
                <a:solidFill>
                  <a:srgbClr val="16213A"/>
                </a:solidFill>
                <a:latin typeface="Arial"/>
                <a:ea typeface="Malgun Gothic"/>
                <a:cs typeface="Malgun Gothic"/>
              </a:rPr>
              <a:t>에는 다음을 건다. 구름 방향 성분 </a:t>
            </a:r>
            <a:r>
              <a:rPr sz="1050" b="0" i="1">
                <a:solidFill>
                  <a:srgbClr val="16213A"/>
                </a:solidFill>
                <a:latin typeface="Arial"/>
                <a:ea typeface="Malgun Gothic"/>
                <a:cs typeface="Malgun Gothic"/>
              </a:rPr>
              <a:t>πₚₐᵣₐₗₗₑₗ(v_(Eᵢ))</a:t>
            </a:r>
            <a:r>
              <a:rPr sz="1050" b="0" i="0">
                <a:solidFill>
                  <a:srgbClr val="16213A"/>
                </a:solidFill>
                <a:latin typeface="Arial"/>
                <a:ea typeface="Malgun Gothic"/>
                <a:cs typeface="Malgun Gothic"/>
              </a:rPr>
              <a:t>는 자유다(원문 식 5).</a:t>
            </a:r>
          </a:p>
        </p:txBody>
      </p:sp>
      <p:pic>
        <p:nvPicPr>
          <p:cNvPr id="13" name="Picture 12" descr="image.png"/>
          <p:cNvPicPr>
            <a:picLocks noChangeAspect="1"/>
          </p:cNvPicPr>
          <p:nvPr/>
        </p:nvPicPr>
        <p:blipFill>
          <a:blip r:embed="rId5"/>
          <a:stretch>
            <a:fillRect/>
          </a:stretch>
        </p:blipFill>
        <p:spPr>
          <a:xfrm>
            <a:off x="609600" y="4876998"/>
            <a:ext cx="3502025" cy="241300"/>
          </a:xfrm>
          <a:prstGeom prst="rect">
            <a:avLst/>
          </a:prstGeom>
        </p:spPr>
      </p:pic>
      <p:sp>
        <p:nvSpPr>
          <p:cNvPr id="14" name="TextBox 13"/>
          <p:cNvSpPr txBox="1"/>
          <p:nvPr/>
        </p:nvSpPr>
        <p:spPr>
          <a:xfrm>
            <a:off x="609600" y="5154513"/>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공중 다리는 접촉력이 0이고, 지면 법선 방향 속도가 미리 정한 스윙 궤적 </a:t>
            </a:r>
            <a:r>
              <a:rPr sz="1050" b="0" i="1">
                <a:solidFill>
                  <a:srgbClr val="16213A"/>
                </a:solidFill>
                <a:latin typeface="Arial"/>
                <a:ea typeface="Malgun Gothic"/>
                <a:cs typeface="Malgun Gothic"/>
              </a:rPr>
              <a:t>c(t)</a:t>
            </a:r>
            <a:r>
              <a:rPr sz="1050" b="0" i="0">
                <a:solidFill>
                  <a:srgbClr val="16213A"/>
                </a:solidFill>
                <a:latin typeface="Arial"/>
                <a:ea typeface="Malgun Gothic"/>
                <a:cs typeface="Malgun Gothic"/>
              </a:rPr>
              <a:t>를 따른다(원문 식 6).</a:t>
            </a:r>
          </a:p>
        </p:txBody>
      </p:sp>
      <p:sp>
        <p:nvSpPr>
          <p:cNvPr id="15" name="TextBox 14"/>
          <p:cNvSpPr txBox="1"/>
          <p:nvPr/>
        </p:nvSpPr>
        <p:spPr>
          <a:xfrm>
            <a:off x="609600" y="5459909"/>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걸음 순서 생성.</a:t>
            </a:r>
            <a:r>
              <a:rPr sz="1050" b="0" i="0">
                <a:solidFill>
                  <a:srgbClr val="16213A"/>
                </a:solidFill>
                <a:latin typeface="Arial"/>
                <a:ea typeface="Malgun Gothic"/>
                <a:cs typeface="Malgun Gothic"/>
              </a:rPr>
              <a:t> 다리 </a:t>
            </a:r>
            <a:r>
              <a:rPr sz="1050" b="0" i="1">
                <a:solidFill>
                  <a:srgbClr val="16213A"/>
                </a:solidFill>
                <a:latin typeface="Arial"/>
                <a:ea typeface="Malgun Gothic"/>
                <a:cs typeface="Malgun Gothic"/>
              </a:rPr>
              <a:t>i</a:t>
            </a:r>
            <a:r>
              <a:rPr sz="1050" b="0" i="0">
                <a:solidFill>
                  <a:srgbClr val="16213A"/>
                </a:solidFill>
                <a:latin typeface="Arial"/>
                <a:ea typeface="Malgun Gothic"/>
                <a:cs typeface="Malgun Gothic"/>
              </a:rPr>
              <a:t>의 기구학 효용 </a:t>
            </a:r>
            <a:r>
              <a:rPr sz="1050" b="0" i="1">
                <a:solidFill>
                  <a:srgbClr val="16213A"/>
                </a:solidFill>
                <a:latin typeface="Arial"/>
                <a:ea typeface="Malgun Gothic"/>
                <a:cs typeface="Malgun Gothic"/>
              </a:rPr>
              <a:t>uᵢ(t) ∈ [0, 1]</a:t>
            </a:r>
            <a:r>
              <a:rPr sz="1050" b="0" i="0">
                <a:solidFill>
                  <a:srgbClr val="16213A"/>
                </a:solidFill>
                <a:latin typeface="Arial"/>
                <a:ea typeface="Malgun Gothic"/>
                <a:cs typeface="Malgun Gothic"/>
              </a:rPr>
              <a:t>을 구름 방향과 옆 방향의 반지름이 다른 타원으로 정의한다. </a:t>
            </a:r>
            <a:r>
              <a:rPr sz="1050" b="0" i="1">
                <a:solidFill>
                  <a:srgbClr val="16213A"/>
                </a:solidFill>
                <a:latin typeface="Arial"/>
                <a:ea typeface="Malgun Gothic"/>
                <a:cs typeface="Malgun Gothic"/>
              </a:rPr>
              <a:t>r̃_(Eᵢ)</a:t>
            </a:r>
            <a:r>
              <a:rPr sz="1050" b="0" i="0">
                <a:solidFill>
                  <a:srgbClr val="16213A"/>
                </a:solidFill>
                <a:latin typeface="Arial"/>
                <a:ea typeface="Malgun Gothic"/>
                <a:cs typeface="Malgun Gothic"/>
              </a:rPr>
              <a:t>는 몸통 기준 궤적을 따라 예측한 접지점이 기구학상 기본 위치에서 벗어난 양이다(원문 식 7).</a:t>
            </a:r>
          </a:p>
        </p:txBody>
      </p:sp>
      <p:sp>
        <p:nvSpPr>
          <p:cNvPr id="16" name="TextBox 15"/>
          <p:cNvSpPr txBox="1"/>
          <p:nvPr/>
        </p:nvSpPr>
        <p:spPr>
          <a:xfrm>
            <a:off x="609600" y="5981799"/>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9개(문단·식·그림)는 대시보드 리서치 탭의 "자세히: 바퀴·다리 전신 MPC의 방법과 수식" 토글에 있다.</a:t>
            </a:r>
          </a:p>
        </p:txBody>
      </p:sp>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B.14 ETH RSL(Marco Hutter)의 계보: 높이 지도에서 배달로봇까지</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236 / 516</a:t>
            </a:r>
          </a:p>
        </p:txBody>
      </p:sp>
      <p:sp>
        <p:nvSpPr>
          <p:cNvPr id="5" name="TextBox 4"/>
          <p:cNvSpPr txBox="1"/>
          <p:nvPr/>
        </p:nvSpPr>
        <p:spPr>
          <a:xfrm>
            <a:off x="609600" y="1244600"/>
            <a:ext cx="10972800" cy="108247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오프라인 모션 라이브러리와 온라인 MPC — 오프라인 궤적을 제약이 아니라 MPC 비용으로 넣는다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IJRR 41(9–10) 2022</a:t>
            </a:r>
            <a:r>
              <a:rPr sz="1050" b="0" i="0">
                <a:solidFill>
                  <a:srgbClr val="16213A"/>
                </a:solidFill>
                <a:latin typeface="Arial"/>
                <a:ea typeface="Malgun Gothic"/>
                <a:cs typeface="Malgun Gothic"/>
              </a:rPr>
              <a:t>, Bjelonic·Grandia·Geilinger·Harley·Medeiros·Pajovic·Jelavic·Coros·Hutter, </a:t>
            </a:r>
            <a:r>
              <a:rPr sz="1050" b="0" i="0">
                <a:solidFill>
                  <a:srgbClr val="1D4ED8"/>
                </a:solidFill>
                <a:latin typeface="Arial"/>
                <a:ea typeface="Malgun Gothic"/>
                <a:cs typeface="Malgun Gothic"/>
                <a:hlinkClick r:id="rId4"/>
              </a:rPr>
              <a:t>오픈 액세스 PDF</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5"/>
              </a:rPr>
              <a:t>영상</a:t>
            </a:r>
            <a:r>
              <a:rPr sz="1050" b="0" i="0">
                <a:solidFill>
                  <a:srgbClr val="16213A"/>
                </a:solidFill>
                <a:latin typeface="Arial"/>
                <a:ea typeface="Malgun Gothic"/>
                <a:cs typeface="Malgun Gothic"/>
              </a:rPr>
              <a:t>). 긴 지평의 복잡한 동작은 오프라인 궤적 최적화(TO)로 만들고, 실물에서는 위 전신 MPC가 1초 앞을 보며 그 궤적을 비용으로 따라간다. 궤적을 hard 제약이나 초기값으로 넣으면 문제가 풀리지 않을 수 있어서, 비용으로 넣어 동역학이 맞지 않거나 끊긴 궤적도 받는다. 실물에서 동작 89개가 성공했고, 0.20 m 턱을 1.5 m/s로 넘고 탁자 밑으로 숙여 지나가고 약 1초에 180° 돌았다. travplan의 Planner와 Controller 사이 계약이 이 구조다. Planner D의 시간 인덱스 궤적은 </a:t>
            </a:r>
            <a:r>
              <a:rPr sz="1050" b="0" i="0">
                <a:solidFill>
                  <a:srgbClr val="16213A"/>
                </a:solidFill>
                <a:latin typeface="Consolas"/>
                <a:ea typeface="Malgun Gothic"/>
                <a:cs typeface="Malgun Gothic"/>
              </a:rPr>
              <a:t>ReferenceCost</a:t>
            </a:r>
            <a:r>
              <a:rPr sz="1050" b="0" i="0">
                <a:solidFill>
                  <a:srgbClr val="16213A"/>
                </a:solidFill>
                <a:latin typeface="Arial"/>
                <a:ea typeface="Malgun Gothic"/>
                <a:cs typeface="Malgun Gothic"/>
              </a:rPr>
              <a:t> 시간 모드로 MPPI 비용에 들어간다(B.8.3).</a:t>
            </a:r>
          </a:p>
        </p:txBody>
      </p:sp>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B.14 ETH RSL(Marco Hutter)의 계보: 높이 지도에서 배달로봇까지</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237 / 516</a:t>
            </a:r>
          </a:p>
        </p:txBody>
      </p:sp>
      <p:pic>
        <p:nvPicPr>
          <p:cNvPr id="5" name="Picture 4" descr="image.jpg"/>
          <p:cNvPicPr>
            <a:picLocks noChangeAspect="1"/>
          </p:cNvPicPr>
          <p:nvPr/>
        </p:nvPicPr>
        <p:blipFill>
          <a:blip r:embed="rId3"/>
          <a:stretch>
            <a:fillRect/>
          </a:stretch>
        </p:blipFill>
        <p:spPr>
          <a:xfrm>
            <a:off x="4689475" y="1244600"/>
            <a:ext cx="2813050" cy="4445000"/>
          </a:xfrm>
          <a:prstGeom prst="rect">
            <a:avLst/>
          </a:prstGeom>
        </p:spPr>
      </p:pic>
      <p:sp>
        <p:nvSpPr>
          <p:cNvPr id="6" name="TextBox 5"/>
          <p:cNvSpPr txBox="1"/>
          <p:nvPr/>
        </p:nvSpPr>
        <p:spPr>
          <a:xfrm>
            <a:off x="4689475" y="5727700"/>
            <a:ext cx="2813050" cy="710902"/>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오프라인 모션 라이브러리와 온라인 MPC (Fig. 1): 0.20 m 턱 넘기(위), 탁자 밑 숙이기(가운데), 약 1초의 180° 회전(아래). 점선은 오프라인 궤적 최적화의 전신 궤적이고, 실선은 MPC의 온라인 해다. 출처: Bjelonic 외, IJRR 41(9–10) 2022, CC BY 4.0. 파일은 ETH Research Collection의 PDF 그림을 WebP로 옮긴 것이다</a:t>
            </a:r>
          </a:p>
        </p:txBody>
      </p:sp>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B.14 ETH RSL(Marco Hutter)의 계보: 높이 지도에서 배달로봇까지</a:t>
            </a:r>
            <a:r>
              <a:rPr sz="1050" b="0" i="0">
                <a:solidFill>
                  <a:srgbClr val="5A6478"/>
                </a:solidFill>
                <a:latin typeface="Arial"/>
                <a:ea typeface="Malgun Gothic"/>
                <a:cs typeface="Malgun Gothic"/>
              </a:rPr>
              <a:t>  자세히: 오프라인 모션 라이브러리와 온라인 MPC의 수치</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238 / 516</a:t>
            </a:r>
          </a:p>
        </p:txBody>
      </p:sp>
      <p:sp>
        <p:nvSpPr>
          <p:cNvPr id="5" name="TextBox 4"/>
          <p:cNvSpPr txBox="1"/>
          <p:nvPr/>
        </p:nvSpPr>
        <p:spPr>
          <a:xfrm>
            <a:off x="609600" y="1244600"/>
            <a:ext cx="10972800" cy="2992239"/>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계층과 주기.</a:t>
            </a:r>
            <a:r>
              <a:rPr sz="1050" b="0" i="0">
                <a:solidFill>
                  <a:srgbClr val="16213A"/>
                </a:solidFill>
                <a:latin typeface="Arial"/>
                <a:ea typeface="Malgun Gothic"/>
                <a:cs typeface="Malgun Gothic"/>
              </a:rPr>
              <a:t> 오프라인 궤적은 노트북에서 만들어 로봇에 저장한다. 로봇 안 PC(i7-8850H 6코어)에서 MPC가 1초 지평으로 20–50 Hz에 돈다. 역동역학과 상태 추정은 400 Hz다(원문 3.3·7.1).</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비용으로 넣는 이유.</a:t>
            </a:r>
            <a:r>
              <a:rPr sz="1050" b="0" i="0">
                <a:solidFill>
                  <a:srgbClr val="16213A"/>
                </a:solidFill>
                <a:latin typeface="Arial"/>
                <a:ea typeface="Malgun Gothic"/>
                <a:cs typeface="Malgun Gothic"/>
              </a:rPr>
              <a:t> 궤적을 hard 제약이나 초기값으로 넣으면 문제가 풀리지 않을 수 있다(원문 3.1). 비용으로 넣으면 연속이 아니거나 동역학이 맞지 않는 궤적도 받는다(원문 5.1.1). 한 점만 추종하는 단순 추종기는 큰 추종 오차를 다루지 못한다(원문 R2).</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생성기 셋.</a:t>
            </a:r>
            <a:r>
              <a:rPr sz="1050" b="0" i="0">
                <a:solidFill>
                  <a:srgbClr val="16213A"/>
                </a:solidFill>
                <a:latin typeface="Arial"/>
                <a:ea typeface="Malgun Gothic"/>
                <a:cs typeface="Malgun Gothic"/>
              </a:rPr>
              <a:t> 대화형 TO는 중심 동역학(centroidal dynamics) 모델을 쓰고, 설계자가 시각별 목표를 고치며 결과를 바로 본다. 지형 인식 TO는 Winkler 외(2018)의 위상 기반 매개변수화에 바퀴를 더한 SRBD 모델로, 2.5D 높이 지도 위에서 걸음 시각까지 최적화한다. 샘플링 방법은 Jelavic 외(2021)를 옮긴 것으로, RRT로 자세를 뽑은 뒤 비선형 최적화로 정적 안정 궤적을 만든다(원문 4.2–4.4).</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동작 수.</a:t>
            </a:r>
            <a:r>
              <a:rPr sz="1050" b="0" i="0">
                <a:solidFill>
                  <a:srgbClr val="16213A"/>
                </a:solidFill>
                <a:latin typeface="Arial"/>
                <a:ea typeface="Malgun Gothic"/>
                <a:cs typeface="Malgun Gothic"/>
              </a:rPr>
              <a:t> 지형 인식 TO 30개, 대화형 TO 53개, 샘플링 방법 6개가 실물에서 성공했다. 실패한 16개는 대부분 토크 한계였다(2 m/s 넘는 턱 넘기, 너무 빠른 회전). 그 가운데 12개는 오차 없는 시각화와 ODE 시뮬레이션의 두 단계 검증으로 미리 알아낼 수 있었다. 성공한 동작은 MPC 매개변수를 하나도 다시 맞추지 않았다(원문 R3).</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단순 추종기와의 비교.</a:t>
            </a:r>
            <a:r>
              <a:rPr sz="1050" b="0" i="0">
                <a:solidFill>
                  <a:srgbClr val="16213A"/>
                </a:solidFill>
                <a:latin typeface="Arial"/>
                <a:ea typeface="Malgun Gothic"/>
                <a:cs typeface="Malgun Gothic"/>
              </a:rPr>
              <a:t> 한 시점의 목표만 보는 단순 추종기(Bjelonic 2019)는 모델에 없던 경사에서 넘어졌고, MPC는 회복했다(원문 R2·그림 11).</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이어 붙이기.</a:t>
            </a:r>
            <a:r>
              <a:rPr sz="1050" b="0" i="0">
                <a:solidFill>
                  <a:srgbClr val="16213A"/>
                </a:solidFill>
                <a:latin typeface="Arial"/>
                <a:ea typeface="Malgun Gothic"/>
                <a:cs typeface="Malgun Gothic"/>
              </a:rPr>
              <a:t> 전환은 셋이다. 바로 잇기, 1초 대기, 1초 트롯 재배치다. 실행 전에 각 전환으로 MPC를 한 번 돌려 비용이 가장 낮은 것을 고른다(원문 6). 숙이기, 90° 회전, 숙이기를 이은 약 8초 동작과 1초 궤적 11개를 이은 11초 춤을 실행했다. 평지에서는 25초 춤도 성능 저하 없이 돌았다. 장애물 위에서는 상태 추정 드리프트 때문에 5초 궤적까지 썼다(원문 R4).</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바퀴의 몫.</a:t>
            </a:r>
            <a:r>
              <a:rPr sz="1050" b="0" i="0">
                <a:solidFill>
                  <a:srgbClr val="16213A"/>
                </a:solidFill>
                <a:latin typeface="Arial"/>
                <a:ea typeface="Malgun Gothic"/>
                <a:cs typeface="Malgun Gothic"/>
              </a:rPr>
              <a:t> 같은 턱에서 다리형 ANYmal은 다리마다 다섯 걸음, 바퀴형은 한 걸음이었다(원문 R5).</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선행 MPC의 한계.</a:t>
            </a:r>
            <a:r>
              <a:rPr sz="1050" b="0" i="0">
                <a:solidFill>
                  <a:srgbClr val="16213A"/>
                </a:solidFill>
                <a:latin typeface="Arial"/>
                <a:ea typeface="Malgun Gothic"/>
                <a:cs typeface="Malgun Gothic"/>
              </a:rPr>
              <a:t> 1초 앞만 보는 전신 MPC(2021)는 장애물 위에서 불필요한 걸음을 냈다. 오프라인 궤적을 비용에 넣어 전체 지평의 최적성을 더했다(원문 7.2 끝).</a:t>
            </a:r>
          </a:p>
        </p:txBody>
      </p:sp>
      <p:sp>
        <p:nvSpPr>
          <p:cNvPr id="6" name="TextBox 5"/>
          <p:cNvSpPr txBox="1"/>
          <p:nvPr/>
        </p:nvSpPr>
        <p:spPr>
          <a:xfrm>
            <a:off x="609600" y="4325739"/>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것.</a:t>
            </a:r>
            <a:r>
              <a:rPr sz="1050" b="0" i="0">
                <a:solidFill>
                  <a:srgbClr val="16213A"/>
                </a:solidFill>
                <a:latin typeface="Arial"/>
                <a:ea typeface="Malgun Gothic"/>
                <a:cs typeface="Malgun Gothic"/>
              </a:rPr>
              <a:t> 이 논문은 비용으로 넣기와 지평을 두고 앞을 보기가 실물에서 맞다는 근거다. travplan 벤치마크의 tracker 대 MPPI 차이(B.8.3)는 주로 지도를 보는지에서 오므로 이 근거로 쓰지 않는다. 한 점 추종과 지평 추종의 차이는 travplan에서 따로 재지 않았다. 가져올 절차는 둘이다. 하나는 궤적을 이어 붙이기 전에 전환 후보마다 MPC 비용을 한 번 계산해 가장 싼 전환을 고르는 것이다. Planner D가 Guidance 폴백(TP-0078)으로 갈아탈 때 같은 채점을 쓸 수 있다. 다른 하나는 실물 전에 시각화와 물리 시뮬레이션으로 거르는 두 단계 검증이다.</a:t>
            </a:r>
          </a:p>
        </p:txBody>
      </p:sp>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B.14 ETH RSL(Marco Hutter)의 계보: 높이 지도에서 배달로봇까지</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239 / 516</a:t>
            </a:r>
          </a:p>
        </p:txBody>
      </p:sp>
      <p:sp>
        <p:nvSpPr>
          <p:cNvPr id="5" name="TextBox 4"/>
          <p:cNvSpPr txBox="1"/>
          <p:nvPr/>
        </p:nvSpPr>
        <p:spPr>
          <a:xfrm>
            <a:off x="609600" y="1244600"/>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Multi-AMP — 궤적 최적화와 기존 정책의 동작을 스타일 prior로 삼아, 바퀴 로봇이 두 바퀴로 서게 했다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arXiv:2203.14912</a:t>
            </a:r>
            <a:r>
              <a:rPr sz="1050" b="0" i="0">
                <a:solidFill>
                  <a:srgbClr val="16213A"/>
                </a:solidFill>
                <a:latin typeface="Arial"/>
                <a:ea typeface="Malgun Gothic"/>
                <a:cs typeface="Malgun Gothic"/>
              </a:rPr>
              <a:t>, Vollenweider·Bjelonic·Klemm·Rudin·Lee·Hutter, ICRA 2023, </a:t>
            </a:r>
            <a:r>
              <a:rPr sz="1050" b="0" i="0">
                <a:solidFill>
                  <a:srgbClr val="1D4ED8"/>
                </a:solidFill>
                <a:latin typeface="Arial"/>
                <a:ea typeface="Malgun Gothic"/>
                <a:cs typeface="Malgun Gothic"/>
                <a:hlinkClick r:id="rId4"/>
              </a:rPr>
              <a:t>영상</a:t>
            </a:r>
            <a:r>
              <a:rPr sz="1050" b="0" i="0">
                <a:solidFill>
                  <a:srgbClr val="16213A"/>
                </a:solidFill>
                <a:latin typeface="Arial"/>
                <a:ea typeface="Malgun Gothic"/>
                <a:cs typeface="Malgun Gothic"/>
              </a:rPr>
              <a:t>). AMP(adversarial motion prior)는 판별기가 정책의 상태 전이가 동작 데이터와 닮았는지를 점수로 내고, 그 점수를 스타일 보상으로 쓰는 모방 학습이다. Multi-AMP는 스타일마다 판별기를 하나씩 두고, 정책 입력의 one-hot 선택자로 스타일을 바꾼다. 숙이기 동작 데이터는 IJRR 2022의 궤적 최적화 결과를 MPC로 추종한 기록이다. 실물 바퀴·다리 로봇이 네 바퀴 자세와 두 바퀴로 선 자세를 오갔고, 저자들은 이것을 실물에서 처음 보인 사족·인간형 전환으로 적는다. 실험 로봇 몸통에는 Swiss-Mile 표식이 붙어 있다.</a:t>
            </a:r>
          </a:p>
        </p:txBody>
      </p:sp>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B.14 ETH RSL(Marco Hutter)의 계보: 높이 지도에서 배달로봇까지</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240 / 516</a:t>
            </a:r>
          </a:p>
        </p:txBody>
      </p:sp>
      <p:pic>
        <p:nvPicPr>
          <p:cNvPr id="5" name="Picture 4" descr="image.jpg"/>
          <p:cNvPicPr>
            <a:picLocks noChangeAspect="1"/>
          </p:cNvPicPr>
          <p:nvPr/>
        </p:nvPicPr>
        <p:blipFill>
          <a:blip r:embed="rId3"/>
          <a:stretch>
            <a:fillRect/>
          </a:stretch>
        </p:blipFill>
        <p:spPr>
          <a:xfrm>
            <a:off x="5041900" y="1244600"/>
            <a:ext cx="2108200" cy="4445000"/>
          </a:xfrm>
          <a:prstGeom prst="rect">
            <a:avLst/>
          </a:prstGeom>
        </p:spPr>
      </p:pic>
      <p:sp>
        <p:nvSpPr>
          <p:cNvPr id="6" name="TextBox 5"/>
          <p:cNvSpPr txBox="1"/>
          <p:nvPr/>
        </p:nvSpPr>
        <p:spPr>
          <a:xfrm>
            <a:off x="5041900" y="5727700"/>
            <a:ext cx="2108200" cy="568722"/>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Multi-AMP (Fig. 1): 바퀴·다리 로봇의 서기와 앉기 타임랩스(위), 두 바퀴로 선 채 장애물 넘기(가운데), 두 바퀴로 선 채 실내 이동(아래). 출처: arXiv:2203.14912</a:t>
            </a:r>
          </a:p>
        </p:txBody>
      </p:sp>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B.14 ETH RSL(Marco Hutter)의 계보: 높이 지도에서 배달로봇까지</a:t>
            </a:r>
            <a:r>
              <a:rPr sz="1050" b="0" i="0">
                <a:solidFill>
                  <a:srgbClr val="5A6478"/>
                </a:solidFill>
                <a:latin typeface="Arial"/>
                <a:ea typeface="Malgun Gothic"/>
                <a:cs typeface="Malgun Gothic"/>
              </a:rPr>
              <a:t>  자세히: Multi-AMP의 보상과 학습 설정</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241 / 516</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보상.</a:t>
            </a:r>
            <a:r>
              <a:rPr sz="1050" b="0" i="0">
                <a:solidFill>
                  <a:srgbClr val="16213A"/>
                </a:solidFill>
                <a:latin typeface="Arial"/>
                <a:ea typeface="Malgun Gothic"/>
                <a:cs typeface="Malgun Gothic"/>
              </a:rPr>
              <a:t> 전체 보상은 과제 보상과 스타일 보상의 합 </a:t>
            </a:r>
            <a:r>
              <a:rPr sz="1050" b="0" i="1">
                <a:solidFill>
                  <a:srgbClr val="16213A"/>
                </a:solidFill>
                <a:latin typeface="Arial"/>
                <a:ea typeface="Malgun Gothic"/>
                <a:cs typeface="Malgun Gothic"/>
              </a:rPr>
              <a:t>rₜ = r^(task)ₜ + r^(style)ₜ</a:t>
            </a:r>
            <a:r>
              <a:rPr sz="1050" b="0" i="0">
                <a:solidFill>
                  <a:srgbClr val="16213A"/>
                </a:solidFill>
                <a:latin typeface="Arial"/>
                <a:ea typeface="Malgun Gothic"/>
                <a:cs typeface="Malgun Gothic"/>
              </a:rPr>
              <a:t>다. 스타일 </a:t>
            </a:r>
            <a:r>
              <a:rPr sz="1050" b="0" i="1">
                <a:solidFill>
                  <a:srgbClr val="16213A"/>
                </a:solidFill>
                <a:latin typeface="Arial"/>
                <a:ea typeface="Malgun Gothic"/>
                <a:cs typeface="Malgun Gothic"/>
              </a:rPr>
              <a:t>i</a:t>
            </a:r>
            <a:r>
              <a:rPr sz="1050" b="0" i="0">
                <a:solidFill>
                  <a:srgbClr val="16213A"/>
                </a:solidFill>
                <a:latin typeface="Arial"/>
                <a:ea typeface="Malgun Gothic"/>
                <a:cs typeface="Malgun Gothic"/>
              </a:rPr>
              <a:t>의 판별기 </a:t>
            </a:r>
            <a:r>
              <a:rPr sz="1050" b="0" i="1">
                <a:solidFill>
                  <a:srgbClr val="16213A"/>
                </a:solidFill>
                <a:latin typeface="Arial"/>
                <a:ea typeface="Malgun Gothic"/>
                <a:cs typeface="Malgun Gothic"/>
              </a:rPr>
              <a:t>Dⁱ</a:t>
            </a:r>
            <a:r>
              <a:rPr sz="1050" b="0" i="0">
                <a:solidFill>
                  <a:srgbClr val="16213A"/>
                </a:solidFill>
                <a:latin typeface="Arial"/>
                <a:ea typeface="Malgun Gothic"/>
                <a:cs typeface="Malgun Gothic"/>
              </a:rPr>
              <a:t>는 연속한 두 상태의 서술자 </a:t>
            </a:r>
            <a:r>
              <a:rPr sz="1050" b="0" i="1">
                <a:solidFill>
                  <a:srgbClr val="16213A"/>
                </a:solidFill>
                <a:latin typeface="Arial"/>
                <a:ea typeface="Malgun Gothic"/>
                <a:cs typeface="Malgun Gothic"/>
              </a:rPr>
              <a:t>φ(sₜ), φ(sₜ₊₁)</a:t>
            </a:r>
            <a:r>
              <a:rPr sz="1050" b="0" i="0">
                <a:solidFill>
                  <a:srgbClr val="16213A"/>
                </a:solidFill>
                <a:latin typeface="Arial"/>
                <a:ea typeface="Malgun Gothic"/>
                <a:cs typeface="Malgun Gothic"/>
              </a:rPr>
              <a:t>를 받는다. 동작 데이터에는 +1, 정책에는 −1을 내도록 최소제곱 손실과 기울기 벌점으로 학습한다(원문 식 1). 스타일 보상은 판별기 출력에서 정한다(원문 식 2).</a:t>
            </a:r>
          </a:p>
        </p:txBody>
      </p:sp>
      <p:pic>
        <p:nvPicPr>
          <p:cNvPr id="6" name="Picture 5" descr="image.png"/>
          <p:cNvPicPr>
            <a:picLocks noChangeAspect="1"/>
          </p:cNvPicPr>
          <p:nvPr/>
        </p:nvPicPr>
        <p:blipFill>
          <a:blip r:embed="rId3"/>
          <a:stretch>
            <a:fillRect/>
          </a:stretch>
        </p:blipFill>
        <p:spPr>
          <a:xfrm>
            <a:off x="609600" y="1766491"/>
            <a:ext cx="2911475" cy="381000"/>
          </a:xfrm>
          <a:prstGeom prst="rect">
            <a:avLst/>
          </a:prstGeom>
        </p:spPr>
      </p:pic>
      <p:sp>
        <p:nvSpPr>
          <p:cNvPr id="7" name="TextBox 6"/>
          <p:cNvSpPr txBox="1"/>
          <p:nvPr/>
        </p:nvSpPr>
        <p:spPr>
          <a:xfrm>
            <a:off x="609600" y="216535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설정.</a:t>
            </a:r>
            <a:r>
              <a:rPr sz="1050" b="0" i="0">
                <a:solidFill>
                  <a:srgbClr val="16213A"/>
                </a:solidFill>
                <a:latin typeface="Arial"/>
                <a:ea typeface="Malgun Gothic"/>
                <a:cs typeface="Malgun Gothic"/>
              </a:rPr>
              <a:t> 로봇은 자유도 16(다리 관절 12, 바퀴 4)이다. 서술자 </a:t>
            </a:r>
            <a:r>
              <a:rPr sz="1050" b="0" i="1">
                <a:solidFill>
                  <a:srgbClr val="16213A"/>
                </a:solidFill>
                <a:latin typeface="Arial"/>
                <a:ea typeface="Malgun Gothic"/>
                <a:cs typeface="Malgun Gothic"/>
              </a:rPr>
              <a:t>φ(s)</a:t>
            </a:r>
            <a:r>
              <a:rPr sz="1050" b="0" i="0">
                <a:solidFill>
                  <a:srgbClr val="16213A"/>
                </a:solidFill>
                <a:latin typeface="Arial"/>
                <a:ea typeface="Malgun Gothic"/>
                <a:cs typeface="Malgun Gothic"/>
              </a:rPr>
              <a:t>는 50차원이다. 몸통의 선속도·각속도·중력 방향·지면 위 높이, 관절 위치와 속도, 몸통 기준 바퀴 위치를 잇는다. Isaac Gym 환경 4096개를 과제 난이도에 따라 1:1:5로 나눴다(걷기, 숙이기, 서기). 동작 데이터는 셋에서 왔다. 걷기는 다른 RL 정책, 숙이기는 IJRR 2022의 MPC 추종 기록, 앉기는 서기 기록을 거꾸로 돌린 것이다. 서기와 두 바퀴 주행은 데이터 없이 과제 보상으로 배우고, 데이터 없는 과제에서는 스타일 보상을 0으로 둔다(원문 II-D, III).</a:t>
            </a:r>
          </a:p>
        </p:txBody>
      </p:sp>
      <p:sp>
        <p:nvSpPr>
          <p:cNvPr id="8" name="TextBox 7"/>
          <p:cNvSpPr txBox="1"/>
          <p:nvPr/>
        </p:nvSpPr>
        <p:spPr>
          <a:xfrm>
            <a:off x="609600" y="2903736"/>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결과.</a:t>
            </a:r>
            <a:r>
              <a:rPr sz="1050" b="0" i="0">
                <a:solidFill>
                  <a:srgbClr val="16213A"/>
                </a:solidFill>
                <a:latin typeface="Arial"/>
                <a:ea typeface="Malgun Gothic"/>
                <a:cs typeface="Malgun Gothic"/>
              </a:rPr>
              <a:t> 세 스타일을 함께 배우는 정책은 최고 과제 보상에 약 300 epoch 늦게 닿았지만, 최종 성능은 단일 과제 정책과 같았다(원문 III-A). 과제 보상만으로 배운 앉기는 앞다리를 편 채 넘어지며 실물 무릎의 안전 토크 한계를 넘었다. 서기 기록을 거꾸로 돌린 prior를 쓰자 뒷무릎으로 무게중심을 먼저 낮춘 뒤 앞으로 기울였다(원문 그림 5, III-B).</a:t>
            </a:r>
          </a:p>
        </p:txBody>
      </p:sp>
      <p:sp>
        <p:nvSpPr>
          <p:cNvPr id="9" name="TextBox 8"/>
          <p:cNvSpPr txBox="1"/>
          <p:nvPr/>
        </p:nvSpPr>
        <p:spPr>
          <a:xfrm>
            <a:off x="609600" y="3425627"/>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sim-to-real.</a:t>
            </a:r>
            <a:r>
              <a:rPr sz="1050" b="0" i="0">
                <a:solidFill>
                  <a:srgbClr val="16213A"/>
                </a:solidFill>
                <a:latin typeface="Arial"/>
                <a:ea typeface="Malgun Gothic"/>
                <a:cs typeface="Malgun Gothic"/>
              </a:rPr>
              <a:t> 다리 관절은 actuator net으로 모델링했고, 속도 제어 바퀴에는 따로 모델을 두지 않았다. 서기의 가장 위험한 순간에 일부러 미는 시간 맞춘 밀기와, 관절 속도가 한계를 넘으면 에피소드를 끝내는 규칙으로 강건성을 높였다(원문 III-C).</a:t>
            </a:r>
          </a:p>
        </p:txBody>
      </p:sp>
      <p:sp>
        <p:nvSpPr>
          <p:cNvPr id="10" name="TextBox 9"/>
          <p:cNvSpPr txBox="1"/>
          <p:nvPr/>
        </p:nvSpPr>
        <p:spPr>
          <a:xfrm>
            <a:off x="609600" y="3947517"/>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한계(저자).</a:t>
            </a:r>
            <a:r>
              <a:rPr sz="1050" b="0" i="0">
                <a:solidFill>
                  <a:srgbClr val="16213A"/>
                </a:solidFill>
                <a:latin typeface="Arial"/>
                <a:ea typeface="Malgun Gothic"/>
                <a:cs typeface="Malgun Gothic"/>
              </a:rPr>
              <a:t> 판별기와 정책의 갱신 횟수가 고정이라 균형이 깨지면 스타일 학습이 나빠진다. 보상 조정 시간은 줄지만 동작 데이터를 만드는 시간이 든다(원문 III-C, IV).</a:t>
            </a:r>
          </a:p>
        </p:txBody>
      </p:sp>
      <p:sp>
        <p:nvSpPr>
          <p:cNvPr id="11" name="TextBox 10"/>
          <p:cNvSpPr txBox="1"/>
          <p:nvPr/>
        </p:nvSpPr>
        <p:spPr>
          <a:xfrm>
            <a:off x="609600" y="4252912"/>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것.</a:t>
            </a:r>
            <a:r>
              <a:rPr sz="1050" b="0" i="0">
                <a:solidFill>
                  <a:srgbClr val="16213A"/>
                </a:solidFill>
                <a:latin typeface="Arial"/>
                <a:ea typeface="Malgun Gothic"/>
                <a:cs typeface="Malgun Gothic"/>
              </a:rPr>
              <a:t> 모델 기반 최적화가 학습 정책의 교사가 되는 길이다. Planner D도 같은 관계다. GuidancePlanner와 MPPI가 최적화한 4초 제어열이 시연이고(B.8.3), 그 위에 RL 후학습(TP-0066)을 얹었다. TP-0066은 모방 손실(가중치 0.5)로 시연에서 멀어지지 않게 한다. Multi-AMP의 판별기 보상은 같은 역할을 다른 방식으로 한다. 특정 궤적에 묶지 않고 시연과 닮은 움직임만 요구한다. 그래서 시연과 다른 경로를 고르면서도 승차감 같은 스타일은 지킬 수 있다. 대가로 판별기와 정책의 학습 균형을 맞춰야 한다.</a:t>
            </a:r>
          </a:p>
        </p:txBody>
      </p:sp>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B.14 ETH RSL(Marco Hutter)의 계보: 높이 지도에서 배달로봇까지</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242 / 516</a:t>
            </a:r>
          </a:p>
        </p:txBody>
      </p:sp>
      <p:sp>
        <p:nvSpPr>
          <p:cNvPr id="5" name="TextBox 4"/>
          <p:cNvSpPr txBox="1"/>
          <p:nvPr/>
        </p:nvSpPr>
        <p:spPr>
          <a:xfrm>
            <a:off x="609600" y="1244600"/>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바퀴·다리 로봇의 도시 내비게이션 — 학습 보행 정책 위에, 그 정책의 능력을 아는 학습 내비 정책을 얹었다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arXiv:2405.01792</a:t>
            </a:r>
            <a:r>
              <a:rPr sz="1050" b="0" i="0">
                <a:solidFill>
                  <a:srgbClr val="16213A"/>
                </a:solidFill>
                <a:latin typeface="Arial"/>
                <a:ea typeface="Malgun Gothic"/>
                <a:cs typeface="Malgun Gothic"/>
              </a:rPr>
              <a:t>, Lee·Bjelonic·Reske·Wellhausen·Miki·Hutter, Science Robotics 9(89) eadi9641, 2024, </a:t>
            </a:r>
            <a:r>
              <a:rPr sz="1050" b="0" i="0">
                <a:solidFill>
                  <a:srgbClr val="1D4ED8"/>
                </a:solidFill>
                <a:latin typeface="Arial"/>
                <a:ea typeface="Malgun Gothic"/>
                <a:cs typeface="Malgun Gothic"/>
                <a:hlinkClick r:id="rId4"/>
              </a:rPr>
              <a:t>프로젝트</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5"/>
              </a:rPr>
              <a:t>doi:10.1126/scirobotics.adi9641</a:t>
            </a:r>
            <a:r>
              <a:rPr sz="1050" b="0" i="0">
                <a:solidFill>
                  <a:srgbClr val="16213A"/>
                </a:solidFill>
                <a:latin typeface="Arial"/>
                <a:ea typeface="Malgun Gothic"/>
                <a:cs typeface="Malgun Gothic"/>
              </a:rPr>
              <a:t>). 바퀴 달린 ANYmal이 모의 배송 임무를 킬로미터 단위로 자율 수행했다. 취리히 Glattpark에서는 245 m × 345 m 구역의 목표 13곳을 임의 순서로 돌며 모두 8.3 km를 갔고, 스페인 세비야에서도 임무를 돌렸다. 움직이는 동안(선속도 0.2 m/s 초과 표본)의 평균 속도는 1.68 m/s였다. DARPA SubT에서 주로 평지를 걸은 다리형 ANYmal(0.55 m/s)의 약 3배이고, 기계적 COT는 53% 낮다.</a:t>
            </a:r>
          </a:p>
        </p:txBody>
      </p:sp>
      <p:sp>
        <p:nvSpPr>
          <p:cNvPr id="6" name="TextBox 5"/>
          <p:cNvSpPr txBox="1"/>
          <p:nvPr/>
        </p:nvSpPr>
        <p:spPr>
          <a:xfrm>
            <a:off x="609600" y="2199481"/>
            <a:ext cx="10972800" cy="86598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층은 셋이다. 맨 위는 사람이 그린 내비게이션 그래프 위의 Dijkstra 경로다. 가운데는 내비게이션 정책(HLC, high-level controller)이다. HLC는 경로에서 뽑은 waypoint 둘, 로봇 앞 3 m와 옆·뒤 1.5 m의 높이 스캔, 0.5 m 간격으로 남긴 최근 방문 위치 20개와 머문 시간, 보행 정책의 GRU 은닉 상태를 받는다. 출력은 10 Hz 몸체 속도 명령이다. 맨 아래는 보행 정책(LLC, low-level controller)이고, 50 Hz로 관절 12개의 목표 위치와 바퀴 4개의 속도를 낸다. 언제 걷고 언제 굴러갈지는 사람이 정하지 않았다. HLC의 보상에는 LLC의 보상(속도 추종, 토크·관절 속도 벌점)이 상수 배로 더해진다. 그래서 HLC는 LLC가 따라가기 쉬운 부드러운 명령을 내도록 배우고, 평지에서는 대부분 굴러간다.</a:t>
            </a:r>
          </a:p>
        </p:txBody>
      </p:sp>
      <p:sp>
        <p:nvSpPr>
          <p:cNvPr id="7" name="TextBox 6"/>
          <p:cNvSpPr txBox="1"/>
          <p:nvPr/>
        </p:nvSpPr>
        <p:spPr>
          <a:xfrm>
            <a:off x="609600" y="3154362"/>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층의 대응은 이렇게 읽는다. 그래프 경로는 GuidancePlanner(Dijkstra)에 해당한다. HLC는 travplan의 Planner D와 MPPI Controller를 한 망으로 합친 것이다. LLC 자리는 travplan에서 스워브 모듈 역기구학이 채운다(모델 기반, 비동축은 고정점 반복 3회). </a:t>
            </a:r>
            <a:r>
              <a:rPr sz="1050" b="1" i="0">
                <a:solidFill>
                  <a:srgbClr val="C2410C"/>
                </a:solidFill>
                <a:latin typeface="Arial"/>
                <a:ea typeface="Malgun Gothic"/>
                <a:cs typeface="Malgun Gothic"/>
              </a:rPr>
              <a:t>이 논문이 학습 HLC로 얻은 것의 핵심은 하위 층이 실제로 어떻게 따라오는지 아는 상위 층이다.</a:t>
            </a:r>
            <a:r>
              <a:rPr sz="1050" b="0" i="0">
                <a:solidFill>
                  <a:srgbClr val="16213A"/>
                </a:solidFill>
                <a:latin typeface="Arial"/>
                <a:ea typeface="Malgun Gothic"/>
                <a:cs typeface="Malgun Gothic"/>
              </a:rPr>
              <a:t> travplan은 그중 지연 하나를 시뮬 plant에 맞춘 rollout 모델로 넣었다(TP-0150, 레벨 3 치명 55에서 4로). 실물 하위 층에 대해서는 아직 없다. 바로 가져올 셋(위치 기억, 방향별 step 비용, 보행자 높이 덮어쓰기)과 구현 메모는 아래 토글 끝에 있다.</a:t>
            </a:r>
          </a:p>
        </p:txBody>
      </p:sp>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B.14 ETH RSL(Marco Hutter)의 계보: 높이 지도에서 배달로봇까지</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243 / 516</a:t>
            </a:r>
          </a:p>
        </p:txBody>
      </p:sp>
      <p:pic>
        <p:nvPicPr>
          <p:cNvPr id="5" name="Picture 4" descr="image.jpg"/>
          <p:cNvPicPr>
            <a:picLocks noChangeAspect="1"/>
          </p:cNvPicPr>
          <p:nvPr/>
        </p:nvPicPr>
        <p:blipFill>
          <a:blip r:embed="rId3"/>
          <a:stretch>
            <a:fillRect/>
          </a:stretch>
        </p:blipFill>
        <p:spPr>
          <a:xfrm>
            <a:off x="609600" y="1244600"/>
            <a:ext cx="3105150" cy="2667000"/>
          </a:xfrm>
          <a:prstGeom prst="rect">
            <a:avLst/>
          </a:prstGeom>
        </p:spPr>
      </p:pic>
      <p:sp>
        <p:nvSpPr>
          <p:cNvPr id="6" name="TextBox 5"/>
          <p:cNvSpPr txBox="1"/>
          <p:nvPr/>
        </p:nvSpPr>
        <p:spPr>
          <a:xfrm>
            <a:off x="609600" y="3949700"/>
            <a:ext cx="54102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바퀴·다리 도시 내비게이션 (Fig. 1): 실외·실내 시험 장면 16장. (A) 보행 과제(철로, 나무 조각 바닥, 풀밭 계단, 돌 계단), (B) 내비게이션 과제(움직이는·멈춘 장애물, 복잡한 지형, 좁은 공간), (C) 취리히, (D) 세비야. 출처: arXiv:2405.01792</a:t>
            </a:r>
          </a:p>
        </p:txBody>
      </p:sp>
      <p:pic>
        <p:nvPicPr>
          <p:cNvPr id="7" name="Picture 6" descr="image.jpg"/>
          <p:cNvPicPr>
            <a:picLocks noChangeAspect="1"/>
          </p:cNvPicPr>
          <p:nvPr/>
        </p:nvPicPr>
        <p:blipFill>
          <a:blip r:embed="rId4"/>
          <a:stretch>
            <a:fillRect/>
          </a:stretch>
        </p:blipFill>
        <p:spPr>
          <a:xfrm>
            <a:off x="6172200" y="1244600"/>
            <a:ext cx="1200150" cy="2667000"/>
          </a:xfrm>
          <a:prstGeom prst="rect">
            <a:avLst/>
          </a:prstGeom>
        </p:spPr>
      </p:pic>
      <p:sp>
        <p:nvSpPr>
          <p:cNvPr id="8" name="TextBox 7"/>
          <p:cNvSpPr txBox="1"/>
          <p:nvPr/>
        </p:nvSpPr>
        <p:spPr>
          <a:xfrm>
            <a:off x="6172200" y="3949700"/>
            <a:ext cx="5410200" cy="710902"/>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바퀴·다리 도시 내비게이션 (Fig. 2): (A) 로봇과 탑재물(LiDAR 셋, 전방 스테레오 카메라, 배송함, 5G 라우터, GPS 안테나, 구동 바퀴). (B) 사람 둘레에 여유를 둔 높이 지도가 내비게이션 정책과 보행 정책 둘 다에 들어가고, 보행 정책의 은닉 상태는 내비게이션 정책으로 돌아간다. 내비게이션 정책은 waypoint 둘과 방문 위치·시간까지 받아 10 Hz로 명령을 내고, 보행 정책이 50 Hz로 관절과 바퀴를 움직인다. (C) 학습 환경에서는 가능한 경로(파랑) 가운데 하나를 뽑아(주황) waypoint를 주고 움직이는 장애물을 넣는다. 출처: arXiv:2405.01792</a:t>
            </a:r>
          </a:p>
        </p:txBody>
      </p:sp>
    </p:spTree>
  </p:cSld>
  <p:clrMapOvr>
    <a:masterClrMapping/>
  </p:clrMapOvr>
</p:sld>
</file>

<file path=ppt/slides/slide24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B.14 ETH RSL(Marco Hutter)의 계보: 높이 지도에서 배달로봇까지</a:t>
            </a:r>
            <a:r>
              <a:rPr sz="1050" b="0" i="0">
                <a:solidFill>
                  <a:srgbClr val="5A6478"/>
                </a:solidFill>
                <a:latin typeface="Arial"/>
                <a:ea typeface="Malgun Gothic"/>
                <a:cs typeface="Malgun Gothic"/>
              </a:rPr>
              <a:t>  자세히: 바퀴·다리 도시 내비게이션의 방법과 결과</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244 / 516</a:t>
            </a:r>
          </a:p>
        </p:txBody>
      </p:sp>
      <p:sp>
        <p:nvSpPr>
          <p:cNvPr id="5" name="TextBox 4"/>
          <p:cNvSpPr txBox="1"/>
          <p:nvPr/>
        </p:nvSpPr>
        <p:spPr>
          <a:xfrm>
            <a:off x="609600" y="1244600"/>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풀려는 문제.</a:t>
            </a:r>
            <a:r>
              <a:rPr sz="1050" b="0" i="0">
                <a:solidFill>
                  <a:srgbClr val="16213A"/>
                </a:solidFill>
                <a:latin typeface="Arial"/>
                <a:ea typeface="Malgun Gothic"/>
                <a:cs typeface="Malgun Gothic"/>
              </a:rPr>
              <a:t> 배송 로봇은 평지에서 빠르고 효율적이어야 하고, 계단과 턱도 넘어야 한다. 바퀴 로봇은 계단을 못 오르고, 다리 로봇은 느리다. ANYmal은 한 번 충전으로 최대 1시간을, 평균 2.2 km/h로 움직인다(서론). 바퀴 달린 다리 로봇은 둘을 함께 할 수 있지만 세 가지가 남아 있었다. 언제 걷고 언제 굴러갈지 정하는 일, 빠른 로봇에 맞는 반응 속도의 내비게이션, 이 둘을 도시 규모 자율 시스템으로 묶는 일이다. 기존 샘플링 계획기는 경로를 다시 짜는 데 몇 초가 걸리고, 추종기가 경로를 완벽히 따른다고 가정한다. DARPA SubT에서 팀 CERBERUS의 로봇은 경로 중간에 멈춰 다시 계획하거나 지그재그로 움직였다.</a:t>
            </a:r>
          </a:p>
        </p:txBody>
      </p:sp>
      <p:sp>
        <p:nvSpPr>
          <p:cNvPr id="6" name="TextBox 5"/>
          <p:cNvSpPr txBox="1"/>
          <p:nvPr/>
        </p:nvSpPr>
        <p:spPr>
          <a:xfrm>
            <a:off x="609600" y="2199481"/>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로봇과 센서.</a:t>
            </a:r>
            <a:r>
              <a:rPr sz="1050" b="0" i="0">
                <a:solidFill>
                  <a:srgbClr val="16213A"/>
                </a:solidFill>
                <a:latin typeface="Arial"/>
                <a:ea typeface="Malgun Gothic"/>
                <a:cs typeface="Malgun Gothic"/>
              </a:rPr>
              <a:t> 위 Velodyne VLP-16은 위치 추정에 쓰고, 앞뒤 Robosense RS-Bpearl 돔 LiDAR 둘은 지형 지도(elevation_mapping_cupy)에 쓴다. 위치 추정은 Leica BLK2GO로 미리 스캔한 점군에 Open3D SLAM의 ICP(iterative closest point)로 맞추고, IMU·관절 오도메트리를 사전값으로 쓴다. 고층 건물 사이에서 GPS보다 강했다. 사람 검출은 ZED 2i 스테레오 카메라로 하고, 20 m 안의 사람을 추적한다. 바퀴 반지름 0.14 m, 관절 최고 속도 45 rad/s라 하드웨어 한계는 6.3 m/s다. 평지 최고 5.0 m/s를 냈다.</a:t>
            </a:r>
          </a:p>
        </p:txBody>
      </p:sp>
      <p:sp>
        <p:nvSpPr>
          <p:cNvPr id="7" name="TextBox 6"/>
          <p:cNvSpPr txBox="1"/>
          <p:nvPr/>
        </p:nvSpPr>
        <p:spPr>
          <a:xfrm>
            <a:off x="609600" y="2937867"/>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학습 순서.</a:t>
            </a:r>
            <a:r>
              <a:rPr sz="1050" b="0" i="0">
                <a:solidFill>
                  <a:srgbClr val="16213A"/>
                </a:solidFill>
                <a:latin typeface="Arial"/>
                <a:ea typeface="Malgun Gothic"/>
                <a:cs typeface="Malgun Gothic"/>
              </a:rPr>
              <a:t> 세 단계다. ① LLC 교사를 특권 정보로 PPO 학습한다. ② LLC 학생을 DAgger로 교사에게 맞춘다. ③ 학생 LLC를 고정하고 HLC를 PPO로 학습한다. 두 정책을 번갈아 다시 학습하는 단계도 시험했지만 효과가 작아 쓰지 않았다.</a:t>
            </a:r>
          </a:p>
        </p:txBody>
      </p:sp>
      <p:sp>
        <p:nvSpPr>
          <p:cNvPr id="8" name="TextBox 7"/>
          <p:cNvSpPr txBox="1"/>
          <p:nvPr/>
        </p:nvSpPr>
        <p:spPr>
          <a:xfrm>
            <a:off x="609600" y="3459758"/>
            <a:ext cx="10972800" cy="108247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LLC.</a:t>
            </a:r>
            <a:r>
              <a:rPr sz="1050" b="0" i="0">
                <a:solidFill>
                  <a:srgbClr val="16213A"/>
                </a:solidFill>
                <a:latin typeface="Arial"/>
                <a:ea typeface="Malgun Gothic"/>
                <a:cs typeface="Malgun Gothic"/>
              </a:rPr>
              <a:t> Miki 2022의 지각 보행 제어기(B.14.2, 인식 A.7.1)를 바탕으로 했다. 걸음 패턴을 강제하던 CPG(central pattern generator)를 빼고, 관절 위치 12개와 바퀴 속도 4개를 바로 낸다. 관측은 바퀴 둘레의 원형 높이 샘플, IMU의 가속도와 각속도, 관절 엔코더, 속도 명령이다. 상태 추정기가 낸 자세와 속도 대신 원시 IMU를 넣었다. 바퀴가 미끄러지거나 턱에서 떨어질 때 상태 추정 오차가 커지기 때문이다. 명령은 전진 ±2.5 m/s, 횡 ±1.2 m/s, 회전 ±1.5 rad/s 범위에서 뽑는다. 교사는 3층 MLP이고 특권 정보를 본다. 잡음 없는 관절 상태·접촉·지면 법선·접촉력·몸체 속도·중력 방향, 그리고 관절 마찰 상수다. 학생은 GRU이고 잡음과 편향을 넣은 IMU·관절·높이 샘플만 본다. 학습 지형은 Lee 2020의 지형 필터(인식 A.7)로 고른다. 속도 추종 오차가 명령의 20% 미만이면 성공으로 세고, 성공 비율이 두 문턱 사이에 드는 지형 파라미터만 남긴다.</a:t>
            </a:r>
          </a:p>
        </p:txBody>
      </p:sp>
      <p:sp>
        <p:nvSpPr>
          <p:cNvPr id="9" name="TextBox 8"/>
          <p:cNvSpPr txBox="1"/>
          <p:nvPr/>
        </p:nvSpPr>
        <p:spPr>
          <a:xfrm>
            <a:off x="609600" y="4631134"/>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액추에이터 모델.</a:t>
            </a:r>
            <a:r>
              <a:rPr sz="1050" b="0" i="0">
                <a:solidFill>
                  <a:srgbClr val="16213A"/>
                </a:solidFill>
                <a:latin typeface="Arial"/>
                <a:ea typeface="Malgun Gothic"/>
                <a:cs typeface="Malgun Gothic"/>
              </a:rPr>
              <a:t> 관절은 SEA 토크 측정으로 학습한 actuator net(B.14.1)을 쓴다. 바퀴 모터는 토크를 재지 못한다. 그래서 속도 명령과 속도 이력에서 모터 전류를 내는 망을 배우고, 토크 상수와 감속비를 곱해 토크로 바꾼다. 마찰은 속도에 비례하는 항과 부호만 따르는 항 둘이다. 두 항의 상수는 무작위로 뽑고 교사의 특권 관측에 넣는다.</a:t>
            </a:r>
          </a:p>
        </p:txBody>
      </p:sp>
      <p:sp>
        <p:nvSpPr>
          <p:cNvPr id="10" name="TextBox 9"/>
          <p:cNvSpPr txBox="1"/>
          <p:nvPr/>
        </p:nvSpPr>
        <p:spPr>
          <a:xfrm>
            <a:off x="609600" y="5153025"/>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21개(문단·식·그림)는 대시보드 리서치 탭의 "자세히: 바퀴·다리 도시 내비게이션의 방법과 결과" 토글에 있다.</a:t>
            </a:r>
          </a:p>
        </p:txBody>
      </p:sp>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B.14 ETH RSL(Marco Hutter)의 계보: 높이 지도에서 배달로봇까지</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245 / 516</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RIVR(구 Swiss-Mile) — 이 계보의 상용화, 2026-03-19 Amazon 인수</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RIVR</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4"/>
              </a:rPr>
              <a:t>The Robot Report 2026-03-19</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5"/>
              </a:rPr>
              <a:t>Startupticker 2024-01-23</a:t>
            </a:r>
            <a:r>
              <a:rPr sz="1050" b="0" i="0">
                <a:solidFill>
                  <a:srgbClr val="16213A"/>
                </a:solidFill>
                <a:latin typeface="Arial"/>
                <a:ea typeface="Malgun Gothic"/>
                <a:cs typeface="Malgun Gothic"/>
              </a:rPr>
              <a:t>). 바퀴 달린 ANYmal 연구진이 세운 회사다. 2021-12 IEEE Spectrum이 RSL의 바퀴·다리 기술을 상용화할 Swiss-Mile을 소개했다. 법인 Swiss-Mile Robotics AG는 2023-04에 세웠다. 창업자는 다섯이다. Marko Bjelonic(CEO)·Giorgio Valsecchi·Lorenz Wellhausen·Alexander Reske·Marco Hutter다. 앞의 넷은 RSL 연구원 출신이고, Hutter는 RSL을 이끄는 교수다.</a:t>
            </a:r>
          </a:p>
        </p:txBody>
      </p:sp>
      <p:sp>
        <p:nvSpPr>
          <p:cNvPr id="6" name="TextBox 5"/>
          <p:cNvSpPr txBox="1"/>
          <p:nvPr/>
        </p:nvSpPr>
        <p:spPr>
          <a:xfrm>
            <a:off x="609600" y="1982986"/>
            <a:ext cx="10972800" cy="86598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2025-01 이름을 RIVR로 바꾸며 문 앞 배송 쪽으로 무게를 옮겼다. 로봇은 연구 때 ANYmal을 썼고, 법인 설립 뒤에는 Unitree B2 플랫폼으로 옮겼다(The Robot Report 2024-09-03 정정문). 2세대 RIVR TWO는 자체 설계로 보도됐다. 공식 페이지 기준 RIVR ONE은 최고 14 km/h(8.7 mph)이고 적재는 30 kg 이상이다. 계단을 오르고, 로봇 팔로 대문을 연다. 2025-05 미국 오스틴에서 Veho와 소포 배송을, 2025-08 취리히 Oerlikon에서 Just Eat Takeaway.com과 음식 배송을 시범했다. 자율 스택은 시뮬레이션 강화학습과, 원격 개입으로 모은 실제 데이터의 지도학습으로 만든 신경망이라고 밝혔다. 2026-03-19 Amazon 대변인이 인수를 확인했고, 인수가는 공개하지 않았다.</a:t>
            </a:r>
          </a:p>
        </p:txBody>
      </p:sp>
      <p:sp>
        <p:nvSpPr>
          <p:cNvPr id="7" name="TextBox 6"/>
          <p:cNvSpPr txBox="1"/>
          <p:nvPr/>
        </p:nvSpPr>
        <p:spPr>
          <a:xfrm>
            <a:off x="609600" y="2937867"/>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보도 배달이라는 과제는 같고 폼팩터가 다르다. RIVR는 다리가 있어 계단과 높은 턱을 걷는다. travplan 스워브는 max_step 0.08 m를 넘는 턱을 피해야 한다. 그래서 RIVR에서 옮길 것은 학습 스택과 시뮬레이션 데이터로 실제 주문을 나르는 감독 아래의 시범 배송까지 갔다는 사실이다. 원격 개입을 학습 데이터로 돌리는 순환 구조도 옮길 만하다. 경로 선택 기준은 옮기지 않는다. Amazon은 2022년 바퀴 6개짜리 보도 배달로봇 Scout 사업을 접었고, 2026년 계단을 오르는 RIVR를 샀다. travplan 벤치마크 시나리오에는 계단이 없고, 연석(0.15–0.24 m)은 경사로로 돌아가는 과제(curb_ramp)로만 나온다. B.6d의 Coco Robotics와 나란히 보면, 바퀴형은 Coco, 다리형은 RIVR가 기준 사례다.</a:t>
            </a:r>
          </a:p>
        </p:txBody>
      </p:sp>
    </p:spTree>
  </p:cSld>
  <p:clrMapOvr>
    <a:masterClrMapping/>
  </p:clrMapOvr>
</p:sld>
</file>

<file path=ppt/slides/slide24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B.14 ETH RSL(Marco Hutter)의 계보: 높이 지도에서 배달로봇까지</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246 / 516</a:t>
            </a:r>
          </a:p>
        </p:txBody>
      </p:sp>
      <p:pic>
        <p:nvPicPr>
          <p:cNvPr id="5" name="Picture 4" descr="image.jpg"/>
          <p:cNvPicPr>
            <a:picLocks noChangeAspect="1"/>
          </p:cNvPicPr>
          <p:nvPr/>
        </p:nvPicPr>
        <p:blipFill>
          <a:blip r:embed="rId3"/>
          <a:stretch>
            <a:fillRect/>
          </a:stretch>
        </p:blipFill>
        <p:spPr>
          <a:xfrm>
            <a:off x="1016000" y="1244600"/>
            <a:ext cx="10160000" cy="3587750"/>
          </a:xfrm>
          <a:prstGeom prst="rect">
            <a:avLst/>
          </a:prstGeom>
        </p:spPr>
      </p:pic>
      <p:sp>
        <p:nvSpPr>
          <p:cNvPr id="6" name="TextBox 5"/>
          <p:cNvSpPr txBox="1"/>
          <p:nvPr/>
        </p:nvSpPr>
        <p:spPr>
          <a:xfrm>
            <a:off x="1016000" y="4870450"/>
            <a:ext cx="101600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Multi-AMP (Fig. 4): 원문 그림의 실물 부분이다. 바퀴·다리 로봇이 네 바퀴 자세에서 뒷바퀴 둘로 일어선다. 몸통에 Swiss-Mile 표식이 보인다. 법인 설립(2023-04) 전 RSL의 연구 로봇이며, RIVR ONE이나 RIVR TWO 제품 사진이 아니다. 출처: arXiv:2203.14912</a:t>
            </a:r>
          </a:p>
        </p:txBody>
      </p:sp>
    </p:spTree>
  </p:cSld>
  <p:clrMapOvr>
    <a:masterClrMapping/>
  </p:clrMapOvr>
</p:sld>
</file>

<file path=ppt/slides/slide24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B.14 ETH RSL(Marco Hutter)의 계보: 높이 지도에서 배달로봇까지</a:t>
            </a:r>
            <a:r>
              <a:rPr sz="1050" b="0" i="0">
                <a:solidFill>
                  <a:srgbClr val="5A6478"/>
                </a:solidFill>
                <a:latin typeface="Arial"/>
                <a:ea typeface="Malgun Gothic"/>
                <a:cs typeface="Malgun Gothic"/>
              </a:rPr>
              <a:t>  자세히: RIVR 연표와 자주 인용되는 수치의 출처</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247 / 516</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시범과 제품의 세부.</a:t>
            </a:r>
            <a:r>
              <a:rPr sz="1050" b="0" i="0">
                <a:solidFill>
                  <a:srgbClr val="16213A"/>
                </a:solidFill>
                <a:latin typeface="Arial"/>
                <a:ea typeface="Malgun Gothic"/>
                <a:cs typeface="Malgun Gothic"/>
              </a:rPr>
              <a:t> 2024-01에는 Unitree 하드웨어 위에서 물류·감시·건설·보안을 함께 겨냥했다(적재 최대 60 kg). 2026-03 공개한 RIVR TWO는 55 L 적재함을 위에서 채우고, 문 앞에서 앉아 바닥으로 내려놓는다. 오스틴은 직원이 동행한 로봇 한 대가 하루 5–6시간씩 몇 주를 달렸고, 취리히는 2개월 시범 가운데 첫 30일 안전 요원이 동행했다. Amazon은 이 인수를 연구 투자로 설명했고, 배송 협력사와 현장 시험부터 하겠다고 알렸다.</a:t>
            </a:r>
          </a:p>
        </p:txBody>
      </p:sp>
      <p:sp>
        <p:nvSpPr>
          <p:cNvPr id="6" name="TextBox 5"/>
          <p:cNvSpPr txBox="1"/>
          <p:nvPr/>
        </p:nvSpPr>
        <p:spPr>
          <a:xfrm>
            <a:off x="609600" y="1982986"/>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3개(문단·식·그림)는 대시보드 리서치 탭의 "자세히: RIVR 연표와 자주 인용되는 수치의 출처" 토글에 있다.</a:t>
            </a:r>
          </a:p>
        </p:txBody>
      </p:sp>
    </p:spTree>
  </p:cSld>
  <p:clrMapOvr>
    <a:masterClrMapping/>
  </p:clrMapOvr>
</p:sld>
</file>

<file path=ppt/slides/slide24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B.14 ETH RSL(Marco Hutter)의 계보: 높이 지도에서 배달로봇까지</a:t>
            </a:r>
            <a:r>
              <a:rPr sz="1050" b="0" i="0">
                <a:solidFill>
                  <a:srgbClr val="5A6478"/>
                </a:solidFill>
                <a:latin typeface="Arial"/>
                <a:ea typeface="Malgun Gothic"/>
                <a:cs typeface="Malgun Gothic"/>
              </a:rPr>
              <a:t>  1/3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248 / 516</a:t>
            </a:r>
          </a:p>
        </p:txBody>
      </p:sp>
      <p:sp>
        <p:nvSpPr>
          <p:cNvPr id="5" name="TextBox 4"/>
          <p:cNvSpPr txBox="1"/>
          <p:nvPr/>
        </p:nvSpPr>
        <p:spPr>
          <a:xfrm>
            <a:off x="717550" y="1244600"/>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B.14.5 사람들</a:t>
            </a:r>
          </a:p>
        </p:txBody>
      </p:sp>
      <p:sp>
        <p:nvSpPr>
          <p:cNvPr id="6" name="TextBox 5"/>
          <p:cNvSpPr txBox="1"/>
          <p:nvPr/>
        </p:nvSpPr>
        <p:spPr>
          <a:xfrm>
            <a:off x="609600" y="1547812"/>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RSL 계보의 도구와 회사는 몇 사람의 박사 과정에서 나왔다.</a:t>
            </a:r>
            <a:r>
              <a:rPr sz="1050" b="0" i="0">
                <a:solidFill>
                  <a:srgbClr val="16213A"/>
                </a:solidFill>
                <a:latin typeface="Arial"/>
                <a:ea typeface="Malgun Gothic"/>
                <a:cs typeface="Malgun Gothic"/>
              </a:rPr>
              <a:t> 아래 표는 travplan이 쓰거나 이 절이 다루는 결과물만 사람별로 묶었다. 이후 경력은 공식 페이지나 주요 보도에 적힌 것만 적었다(2026-10-06 확인). ETH Foundation은 Hutter 그룹에서 ANYbotics 뒤로 스타트업 일곱이 더 나왔다고 적는다(2024 Rössler 상).</a:t>
            </a:r>
          </a:p>
        </p:txBody>
      </p:sp>
      <p:graphicFrame>
        <p:nvGraphicFramePr>
          <p:cNvPr id="7" name="Table 6"/>
          <p:cNvGraphicFramePr>
            <a:graphicFrameLocks noGrp="1"/>
          </p:cNvGraphicFramePr>
          <p:nvPr/>
        </p:nvGraphicFramePr>
        <p:xfrm>
          <a:off x="609600" y="2069703"/>
          <a:ext cx="10966449" cy="3179760"/>
        </p:xfrm>
        <a:graphic>
          <a:graphicData uri="http://schemas.openxmlformats.org/drawingml/2006/table">
            <a:tbl>
              <a:tblPr firstRow="1" bandRow="1">
                <a:tableStyleId>{5C22544A-7EE6-4342-B048-85BDC9FD1C3A}</a:tableStyleId>
              </a:tblPr>
              <a:tblGrid>
                <a:gridCol w="886420"/>
                <a:gridCol w="2825055"/>
                <a:gridCol w="7254974"/>
              </a:tblGrid>
              <a:tr h="197088">
                <a:tc>
                  <a:txBody>
                    <a:bodyPr wrap="square"/>
                    <a:lstStyle/>
                    <a:p>
                      <a:r>
                        <a:rPr sz="800" b="1" i="0">
                          <a:solidFill>
                            <a:srgbClr val="F4F1EA"/>
                          </a:solidFill>
                          <a:latin typeface="Arial"/>
                          <a:ea typeface="Malgun Gothic"/>
                          <a:cs typeface="Malgun Gothic"/>
                        </a:rPr>
                        <a:t>사람</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RSL에서 남긴 것</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이후</a:t>
                      </a:r>
                    </a:p>
                  </a:txBody>
                  <a:tcPr marL="63500" marR="63500" marT="12700" marB="12700">
                    <a:solidFill>
                      <a:srgbClr val="16213A"/>
                    </a:solidFill>
                  </a:tcPr>
                </a:tc>
              </a:tr>
              <a:tr h="438864">
                <a:tc>
                  <a:txBody>
                    <a:bodyPr wrap="square"/>
                    <a:lstStyle/>
                    <a:p>
                      <a:r>
                        <a:rPr sz="800" b="0" i="0">
                          <a:solidFill>
                            <a:srgbClr val="16213A"/>
                          </a:solidFill>
                          <a:latin typeface="Arial"/>
                          <a:ea typeface="Malgun Gothic"/>
                          <a:cs typeface="Malgun Gothic"/>
                        </a:rPr>
                        <a:t>Marco Hutter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RSL을 이끄는 ETH 교수. 이 절 논문 대부분의 마지막 저자</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ANYbotics(2016)·Swiss-Mile(2023)·Flexion(2024-12) 공동 창업. Flexion에서는 자문을 맡는다(팀 페이지). 2023-12 The AI Institute(처음 이름 Boston Dynamics AI Institute, 지금 RAI Institute) 취리히 책임자로 발표됐고, 2025-09 인터뷰 기준 교수 50%, 소장 50%로 일한다. 2024 Rössler 상. 2026-09 SoftBank가 Hyundai에서 RAI Institute를 인수하기로 합의했다는 보도가 있고, 미국 외국인투자심의위원회(CFIUS)가 심사 중이다</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Péter Fankhauser</a:t>
                      </a:r>
                    </a:p>
                  </a:txBody>
                  <a:tcPr marL="63500" marR="63500" marT="12700" marB="12700">
                    <a:solidFill>
                      <a:srgbClr val="F3F0E8"/>
                    </a:solidFill>
                  </a:tcPr>
                </a:tc>
                <a:tc>
                  <a:txBody>
                    <a:bodyPr wrap="square"/>
                    <a:lstStyle/>
                    <a:p>
                      <a:r>
                        <a:rPr sz="800" b="0" i="0">
                          <a:solidFill>
                            <a:srgbClr val="16213A"/>
                          </a:solidFill>
                          <a:latin typeface="Consolas"/>
                          <a:ea typeface="Malgun Gothic"/>
                          <a:cs typeface="Malgun Gothic"/>
                        </a:rPr>
                        <a:t>elevation_mapping</a:t>
                      </a:r>
                      <a:r>
                        <a:rPr sz="800" b="0" i="0">
                          <a:solidFill>
                            <a:srgbClr val="16213A"/>
                          </a:solidFill>
                          <a:latin typeface="Arial"/>
                          <a:ea typeface="Malgun Gothic"/>
                          <a:cs typeface="Malgun Gothic"/>
                        </a:rPr>
                        <a:t>(CLAWAR 2014, RA-L 2018)과 </a:t>
                      </a:r>
                      <a:r>
                        <a:rPr sz="800" b="0" i="0">
                          <a:solidFill>
                            <a:srgbClr val="16213A"/>
                          </a:solidFill>
                          <a:latin typeface="Consolas"/>
                          <a:ea typeface="Malgun Gothic"/>
                          <a:cs typeface="Malgun Gothic"/>
                        </a:rPr>
                        <a:t>grid_map</a:t>
                      </a:r>
                      <a:r>
                        <a:rPr sz="800" b="0" i="0">
                          <a:solidFill>
                            <a:srgbClr val="16213A"/>
                          </a:solidFill>
                          <a:latin typeface="Arial"/>
                          <a:ea typeface="Malgun Gothic"/>
                          <a:cs typeface="Malgun Gothic"/>
                        </a:rPr>
                        <a:t> 저자</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ANYbotics 공동 창업자, CEO</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Martin Wermelinger</a:t>
                      </a:r>
                    </a:p>
                  </a:txBody>
                  <a:tcPr marL="63500" marR="63500" marT="12700" marB="12700">
                    <a:solidFill>
                      <a:srgbClr val="FFFDF8"/>
                    </a:solidFill>
                  </a:tcPr>
                </a:tc>
                <a:tc>
                  <a:txBody>
                    <a:bodyPr wrap="square"/>
                    <a:lstStyle/>
                    <a:p>
                      <a:r>
                        <a:rPr sz="800" b="0" i="0">
                          <a:solidFill>
                            <a:srgbClr val="16213A"/>
                          </a:solidFill>
                          <a:latin typeface="Consolas"/>
                          <a:ea typeface="Malgun Gothic"/>
                          <a:cs typeface="Malgun Gothic"/>
                        </a:rPr>
                        <a:t>traversability_estimation</a:t>
                      </a:r>
                      <a:r>
                        <a:rPr sz="800" b="0" i="0">
                          <a:solidFill>
                            <a:srgbClr val="16213A"/>
                          </a:solidFill>
                          <a:latin typeface="Arial"/>
                          <a:ea typeface="Malgun Gothic"/>
                          <a:cs typeface="Malgun Gothic"/>
                        </a:rPr>
                        <a:t> 저자(Fankhauser, Kaestner와 함께)</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확인하지 못했다</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Jemin Hwangbo</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actuator net(Science Robotics 2019) 1저자. 그 접촉 솔버가 RaiSim이 되어 Lee 2020의 시뮬레이터가 됐다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KAIST RaiLab(Lee 2020에 KAIST 소속을 함께 적음)</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Joonho Lee</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험지 blind 보행(2020)과 바퀴·다리 도시 내비(2024) 1저자, Multi-AMP 공저</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2024 논문 출판 때 Neuromeka(서울) 소속</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Takahiro Miki</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인식 보행(Science Robotics 2022)과 elevation_mapping_cupy(IROS 2022) 1저자</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확인하지 못했다</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Lorenz Wellhausen</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ArtPlanner 1저자, 험지 blind 보행·도시 내비·elevation_mapping_cupy 공저</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Swiss-Mile 공동 창업</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Nikita Rudin</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legged_gym(CoRL 2021)과 Rudin 2022(IROS) 1저자, ANYmal Parkour 공동 1저자(Hoeller와), Multi-AMP 공저</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NVIDIA 연구원(Isaac Gym 논문 공저)을 거쳐 2024-12 취리히에서 Flexion 공동 창업(CEO)</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David Hoeller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ANYmal Parkour 공동 1저자(Rudin과), legged_gym·SRU 공저</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Flexion 공동 창업(CTO)</a:t>
                      </a:r>
                    </a:p>
                  </a:txBody>
                  <a:tcPr marL="63500" marR="63500" marT="12700" marB="12700">
                    <a:solidFill>
                      <a:srgbClr val="FFFDF8"/>
                    </a:solidFill>
                  </a:tcPr>
                </a:tc>
              </a:tr>
            </a:tbl>
          </a:graphicData>
        </a:graphic>
      </p:graphicFrame>
    </p:spTree>
  </p:cSld>
  <p:clrMapOvr>
    <a:masterClrMapping/>
  </p:clrMapOvr>
</p:sld>
</file>

<file path=ppt/slides/slide24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B.14 ETH RSL(Marco Hutter)의 계보: 높이 지도에서 배달로봇까지</a:t>
            </a:r>
            <a:r>
              <a:rPr sz="1050" b="0" i="0">
                <a:solidFill>
                  <a:srgbClr val="5A6478"/>
                </a:solidFill>
                <a:latin typeface="Arial"/>
                <a:ea typeface="Malgun Gothic"/>
                <a:cs typeface="Malgun Gothic"/>
              </a:rPr>
              <a:t>  2/3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249 / 516</a:t>
            </a:r>
          </a:p>
        </p:txBody>
      </p:sp>
      <p:graphicFrame>
        <p:nvGraphicFramePr>
          <p:cNvPr id="5" name="Table 4"/>
          <p:cNvGraphicFramePr>
            <a:graphicFrameLocks noGrp="1"/>
          </p:cNvGraphicFramePr>
          <p:nvPr/>
        </p:nvGraphicFramePr>
        <p:xfrm>
          <a:off x="609600" y="1244600"/>
          <a:ext cx="10966449" cy="2499120"/>
        </p:xfrm>
        <a:graphic>
          <a:graphicData uri="http://schemas.openxmlformats.org/drawingml/2006/table">
            <a:tbl>
              <a:tblPr firstRow="1" bandRow="1">
                <a:tableStyleId>{5C22544A-7EE6-4342-B048-85BDC9FD1C3A}</a:tableStyleId>
              </a:tblPr>
              <a:tblGrid>
                <a:gridCol w="886420"/>
                <a:gridCol w="2825055"/>
                <a:gridCol w="7254974"/>
              </a:tblGrid>
              <a:tr h="197088">
                <a:tc>
                  <a:txBody>
                    <a:bodyPr wrap="square"/>
                    <a:lstStyle/>
                    <a:p>
                      <a:r>
                        <a:rPr sz="800" b="1" i="0">
                          <a:solidFill>
                            <a:srgbClr val="F4F1EA"/>
                          </a:solidFill>
                          <a:latin typeface="Arial"/>
                          <a:ea typeface="Malgun Gothic"/>
                          <a:cs typeface="Malgun Gothic"/>
                        </a:rPr>
                        <a:t>사람</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RSL에서 남긴 것</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이후</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Jonas Frey</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WVN(RSS 2023) 1저자, FDM 공저</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Stanford(Marco Pavone)와 UC Berkeley(Jitendra Malik)의 박사후연구원(본인 홈페이지, 2026-10-07)</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Pascal Roth</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ViPlanner(ICRA 2024)와 FDM(RSS 2025) 1저자</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FDM 프로젝트 페이지 소속은 ETH Zürich와 NVIDIA</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Fan Yang</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iPlanner(RSS 2023)와 SRU(IJRR) 1저자, Path-conditioned RL 공저</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확인하지 못했다</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Fabian Jenelten</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DTC(Science Robotics 2024) 1저자, elevation_mapping_cupy 공저</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2026 UMV 설계 논문(B.16.4)의 소속 표기는 RAI Institute 취리히</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Marko Bjelonic</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바퀴 ANYmal 다섯 편(2018–2022) 1저자, 박사 논문(2021)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Swiss-Mile과 RIVR 공동 창업자, CEO. 2026-03 Amazon 인수</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Giorgio Valsecchi</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바퀴·다리 로봇 하드웨어(Science Robotics 2024 감사의 글)</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Swiss-Mile 공동 창업</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Alexander Reske</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MPC 모방 다중 걸음새 학습(ICRA 2021) 1저자, 2024 도시 내비 공저</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Swiss-Mile 공동 창업</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C. Dario Bellicoso</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ZMP 운동 최적화(RA-L 2018) 1저자, Keep Rollin' 공저</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Rolling in the Deep 투고(2019-09) 때 Boston Dynamics 소속</a:t>
                      </a:r>
                    </a:p>
                  </a:txBody>
                  <a:tcPr marL="63500" marR="63500" marT="12700" marB="12700">
                    <a:solidFill>
                      <a:srgbClr val="F3F0E8"/>
                    </a:solidFill>
                  </a:tcPr>
                </a:tc>
              </a:tr>
            </a:tbl>
          </a:graphicData>
        </a:graphic>
      </p:graphicFrame>
      <p:sp>
        <p:nvSpPr>
          <p:cNvPr id="6" name="TextBox 5"/>
          <p:cNvSpPr txBox="1"/>
          <p:nvPr/>
        </p:nvSpPr>
        <p:spPr>
          <a:xfrm>
            <a:off x="609600" y="4463752"/>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travplan이 기대는 저장소의 상태를 사람과 함께 읽을 수 있다. </a:t>
            </a:r>
            <a:r>
              <a:rPr sz="1050" b="0" i="0">
                <a:solidFill>
                  <a:srgbClr val="16213A"/>
                </a:solidFill>
                <a:latin typeface="Consolas"/>
                <a:ea typeface="Malgun Gothic"/>
                <a:cs typeface="Malgun Gothic"/>
              </a:rPr>
              <a:t>elevation_mapping</a:t>
            </a:r>
            <a:r>
              <a:rPr sz="1050" b="0" i="0">
                <a:solidFill>
                  <a:srgbClr val="16213A"/>
                </a:solidFill>
                <a:latin typeface="Arial"/>
                <a:ea typeface="Malgun Gothic"/>
                <a:cs typeface="Malgun Gothic"/>
              </a:rPr>
              <a:t>은 README 맨 위에서 유지보수 종료를 알렸고, 지금 관리자는 ANYbotics 쪽이다. </a:t>
            </a:r>
            <a:r>
              <a:rPr sz="1050" b="0" i="0">
                <a:solidFill>
                  <a:srgbClr val="16213A"/>
                </a:solidFill>
                <a:latin typeface="Consolas"/>
                <a:ea typeface="Malgun Gothic"/>
                <a:cs typeface="Malgun Gothic"/>
              </a:rPr>
              <a:t>traversability_estimation</a:t>
            </a:r>
            <a:r>
              <a:rPr sz="1050" b="0" i="0">
                <a:solidFill>
                  <a:srgbClr val="16213A"/>
                </a:solidFill>
                <a:latin typeface="Arial"/>
                <a:ea typeface="Malgun Gothic"/>
                <a:cs typeface="Malgun Gothic"/>
              </a:rPr>
              <a:t>은 2023-06 이후 멈췄다. elevation_mapping_cupy는 </a:t>
            </a:r>
            <a:r>
              <a:rPr sz="1050" b="0" i="0">
                <a:solidFill>
                  <a:srgbClr val="16213A"/>
                </a:solidFill>
                <a:latin typeface="Consolas"/>
                <a:ea typeface="Malgun Gothic"/>
                <a:cs typeface="Malgun Gothic"/>
              </a:rPr>
              <a:t>main</a:t>
            </a:r>
            <a:r>
              <a:rPr sz="1050" b="0" i="0">
                <a:solidFill>
                  <a:srgbClr val="16213A"/>
                </a:solidFill>
                <a:latin typeface="Arial"/>
                <a:ea typeface="Malgun Gothic"/>
                <a:cs typeface="Malgun Gothic"/>
              </a:rPr>
              <a:t>이 2025-05에 멈췄지만 </a:t>
            </a:r>
            <a:r>
              <a:rPr sz="1050" b="0" i="0">
                <a:solidFill>
                  <a:srgbClr val="16213A"/>
                </a:solidFill>
                <a:latin typeface="Consolas"/>
                <a:ea typeface="Malgun Gothic"/>
                <a:cs typeface="Malgun Gothic"/>
              </a:rPr>
              <a:t>ros2</a:t>
            </a:r>
            <a:r>
              <a:rPr sz="1050" b="0" i="0">
                <a:solidFill>
                  <a:srgbClr val="16213A"/>
                </a:solidFill>
                <a:latin typeface="Arial"/>
                <a:ea typeface="Malgun Gothic"/>
                <a:cs typeface="Malgun Gothic"/>
              </a:rPr>
              <a:t> 가지에서 v2.2.0(2026-07, ROS 2 Jazzy)까지 나왔다. travplan은 emap 코어를 벤더링해 쓰므로 상류가 멈춰도 L1 인식 루프는 그대로 돈다. 벤더링한 코어와 상류의 차이는 P1(ROS 2 Jazzy) 전에 비교한다. 상류의 최근 커밋 가운데 관측 나이 추적과 구멍 국소 인페인팅은 travplan의 미관측·가림 처리(TP-0044·TP-0047)와 주제가 겹친다.</a:t>
            </a:r>
          </a:p>
        </p:txBody>
      </p:sp>
      <p:sp>
        <p:nvSpPr>
          <p:cNvPr id="7" name="TextBox 6"/>
          <p:cNvSpPr txBox="1"/>
          <p:nvPr/>
        </p:nvSpPr>
        <p:spPr>
          <a:xfrm>
            <a:off x="717550" y="5418634"/>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B.14.6 travplan이 가져올 순서</a:t>
            </a:r>
          </a:p>
        </p:txBody>
      </p:sp>
      <p:sp>
        <p:nvSpPr>
          <p:cNvPr id="8" name="TextBox 7"/>
          <p:cNvSpPr txBox="1"/>
          <p:nvPr/>
        </p:nvSpPr>
        <p:spPr>
          <a:xfrm>
            <a:off x="609600" y="5721846"/>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RSL에서 travplan이 가져올 것을 바로 쓸 수 있는 순서로 놓으면 일곱이다.</a:t>
            </a:r>
          </a:p>
        </p:txBody>
      </p:sp>
    </p:spTree>
  </p:cSld>
  <p:clrMapOvr>
    <a:masterClrMapping/>
  </p:clrMapOvr>
</p:sld>
</file>

<file path=ppt/slides/slide25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B.14 ETH RSL(Marco Hutter)의 계보: 높이 지도에서 배달로봇까지</a:t>
            </a:r>
            <a:r>
              <a:rPr sz="1050" b="0" i="0">
                <a:solidFill>
                  <a:srgbClr val="5A6478"/>
                </a:solidFill>
                <a:latin typeface="Arial"/>
                <a:ea typeface="Malgun Gothic"/>
                <a:cs typeface="Malgun Gothic"/>
              </a:rPr>
              <a:t>  3/3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250 / 516</a:t>
            </a:r>
          </a:p>
        </p:txBody>
      </p:sp>
      <p:sp>
        <p:nvSpPr>
          <p:cNvPr id="5" name="TextBox 4"/>
          <p:cNvSpPr txBox="1"/>
          <p:nvPr/>
        </p:nvSpPr>
        <p:spPr>
          <a:xfrm>
            <a:off x="609600" y="1244600"/>
            <a:ext cx="10972800" cy="2317353"/>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1. </a:t>
            </a:r>
            <a:r>
              <a:rPr sz="1050" b="1" i="0">
                <a:solidFill>
                  <a:srgbClr val="16213A"/>
                </a:solidFill>
                <a:latin typeface="Arial"/>
                <a:ea typeface="Malgun Gothic"/>
                <a:cs typeface="Malgun Gothic"/>
              </a:rPr>
              <a:t>Planner D 선택기의 실패 확률 머리(FDM, B.14.3).</a:t>
            </a:r>
            <a:r>
              <a:rPr sz="1050" b="0" i="0">
                <a:solidFill>
                  <a:srgbClr val="16213A"/>
                </a:solidFill>
                <a:latin typeface="Arial"/>
                <a:ea typeface="Malgun Gothic"/>
                <a:cs typeface="Malgun Gothic"/>
              </a:rPr>
              <a:t> 라벨은 시뮬 판정(GT cost 0.95 이상, roll·pitch 한계, 보행자 충돌)에서 공짜로 나온다. 평가는 그 머리가 아니라 차체 기준 </a:t>
            </a:r>
            <a:r>
              <a:rPr sz="1050" b="0" i="0">
                <a:solidFill>
                  <a:srgbClr val="16213A"/>
                </a:solidFill>
                <a:latin typeface="Consolas"/>
                <a:ea typeface="Malgun Gothic"/>
                <a:cs typeface="Malgun Gothic"/>
              </a:rPr>
              <a:t>chassis_feasibility</a:t>
            </a:r>
            <a:r>
              <a:rPr sz="1050" b="0" i="0">
                <a:solidFill>
                  <a:srgbClr val="16213A"/>
                </a:solidFill>
                <a:latin typeface="Arial"/>
                <a:ea typeface="Malgun Gothic"/>
                <a:cs typeface="Malgun Gothic"/>
              </a:rPr>
              <a:t>(인식 문서 A.13.5)나 도달 수로 한다. ArtPlanner가 자기 비용망으로 채점한 순환을 피하기 위해서다.</a:t>
            </a:r>
          </a:p>
          <a:p>
            <a:pPr>
              <a:spcBef>
                <a:spcPts val="200"/>
              </a:spcBef>
            </a:pPr>
            <a:r>
              <a:rPr sz="1050" b="0" i="0">
                <a:solidFill>
                  <a:srgbClr val="5A6478"/>
                </a:solidFill>
                <a:latin typeface="Arial"/>
                <a:ea typeface="Malgun Gothic"/>
                <a:cs typeface="Malgun Gothic"/>
              </a:rPr>
              <a:t>2. </a:t>
            </a:r>
            <a:r>
              <a:rPr sz="1050" b="1" i="0">
                <a:solidFill>
                  <a:srgbClr val="16213A"/>
                </a:solidFill>
                <a:latin typeface="Arial"/>
                <a:ea typeface="Malgun Gothic"/>
                <a:cs typeface="Malgun Gothic"/>
              </a:rPr>
              <a:t>진행 방향에 따른 step 비용(도시 내비, B.14.4).</a:t>
            </a:r>
            <a:r>
              <a:rPr sz="1050" b="0" i="0">
                <a:solidFill>
                  <a:srgbClr val="16213A"/>
                </a:solidFill>
                <a:latin typeface="Arial"/>
                <a:ea typeface="Malgun Gothic"/>
                <a:cs typeface="Malgun Gothic"/>
              </a:rPr>
              <a:t> MPPI에는 </a:t>
            </a:r>
            <a:r>
              <a:rPr sz="1050" b="0" i="0">
                <a:solidFill>
                  <a:srgbClr val="16213A"/>
                </a:solidFill>
                <a:latin typeface="Consolas"/>
                <a:ea typeface="Malgun Gothic"/>
                <a:cs typeface="Malgun Gothic"/>
              </a:rPr>
              <a:t>CostTerm</a:t>
            </a:r>
            <a:r>
              <a:rPr sz="1050" b="0" i="0">
                <a:solidFill>
                  <a:srgbClr val="16213A"/>
                </a:solidFill>
                <a:latin typeface="Arial"/>
                <a:ea typeface="Malgun Gothic"/>
                <a:cs typeface="Malgun Gothic"/>
              </a:rPr>
              <a:t> 하나로, Guidance에는 간선을 뒤집은 그래프로 넣는다. 내림 턱 오탐(TP-0067)이 시험 장면이다.</a:t>
            </a:r>
          </a:p>
          <a:p>
            <a:pPr>
              <a:spcBef>
                <a:spcPts val="200"/>
              </a:spcBef>
            </a:pPr>
            <a:r>
              <a:rPr sz="1050" b="0" i="0">
                <a:solidFill>
                  <a:srgbClr val="5A6478"/>
                </a:solidFill>
                <a:latin typeface="Arial"/>
                <a:ea typeface="Malgun Gothic"/>
                <a:cs typeface="Malgun Gothic"/>
              </a:rPr>
              <a:t>3. </a:t>
            </a:r>
            <a:r>
              <a:rPr sz="1050" b="1" i="0">
                <a:solidFill>
                  <a:srgbClr val="16213A"/>
                </a:solidFill>
                <a:latin typeface="Arial"/>
                <a:ea typeface="Malgun Gothic"/>
                <a:cs typeface="Malgun Gothic"/>
              </a:rPr>
              <a:t>경로 문맥과 위치 기억(Path-conditioned RL, 도시 내비).</a:t>
            </a:r>
            <a:r>
              <a:rPr sz="1050" b="0" i="0">
                <a:solidFill>
                  <a:srgbClr val="16213A"/>
                </a:solidFill>
                <a:latin typeface="Arial"/>
                <a:ea typeface="Malgun Gothic"/>
                <a:cs typeface="Malgun Gothic"/>
              </a:rPr>
              <a:t> curb_ramp 레벨 3에서 경사로를 지나친 Planner D의 실패(TP-0143)에 대한 후보다. 관측과 지평을 넓히는 TP-0145와 함께 본다. 학습 경로에는 최적 경로, 돌아가는 경로, 흔든 경로를 섞는다.</a:t>
            </a:r>
          </a:p>
          <a:p>
            <a:pPr>
              <a:spcBef>
                <a:spcPts val="200"/>
              </a:spcBef>
            </a:pPr>
            <a:r>
              <a:rPr sz="1050" b="0" i="0">
                <a:solidFill>
                  <a:srgbClr val="5A6478"/>
                </a:solidFill>
                <a:latin typeface="Arial"/>
                <a:ea typeface="Malgun Gothic"/>
                <a:cs typeface="Malgun Gothic"/>
              </a:rPr>
              <a:t>4. </a:t>
            </a:r>
            <a:r>
              <a:rPr sz="1050" b="1" i="0">
                <a:solidFill>
                  <a:srgbClr val="16213A"/>
                </a:solidFill>
                <a:latin typeface="Arial"/>
                <a:ea typeface="Malgun Gothic"/>
                <a:cs typeface="Malgun Gothic"/>
              </a:rPr>
              <a:t>시뮬레이터의 지연과 병렬화(actuator net, legged_gym, B.14.1).</a:t>
            </a:r>
            <a:r>
              <a:rPr sz="1050" b="0" i="0">
                <a:solidFill>
                  <a:srgbClr val="16213A"/>
                </a:solidFill>
                <a:latin typeface="Arial"/>
                <a:ea typeface="Malgun Gothic"/>
                <a:cs typeface="Malgun Gothic"/>
              </a:rPr>
              <a:t> 지연을 아는 rollout(TP-0150)이 첫 결과다. 실물 기록은 넓은 주파수를 덮게 모으고, RL 후학습의 rollout은 지도 생성부터 GPU로 옮긴다(TP-0084).</a:t>
            </a:r>
          </a:p>
          <a:p>
            <a:pPr>
              <a:spcBef>
                <a:spcPts val="200"/>
              </a:spcBef>
            </a:pPr>
            <a:r>
              <a:rPr sz="1050" b="0" i="0">
                <a:solidFill>
                  <a:srgbClr val="5A6478"/>
                </a:solidFill>
                <a:latin typeface="Arial"/>
                <a:ea typeface="Malgun Gothic"/>
                <a:cs typeface="Malgun Gothic"/>
              </a:rPr>
              <a:t>5. </a:t>
            </a:r>
            <a:r>
              <a:rPr sz="1050" b="1" i="0">
                <a:solidFill>
                  <a:srgbClr val="16213A"/>
                </a:solidFill>
                <a:latin typeface="Arial"/>
                <a:ea typeface="Malgun Gothic"/>
                <a:cs typeface="Malgun Gothic"/>
              </a:rPr>
              <a:t>지도 σ의 해석적 후보(elevation mapping, B.14.1).</a:t>
            </a:r>
            <a:r>
              <a:rPr sz="1050" b="0" i="0">
                <a:solidFill>
                  <a:srgbClr val="16213A"/>
                </a:solidFill>
                <a:latin typeface="Arial"/>
                <a:ea typeface="Malgun Gothic"/>
                <a:cs typeface="Malgun Gothic"/>
              </a:rPr>
              <a:t> 반 칸 수평 분산을 이웃 높이의 퍼짐으로 바꾸는 2014년 융합식을 TP-0054의 민감도 σ와 맞댄다.</a:t>
            </a:r>
          </a:p>
          <a:p>
            <a:pPr>
              <a:spcBef>
                <a:spcPts val="200"/>
              </a:spcBef>
            </a:pPr>
            <a:r>
              <a:rPr sz="1050" b="0" i="0">
                <a:solidFill>
                  <a:srgbClr val="5A6478"/>
                </a:solidFill>
                <a:latin typeface="Arial"/>
                <a:ea typeface="Malgun Gothic"/>
                <a:cs typeface="Malgun Gothic"/>
              </a:rPr>
              <a:t>6. </a:t>
            </a:r>
            <a:r>
              <a:rPr sz="1050" b="1" i="0">
                <a:solidFill>
                  <a:srgbClr val="16213A"/>
                </a:solidFill>
                <a:latin typeface="Arial"/>
                <a:ea typeface="Malgun Gothic"/>
                <a:cs typeface="Malgun Gothic"/>
              </a:rPr>
              <a:t>P1 데이터 계획(FDM).</a:t>
            </a:r>
            <a:r>
              <a:rPr sz="1050" b="0" i="0">
                <a:solidFill>
                  <a:srgbClr val="16213A"/>
                </a:solidFill>
                <a:latin typeface="Arial"/>
                <a:ea typeface="Malgun Gothic"/>
                <a:cs typeface="Malgun Gothic"/>
              </a:rPr>
              <a:t> Isaac Lab 병렬 수집과 실물 미세 조정의 절차를 P1 Isaac 단계의 데이터 계획으로 쓴다.</a:t>
            </a:r>
          </a:p>
          <a:p>
            <a:pPr>
              <a:spcBef>
                <a:spcPts val="200"/>
              </a:spcBef>
            </a:pPr>
            <a:r>
              <a:rPr sz="1050" b="0" i="0">
                <a:solidFill>
                  <a:srgbClr val="5A6478"/>
                </a:solidFill>
                <a:latin typeface="Arial"/>
                <a:ea typeface="Malgun Gothic"/>
                <a:cs typeface="Malgun Gothic"/>
              </a:rPr>
              <a:t>7. </a:t>
            </a:r>
            <a:r>
              <a:rPr sz="1050" b="1" i="0">
                <a:solidFill>
                  <a:srgbClr val="16213A"/>
                </a:solidFill>
                <a:latin typeface="Arial"/>
                <a:ea typeface="Malgun Gothic"/>
                <a:cs typeface="Malgun Gothic"/>
              </a:rPr>
              <a:t>학습 Controller의 학습 절차(DTC, B.14.2).</a:t>
            </a:r>
            <a:r>
              <a:rPr sz="1050" b="0" i="0">
                <a:solidFill>
                  <a:srgbClr val="16213A"/>
                </a:solidFill>
                <a:latin typeface="Arial"/>
                <a:ea typeface="Malgun Gothic"/>
                <a:cs typeface="Malgun Gothic"/>
              </a:rPr>
              <a:t> 학습 Controller를 키울 때 계획 갱신을 사건마다로 묶고, 경로 입력에도 지도 오차 크기의 교란을 넣는다.</a:t>
            </a:r>
          </a:p>
        </p:txBody>
      </p:sp>
      <p:sp>
        <p:nvSpPr>
          <p:cNvPr id="6" name="TextBox 5"/>
          <p:cNvSpPr txBox="1"/>
          <p:nvPr/>
        </p:nvSpPr>
        <p:spPr>
          <a:xfrm>
            <a:off x="609600" y="3650853"/>
            <a:ext cx="10972800" cy="649486"/>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같은 문제를 제어 이론 쪽에서 푼 Zeilinger 그룹의 결과는 Controller 문서 E.5–E.7에 있다. 두 연구실을 나란히 보면 차이가 선명하다. </a:t>
            </a:r>
            <a:r>
              <a:rPr sz="1050" b="1" i="0">
                <a:solidFill>
                  <a:srgbClr val="C2410C"/>
                </a:solidFill>
                <a:latin typeface="Arial"/>
                <a:ea typeface="Malgun Gothic"/>
                <a:cs typeface="Malgun Gothic"/>
              </a:rPr>
              <a:t>Zeilinger 그룹은 불확실성을 σ로 재서 제약을 조이고, RSL은 실패를 직접 예측해 비용에 넣는다.</a:t>
            </a:r>
            <a:r>
              <a:rPr sz="1050" b="0" i="0">
                <a:solidFill>
                  <a:srgbClr val="16213A"/>
                </a:solidFill>
                <a:latin typeface="Arial"/>
                <a:ea typeface="Malgun Gothic"/>
                <a:cs typeface="Malgun Gothic"/>
              </a:rPr>
              <a:t> travplan의 TP-0068·TP-0069는 앞쪽이고, Planner D 선택기의 실패 확률은 뒤쪽이다. 둘은 배타적이지 않다. 가림으로 못 본 칸(TP-0047)은 σ의 몫이고, 본 포트홀 가장자리는 실패 확률의 몫이다.</a:t>
            </a:r>
          </a:p>
        </p:txBody>
      </p:sp>
    </p:spTree>
  </p:cSld>
  <p:clrMapOvr>
    <a:masterClrMapping/>
  </p:clrMapOvr>
</p:sld>
</file>

<file path=ppt/slides/slide25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1/5</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251 / 516</a:t>
            </a:r>
          </a:p>
        </p:txBody>
      </p:sp>
      <p:sp>
        <p:nvSpPr>
          <p:cNvPr id="5" name="TextBox 4"/>
          <p:cNvSpPr txBox="1"/>
          <p:nvPr/>
        </p:nvSpPr>
        <p:spPr>
          <a:xfrm>
            <a:off x="609600" y="1244600"/>
            <a:ext cx="10972800" cy="1298972"/>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사족보행과 휴머노이드의 학습 연구는 몇 조직이 도구와 사람을 주고받으며 끌어 왔다.</a:t>
            </a:r>
            <a:r>
              <a:rPr sz="1050" b="0" i="0">
                <a:solidFill>
                  <a:srgbClr val="16213A"/>
                </a:solidFill>
                <a:latin typeface="Arial"/>
                <a:ea typeface="Malgun Gothic"/>
                <a:cs typeface="Malgun Gothic"/>
              </a:rPr>
              <a:t> NVIDIA는 GPU 시뮬레이터와 학습 틀을 만들었다. Google DeepMind는 sim-to-real의 초기 교훈을 냈고, 2021년에 인수한 MuJoCo 위에 학습 도구를 쌓았다. 취리히에서는 ETH Zürich의 연구실, 그 출신이 세운 Flexion, Disney Research가 같은 학습 도구를 쓴다. RAI Institute(Robotics and AI Institute)와 Boston Dynamics는 같은 Spot과 Atlas 위에서 학습 정책과 MPC를 어느 층에 둘지 시험했다. </a:t>
            </a:r>
            <a:r>
              <a:rPr sz="1050" b="1" i="0">
                <a:solidFill>
                  <a:srgbClr val="C2410C"/>
                </a:solidFill>
                <a:latin typeface="Arial"/>
                <a:ea typeface="Malgun Gothic"/>
                <a:cs typeface="Malgun Gothic"/>
              </a:rPr>
              <a:t>출발점은 달랐지만, 위 층이 짧은 궤적이나 명령을 내고 아래 층의 학습 정책이 따르는 두 층 구조에 여러 조직이 따로 닿았다.</a:t>
            </a:r>
            <a:r>
              <a:rPr sz="1050" b="0" i="0">
                <a:solidFill>
                  <a:srgbClr val="16213A"/>
                </a:solidFill>
                <a:latin typeface="Arial"/>
                <a:ea typeface="Malgun Gothic"/>
                <a:cs typeface="Malgun Gothic"/>
              </a:rPr>
              <a:t> NVIDIA의 SONIC과 PARC, Flexion의 Reflect, RSL의 동작 생성 + 동작 추종 휴머노이드, RAI Institute의 Sumo가 그 예다. travplan의 Planner와 Controller 분리도 같은 경계에 서 있다. 다만 travplan의 아래 층은 학습 정책이 아니라 MPPI와 NMPC다. 그래서 travplan이 가져올 것은 로봇 형태가 아니라 두 층을 함께 학습하는 절차, plant를 실물에 맞추는 절차, 두 층 사이의 인터페이스다.</a:t>
            </a:r>
          </a:p>
        </p:txBody>
      </p:sp>
      <p:sp>
        <p:nvSpPr>
          <p:cNvPr id="6" name="TextBox 5"/>
          <p:cNvSpPr txBox="1"/>
          <p:nvPr/>
        </p:nvSpPr>
        <p:spPr>
          <a:xfrm>
            <a:off x="609600" y="2632472"/>
            <a:ext cx="10972800" cy="86598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이 절은 같은 탭의 두 절과 짝을 이룬다. B.12는 로봇 종류별 공개 Planner 스택을 모았고, B.14는 ETH RSL 한 연구실을 층별로 깊게 읽었다. B.16은 RSL 밖의 연구실과 회사를 조직별로 묶는다. B.14가 다룬 RSL 연구는 가리키기만 한다. B.14에 없던 RSL 연구(PACE·AME-2·Parkour in the Wild 등)는 B.16.3에 카드로 둔다. 하위 제어 쪽의 깊은 읽기는 Controller 문서에 있다. 사족보행 RL의 공개 학습 틀과 코드는 F.6에, Extreme Parkour의 논문·코드 정독은 F.6.2에 있다. GR00T 분리형 전신 제어기(WBC, whole-body control)는 F.8에 있다. 휴머노이드 회사의 인식·내비게이션 스택(Figure·LimX·Flexion 등)은 인식 문서 A.8.1에 있다. 이 절은 그 절들을 가리키기만 한다.</a:t>
            </a:r>
          </a:p>
        </p:txBody>
      </p:sp>
      <p:sp>
        <p:nvSpPr>
          <p:cNvPr id="7" name="TextBox 6"/>
          <p:cNvSpPr txBox="1"/>
          <p:nvPr/>
        </p:nvSpPr>
        <p:spPr>
          <a:xfrm>
            <a:off x="609600" y="3587353"/>
            <a:ext cx="10972800" cy="108247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읽는 법.</a:t>
            </a:r>
            <a:r>
              <a:rPr sz="1050" b="0" i="0">
                <a:solidFill>
                  <a:srgbClr val="16213A"/>
                </a:solidFill>
                <a:latin typeface="Arial"/>
                <a:ea typeface="Malgun Gothic"/>
                <a:cs typeface="Malgun Gothic"/>
              </a:rPr>
              <a:t> 아래 표는 조직마다 무엇에 걸었고 travplan의 어디에 닿는지를 한 줄로 준다. 계보 그림 두 장은 사족·바퀴 다리와 휴머노이드로 나눠, 뒤 연구가 앞 연구를 직접 쓴 관계를 잇는다. 연표는 그림 아래 토글에 있다. B.16.1–B.16.4는 네 조직이고, B.16.5와 B.16.6은 그 밖 연구실의 사족과 휴머노이드다. 소절마다 첫 문단 아래 토글에 그 소절에서 다룬 연구의 목록 표가 있다. 표의 '다룬 곳'에서 '이 소절'은 그 소절에 카드나 문단이 있다는 뜻이고, 괄호 안은 그 자리(다른 카드나 문단, 갈래 소개, 토글)다. '표만'은 그 표에만 있다는 뜻이다. B.16.7은 travplan이 가져올 순서다. 소속과 공개 코드는 2026-10-07에 확인했다. B.16.8은 그 뒤에 더한 휴머노이드 주행 소절이다. 몸체를 가리지 않는 내비 스택(CMU)과, 학습 정책의 출력을 실행 가능한 집합으로 투영하는 연구(PADP·CMP·FIBER)를 다룬다(2026-10-21 확인).</a:t>
            </a:r>
          </a:p>
        </p:txBody>
      </p:sp>
      <p:sp>
        <p:nvSpPr>
          <p:cNvPr id="8" name="TextBox 7"/>
          <p:cNvSpPr txBox="1"/>
          <p:nvPr/>
        </p:nvSpPr>
        <p:spPr>
          <a:xfrm>
            <a:off x="609600" y="475873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이 절에 자주 나오는 travplan 결과.</a:t>
            </a:r>
            <a:r>
              <a:rPr sz="1050" b="0" i="0">
                <a:solidFill>
                  <a:srgbClr val="16213A"/>
                </a:solidFill>
                <a:latin typeface="Arial"/>
                <a:ea typeface="Malgun Gothic"/>
                <a:cs typeface="Malgun Gothic"/>
              </a:rPr>
              <a:t> 카드의 'travplan에 주는 의미'가 자주 기대는 작업이다. 상태는 2026-10-07의 TODO 기준이다.</a:t>
            </a:r>
          </a:p>
        </p:txBody>
      </p:sp>
      <p:graphicFrame>
        <p:nvGraphicFramePr>
          <p:cNvPr id="9" name="Table 8"/>
          <p:cNvGraphicFramePr>
            <a:graphicFrameLocks noGrp="1"/>
          </p:cNvGraphicFramePr>
          <p:nvPr/>
        </p:nvGraphicFramePr>
        <p:xfrm>
          <a:off x="609600" y="5064125"/>
          <a:ext cx="10966450" cy="833040"/>
        </p:xfrm>
        <a:graphic>
          <a:graphicData uri="http://schemas.openxmlformats.org/drawingml/2006/table">
            <a:tbl>
              <a:tblPr firstRow="1" bandRow="1">
                <a:tableStyleId>{5C22544A-7EE6-4342-B048-85BDC9FD1C3A}</a:tableStyleId>
              </a:tblPr>
              <a:tblGrid>
                <a:gridCol w="565150"/>
                <a:gridCol w="544810"/>
                <a:gridCol w="8811220"/>
                <a:gridCol w="1045270"/>
              </a:tblGrid>
              <a:tr h="197088">
                <a:tc>
                  <a:txBody>
                    <a:bodyPr wrap="square"/>
                    <a:lstStyle/>
                    <a:p>
                      <a:r>
                        <a:rPr sz="800" b="1" i="0">
                          <a:solidFill>
                            <a:srgbClr val="F4F1EA"/>
                          </a:solidFill>
                          <a:latin typeface="Arial"/>
                          <a:ea typeface="Malgun Gothic"/>
                          <a:cs typeface="Malgun Gothic"/>
                        </a:rPr>
                        <a:t>TP</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상태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무엇인가</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읽을 곳</a:t>
                      </a:r>
                    </a:p>
                  </a:txBody>
                  <a:tcPr marL="63500" marR="63500" marT="12700" marB="12700">
                    <a:solidFill>
                      <a:srgbClr val="16213A"/>
                    </a:solidFill>
                  </a:tcPr>
                </a:tc>
              </a:tr>
              <a:tr h="317976">
                <a:tc>
                  <a:txBody>
                    <a:bodyPr wrap="square"/>
                    <a:lstStyle/>
                    <a:p>
                      <a:r>
                        <a:rPr sz="800" b="0" i="0">
                          <a:solidFill>
                            <a:srgbClr val="16213A"/>
                          </a:solidFill>
                          <a:latin typeface="Arial"/>
                          <a:ea typeface="Malgun Gothic"/>
                          <a:cs typeface="Malgun Gothic"/>
                        </a:rPr>
                        <a:t>TP-0066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Done</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Planner D 폐루프 RL 후학습. 후보 묶음의 상대 이점을 AWR(advantage-weighted regression) 가중치로 바꿔 flow matching을 미세 조정했다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B.15.3</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TP-0150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Done</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plant 지연을 아는 MPPI rollout(</a:t>
                      </a:r>
                      <a:r>
                        <a:rPr sz="800" b="0" i="0">
                          <a:solidFill>
                            <a:srgbClr val="16213A"/>
                          </a:solidFill>
                          <a:latin typeface="Consolas"/>
                          <a:ea typeface="Malgun Gothic"/>
                          <a:cs typeface="Malgun Gothic"/>
                        </a:rPr>
                        <a:t>mppi_plant_lag</a:t>
                      </a:r>
                      <a:r>
                        <a:rPr sz="800" b="0" i="0">
                          <a:solidFill>
                            <a:srgbClr val="16213A"/>
                          </a:solidFill>
                          <a:latin typeface="Arial"/>
                          <a:ea typeface="Malgun Gothic"/>
                          <a:cs typeface="Malgun Gothic"/>
                        </a:rPr>
                        <a:t>). 권장 L1 + 스워브 plant 레벨 3에서 치명이 55에서 4로 줄었다. rollout의 지연을 plant와 같게 둔 시뮬 결과라, 올바른 명목 모델의 값을 보여 줄 뿐 실물 보정의 근거는 아니다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MPC 문서 M.3.22</a:t>
                      </a:r>
                    </a:p>
                  </a:txBody>
                  <a:tcPr marL="63500" marR="63500" marT="12700" marB="12700">
                    <a:solidFill>
                      <a:srgbClr val="F3F0E8"/>
                    </a:solidFill>
                  </a:tcPr>
                </a:tc>
              </a:tr>
            </a:tbl>
          </a:graphicData>
        </a:graphic>
      </p:graphicFrame>
    </p:spTree>
  </p:cSld>
  <p:clrMapOvr>
    <a:masterClrMapping/>
  </p:clrMapOvr>
</p:sld>
</file>

<file path=ppt/slides/slide25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2/5</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252 / 516</a:t>
            </a:r>
          </a:p>
        </p:txBody>
      </p:sp>
      <p:graphicFrame>
        <p:nvGraphicFramePr>
          <p:cNvPr id="5" name="Table 4"/>
          <p:cNvGraphicFramePr>
            <a:graphicFrameLocks noGrp="1"/>
          </p:cNvGraphicFramePr>
          <p:nvPr/>
        </p:nvGraphicFramePr>
        <p:xfrm>
          <a:off x="609600" y="1244600"/>
          <a:ext cx="10966450" cy="3058872"/>
        </p:xfrm>
        <a:graphic>
          <a:graphicData uri="http://schemas.openxmlformats.org/drawingml/2006/table">
            <a:tbl>
              <a:tblPr firstRow="1" bandRow="1">
                <a:tableStyleId>{5C22544A-7EE6-4342-B048-85BDC9FD1C3A}</a:tableStyleId>
              </a:tblPr>
              <a:tblGrid>
                <a:gridCol w="565150"/>
                <a:gridCol w="544810"/>
                <a:gridCol w="8811220"/>
                <a:gridCol w="1045270"/>
              </a:tblGrid>
              <a:tr h="197088">
                <a:tc>
                  <a:txBody>
                    <a:bodyPr wrap="square"/>
                    <a:lstStyle/>
                    <a:p>
                      <a:r>
                        <a:rPr sz="800" b="1" i="0">
                          <a:solidFill>
                            <a:srgbClr val="F4F1EA"/>
                          </a:solidFill>
                          <a:latin typeface="Arial"/>
                          <a:ea typeface="Malgun Gothic"/>
                          <a:cs typeface="Malgun Gothic"/>
                        </a:rPr>
                        <a:t>TP</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상태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무엇인가</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읽을 곳</a:t>
                      </a:r>
                    </a:p>
                  </a:txBody>
                  <a:tcPr marL="63500" marR="63500" marT="12700" marB="12700">
                    <a:solidFill>
                      <a:srgbClr val="16213A"/>
                    </a:solidFill>
                  </a:tcPr>
                </a:tc>
              </a:tr>
              <a:tr h="317976">
                <a:tc>
                  <a:txBody>
                    <a:bodyPr wrap="square"/>
                    <a:lstStyle/>
                    <a:p>
                      <a:r>
                        <a:rPr sz="800" b="0" i="0">
                          <a:solidFill>
                            <a:srgbClr val="16213A"/>
                          </a:solidFill>
                          <a:latin typeface="Arial"/>
                          <a:ea typeface="Malgun Gothic"/>
                          <a:cs typeface="Malgun Gothic"/>
                        </a:rPr>
                        <a:t>TP-0128</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Done</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Playground의 학습 Controller TinyPolicy. GT 지도로 배우고 belief 지도에서 돈다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Controller 문서 E.12</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TP-0068</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Done</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GP 잔차 동역학. 명목 모듈 모델 위의 잔차를 GP로 배운다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MPC 문서 M.3.12</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TP-0078</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Done</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Guidance 폴백(</a:t>
                      </a:r>
                      <a:r>
                        <a:rPr sz="800" b="0" i="0">
                          <a:solidFill>
                            <a:srgbClr val="16213A"/>
                          </a:solidFill>
                          <a:latin typeface="Consolas"/>
                          <a:ea typeface="Malgun Gothic"/>
                          <a:cs typeface="Malgun Gothic"/>
                        </a:rPr>
                        <a:t>planner_df</a:t>
                      </a:r>
                      <a:r>
                        <a:rPr sz="800" b="0" i="0">
                          <a:solidFill>
                            <a:srgbClr val="16213A"/>
                          </a:solidFill>
                          <a:latin typeface="Arial"/>
                          <a:ea typeface="Malgun Gothic"/>
                          <a:cs typeface="Malgun Gothic"/>
                        </a:rPr>
                        <a:t>). Planner D 후보가 치명으로 몰린 계획이 이어지면 Guidance 경로를 후보로 쓴다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B.15.2</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TP-0135</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Done</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Playground 휴머노이드와 GR00T 분리형 WBC 층. 위에 앉은 MPPI가 하체 지연을 알아야 했다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Controller 문서 E.13</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TP-0055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Backlog</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Planner D를 L1 belief로 다시 학습(DAgger)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TP-0124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Backlog</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MPPI·MPC 예측 모델의 계층(기구학, 동역학, 학습)</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TP-0126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Backlog</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학습 forward dynamics 모델(FDM)을 MPPI rollout 모델로</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TP-0032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Backlog</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L0의 지연·자기 위치 잡음 무작위화</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TP-0043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Backlog</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sim-to-real 예측력 프로토콜</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r>
            </a:tbl>
          </a:graphicData>
        </a:graphic>
      </p:graphicFrame>
    </p:spTree>
  </p:cSld>
  <p:clrMapOvr>
    <a:masterClrMapping/>
  </p:clrMapOvr>
</p:sld>
</file>

<file path=ppt/slides/slide25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3/5</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253 / 516</a:t>
            </a:r>
          </a:p>
        </p:txBody>
      </p:sp>
      <p:graphicFrame>
        <p:nvGraphicFramePr>
          <p:cNvPr id="5" name="Table 4"/>
          <p:cNvGraphicFramePr>
            <a:graphicFrameLocks noGrp="1"/>
          </p:cNvGraphicFramePr>
          <p:nvPr/>
        </p:nvGraphicFramePr>
        <p:xfrm>
          <a:off x="609600" y="1244600"/>
          <a:ext cx="10966450" cy="3721180"/>
        </p:xfrm>
        <a:graphic>
          <a:graphicData uri="http://schemas.openxmlformats.org/drawingml/2006/table">
            <a:tbl>
              <a:tblPr firstRow="1" bandRow="1">
                <a:tableStyleId>{5C22544A-7EE6-4342-B048-85BDC9FD1C3A}</a:tableStyleId>
              </a:tblPr>
              <a:tblGrid>
                <a:gridCol w="1698625"/>
                <a:gridCol w="1125835"/>
                <a:gridCol w="1854795"/>
                <a:gridCol w="2576116"/>
                <a:gridCol w="1880195"/>
                <a:gridCol w="1349375"/>
                <a:gridCol w="481509"/>
              </a:tblGrid>
              <a:tr h="197088">
                <a:tc>
                  <a:txBody>
                    <a:bodyPr wrap="square"/>
                    <a:lstStyle/>
                    <a:p>
                      <a:r>
                        <a:rPr sz="800" b="1" i="0">
                          <a:solidFill>
                            <a:srgbClr val="F4F1EA"/>
                          </a:solidFill>
                          <a:latin typeface="Arial"/>
                          <a:ea typeface="Malgun Gothic"/>
                          <a:cs typeface="Malgun Gothic"/>
                        </a:rPr>
                        <a:t>조직</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건 것</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사족</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휴머노이드·이족</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시뮬레이터·기반 모델</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travplan과 닿는 곳</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소절</a:t>
                      </a:r>
                    </a:p>
                  </a:txBody>
                  <a:tcPr marL="63500" marR="63500" marT="12700" marB="12700">
                    <a:solidFill>
                      <a:srgbClr val="16213A"/>
                    </a:solidFill>
                  </a:tcPr>
                </a:tc>
              </a:tr>
              <a:tr h="680641">
                <a:tc>
                  <a:txBody>
                    <a:bodyPr wrap="square"/>
                    <a:lstStyle/>
                    <a:p>
                      <a:r>
                        <a:rPr sz="800" b="0" i="0">
                          <a:solidFill>
                            <a:srgbClr val="16213A"/>
                          </a:solidFill>
                          <a:latin typeface="Arial"/>
                          <a:ea typeface="Malgun Gothic"/>
                          <a:cs typeface="Malgun Gothic"/>
                        </a:rPr>
                        <a:t>NVIDIA(GEAR·DAIR 등 연구 조직)</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다리 로봇 학습이 도는 토대(GPU 시뮬레이터, 학습 틀, 모션 데이터)와 범용 휴머노이드 추종기</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DrEureka(Go1), Neural Scene Representation(ANYmal, ETH 공저)</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ASE·MaskedMimic·PARC(시뮬레이션 캐릭터), HOVER(H1), SONIC·VIRAL·DoorMan·GRAIL(G1)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Isaac Gym, Orbit·Isaac Lab(ETH 공동), Newton(공동), GR00T N1–N1.7</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PARC의 생성기–추종기 데이터 고리, 보상 인지 물리 prior(RAPP)로 무작위화 범위 재기, HOVER 명령 마스크(TP-0128)</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B.16.1</a:t>
                      </a:r>
                    </a:p>
                  </a:txBody>
                  <a:tcPr marL="63500" marR="63500" marT="12700" marB="12700">
                    <a:solidFill>
                      <a:srgbClr val="FFFDF8"/>
                    </a:solidFill>
                  </a:tcPr>
                </a:tc>
              </a:tr>
              <a:tr h="801529">
                <a:tc>
                  <a:txBody>
                    <a:bodyPr wrap="square"/>
                    <a:lstStyle/>
                    <a:p>
                      <a:r>
                        <a:rPr sz="800" b="0" i="0">
                          <a:solidFill>
                            <a:srgbClr val="16213A"/>
                          </a:solidFill>
                          <a:latin typeface="Arial"/>
                          <a:ea typeface="Malgun Gothic"/>
                          <a:cs typeface="Malgun Gothic"/>
                        </a:rPr>
                        <a:t>Google DeepMind(구 Google Brain 로보틱스와 DeepMind)</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시뮬레이터를 실물에 맞추기와 실물 학습에서 기반 모델의 전신 제어까지</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Minitaur sim-to-real, 동물 모방(Laikago), Visual-Locomotion·Safe RL, Barkour</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OP3 축구 두 편, Gemini Robotics 2(Apollo 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Brax, MuJoCo·MuJoCo MPC·MJX(JAX판)·MuJoCo Playground, Gemini Robotics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구동기·지연 모델(TP-0150, TP-0032), 학습 위 층 + MPC 아래 층, Barkour 시간 점수(TP-0038), 적응 증류 가중(TP-0066)</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B.16.2</a:t>
                      </a:r>
                    </a:p>
                  </a:txBody>
                  <a:tcPr marL="63500" marR="63500" marT="12700" marB="12700">
                    <a:solidFill>
                      <a:srgbClr val="F3F0E8"/>
                    </a:solidFill>
                  </a:tcPr>
                </a:tc>
              </a:tr>
              <a:tr h="801529">
                <a:tc>
                  <a:txBody>
                    <a:bodyPr wrap="square"/>
                    <a:lstStyle/>
                    <a:p>
                      <a:r>
                        <a:rPr sz="800" b="0" i="0">
                          <a:solidFill>
                            <a:srgbClr val="16213A"/>
                          </a:solidFill>
                          <a:latin typeface="Arial"/>
                          <a:ea typeface="Malgun Gothic"/>
                          <a:cs typeface="Malgun Gothic"/>
                        </a:rPr>
                        <a:t>취리히(RSL 밖 ETH 연구실, Disney Research, Flexion)</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같은 학습 도구를 쓰는 연구실·회사·기업 연구소의 망</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Resilient 내비, PACE, AME-2, Parkour in the Wild, 바퀴 다리 Ascento·LEVA</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BDX·Olaf·RobotMDM(Disney), RSL 동작 생성 + 동작 추종(G1), Flexion Reflect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Kamino(Newton 통합), RWM(world model)</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생성기와 추종기 맞추기, plant 측정 보정(PACE, TP-0035), 가림 학습(TP-0055), σ 융합(AME-2, TP-0054), 조향 규칙(LEVA, TP-0034)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B.16.3</a:t>
                      </a:r>
                    </a:p>
                  </a:txBody>
                  <a:tcPr marL="63500" marR="63500" marT="12700" marB="12700">
                    <a:solidFill>
                      <a:srgbClr val="FFFDF8"/>
                    </a:solidFill>
                  </a:tcPr>
                </a:tc>
              </a:tr>
              <a:tr h="559752">
                <a:tc>
                  <a:txBody>
                    <a:bodyPr wrap="square"/>
                    <a:lstStyle/>
                    <a:p>
                      <a:r>
                        <a:rPr sz="800" b="0" i="0">
                          <a:solidFill>
                            <a:srgbClr val="16213A"/>
                          </a:solidFill>
                          <a:latin typeface="Arial"/>
                          <a:ea typeface="Malgun Gothic"/>
                          <a:cs typeface="Malgun Gothic"/>
                        </a:rPr>
                        <a:t>RAI Institute·Boston Dynamics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학습 정책과 MPC를 어느 층에 둘지</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Spot RL 보행(Boston Dynamics), Spot 고속 RL, ReLIC, Sumo, EVORA, 샘플링 MPC 시연 RL</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ZEST(Atlas·G1), Atlas 대형 행동 모델(Boston Dynamics·TRI), Sumo(G1, 시뮬레이션), 바퀴 이족 Roadrunner</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judo(MuJoCo 샘플링 MPC), Spot RL Researcher Kit(Isaac Lab)</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하위 정책을 rollout에 넣는 축(TP-0124, TP-0150), 미끄럼 분포(EVORA), 분포로 plant 맞추기(TP-0043)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B.16.4</a:t>
                      </a:r>
                    </a:p>
                  </a:txBody>
                  <a:tcPr marL="63500" marR="63500" marT="12700" marB="12700">
                    <a:solidFill>
                      <a:srgbClr val="F3F0E8"/>
                    </a:solidFill>
                  </a:tcPr>
                </a:tc>
              </a:tr>
              <a:tr h="680641">
                <a:tc>
                  <a:txBody>
                    <a:bodyPr wrap="square"/>
                    <a:lstStyle/>
                    <a:p>
                      <a:r>
                        <a:rPr sz="800" b="0" i="0">
                          <a:solidFill>
                            <a:srgbClr val="16213A"/>
                          </a:solidFill>
                          <a:latin typeface="Arial"/>
                          <a:ea typeface="Malgun Gothic"/>
                          <a:cs typeface="Malgun Gothic"/>
                        </a:rPr>
                        <a:t>다른 연구실의 사족(UC Berkeley·CMU, MIT, KAIST, CMU LeCAR, Unitree, Tencent)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적응, 안전, 무른 지면, 시각</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RMA, VP-Nav, 깊이 보행, Rapid Locomotion, Walk These Ways, ABS, Raibo·라이보2, Go2, Lifelike Agility(Tencent MAX)</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RaiSim, Cheetah-Software, unitree_rl_gym·unitree_rl_lab</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실행 되먹임(VP-Nav), 지연 추정(RMA), 학습 폴백 감시(ABS, TP-0078), 격자 커리큘럼, 에너지 기록(TP-0043)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B.16.5</a:t>
                      </a:r>
                    </a:p>
                  </a:txBody>
                  <a:tcPr marL="63500" marR="63500" marT="12700" marB="12700">
                    <a:solidFill>
                      <a:srgbClr val="FFFDF8"/>
                    </a:solidFill>
                  </a:tcPr>
                </a:tc>
              </a:tr>
            </a:tbl>
          </a:graphicData>
        </a:graphic>
      </p:graphicFrame>
    </p:spTree>
  </p:cSld>
  <p:clrMapOvr>
    <a:masterClrMapping/>
  </p:clrMapOvr>
</p:sld>
</file>

<file path=ppt/slides/slide25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4/5</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254 / 516</a:t>
            </a:r>
          </a:p>
        </p:txBody>
      </p:sp>
      <p:graphicFrame>
        <p:nvGraphicFramePr>
          <p:cNvPr id="5" name="Table 4"/>
          <p:cNvGraphicFramePr>
            <a:graphicFrameLocks noGrp="1"/>
          </p:cNvGraphicFramePr>
          <p:nvPr/>
        </p:nvGraphicFramePr>
        <p:xfrm>
          <a:off x="609600" y="1244600"/>
          <a:ext cx="10966450" cy="877729"/>
        </p:xfrm>
        <a:graphic>
          <a:graphicData uri="http://schemas.openxmlformats.org/drawingml/2006/table">
            <a:tbl>
              <a:tblPr firstRow="1" bandRow="1">
                <a:tableStyleId>{5C22544A-7EE6-4342-B048-85BDC9FD1C3A}</a:tableStyleId>
              </a:tblPr>
              <a:tblGrid>
                <a:gridCol w="1698625"/>
                <a:gridCol w="1125835"/>
                <a:gridCol w="1854795"/>
                <a:gridCol w="2576116"/>
                <a:gridCol w="1880195"/>
                <a:gridCol w="1349375"/>
                <a:gridCol w="481509"/>
              </a:tblGrid>
              <a:tr h="197088">
                <a:tc>
                  <a:txBody>
                    <a:bodyPr wrap="square"/>
                    <a:lstStyle/>
                    <a:p>
                      <a:r>
                        <a:rPr sz="800" b="1" i="0">
                          <a:solidFill>
                            <a:srgbClr val="F4F1EA"/>
                          </a:solidFill>
                          <a:latin typeface="Arial"/>
                          <a:ea typeface="Malgun Gothic"/>
                          <a:cs typeface="Malgun Gothic"/>
                        </a:rPr>
                        <a:t>조직</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건 것</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사족</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휴머노이드·이족</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시뮬레이터·기반 모델</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travplan과 닿는 곳</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소절</a:t>
                      </a:r>
                    </a:p>
                  </a:txBody>
                  <a:tcPr marL="63500" marR="63500" marT="12700" marB="12700">
                    <a:solidFill>
                      <a:srgbClr val="16213A"/>
                    </a:solidFill>
                  </a:tcPr>
                </a:tc>
              </a:tr>
              <a:tr h="680641">
                <a:tc>
                  <a:txBody>
                    <a:bodyPr wrap="square"/>
                    <a:lstStyle/>
                    <a:p>
                      <a:r>
                        <a:rPr sz="800" b="0" i="0">
                          <a:solidFill>
                            <a:srgbClr val="16213A"/>
                          </a:solidFill>
                          <a:latin typeface="Arial"/>
                          <a:ea typeface="Malgun Gothic"/>
                          <a:cs typeface="Malgun Gothic"/>
                        </a:rPr>
                        <a:t>다른 연구실의 휴머노이드(UC Berkeley, CMU LeCAR, Stanford, UC San Diego, 칭화대, HKUST, Amazon FAR, Oregon State·Agility)</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transformer 정책, 동작 추종, 행동 잔차</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HT·NTP·HT-2(Digit), Cassie RL, Berkeley Humanoid, BeyondMimic, H2O·OmniH2O·ASAP, HumanPlus, ExBody·ExBody2, Humanoid Parkour, VideoMimic, PHP, HumanX</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자체 시뮬레이터 없이 Isaac Gym·Isaac Lab·MuJoCo 위에서 학습</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모방 가중 일정(TP-0066), 명령 쪽 학습 보정과 개루프 재생(TP-0124), 위치 목표 인터페이스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B.16.6</a:t>
                      </a:r>
                    </a:p>
                  </a:txBody>
                  <a:tcPr marL="63500" marR="63500" marT="12700" marB="12700">
                    <a:solidFill>
                      <a:srgbClr val="FFFDF8"/>
                    </a:solidFill>
                  </a:tcPr>
                </a:tc>
              </a:tr>
            </a:tbl>
          </a:graphicData>
        </a:graphic>
      </p:graphicFrame>
    </p:spTree>
  </p:cSld>
  <p:clrMapOvr>
    <a:masterClrMapping/>
  </p:clrMapOvr>
</p:sld>
</file>

<file path=ppt/slides/slide25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5/5</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255 / 516</a:t>
            </a:r>
          </a:p>
        </p:txBody>
      </p:sp>
      <p:pic>
        <p:nvPicPr>
          <p:cNvPr id="5" name="Picture 4" descr="image.jpg"/>
          <p:cNvPicPr>
            <a:picLocks noChangeAspect="1"/>
          </p:cNvPicPr>
          <p:nvPr/>
        </p:nvPicPr>
        <p:blipFill>
          <a:blip r:embed="rId3"/>
          <a:stretch>
            <a:fillRect/>
          </a:stretch>
        </p:blipFill>
        <p:spPr>
          <a:xfrm>
            <a:off x="609600" y="1244600"/>
            <a:ext cx="4070350" cy="2667000"/>
          </a:xfrm>
          <a:prstGeom prst="rect">
            <a:avLst/>
          </a:prstGeom>
        </p:spPr>
      </p:pic>
      <p:sp>
        <p:nvSpPr>
          <p:cNvPr id="6" name="TextBox 5"/>
          <p:cNvSpPr txBox="1"/>
          <p:nvPr/>
        </p:nvSpPr>
        <p:spPr>
          <a:xfrm>
            <a:off x="609600" y="3949700"/>
            <a:ext cx="5410200" cy="1279624"/>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B.16 계보(사족·바퀴 다리): 이 절의 사족·바퀴 다리 연구와 그 토대(시뮬레이터·학습 틀) 45개를 연구실별 띠 여섯 개에 처음 공개된 달 순서로 놓았다. 띠는 위에서부터 NVIDIA, Google DeepMind, 취리히(ETH Zürich·Disney Research·Flexion), RAI·BD(RAI Institute·Boston Dynamics), 미국 대학, 아시아·기타다. 상자가 겹치지 않게 가로로 0.3년 안에서 옮겼다. 상자 안 괄호는 발표처이고, 테두리 색은 로봇 갈래다. 바퀴·다리 상자에는 두 바퀴 이족인 Ascento와 Roadrunner도 넣었다. 점선 상자 넷은 B.14에서 다룬 ETH RSL 연구다. 화살표 26개는 뒤 연구가 앞 연구의 코드·방법·로봇을 직접 쓴 관계만 잇는다(LocoFormer는 자기 중심 깊이 보행의 무작위화 항목을 넓혀 썼다). 같은 1저자이거나 기준선으로 비교만 한 관계는 잇지 않았다. LEVA는 Ascento 계단 논문(2024)의 방식을 썼지만, 상자는 ICRA 2019 판이라 잇지 않았다. 시뮬레이터는 거의 모든 연구가 쓰므로 Isaac Gym 위의 legged_gym과 Orbit에서 이어진 Isaac Lab만 화살표로 그렸다. 출처: travplan scripts/make_doc_figures.py의 fig_legged_labs_quadruped</a:t>
            </a:r>
          </a:p>
        </p:txBody>
      </p:sp>
      <p:pic>
        <p:nvPicPr>
          <p:cNvPr id="7" name="Picture 6" descr="image.jpg"/>
          <p:cNvPicPr>
            <a:picLocks noChangeAspect="1"/>
          </p:cNvPicPr>
          <p:nvPr/>
        </p:nvPicPr>
        <p:blipFill>
          <a:blip r:embed="rId4"/>
          <a:stretch>
            <a:fillRect/>
          </a:stretch>
        </p:blipFill>
        <p:spPr>
          <a:xfrm>
            <a:off x="6172200" y="1244600"/>
            <a:ext cx="4083050" cy="2667000"/>
          </a:xfrm>
          <a:prstGeom prst="rect">
            <a:avLst/>
          </a:prstGeom>
        </p:spPr>
      </p:pic>
      <p:sp>
        <p:nvSpPr>
          <p:cNvPr id="8" name="TextBox 7"/>
          <p:cNvSpPr txBox="1"/>
          <p:nvPr/>
        </p:nvSpPr>
        <p:spPr>
          <a:xfrm>
            <a:off x="6172200" y="3949700"/>
            <a:ext cx="5410200" cy="853083"/>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B.16 계보(휴머노이드): 이 절의 휴머노이드·이족 연구와 그 토대 33개를 같은 띠 여섯 개에 처음 공개된 달 순서로 놓았다. 휴머노이드 연구는 2021년 뒤에 몰려 있어서 가로축을 2021년부터 그렸다. 상자가 겹치지 않게 가로로 0.3년 안에서 옮겼다. 파란 테두리의 Robot Parkour Learning은 Humanoid Parkour가 이어받은 사족 연구다. 화살표 21개는 뒤 연구가 앞 연구의 코드·방법·데이터를 직접 쓴 관계만 잇는다. 같은 1저자이거나 기준선으로 비교만 한 관계는 잇지 않았다. 시뮬레이터 화살표는 대표만 그렸다(Isaac Gym에서 ASE·HT로, Isaac Lab에서 BeyondMimic·ZEST로). 출처: travplan scripts/make_doc_figures.py의 fig_legged_labs_humanoid</a:t>
            </a:r>
          </a:p>
        </p:txBody>
      </p:sp>
    </p:spTree>
  </p:cSld>
  <p:clrMapOvr>
    <a:masterClrMapping/>
  </p:clrMapOvr>
</p:sld>
</file>

<file path=ppt/slides/slide25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자세히: 연표(2017–2026)</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256 / 516</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연도마다 조직별로 처음 공개된 순서로 적었다. 괄호 안의 두 자리 수는 달이고, 월-일은 발표일이다. 연구의 자세한 내용은 각 소절의 카드에 있다.</a:t>
            </a:r>
          </a:p>
        </p:txBody>
      </p:sp>
      <p:sp>
        <p:nvSpPr>
          <p:cNvPr id="6" name="TextBox 5"/>
          <p:cNvSpPr txBox="1"/>
          <p:nvPr/>
        </p:nvSpPr>
        <p:spPr>
          <a:xfrm>
            <a:off x="609600" y="1549995"/>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1개(문단·식·그림)는 대시보드 리서치 탭의 "자세히: 연표(2017–2026)" 토글에 있다.</a:t>
            </a:r>
          </a:p>
        </p:txBody>
      </p:sp>
    </p:spTree>
  </p:cSld>
  <p:clrMapOvr>
    <a:masterClrMapping/>
  </p:clrMapOvr>
</p:sld>
</file>

<file path=ppt/slides/slide25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257 / 516</a:t>
            </a:r>
          </a:p>
        </p:txBody>
      </p:sp>
      <p:sp>
        <p:nvSpPr>
          <p:cNvPr id="5" name="TextBox 4"/>
          <p:cNvSpPr txBox="1"/>
          <p:nvPr/>
        </p:nvSpPr>
        <p:spPr>
          <a:xfrm>
            <a:off x="717550" y="1244600"/>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B.16.1 NVIDIA: GPU 학습 토대에서 범용 휴머노이드 추종기까지</a:t>
            </a:r>
          </a:p>
        </p:txBody>
      </p:sp>
      <p:sp>
        <p:nvSpPr>
          <p:cNvPr id="6" name="TextBox 5"/>
          <p:cNvSpPr txBox="1"/>
          <p:nvPr/>
        </p:nvSpPr>
        <p:spPr>
          <a:xfrm>
            <a:off x="609600" y="1547812"/>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NVIDIA는 다리 로봇의 몸체를 직접 만들지 않고, 다리 로봇 학습이 돌아가는 토대(GPU 시뮬레이터·학습 틀·모션 데이터)를 쥐는 쪽에 걸었다.</a:t>
            </a:r>
            <a:r>
              <a:rPr sz="1050" b="0" i="0">
                <a:solidFill>
                  <a:srgbClr val="16213A"/>
                </a:solidFill>
                <a:latin typeface="Arial"/>
                <a:ea typeface="Malgun Gothic"/>
                <a:cs typeface="Malgun Gothic"/>
              </a:rPr>
              <a:t> 그 위에서 2022–2024년에는 캐릭터 애니메이션의 모션 모방을 휴머노이드로 옮겼다(ASE에서 HOVER까지). 대형 언어 모델(LLM)이 보상과 도메인 무작위화를 짜는 실험(Eureka·DrEureka)도 이때 했다. 2025–2026년에는 GEAR(Generalist Embodied Agent Research)와 DAIR(Data-Driven AI for Robotics)가 범용 추종기 SONIC과 RGB 휴머노이드 정책(VIRAL·DoorMan·GRAIL)을 냈다. </a:t>
            </a:r>
            <a:r>
              <a:rPr sz="1050" b="1" i="0">
                <a:solidFill>
                  <a:srgbClr val="C2410C"/>
                </a:solidFill>
                <a:latin typeface="Arial"/>
                <a:ea typeface="Malgun Gothic"/>
                <a:cs typeface="Malgun Gothic"/>
              </a:rPr>
              <a:t>높이 지도를 보는 생성기와 물리 추종기를 데이터 고리로 묶은 PARC가 travplan의 Planner D·Controller·DAgger 구조와 가장 닮았다.</a:t>
            </a:r>
            <a:r>
              <a:rPr sz="1050" b="0" i="0">
                <a:solidFill>
                  <a:srgbClr val="16213A"/>
                </a:solidFill>
                <a:latin typeface="Arial"/>
                <a:ea typeface="Malgun Gothic"/>
                <a:cs typeface="Malgun Gothic"/>
              </a:rPr>
              <a:t> Controller 문서 F.8이 다룬 GR00T 분리형 WBC와 인식 문서 A.8의 TANGO는 가리키기만 한다.</a:t>
            </a:r>
          </a:p>
        </p:txBody>
      </p:sp>
    </p:spTree>
  </p:cSld>
  <p:clrMapOvr>
    <a:masterClrMapping/>
  </p:clrMapOvr>
</p:sld>
</file>

<file path=ppt/slides/slide25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자세히: 이 소절의 연구 목록(표 31행)</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258 / 516</a:t>
            </a:r>
          </a:p>
        </p:txBody>
      </p:sp>
      <p:sp>
        <p:nvSpPr>
          <p:cNvPr id="5" name="TextBox 4"/>
          <p:cNvSpPr txBox="1"/>
          <p:nvPr/>
        </p:nvSpPr>
        <p:spPr>
          <a:xfrm>
            <a:off x="609600" y="1244600"/>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1개(문단·식·그림)는 대시보드 리서치 탭의 "자세히: 이 소절의 연구 목록(표 31행)" 토글에 있다.</a:t>
            </a:r>
          </a:p>
        </p:txBody>
      </p:sp>
    </p:spTree>
  </p:cSld>
  <p:clrMapOvr>
    <a:masterClrMapping/>
  </p:clrMapOvr>
</p:sld>
</file>

<file path=ppt/slides/slide25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1/6</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259 / 516</a:t>
            </a:r>
          </a:p>
        </p:txBody>
      </p:sp>
      <p:sp>
        <p:nvSpPr>
          <p:cNvPr id="5" name="TextBox 4"/>
          <p:cNvSpPr txBox="1"/>
          <p:nvPr/>
        </p:nvSpPr>
        <p:spPr>
          <a:xfrm>
            <a:off x="609600" y="1244600"/>
            <a:ext cx="10972800" cy="1948458"/>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Isaac Gym, Orbit, Isaac Lab — 물리 시뮬레이션에서 PPO 갱신까지 GPU에 둔 것이 다리 로봇 RL을 몇 분짜리 실험으로 바꿨다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Isaac Gym arXiv:2108.10470</a:t>
            </a:r>
            <a:r>
              <a:rPr sz="1050" b="0" i="0">
                <a:solidFill>
                  <a:srgbClr val="16213A"/>
                </a:solidFill>
                <a:latin typeface="Arial"/>
                <a:ea typeface="Malgun Gothic"/>
                <a:cs typeface="Malgun Gothic"/>
              </a:rPr>
              <a:t>, Makoviychuk 외, NeurIPS 2021 Datasets and Benchmarks, </a:t>
            </a:r>
            <a:r>
              <a:rPr sz="1050" b="0" i="0">
                <a:solidFill>
                  <a:srgbClr val="1D4ED8"/>
                </a:solidFill>
                <a:latin typeface="Arial"/>
                <a:ea typeface="Malgun Gothic"/>
                <a:cs typeface="Malgun Gothic"/>
                <a:hlinkClick r:id="rId4"/>
              </a:rPr>
              <a:t>배포 페이지</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5"/>
              </a:rPr>
              <a:t>Orbit arXiv:2301.04195</a:t>
            </a:r>
            <a:r>
              <a:rPr sz="1050" b="0" i="0">
                <a:solidFill>
                  <a:srgbClr val="16213A"/>
                </a:solidFill>
                <a:latin typeface="Arial"/>
                <a:ea typeface="Malgun Gothic"/>
                <a:cs typeface="Malgun Gothic"/>
              </a:rPr>
              <a:t>, Mittal 외, IEEE RA-L 8(6) 2023; </a:t>
            </a:r>
            <a:r>
              <a:rPr sz="1050" b="0" i="0">
                <a:solidFill>
                  <a:srgbClr val="1D4ED8"/>
                </a:solidFill>
                <a:latin typeface="Arial"/>
                <a:ea typeface="Malgun Gothic"/>
                <a:cs typeface="Malgun Gothic"/>
                <a:hlinkClick r:id="rId6"/>
              </a:rPr>
              <a:t>Isaac Lab arXiv:2511.04831</a:t>
            </a:r>
            <a:r>
              <a:rPr sz="1050" b="0" i="0">
                <a:solidFill>
                  <a:srgbClr val="16213A"/>
                </a:solidFill>
                <a:latin typeface="Arial"/>
                <a:ea typeface="Malgun Gothic"/>
                <a:cs typeface="Malgun Gothic"/>
              </a:rPr>
              <a:t>, 2025-11, </a:t>
            </a:r>
            <a:r>
              <a:rPr sz="1050" b="0" i="0">
                <a:solidFill>
                  <a:srgbClr val="1D4ED8"/>
                </a:solidFill>
                <a:latin typeface="Arial"/>
                <a:ea typeface="Malgun Gothic"/>
                <a:cs typeface="Malgun Gothic"/>
                <a:hlinkClick r:id="rId7"/>
              </a:rPr>
              <a:t>코드</a:t>
            </a:r>
            <a:r>
              <a:rPr sz="1050" b="0" i="0">
                <a:solidFill>
                  <a:srgbClr val="16213A"/>
                </a:solidFill>
                <a:latin typeface="Arial"/>
                <a:ea typeface="Malgun Gothic"/>
                <a:cs typeface="Malgun Gothic"/>
              </a:rPr>
              <a:t> BSD-3-Clause). 뿌리는 2018년의 FleX 기반 GPU 시뮬레이션이다(</a:t>
            </a:r>
            <a:r>
              <a:rPr sz="1050" b="0" i="0">
                <a:solidFill>
                  <a:srgbClr val="1D4ED8"/>
                </a:solidFill>
                <a:latin typeface="Arial"/>
                <a:ea typeface="Malgun Gothic"/>
                <a:cs typeface="Malgun Gothic"/>
                <a:hlinkClick r:id="rId8"/>
              </a:rPr>
              <a:t>arXiv:1810.05762</a:t>
            </a:r>
            <a:r>
              <a:rPr sz="1050" b="0" i="0">
                <a:solidFill>
                  <a:srgbClr val="16213A"/>
                </a:solidFill>
                <a:latin typeface="Arial"/>
                <a:ea typeface="Malgun Gothic"/>
                <a:cs typeface="Malgun Gothic"/>
              </a:rPr>
              <a:t>, Liang·Makoviychuk·Handa·Chentanez·Macklin·Fox, CoRL 2018). GPU 한 장과 CPU 코어 하나로 Humanoid 달리기를 20분 안에 배웠다. Isaac Gym의 핵심은 텐서 API다. PhysX가 GPU에서 계산한 상태를 CPU로 복사하지 않고 PyTorch 텐서로 넘기고, 관측과 보상과 행동도 GPU에 머문다. 논문은 학습 전체가 100–1000배 빨라졌다고 적는다. A100 한 장과 병렬 로봇 4,096대로 ANYmal 평지 속도 추종을 2분 안에 배웠고, Humanoid 달리기는 2018년 결과보다 4배 빨랐다. Orbit(2023)은 같은 GPU 병렬 학습을 Isaac Sim 위로 옮기고 환경 설계를 모듈로 나눈 틀이고, ETH RSL·토론토대와 함께 만들었다. 1저자 Mittal과 Rudin, Hoeller는 ETH Zürich와 NVIDIA에 함께 적을 두었고, Hutter도 저자다. 실물 ANYmal-D에는 actuator net(B.14.1)을 끼워 시뮬레이션에서만 학습한 보행 정책을 올렸다. 2024-06의 Isaac Lab 1.0이 Orbit 위에 OmniIsaacGymEnvs의 환경 작성 방식을 합쳐 이었다. 이 판에 지연 PD(proportional-derivative) 구동기와 Spot·H1·G1 보행 환경이 들어왔다. Isaac Gym은 지금 지원이 끝난 레거시로 표시된다. 2025-11 보고서는 보행 환경이 로봇 11종으로 늘었고 ANYmal과 Spot에서 sim-to-real을 확인했다고 적는다. 구조와 구동기 식은 시뮬레이션 문서 S.1.1에, Newton 백엔드는 S.1.2에, RAI Institute의 Spot 고속 주행은 B.16.4에 있다.</a:t>
            </a:r>
          </a:p>
        </p:txBody>
      </p:sp>
      <p:sp>
        <p:nvSpPr>
          <p:cNvPr id="6" name="TextBox 5"/>
          <p:cNvSpPr txBox="1"/>
          <p:nvPr/>
        </p:nvSpPr>
        <p:spPr>
          <a:xfrm>
            <a:off x="609600" y="3281958"/>
            <a:ext cx="10972800" cy="1298972"/>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가져올 원칙은 rollout 데이터를 GPU 밖으로 내보내지 않는 것이다. curb_ramp 레벨 3의 </a:t>
            </a:r>
            <a:r>
              <a:rPr sz="1050" b="0" i="0">
                <a:solidFill>
                  <a:srgbClr val="16213A"/>
                </a:solidFill>
                <a:latin typeface="Consolas"/>
                <a:ea typeface="Malgun Gothic"/>
                <a:cs typeface="Malgun Gothic"/>
              </a:rPr>
              <a:t>guidance+mppi</a:t>
            </a:r>
            <a:r>
              <a:rPr sz="1050" b="0" i="0">
                <a:solidFill>
                  <a:srgbClr val="16213A"/>
                </a:solidFill>
                <a:latin typeface="Arial"/>
                <a:ea typeface="Malgun Gothic"/>
                <a:cs typeface="Malgun Gothic"/>
              </a:rPr>
              <a:t> rollout 하나를 프로파일하자, 시간의 약 3/4이 매 스텝 belief TravMap을 CPU에서 다시 만드는 일이었다(B.14.1 토글). RL 후학습(TP-0066)의 한 라운드도 rollout이 208–245 s이고 미세 조정은 5–6 s다(B.15.3). TravMap 생성의 GPU 경로(TP-0084, TP-0153)가 첫 처방이고, 운동학 시뮬레이터와 MPPI를 한 GPU 배치로 묶는 것이 다음이다. 학습 루프를 Isaac Lab으로 옮길 때 구동기 모델은 그대로 맞지 않는다. Isaac Lab의 지연 PD 구동기는 관절 명령을 물리 스텝 몇 개만큼 늦추는 순수 지연이다. travplan 스워브 plant는 body twist의 1차 지연(시상수 0.2 s)에 조향 한계와 미끄럼을 더한 모델이라, 사용자 정의 구동기나 바퀴·조향 모터 모델로 넣어야 한다. 옮긴 plant를 점검하는 기준은 TP-0150의 비교다. 운동학 시뮬에서 plant와 같은 지연(0.2 s)을 rollout에 넣은 </a:t>
            </a:r>
            <a:r>
              <a:rPr sz="1050" b="0" i="0">
                <a:solidFill>
                  <a:srgbClr val="16213A"/>
                </a:solidFill>
                <a:latin typeface="Consolas"/>
                <a:ea typeface="Malgun Gothic"/>
                <a:cs typeface="Malgun Gothic"/>
              </a:rPr>
              <a:t>mppi_plant_lag</a:t>
            </a:r>
            <a:r>
              <a:rPr sz="1050" b="0" i="0">
                <a:solidFill>
                  <a:srgbClr val="16213A"/>
                </a:solidFill>
                <a:latin typeface="Arial"/>
                <a:ea typeface="Malgun Gothic"/>
                <a:cs typeface="Malgun Gothic"/>
              </a:rPr>
              <a:t>는 권장 L1과 plant를 켠 레벨 3의 치명을 360 에피소드 중 55회에서 4회로 줄였다(MPC 문서 M.3.22). rollout이 plant의 지연을 정확히 아는 시뮬 결과라서, 실물과의 격차를 잰 것은 아니다.</a:t>
            </a:r>
          </a:p>
        </p:txBody>
      </p:sp>
    </p:spTree>
  </p:cSld>
  <p:clrMapOvr>
    <a:masterClrMapping/>
  </p:clrMapOvr>
</p:sld>
</file>

<file path=ppt/slides/slide26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2/6</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260 / 516</a:t>
            </a:r>
          </a:p>
        </p:txBody>
      </p:sp>
      <p:pic>
        <p:nvPicPr>
          <p:cNvPr id="5" name="Picture 4" descr="image.jpg"/>
          <p:cNvPicPr>
            <a:picLocks noChangeAspect="1"/>
          </p:cNvPicPr>
          <p:nvPr/>
        </p:nvPicPr>
        <p:blipFill>
          <a:blip r:embed="rId3"/>
          <a:stretch>
            <a:fillRect/>
          </a:stretch>
        </p:blipFill>
        <p:spPr>
          <a:xfrm>
            <a:off x="2032000" y="1244600"/>
            <a:ext cx="8128000" cy="4445000"/>
          </a:xfrm>
          <a:prstGeom prst="rect">
            <a:avLst/>
          </a:prstGeom>
        </p:spPr>
      </p:pic>
      <p:sp>
        <p:nvSpPr>
          <p:cNvPr id="6" name="TextBox 5"/>
          <p:cNvSpPr txBox="1"/>
          <p:nvPr/>
        </p:nvSpPr>
        <p:spPr>
          <a:xfrm>
            <a:off x="2032000" y="5727700"/>
            <a:ext cx="81280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Isaac Lab (Fig. 23): Isaac Lab으로 보행을 학습한 플랫폼들이다. 위 줄은 육상 트랙의 Boston Dynamics Spot, 자갈 위의 Magnecko, 계단 위의 바퀴 사족 LEVA다. 아래 줄은 바위와 잔해 더미를 넘는 ANYmal과 실내 시험대 위의 자전거형 로봇 RAI UMV다. 출처: arXiv:2511.04831</a:t>
            </a:r>
          </a:p>
        </p:txBody>
      </p:sp>
    </p:spTree>
  </p:cSld>
  <p:clrMapOvr>
    <a:masterClrMapping/>
  </p:clrMapOvr>
</p:sld>
</file>

<file path=ppt/slides/slide26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3/6</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261 / 516</a:t>
            </a:r>
          </a:p>
        </p:txBody>
      </p:sp>
      <p:sp>
        <p:nvSpPr>
          <p:cNvPr id="5" name="TextBox 4"/>
          <p:cNvSpPr txBox="1"/>
          <p:nvPr/>
        </p:nvSpPr>
        <p:spPr>
          <a:xfrm>
            <a:off x="609600" y="1244600"/>
            <a:ext cx="10972800" cy="86598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ETH와 NVIDIA에 함께 적을 둔 Hoeller·Rudin은 인식 쪽 결과도 냈다. Neural Scene Representation(</a:t>
            </a:r>
            <a:r>
              <a:rPr sz="1050" b="0" i="0">
                <a:solidFill>
                  <a:srgbClr val="1D4ED8"/>
                </a:solidFill>
                <a:latin typeface="Arial"/>
                <a:ea typeface="Malgun Gothic"/>
                <a:cs typeface="Malgun Gothic"/>
                <a:hlinkClick r:id="rId3"/>
              </a:rPr>
              <a:t>arXiv:2206.08077</a:t>
            </a:r>
            <a:r>
              <a:rPr sz="1050" b="0" i="0">
                <a:solidFill>
                  <a:srgbClr val="16213A"/>
                </a:solidFill>
                <a:latin typeface="Arial"/>
                <a:ea typeface="Malgun Gothic"/>
                <a:cs typeface="Malgun Gothic"/>
              </a:rPr>
              <a:t>, IEEE RA-L 7(4) 2022, NVIDIA의 Choy·Anandkumar와 ETH의 Hutter 공저)은 카메라 사각과 가림으로 비어 있는 깊이 점군에서 주변 지형을 4D 희소 합성곱망으로 복원한다. 합성 데이터만으로 학습해 ANYmal 온보드 컴퓨터에서 돌렸고, 고전 지도 표현보다 낫다고 보고한다. ANYmal Parkour(B.14.2)의 인식 모듈이 이 방법을 다중 해상도로 넓혀 썼다. travplan이 그림자 상한과 깊이 prior로 푼 미관측·가림 문제(TP-0044·TP-0047)를 학습으로 푼 쪽이다.</a:t>
            </a:r>
          </a:p>
        </p:txBody>
      </p:sp>
      <p:sp>
        <p:nvSpPr>
          <p:cNvPr id="6" name="TextBox 5"/>
          <p:cNvSpPr txBox="1"/>
          <p:nvPr/>
        </p:nvSpPr>
        <p:spPr>
          <a:xfrm>
            <a:off x="609600" y="2199481"/>
            <a:ext cx="10972800" cy="108247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Eureka — 코딩 LLM이 환경 코드를 읽고 보상 함수를 쓰며, 학습 통계를 글로 받아 고친다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4"/>
              </a:rPr>
              <a:t>arXiv:2310.12931</a:t>
            </a:r>
            <a:r>
              <a:rPr sz="1050" b="0" i="0">
                <a:solidFill>
                  <a:srgbClr val="16213A"/>
                </a:solidFill>
                <a:latin typeface="Arial"/>
                <a:ea typeface="Malgun Gothic"/>
                <a:cs typeface="Malgun Gothic"/>
              </a:rPr>
              <a:t>, Ma·Liang·Wang·Huang·Bastani·Jayaraman·Zhu·Fan·Anandkumar, ICLR 2024, UPenn·NVIDIA·Caltech·UT Austin, </a:t>
            </a:r>
            <a:r>
              <a:rPr sz="1050" b="0" i="0">
                <a:solidFill>
                  <a:srgbClr val="1D4ED8"/>
                </a:solidFill>
                <a:latin typeface="Arial"/>
                <a:ea typeface="Malgun Gothic"/>
                <a:cs typeface="Malgun Gothic"/>
                <a:hlinkClick r:id="rId5"/>
              </a:rPr>
              <a:t>프로젝트</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6"/>
              </a:rPr>
              <a:t>코드</a:t>
            </a:r>
            <a:r>
              <a:rPr sz="1050" b="0" i="0">
                <a:solidFill>
                  <a:srgbClr val="16213A"/>
                </a:solidFill>
                <a:latin typeface="Arial"/>
                <a:ea typeface="Malgun Gothic"/>
                <a:cs typeface="Malgun Gothic"/>
              </a:rPr>
              <a:t> MIT). Eureka는 보상 부분을 뺀 환경 소스 코드와 과제 설명을 GPT-4에 넣어 실행 가능한 보상 코드를 한 번에 16개 받는다. 후보마다 Isaac Gym에서 PPO를 돌려 과제 점수(적합도 함수)를 잰다. 가장 좋은 후보의 보상 항목별 값이 학습 중 어떻게 변했는지를 글로 요약해 다음 질의에 붙인다. 이것이 보상 반성(reward reflection)이다. 로봇 10종, 과제 29개에서 사람이 쓴 보상보다 83%의 과제에서 나았고, 사람 기준 정규화 점수는 평균 52% 올랐다. 보상 반성을 빼면 Isaac 과제의 평균 정규화 점수가 28.6% 떨어졌다. 개선은 손 조작처럼 차원이 높은 과제에 몰렸고, ANYmal 속도 추종은 1.02로 사람 보상(1.0)과 같았다. 실험은 모두 시뮬레이션이다.</a:t>
            </a:r>
          </a:p>
        </p:txBody>
      </p:sp>
      <p:sp>
        <p:nvSpPr>
          <p:cNvPr id="7" name="TextBox 6"/>
          <p:cNvSpPr txBox="1"/>
          <p:nvPr/>
        </p:nvSpPr>
        <p:spPr>
          <a:xfrm>
            <a:off x="609600" y="3370858"/>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보상이 잘 다듬어진 저차원 과제에서 LLM 보상 설계의 몫은 작다. travplan RL 후학습의 채점(진행·cost·치명·부드러움, TP-0066)도 그런 쪽이다. 가져올 것은 보상 반성의 기록 형식이다. TP-0066 라운드마다 항목별 보상 값을 남기면 사람이든 비평가 루프든 어느 항이 학습을 밀었는지 보고 고칠 수 있다. 저자들은 PPO 대신 MPPI 같은 모델 예측 제어를 최적화기로 쓰는 것을 다음 일로 꼽았다(v2 부록 H). travplan에서 그 자리는 MPPI의 </a:t>
            </a:r>
            <a:r>
              <a:rPr sz="1050" b="0" i="0">
                <a:solidFill>
                  <a:srgbClr val="16213A"/>
                </a:solidFill>
                <a:latin typeface="Consolas"/>
                <a:ea typeface="Malgun Gothic"/>
                <a:cs typeface="Malgun Gothic"/>
              </a:rPr>
              <a:t>CostTerm</a:t>
            </a:r>
            <a:r>
              <a:rPr sz="1050" b="0" i="0">
                <a:solidFill>
                  <a:srgbClr val="16213A"/>
                </a:solidFill>
                <a:latin typeface="Arial"/>
                <a:ea typeface="Malgun Gothic"/>
                <a:cs typeface="Malgun Gothic"/>
              </a:rPr>
              <a:t>이다.</a:t>
            </a:r>
          </a:p>
        </p:txBody>
      </p:sp>
    </p:spTree>
  </p:cSld>
  <p:clrMapOvr>
    <a:masterClrMapping/>
  </p:clrMapOvr>
</p:sld>
</file>

<file path=ppt/slides/slide26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4/6</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262 / 516</a:t>
            </a:r>
          </a:p>
        </p:txBody>
      </p:sp>
      <p:pic>
        <p:nvPicPr>
          <p:cNvPr id="5" name="Picture 4" descr="image.jpg"/>
          <p:cNvPicPr>
            <a:picLocks noChangeAspect="1"/>
          </p:cNvPicPr>
          <p:nvPr/>
        </p:nvPicPr>
        <p:blipFill>
          <a:blip r:embed="rId3"/>
          <a:stretch>
            <a:fillRect/>
          </a:stretch>
        </p:blipFill>
        <p:spPr>
          <a:xfrm>
            <a:off x="1355725" y="1244600"/>
            <a:ext cx="9480550" cy="4445000"/>
          </a:xfrm>
          <a:prstGeom prst="rect">
            <a:avLst/>
          </a:prstGeom>
        </p:spPr>
      </p:pic>
      <p:sp>
        <p:nvSpPr>
          <p:cNvPr id="6" name="TextBox 5"/>
          <p:cNvSpPr txBox="1"/>
          <p:nvPr/>
        </p:nvSpPr>
        <p:spPr>
          <a:xfrm>
            <a:off x="1355725" y="5727700"/>
            <a:ext cx="948055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Eureka (Fig. 2): 환경 코드와 과제 설명을 받은 코딩 LLM(GPT-4)이 보상 함수 후보를 여럿 쓰고, Isaac Gym의 GPU 병렬 RL이 후보를 평가한다. 보상 항목별 학습 통계를 요약한 보상 반성이 다음 질의로 들어간다. 그림의 예는 Shadow Hand 펜 돌리기다. 출처: arXiv:2310.12931</a:t>
            </a:r>
          </a:p>
        </p:txBody>
      </p:sp>
    </p:spTree>
  </p:cSld>
  <p:clrMapOvr>
    <a:masterClrMapping/>
  </p:clrMapOvr>
</p:sld>
</file>

<file path=ppt/slides/slide26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5/6</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263 / 516</a:t>
            </a:r>
          </a:p>
        </p:txBody>
      </p:sp>
      <p:sp>
        <p:nvSpPr>
          <p:cNvPr id="5" name="TextBox 4"/>
          <p:cNvSpPr txBox="1"/>
          <p:nvPr/>
        </p:nvSpPr>
        <p:spPr>
          <a:xfrm>
            <a:off x="609600" y="1244600"/>
            <a:ext cx="10972800" cy="1298972"/>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DrEureka — 같은 LLM이 안전 지시를 넣은 보상과 도메인 무작위화 범위까지 정해, 요가볼 위를 걷는 Go1을 실물로 옮겼다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arXiv:2406.01967</a:t>
            </a:r>
            <a:r>
              <a:rPr sz="1050" b="0" i="0">
                <a:solidFill>
                  <a:srgbClr val="16213A"/>
                </a:solidFill>
                <a:latin typeface="Arial"/>
                <a:ea typeface="Malgun Gothic"/>
                <a:cs typeface="Malgun Gothic"/>
              </a:rPr>
              <a:t>, Ma·Liang·Wang·Wang·Zhu·Fan·Bastani·Jayaraman, RSS 2024, UPenn·NVIDIA·UT Austin, </a:t>
            </a:r>
            <a:r>
              <a:rPr sz="1050" b="0" i="0">
                <a:solidFill>
                  <a:srgbClr val="1D4ED8"/>
                </a:solidFill>
                <a:latin typeface="Arial"/>
                <a:ea typeface="Malgun Gothic"/>
                <a:cs typeface="Malgun Gothic"/>
                <a:hlinkClick r:id="rId4"/>
              </a:rPr>
              <a:t>프로젝트</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5"/>
              </a:rPr>
              <a:t>코드</a:t>
            </a:r>
            <a:r>
              <a:rPr sz="1050" b="0" i="0">
                <a:solidFill>
                  <a:srgbClr val="16213A"/>
                </a:solidFill>
                <a:latin typeface="Arial"/>
                <a:ea typeface="Malgun Gothic"/>
                <a:cs typeface="Malgun Gothic"/>
              </a:rPr>
              <a:t> MIT). sim-to-real에는 보상 말고도 사람이 손으로 정하는 것이 있다. 시뮬레이션 물리 파라미터를 무엇을 얼마나 흔들지 정하는 도메인 무작위화(DR, domain randomization)다. DrEureka는 이것까지 세 단계로 LLM에 맡긴다. 첫째, 과제 설명에 안전 지시를 붙여 Eureka로 보상을 만든다. 몸통 높이 유지, 몸통 수평, 부드러운 다리, 관절 한계 회피 같은 문장이다. 둘째, 그 보상으로 DR 없이 학습한 정책을 파라미터 하나만 바꾼 시뮬레이션에서 굴려, 성공 기준을 지키는 값의 범위를 잰다. 이것이 보상 인지 물리 prior(RAPP, reward-aware physics prior)다. 셋째, LLM이 RAPP 범위 안에서 흔들 파라미터와 범위를 고른 DR 구성 16개를 쓰고, 구성마다 정책을 다시 학습한다.</a:t>
            </a:r>
          </a:p>
        </p:txBody>
      </p:sp>
      <p:sp>
        <p:nvSpPr>
          <p:cNvPr id="6" name="TextBox 5"/>
          <p:cNvSpPr txBox="1"/>
          <p:nvPr/>
        </p:nvSpPr>
        <p:spPr>
          <a:xfrm>
            <a:off x="609600" y="2632472"/>
            <a:ext cx="10972800" cy="1082477"/>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로봇은 Unitree Go1이다. 시뮬레이션 환경과 실물 제어기와 정책 학습 코드는 MIT의 Rapid Locomotion(Margolis 외, B.16.5)에서 가져왔고, 저자들이 무작위화 파라미터를 더했다. 과제는 평지에서 2 m/s로 달리기이고, 실물에서 5 m 트랙을 쟀다. DrEureka 정책 16개의 실물 평균은 1.66 m/s, 4.64 m였고, 가장 좋은 정책은 1.83 m/s로 5 m를 다 갔다. 사람이 설계한 보상과 DR은 1.32 m/s, 4.17 m였다. 안전 지시 없는 Eureka 보상은 시뮬레이션에서 더 빨랐지만 실물에서는 출발선에서 넘어졌다. RAPP 없이 범위를 LLM에 맡기면 16개 중 15개가 거칠고 위험하게 움직였고, 모터 보호 장치가 전원을 끊는 일이 잦았다. 요가볼 위 걷기는 사람이 만든 설정이 없던 새 과제다. 실험실에서는 사람이 쥔 중심점에 로봇을 느슨하게 묶은 조건으로 평균 15.4 s를 버텼다. 속도를 제한한 야외 시험에서는 잔디, 보도, 나무다리를 4분 넘게 지났다.</a:t>
            </a:r>
          </a:p>
        </p:txBody>
      </p:sp>
      <p:sp>
        <p:nvSpPr>
          <p:cNvPr id="7" name="TextBox 6"/>
          <p:cNvSpPr txBox="1"/>
          <p:nvPr/>
        </p:nvSpPr>
        <p:spPr>
          <a:xfrm>
            <a:off x="609600" y="3803848"/>
            <a:ext cx="10972800" cy="108247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가장 직접 가져올 것은 RAPP 절차이고, LLM 없이도 쓸 수 있다. 지금 정책을 파라미터 하나만 바꾼 시뮬레이션에서 굴려 아직 성공하는 범위를 재고, 그 안에서 무작위화 범위를 고른다. travplan에서 지금 흔들 수 있는 파라미터는 스워브 plant의 지연(</a:t>
            </a:r>
            <a:r>
              <a:rPr sz="1050" b="0" i="0">
                <a:solidFill>
                  <a:srgbClr val="16213A"/>
                </a:solidFill>
                <a:latin typeface="Consolas"/>
                <a:ea typeface="Malgun Gothic"/>
                <a:cs typeface="Malgun Gothic"/>
              </a:rPr>
              <a:t>actuator_lag_s</a:t>
            </a:r>
            <a:r>
              <a:rPr sz="1050" b="0" i="0">
                <a:solidFill>
                  <a:srgbClr val="16213A"/>
                </a:solidFill>
                <a:latin typeface="Arial"/>
                <a:ea typeface="Malgun Gothic"/>
                <a:cs typeface="Malgun Gothic"/>
              </a:rPr>
              <a:t>)과 미끄럼(TP-0033)이고, 성공 기준은 치명 없는 도달이다. 자기 위치 잡음은 TP-0032(Backlog)를 먼저 구현해야 한다. RL 후학습(TP-0066)은 지형 레벨과 가림을 바꿔 가며 rollout하지만, plant 없이 이상 모델로 돌려 지연과 미끄럼은 무작위화하지 않는다. 넣을 때 이 범위 안에서 고른다. 무작위화 범위를 넓게 잡는 것이 안전한 기본값은 아니다. RAPP 범위 전체를 그대로 쓴 구성은 1.43 m/s에 그쳤고, 실물 엉덩이 관절 토크가 컸다. 안전 지시는 travplan 채택 규칙과 같은 역할이다. 시뮬레이션 점수만 보는 탐색은 실물에서 깨지는 행동을 고르므로, 치명 실패가 늘면 채택하지 않는 규칙을 점수 밖에 둔다.</a:t>
            </a:r>
          </a:p>
        </p:txBody>
      </p:sp>
    </p:spTree>
  </p:cSld>
  <p:clrMapOvr>
    <a:masterClrMapping/>
  </p:clrMapOvr>
</p:sld>
</file>

<file path=ppt/slides/slide26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6/6</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264 / 516</a:t>
            </a:r>
          </a:p>
        </p:txBody>
      </p:sp>
      <p:pic>
        <p:nvPicPr>
          <p:cNvPr id="5" name="Picture 4" descr="image.jpg"/>
          <p:cNvPicPr>
            <a:picLocks noChangeAspect="1"/>
          </p:cNvPicPr>
          <p:nvPr/>
        </p:nvPicPr>
        <p:blipFill>
          <a:blip r:embed="rId3"/>
          <a:stretch>
            <a:fillRect/>
          </a:stretch>
        </p:blipFill>
        <p:spPr>
          <a:xfrm>
            <a:off x="609600" y="1244600"/>
            <a:ext cx="5410200" cy="2374900"/>
          </a:xfrm>
          <a:prstGeom prst="rect">
            <a:avLst/>
          </a:prstGeom>
        </p:spPr>
      </p:pic>
      <p:sp>
        <p:nvSpPr>
          <p:cNvPr id="6" name="TextBox 5"/>
          <p:cNvSpPr txBox="1"/>
          <p:nvPr/>
        </p:nvSpPr>
        <p:spPr>
          <a:xfrm>
            <a:off x="609600" y="3657600"/>
            <a:ext cx="5410200" cy="42654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DrEureka (Fig. 1): 과제와 안전 지시로 Eureka가 보상과 초기 정책을 만들고, 그 정책을 여러 물리 조건에서 시험해 보상 인지 물리 prior를 세운다. LLM이 그 범위 안에서 도메인 무작위화 구성을 고르고, 마지막 정책을 실물에 올린다. 오른쪽 아래 사진은 실물 Go1이 요가볼 위에 선 장면이다. 출처: arXiv:2406.01967</a:t>
            </a:r>
          </a:p>
        </p:txBody>
      </p:sp>
      <p:pic>
        <p:nvPicPr>
          <p:cNvPr id="7" name="Picture 6" descr="image.jpg"/>
          <p:cNvPicPr>
            <a:picLocks noChangeAspect="1"/>
          </p:cNvPicPr>
          <p:nvPr/>
        </p:nvPicPr>
        <p:blipFill>
          <a:blip r:embed="rId4"/>
          <a:stretch>
            <a:fillRect/>
          </a:stretch>
        </p:blipFill>
        <p:spPr>
          <a:xfrm>
            <a:off x="6172200" y="1244600"/>
            <a:ext cx="5410200" cy="1828800"/>
          </a:xfrm>
          <a:prstGeom prst="rect">
            <a:avLst/>
          </a:prstGeom>
        </p:spPr>
      </p:pic>
      <p:sp>
        <p:nvSpPr>
          <p:cNvPr id="8" name="TextBox 7"/>
          <p:cNvSpPr txBox="1"/>
          <p:nvPr/>
        </p:nvSpPr>
        <p:spPr>
          <a:xfrm>
            <a:off x="6172200" y="3111500"/>
            <a:ext cx="5410200" cy="42654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DrEureka (Fig. 6): 요가볼 걷기의 시뮬레이션, 실험실, 야외 장면이다. 실험실에서는 사람이 쥔 중심점에 로봇을 줄로 느슨하게 묶었고, 야외에서는 줄을 쥔 사람과 함께 잔디, 벽돌 보도, 횡단보도를 지났다. 실험실 사진의 사람 얼굴은 원문에서 가렸다. 출처: arXiv:2406.01967</a:t>
            </a:r>
          </a:p>
        </p:txBody>
      </p:sp>
    </p:spTree>
  </p:cSld>
  <p:clrMapOvr>
    <a:masterClrMapping/>
  </p:clrMapOvr>
</p:sld>
</file>

<file path=ppt/slides/slide26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자세히: Eureka와 DrEureka의 방법과 수치</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265 / 516</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풀려는 문제.</a:t>
            </a:r>
            <a:r>
              <a:rPr sz="1050" b="0" i="0">
                <a:solidFill>
                  <a:srgbClr val="16213A"/>
                </a:solidFill>
                <a:latin typeface="Arial"/>
                <a:ea typeface="Malgun Gothic"/>
                <a:cs typeface="Malgun Gothic"/>
              </a:rPr>
              <a:t> RL은 보상이 있어야 배우고, sim-to-real은 보상 위에 도메인 무작위화 설정까지 있어야 실물로 간다. 둘 다 사람이 시행착오로 맞춰 왔다. Eureka는 보상을, DrEureka는 보상과 무작위화를 LLM의 코드 생성과 탐색으로 대신한다.</a:t>
            </a:r>
          </a:p>
        </p:txBody>
      </p:sp>
      <p:sp>
        <p:nvSpPr>
          <p:cNvPr id="6" name="TextBox 5"/>
          <p:cNvSpPr txBox="1"/>
          <p:nvPr/>
        </p:nvSpPr>
        <p:spPr>
          <a:xfrm>
            <a:off x="609600" y="176649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Eureka의 탐색.</a:t>
            </a:r>
            <a:r>
              <a:rPr sz="1050" b="0" i="0">
                <a:solidFill>
                  <a:srgbClr val="16213A"/>
                </a:solidFill>
                <a:latin typeface="Arial"/>
                <a:ea typeface="Malgun Gothic"/>
                <a:cs typeface="Malgun Gothic"/>
              </a:rPr>
              <a:t> 보상 설계 문제는 적합도 </a:t>
            </a:r>
            <a:r>
              <a:rPr sz="1050" b="0" i="1">
                <a:solidFill>
                  <a:srgbClr val="16213A"/>
                </a:solidFill>
                <a:latin typeface="Arial"/>
                <a:ea typeface="Malgun Gothic"/>
                <a:cs typeface="Malgun Gothic"/>
              </a:rPr>
              <a:t>F</a:t>
            </a:r>
            <a:r>
              <a:rPr sz="1050" b="0" i="0">
                <a:solidFill>
                  <a:srgbClr val="16213A"/>
                </a:solidFill>
                <a:latin typeface="Arial"/>
                <a:ea typeface="Malgun Gothic"/>
                <a:cs typeface="Malgun Gothic"/>
              </a:rPr>
              <a:t>를 가장 크게 만드는 보상 </a:t>
            </a:r>
            <a:r>
              <a:rPr sz="1050" b="0" i="1">
                <a:solidFill>
                  <a:srgbClr val="16213A"/>
                </a:solidFill>
                <a:latin typeface="Arial"/>
                <a:ea typeface="Malgun Gothic"/>
                <a:cs typeface="Malgun Gothic"/>
              </a:rPr>
              <a:t>R</a:t>
            </a:r>
            <a:r>
              <a:rPr sz="1050" b="0" i="0">
                <a:solidFill>
                  <a:srgbClr val="16213A"/>
                </a:solidFill>
                <a:latin typeface="Arial"/>
                <a:ea typeface="Malgun Gothic"/>
                <a:cs typeface="Malgun Gothic"/>
              </a:rPr>
              <a:t>을 찾는 것이다. </a:t>
            </a:r>
            <a:r>
              <a:rPr sz="1050" b="0" i="1">
                <a:solidFill>
                  <a:srgbClr val="16213A"/>
                </a:solidFill>
                <a:latin typeface="Arial"/>
                <a:ea typeface="Malgun Gothic"/>
                <a:cs typeface="Malgun Gothic"/>
              </a:rPr>
              <a:t>𝒜_M(R)</a:t>
            </a:r>
            <a:r>
              <a:rPr sz="1050" b="0" i="0">
                <a:solidFill>
                  <a:srgbClr val="16213A"/>
                </a:solidFill>
                <a:latin typeface="Arial"/>
                <a:ea typeface="Malgun Gothic"/>
                <a:cs typeface="Malgun Gothic"/>
              </a:rPr>
              <a:t>은 환경 </a:t>
            </a:r>
            <a:r>
              <a:rPr sz="1050" b="0" i="1">
                <a:solidFill>
                  <a:srgbClr val="16213A"/>
                </a:solidFill>
                <a:latin typeface="Arial"/>
                <a:ea typeface="Malgun Gothic"/>
                <a:cs typeface="Malgun Gothic"/>
              </a:rPr>
              <a:t>M</a:t>
            </a:r>
            <a:r>
              <a:rPr sz="1050" b="0" i="0">
                <a:solidFill>
                  <a:srgbClr val="16213A"/>
                </a:solidFill>
                <a:latin typeface="Arial"/>
                <a:ea typeface="Malgun Gothic"/>
                <a:cs typeface="Malgun Gothic"/>
              </a:rPr>
              <a:t>에서 </a:t>
            </a:r>
            <a:r>
              <a:rPr sz="1050" b="0" i="1">
                <a:solidFill>
                  <a:srgbClr val="16213A"/>
                </a:solidFill>
                <a:latin typeface="Arial"/>
                <a:ea typeface="Malgun Gothic"/>
                <a:cs typeface="Malgun Gothic"/>
              </a:rPr>
              <a:t>R</a:t>
            </a:r>
            <a:r>
              <a:rPr sz="1050" b="0" i="0">
                <a:solidFill>
                  <a:srgbClr val="16213A"/>
                </a:solidFill>
                <a:latin typeface="Arial"/>
                <a:ea typeface="Malgun Gothic"/>
                <a:cs typeface="Malgun Gothic"/>
              </a:rPr>
              <a:t>로 정책을 학습하는 알고리즘이다.</a:t>
            </a:r>
          </a:p>
        </p:txBody>
      </p:sp>
      <p:pic>
        <p:nvPicPr>
          <p:cNvPr id="7" name="Picture 6" descr="image.png"/>
          <p:cNvPicPr>
            <a:picLocks noChangeAspect="1"/>
          </p:cNvPicPr>
          <p:nvPr/>
        </p:nvPicPr>
        <p:blipFill>
          <a:blip r:embed="rId3"/>
          <a:stretch>
            <a:fillRect/>
          </a:stretch>
        </p:blipFill>
        <p:spPr>
          <a:xfrm>
            <a:off x="609600" y="2071886"/>
            <a:ext cx="1873250" cy="304800"/>
          </a:xfrm>
          <a:prstGeom prst="rect">
            <a:avLst/>
          </a:prstGeom>
        </p:spPr>
      </p:pic>
      <p:sp>
        <p:nvSpPr>
          <p:cNvPr id="8" name="TextBox 7"/>
          <p:cNvSpPr txBox="1"/>
          <p:nvPr/>
        </p:nvSpPr>
        <p:spPr>
          <a:xfrm>
            <a:off x="609600" y="2403277"/>
            <a:ext cx="10972800" cy="649486"/>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반복마다 LLM에서 보상 코드 </a:t>
            </a:r>
            <a:r>
              <a:rPr sz="1050" b="0" i="1">
                <a:solidFill>
                  <a:srgbClr val="16213A"/>
                </a:solidFill>
                <a:latin typeface="Arial"/>
                <a:ea typeface="Malgun Gothic"/>
                <a:cs typeface="Malgun Gothic"/>
              </a:rPr>
              <a:t>K = 16</a:t>
            </a:r>
            <a:r>
              <a:rPr sz="1050" b="0" i="0">
                <a:solidFill>
                  <a:srgbClr val="16213A"/>
                </a:solidFill>
                <a:latin typeface="Arial"/>
                <a:ea typeface="Malgun Gothic"/>
                <a:cs typeface="Malgun Gothic"/>
              </a:rPr>
              <a:t>개를 뽑고, 각각 PPO로 학습해 </a:t>
            </a:r>
            <a:r>
              <a:rPr sz="1050" b="0" i="1">
                <a:solidFill>
                  <a:srgbClr val="16213A"/>
                </a:solidFill>
                <a:latin typeface="Arial"/>
                <a:ea typeface="Malgun Gothic"/>
                <a:cs typeface="Malgun Gothic"/>
              </a:rPr>
              <a:t>F</a:t>
            </a:r>
            <a:r>
              <a:rPr sz="1050" b="0" i="0">
                <a:solidFill>
                  <a:srgbClr val="16213A"/>
                </a:solidFill>
                <a:latin typeface="Arial"/>
                <a:ea typeface="Malgun Gothic"/>
                <a:cs typeface="Malgun Gothic"/>
              </a:rPr>
              <a:t>를 잰다. 가장 좋은 보상과 그 보상 반성을 다음 프롬프트에 붙여 다시 뽑는다. 보상 반성은 보상 항목마다 학습 중 일정 간격으로 잰 값의 목록과 </a:t>
            </a:r>
            <a:r>
              <a:rPr sz="1050" b="0" i="1">
                <a:solidFill>
                  <a:srgbClr val="16213A"/>
                </a:solidFill>
                <a:latin typeface="Arial"/>
                <a:ea typeface="Malgun Gothic"/>
                <a:cs typeface="Malgun Gothic"/>
              </a:rPr>
              <a:t>F</a:t>
            </a:r>
            <a:r>
              <a:rPr sz="1050" b="0" i="0">
                <a:solidFill>
                  <a:srgbClr val="16213A"/>
                </a:solidFill>
                <a:latin typeface="Arial"/>
                <a:ea typeface="Malgun Gothic"/>
                <a:cs typeface="Malgun Gothic"/>
              </a:rPr>
              <a:t>의 목록이다. 그래서 보상 함수는 항목을 사전으로 내도록 지시받는다. 반복 5번, 독립 실행 5번이다. Isaac 과제의 점수는 사람 보상으로 정규화한다. Sparse는 적합도 함수를 그대로 보상으로 쓴 경우이고, 1이면 사람 보상과 같다.</a:t>
            </a:r>
          </a:p>
        </p:txBody>
      </p:sp>
      <p:pic>
        <p:nvPicPr>
          <p:cNvPr id="9" name="Picture 8" descr="image.png"/>
          <p:cNvPicPr>
            <a:picLocks noChangeAspect="1"/>
          </p:cNvPicPr>
          <p:nvPr/>
        </p:nvPicPr>
        <p:blipFill>
          <a:blip r:embed="rId4"/>
          <a:stretch>
            <a:fillRect/>
          </a:stretch>
        </p:blipFill>
        <p:spPr>
          <a:xfrm>
            <a:off x="609600" y="3141662"/>
            <a:ext cx="1838325" cy="403225"/>
          </a:xfrm>
          <a:prstGeom prst="rect">
            <a:avLst/>
          </a:prstGeom>
        </p:spPr>
      </p:pic>
      <p:sp>
        <p:nvSpPr>
          <p:cNvPr id="10" name="TextBox 9"/>
          <p:cNvSpPr txBox="1"/>
          <p:nvPr/>
        </p:nvSpPr>
        <p:spPr>
          <a:xfrm>
            <a:off x="609600" y="3557984"/>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Eureka의 결과.</a:t>
            </a:r>
            <a:r>
              <a:rPr sz="1050" b="0" i="0">
                <a:solidFill>
                  <a:srgbClr val="16213A"/>
                </a:solidFill>
                <a:latin typeface="Arial"/>
                <a:ea typeface="Malgun Gothic"/>
                <a:cs typeface="Malgun Gothic"/>
              </a:rPr>
              <a:t> GPT-4(gpt-4-0314) 기준이다. Isaac 과제 9개는 모두 사람과 같거나 나았고, Dexterity 20개 중 15개에서 같거나 나았다. 평균 정규화 점수는 ANYmal 1.02, 휴머노이드 2.06, Ant 1.66이었다. 계산은 A100 8장 서버 한 대에서 실행당 하루 미만이다.</a:t>
            </a:r>
          </a:p>
        </p:txBody>
      </p:sp>
      <p:sp>
        <p:nvSpPr>
          <p:cNvPr id="11" name="TextBox 10"/>
          <p:cNvSpPr txBox="1"/>
          <p:nvPr/>
        </p:nvSpPr>
        <p:spPr>
          <a:xfrm>
            <a:off x="609600" y="4079875"/>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DrEureka의 세 단계.</a:t>
            </a:r>
            <a:r>
              <a:rPr sz="1050" b="0" i="0">
                <a:solidFill>
                  <a:srgbClr val="16213A"/>
                </a:solidFill>
                <a:latin typeface="Arial"/>
                <a:ea typeface="Malgun Gothic"/>
                <a:cs typeface="Malgun Gothic"/>
              </a:rPr>
              <a:t> 안전 지시를 붙인 과제 설명으로 Eureka를 돌려 보상과 초기 정책을 얻는다. 다음으로 무작위화할 파라미터 </a:t>
            </a:r>
            <a:r>
              <a:rPr sz="1050" b="0" i="1">
                <a:solidFill>
                  <a:srgbClr val="16213A"/>
                </a:solidFill>
                <a:latin typeface="Arial"/>
                <a:ea typeface="Malgun Gothic"/>
                <a:cs typeface="Malgun Gothic"/>
              </a:rPr>
              <a:t>p</a:t>
            </a:r>
            <a:r>
              <a:rPr sz="1050" b="0" i="0">
                <a:solidFill>
                  <a:srgbClr val="16213A"/>
                </a:solidFill>
                <a:latin typeface="Arial"/>
                <a:ea typeface="Malgun Gothic"/>
                <a:cs typeface="Malgun Gothic"/>
              </a:rPr>
              <a:t>마다 탐색 값 </a:t>
            </a:r>
            <a:r>
              <a:rPr sz="1050" b="0" i="1">
                <a:solidFill>
                  <a:srgbClr val="16213A"/>
                </a:solidFill>
                <a:latin typeface="Arial"/>
                <a:ea typeface="Malgun Gothic"/>
                <a:cs typeface="Malgun Gothic"/>
              </a:rPr>
              <a:t>r</a:t>
            </a:r>
            <a:r>
              <a:rPr sz="1050" b="0" i="0">
                <a:solidFill>
                  <a:srgbClr val="16213A"/>
                </a:solidFill>
                <a:latin typeface="Arial"/>
                <a:ea typeface="Malgun Gothic"/>
                <a:cs typeface="Malgun Gothic"/>
              </a:rPr>
              <a:t>을 하나씩 넣고, 다른 파라미터는 기본값에 둔 채 초기 정책을 굴린다. 성공 기준을 통과한 값의 집합을 </a:t>
            </a:r>
            <a:r>
              <a:rPr sz="1050" b="0" i="1">
                <a:solidFill>
                  <a:srgbClr val="16213A"/>
                </a:solidFill>
                <a:latin typeface="Arial"/>
                <a:ea typeface="Malgun Gothic"/>
                <a:cs typeface="Malgun Gothic"/>
              </a:rPr>
              <a:t>Sₚ</a:t>
            </a:r>
            <a:r>
              <a:rPr sz="1050" b="0" i="0">
                <a:solidFill>
                  <a:srgbClr val="16213A"/>
                </a:solidFill>
                <a:latin typeface="Arial"/>
                <a:ea typeface="Malgun Gothic"/>
                <a:cs typeface="Malgun Gothic"/>
              </a:rPr>
              <a:t>라 하면, 그 최솟값과 최댓값이 RAPP 범위다.</a:t>
            </a:r>
          </a:p>
        </p:txBody>
      </p:sp>
      <p:pic>
        <p:nvPicPr>
          <p:cNvPr id="12" name="Picture 11" descr="image.png"/>
          <p:cNvPicPr>
            <a:picLocks noChangeAspect="1"/>
          </p:cNvPicPr>
          <p:nvPr/>
        </p:nvPicPr>
        <p:blipFill>
          <a:blip r:embed="rId5"/>
          <a:stretch>
            <a:fillRect/>
          </a:stretch>
        </p:blipFill>
        <p:spPr>
          <a:xfrm>
            <a:off x="609600" y="4601766"/>
            <a:ext cx="4689475" cy="241300"/>
          </a:xfrm>
          <a:prstGeom prst="rect">
            <a:avLst/>
          </a:prstGeom>
        </p:spPr>
      </p:pic>
      <p:sp>
        <p:nvSpPr>
          <p:cNvPr id="13" name="TextBox 12"/>
          <p:cNvSpPr txBox="1"/>
          <p:nvPr/>
        </p:nvSpPr>
        <p:spPr>
          <a:xfrm>
            <a:off x="609600" y="4879280"/>
            <a:ext cx="10972800" cy="649486"/>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전진 과제의 성공 기준은 매 스텝 </a:t>
            </a:r>
            <a:r>
              <a:rPr sz="1050" b="0" i="1">
                <a:solidFill>
                  <a:srgbClr val="16213A"/>
                </a:solidFill>
                <a:latin typeface="Arial"/>
                <a:ea typeface="Malgun Gothic"/>
                <a:cs typeface="Malgun Gothic"/>
              </a:rPr>
              <a:t>exp(-(vₓ - vₓᵗ)² / 0.25)</a:t>
            </a:r>
            <a:r>
              <a:rPr sz="1050" b="0" i="0">
                <a:solidFill>
                  <a:srgbClr val="16213A"/>
                </a:solidFill>
                <a:latin typeface="Arial"/>
                <a:ea typeface="Malgun Gothic"/>
                <a:cs typeface="Malgun Gothic"/>
              </a:rPr>
              <a:t>를 에피소드 동안 더한 값이다. 탐색 범위 </a:t>
            </a:r>
            <a:r>
              <a:rPr sz="1050" b="0" i="1">
                <a:solidFill>
                  <a:srgbClr val="16213A"/>
                </a:solidFill>
                <a:latin typeface="Arial"/>
                <a:ea typeface="Malgun Gothic"/>
                <a:cs typeface="Malgun Gothic"/>
              </a:rPr>
              <a:t>ℛₚ</a:t>
            </a:r>
            <a:r>
              <a:rPr sz="1050" b="0" i="0">
                <a:solidFill>
                  <a:srgbClr val="16213A"/>
                </a:solidFill>
                <a:latin typeface="Arial"/>
                <a:ea typeface="Malgun Gothic"/>
                <a:cs typeface="Malgun Gothic"/>
              </a:rPr>
              <a:t>는 범용 범위 넷(0부터 무한대·0–1·0 중심·1 중심) 가운데 하나로 정한다. 마지막으로 LLM이 RAPP 범위를 보고 무작위화할 파라미터와 범위를 고른다. LLM은 반발 계수를 범위의 아래쪽에서 고르며, 튀는 것은 이 과제의 초점이 아니라고 이유를 적었다. 정책 학습은 특권 교사가 실물 센서만 보는 학생을 감독하는 PPO 변형이고, DR 구성마다 시드 3개로 학습했다.</a:t>
            </a:r>
          </a:p>
        </p:txBody>
      </p:sp>
      <p:sp>
        <p:nvSpPr>
          <p:cNvPr id="14" name="TextBox 13"/>
          <p:cNvSpPr txBox="1"/>
          <p:nvPr/>
        </p:nvSpPr>
        <p:spPr>
          <a:xfrm>
            <a:off x="609600" y="5617666"/>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DrEureka의 결과(전진, 실물 5 m 트랙).</a:t>
            </a:r>
          </a:p>
        </p:txBody>
      </p:sp>
      <p:sp>
        <p:nvSpPr>
          <p:cNvPr id="15" name="TextBox 14"/>
          <p:cNvSpPr txBox="1"/>
          <p:nvPr/>
        </p:nvSpPr>
        <p:spPr>
          <a:xfrm>
            <a:off x="609600" y="5923062"/>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5개(문단·식·그림)는 대시보드 리서치 탭의 "자세히: Eureka와 DrEureka의 방법과 수치" 토글에 있다.</a:t>
            </a:r>
          </a:p>
        </p:txBody>
      </p:sp>
    </p:spTree>
  </p:cSld>
  <p:clrMapOvr>
    <a:masterClrMapping/>
  </p:clrMapOvr>
</p:sld>
</file>

<file path=ppt/slides/slide26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1/8</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266 / 516</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같은 연구진의 후속 Eurekaverse(Liang 외, CoRL 2024, </a:t>
            </a:r>
            <a:r>
              <a:rPr sz="1050" b="0" i="0">
                <a:solidFill>
                  <a:srgbClr val="1D4ED8"/>
                </a:solidFill>
                <a:latin typeface="Arial"/>
                <a:ea typeface="Malgun Gothic"/>
                <a:cs typeface="Malgun Gothic"/>
                <a:hlinkClick r:id="rId3"/>
              </a:rPr>
              <a:t>arXiv:2411.01775</a:t>
            </a:r>
            <a:r>
              <a:rPr sz="1050" b="0" i="0">
                <a:solidFill>
                  <a:srgbClr val="16213A"/>
                </a:solidFill>
                <a:latin typeface="Arial"/>
                <a:ea typeface="Malgun Gothic"/>
                <a:cs typeface="Malgun Gothic"/>
              </a:rPr>
              <a:t>)는 NVIDIA 공저 없이 UPenn에서 나왔다. </a:t>
            </a:r>
            <a:r>
              <a:rPr sz="1050" b="0" i="0">
                <a:solidFill>
                  <a:srgbClr val="1D4ED8"/>
                </a:solidFill>
                <a:latin typeface="Arial"/>
                <a:ea typeface="Malgun Gothic"/>
                <a:cs typeface="Malgun Gothic"/>
                <a:hlinkClick r:id="rId4"/>
              </a:rPr>
              <a:t>코드</a:t>
            </a:r>
            <a:r>
              <a:rPr sz="1050" b="0" i="0">
                <a:solidFill>
                  <a:srgbClr val="16213A"/>
                </a:solidFill>
                <a:latin typeface="Arial"/>
                <a:ea typeface="Malgun Gothic"/>
                <a:cs typeface="Malgun Gothic"/>
              </a:rPr>
              <a:t>는 MIT다. LLM이 장애물 코스 지형을 코드로 쓰고, 정책 무리의 성적을 보며 더 어렵고 다양한 코스로 진화시키는 커리큘럼이다. Extreme Parkour(Controller 문서 F.6.2)의 시뮬레이션 틀 위에서 Go1 파쿠르를 배워 실물로 옮겼고, 사람이 설계한 코스로 학습한 정책보다 나았다. travplan의 Planner D 학습은 손으로 정한 지형 레벨 0–3(TP-0039)을 고르게 뽑는다(B.15.3). 그 고정 분포와 비교할 상대다.</a:t>
            </a:r>
          </a:p>
        </p:txBody>
      </p:sp>
      <p:sp>
        <p:nvSpPr>
          <p:cNvPr id="6" name="TextBox 5"/>
          <p:cNvSpPr txBox="1"/>
          <p:nvPr/>
        </p:nvSpPr>
        <p:spPr>
          <a:xfrm>
            <a:off x="609600" y="1982986"/>
            <a:ext cx="10972800" cy="2597944"/>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ASE에서 MaskedMimic까지 — 캐릭터 애니메이션의 물리 기반 모션 모방이 휴머노이드 제어의 표준 재료가 됐다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5"/>
              </a:rPr>
              <a:t>ASE arXiv:2205.01906</a:t>
            </a:r>
            <a:r>
              <a:rPr sz="1050" b="0" i="0">
                <a:solidFill>
                  <a:srgbClr val="16213A"/>
                </a:solidFill>
                <a:latin typeface="Arial"/>
                <a:ea typeface="Malgun Gothic"/>
                <a:cs typeface="Malgun Gothic"/>
              </a:rPr>
              <a:t>, Peng·Guo·Halper·Levine·Fidler, ACM TOG 41(4) SIGGRAPH 2022, </a:t>
            </a:r>
            <a:r>
              <a:rPr sz="1050" b="0" i="0">
                <a:solidFill>
                  <a:srgbClr val="1D4ED8"/>
                </a:solidFill>
                <a:latin typeface="Arial"/>
                <a:ea typeface="Malgun Gothic"/>
                <a:cs typeface="Malgun Gothic"/>
                <a:hlinkClick r:id="rId6"/>
              </a:rPr>
              <a:t>코드</a:t>
            </a:r>
            <a:r>
              <a:rPr sz="1050" b="0" i="0">
                <a:solidFill>
                  <a:srgbClr val="16213A"/>
                </a:solidFill>
                <a:latin typeface="Arial"/>
                <a:ea typeface="Malgun Gothic"/>
                <a:cs typeface="Malgun Gothic"/>
              </a:rPr>
              <a:t> NVIDIA License(비상업); </a:t>
            </a:r>
            <a:r>
              <a:rPr sz="1050" b="0" i="0">
                <a:solidFill>
                  <a:srgbClr val="1D4ED8"/>
                </a:solidFill>
                <a:latin typeface="Arial"/>
                <a:ea typeface="Malgun Gothic"/>
                <a:cs typeface="Malgun Gothic"/>
                <a:hlinkClick r:id="rId7"/>
              </a:rPr>
              <a:t>PHC arXiv:2305.06456</a:t>
            </a:r>
            <a:r>
              <a:rPr sz="1050" b="0" i="0">
                <a:solidFill>
                  <a:srgbClr val="16213A"/>
                </a:solidFill>
                <a:latin typeface="Arial"/>
                <a:ea typeface="Malgun Gothic"/>
                <a:cs typeface="Malgun Gothic"/>
              </a:rPr>
              <a:t>, Luo·Cao·Winkler·Kitani·Xu, ICCV 2023, CMU·Meta, </a:t>
            </a:r>
            <a:r>
              <a:rPr sz="1050" b="0" i="0">
                <a:solidFill>
                  <a:srgbClr val="1D4ED8"/>
                </a:solidFill>
                <a:latin typeface="Arial"/>
                <a:ea typeface="Malgun Gothic"/>
                <a:cs typeface="Malgun Gothic"/>
                <a:hlinkClick r:id="rId8"/>
              </a:rPr>
              <a:t>코드</a:t>
            </a:r>
            <a:r>
              <a:rPr sz="1050" b="0" i="0">
                <a:solidFill>
                  <a:srgbClr val="16213A"/>
                </a:solidFill>
                <a:latin typeface="Arial"/>
                <a:ea typeface="Malgun Gothic"/>
                <a:cs typeface="Malgun Gothic"/>
              </a:rPr>
              <a:t> BSD-3-Clause Clear; </a:t>
            </a:r>
            <a:r>
              <a:rPr sz="1050" b="0" i="0">
                <a:solidFill>
                  <a:srgbClr val="1D4ED8"/>
                </a:solidFill>
                <a:latin typeface="Arial"/>
                <a:ea typeface="Malgun Gothic"/>
                <a:cs typeface="Malgun Gothic"/>
                <a:hlinkClick r:id="rId9"/>
              </a:rPr>
              <a:t>MaskedMimic arXiv:2409.14393</a:t>
            </a:r>
            <a:r>
              <a:rPr sz="1050" b="0" i="0">
                <a:solidFill>
                  <a:srgbClr val="16213A"/>
                </a:solidFill>
                <a:latin typeface="Arial"/>
                <a:ea typeface="Malgun Gothic"/>
                <a:cs typeface="Malgun Gothic"/>
              </a:rPr>
              <a:t>, Tessler·Guo·Nabati·Chechik·Peng, ACM TOG SIGGRAPH Asia 2024; </a:t>
            </a:r>
            <a:r>
              <a:rPr sz="1050" b="0" i="0">
                <a:solidFill>
                  <a:srgbClr val="1D4ED8"/>
                </a:solidFill>
                <a:latin typeface="Arial"/>
                <a:ea typeface="Malgun Gothic"/>
                <a:cs typeface="Malgun Gothic"/>
                <a:hlinkClick r:id="rId10"/>
              </a:rPr>
              <a:t>ProtoMotions</a:t>
            </a:r>
            <a:r>
              <a:rPr sz="1050" b="0" i="0">
                <a:solidFill>
                  <a:srgbClr val="16213A"/>
                </a:solidFill>
                <a:latin typeface="Arial"/>
                <a:ea typeface="Malgun Gothic"/>
                <a:cs typeface="Malgun Gothic"/>
              </a:rPr>
              <a:t> Apache-2.0). 이 계열은 사람 모션 캡처를 시뮬레이션 속 물리 캐릭터가 따라 하게 만드는 연구이고, 적대적 모방 AMP(adversarial motion prior)에서 출발했다. AMP보다 앞선 추종 보상의 원형(DeepMimic)과 리타기팅은 모방 문서 I.3–I.7에 있다. AMP는 B.14.4의 Multi-AMP 카드에, 적대적 모방 일반론은 RL 문서 R.17에 있다. ASE(2022)는 AMP의 판별기 보상에 기술 잠재 변수를 더해, 한 번 사전학습한 저수준 정책을 과제마다 다른 상위 정책이 다시 쓰게 했다. 칼과 방패를 든 37자유도 캐릭터를 187개 클립(약 30분)으로 학습했고, 시뮬레이션 약 10년 분량(100억 표본 이상)을 V100 한 장으로 약 10일에 모았다. 같은 팀의 CALM(Tessler 외, SIGGRAPH 2023, </a:t>
            </a:r>
            <a:r>
              <a:rPr sz="1050" b="0" i="0">
                <a:solidFill>
                  <a:srgbClr val="1D4ED8"/>
                </a:solidFill>
                <a:latin typeface="Arial"/>
                <a:ea typeface="Malgun Gothic"/>
                <a:cs typeface="Malgun Gothic"/>
                <a:hlinkClick r:id="rId11"/>
              </a:rPr>
              <a:t>arXiv:2305.02195</a:t>
            </a:r>
            <a:r>
              <a:rPr sz="1050" b="0" i="0">
                <a:solidFill>
                  <a:srgbClr val="16213A"/>
                </a:solidFill>
                <a:latin typeface="Arial"/>
                <a:ea typeface="Malgun Gothic"/>
                <a:cs typeface="Malgun Gothic"/>
              </a:rPr>
              <a:t>)은 ASE를 가장 가까운 선행 연구로 둔다. 동작 인코더를 함께 배워, 사용자가 방향을 줄 수 있는 잠재 기술로 넓혔다. PHC(2023)는 프레임마다 목표 자세를 따라가는 추종 보상에 AMP 판별기 보상을 반씩 더한 추종 정책이다. AMASS 학습 셋 11,313개 중 98.9%를 외력 없이 따라 했고, 1저자 Luo는 뒤에 NVIDIA GEAR로 옮겨 SONIC(이 소절)의 공동 1저자가 됐다. MaskedMimic(2024)은 전신 추종기를 RL로 먼저 학습하고, 목표 일부만 보는 학생에게 증류한다. 머리 좌표·손·글·물체 같은 부분 목표의 어떤 조합으로도 같은 정책을 움직인다. 계단·경사·거친 지면은 주변 높이 지도로 본다. 후속 MaskedManipulator(</a:t>
            </a:r>
            <a:r>
              <a:rPr sz="1050" b="0" i="0">
                <a:solidFill>
                  <a:srgbClr val="1D4ED8"/>
                </a:solidFill>
                <a:latin typeface="Arial"/>
                <a:ea typeface="Malgun Gothic"/>
                <a:cs typeface="Malgun Gothic"/>
                <a:hlinkClick r:id="rId12"/>
              </a:rPr>
              <a:t>arXiv:2505.19086</a:t>
            </a:r>
            <a:r>
              <a:rPr sz="1050" b="0" i="0">
                <a:solidFill>
                  <a:srgbClr val="16213A"/>
                </a:solidFill>
                <a:latin typeface="Arial"/>
                <a:ea typeface="Malgun Gothic"/>
                <a:cs typeface="Malgun Gothic"/>
              </a:rPr>
              <a:t>, SIGGRAPH Asia 2025)는 같은 증류를 전신 물체 조작으로 넓혔다. ProtoMotions는 이 연구들을 한 틀로 묶은 GPU 학습 틀이고, 공개 데이터 BONES-SEED(약 14만 2천 동작)로 학습한 추종 정책을 G1 실물에 zero-shot으로 올렸다고 README에 적는다. SONIC 서론은 판별기 기반 방법(AMP, ASE, CALM)이 데이터가 커질수록 모드 붕괴에 빠지기 쉽다고 정리한다. 모션 추종은 프레임마다 목표 자세라는 촘촘한 감독을 줘서 데이터와 모델을 함께 키울 수 있다.</a:t>
            </a:r>
          </a:p>
        </p:txBody>
      </p:sp>
      <p:sp>
        <p:nvSpPr>
          <p:cNvPr id="7" name="TextBox 6"/>
          <p:cNvSpPr txBox="1"/>
          <p:nvPr/>
        </p:nvSpPr>
        <p:spPr>
          <a:xfrm>
            <a:off x="609600" y="466983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스워브 로봇에는 사람 모션 데이터에 해당하는 것이 없어, 이 계열을 Planner나 Controller에 바로 쓰지는 않는다. 닿는 곳은 목표 일부를 가린 학생 증류다. MaskedMimic과 HOVER(이 소절)가 같은 방식이고, Controller의 두 참조 모드(경로·시간 인덱스 궤적)를 한 학습 Controller로 받는 방법이 된다.</a:t>
            </a:r>
          </a:p>
        </p:txBody>
      </p:sp>
    </p:spTree>
  </p:cSld>
  <p:clrMapOvr>
    <a:masterClrMapping/>
  </p:clrMapOvr>
</p:sld>
</file>

<file path=ppt/slides/slide26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2/8</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267 / 516</a:t>
            </a:r>
          </a:p>
        </p:txBody>
      </p:sp>
      <p:pic>
        <p:nvPicPr>
          <p:cNvPr id="5" name="Picture 4" descr="image.jpg"/>
          <p:cNvPicPr>
            <a:picLocks noChangeAspect="1"/>
          </p:cNvPicPr>
          <p:nvPr/>
        </p:nvPicPr>
        <p:blipFill>
          <a:blip r:embed="rId3"/>
          <a:stretch>
            <a:fillRect/>
          </a:stretch>
        </p:blipFill>
        <p:spPr>
          <a:xfrm>
            <a:off x="1016000" y="1244600"/>
            <a:ext cx="10160000" cy="3289300"/>
          </a:xfrm>
          <a:prstGeom prst="rect">
            <a:avLst/>
          </a:prstGeom>
        </p:spPr>
      </p:pic>
      <p:sp>
        <p:nvSpPr>
          <p:cNvPr id="6" name="TextBox 5"/>
          <p:cNvSpPr txBox="1"/>
          <p:nvPr/>
        </p:nvSpPr>
        <p:spPr>
          <a:xfrm>
            <a:off x="1016000" y="4572000"/>
            <a:ext cx="101600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MaskedMimic (Fig. 2): 부분 목표만으로 전신 동작을 만든다. (a)는 머리 좌표만 따라 언덕을 오른다. (b)는 글 지시로 손을 흔든다. (c)는 머리 좌표와 글 스타일을 함께 받아 거친 지면을 지난다. (d)는 물체를 조건으로 안락의자에 앉는다. 왼쪽은 위에서 본 경로다. 출처: arXiv:2409.14393</a:t>
            </a:r>
          </a:p>
        </p:txBody>
      </p:sp>
    </p:spTree>
  </p:cSld>
  <p:clrMapOvr>
    <a:masterClrMapping/>
  </p:clrMapOvr>
</p:sld>
</file>

<file path=ppt/slides/slide26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3/8</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268 / 516</a:t>
            </a:r>
          </a:p>
        </p:txBody>
      </p:sp>
      <p:sp>
        <p:nvSpPr>
          <p:cNvPr id="5" name="TextBox 4"/>
          <p:cNvSpPr txBox="1"/>
          <p:nvPr/>
        </p:nvSpPr>
        <p:spPr>
          <a:xfrm>
            <a:off x="609600" y="1244600"/>
            <a:ext cx="10972800" cy="151546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Trace and Pace — diffusion 모델이 보행자 궤적을 만들고, 높이 지도를 보는 물리 기반 보행자가 그 궤적을 걷는다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arXiv:2304.01893</a:t>
            </a:r>
            <a:r>
              <a:rPr sz="1050" b="0" i="0">
                <a:solidFill>
                  <a:srgbClr val="16213A"/>
                </a:solidFill>
                <a:latin typeface="Arial"/>
                <a:ea typeface="Malgun Gothic"/>
                <a:cs typeface="Malgun Gothic"/>
              </a:rPr>
              <a:t>, Rempe·Luo·Peng·Yuan·Kitani·Kreis·Fidler·Litany, CVPR 2023, NVIDIA·CMU, </a:t>
            </a:r>
            <a:r>
              <a:rPr sz="1050" b="0" i="0">
                <a:solidFill>
                  <a:srgbClr val="1D4ED8"/>
                </a:solidFill>
                <a:latin typeface="Arial"/>
                <a:ea typeface="Malgun Gothic"/>
                <a:cs typeface="Malgun Gothic"/>
                <a:hlinkClick r:id="rId4"/>
              </a:rPr>
              <a:t>프로젝트</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5"/>
              </a:rPr>
              <a:t>TRACE 코드</a:t>
            </a:r>
            <a:r>
              <a:rPr sz="1050" b="0" i="0">
                <a:solidFill>
                  <a:srgbClr val="16213A"/>
                </a:solidFill>
                <a:latin typeface="Arial"/>
                <a:ea typeface="Malgun Gothic"/>
                <a:cs typeface="Malgun Gothic"/>
              </a:rPr>
              <a:t> NVIDIA Source Code License-NC, </a:t>
            </a:r>
            <a:r>
              <a:rPr sz="1050" b="0" i="0">
                <a:solidFill>
                  <a:srgbClr val="1D4ED8"/>
                </a:solidFill>
                <a:latin typeface="Arial"/>
                <a:ea typeface="Malgun Gothic"/>
                <a:cs typeface="Malgun Gothic"/>
                <a:hlinkClick r:id="rId6"/>
              </a:rPr>
              <a:t>PACER 코드</a:t>
            </a:r>
            <a:r>
              <a:rPr sz="1050" b="0" i="0">
                <a:solidFill>
                  <a:srgbClr val="16213A"/>
                </a:solidFill>
                <a:latin typeface="Arial"/>
                <a:ea typeface="Malgun Gothic"/>
                <a:cs typeface="Malgun Gothic"/>
              </a:rPr>
              <a:t> CC BY-NC-SA 4.0). 두 모델이 Planner와 Controller처럼 나뉜다. TRACE는 지도와 이웃 보행자를 조건으로, 과거 3 s를 보고 미래 5 s의 2D 궤적을 diffusion 모델로 만든다(10 Hz, diffusion 100단계). 시험 때는 경유점·속도·무리 짓기·충돌 회피 같은 목표를 손실로 걸어 잡음 제거 단계마다 궤적을 민다(guidance, 배경 0.5). 여러 궤적을 뽑아 guidance 손실이 가장 작은 것을 고른다. PACER는 그 궤적을 따라 걷는 물리 기반 휴머노이드 정책이다. 입력은 몸 상태와 체형, 목표 궤적, 그리고 주변 4 m × 4 m의 64 × 64 높이·속도 지도다. 다른 보행자는 지도 위의 상자로 그려 넣어 움직이는 장애물로 피하게 한다. 학습 지형은 legged_gym(B.14.1)의 절차로 만든 계단·경사·요철·장애물이고, 동작 품질은 AMP로 맞춘다. 실행 때는 PACER가 2 s를 걷고 TRACE가 다시 계획한다. PACER를 RL로 학습할 때 생긴 가치 함수를 TRACE의 guidance로 더하자, 장애물 지형의 실패율이 0.220에서 0.178로, 무작위 지형에서 0.107에서 0.100으로 줄었다.</a:t>
            </a:r>
          </a:p>
        </p:txBody>
      </p:sp>
      <p:sp>
        <p:nvSpPr>
          <p:cNvPr id="6" name="TextBox 5"/>
          <p:cNvSpPr txBox="1"/>
          <p:nvPr/>
        </p:nvSpPr>
        <p:spPr>
          <a:xfrm>
            <a:off x="609600" y="2848967"/>
            <a:ext cx="10972800" cy="108247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구조가 Planner D와 거의 같다. 생성 모델이 후보 궤적을 여럿 내고, 비용으로 고르거나 비용 기울기로 민다. travplan의 비용 기울기 유도(</a:t>
            </a:r>
            <a:r>
              <a:rPr sz="1050" b="0" i="0">
                <a:solidFill>
                  <a:srgbClr val="16213A"/>
                </a:solidFill>
                <a:latin typeface="Consolas"/>
                <a:ea typeface="Malgun Gothic"/>
                <a:cs typeface="Malgun Gothic"/>
              </a:rPr>
              <a:t>planner_dg</a:t>
            </a:r>
            <a:r>
              <a:rPr sz="1050" b="0" i="0">
                <a:solidFill>
                  <a:srgbClr val="16213A"/>
                </a:solidFill>
                <a:latin typeface="Arial"/>
                <a:ea typeface="Malgun Gothic"/>
                <a:cs typeface="Malgun Gothic"/>
              </a:rPr>
              <a:t>)는 치명 항만 부드러운 hinge로 바꾼 선택기 점수 전체를 기울기로 쓴다. 이 유도는 curb_ramp 레벨 3에서 3/30으로 무너졌다(TP-0143, B.15.6). 이 논문은 guidance 목표 둘이 같은 방향으로 밀면 합친 세기가 궤적을 학습 분포 밖으로 밀 수 있다고 적는다. 같은 원인인지는 재지 않았다. 그래서 가치 함수는 기울기 유도보다 선택 점수 쪽에 먼저 쓴다. critic이 없는 travplan RL 후학습(TP-0066)의 다음 후보다. 보행자 쪽에서는 시뮬레이션 문서 S.3.4의 NavIsaacLab이 이 틀 위에 군중을 만들었다. 반응형 보행자는 L0에서 ORCA로 먼저 만들고(TP-0036), 물리 기반 보행자는 Isaac 단계로 미룬다. TRACE와 PACER 코드는 비상업 라이선스라 연구용으로만 쓴다.</a:t>
            </a:r>
          </a:p>
        </p:txBody>
      </p:sp>
    </p:spTree>
  </p:cSld>
  <p:clrMapOvr>
    <a:masterClrMapping/>
  </p:clrMapOvr>
</p:sld>
</file>

<file path=ppt/slides/slide26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4/8</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269 / 516</a:t>
            </a:r>
          </a:p>
        </p:txBody>
      </p:sp>
      <p:pic>
        <p:nvPicPr>
          <p:cNvPr id="5" name="Picture 4" descr="image.jpg"/>
          <p:cNvPicPr>
            <a:picLocks noChangeAspect="1"/>
          </p:cNvPicPr>
          <p:nvPr/>
        </p:nvPicPr>
        <p:blipFill>
          <a:blip r:embed="rId3"/>
          <a:stretch>
            <a:fillRect/>
          </a:stretch>
        </p:blipFill>
        <p:spPr>
          <a:xfrm>
            <a:off x="1016000" y="1244600"/>
            <a:ext cx="10160000" cy="2000250"/>
          </a:xfrm>
          <a:prstGeom prst="rect">
            <a:avLst/>
          </a:prstGeom>
        </p:spPr>
      </p:pic>
      <p:sp>
        <p:nvSpPr>
          <p:cNvPr id="6" name="TextBox 5"/>
          <p:cNvSpPr txBox="1"/>
          <p:nvPr/>
        </p:nvSpPr>
        <p:spPr>
          <a:xfrm>
            <a:off x="1016000" y="3282950"/>
            <a:ext cx="101600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Trace and Pace (Fig. 1): 왼쪽은 TRACE가 잡음에서 궤적을 깎아 내는 동안 목표, 회피, 무리 짓기 guidance가 궤적을 미는 모습이다. 오른쪽은 그 궤적을 PACER 보행자들이 거리에서 걷는 장면으로, 주차된 차를 피하고 무리를 지어 걷는다. 출처: arXiv:2304.01893</a:t>
            </a:r>
          </a:p>
        </p:txBody>
      </p:sp>
      <p:sp>
        <p:nvSpPr>
          <p:cNvPr id="7" name="TextBox 6"/>
          <p:cNvSpPr txBox="1"/>
          <p:nvPr/>
        </p:nvSpPr>
        <p:spPr>
          <a:xfrm>
            <a:off x="609600" y="3656211"/>
            <a:ext cx="10972800" cy="1731962"/>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PARC — 지형 높이 지도와 목표 방향을 조건으로 받는 diffusion 동작 생성기와 물리 추종기를 번갈아 키워, 적은 파쿠르 데이터를 스스로 불린다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4"/>
              </a:rPr>
              <a:t>arXiv:2505.04002</a:t>
            </a:r>
            <a:r>
              <a:rPr sz="1050" b="0" i="0">
                <a:solidFill>
                  <a:srgbClr val="16213A"/>
                </a:solidFill>
                <a:latin typeface="Arial"/>
                <a:ea typeface="Malgun Gothic"/>
                <a:cs typeface="Malgun Gothic"/>
              </a:rPr>
              <a:t>, Xu·Shi·Yin·Peng, SIGGRAPH 2025 Conference Papers, Simon Fraser University·NVIDIA, </a:t>
            </a:r>
            <a:r>
              <a:rPr sz="1050" b="0" i="0">
                <a:solidFill>
                  <a:srgbClr val="1D4ED8"/>
                </a:solidFill>
                <a:latin typeface="Arial"/>
                <a:ea typeface="Malgun Gothic"/>
                <a:cs typeface="Malgun Gothic"/>
                <a:hlinkClick r:id="rId5"/>
              </a:rPr>
              <a:t>프로젝트</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6"/>
              </a:rPr>
              <a:t>코드</a:t>
            </a:r>
            <a:r>
              <a:rPr sz="1050" b="0" i="0">
                <a:solidFill>
                  <a:srgbClr val="16213A"/>
                </a:solidFill>
                <a:latin typeface="Arial"/>
                <a:ea typeface="Malgun Gothic"/>
                <a:cs typeface="Malgun Gothic"/>
              </a:rPr>
              <a:t> BSD-3-Clause). PARC(Physics-based Augmentation with Reinforcement Learning for Character controllers)는 파쿠르 모션 캡처 약 14분에서 시작해, 세 부품을 고리로 돌린다. 생성기는 transformer diffusion 모델이다. 캐릭터 좌표의 31 × 31 국소 높이 지도와 수평 목표 방향, 직전 두 프레임을 조건으로 0.5 s 길이의 동작 조각을 낸다. 새 지형에서 동작을 만들 때 목표 방향은 높이 지도로 만든 이동 그래프 위의 A* 경로에서 온다. 긴 동작은 자기 출력을 이어 붙여 만든다. 한 번에 64개를 뽑아 지형 관통, 접촉, 경로 미완 점수가 가장 좋은 것을 고르고 운동학 최적화로 다듬는다. 추종기는 Isaac Gym에서 PPO로 학습한 물리 기반 정책이고, 접촉 라벨까지 따라 하도록 보상을 받는다. 추종기가 끝까지 따라간 동작만 시뮬레이션에서 기록해 데이터에 더하고, 생성기와 추종기를 이어서 다시 학습한다. 반복 1에서 4로 가며, 그 반복의 생성기가 만든 시험 동작 100개를 추종기가 끝까지 따라간 비율이 27%에서 68%로 올랐다. 물리 보정 없이 생성 동작을 그대로 넣어 다시 학습한 생성기는 관절 저크가 원본 최대를 넘는 프레임이 18.7%였다. 보정한 데이터로 학습한 같은 단계는 4.4%다.</a:t>
            </a:r>
          </a:p>
        </p:txBody>
      </p:sp>
    </p:spTree>
  </p:cSld>
  <p:clrMapOvr>
    <a:masterClrMapping/>
  </p:clrMapOvr>
</p:sld>
</file>

<file path=ppt/slides/slide27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5/8</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270 / 516</a:t>
            </a:r>
          </a:p>
        </p:txBody>
      </p:sp>
      <p:sp>
        <p:nvSpPr>
          <p:cNvPr id="5" name="TextBox 4"/>
          <p:cNvSpPr txBox="1"/>
          <p:nvPr/>
        </p:nvSpPr>
        <p:spPr>
          <a:xfrm>
            <a:off x="609600" y="1244600"/>
            <a:ext cx="10972800" cy="1298972"/>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PARC의 부품은 travplan 부품과 하나씩 맞는다. 높이 지도 위 A* 경로는 GuidancePlanner이고, 높이 지도와 목표 방향을 조건으로 받는 diffusion 생성기는 TravMap 크롭과 route subgoal을 조건으로 받는 Planner D(flow matching, B.8.3)다. 물리 추종기는 Planner D의 궤적을 따라가는 Controller(MPPI)이고, 후보 여럿을 점수로 고르는 것도 Planner D 선택기와 같다. 저자들은 생성기를 diffusion 모델로 둔 것이 핵심이 아니라고 적는다(부록 D). 다른 것은 고리에 넣는 데이터다. DAgger는 교사(Guidance + MPPI)의 답을, RL 후학습(TP-0066)은 GT 지도로 채점한 자기 후보를 넣는다. PARC는 자기 표본 가운데 추종기가 끝까지 실행한 동작을 넣는다. travplan으로 옮기면, Planner D 표본 가운데 Controller가 치명 없이 도달한 실행 궤적을 시연에 더하는 변형이다. B.8.3이 적은 단일 모드 교사의 공백을 Planner D 자신의 여러 모드로 채우는 길이고, 위 절제는 실행으로 거르지 않은 자기 표본을 그대로 넣지 말라는 경고다. 속도는 다르다. 저자들은 생성기가 실시간 폐루프 계획에 쓸 만큼 빠르지 않다고 적는다(A6000에서 묶음 32로 0.5 s 동작에 약 12 s). Planner D는 한 번 계획에 3.4 ms다.</a:t>
            </a:r>
          </a:p>
        </p:txBody>
      </p:sp>
    </p:spTree>
  </p:cSld>
  <p:clrMapOvr>
    <a:masterClrMapping/>
  </p:clrMapOvr>
</p:sld>
</file>

<file path=ppt/slides/slide27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6/8</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271 / 516</a:t>
            </a:r>
          </a:p>
        </p:txBody>
      </p:sp>
      <p:pic>
        <p:nvPicPr>
          <p:cNvPr id="5" name="Picture 4" descr="image.jpg"/>
          <p:cNvPicPr>
            <a:picLocks noChangeAspect="1"/>
          </p:cNvPicPr>
          <p:nvPr/>
        </p:nvPicPr>
        <p:blipFill>
          <a:blip r:embed="rId3"/>
          <a:stretch>
            <a:fillRect/>
          </a:stretch>
        </p:blipFill>
        <p:spPr>
          <a:xfrm>
            <a:off x="2847975" y="1244600"/>
            <a:ext cx="6496050" cy="4445000"/>
          </a:xfrm>
          <a:prstGeom prst="rect">
            <a:avLst/>
          </a:prstGeom>
        </p:spPr>
      </p:pic>
      <p:sp>
        <p:nvSpPr>
          <p:cNvPr id="6" name="TextBox 5"/>
          <p:cNvSpPr txBox="1"/>
          <p:nvPr/>
        </p:nvSpPr>
        <p:spPr>
          <a:xfrm>
            <a:off x="2847975" y="5727700"/>
            <a:ext cx="649605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PARC (Fig. 2): 동작 생성기가 지형 높이 지도(빨간 점) 위에 운동학 동작(초록)을 만든다. 동작 추종기는 시뮬레이션에서 그 동작을 따라 해 물리적으로 맞는 동작(파랑)을 기록한다. 기록한 동작은 데이터에 더해져 다음 반복의 생성기를 학습시킨다. 출처: arXiv:2505.04002</a:t>
            </a:r>
          </a:p>
        </p:txBody>
      </p:sp>
    </p:spTree>
  </p:cSld>
  <p:clrMapOvr>
    <a:masterClrMapping/>
  </p:clrMapOvr>
</p:sld>
</file>

<file path=ppt/slides/slide27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7/8</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272 / 516</a:t>
            </a:r>
          </a:p>
        </p:txBody>
      </p:sp>
      <p:sp>
        <p:nvSpPr>
          <p:cNvPr id="5" name="TextBox 4"/>
          <p:cNvSpPr txBox="1"/>
          <p:nvPr/>
        </p:nvSpPr>
        <p:spPr>
          <a:xfrm>
            <a:off x="609600" y="1244600"/>
            <a:ext cx="10972800" cy="1298972"/>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HOVER — 전신 모션 모방 교사 하나를, 명령 일부를 가린 학생 하나로 증류해 여러 제어 모드를 한 정책이 받는다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arXiv:2410.21229</a:t>
            </a:r>
            <a:r>
              <a:rPr sz="1050" b="0" i="0">
                <a:solidFill>
                  <a:srgbClr val="16213A"/>
                </a:solidFill>
                <a:latin typeface="Arial"/>
                <a:ea typeface="Malgun Gothic"/>
                <a:cs typeface="Malgun Gothic"/>
              </a:rPr>
              <a:t>, He·Xiao·Lin·Luo·Xu·Jiang·Kautz·Liu·Shi·Wang·Fan·Zhu, ICRA 2025, NVIDIA GEAR·CMU·UC Berkeley·UT Austin·UC San Diego, </a:t>
            </a:r>
            <a:r>
              <a:rPr sz="1050" b="0" i="0">
                <a:solidFill>
                  <a:srgbClr val="1D4ED8"/>
                </a:solidFill>
                <a:latin typeface="Arial"/>
                <a:ea typeface="Malgun Gothic"/>
                <a:cs typeface="Malgun Gothic"/>
                <a:hlinkClick r:id="rId4"/>
              </a:rPr>
              <a:t>프로젝트</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5"/>
              </a:rPr>
              <a:t>코드</a:t>
            </a:r>
            <a:r>
              <a:rPr sz="1050" b="0" i="0">
                <a:solidFill>
                  <a:srgbClr val="16213A"/>
                </a:solidFill>
                <a:latin typeface="Arial"/>
                <a:ea typeface="Malgun Gothic"/>
                <a:cs typeface="Malgun Gothic"/>
              </a:rPr>
              <a:t> Apache-2.0). 휴머노이드 제어기는 쓰임마다 명령이 달랐다. 내비게이션은 몸통 속도를, VR 원격조종은 머리와 손의 위치를, 표현 동작은 관절각을 받는다. 그래서 명령 종류마다 정책을 따로 학습했다. HOVER(Humanoid Versatile Controller)는 이 명령들을 한 명령 공간에 놓는다. 주요 몸 부위의 3D 위치, 관절각, 몸통의 속도·높이·자세 세 종류이고, 상체와 하체에 따로 켜고 끄는 마스크를 단다. 학습은 두 단계다. 먼저 AMASS 모션을 Unitree H1에 리타기팅해, 모든 몸 부위의 목표를 다 보는 교사 추종 정책을 PPO로 학습한다. 다음으로 실물에서 얻을 수 있는 고유감각(proprioception)의 25스텝 이력과 마스크로 가린 명령만 보는 학생을 DAgger(dataset aggregation)로 증류한다. 마스크 비트마다 확률 0.5로 켜고 한 에피소드 동안 고정한다. 논문은 이 공간이 실제로 쓸모 있는 모드 15가지 이상을 덮는다고 적는다.</a:t>
            </a:r>
          </a:p>
        </p:txBody>
      </p:sp>
      <p:sp>
        <p:nvSpPr>
          <p:cNvPr id="6" name="TextBox 5"/>
          <p:cNvSpPr txBox="1"/>
          <p:nvPr/>
        </p:nvSpPr>
        <p:spPr>
          <a:xfrm>
            <a:off x="609600" y="2632472"/>
            <a:ext cx="10972800" cy="649486"/>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결과의 요지는 학생 하나가 전문 정책들보다 나았다는 것이다. 시뮬레이션에서 기존 연구 넷(ExBody·HumanPlus·H2O·OmniH2O)의 명령 모드로 고정해 비교했다. 모드마다 지표 12개 중 적어도 7개에서, 그 모드만 RL로 학습한 전문 정책보다 나았다. 같은 마스크로 처음부터 RL을 돌린 다중 모드 정책과는 모드 8개 × 지표 4개, 32개 모두에서 오차가 작았다. 실물 H1(19자유도, 논문 표기 약 51.5 kg)에서는 서서 하는 동작 20개를 따라 하며 지표 12개 중 11개에서 전문 정책보다 나았고, 걷는 중에 명령 모드를 바꿔도 이어 걸었다.</a:t>
            </a:r>
          </a:p>
        </p:txBody>
      </p:sp>
      <p:sp>
        <p:nvSpPr>
          <p:cNvPr id="7" name="TextBox 6"/>
          <p:cNvSpPr txBox="1"/>
          <p:nvPr/>
        </p:nvSpPr>
        <p:spPr>
          <a:xfrm>
            <a:off x="609600" y="3370858"/>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명령 마스크는 Planner와 Controller 사이의 경계를 하나로 고정하지 않아도 된다는 근거다. travplan Controller는 지금 두 참조를 받는다. Guidance 폴백은 시간 없는 경로를, Planner D는 시간 인덱스 궤적을 넘긴다. 폴백의 첫 설계는 경로를 시간 궤적으로 바꿔 넘겼다가 경사로 아래에서 시간 초과됐고, 경로 모드로 넘기자 지나갔다(B.15.2). 학습 Controller(Playground의 TinyPolicy, TP-0128)를 키울 때 시간 채널을 가린 경로와 시간까지 있는 궤적을 마스크로 섞어 학습하면, 한 정책이 두 모드를 받는다. HOVER에서 가장 옮길 만한 결과는 교사에게서 증류한 범용 학생이 모드별로 RL 학습한 전문 정책보다 나았다는 것이다. Planner D도 Guidance + MPPI 교사를 DAgger로 따라 배운 학생이다(B.8.3).</a:t>
            </a:r>
          </a:p>
        </p:txBody>
      </p:sp>
    </p:spTree>
  </p:cSld>
  <p:clrMapOvr>
    <a:masterClrMapping/>
  </p:clrMapOvr>
</p:sld>
</file>

<file path=ppt/slides/slide27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8/8</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273 / 516</a:t>
            </a:r>
          </a:p>
        </p:txBody>
      </p:sp>
      <p:pic>
        <p:nvPicPr>
          <p:cNvPr id="5" name="Picture 4" descr="image.jpg"/>
          <p:cNvPicPr>
            <a:picLocks noChangeAspect="1"/>
          </p:cNvPicPr>
          <p:nvPr/>
        </p:nvPicPr>
        <p:blipFill>
          <a:blip r:embed="rId3"/>
          <a:stretch>
            <a:fillRect/>
          </a:stretch>
        </p:blipFill>
        <p:spPr>
          <a:xfrm>
            <a:off x="609600" y="1244600"/>
            <a:ext cx="2501900" cy="2667000"/>
          </a:xfrm>
          <a:prstGeom prst="rect">
            <a:avLst/>
          </a:prstGeom>
        </p:spPr>
      </p:pic>
      <p:sp>
        <p:nvSpPr>
          <p:cNvPr id="6" name="TextBox 5"/>
          <p:cNvSpPr txBox="1"/>
          <p:nvPr/>
        </p:nvSpPr>
        <p:spPr>
          <a:xfrm>
            <a:off x="609600" y="3949700"/>
            <a:ext cx="5410200" cy="42654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HOVER (Fig. 1): VR·RGB 카메라·외골격·로봇 팔·모션 캡처·조이스틱처럼 서로 다른 입력 장치가 머리·손 자세, 전신 자세, 관절각, 몸통 명령을 낸다. HOVER는 이것을 몸 부위 위치, 관절각, 몸통 추종의 한 명령 공간에 놓고 마스크로 고른다. 아래는 실물 Unitree H1이 따라 하는 장면이다. 출처: arXiv:2410.21229</a:t>
            </a:r>
          </a:p>
        </p:txBody>
      </p:sp>
      <p:pic>
        <p:nvPicPr>
          <p:cNvPr id="7" name="Picture 6" descr="image.jpg"/>
          <p:cNvPicPr>
            <a:picLocks noChangeAspect="1"/>
          </p:cNvPicPr>
          <p:nvPr/>
        </p:nvPicPr>
        <p:blipFill>
          <a:blip r:embed="rId4"/>
          <a:stretch>
            <a:fillRect/>
          </a:stretch>
        </p:blipFill>
        <p:spPr>
          <a:xfrm>
            <a:off x="6172200" y="1244600"/>
            <a:ext cx="5410200" cy="1212850"/>
          </a:xfrm>
          <a:prstGeom prst="rect">
            <a:avLst/>
          </a:prstGeom>
        </p:spPr>
      </p:pic>
      <p:sp>
        <p:nvSpPr>
          <p:cNvPr id="8" name="TextBox 7"/>
          <p:cNvSpPr txBox="1"/>
          <p:nvPr/>
        </p:nvSpPr>
        <p:spPr>
          <a:xfrm>
            <a:off x="6172200" y="2495550"/>
            <a:ext cx="54102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HOVER (Fig. 2): 교사는 특권 고유감각과 모든 추종 목표를 본다. 학생은 실물에서 얻을 수 있는 고유감각과, 모드 마스크와 희소 마스크로 가린 목표를 본다. 학생은 DAgger로 교사 행동을 지도학습한다. 출처: arXiv:2410.21229</a:t>
            </a:r>
          </a:p>
        </p:txBody>
      </p:sp>
    </p:spTree>
  </p:cSld>
  <p:clrMapOvr>
    <a:masterClrMapping/>
  </p:clrMapOvr>
</p:sld>
</file>

<file path=ppt/slides/slide27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자세히: HOVER의 방법과 수치</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274 / 516</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풀려는 문제.</a:t>
            </a:r>
            <a:r>
              <a:rPr sz="1050" b="0" i="0">
                <a:solidFill>
                  <a:srgbClr val="16213A"/>
                </a:solidFill>
                <a:latin typeface="Arial"/>
                <a:ea typeface="Malgun Gothic"/>
                <a:cs typeface="Malgun Gothic"/>
              </a:rPr>
              <a:t> 학습 기반 휴머노이드 전신 제어는 명령 공간에 따라 세 갈래로 나뉘었다. 첫째는 몸 부위 위치 추종(H2O·OmniH2O)이고, 둘째는 관절각 추종(HumanPlus 등)이다. 셋째는 보행 RL의 몸통 속도 추종이다. 같은 하드웨어인데 갈래마다 보상과 인터페이스를 따로 짜야 했고, 한 제어기는 한 모드만 받았다. HOVER의 가설은 전신 운동학 모방이 모든 모드의 공통 추상이라는 것이다. 사람 동작을 다 따라 할 줄 아는 교사가 있으면, 모드별 학생은 일부 명령만 보고 그 교사의 행동을 재현하면 된다.</a:t>
            </a:r>
          </a:p>
        </p:txBody>
      </p:sp>
      <p:sp>
        <p:nvSpPr>
          <p:cNvPr id="6" name="TextBox 5"/>
          <p:cNvSpPr txBox="1"/>
          <p:nvPr/>
        </p:nvSpPr>
        <p:spPr>
          <a:xfrm>
            <a:off x="609600" y="1982986"/>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교사.</a:t>
            </a:r>
            <a:r>
              <a:rPr sz="1050" b="0" i="0">
                <a:solidFill>
                  <a:srgbClr val="16213A"/>
                </a:solidFill>
                <a:latin typeface="Arial"/>
                <a:ea typeface="Malgun Gothic"/>
                <a:cs typeface="Malgun Gothic"/>
              </a:rPr>
              <a:t> 강체마다 위치, 자세, 선속도, 각속도와 직전 행동을 본다. 목표는 다음 프레임 기준 자세와 현재 상태의 한 프레임 차이, 그리고 기준 자세다. 네트워크는 OmniH2O와 같은 512·256·128 MLP(multilayer perceptron)이고, 도메인 무작위화도 OmniH2O를 따른다(OmniH2O 카드는 B.16.6).</a:t>
            </a:r>
          </a:p>
        </p:txBody>
      </p:sp>
      <p:sp>
        <p:nvSpPr>
          <p:cNvPr id="7" name="TextBox 6"/>
          <p:cNvSpPr txBox="1"/>
          <p:nvPr/>
        </p:nvSpPr>
        <p:spPr>
          <a:xfrm>
            <a:off x="609600" y="2504877"/>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학생과 마스크.</a:t>
            </a:r>
            <a:r>
              <a:rPr sz="1050" b="0" i="0">
                <a:solidFill>
                  <a:srgbClr val="16213A"/>
                </a:solidFill>
                <a:latin typeface="Arial"/>
                <a:ea typeface="Malgun Gothic"/>
                <a:cs typeface="Malgun Gothic"/>
              </a:rPr>
              <a:t> 고유감각은 관절 위치·관절 속도·몸통 각속도·중력 방향·직전 행동의 25스텝 이력이다. 명령에는 모드 마스크와 희소 마스크를 차례로 곱한다.</a:t>
            </a:r>
          </a:p>
        </p:txBody>
      </p:sp>
      <p:pic>
        <p:nvPicPr>
          <p:cNvPr id="8" name="Picture 7" descr="image.png"/>
          <p:cNvPicPr>
            <a:picLocks noChangeAspect="1"/>
          </p:cNvPicPr>
          <p:nvPr/>
        </p:nvPicPr>
        <p:blipFill>
          <a:blip r:embed="rId3"/>
          <a:stretch>
            <a:fillRect/>
          </a:stretch>
        </p:blipFill>
        <p:spPr>
          <a:xfrm>
            <a:off x="609600" y="2810272"/>
            <a:ext cx="3740150" cy="250825"/>
          </a:xfrm>
          <a:prstGeom prst="rect">
            <a:avLst/>
          </a:prstGeom>
        </p:spPr>
      </p:pic>
      <p:sp>
        <p:nvSpPr>
          <p:cNvPr id="9" name="TextBox 8"/>
          <p:cNvSpPr txBox="1"/>
          <p:nvPr/>
        </p:nvSpPr>
        <p:spPr>
          <a:xfrm>
            <a:off x="609600" y="3096320"/>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모드 마스크는 상체와 하체에 따로 모드를 고르고, 희소 마스크는 그 모드 안에서 일부 부위만 남긴다. 비트마다 </a:t>
            </a:r>
            <a:r>
              <a:rPr sz="1050" b="0" i="1">
                <a:solidFill>
                  <a:srgbClr val="16213A"/>
                </a:solidFill>
                <a:latin typeface="Arial"/>
                <a:ea typeface="Malgun Gothic"/>
                <a:cs typeface="Malgun Gothic"/>
              </a:rPr>
              <a:t>ℬ(0.5)</a:t>
            </a:r>
            <a:r>
              <a:rPr sz="1050" b="0" i="0">
                <a:solidFill>
                  <a:srgbClr val="16213A"/>
                </a:solidFill>
                <a:latin typeface="Arial"/>
                <a:ea typeface="Malgun Gothic"/>
                <a:cs typeface="Malgun Gothic"/>
              </a:rPr>
              <a:t>에서 뽑아 에피소드 동안 고정한다. 학생을 굴려 얻은 상태마다 교사 관측을 따로 계산해 교사 행동 </a:t>
            </a:r>
            <a:r>
              <a:rPr sz="1050" b="0" i="1">
                <a:solidFill>
                  <a:srgbClr val="16213A"/>
                </a:solidFill>
                <a:latin typeface="Arial"/>
                <a:ea typeface="Malgun Gothic"/>
                <a:cs typeface="Malgun Gothic"/>
              </a:rPr>
              <a:t>âₜ</a:t>
            </a:r>
            <a:r>
              <a:rPr sz="1050" b="0" i="0">
                <a:solidFill>
                  <a:srgbClr val="16213A"/>
                </a:solidFill>
                <a:latin typeface="Arial"/>
                <a:ea typeface="Malgun Gothic"/>
                <a:cs typeface="Malgun Gothic"/>
              </a:rPr>
              <a:t>를 얻고, 지도학습으로 맞춘다.</a:t>
            </a:r>
          </a:p>
        </p:txBody>
      </p:sp>
      <p:pic>
        <p:nvPicPr>
          <p:cNvPr id="10" name="Picture 9" descr="image.png"/>
          <p:cNvPicPr>
            <a:picLocks noChangeAspect="1"/>
          </p:cNvPicPr>
          <p:nvPr/>
        </p:nvPicPr>
        <p:blipFill>
          <a:blip r:embed="rId4"/>
          <a:stretch>
            <a:fillRect/>
          </a:stretch>
        </p:blipFill>
        <p:spPr>
          <a:xfrm>
            <a:off x="609600" y="3618210"/>
            <a:ext cx="1089025" cy="241300"/>
          </a:xfrm>
          <a:prstGeom prst="rect">
            <a:avLst/>
          </a:prstGeom>
        </p:spPr>
      </p:pic>
      <p:sp>
        <p:nvSpPr>
          <p:cNvPr id="11" name="TextBox 10"/>
          <p:cNvSpPr txBox="1"/>
          <p:nvPr/>
        </p:nvSpPr>
        <p:spPr>
          <a:xfrm>
            <a:off x="609600" y="3895725"/>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결과(시뮬레이션).</a:t>
            </a:r>
            <a:r>
              <a:rPr sz="1050" b="0" i="0">
                <a:solidFill>
                  <a:srgbClr val="16213A"/>
                </a:solidFill>
                <a:latin typeface="Arial"/>
                <a:ea typeface="Malgun Gothic"/>
                <a:cs typeface="Malgun Gothic"/>
              </a:rPr>
              <a:t> AMASS 리타기팅 셋에서 시드 5개로 잰 전역 몸 위치 오차(mm)만 옮긴다(원문 표 3).</a:t>
            </a:r>
          </a:p>
        </p:txBody>
      </p:sp>
      <p:graphicFrame>
        <p:nvGraphicFramePr>
          <p:cNvPr id="12" name="Table 11"/>
          <p:cNvGraphicFramePr>
            <a:graphicFrameLocks noGrp="1"/>
          </p:cNvGraphicFramePr>
          <p:nvPr/>
        </p:nvGraphicFramePr>
        <p:xfrm>
          <a:off x="609600" y="4201120"/>
          <a:ext cx="10966450" cy="985440"/>
        </p:xfrm>
        <a:graphic>
          <a:graphicData uri="http://schemas.openxmlformats.org/drawingml/2006/table">
            <a:tbl>
              <a:tblPr firstRow="1" bandRow="1">
                <a:tableStyleId>{5C22544A-7EE6-4342-B048-85BDC9FD1C3A}</a:tableStyleId>
              </a:tblPr>
              <a:tblGrid>
                <a:gridCol w="4367510"/>
                <a:gridCol w="3462040"/>
                <a:gridCol w="3136900"/>
              </a:tblGrid>
              <a:tr h="197088">
                <a:tc>
                  <a:txBody>
                    <a:bodyPr wrap="square"/>
                    <a:lstStyle/>
                    <a:p>
                      <a:r>
                        <a:rPr sz="800" b="1" i="0">
                          <a:solidFill>
                            <a:srgbClr val="F4F1EA"/>
                          </a:solidFill>
                          <a:latin typeface="Arial"/>
                          <a:ea typeface="Malgun Gothic"/>
                          <a:cs typeface="Malgun Gothic"/>
                        </a:rPr>
                        <a:t>모드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전문 정책</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HOVER</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ExBody</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275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185</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HumanPlus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266</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182</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H2O</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137</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121</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OmniH2O</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149</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128</a:t>
                      </a:r>
                    </a:p>
                  </a:txBody>
                  <a:tcPr marL="63500" marR="63500" marT="12700" marB="12700">
                    <a:solidFill>
                      <a:srgbClr val="F3F0E8"/>
                    </a:solidFill>
                  </a:tcPr>
                </a:tc>
              </a:tr>
            </a:tbl>
          </a:graphicData>
        </a:graphic>
      </p:graphicFrame>
      <p:sp>
        <p:nvSpPr>
          <p:cNvPr id="13" name="TextBox 12"/>
          <p:cNvSpPr txBox="1"/>
          <p:nvPr/>
        </p:nvSpPr>
        <p:spPr>
          <a:xfrm>
            <a:off x="609600" y="5528171"/>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처음부터 다중 모드로 RL을 돌린 정책보다는 8개 모드 × 4개 지표 모두에서 나았다.</a:t>
            </a:r>
          </a:p>
        </p:txBody>
      </p:sp>
      <p:sp>
        <p:nvSpPr>
          <p:cNvPr id="14" name="TextBox 13"/>
          <p:cNvSpPr txBox="1"/>
          <p:nvPr/>
        </p:nvSpPr>
        <p:spPr>
          <a:xfrm>
            <a:off x="609600" y="5833566"/>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5개(문단·식·그림)는 대시보드 리서치 탭의 "자세히: HOVER의 방법과 수치" 토글에 있다.</a:t>
            </a:r>
          </a:p>
        </p:txBody>
      </p:sp>
    </p:spTree>
  </p:cSld>
  <p:clrMapOvr>
    <a:masterClrMapping/>
  </p:clrMapOvr>
</p:sld>
</file>

<file path=ppt/slides/slide27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1/12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275 / 516</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같은 1저자의 후속 ASAP(RSS 2025, CMU·NVIDIA)은 실물 기록으로 행동 잔차 모델을 배워 시뮬레이터를 실물에 맞춘다. 카드는 B.16.6에 있다.</a:t>
            </a:r>
          </a:p>
        </p:txBody>
      </p:sp>
      <p:sp>
        <p:nvSpPr>
          <p:cNvPr id="6" name="TextBox 5"/>
          <p:cNvSpPr txBox="1"/>
          <p:nvPr/>
        </p:nvSpPr>
        <p:spPr>
          <a:xfrm>
            <a:off x="609600" y="1549995"/>
            <a:ext cx="10972800" cy="1948458"/>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SONIC — 모션 캡처 약 700시간에서 거른 611시간과 GPU 128장으로 범용 전신 추종기를 키우고, 그 위에 실시간 운동학 Planner를 얹었다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arXiv:2511.07820</a:t>
            </a:r>
            <a:r>
              <a:rPr sz="1050" b="0" i="0">
                <a:solidFill>
                  <a:srgbClr val="16213A"/>
                </a:solidFill>
                <a:latin typeface="Arial"/>
                <a:ea typeface="Malgun Gothic"/>
                <a:cs typeface="Malgun Gothic"/>
              </a:rPr>
              <a:t>, Luo·Yuan·Wang·Li·Castañeda 외(공동 1저자 다섯), Science Robotics 11(117) eaed4592, 2026-08, NVIDIA GEAR·DAIR, </a:t>
            </a:r>
            <a:r>
              <a:rPr sz="1050" b="0" i="0">
                <a:solidFill>
                  <a:srgbClr val="1D4ED8"/>
                </a:solidFill>
                <a:latin typeface="Arial"/>
                <a:ea typeface="Malgun Gothic"/>
                <a:cs typeface="Malgun Gothic"/>
                <a:hlinkClick r:id="rId4"/>
              </a:rPr>
              <a:t>프로젝트</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5"/>
              </a:rPr>
              <a:t>코드</a:t>
            </a:r>
            <a:r>
              <a:rPr sz="1050" b="0" i="0">
                <a:solidFill>
                  <a:srgbClr val="16213A"/>
                </a:solidFill>
                <a:latin typeface="Arial"/>
                <a:ea typeface="Malgun Gothic"/>
                <a:cs typeface="Malgun Gothic"/>
              </a:rPr>
              <a:t> Apache-2.0, 가중치 NVIDIA Open Model License). 배포 구조와 분리형 WBC와의 차이는 Controller 문서 F.8에, TANGO의 system-0으로 쓴 예는 인식 문서 A.8에 있다. 여기서는 논문의 수치만 더한다. 원본 모션 캡처 약 700시간을 G1에 리타기팅한 뒤, 계단 오르기와 앉은 동작처럼 G1이 할 수 없는 동작을 걸러 611시간(50 Hz로 1억 프레임 이상)을 학습에 썼다. 그 가운데 상당 부분이 BONES-SEED(동작 142,220개, 288시간)로 공개됐다. 추종 학습의 환경 설정은 BeyondMimic(B.16.6)의 것을 가져와 키웠다. 데이터(400만–1억 프레임)와 모델(1.2M–42M 파라미터)과 계산(GPU 16·32·128장)을 키울수록 처음 보는 동작의 성공률이 올랐다. 가장 큰 모델은 Isaac Lab 평가에서 99.6%였다. 명령 인코더는 미래 10프레임을 본다. 로봇 동작과 혼합 명령은 0.1 s 간격(1 s 앞)이고, 사람 동작만 0.02 s 간격(0.2 s 앞)이다. 내비게이션은 운동학 Planner가 맡는다. 속도·방향·걸음 스타일 명령에서 0.8–2.4 s 길이의 전신 동작을 만들고, 빠르면 100 ms마다 다시 계획한다. 계획 한 번은 노트북에서 5 ms 미만, Jetson Orin에서 약 12 ms다. MuJoCo의 0–5 m/s 속도 추종에서 생존율은 98.5%로, 걷기 전용 제어기 OpenHomie(43.0%)보다 높았다. 실물 124개 동작은 123개를 성공했고, 발의 위치 오차가 가장 컸다(실물 53.7 mm, 시뮬레이션 29.0 mm). 원격조종 데이터로 미세 조정한 GR00T N1.5(이 소절)를 범용 토큰 인터페이스에 이어 위 층으로도 썼다. 이동·조작 다섯 과제의 평균 성공률은 75%였다(과제마다 10–20회).</a:t>
            </a:r>
          </a:p>
        </p:txBody>
      </p:sp>
      <p:sp>
        <p:nvSpPr>
          <p:cNvPr id="7" name="TextBox 6"/>
          <p:cNvSpPr txBox="1"/>
          <p:nvPr/>
        </p:nvSpPr>
        <p:spPr>
          <a:xfrm>
            <a:off x="609600" y="3587353"/>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SONIC도 느린 Planner(10 Hz)와 빠른 추종기(50 Hz)를 나눴다. 사용자 속도 명령은 임계 감쇠 스프링 모델을 거쳐 키프레임이 된다. 6 m/s에서 −6 m/s로 갑자기 뒤집는 것 같은 비현실적 명령은 여기서 걸러진다. travplan이 Controller rollout에 하위 지연을 넣은 것(TP-0150, 휴머노이드는 E.13의 TP-0135)과 같은 문제를 Planner 쪽에서 푼 것이다. 우리가 보기에 실물 발 오차가 가장 컸다는 것은 연석과 계단처럼 발 디딤이 중요한 곳에서 추종기 혼자로는 모자랄 수 있다는 신호다. 원문은 실제 접촉 동역학에서 정밀한 발 디딤이 어렵기 때문이라고만 적는다. 높이 지도를 더한 GRAIL(이 소절)이 그 방향의 후속이다.</a:t>
            </a:r>
          </a:p>
        </p:txBody>
      </p:sp>
    </p:spTree>
  </p:cSld>
  <p:clrMapOvr>
    <a:masterClrMapping/>
  </p:clrMapOvr>
</p:sld>
</file>

<file path=ppt/slides/slide27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2/12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276 / 516</a:t>
            </a:r>
          </a:p>
        </p:txBody>
      </p:sp>
      <p:pic>
        <p:nvPicPr>
          <p:cNvPr id="5" name="Picture 4" descr="image.jpg"/>
          <p:cNvPicPr>
            <a:picLocks noChangeAspect="1"/>
          </p:cNvPicPr>
          <p:nvPr/>
        </p:nvPicPr>
        <p:blipFill>
          <a:blip r:embed="rId3"/>
          <a:stretch>
            <a:fillRect/>
          </a:stretch>
        </p:blipFill>
        <p:spPr>
          <a:xfrm>
            <a:off x="4213225" y="1244600"/>
            <a:ext cx="3765550" cy="4445000"/>
          </a:xfrm>
          <a:prstGeom prst="rect">
            <a:avLst/>
          </a:prstGeom>
        </p:spPr>
      </p:pic>
      <p:sp>
        <p:nvSpPr>
          <p:cNvPr id="6" name="TextBox 5"/>
          <p:cNvSpPr txBox="1"/>
          <p:nvPr/>
        </p:nvSpPr>
        <p:spPr>
          <a:xfrm>
            <a:off x="4213225" y="5727700"/>
            <a:ext cx="3765550" cy="568722"/>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SONIC (Fig. 3): 운동학 Planner가 실시간으로 만든 동작을 범용 추종기가 따라가는 장면이다. (A)는 속도·방향·걸음 스타일(앞·옆·달리기·기쁜 걸음·살금살금·다친 걸음)을 바꾸는 내비게이션이다. (B)는 쪼그려 앉기·무릎 꿇기·기어가기·일어나기이고, (C)는 권투다. 시뮬레이션 줄과 실물 G1 줄이 번갈아 있다. 출처: arXiv:2511.07820</a:t>
            </a:r>
          </a:p>
        </p:txBody>
      </p:sp>
    </p:spTree>
  </p:cSld>
  <p:clrMapOvr>
    <a:masterClrMapping/>
  </p:clrMapOvr>
</p:sld>
</file>

<file path=ppt/slides/slide27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3/12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277 / 516</a:t>
            </a:r>
          </a:p>
        </p:txBody>
      </p:sp>
      <p:sp>
        <p:nvSpPr>
          <p:cNvPr id="5" name="TextBox 4"/>
          <p:cNvSpPr txBox="1"/>
          <p:nvPr/>
        </p:nvSpPr>
        <p:spPr>
          <a:xfrm>
            <a:off x="609600" y="1244600"/>
            <a:ext cx="10972800" cy="2164953"/>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GR00T N1–N1.7 — 휴머노이드용 공개 VLA(vision-language-action). 느린 VLM(vision-language model)과 빠른 flow matching 행동 전문가를 나누고, 이동은 하체 WBC에 속도로 맡긴다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arXiv:2503.14734</a:t>
            </a:r>
            <a:r>
              <a:rPr sz="1050" b="0" i="0">
                <a:solidFill>
                  <a:srgbClr val="16213A"/>
                </a:solidFill>
                <a:latin typeface="Arial"/>
                <a:ea typeface="Malgun Gothic"/>
                <a:cs typeface="Malgun Gothic"/>
              </a:rPr>
              <a:t>, NVIDIA(연구 리드 Fan·Zhu), 2025-03, </a:t>
            </a:r>
            <a:r>
              <a:rPr sz="1050" b="0" i="0">
                <a:solidFill>
                  <a:srgbClr val="1D4ED8"/>
                </a:solidFill>
                <a:latin typeface="Arial"/>
                <a:ea typeface="Malgun Gothic"/>
                <a:cs typeface="Malgun Gothic"/>
                <a:hlinkClick r:id="rId4"/>
              </a:rPr>
              <a:t>코드</a:t>
            </a:r>
            <a:r>
              <a:rPr sz="1050" b="0" i="0">
                <a:solidFill>
                  <a:srgbClr val="16213A"/>
                </a:solidFill>
                <a:latin typeface="Arial"/>
                <a:ea typeface="Malgun Gothic"/>
                <a:cs typeface="Malgun Gothic"/>
              </a:rPr>
              <a:t> Apache-2.0, 가중치 NVIDIA Open Model License). B.12.3과 F.8이 짧게 다뤘고, 여기서는 판의 변천과 이동 쪽만 적는다. N1(2025-03-18 공개)은 Eagle-2 VLM을 system 2로, flow matching으로 학습한 diffusion transformer(DiT)를 system 1로 둔다. VLM은 L40에서 10 Hz로 돌고, 행동 모듈은 120 Hz로 행동을 낸다. 공개 모델 GR00T-N1-2B는 2.2B 파라미터이고, 행동 16개 묶음을 L40에서 63.9 ms에 뽑는다. N1의 실물 평가는 Fourier GR-1 휴머노이드의 탁자 조작이었다. N1.5(2025-05-18 발표·06-11 공개)와 N1.6(Hugging Face 2025-12·기술 블로그 2026-01)을 거쳐 N1.7(2026-03-16 발표)에 이르렀다. N1.7은 VLM을 Cosmos-Reason2-2B로 바꾸고 사람 1인칭 영상 2만 시간을 사전학습에 넣었으며, 행동 지평을 16에서 40으로 늘렸다. 이동을 붙인 것은 N1.6 기술 블로그의 흐름이다. GR00T-WholeBodyControl이 하체를 맡고, COMPASS(B.12.4)가 Isaac Lab에서 만든 합성 데이터로 점 목표 내비게이션을 미세 조정한다. 내비 머리는 관절 토크가 아니라 속도 명령을 WBC에 넘긴다. 위치는 미리 만든 지도에서 cuVSLAM과 cuVGL로 잡고, nvblox가 경로 계획용 2D 점유 지도를 만든다. 2026-05에 공개된 G1 흐름은 N1.7을 미세 조정해 SONIC 위에서 돌린다(GR00T-WholeBodyControl README). 2026-05-31에는 Unitree H2 Plus 몸체에 Sharpa Wave 손 둘과 Jetson AGX Thor T5000을 묶은 연구용 기준 휴머노이드를 발표했고, 첫 사용 기관에 ETH Zürich가 들었다. 언어 중간 행동으로 다리 로봇을 움직이는 NaVILA(RSS 2025, UC San Diego·USC·NVIDIA)는 B.6b에 있다.</a:t>
            </a:r>
          </a:p>
        </p:txBody>
      </p:sp>
      <p:sp>
        <p:nvSpPr>
          <p:cNvPr id="6" name="TextBox 5"/>
          <p:cNvSpPr txBox="1"/>
          <p:nvPr/>
        </p:nvSpPr>
        <p:spPr>
          <a:xfrm>
            <a:off x="609600" y="3498453"/>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GR00T의 이동 구조는 travplan과 같은 층 나누기다. 위 층이 속도를 내고, 아래 층 학습 정책이 균형과 접촉을 맡는다. 행동 생성기도 Planner D와 같은 flow matching이다. 다른 점은 위 층이 언어와 영상을 받는 수십억 파라미터 모델이라는 것이고, 보도 배달에 VLA를 쓸 이유는 지금 없다. 가져올 것은 아래 층을 바꿀 때의 순서다. NVIDIA도 하체 WBC를 Isaac Lab·Isaac Sim에서 학습하고 시험한 뒤 실물로 옮겼고, 내비게이션은 합성 데이터로 따로 학습해 속도 인터페이스로 이었다.</a:t>
            </a:r>
          </a:p>
        </p:txBody>
      </p:sp>
    </p:spTree>
  </p:cSld>
  <p:clrMapOvr>
    <a:masterClrMapping/>
  </p:clrMapOvr>
</p:sld>
</file>

<file path=ppt/slides/slide27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4/12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278 / 516</a:t>
            </a:r>
          </a:p>
        </p:txBody>
      </p:sp>
      <p:pic>
        <p:nvPicPr>
          <p:cNvPr id="5" name="Picture 4" descr="image.jpg"/>
          <p:cNvPicPr>
            <a:picLocks noChangeAspect="1"/>
          </p:cNvPicPr>
          <p:nvPr/>
        </p:nvPicPr>
        <p:blipFill>
          <a:blip r:embed="rId3"/>
          <a:stretch>
            <a:fillRect/>
          </a:stretch>
        </p:blipFill>
        <p:spPr>
          <a:xfrm>
            <a:off x="1838325" y="1244600"/>
            <a:ext cx="8515350" cy="4445000"/>
          </a:xfrm>
          <a:prstGeom prst="rect">
            <a:avLst/>
          </a:prstGeom>
        </p:spPr>
      </p:pic>
      <p:sp>
        <p:nvSpPr>
          <p:cNvPr id="6" name="TextBox 5"/>
          <p:cNvSpPr txBox="1"/>
          <p:nvPr/>
        </p:nvSpPr>
        <p:spPr>
          <a:xfrm>
            <a:off x="1838325" y="5727700"/>
            <a:ext cx="851535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GR00T N1 (Fig. 2): VLM(system 2)이 영상과 언어 지시의 토큰을 처리한다. 그 출력과 로봇 상태가 diffusion transformer(system 1)로 들어가 잡음에서 행동 묶음을 깎아 낸다. 오른쪽은 Fourier GR-1 휴머노이드다. 출처: arXiv:2503.14734</a:t>
            </a:r>
          </a:p>
        </p:txBody>
      </p:sp>
    </p:spTree>
  </p:cSld>
  <p:clrMapOvr>
    <a:masterClrMapping/>
  </p:clrMapOvr>
</p:sld>
</file>

<file path=ppt/slides/slide27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5/12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279 / 516</a:t>
            </a:r>
          </a:p>
        </p:txBody>
      </p:sp>
      <p:sp>
        <p:nvSpPr>
          <p:cNvPr id="5" name="TextBox 4"/>
          <p:cNvSpPr txBox="1"/>
          <p:nvPr/>
        </p:nvSpPr>
        <p:spPr>
          <a:xfrm>
            <a:off x="609600" y="1244600"/>
            <a:ext cx="10972800" cy="151546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VIRAL — RGB 카메라만 보는 휴머노이드 이동·조작 정책을 시뮬레이션에서만 학습해, 실물 G1이 연속 59회 시도 중 54회를 해냈다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arXiv:2511.15200</a:t>
            </a:r>
            <a:r>
              <a:rPr sz="1050" b="0" i="0">
                <a:solidFill>
                  <a:srgbClr val="16213A"/>
                </a:solidFill>
                <a:latin typeface="Arial"/>
                <a:ea typeface="Malgun Gothic"/>
                <a:cs typeface="Malgun Gothic"/>
              </a:rPr>
              <a:t>, He·Wang·Xue·Ben 외, CVPR 2026, NVIDIA·CMU·UC Berkeley·CUHK, </a:t>
            </a:r>
            <a:r>
              <a:rPr sz="1050" b="0" i="0">
                <a:solidFill>
                  <a:srgbClr val="1D4ED8"/>
                </a:solidFill>
                <a:latin typeface="Arial"/>
                <a:ea typeface="Malgun Gothic"/>
                <a:cs typeface="Malgun Gothic"/>
                <a:hlinkClick r:id="rId4"/>
              </a:rPr>
              <a:t>프로젝트</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5"/>
              </a:rPr>
              <a:t>코드</a:t>
            </a:r>
            <a:r>
              <a:rPr sz="1050" b="0" i="0">
                <a:solidFill>
                  <a:srgbClr val="16213A"/>
                </a:solidFill>
                <a:latin typeface="Arial"/>
                <a:ea typeface="Malgun Gothic"/>
                <a:cs typeface="Malgun Gothic"/>
              </a:rPr>
              <a:t> Apache-2.0). 과제는 두 탁자 사이를 걸어 물건을 내려놓고 새 물건을 집어 돌아서는 일의 반복이다. 교사는 물체와 탁자의 참 위치를 보는 RL 정책이고, 다리를 직접 움직이지 않는다. 교사는 하체 WBC(HOMIE, </a:t>
            </a:r>
            <a:r>
              <a:rPr sz="1050" b="0" i="0">
                <a:solidFill>
                  <a:srgbClr val="1D4ED8"/>
                </a:solidFill>
                <a:latin typeface="Arial"/>
                <a:ea typeface="Malgun Gothic"/>
                <a:cs typeface="Malgun Gothic"/>
                <a:hlinkClick r:id="rId6"/>
              </a:rPr>
              <a:t>arXiv:2502.13013</a:t>
            </a:r>
            <a:r>
              <a:rPr sz="1050" b="0" i="0">
                <a:solidFill>
                  <a:srgbClr val="16213A"/>
                </a:solidFill>
                <a:latin typeface="Arial"/>
                <a:ea typeface="Malgun Gothic"/>
                <a:cs typeface="Malgun Gothic"/>
              </a:rPr>
              <a:t>, Shanghai AI Lab·CUHK)에 줄 속도 명령과 팔·손가락 목표를 직전 값에 더할 변화량으로 낸다. 절대 목표를 내는 교사는 높은 성공률에 닿지 못했다. 사람이 시뮬레이션에서 원격조종한 시연 200개의 중간 상태에서 에피소드를 시작하게 하자(reference state initialization), 교사 성공률이 10% 아래에서 약 95%로 올랐다. 학생은 RGB 영상(DINOv3 특징)과 실물 고유감각만 본다. 교사 rollout의 행동 복제와 학생 rollout의 DAgger를 반씩 섞어 증류했고, 교사 rollout만 쓰면 손실은 빨리 줄지만 실수를 고치지 못했다. 시각 무작위화를 다 끄면 시뮬레이션 성공률이 0.649배로 떨어졌다. 교사는 L40S 16장, 학생은 64장으로 학습했다. 실물에서는 59번 연속 시도 중 54번 성공했다. 1,000시간 넘게 원격조종한 전문가는 100% 성공에 한 바퀴 21.4 s였고, VIRAL은 20.2 s였다(추론은 로봇 밖 RTX 4090 데스크톱).</a:t>
            </a:r>
          </a:p>
        </p:txBody>
      </p:sp>
      <p:sp>
        <p:nvSpPr>
          <p:cNvPr id="6" name="TextBox 5"/>
          <p:cNvSpPr txBox="1"/>
          <p:nvPr/>
        </p:nvSpPr>
        <p:spPr>
          <a:xfrm>
            <a:off x="609600" y="2848967"/>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하위 제어기 명령을 API로 쓰고 변화량을 내는 설계는 Planner D와 같은 방향이다. Planner D도 제어 변화율 열을 내고 적분한다(B.8.3). VIRAL의 절대 목표 대 변화량 비교는 이 선택에 대한 외부 근거다. 저자들은 한계 절에서 sim-to-real이 보행, 기하 인식, 강체 조작처럼 떨어진 능력에서는 이미 성공했다고 적는다. 막히는 곳으로는 범용 이동·조작으로 넓힐 때의 범위 격차 넷을 꼽는다. 물리 다양성, 과제의 긴 꼬리, 보상 설계, 하드웨어와 시뮬레이션의 차이다. 보도 주행은 이미 성공한 쪽인 강건한 보행에 가깝다.</a:t>
            </a:r>
          </a:p>
        </p:txBody>
      </p:sp>
    </p:spTree>
  </p:cSld>
  <p:clrMapOvr>
    <a:masterClrMapping/>
  </p:clrMapOvr>
</p:sld>
</file>

<file path=ppt/slides/slide28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6/12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280 / 516</a:t>
            </a:r>
          </a:p>
        </p:txBody>
      </p:sp>
      <p:pic>
        <p:nvPicPr>
          <p:cNvPr id="5" name="Picture 4" descr="image.jpg"/>
          <p:cNvPicPr>
            <a:picLocks noChangeAspect="1"/>
          </p:cNvPicPr>
          <p:nvPr/>
        </p:nvPicPr>
        <p:blipFill>
          <a:blip r:embed="rId3"/>
          <a:stretch>
            <a:fillRect/>
          </a:stretch>
        </p:blipFill>
        <p:spPr>
          <a:xfrm>
            <a:off x="1435100" y="1244600"/>
            <a:ext cx="9321800" cy="4445000"/>
          </a:xfrm>
          <a:prstGeom prst="rect">
            <a:avLst/>
          </a:prstGeom>
        </p:spPr>
      </p:pic>
      <p:sp>
        <p:nvSpPr>
          <p:cNvPr id="6" name="TextBox 5"/>
          <p:cNvSpPr txBox="1"/>
          <p:nvPr/>
        </p:nvSpPr>
        <p:spPr>
          <a:xfrm>
            <a:off x="1435100" y="5727700"/>
            <a:ext cx="93218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VIRAL (Fig. 1): 가운데는 실물 Unitree G1이 RGB 정책만으로 두 탁자 사이를 오가며 물건을 놓고 집는 장면이다. 원문은 이 반복을 54바퀴로 적는다. 작은 창은 정책이 보는 RGB 입력이다. 아래 줄은 탁자보 색·탁자 종류·조명·물체를 바꾼 조건이고, 둘레는 학습에 쓴 무작위화된 시뮬레이션 장면이다. 출처: arXiv:2511.15200</a:t>
            </a:r>
          </a:p>
        </p:txBody>
      </p:sp>
    </p:spTree>
  </p:cSld>
  <p:clrMapOvr>
    <a:masterClrMapping/>
  </p:clrMapOvr>
</p:sld>
</file>

<file path=ppt/slides/slide28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7/12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281 / 516</a:t>
            </a:r>
          </a:p>
        </p:txBody>
      </p:sp>
      <p:sp>
        <p:nvSpPr>
          <p:cNvPr id="5" name="TextBox 4"/>
          <p:cNvSpPr txBox="1"/>
          <p:nvPr/>
        </p:nvSpPr>
        <p:spPr>
          <a:xfrm>
            <a:off x="609600" y="1244600"/>
            <a:ext cx="10972800" cy="151546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DoorMan — RGB만 보는 휴머노이드가 문을 열고 지나간다. 증류한 학생을 에피소드 성공 신호의 GRPO로 다시 다듬었다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arXiv:2512.01061</a:t>
            </a:r>
            <a:r>
              <a:rPr sz="1050" b="0" i="0">
                <a:solidFill>
                  <a:srgbClr val="16213A"/>
                </a:solidFill>
                <a:latin typeface="Arial"/>
                <a:ea typeface="Malgun Gothic"/>
                <a:cs typeface="Malgun Gothic"/>
              </a:rPr>
              <a:t>, Xue·He·Wang·Ben 외, CVPR 2026, NVIDIA·UC Berkeley·CMU·CUHK, </a:t>
            </a:r>
            <a:r>
              <a:rPr sz="1050" b="0" i="0">
                <a:solidFill>
                  <a:srgbClr val="1D4ED8"/>
                </a:solidFill>
                <a:latin typeface="Arial"/>
                <a:ea typeface="Malgun Gothic"/>
                <a:cs typeface="Malgun Gothic"/>
                <a:hlinkClick r:id="rId4"/>
              </a:rPr>
              <a:t>프로젝트</a:t>
            </a:r>
            <a:r>
              <a:rPr sz="1050" b="0" i="0">
                <a:solidFill>
                  <a:srgbClr val="16213A"/>
                </a:solidFill>
                <a:latin typeface="Arial"/>
                <a:ea typeface="Malgun Gothic"/>
                <a:cs typeface="Malgun Gothic"/>
              </a:rPr>
              <a:t>, 코드는 VIRAL과 같은 </a:t>
            </a:r>
            <a:r>
              <a:rPr sz="1050" b="0" i="0">
                <a:solidFill>
                  <a:srgbClr val="1D4ED8"/>
                </a:solidFill>
                <a:latin typeface="Arial"/>
                <a:ea typeface="Malgun Gothic"/>
                <a:cs typeface="Malgun Gothic"/>
                <a:hlinkClick r:id="rId5"/>
              </a:rPr>
              <a:t>GR00T-VisualSim2Real</a:t>
            </a:r>
            <a:r>
              <a:rPr sz="1050" b="0" i="0">
                <a:solidFill>
                  <a:srgbClr val="16213A"/>
                </a:solidFill>
                <a:latin typeface="Arial"/>
                <a:ea typeface="Malgun Gothic"/>
                <a:cs typeface="Malgun Gothic"/>
              </a:rPr>
              <a:t>). VIRAL과 같은 팀의 같은 틀에 세 번째 단계를 더했다. 1단계 교사는 문과 손잡이의 참 자세와 손의 접촉력을 보며 PPO로 학습하고, 구현은 ETH RSL의 rsl_rl이다. 다가가기, 열기, 지나가기로 나눈 단계 보상을 썼더니, 손잡이를 잡는 단계의 충돌 벌점 때문에 정책이 그 단계에 들어서기를 피했다. 그래서 단계에 들어설 때마다 시뮬레이터 상태를 버퍼(최근 100개)에 저장하고, 리셋 때 그 상태에서 다시 시작하게 했다. 버퍼가 100이면 약 1,700번 반복에 모든 단계에 닿았고, 10이면 4,000번 넘게 걸렸으며, 없으면 2단계에 들지 못했다. 2단계에서 RGB 학생(ResNet과 LSTM)을 DAgger로 증류하자, 교사가 80–90%일 때 학생은 50–70%에 머물렀다. 3단계에서 학생을 GRPO(group relative policy optimization)로 미세 조정했고, 보상은 에피소드 성공 여부와 작은 규제 항뿐이다. 학생은 80.8–85.8%로 올랐고, 손잡이를 시야 가운데 두도록 몸을 맞추는 행동을 스스로 배웠다. 실물 G1의 성공률 83%는 전문 원격조종자(80%)와 비슷했고 비전문가(60%)보다 높았다. 원문 3.1절은 전문가와의 관계를 'on par'로 적는다.</a:t>
            </a:r>
          </a:p>
        </p:txBody>
      </p:sp>
      <p:sp>
        <p:nvSpPr>
          <p:cNvPr id="6" name="TextBox 5"/>
          <p:cNvSpPr txBox="1"/>
          <p:nvPr/>
        </p:nvSpPr>
        <p:spPr>
          <a:xfrm>
            <a:off x="609600" y="2848967"/>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학생이 교사보다 덜 보는 문제는 travplan에도 있다. Planner D는 belief 지도를 보고, RL 후학습의 채점은 GT 지도로 한다(TP-0066). TP-0066도 그룹 상대 이점을 쓰지만, 보상은 한 계획 시점에서 뽑은 후보(4 s 개루프 rollout)를 그 자리에서 채점한 값이다. TP-0138은 이 보상이 경사로를 지나친 뒤 몇 초 걸리는 재탐색을 보상하지 못한다고 해석했다(B.15.5). DoorMan은 에피소드 전체의 성공 여부로 GRPO를 돌려 관측 공백을 메웠다. 같은 지형과 시작 상태에서 Planner D 표본을 여러 번 끝까지 굴리고, 치명 없는 도달 여부로 이점을 매기는 것이 travplan에서 아직 시도하지 않은 변형이다. 판정은 잡음 바닥 절차의 짝 비교로 한다.</a:t>
            </a:r>
          </a:p>
        </p:txBody>
      </p:sp>
    </p:spTree>
  </p:cSld>
  <p:clrMapOvr>
    <a:masterClrMapping/>
  </p:clrMapOvr>
</p:sld>
</file>

<file path=ppt/slides/slide28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8/12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282 / 516</a:t>
            </a:r>
          </a:p>
        </p:txBody>
      </p:sp>
      <p:pic>
        <p:nvPicPr>
          <p:cNvPr id="5" name="Picture 4" descr="image.jpg"/>
          <p:cNvPicPr>
            <a:picLocks noChangeAspect="1"/>
          </p:cNvPicPr>
          <p:nvPr/>
        </p:nvPicPr>
        <p:blipFill>
          <a:blip r:embed="rId3"/>
          <a:stretch>
            <a:fillRect/>
          </a:stretch>
        </p:blipFill>
        <p:spPr>
          <a:xfrm>
            <a:off x="3054350" y="1244600"/>
            <a:ext cx="6083300" cy="4445000"/>
          </a:xfrm>
          <a:prstGeom prst="rect">
            <a:avLst/>
          </a:prstGeom>
        </p:spPr>
      </p:pic>
      <p:sp>
        <p:nvSpPr>
          <p:cNvPr id="6" name="TextBox 5"/>
          <p:cNvSpPr txBox="1"/>
          <p:nvPr/>
        </p:nvSpPr>
        <p:spPr>
          <a:xfrm>
            <a:off x="3054350" y="5727700"/>
            <a:ext cx="60833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DoorMan (Fig. 1): 실물 G1의 일반화 시험이다. 위는 모양과 색이 다른 손잡이 셋을 잡는 손의 장면, 가운데는 벽 패널 색을 바꾼 장면, 아래는 문을 밀고 당겨 열고 지나가는 연속 장면이다. 출처: arXiv:2512.01061</a:t>
            </a:r>
          </a:p>
        </p:txBody>
      </p:sp>
    </p:spTree>
  </p:cSld>
  <p:clrMapOvr>
    <a:masterClrMapping/>
  </p:clrMapOvr>
</p:sld>
</file>

<file path=ppt/slides/slide28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9/12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283 / 516</a:t>
            </a:r>
          </a:p>
        </p:txBody>
      </p:sp>
      <p:sp>
        <p:nvSpPr>
          <p:cNvPr id="5" name="TextBox 4"/>
          <p:cNvSpPr txBox="1"/>
          <p:nvPr/>
        </p:nvSpPr>
        <p:spPr>
          <a:xfrm>
            <a:off x="609600" y="1244600"/>
            <a:ext cx="10972800" cy="151546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GRAIL — 3D 에셋과 영상 생성 모델로 휴머노이드 이동·조작 데이터를 만들고, 높이 지도를 더한 SONIC으로 계단을 오른다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arXiv:2606.05160</a:t>
            </a:r>
            <a:r>
              <a:rPr sz="1050" b="0" i="0">
                <a:solidFill>
                  <a:srgbClr val="16213A"/>
                </a:solidFill>
                <a:latin typeface="Arial"/>
                <a:ea typeface="Malgun Gothic"/>
                <a:cs typeface="Malgun Gothic"/>
              </a:rPr>
              <a:t>, Xie·Zhang·Park 외, 2026-06, NVIDIA DAIR·GEAR, CoRL 2026 구두 발표(저장소 표기), </a:t>
            </a:r>
            <a:r>
              <a:rPr sz="1050" b="0" i="0">
                <a:solidFill>
                  <a:srgbClr val="1D4ED8"/>
                </a:solidFill>
                <a:latin typeface="Arial"/>
                <a:ea typeface="Malgun Gothic"/>
                <a:cs typeface="Malgun Gothic"/>
                <a:hlinkClick r:id="rId4"/>
              </a:rPr>
              <a:t>프로젝트</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5"/>
              </a:rPr>
              <a:t>코드</a:t>
            </a:r>
            <a:r>
              <a:rPr sz="1050" b="0" i="0">
                <a:solidFill>
                  <a:srgbClr val="16213A"/>
                </a:solidFill>
                <a:latin typeface="Arial"/>
                <a:ea typeface="Malgun Gothic"/>
                <a:cs typeface="Malgun Gothic"/>
              </a:rPr>
              <a:t> NVIDIA License(비상업)). 원격조종이나 모션 캡처 없이 데이터를 만든다. 물체 형상·카메라·축척·깊이를 아는 3D 장면을 먼저 짜고, 영상 생성 모델이 그 장면에서 로봇 체형의 사람이 움직이는 영상을 만든다. 장면을 알고 있으므로 영상에서 4D 사람·물체 궤적을 미터 단위로 되살리기 쉽다. 되살린 동작을 G1에 리타기팅해 2만 개가 넘는 시퀀스를 만들었다(집기·조작·앉기·지형 통과). 이 데이터로 SONIC 위에 두 추종기를 학습한다. 조작 쪽은 SONIC을 얼린 채 잠재 토큰에 잔차를 더하는 어댑터를 배운다. 지형 쪽은 로봇 주변 11 × 11 높이 지도(한 변 1.5 m, 0.15 m 간격, 아래로 쏜 광선)를 CNN(convolutional neural network)으로 읽어 SONIC 자체를 미세 조정한다. 연석 넘기, 경사, 계단, 의자에 앉기가 대상이다. 둘 다 Isaac Lab에서 L40 64장으로 3만 번 반복 학습했다(한 번에 약 30시간). 실물에는 머리 RGB 카메라만 보는 시각 정책으로 증류해 올렸다. 계단 오르기는 90%, 물체 집기는 84%였다(물체마다 10회, 처음 보는 물체 80%). 계단의 시행 횟수는 밝히지 않았다. 추론은 로봇 밖 RTX 5090 데스크톱에서 10 Hz로 했다.</a:t>
            </a:r>
          </a:p>
        </p:txBody>
      </p:sp>
      <p:sp>
        <p:nvSpPr>
          <p:cNvPr id="6" name="TextBox 5"/>
          <p:cNvSpPr txBox="1"/>
          <p:nvPr/>
        </p:nvSpPr>
        <p:spPr>
          <a:xfrm>
            <a:off x="609600" y="2848967"/>
            <a:ext cx="10972800" cy="108247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평지에서 잘 걷는 추종기에 연석과 계단을 가르친 방법은 작은 높이 지도를 추종기 입력에 더해 미세 조정하는 것이었다. travplan에서 같은 자리는 학습 Controller다. Playground의 TinyPolicy(TP-0128)는 이미 앞쪽 7 × 5 격자(앞 0–2.4 m, 옆 ±0.6 m)의 belief cost를 본다. 이 입력의 몫은 쟀다. 같은 정책에서 지형 입력 36개를 0으로 두고 경로 대신 목표 직선만 주면 스워브는 8/12에서 0/12가 됐다(브라우저, TP-0129). 파이썬에서 지도 없이 따로 학습한 정책은 3/12였다(지도 봄 10/12, E.12). 다른 점은 입력의 종류와 간격이다. GRAIL은 원시 높이를 0.15 m 간격으로 보고, TinyPolicy는 가공한 cost를 앞 0.4 m, 옆 0.3 m 간격으로 본다. 0.08 m 턱이 치명인 바퀴 로봇에서 점 사이로 좁은 치명 띠가 빠지지 않는지는, TinyPolicy의 입력을 넓힐 때 함께 잰다.</a:t>
            </a:r>
          </a:p>
        </p:txBody>
      </p:sp>
    </p:spTree>
  </p:cSld>
  <p:clrMapOvr>
    <a:masterClrMapping/>
  </p:clrMapOvr>
</p:sld>
</file>

<file path=ppt/slides/slide28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10/12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284 / 516</a:t>
            </a:r>
          </a:p>
        </p:txBody>
      </p:sp>
      <p:pic>
        <p:nvPicPr>
          <p:cNvPr id="5" name="Picture 4" descr="image.jpg"/>
          <p:cNvPicPr>
            <a:picLocks noChangeAspect="1"/>
          </p:cNvPicPr>
          <p:nvPr/>
        </p:nvPicPr>
        <p:blipFill>
          <a:blip r:embed="rId3"/>
          <a:stretch>
            <a:fillRect/>
          </a:stretch>
        </p:blipFill>
        <p:spPr>
          <a:xfrm>
            <a:off x="2041525" y="1244600"/>
            <a:ext cx="8108950" cy="4445000"/>
          </a:xfrm>
          <a:prstGeom prst="rect">
            <a:avLst/>
          </a:prstGeom>
        </p:spPr>
      </p:pic>
      <p:sp>
        <p:nvSpPr>
          <p:cNvPr id="6" name="TextBox 5"/>
          <p:cNvSpPr txBox="1"/>
          <p:nvPr/>
        </p:nvSpPr>
        <p:spPr>
          <a:xfrm>
            <a:off x="2041525" y="5727700"/>
            <a:ext cx="810895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GRAIL (Fig. 5): GRAIL이 만든 데이터만으로 학습한 1인칭 RGB 정책이 실물 G1에서 계단을 오르고(위), 탁자로 걸어가 물체를 집는다(가운데와 아래). 작은 창은 머리 카메라 영상과 손 확대다. 계단 장면의 로봇은 안전 줄을 달았다. 출처: arXiv:2606.05160</a:t>
            </a:r>
          </a:p>
        </p:txBody>
      </p:sp>
    </p:spTree>
  </p:cSld>
  <p:clrMapOvr>
    <a:masterClrMapping/>
  </p:clrMapOvr>
</p:sld>
</file>

<file path=ppt/slides/slide28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11/12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285 / 516</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그 밖의 NVIDIA 연구(한 줄씩).</a:t>
            </a:r>
          </a:p>
        </p:txBody>
      </p:sp>
      <p:sp>
        <p:nvSpPr>
          <p:cNvPr id="6" name="TextBox 5"/>
          <p:cNvSpPr txBox="1"/>
          <p:nvPr/>
        </p:nvSpPr>
        <p:spPr>
          <a:xfrm>
            <a:off x="609600" y="1549995"/>
            <a:ext cx="10972800" cy="2266553"/>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CHIP(</a:t>
            </a:r>
            <a:r>
              <a:rPr sz="1050" b="0" i="0">
                <a:solidFill>
                  <a:srgbClr val="1D4ED8"/>
                </a:solidFill>
                <a:latin typeface="Arial"/>
                <a:ea typeface="Malgun Gothic"/>
                <a:cs typeface="Malgun Gothic"/>
                <a:hlinkClick r:id="rId3"/>
              </a:rPr>
              <a:t>arXiv:2512.14689</a:t>
            </a:r>
            <a:r>
              <a:rPr sz="1050" b="0" i="0">
                <a:solidFill>
                  <a:srgbClr val="16213A"/>
                </a:solidFill>
                <a:latin typeface="Arial"/>
                <a:ea typeface="Malgun Gothic"/>
                <a:cs typeface="Malgun Gothic"/>
              </a:rPr>
              <a:t>, 2025-12)은 범용 추종기에 끝단 강성을 명령으로 조절하는 모듈을 더했다. 하체 기준 자세는 SONIC의 운동학 Planner로 만들고, 상자 운반·닦기·문 열기 같은 힘 쓰는 조작이 대상이다(G1).</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MotionBricks(</a:t>
            </a:r>
            <a:r>
              <a:rPr sz="1050" b="0" i="0">
                <a:solidFill>
                  <a:srgbClr val="1D4ED8"/>
                </a:solidFill>
                <a:latin typeface="Arial"/>
                <a:ea typeface="Malgun Gothic"/>
                <a:cs typeface="Malgun Gothic"/>
                <a:hlinkClick r:id="rId4"/>
              </a:rPr>
              <a:t>arXiv:2604.24833</a:t>
            </a:r>
            <a:r>
              <a:rPr sz="1050" b="0" i="0">
                <a:solidFill>
                  <a:srgbClr val="16213A"/>
                </a:solidFill>
                <a:latin typeface="Arial"/>
                <a:ea typeface="Malgun Gothic"/>
                <a:cs typeface="Malgun Gothic"/>
              </a:rPr>
              <a:t>, SIGGRAPH 2026)는 동작 클립 35만 개 이상을 한 모델로 다루는 실시간 운동학 동작 생성기다(초당 15,000 프레임, 지연 2 ms). G1에 올렸고, 코드는 GR00T-WholeBodyControl 저장소에 있다.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HumanoidMimicGen(</a:t>
            </a:r>
            <a:r>
              <a:rPr sz="1050" b="0" i="0">
                <a:solidFill>
                  <a:srgbClr val="1D4ED8"/>
                </a:solidFill>
                <a:latin typeface="Arial"/>
                <a:ea typeface="Malgun Gothic"/>
                <a:cs typeface="Malgun Gothic"/>
                <a:hlinkClick r:id="rId5"/>
              </a:rPr>
              <a:t>arXiv:2605.27724</a:t>
            </a:r>
            <a:r>
              <a:rPr sz="1050" b="0" i="0">
                <a:solidFill>
                  <a:srgbClr val="16213A"/>
                </a:solidFill>
                <a:latin typeface="Arial"/>
                <a:ea typeface="Malgun Gothic"/>
                <a:cs typeface="Malgun Gothic"/>
              </a:rPr>
              <a:t>, 2026-05)은 몇 개의 시연을 전신 이동·조작 계획으로 새 배치에 맞춰 늘린다. G1 시뮬레이션 벤치마크 9과제를 함께 냈고, 생성 데이터로 공동 학습한 시각 정책이 실물 데이터만 쓴 정책보다 20% 높았다.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PDC(</a:t>
            </a:r>
            <a:r>
              <a:rPr sz="1050" b="0" i="0">
                <a:solidFill>
                  <a:srgbClr val="1D4ED8"/>
                </a:solidFill>
                <a:latin typeface="Arial"/>
                <a:ea typeface="Malgun Gothic"/>
                <a:cs typeface="Malgun Gothic"/>
                <a:hlinkClick r:id="rId6"/>
              </a:rPr>
              <a:t>arXiv:2505.12278</a:t>
            </a:r>
            <a:r>
              <a:rPr sz="1050" b="0" i="0">
                <a:solidFill>
                  <a:srgbClr val="16213A"/>
                </a:solidFill>
                <a:latin typeface="Arial"/>
                <a:ea typeface="Malgun Gothic"/>
                <a:cs typeface="Malgun Gothic"/>
              </a:rPr>
              <a:t>, 2025-05, 공동 1저자 Luo·Tessler)는 1인칭 영상만 보고 물체를 찾고 집고 놓는 시뮬레이션 휴머노이드다. CVPR 2025 Humanoid Agents 워크숍 최우수 논문이고, 실물 실험은 없다.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NeRD(</a:t>
            </a:r>
            <a:r>
              <a:rPr sz="1050" b="0" i="0">
                <a:solidFill>
                  <a:srgbClr val="1D4ED8"/>
                </a:solidFill>
                <a:latin typeface="Arial"/>
                <a:ea typeface="Malgun Gothic"/>
                <a:cs typeface="Malgun Gothic"/>
                <a:hlinkClick r:id="rId7"/>
              </a:rPr>
              <a:t>arXiv:2508.15755</a:t>
            </a:r>
            <a:r>
              <a:rPr sz="1050" b="0" i="0">
                <a:solidFill>
                  <a:srgbClr val="16213A"/>
                </a:solidFill>
                <a:latin typeface="Arial"/>
                <a:ea typeface="Malgun Gothic"/>
                <a:cs typeface="Malgun Gothic"/>
              </a:rPr>
              <a:t>, CoRL 2025)는 시뮬레이터의 동역학·접촉 풀이를 로봇별 학습 모델로 바꾼 신경 시뮬레이터다. ANYmal을 포함한 여섯 시스템으로 시험했고, 천 스텝 넘게 안정하며 실물 데이터로 미세 조정할 수 있다고 보고한다. 학습 forward 모델로 MPPI를 굴리는 travplan 계획(TP-0126)과 같은 방향이다.</a:t>
            </a:r>
          </a:p>
        </p:txBody>
      </p:sp>
      <p:sp>
        <p:nvSpPr>
          <p:cNvPr id="7" name="TextBox 6"/>
          <p:cNvSpPr txBox="1"/>
          <p:nvPr/>
        </p:nvSpPr>
        <p:spPr>
          <a:xfrm>
            <a:off x="609600" y="3905448"/>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사람.</a:t>
            </a:r>
            <a:r>
              <a:rPr sz="1050" b="0" i="0">
                <a:solidFill>
                  <a:srgbClr val="16213A"/>
                </a:solidFill>
                <a:latin typeface="Arial"/>
                <a:ea typeface="Malgun Gothic"/>
                <a:cs typeface="Malgun Gothic"/>
              </a:rPr>
              <a:t> 소속은 2026-10-07에 본인 홈페이지와 NVIDIA Research 페이지에서 확인했다.</a:t>
            </a:r>
          </a:p>
        </p:txBody>
      </p:sp>
      <p:graphicFrame>
        <p:nvGraphicFramePr>
          <p:cNvPr id="8" name="Table 7"/>
          <p:cNvGraphicFramePr>
            <a:graphicFrameLocks noGrp="1"/>
          </p:cNvGraphicFramePr>
          <p:nvPr/>
        </p:nvGraphicFramePr>
        <p:xfrm>
          <a:off x="609600" y="4210844"/>
          <a:ext cx="10966450" cy="1303416"/>
        </p:xfrm>
        <a:graphic>
          <a:graphicData uri="http://schemas.openxmlformats.org/drawingml/2006/table">
            <a:tbl>
              <a:tblPr firstRow="1" bandRow="1">
                <a:tableStyleId>{5C22544A-7EE6-4342-B048-85BDC9FD1C3A}</a:tableStyleId>
              </a:tblPr>
              <a:tblGrid>
                <a:gridCol w="1298575"/>
                <a:gridCol w="4370685"/>
                <a:gridCol w="5297190"/>
              </a:tblGrid>
              <a:tr h="197088">
                <a:tc>
                  <a:txBody>
                    <a:bodyPr wrap="square"/>
                    <a:lstStyle/>
                    <a:p>
                      <a:r>
                        <a:rPr sz="800" b="1" i="0">
                          <a:solidFill>
                            <a:srgbClr val="F4F1EA"/>
                          </a:solidFill>
                          <a:latin typeface="Arial"/>
                          <a:ea typeface="Malgun Gothic"/>
                          <a:cs typeface="Malgun Gothic"/>
                        </a:rPr>
                        <a:t>사람</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이 소절에서 남긴 것</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지금 소속</a:t>
                      </a:r>
                    </a:p>
                  </a:txBody>
                  <a:tcPr marL="63500" marR="63500" marT="12700" marB="12700">
                    <a:solidFill>
                      <a:srgbClr val="16213A"/>
                    </a:solidFill>
                  </a:tcPr>
                </a:tc>
              </a:tr>
              <a:tr h="317976">
                <a:tc>
                  <a:txBody>
                    <a:bodyPr wrap="square"/>
                    <a:lstStyle/>
                    <a:p>
                      <a:r>
                        <a:rPr sz="800" b="0" i="0">
                          <a:solidFill>
                            <a:srgbClr val="16213A"/>
                          </a:solidFill>
                          <a:latin typeface="Arial"/>
                          <a:ea typeface="Malgun Gothic"/>
                          <a:cs typeface="Malgun Gothic"/>
                        </a:rPr>
                        <a:t>Yuke Zhu, Linxi "Jim" Fan</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GEAR 공동 리드. Eureka·DrEureka·HOVER·SONIC·VIRAL·DoorMan 공저, GR00T N1 연구 리드</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Zhu는 UT Austin 부교수이자 NVIDIA Research Director·Distinguished Research Scientist. Fan의 지금 직함은 확인하지 못했다</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Viktor Makoviychuk</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Liang 2018과 Isaac Gym 공저(Isaac Gym 1저자)</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확인하지 못했다</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Mayank Mittal</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Orbit과 Isaac Lab 보고서 1저자</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ETH Zürich 박사 과정(Hutter 지도)이면서 NVIDIA Senior Research Scientist</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Xue Bin (Jason) Peng</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ASE·CALM·MaskedMimic·PARC·Trace and Pace 공저</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Simon Fraser University(SFU) 조교수이자 NVIDIA 연구원. 2027년 UBC로 옮긴다고 본인 홈페이지에 적었다</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Chen Tessler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CALM·MaskedMimic·MaskedManipulator 1저자, PDC 공동 1저자</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NVIDIA 텔아비브 연구소 연구원</a:t>
                      </a:r>
                    </a:p>
                  </a:txBody>
                  <a:tcPr marL="63500" marR="63500" marT="12700" marB="12700">
                    <a:solidFill>
                      <a:srgbClr val="FFFDF8"/>
                    </a:solidFill>
                  </a:tcPr>
                </a:tc>
              </a:tr>
            </a:tbl>
          </a:graphicData>
        </a:graphic>
      </p:graphicFrame>
    </p:spTree>
  </p:cSld>
  <p:clrMapOvr>
    <a:masterClrMapping/>
  </p:clrMapOvr>
</p:sld>
</file>

<file path=ppt/slides/slide28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12/12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286 / 516</a:t>
            </a:r>
          </a:p>
        </p:txBody>
      </p:sp>
      <p:graphicFrame>
        <p:nvGraphicFramePr>
          <p:cNvPr id="5" name="Table 4"/>
          <p:cNvGraphicFramePr>
            <a:graphicFrameLocks noGrp="1"/>
          </p:cNvGraphicFramePr>
          <p:nvPr/>
        </p:nvGraphicFramePr>
        <p:xfrm>
          <a:off x="609600" y="1244600"/>
          <a:ext cx="10966450" cy="1500504"/>
        </p:xfrm>
        <a:graphic>
          <a:graphicData uri="http://schemas.openxmlformats.org/drawingml/2006/table">
            <a:tbl>
              <a:tblPr firstRow="1" bandRow="1">
                <a:tableStyleId>{5C22544A-7EE6-4342-B048-85BDC9FD1C3A}</a:tableStyleId>
              </a:tblPr>
              <a:tblGrid>
                <a:gridCol w="1298575"/>
                <a:gridCol w="4370685"/>
                <a:gridCol w="5297190"/>
              </a:tblGrid>
              <a:tr h="197088">
                <a:tc>
                  <a:txBody>
                    <a:bodyPr wrap="square"/>
                    <a:lstStyle/>
                    <a:p>
                      <a:r>
                        <a:rPr sz="800" b="1" i="0">
                          <a:solidFill>
                            <a:srgbClr val="F4F1EA"/>
                          </a:solidFill>
                          <a:latin typeface="Arial"/>
                          <a:ea typeface="Malgun Gothic"/>
                          <a:cs typeface="Malgun Gothic"/>
                        </a:rPr>
                        <a:t>사람</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이 소절에서 남긴 것</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지금 소속</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Zhengyi Luo</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PHC 1저자(CMU 박사 과정), SONIC 공동 1저자</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NVIDIA GEAR Senior Research Scientist</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Umar Iqbal</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SONIC·GRAIL 공저</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DAIR 팀 리드</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Tairan He</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HOVER·ASAP·VIRAL 1저자. CMU 박사 과정 중 GEAR에서 2년 인턴</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2026-05부터 OpenAI Member of Technical Staff</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Haoru Xue</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DoorMan 1저자, 2025년 GEAR 인턴</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UC Berkeley 박사 과정, Amazon Frontier AI &amp; Robotics 인턴</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Yecheng Jason Ma</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Eureka·DrEureka 1저자, Eurekaverse 공저</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Dyna 공동 창업자이자 연구 리드(홈페이지는 2026년부터 갱신하지 않는다고 표기)</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Nikita Rudin, David Hoeller</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Isaac Gym 공저, legged_gym·Neural Scene Representation·ANYmal Parkour(ETH·NVIDIA 이중 소속)</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취리히에서 Flexion 공동 창업(Rudin CEO, Hoeller CTO, B.16.3). Flexion의 Series A에는 NVIDIA의 투자 조직 NVentures가 참여했다(B.16.3)</a:t>
                      </a:r>
                    </a:p>
                  </a:txBody>
                  <a:tcPr marL="63500" marR="63500" marT="12700" marB="12700">
                    <a:solidFill>
                      <a:srgbClr val="F3F0E8"/>
                    </a:solidFill>
                  </a:tcPr>
                </a:tc>
              </a:tr>
            </a:tbl>
          </a:graphicData>
        </a:graphic>
      </p:graphicFrame>
      <p:sp>
        <p:nvSpPr>
          <p:cNvPr id="6" name="TextBox 5"/>
          <p:cNvSpPr txBox="1"/>
          <p:nvPr/>
        </p:nvSpPr>
        <p:spPr>
          <a:xfrm>
            <a:off x="717550" y="3215481"/>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B.16.2 Google DeepMind: 실물에서 배우기, 동물 모방, 축구, MuJoCo</a:t>
            </a:r>
          </a:p>
        </p:txBody>
      </p:sp>
      <p:sp>
        <p:nvSpPr>
          <p:cNvPr id="7" name="TextBox 6"/>
          <p:cNvSpPr txBox="1"/>
          <p:nvPr/>
        </p:nvSpPr>
        <p:spPr>
          <a:xfrm>
            <a:off x="609600" y="3518694"/>
            <a:ext cx="10972800" cy="108247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Google의 다리 로봇 연구는 시뮬레이터를 실물에 맞추는 일에서 출발해, 지금은 기반 모델 하나가 휴머노이드의 몸 전체를 움직이는 데까지 왔다.</a:t>
            </a:r>
            <a:r>
              <a:rPr sz="1050" b="0" i="0">
                <a:solidFill>
                  <a:srgbClr val="16213A"/>
                </a:solidFill>
                <a:latin typeface="Arial"/>
                <a:ea typeface="Malgun Gothic"/>
                <a:cs typeface="Malgun Gothic"/>
              </a:rPr>
              <a:t> 2018–2022년 Google Brain의 Jie Tan 팀은 Minitaur·Laikago·A1 같은 작은 사족으로 구동기 모델과 지연, 실물 학습, 동물 동작 모방, 학습 위 층과 MPC 아래 층의 계층을 차례로 다뤘다. DeepMind의 Nicolas Heess 팀은 소형 휴머노이드 OP3를 하드웨어에서 직접 걷게 한 뒤(2021), 시뮬레이션에서만 배운 1대1 축구를 실물에 올렸다(2023). 두 조직이 2023-04에 Google DeepMind로 합쳐진 뒤 직접 만든 사족 Barkour, 언어 모델 인터페이스, MuJoCo 위의 GPU 학습 도구가 나왔고, 이 갈래들은 지금 Gemini Robotics 팀에 모여 있다. </a:t>
            </a:r>
            <a:r>
              <a:rPr sz="1050" b="1" i="0">
                <a:solidFill>
                  <a:srgbClr val="C2410C"/>
                </a:solidFill>
                <a:latin typeface="Arial"/>
                <a:ea typeface="Malgun Gothic"/>
                <a:cs typeface="Malgun Gothic"/>
              </a:rPr>
              <a:t>구동기 모델과 지연 가운데 하나만 빠져도 시뮬레이션에서 배운 정책이 실물에서 걷지 못했다는 2018년 결과가 travplan이 가장 먼저 가져올 교훈이다.</a:t>
            </a:r>
            <a:r>
              <a:rPr sz="1050" b="0" i="0">
                <a:solidFill>
                  <a:srgbClr val="16213A"/>
                </a:solidFill>
                <a:latin typeface="Arial"/>
                <a:ea typeface="Malgun Gothic"/>
                <a:cs typeface="Malgun Gothic"/>
              </a:rPr>
              <a:t> 그다음은 Barkour의 시간 점수, 학습 위 층과 MPC 아래 층의 경계, MPC 전문가를 조건부 정책으로 증류하는 절차다.</a:t>
            </a:r>
          </a:p>
        </p:txBody>
      </p:sp>
    </p:spTree>
  </p:cSld>
  <p:clrMapOvr>
    <a:masterClrMapping/>
  </p:clrMapOvr>
</p:sld>
</file>

<file path=ppt/slides/slide28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자세히: 이 소절의 연구 목록(표 28행)</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287 / 516</a:t>
            </a:r>
          </a:p>
        </p:txBody>
      </p:sp>
      <p:sp>
        <p:nvSpPr>
          <p:cNvPr id="5" name="TextBox 4"/>
          <p:cNvSpPr txBox="1"/>
          <p:nvPr/>
        </p:nvSpPr>
        <p:spPr>
          <a:xfrm>
            <a:off x="609600" y="1244600"/>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1개(문단·식·그림)는 대시보드 리서치 탭의 "자세히: 이 소절의 연구 목록(표 28행)" 토글에 있다.</a:t>
            </a:r>
          </a:p>
        </p:txBody>
      </p:sp>
    </p:spTree>
  </p:cSld>
  <p:clrMapOvr>
    <a:masterClrMapping/>
  </p:clrMapOvr>
</p:sld>
</file>

<file path=ppt/slides/slide28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288 / 516</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사족 sim-to-real과 실물 학습(2018–2022).</a:t>
            </a:r>
            <a:r>
              <a:rPr sz="1050" b="0" i="0">
                <a:solidFill>
                  <a:srgbClr val="16213A"/>
                </a:solidFill>
                <a:latin typeface="Arial"/>
                <a:ea typeface="Malgun Gothic"/>
                <a:cs typeface="Malgun Gothic"/>
              </a:rPr>
              <a:t> Google Brain 로보틱스의 Jie Tan 팀은 sim-to-real 격차를 두 방향에서 풀었다. 한쪽은 시뮬레이터를 실물에 맞춰 시뮬레이션에서만 배우고, 다른 쪽은 실물에서 직접 배우거나 실물에서 계속 고친다. 아래 여섯 카드는 두 방향을 번갈아 오간다.</a:t>
            </a:r>
          </a:p>
        </p:txBody>
      </p:sp>
      <p:sp>
        <p:nvSpPr>
          <p:cNvPr id="6" name="TextBox 5"/>
          <p:cNvSpPr txBox="1"/>
          <p:nvPr/>
        </p:nvSpPr>
        <p:spPr>
          <a:xfrm>
            <a:off x="609600" y="1766491"/>
            <a:ext cx="10972800" cy="151546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Sim-to-Real(Minitaur) — 구동기 모델과 지연을 시뮬레이터에 넣자 gallop이, 여기에 관측을 4차원으로 줄이자 trot도 시뮬레이션에서만 배워 실물에서 바로 돌았다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arXiv:1804.10332</a:t>
            </a:r>
            <a:r>
              <a:rPr sz="1050" b="0" i="0">
                <a:solidFill>
                  <a:srgbClr val="16213A"/>
                </a:solidFill>
                <a:latin typeface="Arial"/>
                <a:ea typeface="Malgun Gothic"/>
                <a:cs typeface="Malgun Gothic"/>
              </a:rPr>
              <a:t>, Tan·Zhang·Coumans·Iscen·Bai·Hafner·Bohez·Vanhoucke, RSS 2018, Google Brain, </a:t>
            </a:r>
            <a:r>
              <a:rPr sz="1050" b="0" i="0">
                <a:solidFill>
                  <a:srgbClr val="1D4ED8"/>
                </a:solidFill>
                <a:latin typeface="Arial"/>
                <a:ea typeface="Malgun Gothic"/>
                <a:cs typeface="Malgun Gothic"/>
                <a:hlinkClick r:id="rId4"/>
              </a:rPr>
              <a:t>환경 코드(PyBullet Minitaur)</a:t>
            </a:r>
            <a:r>
              <a:rPr sz="1050" b="0" i="0">
                <a:solidFill>
                  <a:srgbClr val="16213A"/>
                </a:solidFill>
                <a:latin typeface="Arial"/>
                <a:ea typeface="Malgun Gothic"/>
                <a:cs typeface="Malgun Gothic"/>
              </a:rPr>
              <a:t>, zlib). 로봇은 Ghost Robotics의 Minitaur다. 직접 구동 모터 여덟 개가 다리 넷을 시상면에서만 움직인다. 정책은 PyBullet에서 PPO(proximal policy optimization)로 배우고, 실물에서는 로봇에 실은 Jetson TX2가 돌린다. 행동은 열린 루프 기준 신호와 학습한 피드백의 합이다. 피드백 범위를 좁히면 사람이 정한 걸음새에 가깝고, 넓히면 처음부터 배운다. 같은 팀의 PMTG(Iscen 외, CoRL 2018)는 이 구조에서 영감을 받아, 피드백이 궤적 생성기의 주파수와 파라미터까지 바꾸게 했다. 격차는 두 쪽에서 줄였다. 시뮬레이터에는 분해해서 잰 질량, DC 모터 모델과 토크 포화, 실측 지연을 넣었다. 정책 쪽에는 물리 파라미터 무작위화, 무작위 밀기, 작은 관측 공간을 썼다. 원래 시뮬레이터에서는 느린 걸음만 나왔고, 그 정책을 올린 실물 Minitaur는 바로 넘어졌다. 고친 시뮬레이터에서는 gallop이 저절로 나왔고 실물에서 1.18 m/s로 달렸다. 제조사가 손으로 짠 비슷한 속도의 걸음새보다 평균 기계 일률이 gallop에서 35%, trot에서 23% 적었다.</a:t>
            </a:r>
          </a:p>
        </p:txBody>
      </p:sp>
      <p:sp>
        <p:nvSpPr>
          <p:cNvPr id="7" name="TextBox 6"/>
          <p:cNvSpPr txBox="1"/>
          <p:nvPr/>
        </p:nvSpPr>
        <p:spPr>
          <a:xfrm>
            <a:off x="609600" y="3370858"/>
            <a:ext cx="10972800" cy="1298972"/>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지연과 구동기를 모르는 시뮬레이터에서 배운 정책은 실물에서 무너진다는 결론을, ETH의 actuator net(B.14.1, 2019-01)보다 먼저 다른 구동기에서 냈다. Hwangbo 2019는 이 논문을 인용하며, 해석 모델이 통한 것은 직접 구동 모터라서이고 ANYmal의 SEA에는 통하지 않는다고 적었다. travplan의 스워브 plant(</a:t>
            </a:r>
            <a:r>
              <a:rPr sz="1050" b="0" i="0">
                <a:solidFill>
                  <a:srgbClr val="16213A"/>
                </a:solidFill>
                <a:latin typeface="Consolas"/>
                <a:ea typeface="Malgun Gothic"/>
                <a:cs typeface="Malgun Gothic"/>
              </a:rPr>
              <a:t>robot/plant.py</a:t>
            </a:r>
            <a:r>
              <a:rPr sz="1050" b="0" i="0">
                <a:solidFill>
                  <a:srgbClr val="16213A"/>
                </a:solidFill>
                <a:latin typeface="Arial"/>
                <a:ea typeface="Malgun Gothic"/>
                <a:cs typeface="Malgun Gothic"/>
              </a:rPr>
              <a:t>)도 손으로 쓴 해석 모델이다. twist에 1차 지연(0.2 s)과 조향 속도 한계(5 rad/s)를 두고, 경사와 거칠기에 따라 미끄러진다. 그래서 이 논문의 길에 더 가깝다. travplan은 같은 교훈을 시뮬 안에서 Controller rollout으로 쟀다. 권장 L1과 plant의 레벨 3에서 지연을 모르는 MPPI는 치명 55회였고, rollout에 지연을 넣은 </a:t>
            </a:r>
            <a:r>
              <a:rPr sz="1050" b="0" i="0">
                <a:solidFill>
                  <a:srgbClr val="16213A"/>
                </a:solidFill>
                <a:latin typeface="Consolas"/>
                <a:ea typeface="Malgun Gothic"/>
                <a:cs typeface="Malgun Gothic"/>
              </a:rPr>
              <a:t>mppi_plant_lag</a:t>
            </a:r>
            <a:r>
              <a:rPr sz="1050" b="0" i="0">
                <a:solidFill>
                  <a:srgbClr val="16213A"/>
                </a:solidFill>
                <a:latin typeface="Arial"/>
                <a:ea typeface="Malgun Gothic"/>
                <a:cs typeface="Malgun Gothic"/>
              </a:rPr>
              <a:t>는 4회였다(TP-0150, MPC 문서 M.3.22). 아직 들어오지 않은 것은 L0의 지연·자기 위치 잡음 무작위화(TP-0032)다. 범위는 이 논문처럼 실측값에 작은 여유만 더해 정한다. 무작위화로 배운 제어기는 수익 평균이 낮았고, 저자들은 지나치게 보수적인 걸음을 피하려고 범위를 신중하게 골랐다.</a:t>
            </a:r>
          </a:p>
        </p:txBody>
      </p:sp>
    </p:spTree>
  </p:cSld>
  <p:clrMapOvr>
    <a:masterClrMapping/>
  </p:clrMapOvr>
</p:sld>
</file>

<file path=ppt/slides/slide28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289 / 516</a:t>
            </a:r>
          </a:p>
        </p:txBody>
      </p:sp>
      <p:pic>
        <p:nvPicPr>
          <p:cNvPr id="5" name="Picture 4" descr="image.jpg"/>
          <p:cNvPicPr>
            <a:picLocks noChangeAspect="1"/>
          </p:cNvPicPr>
          <p:nvPr/>
        </p:nvPicPr>
        <p:blipFill>
          <a:blip r:embed="rId3"/>
          <a:stretch>
            <a:fillRect/>
          </a:stretch>
        </p:blipFill>
        <p:spPr>
          <a:xfrm>
            <a:off x="609600" y="1244600"/>
            <a:ext cx="4559300" cy="2667000"/>
          </a:xfrm>
          <a:prstGeom prst="rect">
            <a:avLst/>
          </a:prstGeom>
        </p:spPr>
      </p:pic>
      <p:sp>
        <p:nvSpPr>
          <p:cNvPr id="6" name="TextBox 5"/>
          <p:cNvSpPr txBox="1"/>
          <p:nvPr/>
        </p:nvSpPr>
        <p:spPr>
          <a:xfrm>
            <a:off x="609600" y="3949700"/>
            <a:ext cx="54102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Sim-to-Real Minitaur (Fig. 1): 학습한 gallop을 시뮬레이션(위 두 칸)과 실물(아래 두 칸)에서 찍은 장면이다. 실물 사진은 실험실 바닥에서 찍었고, 빠르게 움직이는 다리가 흐리게 보인다. 출처: arXiv:1804.10332</a:t>
            </a:r>
          </a:p>
        </p:txBody>
      </p:sp>
      <p:pic>
        <p:nvPicPr>
          <p:cNvPr id="7" name="Picture 6" descr="image.jpg"/>
          <p:cNvPicPr>
            <a:picLocks noChangeAspect="1"/>
          </p:cNvPicPr>
          <p:nvPr/>
        </p:nvPicPr>
        <p:blipFill>
          <a:blip r:embed="rId4"/>
          <a:stretch>
            <a:fillRect/>
          </a:stretch>
        </p:blipFill>
        <p:spPr>
          <a:xfrm>
            <a:off x="6172200" y="1244600"/>
            <a:ext cx="3778250" cy="2667000"/>
          </a:xfrm>
          <a:prstGeom prst="rect">
            <a:avLst/>
          </a:prstGeom>
        </p:spPr>
      </p:pic>
      <p:sp>
        <p:nvSpPr>
          <p:cNvPr id="8" name="TextBox 7"/>
          <p:cNvSpPr txBox="1"/>
          <p:nvPr/>
        </p:nvSpPr>
        <p:spPr>
          <a:xfrm>
            <a:off x="6172200" y="3949700"/>
            <a:ext cx="5410200" cy="42654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Sim-to-Real Minitaur (Fig. 9): trot 제어기의 기대 수익을 관측 크기(작음 4차원, 큼 12차원)와 무작위화 유무의 네 조합으로 비교했다. 파랑은 시뮬레이션, 빨강은 실물이다. 큰 관측은 시뮬레이션 수익이 가장 높지만 실물 수익이 가장 낮고, 작은 관측에 무작위화를 더한 조합에서 두 막대가 가장 가깝다. 출처: arXiv:1804.10332</a:t>
            </a:r>
          </a:p>
        </p:txBody>
      </p:sp>
    </p:spTree>
  </p:cSld>
  <p:clrMapOvr>
    <a:masterClrMapping/>
  </p:clrMapOvr>
</p:sld>
</file>

<file path=ppt/slides/slide29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자세히: Sim-to-Real(Minitaur)의 구동기·지연 모델, 무작위화, ANYmal과의 비교</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290 / 516</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풀려는 문제.</a:t>
            </a:r>
            <a:r>
              <a:rPr sz="1050" b="0" i="0">
                <a:solidFill>
                  <a:srgbClr val="16213A"/>
                </a:solidFill>
                <a:latin typeface="Arial"/>
                <a:ea typeface="Malgun Gothic"/>
                <a:cs typeface="Malgun Gothic"/>
              </a:rPr>
              <a:t> 접촉이 자주 바뀌는 빠른 보행에서는 작은 모델 오차가 큰 차이로 자란다. 실물에서 직접 배우면 리셋과 낙상 파손이 문제다. 그래서 시뮬레이션에서 배우되, 격차를 시뮬레이터 개선과 강건한 정책의 두 쪽에서 줄인다.</a:t>
            </a:r>
          </a:p>
        </p:txBody>
      </p:sp>
      <p:sp>
        <p:nvSpPr>
          <p:cNvPr id="6" name="TextBox 5"/>
          <p:cNvSpPr txBox="1"/>
          <p:nvPr/>
        </p:nvSpPr>
        <p:spPr>
          <a:xfrm>
            <a:off x="609600" y="176649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행동·관측·보상.</a:t>
            </a:r>
            <a:r>
              <a:rPr sz="1050" b="0" i="0">
                <a:solidFill>
                  <a:srgbClr val="16213A"/>
                </a:solidFill>
                <a:latin typeface="Arial"/>
                <a:ea typeface="Malgun Gothic"/>
                <a:cs typeface="Malgun Gothic"/>
              </a:rPr>
              <a:t> 다리마다 스윙 </a:t>
            </a:r>
            <a:r>
              <a:rPr sz="1050" b="0" i="1">
                <a:solidFill>
                  <a:srgbClr val="16213A"/>
                </a:solidFill>
                <a:latin typeface="Arial"/>
                <a:ea typeface="Malgun Gothic"/>
                <a:cs typeface="Malgun Gothic"/>
              </a:rPr>
              <a:t>s</a:t>
            </a:r>
            <a:r>
              <a:rPr sz="1050" b="0" i="0">
                <a:solidFill>
                  <a:srgbClr val="16213A"/>
                </a:solidFill>
                <a:latin typeface="Arial"/>
                <a:ea typeface="Malgun Gothic"/>
                <a:cs typeface="Malgun Gothic"/>
              </a:rPr>
              <a:t>와 신장 </a:t>
            </a:r>
            <a:r>
              <a:rPr sz="1050" b="0" i="1">
                <a:solidFill>
                  <a:srgbClr val="16213A"/>
                </a:solidFill>
                <a:latin typeface="Arial"/>
                <a:ea typeface="Malgun Gothic"/>
                <a:cs typeface="Malgun Gothic"/>
              </a:rPr>
              <a:t>e</a:t>
            </a:r>
            <a:r>
              <a:rPr sz="1050" b="0" i="0">
                <a:solidFill>
                  <a:srgbClr val="16213A"/>
                </a:solidFill>
                <a:latin typeface="Arial"/>
                <a:ea typeface="Malgun Gothic"/>
                <a:cs typeface="Malgun Gothic"/>
              </a:rPr>
              <a:t>를 내고, 두 모터 각은 </a:t>
            </a:r>
            <a:r>
              <a:rPr sz="1050" b="0" i="1">
                <a:solidFill>
                  <a:srgbClr val="16213A"/>
                </a:solidFill>
                <a:latin typeface="Arial"/>
                <a:ea typeface="Malgun Gothic"/>
                <a:cs typeface="Malgun Gothic"/>
              </a:rPr>
              <a:t>θ₁ = e + s</a:t>
            </a:r>
            <a:r>
              <a:rPr sz="1050" b="0" i="0">
                <a:solidFill>
                  <a:srgbClr val="16213A"/>
                </a:solidFill>
                <a:latin typeface="Arial"/>
                <a:ea typeface="Malgun Gothic"/>
                <a:cs typeface="Malgun Gothic"/>
              </a:rPr>
              <a:t>와 </a:t>
            </a:r>
            <a:r>
              <a:rPr sz="1050" b="0" i="1">
                <a:solidFill>
                  <a:srgbClr val="16213A"/>
                </a:solidFill>
                <a:latin typeface="Arial"/>
                <a:ea typeface="Malgun Gothic"/>
                <a:cs typeface="Malgun Gothic"/>
              </a:rPr>
              <a:t>θ₂ = e - s</a:t>
            </a:r>
            <a:r>
              <a:rPr sz="1050" b="0" i="0">
                <a:solidFill>
                  <a:srgbClr val="16213A"/>
                </a:solidFill>
                <a:latin typeface="Arial"/>
                <a:ea typeface="Malgun Gothic"/>
                <a:cs typeface="Malgun Gothic"/>
              </a:rPr>
              <a:t>로 바꾼다. 다리 공간에서는 사각형 범위 하나로 자기 충돌하는 행동을 거를 수 있다. 관측은 몸통 roll·pitch와 두 축 각속도이고, 필요하면 모터 각 여덟 개를 더한다. yaw는 IMU 값이 빨리 흘러 뺐다. 보상은 원하는 방향으로 간 거리에서 에너지를 뺀다.</a:t>
            </a:r>
          </a:p>
        </p:txBody>
      </p:sp>
      <p:pic>
        <p:nvPicPr>
          <p:cNvPr id="7" name="Picture 6" descr="image.png"/>
          <p:cNvPicPr>
            <a:picLocks noChangeAspect="1"/>
          </p:cNvPicPr>
          <p:nvPr/>
        </p:nvPicPr>
        <p:blipFill>
          <a:blip r:embed="rId3"/>
          <a:stretch>
            <a:fillRect/>
          </a:stretch>
        </p:blipFill>
        <p:spPr>
          <a:xfrm>
            <a:off x="609600" y="2288381"/>
            <a:ext cx="3752850" cy="241300"/>
          </a:xfrm>
          <a:prstGeom prst="rect">
            <a:avLst/>
          </a:prstGeom>
        </p:spPr>
      </p:pic>
      <p:sp>
        <p:nvSpPr>
          <p:cNvPr id="8" name="TextBox 7"/>
          <p:cNvSpPr txBox="1"/>
          <p:nvPr/>
        </p:nvSpPr>
        <p:spPr>
          <a:xfrm>
            <a:off x="609600" y="2565896"/>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에피소드는 1000스텝이 지나거나 몸통이 0.5 rad 넘게 기울면 끝난다. 정책은 열린 루프 성분과 피드백 성분의 합이다.</a:t>
            </a:r>
          </a:p>
        </p:txBody>
      </p:sp>
      <p:pic>
        <p:nvPicPr>
          <p:cNvPr id="9" name="Picture 8" descr="image.png"/>
          <p:cNvPicPr>
            <a:picLocks noChangeAspect="1"/>
          </p:cNvPicPr>
          <p:nvPr/>
        </p:nvPicPr>
        <p:blipFill>
          <a:blip r:embed="rId4"/>
          <a:stretch>
            <a:fillRect/>
          </a:stretch>
        </p:blipFill>
        <p:spPr>
          <a:xfrm>
            <a:off x="609600" y="2871291"/>
            <a:ext cx="1533525" cy="241300"/>
          </a:xfrm>
          <a:prstGeom prst="rect">
            <a:avLst/>
          </a:prstGeom>
        </p:spPr>
      </p:pic>
      <p:sp>
        <p:nvSpPr>
          <p:cNvPr id="10" name="TextBox 9"/>
          <p:cNvSpPr txBox="1"/>
          <p:nvPr/>
        </p:nvSpPr>
        <p:spPr>
          <a:xfrm>
            <a:off x="609600" y="3148806"/>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gallop은 </a:t>
            </a:r>
            <a:r>
              <a:rPr sz="1050" b="0" i="1">
                <a:solidFill>
                  <a:srgbClr val="16213A"/>
                </a:solidFill>
                <a:latin typeface="Arial"/>
                <a:ea typeface="Malgun Gothic"/>
                <a:cs typeface="Malgun Gothic"/>
              </a:rPr>
              <a:t>ā = 0</a:t>
            </a:r>
            <a:r>
              <a:rPr sz="1050" b="0" i="0">
                <a:solidFill>
                  <a:srgbClr val="16213A"/>
                </a:solidFill>
                <a:latin typeface="Arial"/>
                <a:ea typeface="Malgun Gothic"/>
                <a:cs typeface="Malgun Gothic"/>
              </a:rPr>
              <a:t>에 넓은 피드백 범위(스윙 ±0.5 rad, 신장 </a:t>
            </a:r>
            <a:r>
              <a:rPr sz="1050" b="0" i="1">
                <a:solidFill>
                  <a:srgbClr val="16213A"/>
                </a:solidFill>
                <a:latin typeface="Arial"/>
                <a:ea typeface="Malgun Gothic"/>
                <a:cs typeface="Malgun Gothic"/>
              </a:rPr>
              <a:t>π/2 ± 0.5</a:t>
            </a:r>
            <a:r>
              <a:rPr sz="1050" b="0" i="0">
                <a:solidFill>
                  <a:srgbClr val="16213A"/>
                </a:solidFill>
                <a:latin typeface="Arial"/>
                <a:ea typeface="Malgun Gothic"/>
                <a:cs typeface="Malgun Gothic"/>
              </a:rPr>
              <a:t> rad)로 처음부터 배웠다. trot은 대각 다리 쌍이 반대 위상인 사인 기준 신호에 ±0.25 rad 피드백을 더했다. 기준 신호만으로는 실물이 뒷다리로 주저앉았다.</a:t>
            </a:r>
          </a:p>
        </p:txBody>
      </p:sp>
      <p:sp>
        <p:nvSpPr>
          <p:cNvPr id="11" name="TextBox 10"/>
          <p:cNvSpPr txBox="1"/>
          <p:nvPr/>
        </p:nvSpPr>
        <p:spPr>
          <a:xfrm>
            <a:off x="609600" y="3670697"/>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구동기 모델.</a:t>
            </a:r>
            <a:r>
              <a:rPr sz="1050" b="0" i="0">
                <a:solidFill>
                  <a:srgbClr val="16213A"/>
                </a:solidFill>
                <a:latin typeface="Arial"/>
                <a:ea typeface="Malgun Gothic"/>
                <a:cs typeface="Malgun Gothic"/>
              </a:rPr>
              <a:t> Bullet의 위치 제어는 스텝 끝의 각과 속도가 PD 식을 만족하도록 구속을 푼다. 그래서 이득이 커도 시뮬레이션에서는 안정하지만 실물에서는 떨린다. 이것을 이상 DC 모터 모델로 바꿨다.</a:t>
            </a:r>
          </a:p>
        </p:txBody>
      </p:sp>
      <p:pic>
        <p:nvPicPr>
          <p:cNvPr id="12" name="Picture 11" descr="image.png"/>
          <p:cNvPicPr>
            <a:picLocks noChangeAspect="1"/>
          </p:cNvPicPr>
          <p:nvPr/>
        </p:nvPicPr>
        <p:blipFill>
          <a:blip r:embed="rId5"/>
          <a:stretch>
            <a:fillRect/>
          </a:stretch>
        </p:blipFill>
        <p:spPr>
          <a:xfrm>
            <a:off x="609600" y="3976092"/>
            <a:ext cx="5184775" cy="368300"/>
          </a:xfrm>
          <a:prstGeom prst="rect">
            <a:avLst/>
          </a:prstGeom>
        </p:spPr>
      </p:pic>
      <p:sp>
        <p:nvSpPr>
          <p:cNvPr id="13" name="TextBox 12"/>
          <p:cNvSpPr txBox="1"/>
          <p:nvPr/>
        </p:nvSpPr>
        <p:spPr>
          <a:xfrm>
            <a:off x="609600" y="4365129"/>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이상 모델만 쓰면 실물이 주저앉거나 발을 들지 못했다. 실제 모터는 전류가 커지면 토크가 포화하기 때문이다. 그래서 전류에서 토크로 가는 구간 선형 함수를 넣었다.</a:t>
            </a:r>
          </a:p>
        </p:txBody>
      </p:sp>
      <p:sp>
        <p:nvSpPr>
          <p:cNvPr id="14" name="TextBox 13"/>
          <p:cNvSpPr txBox="1"/>
          <p:nvPr/>
        </p:nvSpPr>
        <p:spPr>
          <a:xfrm>
            <a:off x="609600" y="4670524"/>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지연.</a:t>
            </a:r>
            <a:r>
              <a:rPr sz="1050" b="0" i="0">
                <a:solidFill>
                  <a:srgbClr val="16213A"/>
                </a:solidFill>
                <a:latin typeface="Arial"/>
                <a:ea typeface="Malgun Gothic"/>
                <a:cs typeface="Malgun Gothic"/>
              </a:rPr>
              <a:t> Bullet에서는 명령이 바로 적용되고 센서가 바로 읽힌다. 그래서 시뮬레이션에서 피드백 제어기가 안정한 영역이 실물보다 훨씬 넓다. 관측과 측정 시각의 이력을 두고, 지연만큼 이전의 관측을 이웃한 두 관측의 선형 보간으로 준다. 지연은 한 스텝짜리 PWM(pulse-width modulation) 스파이크를 보낸 뒤 모터가 움직였다고 보고될 때까지의 시간으로 쟀다. 마이크로컨트롤러의 PD는 3 ms, Jetson TX2의 정책은 보통 15–19 ms였다.</a:t>
            </a:r>
          </a:p>
        </p:txBody>
      </p:sp>
      <p:sp>
        <p:nvSpPr>
          <p:cNvPr id="15" name="TextBox 14"/>
          <p:cNvSpPr txBox="1"/>
          <p:nvPr/>
        </p:nvSpPr>
        <p:spPr>
          <a:xfrm>
            <a:off x="609600" y="5408910"/>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14개(문단·식·그림)는 대시보드 리서치 탭의 "자세히: Sim-to-Real(Minitaur)의 구동기·지연 모델, 무작위화, ANYmal과의 비교" 토글에 있다.</a:t>
            </a:r>
          </a:p>
        </p:txBody>
      </p:sp>
    </p:spTree>
  </p:cSld>
  <p:clrMapOvr>
    <a:masterClrMapping/>
  </p:clrMapOvr>
</p:sld>
</file>

<file path=ppt/slides/slide29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1/8</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291 / 516</a:t>
            </a:r>
          </a:p>
        </p:txBody>
      </p:sp>
      <p:sp>
        <p:nvSpPr>
          <p:cNvPr id="5" name="TextBox 4"/>
          <p:cNvSpPr txBox="1"/>
          <p:nvPr/>
        </p:nvSpPr>
        <p:spPr>
          <a:xfrm>
            <a:off x="609600" y="1244600"/>
            <a:ext cx="10972800" cy="108247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Learning to Walk via Deep RL — 시뮬레이터 없이 실물 Minitaur가 약 2시간 만에 걷기를 배웠다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arXiv:1812.11103</a:t>
            </a:r>
            <a:r>
              <a:rPr sz="1050" b="0" i="0">
                <a:solidFill>
                  <a:srgbClr val="16213A"/>
                </a:solidFill>
                <a:latin typeface="Arial"/>
                <a:ea typeface="Malgun Gothic"/>
                <a:cs typeface="Malgun Gothic"/>
              </a:rPr>
              <a:t>, Haarnoja·Ha·Zhou·Tan·Tucker·Levine, RSS 2019, Google Brain·UC Berkeley, </a:t>
            </a:r>
            <a:r>
              <a:rPr sz="1050" b="0" i="0">
                <a:solidFill>
                  <a:srgbClr val="1D4ED8"/>
                </a:solidFill>
                <a:latin typeface="Arial"/>
                <a:ea typeface="Malgun Gothic"/>
                <a:cs typeface="Malgun Gothic"/>
                <a:hlinkClick r:id="rId4"/>
              </a:rPr>
              <a:t>프로젝트</a:t>
            </a:r>
            <a:r>
              <a:rPr sz="1050" b="0" i="0">
                <a:solidFill>
                  <a:srgbClr val="16213A"/>
                </a:solidFill>
                <a:latin typeface="Arial"/>
                <a:ea typeface="Malgun Gothic"/>
                <a:cs typeface="Malgun Gothic"/>
              </a:rPr>
              <a:t>, 같은 저자들의 SAC 공식 구현 </a:t>
            </a:r>
            <a:r>
              <a:rPr sz="1050" b="0" i="0">
                <a:solidFill>
                  <a:srgbClr val="1D4ED8"/>
                </a:solidFill>
                <a:latin typeface="Arial"/>
                <a:ea typeface="Malgun Gothic"/>
                <a:cs typeface="Malgun Gothic"/>
                <a:hlinkClick r:id="rId5"/>
              </a:rPr>
              <a:t>softlearning</a:t>
            </a:r>
            <a:r>
              <a:rPr sz="1050" b="0" i="0">
                <a:solidFill>
                  <a:srgbClr val="16213A"/>
                </a:solidFill>
                <a:latin typeface="Arial"/>
                <a:ea typeface="Malgun Gothic"/>
                <a:cs typeface="Malgun Gothic"/>
              </a:rPr>
              <a:t> MIT, Minitaur 실물 학습 코드는 찾지 못했다). SAC(soft actor-critic)의 온도 </a:t>
            </a:r>
            <a:r>
              <a:rPr sz="1050" b="0" i="1">
                <a:solidFill>
                  <a:srgbClr val="16213A"/>
                </a:solidFill>
                <a:latin typeface="Arial"/>
                <a:ea typeface="Malgun Gothic"/>
                <a:cs typeface="Malgun Gothic"/>
              </a:rPr>
              <a:t>α</a:t>
            </a:r>
            <a:r>
              <a:rPr sz="1050" b="0" i="0">
                <a:solidFill>
                  <a:srgbClr val="16213A"/>
                </a:solidFill>
                <a:latin typeface="Arial"/>
                <a:ea typeface="Malgun Gothic"/>
                <a:cs typeface="Malgun Gothic"/>
              </a:rPr>
              <a:t>를 손으로 맞추지 않는다. 정책 엔트로피의 기댓값이 목표를 넘도록 </a:t>
            </a:r>
            <a:r>
              <a:rPr sz="1050" b="0" i="1">
                <a:solidFill>
                  <a:srgbClr val="16213A"/>
                </a:solidFill>
                <a:latin typeface="Arial"/>
                <a:ea typeface="Malgun Gothic"/>
                <a:cs typeface="Malgun Gothic"/>
              </a:rPr>
              <a:t>α</a:t>
            </a:r>
            <a:r>
              <a:rPr sz="1050" b="0" i="0">
                <a:solidFill>
                  <a:srgbClr val="16213A"/>
                </a:solidFill>
                <a:latin typeface="Arial"/>
                <a:ea typeface="Malgun Gothic"/>
                <a:cs typeface="Malgun Gothic"/>
              </a:rPr>
              <a:t>를 쌍대 변수로 학습한다. 하드웨어 지연과 부분 관측 때문에 최근 다섯 스텝의 관측과 행동을 붙여 입력으로 썼다. 16만 제어 스텝(약 400 rollout, 약 2시간)에 0.32 m/s로 걷게 됐다. 평지에서만 배웠는데 경사, 나무 블록, 계단 내려가기를 각각 10번씩 모두 지났다. 다만 넘어지거나 작업 공간을 벗어나면 사람이 로봇을 다시 놓아야 했다. 후속 Ha 2020은 평지 걷기 학습 한 번에 이 개입이 백 번 넘게 필요했다고 적는다.</a:t>
            </a:r>
          </a:p>
        </p:txBody>
      </p:sp>
      <p:sp>
        <p:nvSpPr>
          <p:cNvPr id="6" name="TextBox 5"/>
          <p:cNvSpPr txBox="1"/>
          <p:nvPr/>
        </p:nvSpPr>
        <p:spPr>
          <a:xfrm>
            <a:off x="609600" y="2415977"/>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가져올 것은 실물 학습이 아니라 온도를 목표 엔트로피로 정하는 발상이다. SAC의 </a:t>
            </a:r>
            <a:r>
              <a:rPr sz="1050" b="0" i="1">
                <a:solidFill>
                  <a:srgbClr val="16213A"/>
                </a:solidFill>
                <a:latin typeface="Arial"/>
                <a:ea typeface="Malgun Gothic"/>
                <a:cs typeface="Malgun Gothic"/>
              </a:rPr>
              <a:t>α</a:t>
            </a:r>
            <a:r>
              <a:rPr sz="1050" b="0" i="0">
                <a:solidFill>
                  <a:srgbClr val="16213A"/>
                </a:solidFill>
                <a:latin typeface="Arial"/>
                <a:ea typeface="Malgun Gothic"/>
                <a:cs typeface="Malgun Gothic"/>
              </a:rPr>
              <a:t>와 MPPI의 </a:t>
            </a:r>
            <a:r>
              <a:rPr sz="1050" b="0" i="1">
                <a:solidFill>
                  <a:srgbClr val="16213A"/>
                </a:solidFill>
                <a:latin typeface="Arial"/>
                <a:ea typeface="Malgun Gothic"/>
                <a:cs typeface="Malgun Gothic"/>
              </a:rPr>
              <a:t>λ</a:t>
            </a:r>
            <a:r>
              <a:rPr sz="1050" b="0" i="0">
                <a:solidFill>
                  <a:srgbClr val="16213A"/>
                </a:solidFill>
                <a:latin typeface="Arial"/>
                <a:ea typeface="Malgun Gothic"/>
                <a:cs typeface="Malgun Gothic"/>
              </a:rPr>
              <a:t>는 같은 자리다(R.8). travplan MPPI의 온도는 0.5로 고정이다(</a:t>
            </a:r>
            <a:r>
              <a:rPr sz="1050" b="0" i="0">
                <a:solidFill>
                  <a:srgbClr val="16213A"/>
                </a:solidFill>
                <a:latin typeface="Consolas"/>
                <a:ea typeface="Malgun Gothic"/>
                <a:cs typeface="Malgun Gothic"/>
              </a:rPr>
              <a:t>control/mppi/mppi.py</a:t>
            </a:r>
            <a:r>
              <a:rPr sz="1050" b="0" i="0">
                <a:solidFill>
                  <a:srgbClr val="16213A"/>
                </a:solidFill>
                <a:latin typeface="Arial"/>
                <a:ea typeface="Malgun Gothic"/>
                <a:cs typeface="Malgun Gothic"/>
              </a:rPr>
              <a:t>). 코드 주석은 범위 정규화가 큰 hard 벌점과 함께 깨졌다고 적으므로, 엔트로피 목표 변형은 치명 벌점과의 상호작용부터 잰다.</a:t>
            </a:r>
          </a:p>
        </p:txBody>
      </p:sp>
    </p:spTree>
  </p:cSld>
  <p:clrMapOvr>
    <a:masterClrMapping/>
  </p:clrMapOvr>
</p:sld>
</file>

<file path=ppt/slides/slide29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2/8</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292 / 516</a:t>
            </a:r>
          </a:p>
        </p:txBody>
      </p:sp>
      <p:pic>
        <p:nvPicPr>
          <p:cNvPr id="5" name="Picture 4" descr="image.jpg"/>
          <p:cNvPicPr>
            <a:picLocks noChangeAspect="1"/>
          </p:cNvPicPr>
          <p:nvPr/>
        </p:nvPicPr>
        <p:blipFill>
          <a:blip r:embed="rId3"/>
          <a:stretch>
            <a:fillRect/>
          </a:stretch>
        </p:blipFill>
        <p:spPr>
          <a:xfrm>
            <a:off x="2844800" y="1244600"/>
            <a:ext cx="6502400" cy="3657600"/>
          </a:xfrm>
          <a:prstGeom prst="rect">
            <a:avLst/>
          </a:prstGeom>
        </p:spPr>
      </p:pic>
      <p:sp>
        <p:nvSpPr>
          <p:cNvPr id="6" name="TextBox 5"/>
          <p:cNvSpPr txBox="1"/>
          <p:nvPr/>
        </p:nvSpPr>
        <p:spPr>
          <a:xfrm>
            <a:off x="2844800" y="4940300"/>
            <a:ext cx="65024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Learning to Walk via Deep RL (Fig. 1): 평지에서만 약 2시간 학습한 실물 Minitaur가 학습 때 없던 나무 블록 더미를 지나간다. 원문 Fig. 1의 네 장면 가운데 셋째다. 출처: arXiv:1812.11103</a:t>
            </a:r>
          </a:p>
        </p:txBody>
      </p:sp>
    </p:spTree>
  </p:cSld>
  <p:clrMapOvr>
    <a:masterClrMapping/>
  </p:clrMapOvr>
</p:sld>
</file>

<file path=ppt/slides/slide29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3/8</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293 / 516</a:t>
            </a:r>
          </a:p>
        </p:txBody>
      </p:sp>
      <p:sp>
        <p:nvSpPr>
          <p:cNvPr id="5" name="TextBox 4"/>
          <p:cNvSpPr txBox="1"/>
          <p:nvPr/>
        </p:nvSpPr>
        <p:spPr>
          <a:xfrm>
            <a:off x="609600" y="1244600"/>
            <a:ext cx="10972800" cy="151546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Data Efficient RL for Legged Robots — 실물 Minitaur의 4.5분 데이터로 배운 동역학 모델을, 계획 지연을 보정하는 MPC로 굴려 걸었다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arXiv:1907.03613</a:t>
            </a:r>
            <a:r>
              <a:rPr sz="1050" b="0" i="0">
                <a:solidFill>
                  <a:srgbClr val="16213A"/>
                </a:solidFill>
                <a:latin typeface="Arial"/>
                <a:ea typeface="Malgun Gothic"/>
                <a:cs typeface="Malgun Gothic"/>
              </a:rPr>
              <a:t>, Yang·Caluwaerts·Iscen·Zhang·Tan·Sindhwani, CoRL 2019(PMLR 100), Robotics at Google). 신경망 동역학 모델은 다음 상태와의 차이를 예측한다. 한 스텝 오차 대신 20스텝을 이어 굴린 다단계 손실로 학습하는데, 한 스텝이 정확해도 긴 지평에서는 오차가 쌓이기 때문이다. 계획은 CEM으로, 후보 400개를 다섯 번 반복하고 지평은 75스텝(450 ms)이다. GPU에서 60 ms 안에 풀고 72 ms마다 다시 계획한다. 계획하는 동안에도 로봇은 움직인다. 그래서 지금 상태가 아니라 계획이 끝날 시점의 상태를 학습 모델로 예측하고, 그 상태에서 계획한다(비동기 제어). 보행의 뼈대는 PMTG처럼 다리마다 둔 궤적 생성기가 잡고, 계획기는 그 위에 잔차와 위상 속도를 더한다. 모터를 상하게 하는 거친 동작을 막기 위해서다. 36 에피소드(45,000 제어 스텝, 실험 시간 약 10분)의 데이터로 0.66 m/s를 따라 걸었다. Haarnoja 2019가 같은 로봇에서 낸 가장 빠른 속도의 두 배다. 시뮬레이션 절제에서 비동기 제어를 빼면 약 0.4 m/s까지만 따라갔다. 같은 모델로 보상만 바꿔 뒤로 걷기와 회전도 했다.</a:t>
            </a:r>
          </a:p>
        </p:txBody>
      </p:sp>
      <p:sp>
        <p:nvSpPr>
          <p:cNvPr id="6" name="TextBox 5"/>
          <p:cNvSpPr txBox="1"/>
          <p:nvPr/>
        </p:nvSpPr>
        <p:spPr>
          <a:xfrm>
            <a:off x="609600" y="2848967"/>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travplan의 plant 대응 두 길이 이 논문 하나에 함께 있다. 하나는 학습한 모델을 rollout에 쓰는 길(TP-0068의 GP(Gaussian process) 잔차)이고, 다른 하나는 지연을 rollout에서 다루는 길(TP-0150의 </a:t>
            </a:r>
            <a:r>
              <a:rPr sz="1050" b="0" i="0">
                <a:solidFill>
                  <a:srgbClr val="16213A"/>
                </a:solidFill>
                <a:latin typeface="Consolas"/>
                <a:ea typeface="Malgun Gothic"/>
                <a:cs typeface="Malgun Gothic"/>
              </a:rPr>
              <a:t>mppi_plant_lag</a:t>
            </a:r>
            <a:r>
              <a:rPr sz="1050" b="0" i="0">
                <a:solidFill>
                  <a:srgbClr val="16213A"/>
                </a:solidFill>
                <a:latin typeface="Arial"/>
                <a:ea typeface="Malgun Gothic"/>
                <a:cs typeface="Malgun Gothic"/>
              </a:rPr>
              <a:t>)이다. 다른 점은 둘이다. travplan의 GP 잔차는 한 스텝 오차 </a:t>
            </a:r>
            <a:r>
              <a:rPr sz="1050" b="0" i="1">
                <a:solidFill>
                  <a:srgbClr val="16213A"/>
                </a:solidFill>
                <a:latin typeface="Arial"/>
                <a:ea typeface="Malgun Gothic"/>
                <a:cs typeface="Malgun Gothic"/>
              </a:rPr>
              <a:t>d(xₖ, uₖ)</a:t>
            </a:r>
            <a:r>
              <a:rPr sz="1050" b="0" i="0">
                <a:solidFill>
                  <a:srgbClr val="16213A"/>
                </a:solidFill>
                <a:latin typeface="Arial"/>
                <a:ea typeface="Malgun Gothic"/>
                <a:cs typeface="Malgun Gothic"/>
              </a:rPr>
              <a:t>를 맞추고, 이 논문은 20스텝 지평의 오차로 모델을 맞췄다. TP-0150은 plant 구동기의 지연을 넣었고, 이 논문은 계산에 걸리는 시간만큼 앞을 예측했다. TP-0032가 계획 지연을 L0에 넣으면, 이 비동기 보정이 먼저 비교할 후보다.</a:t>
            </a:r>
          </a:p>
        </p:txBody>
      </p:sp>
    </p:spTree>
  </p:cSld>
  <p:clrMapOvr>
    <a:masterClrMapping/>
  </p:clrMapOvr>
</p:sld>
</file>

<file path=ppt/slides/slide29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4/8</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294 / 516</a:t>
            </a:r>
          </a:p>
        </p:txBody>
      </p:sp>
      <p:pic>
        <p:nvPicPr>
          <p:cNvPr id="5" name="Picture 4" descr="image.jpg"/>
          <p:cNvPicPr>
            <a:picLocks noChangeAspect="1"/>
          </p:cNvPicPr>
          <p:nvPr/>
        </p:nvPicPr>
        <p:blipFill>
          <a:blip r:embed="rId3"/>
          <a:stretch>
            <a:fillRect/>
          </a:stretch>
        </p:blipFill>
        <p:spPr>
          <a:xfrm>
            <a:off x="2019300" y="1244600"/>
            <a:ext cx="8153400" cy="4445000"/>
          </a:xfrm>
          <a:prstGeom prst="rect">
            <a:avLst/>
          </a:prstGeom>
        </p:spPr>
      </p:pic>
      <p:sp>
        <p:nvSpPr>
          <p:cNvPr id="6" name="TextBox 5"/>
          <p:cNvSpPr txBox="1"/>
          <p:nvPr/>
        </p:nvSpPr>
        <p:spPr>
          <a:xfrm>
            <a:off x="2019300" y="5727700"/>
            <a:ext cx="81534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Data Efficient RL for Legged Robots (Fig. 1): 학습 고리다. 아래(데이터 수집)에서는 MPC가 학습 모델로 계획한 모터 목표를 실물 Minitaur에 보내 rollout을 모으고, 위(모델 학습)에서는 모은 rollout으로 동역학 모델을 다시 맞춘다. 출처: arXiv:1907.03613</a:t>
            </a:r>
          </a:p>
        </p:txBody>
      </p:sp>
    </p:spTree>
  </p:cSld>
  <p:clrMapOvr>
    <a:masterClrMapping/>
  </p:clrMapOvr>
</p:sld>
</file>

<file path=ppt/slides/slide29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5/8</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295 / 516</a:t>
            </a:r>
          </a:p>
        </p:txBody>
      </p:sp>
      <p:sp>
        <p:nvSpPr>
          <p:cNvPr id="5" name="TextBox 4"/>
          <p:cNvSpPr txBox="1"/>
          <p:nvPr/>
        </p:nvSpPr>
        <p:spPr>
          <a:xfrm>
            <a:off x="609600" y="1244600"/>
            <a:ext cx="10972800" cy="108247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Learning to Walk in the Real World with Minimal Human Effort — 반대 방향의 과제를 번갈아 배우고 기울기를 제약으로 묶어, 평지 실물 학습의 사람 개입을 0–2번으로 줄였다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arXiv:2002.08550</a:t>
            </a:r>
            <a:r>
              <a:rPr sz="1050" b="0" i="0">
                <a:solidFill>
                  <a:srgbClr val="16213A"/>
                </a:solidFill>
                <a:latin typeface="Arial"/>
                <a:ea typeface="Malgun Gothic"/>
                <a:cs typeface="Malgun Gothic"/>
              </a:rPr>
              <a:t>, Ha·Xu·Tan·Levine·Tan, CoRL 2020(PMLR 155), Robotics at Google·UC Berkeley·Georgia Tech). 사람 손 없이 실물 학습을 돌리는 데 걸림돌은 둘이었다. 로봇이 작업 공간을 벗어나는 것과 넘어지는 것이다. 이 논문은 앞으로 걷기와 뒤로 걷기를 함께 배우고, 에피소드마다 작업 공간 중심 쪽을 향하는 과제를 고른다. 넘어짐은 몸통 pitch(π/12)와 roll(π/6) 한계를 기대 제약으로 둔 SAC로 줄였고, 라그랑주 승수는 학습한다. 평지 5 × 2 m²에서 세 번 학습한 가운데 두 번은 사람 개입이 0번이었고, 한 번은 구석에 끼어 2번이었다. 앞뒤 두 정책을 1.5시간에 배웠다. 매트리스와 도어매트에서도 앞뒤 걷기를 배웠다. 이때는 작업 공간이 좁아 사람이 20–30번 다시 놓았다.</a:t>
            </a:r>
          </a:p>
        </p:txBody>
      </p:sp>
      <p:sp>
        <p:nvSpPr>
          <p:cNvPr id="6" name="TextBox 5"/>
          <p:cNvSpPr txBox="1"/>
          <p:nvPr/>
        </p:nvSpPr>
        <p:spPr>
          <a:xfrm>
            <a:off x="609600" y="2415977"/>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학습한 라그랑주 승수로 안전 제약을 지키는 부분이 TP-0066에 닿는다. TP-0066의 보상은 진행·cost·치명·부드러움 항의 가중치(치명 5.0)를 손으로 정했다. 이 논문의 시뮬레이션 비교에서 고정 가중 0은 학습 중 100번 넘게 넘어졌고, 가중 100은 수익을 크게 잃었다. 학습 승수는 약 40번 넘어져, 가장 잘 맞춘 고정 가중(1.0)보다는 더 넘어졌다. 대신 가중을 찾는 탐색이 필요 없다. 벤치마크의 채택 규칙(치명이 늘면 채택하지 않는다)은 그대로 두고, 학습 쪽 벌점만 바꾸는 이야기다.</a:t>
            </a:r>
          </a:p>
        </p:txBody>
      </p:sp>
    </p:spTree>
  </p:cSld>
  <p:clrMapOvr>
    <a:masterClrMapping/>
  </p:clrMapOvr>
</p:sld>
</file>

<file path=ppt/slides/slide29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6/8</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296 / 516</a:t>
            </a:r>
          </a:p>
        </p:txBody>
      </p:sp>
      <p:pic>
        <p:nvPicPr>
          <p:cNvPr id="5" name="Picture 4" descr="image.jpg"/>
          <p:cNvPicPr>
            <a:picLocks noChangeAspect="1"/>
          </p:cNvPicPr>
          <p:nvPr/>
        </p:nvPicPr>
        <p:blipFill>
          <a:blip r:embed="rId3"/>
          <a:stretch>
            <a:fillRect/>
          </a:stretch>
        </p:blipFill>
        <p:spPr>
          <a:xfrm>
            <a:off x="2844800" y="1244600"/>
            <a:ext cx="6502400" cy="3657600"/>
          </a:xfrm>
          <a:prstGeom prst="rect">
            <a:avLst/>
          </a:prstGeom>
        </p:spPr>
      </p:pic>
      <p:sp>
        <p:nvSpPr>
          <p:cNvPr id="6" name="TextBox 5"/>
          <p:cNvSpPr txBox="1"/>
          <p:nvPr/>
        </p:nvSpPr>
        <p:spPr>
          <a:xfrm>
            <a:off x="2844800" y="4940300"/>
            <a:ext cx="65024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Learning to Walk in the Real World (Fig. 4): 고무 도어매트를 깐 작업 공간에서 실물 Minitaur가 앞으로 걷는다. 원문 Fig. 4 셋째 줄(도어매트 전진)의 한 장면이다. 출처: arXiv:2002.08550</a:t>
            </a:r>
          </a:p>
        </p:txBody>
      </p:sp>
    </p:spTree>
  </p:cSld>
  <p:clrMapOvr>
    <a:masterClrMapping/>
  </p:clrMapOvr>
</p:sld>
</file>

<file path=ppt/slides/slide29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7/8</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297 / 516</a:t>
            </a:r>
          </a:p>
        </p:txBody>
      </p:sp>
      <p:sp>
        <p:nvSpPr>
          <p:cNvPr id="5" name="TextBox 4"/>
          <p:cNvSpPr txBox="1"/>
          <p:nvPr/>
        </p:nvSpPr>
        <p:spPr>
          <a:xfrm>
            <a:off x="609600" y="1244600"/>
            <a:ext cx="10972800" cy="1731962"/>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Learning Agile Robotic Locomotion Skills by Imitating Animals — 개의 모션 캡처를 따라 하는 정책을 시뮬레이션에서 배우고, 실물에서는 잠재 동역학 코드만 약 50번의 시도로 골랐다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arXiv:2004.00784</a:t>
            </a:r>
            <a:r>
              <a:rPr sz="1050" b="0" i="0">
                <a:solidFill>
                  <a:srgbClr val="16213A"/>
                </a:solidFill>
                <a:latin typeface="Arial"/>
                <a:ea typeface="Malgun Gothic"/>
                <a:cs typeface="Malgun Gothic"/>
              </a:rPr>
              <a:t>, Peng·Coumans·Zhang·Lee·Tan·Levine, RSS 2020, Google Research·UC Berkeley, </a:t>
            </a:r>
            <a:r>
              <a:rPr sz="1050" b="0" i="0">
                <a:solidFill>
                  <a:srgbClr val="1D4ED8"/>
                </a:solidFill>
                <a:latin typeface="Arial"/>
                <a:ea typeface="Malgun Gothic"/>
                <a:cs typeface="Malgun Gothic"/>
                <a:hlinkClick r:id="rId4"/>
              </a:rPr>
              <a:t>프로젝트</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5"/>
              </a:rPr>
              <a:t>코드 motion_imitation</a:t>
            </a:r>
            <a:r>
              <a:rPr sz="1050" b="0" i="0">
                <a:solidFill>
                  <a:srgbClr val="16213A"/>
                </a:solidFill>
                <a:latin typeface="Arial"/>
                <a:ea typeface="Malgun Gothic"/>
                <a:cs typeface="Malgun Gothic"/>
              </a:rPr>
              <a:t>, Apache-2.0). 세 단계다. 먼저 개 몸의 발과 엉덩이 점을 로봇의 대응 점에 맞추는 역기구학(IK, inverse kinematics)으로, 모션 캡처를 Unitree Laikago의 자세열로 옮긴다. 다음으로 그 자세열을 따라 하는 정책을 PyBullet에서 PPO로 배운다. 보상은 관절 각과 속도, 발끝 위치, 몸통 자세와 속도가 기준 동작에 가까울수록 커지는 지수형 항의 합이다. 기술마다 보상을 새로 짜지 않고 기준 동작만 바꾼다. 마지막으로 학습 때 동역학 파라미터를 무작위로 뽑아 잠재 코드 </a:t>
            </a:r>
            <a:r>
              <a:rPr sz="1050" b="0" i="1">
                <a:solidFill>
                  <a:srgbClr val="16213A"/>
                </a:solidFill>
                <a:latin typeface="Arial"/>
                <a:ea typeface="Malgun Gothic"/>
                <a:cs typeface="Malgun Gothic"/>
              </a:rPr>
              <a:t>z</a:t>
            </a:r>
            <a:r>
              <a:rPr sz="1050" b="0" i="0">
                <a:solidFill>
                  <a:srgbClr val="16213A"/>
                </a:solidFill>
                <a:latin typeface="Arial"/>
                <a:ea typeface="Malgun Gothic"/>
                <a:cs typeface="Malgun Gothic"/>
              </a:rPr>
              <a:t>로 압축하고, 정책이 </a:t>
            </a:r>
            <a:r>
              <a:rPr sz="1050" b="0" i="1">
                <a:solidFill>
                  <a:srgbClr val="16213A"/>
                </a:solidFill>
                <a:latin typeface="Arial"/>
                <a:ea typeface="Malgun Gothic"/>
                <a:cs typeface="Malgun Gothic"/>
              </a:rPr>
              <a:t>z</a:t>
            </a:r>
            <a:r>
              <a:rPr sz="1050" b="0" i="0">
                <a:solidFill>
                  <a:srgbClr val="16213A"/>
                </a:solidFill>
                <a:latin typeface="Arial"/>
                <a:ea typeface="Malgun Gothic"/>
                <a:cs typeface="Malgun Gothic"/>
              </a:rPr>
              <a:t>를 함께 받게 한다. 실물에서는 정책 가중치를 고정한 채 </a:t>
            </a:r>
            <a:r>
              <a:rPr sz="1050" b="0" i="1">
                <a:solidFill>
                  <a:srgbClr val="16213A"/>
                </a:solidFill>
                <a:latin typeface="Arial"/>
                <a:ea typeface="Malgun Gothic"/>
                <a:cs typeface="Malgun Gothic"/>
              </a:rPr>
              <a:t>z</a:t>
            </a:r>
            <a:r>
              <a:rPr sz="1050" b="0" i="0">
                <a:solidFill>
                  <a:srgbClr val="16213A"/>
                </a:solidFill>
                <a:latin typeface="Arial"/>
                <a:ea typeface="Malgun Gothic"/>
                <a:cs typeface="Malgun Gothic"/>
              </a:rPr>
              <a:t>만 바꾼다. 수익이 높은 </a:t>
            </a:r>
            <a:r>
              <a:rPr sz="1050" b="0" i="1">
                <a:solidFill>
                  <a:srgbClr val="16213A"/>
                </a:solidFill>
                <a:latin typeface="Arial"/>
                <a:ea typeface="Malgun Gothic"/>
                <a:cs typeface="Malgun Gothic"/>
              </a:rPr>
              <a:t>z</a:t>
            </a:r>
            <a:r>
              <a:rPr sz="1050" b="0" i="0">
                <a:solidFill>
                  <a:srgbClr val="16213A"/>
                </a:solidFill>
                <a:latin typeface="Arial"/>
                <a:ea typeface="Malgun Gothic"/>
                <a:cs typeface="Malgun Gothic"/>
              </a:rPr>
              <a:t> 쪽으로 탐색 분포를 옮기는 방법은 AWR(advantage-weighted regression)이다. 기술마다 약 2억 시뮬레이션 표본으로 학습했고, 실물 적응에는 5–10 s짜리 시도 약 50번을 썼다. 개 trot을 흉내 낸 정책은 1.08 m/s, 뒤로 가는 trot은 1.20 m/s로 달렸다. 제조사의 가장 빠른 걸음새는 약 0.84 m/s다. 같은 팀이 공저한 Escontrela 2022(IROS 2022)는 추적형 모방을 AMP의 적대적 스타일 보상으로 바꿨다. 독일 셰퍼드 모션 캡처 4.5초로 배운 스타일 보상이 손으로 짠 복잡한 보상을 대신해 실물 A1을 걷게 했다. AMP의 설명은 Multi-AMP(B.14.4)에 있다.</a:t>
            </a:r>
          </a:p>
        </p:txBody>
      </p:sp>
      <p:sp>
        <p:nvSpPr>
          <p:cNvPr id="6" name="TextBox 5"/>
          <p:cNvSpPr txBox="1"/>
          <p:nvPr/>
        </p:nvSpPr>
        <p:spPr>
          <a:xfrm>
            <a:off x="609600" y="3065462"/>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가장 가져올 것은 실물 적응의 크기다. 정책 전체가 아니라 저차원 </a:t>
            </a:r>
            <a:r>
              <a:rPr sz="1050" b="0" i="1">
                <a:solidFill>
                  <a:srgbClr val="16213A"/>
                </a:solidFill>
                <a:latin typeface="Arial"/>
                <a:ea typeface="Malgun Gothic"/>
                <a:cs typeface="Malgun Gothic"/>
              </a:rPr>
              <a:t>z</a:t>
            </a:r>
            <a:r>
              <a:rPr sz="1050" b="0" i="0">
                <a:solidFill>
                  <a:srgbClr val="16213A"/>
                </a:solidFill>
                <a:latin typeface="Arial"/>
                <a:ea typeface="Malgun Gothic"/>
                <a:cs typeface="Malgun Gothic"/>
              </a:rPr>
              <a:t> 하나를 수익만으로 고르므로, 동역학을 따로 재지 않아도 50번 정도의 시도로 끝난다. travplan의 plant 대응은 지금 두 길이다. rollout에 plant의 지연을 넣거나(TP-0150), 명목 모델 위의 잔차를 GP로 배운다(TP-0068). 이 논문의 방식은 셋째 길이다. 모듈 지연과 미끄럼을 </a:t>
            </a:r>
            <a:r>
              <a:rPr sz="1050" b="0" i="1">
                <a:solidFill>
                  <a:srgbClr val="16213A"/>
                </a:solidFill>
                <a:latin typeface="Arial"/>
                <a:ea typeface="Malgun Gothic"/>
                <a:cs typeface="Malgun Gothic"/>
              </a:rPr>
              <a:t>z</a:t>
            </a:r>
            <a:r>
              <a:rPr sz="1050" b="0" i="0">
                <a:solidFill>
                  <a:srgbClr val="16213A"/>
                </a:solidFill>
                <a:latin typeface="Arial"/>
                <a:ea typeface="Malgun Gothic"/>
                <a:cs typeface="Malgun Gothic"/>
              </a:rPr>
              <a:t>로 묶어 Controller rollout 모델을 </a:t>
            </a:r>
            <a:r>
              <a:rPr sz="1050" b="0" i="1">
                <a:solidFill>
                  <a:srgbClr val="16213A"/>
                </a:solidFill>
                <a:latin typeface="Arial"/>
                <a:ea typeface="Malgun Gothic"/>
                <a:cs typeface="Malgun Gothic"/>
              </a:rPr>
              <a:t>z</a:t>
            </a:r>
            <a:r>
              <a:rPr sz="1050" b="0" i="0">
                <a:solidFill>
                  <a:srgbClr val="16213A"/>
                </a:solidFill>
                <a:latin typeface="Arial"/>
                <a:ea typeface="Malgun Gothic"/>
                <a:cs typeface="Malgun Gothic"/>
              </a:rPr>
              <a:t>에 조건화하고, 실물 첫 주행에서 </a:t>
            </a:r>
            <a:r>
              <a:rPr sz="1050" b="0" i="1">
                <a:solidFill>
                  <a:srgbClr val="16213A"/>
                </a:solidFill>
                <a:latin typeface="Arial"/>
                <a:ea typeface="Malgun Gothic"/>
                <a:cs typeface="Malgun Gothic"/>
              </a:rPr>
              <a:t>z</a:t>
            </a:r>
            <a:r>
              <a:rPr sz="1050" b="0" i="0">
                <a:solidFill>
                  <a:srgbClr val="16213A"/>
                </a:solidFill>
                <a:latin typeface="Arial"/>
                <a:ea typeface="Malgun Gothic"/>
                <a:cs typeface="Malgun Gothic"/>
              </a:rPr>
              <a:t>만 고른다. </a:t>
            </a:r>
            <a:r>
              <a:rPr sz="1050" b="0" i="1">
                <a:solidFill>
                  <a:srgbClr val="16213A"/>
                </a:solidFill>
                <a:latin typeface="Arial"/>
                <a:ea typeface="Malgun Gothic"/>
                <a:cs typeface="Malgun Gothic"/>
              </a:rPr>
              <a:t>z</a:t>
            </a:r>
            <a:r>
              <a:rPr sz="1050" b="0" i="0">
                <a:solidFill>
                  <a:srgbClr val="16213A"/>
                </a:solidFill>
                <a:latin typeface="Arial"/>
                <a:ea typeface="Malgun Gothic"/>
                <a:cs typeface="Malgun Gothic"/>
              </a:rPr>
              <a:t>를 고르는 가중 </a:t>
            </a:r>
            <a:r>
              <a:rPr sz="1050" b="0" i="1">
                <a:solidFill>
                  <a:srgbClr val="16213A"/>
                </a:solidFill>
                <a:latin typeface="Arial"/>
                <a:ea typeface="Malgun Gothic"/>
                <a:cs typeface="Malgun Gothic"/>
              </a:rPr>
              <a:t>exp((ℛ - v̄)/α)</a:t>
            </a:r>
            <a:r>
              <a:rPr sz="1050" b="0" i="0">
                <a:solidFill>
                  <a:srgbClr val="16213A"/>
                </a:solidFill>
                <a:latin typeface="Arial"/>
                <a:ea typeface="Malgun Gothic"/>
                <a:cs typeface="Malgun Gothic"/>
              </a:rPr>
              <a:t>는 TP-0066의 AWR 가중, MPPI의 </a:t>
            </a:r>
            <a:r>
              <a:rPr sz="1050" b="0" i="1">
                <a:solidFill>
                  <a:srgbClr val="16213A"/>
                </a:solidFill>
                <a:latin typeface="Arial"/>
                <a:ea typeface="Malgun Gothic"/>
                <a:cs typeface="Malgun Gothic"/>
              </a:rPr>
              <a:t>exp(-S/λ)</a:t>
            </a:r>
            <a:r>
              <a:rPr sz="1050" b="0" i="0">
                <a:solidFill>
                  <a:srgbClr val="16213A"/>
                </a:solidFill>
                <a:latin typeface="Arial"/>
                <a:ea typeface="Malgun Gothic"/>
                <a:cs typeface="Malgun Gothic"/>
              </a:rPr>
              <a:t>와 같은 꼴이다(R.10, 배경 0.2). 정보 병목의 교훈도 함께 온다. </a:t>
            </a:r>
            <a:r>
              <a:rPr sz="1050" b="0" i="1">
                <a:solidFill>
                  <a:srgbClr val="16213A"/>
                </a:solidFill>
                <a:latin typeface="Arial"/>
                <a:ea typeface="Malgun Gothic"/>
                <a:cs typeface="Malgun Gothic"/>
              </a:rPr>
              <a:t>z</a:t>
            </a:r>
            <a:r>
              <a:rPr sz="1050" b="0" i="0">
                <a:solidFill>
                  <a:srgbClr val="16213A"/>
                </a:solidFill>
                <a:latin typeface="Arial"/>
                <a:ea typeface="Malgun Gothic"/>
                <a:cs typeface="Malgun Gothic"/>
              </a:rPr>
              <a:t>가 파라미터를 너무 많이 담으면 정책이 시뮬레이터의 세부에 맞춰져 실물에서 깨졌다.</a:t>
            </a:r>
          </a:p>
        </p:txBody>
      </p:sp>
    </p:spTree>
  </p:cSld>
  <p:clrMapOvr>
    <a:masterClrMapping/>
  </p:clrMapOvr>
</p:sld>
</file>

<file path=ppt/slides/slide29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8/8</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298 / 516</a:t>
            </a:r>
          </a:p>
        </p:txBody>
      </p:sp>
      <p:pic>
        <p:nvPicPr>
          <p:cNvPr id="5" name="Picture 4" descr="image.jpg"/>
          <p:cNvPicPr>
            <a:picLocks noChangeAspect="1"/>
          </p:cNvPicPr>
          <p:nvPr/>
        </p:nvPicPr>
        <p:blipFill>
          <a:blip r:embed="rId3"/>
          <a:stretch>
            <a:fillRect/>
          </a:stretch>
        </p:blipFill>
        <p:spPr>
          <a:xfrm>
            <a:off x="609600" y="1244600"/>
            <a:ext cx="5410200" cy="1593850"/>
          </a:xfrm>
          <a:prstGeom prst="rect">
            <a:avLst/>
          </a:prstGeom>
        </p:spPr>
      </p:pic>
      <p:sp>
        <p:nvSpPr>
          <p:cNvPr id="6" name="TextBox 5"/>
          <p:cNvSpPr txBox="1"/>
          <p:nvPr/>
        </p:nvSpPr>
        <p:spPr>
          <a:xfrm>
            <a:off x="609600" y="2876550"/>
            <a:ext cx="54102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Imitating Animals (Fig. 1): 개의 trot(왼쪽 네 칸)과 제자리 회전(오른쪽 네 칸)을 세 줄로 보인다. 위는 개의 모션 캡처, 가운데는 그것을 따라 하는 시뮬레이션 Laikago, 아래는 같은 정책을 올린 실물 Laikago다. 출처: arXiv:2004.00784</a:t>
            </a:r>
          </a:p>
        </p:txBody>
      </p:sp>
      <p:pic>
        <p:nvPicPr>
          <p:cNvPr id="7" name="Picture 6" descr="image.jpg"/>
          <p:cNvPicPr>
            <a:picLocks noChangeAspect="1"/>
          </p:cNvPicPr>
          <p:nvPr/>
        </p:nvPicPr>
        <p:blipFill>
          <a:blip r:embed="rId4"/>
          <a:stretch>
            <a:fillRect/>
          </a:stretch>
        </p:blipFill>
        <p:spPr>
          <a:xfrm>
            <a:off x="6172200" y="1244600"/>
            <a:ext cx="5410200" cy="2552700"/>
          </a:xfrm>
          <a:prstGeom prst="rect">
            <a:avLst/>
          </a:prstGeom>
        </p:spPr>
      </p:pic>
      <p:sp>
        <p:nvSpPr>
          <p:cNvPr id="8" name="TextBox 7"/>
          <p:cNvSpPr txBox="1"/>
          <p:nvPr/>
        </p:nvSpPr>
        <p:spPr>
          <a:xfrm>
            <a:off x="6172200" y="3835400"/>
            <a:ext cx="54102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Imitating Animals (Fig. 2): 세 단계 구조다. 모션 캡처를 로봇의 기준 동작으로 옮기는 재지정, 시뮬레이션의 모방 학습, 실물로 옮길 때의 도메인 적응이다. 점선 위가 시뮬레이션, 아래가 실물이다. 출처: arXiv:2004.00784</a:t>
            </a:r>
          </a:p>
        </p:txBody>
      </p:sp>
    </p:spTree>
  </p:cSld>
  <p:clrMapOvr>
    <a:masterClrMapping/>
  </p:clrMapOvr>
</p:sld>
</file>

<file path=ppt/slides/slide29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자세히: Imitating Animals의 재지정, 모방 보상, 잠재 적응</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299 / 516</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풀려는 문제.</a:t>
            </a:r>
            <a:r>
              <a:rPr sz="1050" b="0" i="0">
                <a:solidFill>
                  <a:srgbClr val="16213A"/>
                </a:solidFill>
                <a:latin typeface="Arial"/>
                <a:ea typeface="Malgun Gothic"/>
                <a:cs typeface="Malgun Gothic"/>
              </a:rPr>
              <a:t> RL은 기술마다 보상을 손으로 짜야 하고, 그래도 실물에서 위험하거나 부자연스러운 동작이 나오기 쉽다. 동물 동작 데이터를 기준으로 쓰면 한 틀로 여러 기술을 만든다. 남는 문제는 시뮬레이션에서 배운 민첩한 기술을 실물로 옮기는 것이다.</a:t>
            </a:r>
          </a:p>
        </p:txBody>
      </p:sp>
      <p:sp>
        <p:nvSpPr>
          <p:cNvPr id="6" name="TextBox 5"/>
          <p:cNvSpPr txBox="1"/>
          <p:nvPr/>
        </p:nvSpPr>
        <p:spPr>
          <a:xfrm>
            <a:off x="609600" y="176649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① 재지정.</a:t>
            </a:r>
            <a:r>
              <a:rPr sz="1050" b="0" i="0">
                <a:solidFill>
                  <a:srgbClr val="16213A"/>
                </a:solidFill>
                <a:latin typeface="Arial"/>
                <a:ea typeface="Malgun Gothic"/>
                <a:cs typeface="Malgun Gothic"/>
              </a:rPr>
              <a:t> 개와 로봇의 몸에 발과 엉덩이 대응 점을 정하고, 매 프레임 그 점을 따라가는 자세열을 IK로 푼다. 기본 자세 </a:t>
            </a:r>
            <a:r>
              <a:rPr sz="1050" b="0" i="1">
                <a:solidFill>
                  <a:srgbClr val="16213A"/>
                </a:solidFill>
                <a:latin typeface="Arial"/>
                <a:ea typeface="Malgun Gothic"/>
                <a:cs typeface="Malgun Gothic"/>
              </a:rPr>
              <a:t>q̄</a:t>
            </a:r>
            <a:r>
              <a:rPr sz="1050" b="0" i="0">
                <a:solidFill>
                  <a:srgbClr val="16213A"/>
                </a:solidFill>
                <a:latin typeface="Arial"/>
                <a:ea typeface="Malgun Gothic"/>
                <a:cs typeface="Malgun Gothic"/>
              </a:rPr>
              <a:t>에서 너무 벗어나지 않게 관절별 가중 </a:t>
            </a:r>
            <a:r>
              <a:rPr sz="1050" b="0" i="1">
                <a:solidFill>
                  <a:srgbClr val="16213A"/>
                </a:solidFill>
                <a:latin typeface="Arial"/>
                <a:ea typeface="Malgun Gothic"/>
                <a:cs typeface="Malgun Gothic"/>
              </a:rPr>
              <a:t>W</a:t>
            </a:r>
            <a:r>
              <a:rPr sz="1050" b="0" i="0">
                <a:solidFill>
                  <a:srgbClr val="16213A"/>
                </a:solidFill>
                <a:latin typeface="Arial"/>
                <a:ea typeface="Malgun Gothic"/>
                <a:cs typeface="Malgun Gothic"/>
              </a:rPr>
              <a:t>로 묶는다.</a:t>
            </a:r>
          </a:p>
        </p:txBody>
      </p:sp>
      <p:pic>
        <p:nvPicPr>
          <p:cNvPr id="7" name="Picture 6" descr="image.png"/>
          <p:cNvPicPr>
            <a:picLocks noChangeAspect="1"/>
          </p:cNvPicPr>
          <p:nvPr/>
        </p:nvPicPr>
        <p:blipFill>
          <a:blip r:embed="rId3"/>
          <a:stretch>
            <a:fillRect/>
          </a:stretch>
        </p:blipFill>
        <p:spPr>
          <a:xfrm>
            <a:off x="609600" y="2071886"/>
            <a:ext cx="3775075" cy="419100"/>
          </a:xfrm>
          <a:prstGeom prst="rect">
            <a:avLst/>
          </a:prstGeom>
        </p:spPr>
      </p:pic>
      <p:sp>
        <p:nvSpPr>
          <p:cNvPr id="8" name="TextBox 7"/>
          <p:cNvSpPr txBox="1"/>
          <p:nvPr/>
        </p:nvSpPr>
        <p:spPr>
          <a:xfrm>
            <a:off x="609600" y="2502198"/>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모션 캡처는 공개 개 데이터셋과 애니메이터가 만든 동작을 섞었다.</a:t>
            </a:r>
          </a:p>
        </p:txBody>
      </p:sp>
      <p:sp>
        <p:nvSpPr>
          <p:cNvPr id="9" name="TextBox 8"/>
          <p:cNvSpPr txBox="1"/>
          <p:nvPr/>
        </p:nvSpPr>
        <p:spPr>
          <a:xfrm>
            <a:off x="609600" y="2807593"/>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② 모방.</a:t>
            </a:r>
            <a:r>
              <a:rPr sz="1050" b="0" i="0">
                <a:solidFill>
                  <a:srgbClr val="16213A"/>
                </a:solidFill>
                <a:latin typeface="Arial"/>
                <a:ea typeface="Malgun Gothic"/>
                <a:cs typeface="Malgun Gothic"/>
              </a:rPr>
              <a:t> 상태는 지난 세 스텝의 자세와 행동이다. 몸통 위치는 실물에서 추정하기 어려워 넣지 않았다. 목표는 1·2·10·30스텝 뒤의 기준 자세로 약 1초를 덮는다. 정책은 30 Hz로 PD 목표를 내고, 그 목표는 저역 통과 필터를 거친다. 보상은 DeepMimic(Peng 2018)과 같은 꼴이다.</a:t>
            </a:r>
          </a:p>
        </p:txBody>
      </p:sp>
      <p:pic>
        <p:nvPicPr>
          <p:cNvPr id="10" name="Picture 9" descr="image.png"/>
          <p:cNvPicPr>
            <a:picLocks noChangeAspect="1"/>
          </p:cNvPicPr>
          <p:nvPr/>
        </p:nvPicPr>
        <p:blipFill>
          <a:blip r:embed="rId4"/>
          <a:stretch>
            <a:fillRect/>
          </a:stretch>
        </p:blipFill>
        <p:spPr>
          <a:xfrm>
            <a:off x="609600" y="3329484"/>
            <a:ext cx="6026150" cy="460375"/>
          </a:xfrm>
          <a:prstGeom prst="rect">
            <a:avLst/>
          </a:prstGeom>
        </p:spPr>
      </p:pic>
      <p:sp>
        <p:nvSpPr>
          <p:cNvPr id="11" name="TextBox 10"/>
          <p:cNvSpPr txBox="1"/>
          <p:nvPr/>
        </p:nvSpPr>
        <p:spPr>
          <a:xfrm>
            <a:off x="609600" y="3794522"/>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나머지 네 항은 관절 속도, 몸통 기준 발끝 위치, 몸통 위치·자세, 몸통 속도의 같은 지수형 항이다.</a:t>
            </a:r>
          </a:p>
        </p:txBody>
      </p:sp>
      <p:sp>
        <p:nvSpPr>
          <p:cNvPr id="12" name="TextBox 11"/>
          <p:cNvSpPr txBox="1"/>
          <p:nvPr/>
        </p:nvSpPr>
        <p:spPr>
          <a:xfrm>
            <a:off x="609600" y="4099917"/>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③ 잠재 적응.</a:t>
            </a:r>
            <a:r>
              <a:rPr sz="1050" b="0" i="0">
                <a:solidFill>
                  <a:srgbClr val="16213A"/>
                </a:solidFill>
                <a:latin typeface="Arial"/>
                <a:ea typeface="Malgun Gothic"/>
                <a:cs typeface="Malgun Gothic"/>
              </a:rPr>
              <a:t> 에피소드마다 동역학 파라미터 </a:t>
            </a:r>
            <a:r>
              <a:rPr sz="1050" b="0" i="1">
                <a:solidFill>
                  <a:srgbClr val="16213A"/>
                </a:solidFill>
                <a:latin typeface="Arial"/>
                <a:ea typeface="Malgun Gothic"/>
                <a:cs typeface="Malgun Gothic"/>
              </a:rPr>
              <a:t>μ</a:t>
            </a:r>
            <a:r>
              <a:rPr sz="1050" b="0" i="0">
                <a:solidFill>
                  <a:srgbClr val="16213A"/>
                </a:solidFill>
                <a:latin typeface="Arial"/>
                <a:ea typeface="Malgun Gothic"/>
                <a:cs typeface="Malgun Gothic"/>
              </a:rPr>
              <a:t>를 뽑고, 인코더 </a:t>
            </a:r>
            <a:r>
              <a:rPr sz="1050" b="0" i="1">
                <a:solidFill>
                  <a:srgbClr val="16213A"/>
                </a:solidFill>
                <a:latin typeface="Arial"/>
                <a:ea typeface="Malgun Gothic"/>
                <a:cs typeface="Malgun Gothic"/>
              </a:rPr>
              <a:t>E(z | μ)</a:t>
            </a:r>
            <a:r>
              <a:rPr sz="1050" b="0" i="0">
                <a:solidFill>
                  <a:srgbClr val="16213A"/>
                </a:solidFill>
                <a:latin typeface="Arial"/>
                <a:ea typeface="Malgun Gothic"/>
                <a:cs typeface="Malgun Gothic"/>
              </a:rPr>
              <a:t>가 가우시안 잠재로 압축한다. 정책 </a:t>
            </a:r>
            <a:r>
              <a:rPr sz="1050" b="0" i="1">
                <a:solidFill>
                  <a:srgbClr val="16213A"/>
                </a:solidFill>
                <a:latin typeface="Arial"/>
                <a:ea typeface="Malgun Gothic"/>
                <a:cs typeface="Malgun Gothic"/>
              </a:rPr>
              <a:t>π(a | s, g, z)</a:t>
            </a:r>
            <a:r>
              <a:rPr sz="1050" b="0" i="0">
                <a:solidFill>
                  <a:srgbClr val="16213A"/>
                </a:solidFill>
                <a:latin typeface="Arial"/>
                <a:ea typeface="Malgun Gothic"/>
                <a:cs typeface="Malgun Gothic"/>
              </a:rPr>
              <a:t>와 인코더를 함께 학습한다. </a:t>
            </a:r>
            <a:r>
              <a:rPr sz="1050" b="0" i="1">
                <a:solidFill>
                  <a:srgbClr val="16213A"/>
                </a:solidFill>
                <a:latin typeface="Arial"/>
                <a:ea typeface="Malgun Gothic"/>
                <a:cs typeface="Malgun Gothic"/>
              </a:rPr>
              <a:t>z</a:t>
            </a:r>
            <a:r>
              <a:rPr sz="1050" b="0" i="0">
                <a:solidFill>
                  <a:srgbClr val="16213A"/>
                </a:solidFill>
                <a:latin typeface="Arial"/>
                <a:ea typeface="Malgun Gothic"/>
                <a:cs typeface="Malgun Gothic"/>
              </a:rPr>
              <a:t>가 </a:t>
            </a:r>
            <a:r>
              <a:rPr sz="1050" b="0" i="1">
                <a:solidFill>
                  <a:srgbClr val="16213A"/>
                </a:solidFill>
                <a:latin typeface="Arial"/>
                <a:ea typeface="Malgun Gothic"/>
                <a:cs typeface="Malgun Gothic"/>
              </a:rPr>
              <a:t>μ</a:t>
            </a:r>
            <a:r>
              <a:rPr sz="1050" b="0" i="0">
                <a:solidFill>
                  <a:srgbClr val="16213A"/>
                </a:solidFill>
                <a:latin typeface="Arial"/>
                <a:ea typeface="Malgun Gothic"/>
                <a:cs typeface="Malgun Gothic"/>
              </a:rPr>
              <a:t>를 너무 많이 담으면 정책이 시뮬레이터의 정확한 동역학에 맞춰진다. 그래서 </a:t>
            </a:r>
            <a:r>
              <a:rPr sz="1050" b="0" i="1">
                <a:solidFill>
                  <a:srgbClr val="16213A"/>
                </a:solidFill>
                <a:latin typeface="Arial"/>
                <a:ea typeface="Malgun Gothic"/>
                <a:cs typeface="Malgun Gothic"/>
              </a:rPr>
              <a:t>z</a:t>
            </a:r>
            <a:r>
              <a:rPr sz="1050" b="0" i="0">
                <a:solidFill>
                  <a:srgbClr val="16213A"/>
                </a:solidFill>
                <a:latin typeface="Arial"/>
                <a:ea typeface="Malgun Gothic"/>
                <a:cs typeface="Malgun Gothic"/>
              </a:rPr>
              <a:t>와 </a:t>
            </a:r>
            <a:r>
              <a:rPr sz="1050" b="0" i="1">
                <a:solidFill>
                  <a:srgbClr val="16213A"/>
                </a:solidFill>
                <a:latin typeface="Arial"/>
                <a:ea typeface="Malgun Gothic"/>
                <a:cs typeface="Malgun Gothic"/>
              </a:rPr>
              <a:t>μ</a:t>
            </a:r>
            <a:r>
              <a:rPr sz="1050" b="0" i="0">
                <a:solidFill>
                  <a:srgbClr val="16213A"/>
                </a:solidFill>
                <a:latin typeface="Arial"/>
                <a:ea typeface="Malgun Gothic"/>
                <a:cs typeface="Malgun Gothic"/>
              </a:rPr>
              <a:t>의 상호정보에 상한을 두는 정보 병목을 KL(Kullback–Leibler) 벌점으로 근사했다.</a:t>
            </a:r>
          </a:p>
        </p:txBody>
      </p:sp>
      <p:pic>
        <p:nvPicPr>
          <p:cNvPr id="13" name="Picture 12" descr="image.png"/>
          <p:cNvPicPr>
            <a:picLocks noChangeAspect="1"/>
          </p:cNvPicPr>
          <p:nvPr/>
        </p:nvPicPr>
        <p:blipFill>
          <a:blip r:embed="rId5"/>
          <a:stretch>
            <a:fillRect/>
          </a:stretch>
        </p:blipFill>
        <p:spPr>
          <a:xfrm>
            <a:off x="609600" y="4621808"/>
            <a:ext cx="5089525" cy="431800"/>
          </a:xfrm>
          <a:prstGeom prst="rect">
            <a:avLst/>
          </a:prstGeom>
        </p:spPr>
      </p:pic>
      <p:sp>
        <p:nvSpPr>
          <p:cNvPr id="14" name="TextBox 13"/>
          <p:cNvSpPr txBox="1"/>
          <p:nvPr/>
        </p:nvSpPr>
        <p:spPr>
          <a:xfrm>
            <a:off x="609600" y="5062835"/>
            <a:ext cx="10972800" cy="432991"/>
          </a:xfrm>
          <a:prstGeom prst="rect">
            <a:avLst/>
          </a:prstGeom>
          <a:noFill/>
        </p:spPr>
        <p:txBody>
          <a:bodyPr wrap="square" lIns="0" rIns="0" tIns="0" bIns="0" anchor="t">
            <a:spAutoFit/>
            <a:normAutofit/>
          </a:bodyPr>
          <a:lstStyle/>
          <a:p>
            <a:r>
              <a:rPr sz="1050" b="0" i="1">
                <a:solidFill>
                  <a:srgbClr val="16213A"/>
                </a:solidFill>
                <a:latin typeface="Arial"/>
                <a:ea typeface="Malgun Gothic"/>
                <a:cs typeface="Malgun Gothic"/>
              </a:rPr>
              <a:t>β → ∞</a:t>
            </a:r>
            <a:r>
              <a:rPr sz="1050" b="0" i="0">
                <a:solidFill>
                  <a:srgbClr val="16213A"/>
                </a:solidFill>
                <a:latin typeface="Arial"/>
                <a:ea typeface="Malgun Gothic"/>
                <a:cs typeface="Malgun Gothic"/>
              </a:rPr>
              <a:t>면 동역학을 모르는 강건한 정책이 되고, </a:t>
            </a:r>
            <a:r>
              <a:rPr sz="1050" b="0" i="1">
                <a:solidFill>
                  <a:srgbClr val="16213A"/>
                </a:solidFill>
                <a:latin typeface="Arial"/>
                <a:ea typeface="Malgun Gothic"/>
                <a:cs typeface="Malgun Gothic"/>
              </a:rPr>
              <a:t>β → 0</a:t>
            </a:r>
            <a:r>
              <a:rPr sz="1050" b="0" i="0">
                <a:solidFill>
                  <a:srgbClr val="16213A"/>
                </a:solidFill>
                <a:latin typeface="Arial"/>
                <a:ea typeface="Malgun Gothic"/>
                <a:cs typeface="Malgun Gothic"/>
              </a:rPr>
              <a:t>이면 동역학에 과적합한 정책이 된다. 실물에서는 탐색 분포 </a:t>
            </a:r>
            <a:r>
              <a:rPr sz="1050" b="0" i="1">
                <a:solidFill>
                  <a:srgbClr val="16213A"/>
                </a:solidFill>
                <a:latin typeface="Arial"/>
                <a:ea typeface="Malgun Gothic"/>
                <a:cs typeface="Malgun Gothic"/>
              </a:rPr>
              <a:t>ω(z)</a:t>
            </a:r>
            <a:r>
              <a:rPr sz="1050" b="0" i="0">
                <a:solidFill>
                  <a:srgbClr val="16213A"/>
                </a:solidFill>
                <a:latin typeface="Arial"/>
                <a:ea typeface="Malgun Gothic"/>
                <a:cs typeface="Malgun Gothic"/>
              </a:rPr>
              <a:t>를 </a:t>
            </a:r>
            <a:r>
              <a:rPr sz="1050" b="0" i="1">
                <a:solidFill>
                  <a:srgbClr val="16213A"/>
                </a:solidFill>
                <a:latin typeface="Arial"/>
                <a:ea typeface="Malgun Gothic"/>
                <a:cs typeface="Malgun Gothic"/>
              </a:rPr>
              <a:t>𝒩(0, I)</a:t>
            </a:r>
            <a:r>
              <a:rPr sz="1050" b="0" i="0">
                <a:solidFill>
                  <a:srgbClr val="16213A"/>
                </a:solidFill>
                <a:latin typeface="Arial"/>
                <a:ea typeface="Malgun Gothic"/>
                <a:cs typeface="Malgun Gothic"/>
              </a:rPr>
              <a:t>에서 시작한다. 한 번 뽑아 한 에피소드를 돌리고, 지금까지의 모든 표본을 수익의 지수로 가중해 분포를 다시 맞춘다.</a:t>
            </a:r>
          </a:p>
        </p:txBody>
      </p:sp>
      <p:sp>
        <p:nvSpPr>
          <p:cNvPr id="15" name="TextBox 14"/>
          <p:cNvSpPr txBox="1"/>
          <p:nvPr/>
        </p:nvSpPr>
        <p:spPr>
          <a:xfrm>
            <a:off x="609600" y="5584726"/>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9개(문단·식·그림)는 대시보드 리서치 탭의 "자세히: Imitating Animals의 재지정, 모방 보상, 잠재 적응" 토글에 있다.</a:t>
            </a:r>
          </a:p>
        </p:txBody>
      </p:sp>
    </p:spTree>
  </p:cSld>
  <p:clrMapOvr>
    <a:masterClrMapping/>
  </p:clrMapOvr>
</p:sld>
</file>

<file path=ppt/slides/slide30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1/8</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300 / 516</a:t>
            </a:r>
          </a:p>
        </p:txBody>
      </p:sp>
      <p:sp>
        <p:nvSpPr>
          <p:cNvPr id="5" name="TextBox 4"/>
          <p:cNvSpPr txBox="1"/>
          <p:nvPr/>
        </p:nvSpPr>
        <p:spPr>
          <a:xfrm>
            <a:off x="609600" y="1244600"/>
            <a:ext cx="10972800" cy="1298972"/>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Legged Robots that Keep on Learning — 시뮬레이션에서 미리 배운 A1 정책을 잔디와 메모리폼 위에서 2–2.5시간 안에 실물로 미세 조정했다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arXiv:2110.05457</a:t>
            </a:r>
            <a:r>
              <a:rPr sz="1050" b="0" i="0">
                <a:solidFill>
                  <a:srgbClr val="16213A"/>
                </a:solidFill>
                <a:latin typeface="Arial"/>
                <a:ea typeface="Malgun Gothic"/>
                <a:cs typeface="Malgun Gothic"/>
              </a:rPr>
              <a:t>, Smith·Kew·Peng·Ha·Tan·Levine, ICRA 2022, UC Berkeley·Google Research, </a:t>
            </a:r>
            <a:r>
              <a:rPr sz="1050" b="0" i="0">
                <a:solidFill>
                  <a:srgbClr val="1D4ED8"/>
                </a:solidFill>
                <a:latin typeface="Arial"/>
                <a:ea typeface="Malgun Gothic"/>
                <a:cs typeface="Malgun Gothic"/>
                <a:hlinkClick r:id="rId4"/>
              </a:rPr>
              <a:t>프로젝트</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5"/>
              </a:rPr>
              <a:t>코드</a:t>
            </a:r>
            <a:r>
              <a:rPr sz="1050" b="0" i="0">
                <a:solidFill>
                  <a:srgbClr val="16213A"/>
                </a:solidFill>
                <a:latin typeface="Arial"/>
                <a:ea typeface="Malgun Gothic"/>
                <a:cs typeface="Malgun Gothic"/>
              </a:rPr>
              <a:t>, Apache-2.0). Peng 2020의 모방 틀과 보상으로 pace와 옆걸음을 시뮬레이션에서 배운 뒤, 같은 off-policy 알고리즘으로 실물에서 계속 배운다. 실물로 넘어갈 때 재생 버퍼는 비운다. 알고리즘은 REDQ(randomized ensembled double Q-learning)다. Q 함수 10개 가운데 무작위 2개의 최솟값으로 목표를 잡는다. 사람 손을 빼는 장치가 둘이다. 넘어진 로봇은 시뮬레이션에서 배운 복구 정책이 일으키고, 보상은 IMU와 발 접촉으로 보정한 칼만 필터의 속도 추정으로 계산한다. 시뮬레이션 비교에서 학습 때 적응 장치를 익힌 두 방법은 학습과 비슷한 평지에서 잘했다. RMA(rapid motor adaptation)와 Peng 2020의 잠재 탐색이다. 거친 높이장과 저마찰면에서는 크게 떨어졌고, 미세 조정만 계속 나아졌다.</a:t>
            </a:r>
          </a:p>
        </p:txBody>
      </p:sp>
      <p:sp>
        <p:nvSpPr>
          <p:cNvPr id="6" name="TextBox 5"/>
          <p:cNvSpPr txBox="1"/>
          <p:nvPr/>
        </p:nvSpPr>
        <p:spPr>
          <a:xfrm>
            <a:off x="609600" y="2632472"/>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학습 때 넣은 적응 장치는 학습 분포 안에서만 적응한다. travplan의 </a:t>
            </a:r>
            <a:r>
              <a:rPr sz="1050" b="0" i="0">
                <a:solidFill>
                  <a:srgbClr val="16213A"/>
                </a:solidFill>
                <a:latin typeface="Consolas"/>
                <a:ea typeface="Malgun Gothic"/>
                <a:cs typeface="Malgun Gothic"/>
              </a:rPr>
              <a:t>mppi_plant_lag</a:t>
            </a:r>
            <a:r>
              <a:rPr sz="1050" b="0" i="0">
                <a:solidFill>
                  <a:srgbClr val="16213A"/>
                </a:solidFill>
                <a:latin typeface="Arial"/>
                <a:ea typeface="Malgun Gothic"/>
                <a:cs typeface="Malgun Gothic"/>
              </a:rPr>
              <a:t>(TP-0150)도 시뮬레이터가 아는 지연만 고친다. 젖은 타일이나 자갈처럼 모델에 없는 변화는 데이터로 다시 맞추는 길만 남고, travplan에서 그 자리는 GP 잔차(TP-0068)다. 이 논문은 실물로 넘어갈 때 시뮬레이션 버퍼를 버렸다. GP 잔차도 실물 데이터가 생기면 시뮬레이션 plant 데이터와 섞기 전에 따로 맞춰 비교한다. RMA는 B.16.5와 배경 0.11에 있다.</a:t>
            </a:r>
          </a:p>
        </p:txBody>
      </p:sp>
    </p:spTree>
  </p:cSld>
  <p:clrMapOvr>
    <a:masterClrMapping/>
  </p:clrMapOvr>
</p:sld>
</file>

<file path=ppt/slides/slide30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2/8</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301 / 516</a:t>
            </a:r>
          </a:p>
        </p:txBody>
      </p:sp>
      <p:pic>
        <p:nvPicPr>
          <p:cNvPr id="5" name="Picture 4" descr="image.jpg"/>
          <p:cNvPicPr>
            <a:picLocks noChangeAspect="1"/>
          </p:cNvPicPr>
          <p:nvPr/>
        </p:nvPicPr>
        <p:blipFill>
          <a:blip r:embed="rId3"/>
          <a:stretch>
            <a:fillRect/>
          </a:stretch>
        </p:blipFill>
        <p:spPr>
          <a:xfrm>
            <a:off x="1016000" y="1244600"/>
            <a:ext cx="10160000" cy="4400550"/>
          </a:xfrm>
          <a:prstGeom prst="rect">
            <a:avLst/>
          </a:prstGeom>
        </p:spPr>
      </p:pic>
      <p:sp>
        <p:nvSpPr>
          <p:cNvPr id="6" name="TextBox 5"/>
          <p:cNvSpPr txBox="1"/>
          <p:nvPr/>
        </p:nvSpPr>
        <p:spPr>
          <a:xfrm>
            <a:off x="1016000" y="5683250"/>
            <a:ext cx="101600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Legged Robots that Keep on Learning (Fig. 2): 왼쪽은 시뮬레이션에서 앞으로·뒤로 가는 정책과 복구(reset) 정책을 off-policy RL로 미리 배우는 단계다. 오른쪽은 잔디밭의 실물 A1이 두 방향을 번갈아 걸으며 계속 배우고, 넘어지면 복구 정책으로 일어나는 단계다. 출처: arXiv:2110.05457</a:t>
            </a:r>
          </a:p>
        </p:txBody>
      </p:sp>
    </p:spTree>
  </p:cSld>
  <p:clrMapOvr>
    <a:masterClrMapping/>
  </p:clrMapOvr>
</p:sld>
</file>

<file path=ppt/slides/slide30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3/8</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302 / 516</a:t>
            </a:r>
          </a:p>
        </p:txBody>
      </p:sp>
      <p:sp>
        <p:nvSpPr>
          <p:cNvPr id="5" name="TextBox 4"/>
          <p:cNvSpPr txBox="1"/>
          <p:nvPr/>
        </p:nvSpPr>
        <p:spPr>
          <a:xfrm>
            <a:off x="609600" y="1244600"/>
            <a:ext cx="10972800" cy="108247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학습한 위 층과 볼록 MPC 아래 층(2021–2022).</a:t>
            </a:r>
            <a:r>
              <a:rPr sz="1050" b="0" i="0">
                <a:solidFill>
                  <a:srgbClr val="16213A"/>
                </a:solidFill>
                <a:latin typeface="Arial"/>
                <a:ea typeface="Malgun Gothic"/>
                <a:cs typeface="Malgun Gothic"/>
              </a:rPr>
              <a:t> 같은 팀은 2021년부터 학습 정책을 위에, 모델 기반 볼록 MPC를 아래에 두는 계층을 여러 번 썼다. 아래 층은 모두 MIT Cheetah 3에서 나온 볼록 MPC(IROS 2018)이고, 위 층이 넘기는 것만 논문마다 다르다. travplan의 Planner D와 MPPI·NMPC Controller도 위가 학습이고 아래가 모델 기반이다. RL과 MPC를 섞는 다른 갈래는 Controller 문서 F.5에 있다. 첫 예는 걸음새 전환(</a:t>
            </a:r>
            <a:r>
              <a:rPr sz="1050" b="0" i="0">
                <a:solidFill>
                  <a:srgbClr val="1D4ED8"/>
                </a:solidFill>
                <a:latin typeface="Arial"/>
                <a:ea typeface="Malgun Gothic"/>
                <a:cs typeface="Malgun Gothic"/>
                <a:hlinkClick r:id="rId3"/>
              </a:rPr>
              <a:t>CoRL 2021, PMLR 164:773–783</a:t>
            </a:r>
            <a:r>
              <a:rPr sz="1050" b="0" i="0">
                <a:solidFill>
                  <a:srgbClr val="16213A"/>
                </a:solidFill>
                <a:latin typeface="Arial"/>
                <a:ea typeface="Malgun Gothic"/>
                <a:cs typeface="Malgun Gothic"/>
              </a:rPr>
              <a:t>, Yang·Zhang·Coumans·Tan·Boots)이다. 진화 전략으로 배운 상위 정책이 걸음 주파수·스윙 비율·다리 사이 위상 차를 고르고, 볼록 MPC가 모터 명령을 푼다. 에너지 최소화 보상만으로 속도에 따라 walk, trot, fly-trot이 저절로 바뀌었다(A1). 학습 위 층과 모델 기반 아래 층으로 나눈 점만 travplan과 닮았다. 위 층이 고르는 것은 경로가 아니라 발 접지 시점이다.</a:t>
            </a:r>
          </a:p>
        </p:txBody>
      </p:sp>
      <p:graphicFrame>
        <p:nvGraphicFramePr>
          <p:cNvPr id="6" name="Table 5"/>
          <p:cNvGraphicFramePr>
            <a:graphicFrameLocks noGrp="1"/>
          </p:cNvGraphicFramePr>
          <p:nvPr/>
        </p:nvGraphicFramePr>
        <p:xfrm>
          <a:off x="609600" y="2415977"/>
          <a:ext cx="10966450" cy="1182528"/>
        </p:xfrm>
        <a:graphic>
          <a:graphicData uri="http://schemas.openxmlformats.org/drawingml/2006/table">
            <a:tbl>
              <a:tblPr firstRow="1" bandRow="1">
                <a:tableStyleId>{5C22544A-7EE6-4342-B048-85BDC9FD1C3A}</a:tableStyleId>
              </a:tblPr>
              <a:tblGrid>
                <a:gridCol w="2187972"/>
                <a:gridCol w="3421062"/>
                <a:gridCol w="2705001"/>
                <a:gridCol w="2652415"/>
              </a:tblGrid>
              <a:tr h="197088">
                <a:tc>
                  <a:txBody>
                    <a:bodyPr wrap="square"/>
                    <a:lstStyle/>
                    <a:p>
                      <a:r>
                        <a:rPr sz="800" b="1" i="0">
                          <a:solidFill>
                            <a:srgbClr val="F4F1EA"/>
                          </a:solidFill>
                          <a:latin typeface="Arial"/>
                          <a:ea typeface="Malgun Gothic"/>
                          <a:cs typeface="Malgun Gothic"/>
                        </a:rPr>
                        <a:t>연구</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위 층이 넘기는 것</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갱신</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아래 층</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걸음새 전환(2021)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걸음 주파수, 스윙 비율, 다리 사이 위상 차</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상위 20 Hz, 하위 500 Hz</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스윙 제어와 볼록 MPC</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Visual-Locomotion(2021)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몸통 목표 자세와 속도, 스윙 발의 착지점 xy</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상위 20 Hz, 하위 250 Hz</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스윙 위치 제어와 볼록 MPC</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Safe RL(2022)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걸음 주파수, 스윙 비율, 위상 차, 발의 옆 위치</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상위 125 Hz, 하위 250 Hz</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스윙 제어와 볼록 MPC</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Semantics-Aware(2022)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전진 속도(걸음새는 속도로 정해진다)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상위 3 Hz, 하위 400 Hz</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스윙 제어와 볼록 MPC</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travplan 벤치마크</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경로 또는 4 s 시간 인덱스 궤적(</a:t>
                      </a:r>
                      <a:r>
                        <a:rPr sz="800" b="0" i="0">
                          <a:solidFill>
                            <a:srgbClr val="16213A"/>
                          </a:solidFill>
                          <a:latin typeface="Consolas"/>
                          <a:ea typeface="Malgun Gothic"/>
                          <a:cs typeface="Malgun Gothic"/>
                        </a:rPr>
                        <a:t>PlanResult</a:t>
                      </a:r>
                      <a:r>
                        <a:rPr sz="800" b="0" i="0">
                          <a:solidFill>
                            <a:srgbClr val="16213A"/>
                          </a:solidFill>
                          <a:latin typeface="Arial"/>
                          <a:ea typeface="Malgun Gothic"/>
                          <a:cs typeface="Malgun Gothic"/>
                        </a:rPr>
                        <a: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Planner·Controller 모두 0.1 s마다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MPPI·NMPC가 body twist를 낸다</a:t>
                      </a:r>
                    </a:p>
                  </a:txBody>
                  <a:tcPr marL="63500" marR="63500" marT="12700" marB="12700">
                    <a:solidFill>
                      <a:srgbClr val="FFFDF8"/>
                    </a:solidFill>
                  </a:tcPr>
                </a:tc>
              </a:tr>
            </a:tbl>
          </a:graphicData>
        </a:graphic>
      </p:graphicFrame>
      <p:sp>
        <p:nvSpPr>
          <p:cNvPr id="7" name="TextBox 6"/>
          <p:cNvSpPr txBox="1"/>
          <p:nvPr/>
        </p:nvSpPr>
        <p:spPr>
          <a:xfrm>
            <a:off x="609600" y="3989388"/>
            <a:ext cx="10972800" cy="1298972"/>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Visual-Locomotion — 깊이 영상을 보는 상위 정책이 발 디딤과 몸통 목표를 내고, 볼록 MPC를 쓴 하위 제어기가 그 목표를 따른다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4"/>
              </a:rPr>
              <a:t>CoRL 2021, PMLR 164:1291–1302</a:t>
            </a:r>
            <a:r>
              <a:rPr sz="1050" b="0" i="0">
                <a:solidFill>
                  <a:srgbClr val="16213A"/>
                </a:solidFill>
                <a:latin typeface="Arial"/>
                <a:ea typeface="Malgun Gothic"/>
                <a:cs typeface="Malgun Gothic"/>
              </a:rPr>
              <a:t>, Yu·Jain·Escontrela·Iscen·Xu·Coumans·Ha·Tan·Zhang, Robotics at Google, </a:t>
            </a:r>
            <a:r>
              <a:rPr sz="1050" b="0" i="0">
                <a:solidFill>
                  <a:srgbClr val="1D4ED8"/>
                </a:solidFill>
                <a:latin typeface="Arial"/>
                <a:ea typeface="Malgun Gothic"/>
                <a:cs typeface="Malgun Gothic"/>
                <a:hlinkClick r:id="rId5"/>
              </a:rPr>
              <a:t>OpenReview</a:t>
            </a:r>
            <a:r>
              <a:rPr sz="1050" b="0" i="0">
                <a:solidFill>
                  <a:srgbClr val="16213A"/>
                </a:solidFill>
                <a:latin typeface="Arial"/>
                <a:ea typeface="Malgun Gothic"/>
                <a:cs typeface="Malgun Gothic"/>
              </a:rPr>
              <a:t>). Laikago 앞쪽(D435)과 배 아래(L515)에 단 깊이 카메라 두 대의 영상을 32 × 24로 줄여 상위 정책에 넣는다. 정책은 20 Hz로 몸통의 목표 자세와 속도, 스윙 발의 착지점 xy를 낸다. 착지점의 높이는 깊이 영상에서 읽어, 장애물 속이나 공중에 디디는 행동을 처음부터 없앤다. 아래 층은 250 Hz로 돈다. 스윙 다리는 위치 제어로 따르고, 지지 다리는 무게중심 동역학의 볼록 MPC가 지면 반력을 푼다. 상위 정책은 PyBullet에서 ARS로 배웠다. 시뮬레이션 깊이 영상에는 잡음과 구멍을 넣고, 실물 영상과 함께 인페인팅해 두 영상의 분포를 맞췄다. 실물에서는 틈 셋(0.12–0.18 m)으로 나뉜 디딤판 넷을 건넜다. 다리별로 건넌 틈을 세는 점수(최대 12)가 8번 평균 10.1이었고, 끝까지 간 것은 2번이다. 눈을 가린 정책은 0.9였다. 같은 계층과 같은 실물 코스를 쓴 후속 PI-ARS(Lee 외, IROS 2022)는 표현 학습을 더해 10번 모두 끝까지 갔다. PI-ARS는 앞 연구의 성공률을 40%로 적는다.</a:t>
            </a:r>
          </a:p>
        </p:txBody>
      </p:sp>
      <p:sp>
        <p:nvSpPr>
          <p:cNvPr id="8" name="TextBox 7"/>
          <p:cNvSpPr txBox="1"/>
          <p:nvPr/>
        </p:nvSpPr>
        <p:spPr>
          <a:xfrm>
            <a:off x="609600" y="5377259"/>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Google 계보에서 travplan의 Planner D와 Controller 배치에 가장 가까운 예다. 위 층이 학습이고 아래 층이 모델 기반 최적화다. 다른 점은 경계다. 이 논문의 상위 정책은 경로 대신 다음 착지점과 몸통 목표를 0.05 s마다 낸다. travplan의 Planner D는 4 s 궤적을 0.1 s마다 낸다. 저자들이 꼽은 실물 실패의 주된 원인은 디딤판 가장자리에 너무 가깝게 디딘 발이다. 같은 행동열에서 시뮬레이션과 실물의 착지점이 2–4 cm 달랐다. travplan에서 같은 자리는 치명 셀 둘레의 여유다(TP-0076의 확률 제약).</a:t>
            </a:r>
          </a:p>
        </p:txBody>
      </p:sp>
    </p:spTree>
  </p:cSld>
  <p:clrMapOvr>
    <a:masterClrMapping/>
  </p:clrMapOvr>
</p:sld>
</file>

<file path=ppt/slides/slide30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4/8</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303 / 516</a:t>
            </a:r>
          </a:p>
        </p:txBody>
      </p:sp>
      <p:pic>
        <p:nvPicPr>
          <p:cNvPr id="5" name="Picture 4" descr="image.jpg"/>
          <p:cNvPicPr>
            <a:picLocks noChangeAspect="1"/>
          </p:cNvPicPr>
          <p:nvPr/>
        </p:nvPicPr>
        <p:blipFill>
          <a:blip r:embed="rId3"/>
          <a:stretch>
            <a:fillRect/>
          </a:stretch>
        </p:blipFill>
        <p:spPr>
          <a:xfrm>
            <a:off x="1016000" y="1244600"/>
            <a:ext cx="10160000" cy="1689100"/>
          </a:xfrm>
          <a:prstGeom prst="rect">
            <a:avLst/>
          </a:prstGeom>
        </p:spPr>
      </p:pic>
      <p:sp>
        <p:nvSpPr>
          <p:cNvPr id="6" name="TextBox 5"/>
          <p:cNvSpPr txBox="1"/>
          <p:nvPr/>
        </p:nvSpPr>
        <p:spPr>
          <a:xfrm>
            <a:off x="1016000" y="2971800"/>
            <a:ext cx="101600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PI-ARS (Fig. 4): Visual-Locomotion과 같은 실물 코스에서 후속 PI-ARS 정책으로 걷는 Laikago다. 틈으로 나뉜 색 디딤판을 차례로 건넌다. Visual-Locomotion 논문의 그림은 PDF로만 공개돼 있어 이 그림을 싣는다. 출처: arXiv:2207.13224</a:t>
            </a:r>
          </a:p>
        </p:txBody>
      </p:sp>
      <p:sp>
        <p:nvSpPr>
          <p:cNvPr id="7" name="TextBox 6"/>
          <p:cNvSpPr txBox="1"/>
          <p:nvPr/>
        </p:nvSpPr>
        <p:spPr>
          <a:xfrm>
            <a:off x="609600" y="3345061"/>
            <a:ext cx="10972800" cy="2164953"/>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Safe Reinforcement Learning for Legged Locomotion — 학습 정책이 위험 경계에 닿으면 안전 복구 정책이 넘겨받고, 앞으로의 위반이 없을 때만 돌려준다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4"/>
              </a:rPr>
              <a:t>arXiv:2203.02638</a:t>
            </a:r>
            <a:r>
              <a:rPr sz="1050" b="0" i="0">
                <a:solidFill>
                  <a:srgbClr val="16213A"/>
                </a:solidFill>
                <a:latin typeface="Arial"/>
                <a:ea typeface="Malgun Gothic"/>
                <a:cs typeface="Malgun Gothic"/>
              </a:rPr>
              <a:t>, T.-Y. Yang·Zhang·Luu·Ha·Tan·Yu, IROS 2022, Google Research·Princeton, </a:t>
            </a:r>
            <a:r>
              <a:rPr sz="1050" b="0" i="0">
                <a:solidFill>
                  <a:srgbClr val="1D4ED8"/>
                </a:solidFill>
                <a:latin typeface="Arial"/>
                <a:ea typeface="Malgun Gothic"/>
                <a:cs typeface="Malgun Gothic"/>
                <a:hlinkClick r:id="rId5"/>
              </a:rPr>
              <a:t>프로젝트</a:t>
            </a:r>
            <a:r>
              <a:rPr sz="1050" b="0" i="0">
                <a:solidFill>
                  <a:srgbClr val="16213A"/>
                </a:solidFill>
                <a:latin typeface="Arial"/>
                <a:ea typeface="Malgun Gothic"/>
                <a:cs typeface="Malgun Gothic"/>
              </a:rPr>
              <a:t>). 두 정책 모두 볼록 MPC 위의 상위 정책이다. 학습 정책은 걸음 주파수, 스윙 비율, 다리 사이 위상 차, 발의 옆 위치를 낸다. 몸통 높이, 기울기, 옆 속도와 roll 각속도가 정한 범위를 벗어나면(트리거 집합) 안전 복구 정책이 제어를 넘겨받는다. 넘겨받은 뒤에는 무게중심 동역학 모델로 학습 정책의 행동을 </a:t>
            </a:r>
            <a:r>
              <a:rPr sz="1050" b="0" i="1">
                <a:solidFill>
                  <a:srgbClr val="16213A"/>
                </a:solidFill>
                <a:latin typeface="Arial"/>
                <a:ea typeface="Malgun Gothic"/>
                <a:cs typeface="Malgun Gothic"/>
              </a:rPr>
              <a:t>w</a:t>
            </a:r>
            <a:r>
              <a:rPr sz="1050" b="0" i="0">
                <a:solidFill>
                  <a:srgbClr val="16213A"/>
                </a:solidFill>
                <a:latin typeface="Arial"/>
                <a:ea typeface="Malgun Gothic"/>
                <a:cs typeface="Malgun Gothic"/>
              </a:rPr>
              <a:t> 스텝 앞까지 굴려 본다. 굴린 상태가 모두 트리거 집합 밖일 때만 제어를 돌려준다. 바로 돌려주면 두 정책이 자주 바뀌어 탐색이 막혔다. 시뮬레이션 캣워크에서 굴려 보는 지평 </a:t>
            </a:r>
            <a:r>
              <a:rPr sz="1050" b="0" i="1">
                <a:solidFill>
                  <a:srgbClr val="16213A"/>
                </a:solidFill>
                <a:latin typeface="Arial"/>
                <a:ea typeface="Malgun Gothic"/>
                <a:cs typeface="Malgun Gothic"/>
              </a:rPr>
              <a:t>w</a:t>
            </a:r>
            <a:r>
              <a:rPr sz="1050" b="0" i="0">
                <a:solidFill>
                  <a:srgbClr val="16213A"/>
                </a:solidFill>
                <a:latin typeface="Arial"/>
                <a:ea typeface="Malgun Gothic"/>
                <a:cs typeface="Malgun Gothic"/>
              </a:rPr>
              <a:t>를 0에서 20스텝으로 늘리자 넘어짐은 551번에서 204번으로 줄고, 복구 정책을 쓴 스텝은 늘었다. 학습 데이터에는 학습 정책의 행동을 넣고, 복구 정책이 쓰인 스텝에는 벌점을 준다. 학습 정책이 복구가 필요 없는 쪽으로 배우게 하려는 장치다. 실물 실험은 계산 예산 때문에 앞날 굴리기를 끄고(</a:t>
            </a:r>
            <a:r>
              <a:rPr sz="1050" b="0" i="1">
                <a:solidFill>
                  <a:srgbClr val="16213A"/>
                </a:solidFill>
                <a:latin typeface="Arial"/>
                <a:ea typeface="Malgun Gothic"/>
                <a:cs typeface="Malgun Gothic"/>
              </a:rPr>
              <a:t>w = 0</a:t>
            </a:r>
            <a:r>
              <a:rPr sz="1050" b="0" i="0">
                <a:solidFill>
                  <a:srgbClr val="16213A"/>
                </a:solidFill>
                <a:latin typeface="Arial"/>
                <a:ea typeface="Malgun Gothic"/>
                <a:cs typeface="Malgun Gothic"/>
              </a:rPr>
              <a:t>), 복구 정책을 1 s 쓴 뒤 돌려줬다. 실물 A1의 효율 걸음(45분)과 캣워크(29분) 학습에서는 한 번도 넘어지지 않았다. 두 발 균형(28분)에서는 5번 미만으로 넘어졌다. 캣워크의 첫 갱신에서 복구 정책을 쓴 스텝은 6.8%였고, 안전 critic으로 전환하는 Recovery RL은 75.6%였다. 실물의 복구 정책은 학습한 MLP보다 시뮬레이션에서 맞춘 MPC 제어기가 더 잘 됐다. 같은 갈래의 후속 Gameplay Filters(</a:t>
            </a:r>
            <a:r>
              <a:rPr sz="1050" b="0" i="0">
                <a:solidFill>
                  <a:srgbClr val="1D4ED8"/>
                </a:solidFill>
                <a:latin typeface="Arial"/>
                <a:ea typeface="Malgun Gothic"/>
                <a:cs typeface="Malgun Gothic"/>
                <a:hlinkClick r:id="rId6"/>
              </a:rPr>
              <a:t>arXiv:2405.00846</a:t>
            </a:r>
            <a:r>
              <a:rPr sz="1050" b="0" i="0">
                <a:solidFill>
                  <a:srgbClr val="16213A"/>
                </a:solidFill>
                <a:latin typeface="Arial"/>
                <a:ea typeface="Malgun Gothic"/>
                <a:cs typeface="Malgun Gothic"/>
              </a:rPr>
              <a:t>, Nguyen·Hsu·Yu·Tan·Fisac, CoRL 2024)는 Princeton과 Google DeepMind의 공동 연구다. 시뮬레이션에서 배운 안전 전략을 가상 적대자와 미리 겨뤄 보고, 실패로 이어질 행동을 막는 예측 안전 필터를 사족 전체 동역학(36차원)에 세웠다. 실물 Spirit S40과 Go2에서 잡아당기기를 대부분 견뎠고, S40은 모델에 없는 지형도 안전하게 지났다. 안전 필터의 계보는 Controller 문서 C.4에 있다.</a:t>
            </a:r>
          </a:p>
        </p:txBody>
      </p:sp>
    </p:spTree>
  </p:cSld>
  <p:clrMapOvr>
    <a:masterClrMapping/>
  </p:clrMapOvr>
</p:sld>
</file>

<file path=ppt/slides/slide30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5/8</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304 / 516</a:t>
            </a:r>
          </a:p>
        </p:txBody>
      </p:sp>
      <p:sp>
        <p:nvSpPr>
          <p:cNvPr id="5" name="TextBox 4"/>
          <p:cNvSpPr txBox="1"/>
          <p:nvPr/>
        </p:nvSpPr>
        <p:spPr>
          <a:xfrm>
            <a:off x="609600" y="1244600"/>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planner_df</a:t>
            </a:r>
            <a:r>
              <a:rPr sz="1050" b="0" i="0">
                <a:solidFill>
                  <a:srgbClr val="16213A"/>
                </a:solidFill>
                <a:latin typeface="Arial"/>
                <a:ea typeface="Malgun Gothic"/>
                <a:cs typeface="Malgun Gothic"/>
              </a:rPr>
              <a:t>의 Guidance 폴백(TP-0078)과 닮은 '학습 쪽과 안전한 쪽의 전환'이다. 다만 넘기는 방식과 돌려주는 기준이 다르다. 이 논문은 상태가 위험 경계에 닿으면 제어를 통째로 넘기고, 모델로 앞을 굴려 안전할 때 돌려준다. </a:t>
            </a:r>
            <a:r>
              <a:rPr sz="1050" b="0" i="0">
                <a:solidFill>
                  <a:srgbClr val="16213A"/>
                </a:solidFill>
                <a:latin typeface="Consolas"/>
                <a:ea typeface="Malgun Gothic"/>
                <a:cs typeface="Malgun Gothic"/>
              </a:rPr>
              <a:t>planner_df</a:t>
            </a:r>
            <a:r>
              <a:rPr sz="1050" b="0" i="0">
                <a:solidFill>
                  <a:srgbClr val="16213A"/>
                </a:solidFill>
                <a:latin typeface="Arial"/>
                <a:ea typeface="Malgun Gothic"/>
                <a:cs typeface="Malgun Gothic"/>
              </a:rPr>
              <a:t>는 학습 표본의 치명 비율이 0.9 이상인 계획이 3번 이어지면 Guidance 경로를 20번 동안 후보로 넣고, 학습 표본과 같은 점수로 겨루게 한다. 통째로 넘기는 쪽은 경쟁 없이 경로를 내는 </a:t>
            </a:r>
            <a:r>
              <a:rPr sz="1050" b="0" i="0">
                <a:solidFill>
                  <a:srgbClr val="16213A"/>
                </a:solidFill>
                <a:latin typeface="Consolas"/>
                <a:ea typeface="Malgun Gothic"/>
                <a:cs typeface="Malgun Gothic"/>
              </a:rPr>
              <a:t>fallback_commit=1</a:t>
            </a:r>
            <a:r>
              <a:rPr sz="1050" b="0" i="0">
                <a:solidFill>
                  <a:srgbClr val="16213A"/>
                </a:solidFill>
                <a:latin typeface="Arial"/>
                <a:ea typeface="Malgun Gothic"/>
                <a:cs typeface="Malgun Gothic"/>
              </a:rPr>
              <a:t> 변형(B.15.2)에 가깝다. 가져올 것은 둘이다. 하나는 돌려주는 조건을 고정 횟수(20번) 대신 학습 쪽 계획을 앞으로 굴려 본 결과로 정하는 것이다. 다른 하나는 폴백이 이긴 계획을 RL 후학습(TP-0066)의 벌점으로 쓰는 것이다.</a:t>
            </a:r>
          </a:p>
        </p:txBody>
      </p:sp>
      <p:pic>
        <p:nvPicPr>
          <p:cNvPr id="6" name="Picture 5" descr="image.jpg"/>
          <p:cNvPicPr>
            <a:picLocks noChangeAspect="1"/>
          </p:cNvPicPr>
          <p:nvPr/>
        </p:nvPicPr>
        <p:blipFill>
          <a:blip r:embed="rId3"/>
          <a:stretch>
            <a:fillRect/>
          </a:stretch>
        </p:blipFill>
        <p:spPr>
          <a:xfrm>
            <a:off x="1016000" y="2199481"/>
            <a:ext cx="10160000" cy="2273300"/>
          </a:xfrm>
          <a:prstGeom prst="rect">
            <a:avLst/>
          </a:prstGeom>
        </p:spPr>
      </p:pic>
      <p:sp>
        <p:nvSpPr>
          <p:cNvPr id="7" name="TextBox 6"/>
          <p:cNvSpPr txBox="1"/>
          <p:nvPr/>
        </p:nvSpPr>
        <p:spPr>
          <a:xfrm>
            <a:off x="1016000" y="4510881"/>
            <a:ext cx="101600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Safe Reinforcement Learning for Legged Locomotion (Fig. 2): 초록 원은 안전 집합, 노란 띠는 트리거 집합, 바깥의 빨강은 실패 집합이다. 초록 화살표는 학습 정책의 행동, 빨간 화살표는 복구 정책의 행동이다. 왼쪽처럼 트리거 집합만 기준으로 넘기고 돌려주면 두 정책이 자주 바뀐다. 오른쪽처럼 학습 정책의 앞날을 굴려 보고 돌려주면 학습 정책이 트리거 집합에서 멀리 머문다. 출처: arXiv:2203.02638</a:t>
            </a:r>
          </a:p>
        </p:txBody>
      </p:sp>
      <p:sp>
        <p:nvSpPr>
          <p:cNvPr id="8" name="TextBox 7"/>
          <p:cNvSpPr txBox="1"/>
          <p:nvPr/>
        </p:nvSpPr>
        <p:spPr>
          <a:xfrm>
            <a:off x="609600" y="4884142"/>
            <a:ext cx="10972800" cy="1298972"/>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Learning Semantics-Aware Locomotion Skills — 카메라 영상에서 전진 속도를 고르고 속도에 맞는 걸음새를 붙여, 야외 지형 6 km 넘게 넘어지지 않고 걸었다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4"/>
              </a:rPr>
              <a:t>arXiv:2206.13631</a:t>
            </a:r>
            <a:r>
              <a:rPr sz="1050" b="0" i="0">
                <a:solidFill>
                  <a:srgbClr val="16213A"/>
                </a:solidFill>
                <a:latin typeface="Arial"/>
                <a:ea typeface="Malgun Gothic"/>
                <a:cs typeface="Malgun Gothic"/>
              </a:rPr>
              <a:t>, Y. Yang·Meng·Yu·Zhang·Tan·Boots, CoRL 2022(PMLR 205), Robotics at Google·University of Washington). 출발점은 지형의 마찰과 무른 정도가 모양보다 종류(풀, 진흙, 아스팔트)에서 더 잘 드러난다는 관찰이다. 속도 정책은 비포장 주행 데이터셋 RUGD로 미리 배운 분할망의 마지막 은닉층 특징(픽셀당 48차원)을 쓴다. 특징에서 픽셀마다 속도를 내는 속도 지도를 만들고, 로봇 앞 약 1 m × 0.3 m 영역을 평균해 목표 속도로 쓴다. 속도 정책은 사람이 조이스틱으로 준 속도 40분(7,239 프레임)을 행동 복제로 배웠다. 걸음새(걸음 주파수, 발 높이, 몸통 높이)는 속도에서 손으로 정한 선형 보간으로 고른다. 위 층은 3 Hz로, 아래의 볼록 MPC는 400 Hz로 돈다. 여러 지형이 섞인 450 m 시험 길을 9.6분에 넘어짐 없이 걸었다. 고정 저속(0.5 m/s)은 15분이 걸렸다. 더 빠른 고정 속도와, 속도나 걸음새 하나만 바꾸는 변형은 완주하지 못했다. 학습한 속도는 지형마다 넘어지지 않는 최대 속도에 가까웠다. 포장길은 1.25 m/s까지, 돌길은 0.5 m/s까지가 안전했다.</a:t>
            </a:r>
          </a:p>
        </p:txBody>
      </p:sp>
    </p:spTree>
  </p:cSld>
  <p:clrMapOvr>
    <a:masterClrMapping/>
  </p:clrMapOvr>
</p:sld>
</file>

<file path=ppt/slides/slide30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6/8</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305 / 516</a:t>
            </a:r>
          </a:p>
        </p:txBody>
      </p:sp>
      <p:sp>
        <p:nvSpPr>
          <p:cNvPr id="5" name="TextBox 4"/>
          <p:cNvSpPr txBox="1"/>
          <p:nvPr/>
        </p:nvSpPr>
        <p:spPr>
          <a:xfrm>
            <a:off x="609600" y="1244600"/>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보도 배달로봇의 속도 상한 문제에 가장 직접 닿는 Google 연구다. travplan MPPI의 </a:t>
            </a:r>
            <a:r>
              <a:rPr sz="1050" b="0" i="0">
                <a:solidFill>
                  <a:srgbClr val="16213A"/>
                </a:solidFill>
                <a:latin typeface="Consolas"/>
                <a:ea typeface="Malgun Gothic"/>
                <a:cs typeface="Malgun Gothic"/>
              </a:rPr>
              <a:t>TraversabilityCost</a:t>
            </a:r>
            <a:r>
              <a:rPr sz="1050" b="0" i="0">
                <a:solidFill>
                  <a:srgbClr val="16213A"/>
                </a:solidFill>
                <a:latin typeface="Arial"/>
                <a:ea typeface="Malgun Gothic"/>
                <a:cs typeface="Malgun Gothic"/>
              </a:rPr>
              <a:t>는 rollout이 지나는 칸의 cost를 시간으로 적분하고 치명 셀에 hard 벌점을 줄 뿐이다. 기본 비용 항 어디에도 지형에 따른 속도 상한은 없다. 이 논문처럼 지형에서 안전한 최대 속도를 정하는 항을 두면, 같은 경로라도 거친 칸에서 속도를 줄인다. MPPI에서는 cost나 rough 채널로 속도 상한을 정하는 </a:t>
            </a:r>
            <a:r>
              <a:rPr sz="1050" b="0" i="0">
                <a:solidFill>
                  <a:srgbClr val="16213A"/>
                </a:solidFill>
                <a:latin typeface="Consolas"/>
                <a:ea typeface="Malgun Gothic"/>
                <a:cs typeface="Malgun Gothic"/>
              </a:rPr>
              <a:t>CostTerm</a:t>
            </a:r>
            <a:r>
              <a:rPr sz="1050" b="0" i="0">
                <a:solidFill>
                  <a:srgbClr val="16213A"/>
                </a:solidFill>
                <a:latin typeface="Arial"/>
                <a:ea typeface="Malgun Gothic"/>
                <a:cs typeface="Malgun Gothic"/>
              </a:rPr>
              <a:t> 하나로 시험할 수 있다. 저자들이 밝힌 한계도 travplan과 같은 자리다. 이 인식은 앞에 못 지나갈 장애물이 없다고 가정해 방향을 바꾸지 않고, 경로 계획은 다음 과제로 남겼다.</a:t>
            </a:r>
          </a:p>
        </p:txBody>
      </p:sp>
      <p:pic>
        <p:nvPicPr>
          <p:cNvPr id="6" name="Picture 5" descr="image.jpg"/>
          <p:cNvPicPr>
            <a:picLocks noChangeAspect="1"/>
          </p:cNvPicPr>
          <p:nvPr/>
        </p:nvPicPr>
        <p:blipFill>
          <a:blip r:embed="rId3"/>
          <a:stretch>
            <a:fillRect/>
          </a:stretch>
        </p:blipFill>
        <p:spPr>
          <a:xfrm>
            <a:off x="1016000" y="2199481"/>
            <a:ext cx="10160000" cy="2184400"/>
          </a:xfrm>
          <a:prstGeom prst="rect">
            <a:avLst/>
          </a:prstGeom>
        </p:spPr>
      </p:pic>
      <p:sp>
        <p:nvSpPr>
          <p:cNvPr id="7" name="TextBox 6"/>
          <p:cNvSpPr txBox="1"/>
          <p:nvPr/>
        </p:nvSpPr>
        <p:spPr>
          <a:xfrm>
            <a:off x="1016000" y="4421981"/>
            <a:ext cx="101600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Learning Semantics-Aware Locomotion Skills (Fig. 5): 학습한 속도 정책이 카메라 영상마다 고른 목표 속도다. 왼쪽 끝의 굵은 돌길은 약 0.5 m/s, 오른쪽 끝의 평평한 포장길은 약 1.4 m/s에 놓인다(그래프에서 읽은 값). 출처: arXiv:2206.13631</a:t>
            </a:r>
          </a:p>
        </p:txBody>
      </p:sp>
      <p:sp>
        <p:nvSpPr>
          <p:cNvPr id="8" name="TextBox 7"/>
          <p:cNvSpPr txBox="1"/>
          <p:nvPr/>
        </p:nvSpPr>
        <p:spPr>
          <a:xfrm>
            <a:off x="609600" y="4795242"/>
            <a:ext cx="10972800" cy="108247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DeepMind의 OP3(2021–2024).</a:t>
            </a:r>
            <a:r>
              <a:rPr sz="1050" b="0" i="0">
                <a:solidFill>
                  <a:srgbClr val="16213A"/>
                </a:solidFill>
                <a:latin typeface="Arial"/>
                <a:ea typeface="Malgun Gothic"/>
                <a:cs typeface="Malgun Gothic"/>
              </a:rPr>
              <a:t> DeepMind의 Heess 팀은 같은 소형 휴머노이드 Robotis OP3로 세 단계를 밟았다. Bloesch 2021(</a:t>
            </a:r>
            <a:r>
              <a:rPr sz="1050" b="0" i="0">
                <a:solidFill>
                  <a:srgbClr val="1D4ED8"/>
                </a:solidFill>
                <a:latin typeface="Arial"/>
                <a:ea typeface="Malgun Gothic"/>
                <a:cs typeface="Malgun Gothic"/>
                <a:hlinkClick r:id="rId4"/>
              </a:rPr>
              <a:t>CoRL 2021, PMLR 164:1502–1511</a:t>
            </a:r>
            <a:r>
              <a:rPr sz="1050" b="0" i="0">
                <a:solidFill>
                  <a:srgbClr val="16213A"/>
                </a:solidFill>
                <a:latin typeface="Arial"/>
                <a:ea typeface="Malgun Gothic"/>
                <a:cs typeface="Malgun Gothic"/>
              </a:rPr>
              <a:t>)은 OP3 두 대를 두 장소에 두고 데이터를 나눠 쓰며, 고유감각 보상만으로 하드웨어에서 직접 걷기를 배웠다. 저자들은 이족 신경망 제어기를 하드웨어에서 직접 학습한 첫 사례라고 적는다. Imitate and Repurpose(</a:t>
            </a:r>
            <a:r>
              <a:rPr sz="1050" b="0" i="0">
                <a:solidFill>
                  <a:srgbClr val="1D4ED8"/>
                </a:solidFill>
                <a:latin typeface="Arial"/>
                <a:ea typeface="Malgun Gothic"/>
                <a:cs typeface="Malgun Gothic"/>
                <a:hlinkClick r:id="rId5"/>
              </a:rPr>
              <a:t>arXiv:2203.17138</a:t>
            </a:r>
            <a:r>
              <a:rPr sz="1050" b="0" i="0">
                <a:solidFill>
                  <a:srgbClr val="16213A"/>
                </a:solidFill>
                <a:latin typeface="Arial"/>
                <a:ea typeface="Malgun Gothic"/>
                <a:cs typeface="Malgun Gothic"/>
              </a:rPr>
              <a:t>, 2022)는 사람과 개의 모션 캡처로 배운 동작 모듈을 다시 써서 ANYmal과 OP3의 걷기와 공 몰기를 배우고, zero-shot으로 실물에 올렸다. NeRF2Real(</a:t>
            </a:r>
            <a:r>
              <a:rPr sz="1050" b="0" i="0">
                <a:solidFill>
                  <a:srgbClr val="1D4ED8"/>
                </a:solidFill>
                <a:latin typeface="Arial"/>
                <a:ea typeface="Malgun Gothic"/>
                <a:cs typeface="Malgun Gothic"/>
                <a:hlinkClick r:id="rId6"/>
              </a:rPr>
              <a:t>arXiv:2210.04932</a:t>
            </a:r>
            <a:r>
              <a:rPr sz="1050" b="0" i="0">
                <a:solidFill>
                  <a:srgbClr val="16213A"/>
                </a:solidFill>
                <a:latin typeface="Arial"/>
                <a:ea typeface="Malgun Gothic"/>
                <a:cs typeface="Malgun Gothic"/>
              </a:rPr>
              <a:t>, ICRA 2023)은 휴대폰 영상으로 만든 NeRF(neural radiance field) 장면을 MuJoCo 물리와 합쳐 OP3의 시각 정책을 시뮬레이션에서 배웠다. 실제 장소를 시뮬레이션에 넣는 일반론은 시뮬레이션 문서 S.4.2에 있다. 축구 두 편은 그 위에 있다.</a:t>
            </a:r>
          </a:p>
        </p:txBody>
      </p:sp>
    </p:spTree>
  </p:cSld>
  <p:clrMapOvr>
    <a:masterClrMapping/>
  </p:clrMapOvr>
</p:sld>
</file>

<file path=ppt/slides/slide30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7/8</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306 / 516</a:t>
            </a:r>
          </a:p>
        </p:txBody>
      </p:sp>
      <p:sp>
        <p:nvSpPr>
          <p:cNvPr id="5" name="TextBox 4"/>
          <p:cNvSpPr txBox="1"/>
          <p:nvPr/>
        </p:nvSpPr>
        <p:spPr>
          <a:xfrm>
            <a:off x="609600" y="1244600"/>
            <a:ext cx="10972800" cy="1731962"/>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Learning Agile Soccer Skills for a Bipedal Robot — 20관절 소형 휴머노이드가 시뮬레이션에서만 배운 1대1 축구를 실물에서 했다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arXiv:2304.13653</a:t>
            </a:r>
            <a:r>
              <a:rPr sz="1050" b="0" i="0">
                <a:solidFill>
                  <a:srgbClr val="16213A"/>
                </a:solidFill>
                <a:latin typeface="Arial"/>
                <a:ea typeface="Malgun Gothic"/>
                <a:cs typeface="Malgun Gothic"/>
              </a:rPr>
              <a:t>, Haarnoja·Moran·Lever·Huang·Tirumala 외 23명, Science Robotics 9(89) eadi8022, 2024-04-10, Google DeepMind, </a:t>
            </a:r>
            <a:r>
              <a:rPr sz="1050" b="0" i="0">
                <a:solidFill>
                  <a:srgbClr val="1D4ED8"/>
                </a:solidFill>
                <a:latin typeface="Arial"/>
                <a:ea typeface="Malgun Gothic"/>
                <a:cs typeface="Malgun Gothic"/>
                <a:hlinkClick r:id="rId4"/>
              </a:rPr>
              <a:t>DOI</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5"/>
              </a:rPr>
              <a:t>프로젝트</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6"/>
              </a:rPr>
              <a:t>데이터</a:t>
            </a:r>
            <a:r>
              <a:rPr sz="1050" b="0" i="0">
                <a:solidFill>
                  <a:srgbClr val="16213A"/>
                </a:solidFill>
                <a:latin typeface="Arial"/>
                <a:ea typeface="Malgun Gothic"/>
                <a:cs typeface="Malgun Gothic"/>
              </a:rPr>
              <a:t> Apache-2.0). 로봇은 키 51 cm, 무게 3.5 kg의 Robotis OP3이고 서보 20개를 위치 제어로 움직인다. 정책은 40 Hz로 관절 위치 목표를 낸다. 학습은 두 단계다. 먼저 일어서기 기술과, 쓰러진 상대를 두고 골을 넣는 축구 기술을 따로 배운다. 일어서기는 기존 스크립트 동작에서 뽑은 핵심 자세를 따라가게 했다. 다음으로 두 기술을 한 정책에 증류하면서 자기 대국(self-play)으로 1대1을 배운다. 서 있는 상태에서는 축구 기술, 넘어진 상태에서는 일어서기 기술에 KL 정규화를 건다. 예측 가치가 정한 문턱을 넘으면 그 정규화를 스스로 0으로 줄여 순수 RL로 넘어간다. 상대는 저장해 둔 자기 스냅숏의 앞쪽 4분의 1에서 뽑았다. 관측은 고유감각과, 모션 캡처로 얻은 공·상대·골대의 위치다. 알고리즘은 분포형 critic을 쓴 MPO(maximum a posteriori policy optimization)다. sim-to-real 장치는 작다. 간단한 구동기 식별, 몇 가지 무작위화(관측 지연 10–50 ms 포함), 무작위 충격이다. 이것들 없이 배운 정책은 실물에서 한두 걸음마다 넘어졌다. 실물에서 학습 정책은 스크립트 제어기보다 걷기가 181% 빨랐다(0.57 대 0.20 m/s). 회전은 302% 빨랐고(2.85 대 0.71 rad/s), 일어서는 시간은 63% 짧았다(0.93 대 2.52 s).</a:t>
            </a:r>
          </a:p>
        </p:txBody>
      </p:sp>
      <p:sp>
        <p:nvSpPr>
          <p:cNvPr id="6" name="TextBox 5"/>
          <p:cNvSpPr txBox="1"/>
          <p:nvPr/>
        </p:nvSpPr>
        <p:spPr>
          <a:xfrm>
            <a:off x="609600" y="3065462"/>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가장 가져올 것은 증류 가중을 고정하지 않는 법이다. TP-0066은 모방 손실 가중을 0.5로 고정했다. 이 논문은 가중을 예측 가치가 문턱을 넘을 때까지만 두고, 넘으면 스스로 내린다. 교사(시연, Guidance)보다 나아질 여지를 학습이 스스로 연다. sim-to-real 쪽 교훈은 Tan 2018과 같다. 저자들은 과한 무작위화가 보수적인 정책을 만든다며 무작위화 축을 일부러 적게 골랐다. S.6.1의 '너무 넓은 무작위화는 보수적인 정책을 만든다'와 Tan 2018의 '무작위화는 필요할 때만'이 같은 방향이다. travplan Playground의 휴머노이드(TP-0135, Controller 문서 E.13)는 학습 정책이 아니라 걸음 시계와 발 디딤 규칙으로 걷는다. 그래서 이 논문은 travplan 쪽에서는 간접적인 참고다.</a:t>
            </a:r>
          </a:p>
        </p:txBody>
      </p:sp>
    </p:spTree>
  </p:cSld>
  <p:clrMapOvr>
    <a:masterClrMapping/>
  </p:clrMapOvr>
</p:sld>
</file>

<file path=ppt/slides/slide30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8/8</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307 / 516</a:t>
            </a:r>
          </a:p>
        </p:txBody>
      </p:sp>
      <p:pic>
        <p:nvPicPr>
          <p:cNvPr id="5" name="Picture 4" descr="image.jpg"/>
          <p:cNvPicPr>
            <a:picLocks noChangeAspect="1"/>
          </p:cNvPicPr>
          <p:nvPr/>
        </p:nvPicPr>
        <p:blipFill>
          <a:blip r:embed="rId3"/>
          <a:stretch>
            <a:fillRect/>
          </a:stretch>
        </p:blipFill>
        <p:spPr>
          <a:xfrm>
            <a:off x="609600" y="1244600"/>
            <a:ext cx="2406650" cy="2667000"/>
          </a:xfrm>
          <a:prstGeom prst="rect">
            <a:avLst/>
          </a:prstGeom>
        </p:spPr>
      </p:pic>
      <p:sp>
        <p:nvSpPr>
          <p:cNvPr id="6" name="TextBox 5"/>
          <p:cNvSpPr txBox="1"/>
          <p:nvPr/>
        </p:nvSpPr>
        <p:spPr>
          <a:xfrm>
            <a:off x="609600" y="3949700"/>
            <a:ext cx="5410200" cy="42654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Learning Agile Soccer Skills (Fig. 3): 실물 OP3가 학습 정책으로 보인 행동 일곱 줄이다. 위에서부터 움직이는 공 차기·슛 막기·빠른 회전·등으로 누운 상태에서 일어서기·엎드린 상태에서 일어서기·공과 자기 골대 사이로 들어가는 수비·사람이 민 뒤 회복이다. 출처: arXiv:2304.13653</a:t>
            </a:r>
          </a:p>
        </p:txBody>
      </p:sp>
      <p:pic>
        <p:nvPicPr>
          <p:cNvPr id="7" name="Picture 6" descr="image.jpg"/>
          <p:cNvPicPr>
            <a:picLocks noChangeAspect="1"/>
          </p:cNvPicPr>
          <p:nvPr/>
        </p:nvPicPr>
        <p:blipFill>
          <a:blip r:embed="rId4"/>
          <a:stretch>
            <a:fillRect/>
          </a:stretch>
        </p:blipFill>
        <p:spPr>
          <a:xfrm>
            <a:off x="6172200" y="1244600"/>
            <a:ext cx="5410200" cy="2203450"/>
          </a:xfrm>
          <a:prstGeom prst="rect">
            <a:avLst/>
          </a:prstGeom>
        </p:spPr>
      </p:pic>
      <p:sp>
        <p:nvSpPr>
          <p:cNvPr id="8" name="TextBox 7"/>
          <p:cNvSpPr txBox="1"/>
          <p:nvPr/>
        </p:nvSpPr>
        <p:spPr>
          <a:xfrm>
            <a:off x="6172200" y="3486150"/>
            <a:ext cx="54102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Learning Agile Soccer Skills (Fig. 2): 학습의 두 단계다. 1단계(왼쪽)는 학습하지 않은 상대를 두고 축구 기술을, 따로 일어서기 기술을 배운다. 2단계(오른쪽)는 두 기술에 KL로 정규화하면서 이전 스냅숏을 상대로 한 정책을 배운다. 출처: arXiv:2304.13653</a:t>
            </a:r>
          </a:p>
        </p:txBody>
      </p:sp>
    </p:spTree>
  </p:cSld>
  <p:clrMapOvr>
    <a:masterClrMapping/>
  </p:clrMapOvr>
</p:sld>
</file>

<file path=ppt/slides/slide30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자세히: OP3 축구의 학습 단계, 증류 가중, sim-to-real 설정</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308 / 516</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풀려는 문제.</a:t>
            </a:r>
            <a:r>
              <a:rPr sz="1050" b="0" i="0">
                <a:solidFill>
                  <a:srgbClr val="16213A"/>
                </a:solidFill>
                <a:latin typeface="Arial"/>
                <a:ea typeface="Malgun Gothic"/>
                <a:cs typeface="Malgun Gothic"/>
              </a:rPr>
              <a:t> 사족보행 RL은 많이 나아갔지만, 휴머노이드와 이족은 안정성과 자유도와 파손 위험 때문에 걷기·달리기 같은 단일 기술의 학습과 이전에 머물렀다. 이 논문은 저가 소형 휴머노이드가 여러 기술을 매끄럽게 섞어야 하는 긴 과제(1대1 축구)를 학습만으로 풀 수 있는지 묻는다.</a:t>
            </a:r>
          </a:p>
        </p:txBody>
      </p:sp>
      <p:sp>
        <p:nvSpPr>
          <p:cNvPr id="6" name="TextBox 5"/>
          <p:cNvSpPr txBox="1"/>
          <p:nvPr/>
        </p:nvSpPr>
        <p:spPr>
          <a:xfrm>
            <a:off x="609600" y="176649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환경.</a:t>
            </a:r>
            <a:r>
              <a:rPr sz="1050" b="0" i="0">
                <a:solidFill>
                  <a:srgbClr val="16213A"/>
                </a:solidFill>
                <a:latin typeface="Arial"/>
                <a:ea typeface="Malgun Gothic"/>
                <a:cs typeface="Malgun Gothic"/>
              </a:rPr>
              <a:t> MuJoCo와 DeepMind Control Suite 위의 5 × 4 m 경기장이고, 골대 폭은 0.8 m다. 실물 경기장은 OptiTrack 카메라 14대로 로봇 두 대와 공을 추적한다. 행동은 지수 필터 </a:t>
            </a:r>
            <a:r>
              <a:rPr sz="1050" b="0" i="1">
                <a:solidFill>
                  <a:srgbClr val="16213A"/>
                </a:solidFill>
                <a:latin typeface="Arial"/>
                <a:ea typeface="Malgun Gothic"/>
                <a:cs typeface="Malgun Gothic"/>
              </a:rPr>
              <a:t>uₜ = 0.8 uₜ₋₁ + 0.2 aₜ</a:t>
            </a:r>
            <a:r>
              <a:rPr sz="1050" b="0" i="0">
                <a:solidFill>
                  <a:srgbClr val="16213A"/>
                </a:solidFill>
                <a:latin typeface="Arial"/>
                <a:ea typeface="Malgun Gothic"/>
                <a:cs typeface="Malgun Gothic"/>
              </a:rPr>
              <a:t>를 거쳐 위치 제어로 간다. 고유감각은 5스텝을 쌓고, 공·상대·골대는 쌓지 않는다. 로봇 컴퓨터는 GPU 없는 Intel Core i3 NUC다.</a:t>
            </a:r>
          </a:p>
        </p:txBody>
      </p:sp>
      <p:sp>
        <p:nvSpPr>
          <p:cNvPr id="7" name="TextBox 6"/>
          <p:cNvSpPr txBox="1"/>
          <p:nvPr/>
        </p:nvSpPr>
        <p:spPr>
          <a:xfrm>
            <a:off x="609600" y="228838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보상(원문 표 S3).</a:t>
            </a:r>
            <a:r>
              <a:rPr sz="1050" b="0" i="0">
                <a:solidFill>
                  <a:srgbClr val="16213A"/>
                </a:solidFill>
                <a:latin typeface="Arial"/>
                <a:ea typeface="Malgun Gothic"/>
                <a:cs typeface="Malgun Gothic"/>
              </a:rPr>
              <a:t> 축구 기술과 1대1 전체의 가중이다.</a:t>
            </a:r>
          </a:p>
        </p:txBody>
      </p:sp>
      <p:graphicFrame>
        <p:nvGraphicFramePr>
          <p:cNvPr id="8" name="Table 7"/>
          <p:cNvGraphicFramePr>
            <a:graphicFrameLocks noGrp="1"/>
          </p:cNvGraphicFramePr>
          <p:nvPr/>
        </p:nvGraphicFramePr>
        <p:xfrm>
          <a:off x="609600" y="2593777"/>
          <a:ext cx="10966450" cy="1773792"/>
        </p:xfrm>
        <a:graphic>
          <a:graphicData uri="http://schemas.openxmlformats.org/drawingml/2006/table">
            <a:tbl>
              <a:tblPr firstRow="1" bandRow="1">
                <a:tableStyleId>{5C22544A-7EE6-4342-B048-85BDC9FD1C3A}</a:tableStyleId>
              </a:tblPr>
              <a:tblGrid>
                <a:gridCol w="6893024"/>
                <a:gridCol w="1978918"/>
                <a:gridCol w="2094508"/>
              </a:tblGrid>
              <a:tr h="197088">
                <a:tc>
                  <a:txBody>
                    <a:bodyPr wrap="square"/>
                    <a:lstStyle/>
                    <a:p>
                      <a:r>
                        <a:rPr sz="800" b="1" i="0">
                          <a:solidFill>
                            <a:srgbClr val="F4F1EA"/>
                          </a:solidFill>
                          <a:latin typeface="Arial"/>
                          <a:ea typeface="Malgun Gothic"/>
                          <a:cs typeface="Malgun Gothic"/>
                        </a:rPr>
                        <a:t>보상 항</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축구 기술</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1대1 전체</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득점</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1000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1000</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실점</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1000</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공 쪽 속도</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0.05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0.05</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전진 속도</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0.1</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상대 방해 벌점(1 m 안)</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종료 벌점(넘어짐, 경기장 밖, 골 금지 구역)</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0.5</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직립</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0.015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0.02</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무릎 토크 벌점</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0.01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0.01</a:t>
                      </a:r>
                    </a:p>
                  </a:txBody>
                  <a:tcPr marL="63500" marR="63500" marT="12700" marB="12700">
                    <a:solidFill>
                      <a:srgbClr val="F3F0E8"/>
                    </a:solidFill>
                  </a:tcPr>
                </a:tc>
              </a:tr>
            </a:tbl>
          </a:graphicData>
        </a:graphic>
      </p:graphicFrame>
      <p:sp>
        <p:nvSpPr>
          <p:cNvPr id="9" name="TextBox 8"/>
          <p:cNvSpPr txBox="1"/>
          <p:nvPr/>
        </p:nvSpPr>
        <p:spPr>
          <a:xfrm>
            <a:off x="609600" y="4906268"/>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전진 속도 항을 빼면 축구 기술을 아예 배우지 못했다. 탐색을 돕는 항이 필요했다는 뜻이다.</a:t>
            </a:r>
          </a:p>
        </p:txBody>
      </p:sp>
      <p:sp>
        <p:nvSpPr>
          <p:cNvPr id="10" name="TextBox 9"/>
          <p:cNvSpPr txBox="1"/>
          <p:nvPr/>
        </p:nvSpPr>
        <p:spPr>
          <a:xfrm>
            <a:off x="609600" y="5211663"/>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증류.</a:t>
            </a:r>
            <a:r>
              <a:rPr sz="1050" b="0" i="0">
                <a:solidFill>
                  <a:srgbClr val="16213A"/>
                </a:solidFill>
                <a:latin typeface="Arial"/>
                <a:ea typeface="Malgun Gothic"/>
                <a:cs typeface="Malgun Gothic"/>
              </a:rPr>
              <a:t> 상태 </a:t>
            </a:r>
            <a:r>
              <a:rPr sz="1050" b="0" i="1">
                <a:solidFill>
                  <a:srgbClr val="16213A"/>
                </a:solidFill>
                <a:latin typeface="Arial"/>
                <a:ea typeface="Malgun Gothic"/>
                <a:cs typeface="Malgun Gothic"/>
              </a:rPr>
              <a:t>s</a:t>
            </a:r>
            <a:r>
              <a:rPr sz="1050" b="0" i="0">
                <a:solidFill>
                  <a:srgbClr val="16213A"/>
                </a:solidFill>
                <a:latin typeface="Arial"/>
                <a:ea typeface="Malgun Gothic"/>
                <a:cs typeface="Malgun Gothic"/>
              </a:rPr>
              <a:t>가 서 있는 집합 </a:t>
            </a:r>
            <a:r>
              <a:rPr sz="1050" b="0" i="1">
                <a:solidFill>
                  <a:srgbClr val="16213A"/>
                </a:solidFill>
                <a:latin typeface="Arial"/>
                <a:ea typeface="Malgun Gothic"/>
                <a:cs typeface="Malgun Gothic"/>
              </a:rPr>
              <a:t>𝒰</a:t>
            </a:r>
            <a:r>
              <a:rPr sz="1050" b="0" i="0">
                <a:solidFill>
                  <a:srgbClr val="16213A"/>
                </a:solidFill>
                <a:latin typeface="Arial"/>
                <a:ea typeface="Malgun Gothic"/>
                <a:cs typeface="Malgun Gothic"/>
              </a:rPr>
              <a:t>에 있으면 축구 기술 </a:t>
            </a:r>
            <a:r>
              <a:rPr sz="1050" b="0" i="1">
                <a:solidFill>
                  <a:srgbClr val="16213A"/>
                </a:solidFill>
                <a:latin typeface="Arial"/>
                <a:ea typeface="Malgun Gothic"/>
                <a:cs typeface="Malgun Gothic"/>
              </a:rPr>
              <a:t>πₛ</a:t>
            </a:r>
            <a:r>
              <a:rPr sz="1050" b="0" i="0">
                <a:solidFill>
                  <a:srgbClr val="16213A"/>
                </a:solidFill>
                <a:latin typeface="Arial"/>
                <a:ea typeface="Malgun Gothic"/>
                <a:cs typeface="Malgun Gothic"/>
              </a:rPr>
              <a:t>로, 아니면 일어서기 기술 </a:t>
            </a:r>
            <a:r>
              <a:rPr sz="1050" b="0" i="1">
                <a:solidFill>
                  <a:srgbClr val="16213A"/>
                </a:solidFill>
                <a:latin typeface="Arial"/>
                <a:ea typeface="Malgun Gothic"/>
                <a:cs typeface="Malgun Gothic"/>
              </a:rPr>
              <a:t>π_g</a:t>
            </a:r>
            <a:r>
              <a:rPr sz="1050" b="0" i="0">
                <a:solidFill>
                  <a:srgbClr val="16213A"/>
                </a:solidFill>
                <a:latin typeface="Arial"/>
                <a:ea typeface="Malgun Gothic"/>
                <a:cs typeface="Malgun Gothic"/>
              </a:rPr>
              <a:t>로 정규화한다.</a:t>
            </a:r>
          </a:p>
        </p:txBody>
      </p:sp>
      <p:pic>
        <p:nvPicPr>
          <p:cNvPr id="11" name="Picture 10" descr="image.png"/>
          <p:cNvPicPr>
            <a:picLocks noChangeAspect="1"/>
          </p:cNvPicPr>
          <p:nvPr/>
        </p:nvPicPr>
        <p:blipFill>
          <a:blip r:embed="rId3"/>
          <a:stretch>
            <a:fillRect/>
          </a:stretch>
        </p:blipFill>
        <p:spPr>
          <a:xfrm>
            <a:off x="609600" y="5517059"/>
            <a:ext cx="4552950" cy="238125"/>
          </a:xfrm>
          <a:prstGeom prst="rect">
            <a:avLst/>
          </a:prstGeom>
        </p:spPr>
      </p:pic>
      <p:sp>
        <p:nvSpPr>
          <p:cNvPr id="12" name="TextBox 11"/>
          <p:cNvSpPr txBox="1"/>
          <p:nvPr/>
        </p:nvSpPr>
        <p:spPr>
          <a:xfrm>
            <a:off x="609600" y="5794573"/>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8개(문단·식·그림)는 대시보드 리서치 탭의 "자세히: OP3 축구의 학습 단계, 증류 가중, sim-to-real 설정" 토글에 있다.</a:t>
            </a:r>
          </a:p>
        </p:txBody>
      </p:sp>
    </p:spTree>
  </p:cSld>
  <p:clrMapOvr>
    <a:masterClrMapping/>
  </p:clrMapOvr>
</p:sld>
</file>

<file path=ppt/slides/slide30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1/4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309 / 516</a:t>
            </a:r>
          </a:p>
        </p:txBody>
      </p:sp>
      <p:sp>
        <p:nvSpPr>
          <p:cNvPr id="5" name="TextBox 4"/>
          <p:cNvSpPr txBox="1"/>
          <p:nvPr/>
        </p:nvSpPr>
        <p:spPr>
          <a:xfrm>
            <a:off x="609600" y="1244600"/>
            <a:ext cx="10972800" cy="108247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Learning Robot Soccer from Egocentric Vision — 머리 카메라 RGB(40 × 30)와 고유감각만으로 1대1 축구를 끝단까지 배워 실물 OP3에 올렸다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arXiv:2405.02425</a:t>
            </a:r>
            <a:r>
              <a:rPr sz="1050" b="0" i="0">
                <a:solidFill>
                  <a:srgbClr val="16213A"/>
                </a:solidFill>
                <a:latin typeface="Arial"/>
                <a:ea typeface="Malgun Gothic"/>
                <a:cs typeface="Malgun Gothic"/>
              </a:rPr>
              <a:t>, Tirumala·Wulfmeier·Moran 외 13명, CoRL 2024(PMLR 270), Google DeepMind, </a:t>
            </a:r>
            <a:r>
              <a:rPr sz="1050" b="0" i="0">
                <a:solidFill>
                  <a:srgbClr val="1D4ED8"/>
                </a:solidFill>
                <a:latin typeface="Arial"/>
                <a:ea typeface="Malgun Gothic"/>
                <a:cs typeface="Malgun Gothic"/>
                <a:hlinkClick r:id="rId4"/>
              </a:rPr>
              <a:t>프로젝트</a:t>
            </a:r>
            <a:r>
              <a:rPr sz="1050" b="0" i="0">
                <a:solidFill>
                  <a:srgbClr val="16213A"/>
                </a:solidFill>
                <a:latin typeface="Arial"/>
                <a:ea typeface="Malgun Gothic"/>
                <a:cs typeface="Malgun Gothic"/>
              </a:rPr>
              <a:t>). OP3 축구(Haarnoja 2024)의 두 단계 학습을 그대로 쓰되, 모션 캡처 대신 머리 카메라 영상을 정책에 준다. 시뮬레이션의 카메라 영상은 실제 경기장을 사진 250–300장으로 찍어 만든 NeRF 렌더링에, MuJoCo가 그린 공과 상대를 겹친 것이다. 정책은 긴 기억을 위해 LSTM(long short-term memory)을 쓰고, critic만 공·상대·골대의 참값을 받는다. 이전 실험들의 데이터도 버리지 않고 섞어 다시 쓴다. 공을 찾으라는 보상이 없는데도 공을 찾아 고개를 돌리고, 시야 밖으로 나간 공을 계속 추적하는 행동이 나왔다. 시뮬레이션에서 시각 정책의 걷기와 킥 속도는 상태 정책과 비슷했다. 페널티 득점률은 시뮬레이션 0.86이었지만, 실물 20번에서는 0.40(상태 정책 0.58)으로 떨어졌다.</a:t>
            </a:r>
          </a:p>
        </p:txBody>
      </p:sp>
      <p:sp>
        <p:nvSpPr>
          <p:cNvPr id="6" name="TextBox 5"/>
          <p:cNvSpPr txBox="1"/>
          <p:nvPr/>
        </p:nvSpPr>
        <p:spPr>
          <a:xfrm>
            <a:off x="609600" y="2415977"/>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critic에만 참값을 주는 비대칭 구조는 R.16이 꼽은 다음 후보(비대칭 critic)와 같다. TP-0066은 belief에서 후보를 뽑고 GT 지도로 채점하므로, critic을 넣는다면 GT TravMap과 plant 상태를 critic에만 준다. 실험 사이 데이터 재사용도 TP-0066에 맞는다. 라운드마다 rollout이 208–245 s이고 미세 조정은 5–6 s라, 이전 라운드의 rollout을 버리지 않는 것만으로 표본이 몇 배가 된다. 다만 정책이 많이 바뀐 라운드의 표본은 가중을 따로 재야 한다(R.10). 3DGS(3D Gaussian splatting)로 실제 장소를 시뮬레이션에 넣는 real-to-sim은 S.4.2에 있다.</a:t>
            </a:r>
          </a:p>
        </p:txBody>
      </p:sp>
    </p:spTree>
  </p:cSld>
  <p:clrMapOvr>
    <a:masterClrMapping/>
  </p:clrMapOvr>
</p:sld>
</file>

<file path=ppt/slides/slide31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2/4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310 / 516</a:t>
            </a:r>
          </a:p>
        </p:txBody>
      </p:sp>
      <p:pic>
        <p:nvPicPr>
          <p:cNvPr id="5" name="Picture 4" descr="image.jpg"/>
          <p:cNvPicPr>
            <a:picLocks noChangeAspect="1"/>
          </p:cNvPicPr>
          <p:nvPr/>
        </p:nvPicPr>
        <p:blipFill>
          <a:blip r:embed="rId3"/>
          <a:stretch>
            <a:fillRect/>
          </a:stretch>
        </p:blipFill>
        <p:spPr>
          <a:xfrm>
            <a:off x="2654300" y="1244600"/>
            <a:ext cx="6883400" cy="4445000"/>
          </a:xfrm>
          <a:prstGeom prst="rect">
            <a:avLst/>
          </a:prstGeom>
        </p:spPr>
      </p:pic>
      <p:sp>
        <p:nvSpPr>
          <p:cNvPr id="6" name="TextBox 5"/>
          <p:cNvSpPr txBox="1"/>
          <p:nvPr/>
        </p:nvSpPr>
        <p:spPr>
          <a:xfrm>
            <a:off x="2654300" y="5727700"/>
            <a:ext cx="68834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Learning Robot Soccer from Egocentric Vision (Fig. 1): 왼쪽은 시뮬레이션 경기장과 그 카메라 영상(NeRF 렌더링 위에 공과 로봇을 겹침), 오른쪽은 실물 경기장과 OP3 머리 카메라 영상이다. 양쪽 모두 정책에는 40 × 30으로 줄인 영상이 들어간다. 출처: arXiv:2405.02425</a:t>
            </a:r>
          </a:p>
        </p:txBody>
      </p:sp>
    </p:spTree>
  </p:cSld>
  <p:clrMapOvr>
    <a:masterClrMapping/>
  </p:clrMapOvr>
</p:sld>
</file>

<file path=ppt/slides/slide31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3/4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311 / 516</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합병 뒤의 Barkour와 언어 인터페이스(2023–2024).</a:t>
            </a:r>
            <a:r>
              <a:rPr sz="1050" b="0" i="0">
                <a:solidFill>
                  <a:srgbClr val="16213A"/>
                </a:solidFill>
                <a:latin typeface="Arial"/>
                <a:ea typeface="Malgun Gothic"/>
                <a:cs typeface="Malgun Gothic"/>
              </a:rPr>
              <a:t> 두 조직이 합쳐진 2023년, 사족 쪽은 직접 만든 로봇 Barkour와 그 위의 벤치마크를 냈다. 같은 해 언어 모델과 보행 정책을 잇는 인터페이스 두 가지가 나왔고, 2024년의 LMPC가 그 하나를 실물 Barkour에 올렸다.</a:t>
            </a:r>
          </a:p>
        </p:txBody>
      </p:sp>
      <p:sp>
        <p:nvSpPr>
          <p:cNvPr id="6" name="TextBox 5"/>
          <p:cNvSpPr txBox="1"/>
          <p:nvPr/>
        </p:nvSpPr>
        <p:spPr>
          <a:xfrm>
            <a:off x="609600" y="1766491"/>
            <a:ext cx="10972800" cy="1948458"/>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Barkour — 개 어질리티 대회를 본뜬 5 × 5 m 장애물 코스와 시간 기반 점수, 그리고 전문가 정책 셋을 증류한 Locomotion-Transformer</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arXiv:2305.14654</a:t>
            </a:r>
            <a:r>
              <a:rPr sz="1050" b="0" i="0">
                <a:solidFill>
                  <a:srgbClr val="16213A"/>
                </a:solidFill>
                <a:latin typeface="Arial"/>
                <a:ea typeface="Malgun Gothic"/>
                <a:cs typeface="Malgun Gothic"/>
              </a:rPr>
              <a:t>, Caluwaerts·Iscen·Kew·Yu·Zhang 외 39명, Google DeepMind, 2023, 학회판은 확인하지 못했다, </a:t>
            </a:r>
            <a:r>
              <a:rPr sz="1050" b="0" i="0">
                <a:solidFill>
                  <a:srgbClr val="1D4ED8"/>
                </a:solidFill>
                <a:latin typeface="Arial"/>
                <a:ea typeface="Malgun Gothic"/>
                <a:cs typeface="Malgun Gothic"/>
                <a:hlinkClick r:id="rId4"/>
              </a:rPr>
              <a:t>프로젝트</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5"/>
              </a:rPr>
              <a:t>MuJoCo 모델 v0</a:t>
            </a:r>
            <a:r>
              <a:rPr sz="1050" b="0" i="0">
                <a:solidFill>
                  <a:srgbClr val="16213A"/>
                </a:solidFill>
                <a:latin typeface="Arial"/>
                <a:ea typeface="Malgun Gothic"/>
                <a:cs typeface="Malgun Gothic"/>
              </a:rPr>
              <a:t> Apache-2.0, 후속 기체 vB의 설계와 펌웨어 </a:t>
            </a:r>
            <a:r>
              <a:rPr sz="1050" b="0" i="0">
                <a:solidFill>
                  <a:srgbClr val="1D4ED8"/>
                </a:solidFill>
                <a:latin typeface="Arial"/>
                <a:ea typeface="Malgun Gothic"/>
                <a:cs typeface="Malgun Gothic"/>
                <a:hlinkClick r:id="rId6"/>
              </a:rPr>
              <a:t>barkour_robot</a:t>
            </a:r>
            <a:r>
              <a:rPr sz="1050" b="0" i="0">
                <a:solidFill>
                  <a:srgbClr val="16213A"/>
                </a:solidFill>
                <a:latin typeface="Arial"/>
                <a:ea typeface="Malgun Gothic"/>
                <a:cs typeface="Malgun Gothic"/>
              </a:rPr>
              <a:t> 소프트웨어 Apache-2.0·그 밖 자료 CC BY-NC 4.0). 코스는 출발·도착 탁자, 기둥 다섯 개의 위브 폴, 30° A자 경사, 0.5 m 멀리뛰기 판이다. 점수는 1에서 시작한다. 실패하거나 건너뛴 장애물마다 0.1을, 허용 시간을 넘긴 1초마다 0.01을 뺀다. 허용 시간은 명목 거리 18 m를 작은 개의 목표 속도 1.69 m/s로 나눈 10.64 s다. 로봇은 직접 만든 11.5 kg 사족이고, 정책은 50 Hz로 관절 위치 명령을 낸다. 첫 기준선은 전문가 정책 셋이다. 전방향 걷기·경사 오르기·멀리뛰기를 legged_gym(B.14.1)에서 PPO로 따로 배운다. 지형은 Miki 2022(B.14.2)처럼 로봇 둘레의 높이 샘플로 본다. 참 위치를 아는 상태 기계가 waypoint마다 정해 둔 전문가를 고르고 속도 명령을 낸다. 둘째 기준선은 세 전문가를 시뮬레이션에서 굴린 17,636 에피소드(로봇 시간 57.58시간)를 오프라인 행동 복제로 증류한 transformer 하나다. 이 정책은 장애물 종류를 모른 채 속도 명령만 받는다. 실물 평균은 전문가 조합이 0.77점(24.6 s), Locomotion-Transformer가 0.73점(25.8 s)이었다. 어질리티 훈련을 받지 않은 작은 개 두 마리는 코스에 익숙해진 뒤 1.0점(9.02 s)을 냈다. 2024-05에 공개된 barkour_robot은 후속 기체 vB의 설계다. 공개 문서 기준 약 14 kg이라, 논문의 11.5 kg 기체와 같은 판은 아니다.</a:t>
            </a:r>
          </a:p>
        </p:txBody>
      </p:sp>
      <p:sp>
        <p:nvSpPr>
          <p:cNvPr id="7" name="TextBox 6"/>
          <p:cNvSpPr txBox="1"/>
          <p:nvPr/>
        </p:nvSpPr>
        <p:spPr>
          <a:xfrm>
            <a:off x="609600" y="3803848"/>
            <a:ext cx="10972800" cy="108247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첫째는 점수 설계다. travplan 벤치마크는 레벨 0에서 12/12로 포화돼 스택을 가르지 못한다. Guidance 경로 길이를 목표 속도로 나눈 허용 시간을 두고 초과 시간만 깎으면, 지형마다 다른 길이를 정규화한 시간 점수가 된다. 지표 확장 TP-0038에 넣을 후보다. 치명 셀 진입은 점수로 깎지 않고 지금처럼 따로 거는 게이트로 남긴다. 둘째는 전문가 전환과 증류의 비교다. </a:t>
            </a:r>
            <a:r>
              <a:rPr sz="1050" b="0" i="0">
                <a:solidFill>
                  <a:srgbClr val="16213A"/>
                </a:solidFill>
                <a:latin typeface="Consolas"/>
                <a:ea typeface="Malgun Gothic"/>
                <a:cs typeface="Malgun Gothic"/>
              </a:rPr>
              <a:t>planner_df</a:t>
            </a:r>
            <a:r>
              <a:rPr sz="1050" b="0" i="0">
                <a:solidFill>
                  <a:srgbClr val="16213A"/>
                </a:solidFill>
                <a:latin typeface="Arial"/>
                <a:ea typeface="Malgun Gothic"/>
                <a:cs typeface="Malgun Gothic"/>
              </a:rPr>
              <a:t>의 Guidance 폴백은 Barkour의 첫 기준선과 닮았지만 다르다. Barkour는 waypoint마다 미리 정한 전문가로 바꾸고, </a:t>
            </a:r>
            <a:r>
              <a:rPr sz="1050" b="0" i="0">
                <a:solidFill>
                  <a:srgbClr val="16213A"/>
                </a:solidFill>
                <a:latin typeface="Consolas"/>
                <a:ea typeface="Malgun Gothic"/>
                <a:cs typeface="Malgun Gothic"/>
              </a:rPr>
              <a:t>planner_df</a:t>
            </a:r>
            <a:r>
              <a:rPr sz="1050" b="0" i="0">
                <a:solidFill>
                  <a:srgbClr val="16213A"/>
                </a:solidFill>
                <a:latin typeface="Arial"/>
                <a:ea typeface="Malgun Gothic"/>
                <a:cs typeface="Malgun Gothic"/>
              </a:rPr>
              <a:t>는 치명 표본 비율이 문턱을 넘을 때만 Guidance 경로를 후보로 넣어 학습 표본과 같은 점수로 겨룬다. 증류한 단일 정책은 점수가 조금 낮았지만 전환이 매끄러웠다. 경사로를 지나친 상태에서 시작하는 DAgger로 Planner D 혼자 되돌아가게 가르친 시도(TP-0143, B.15.6)는 단독 성적을 올리지 못했다.</a:t>
            </a:r>
          </a:p>
        </p:txBody>
      </p:sp>
    </p:spTree>
  </p:cSld>
  <p:clrMapOvr>
    <a:masterClrMapping/>
  </p:clrMapOvr>
</p:sld>
</file>

<file path=ppt/slides/slide31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4/4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312 / 516</a:t>
            </a:r>
          </a:p>
        </p:txBody>
      </p:sp>
      <p:pic>
        <p:nvPicPr>
          <p:cNvPr id="5" name="Picture 4" descr="image.jpg"/>
          <p:cNvPicPr>
            <a:picLocks noChangeAspect="1"/>
          </p:cNvPicPr>
          <p:nvPr/>
        </p:nvPicPr>
        <p:blipFill>
          <a:blip r:embed="rId3"/>
          <a:stretch>
            <a:fillRect/>
          </a:stretch>
        </p:blipFill>
        <p:spPr>
          <a:xfrm>
            <a:off x="609600" y="1244600"/>
            <a:ext cx="3625850" cy="2667000"/>
          </a:xfrm>
          <a:prstGeom prst="rect">
            <a:avLst/>
          </a:prstGeom>
        </p:spPr>
      </p:pic>
      <p:sp>
        <p:nvSpPr>
          <p:cNvPr id="6" name="TextBox 5"/>
          <p:cNvSpPr txBox="1"/>
          <p:nvPr/>
        </p:nvSpPr>
        <p:spPr>
          <a:xfrm>
            <a:off x="609600" y="3949700"/>
            <a:ext cx="54102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Barkour (Fig. 1a): 5 × 5 m 코스를 위에서 찍은 사진이다. 빨간 출발 탁자에서 시작해 위브 폴을 지그재그로 지나고, 인조 잔디를 덮은 A자 경사를 넘고, 색 띠의 멀리뛰기 판을 건너 노란 도착 탁자에 오른다. 흰 점선이 그 경로다. 출처: arXiv:2305.14654</a:t>
            </a:r>
          </a:p>
        </p:txBody>
      </p:sp>
      <p:pic>
        <p:nvPicPr>
          <p:cNvPr id="7" name="Picture 6" descr="image.jpg"/>
          <p:cNvPicPr>
            <a:picLocks noChangeAspect="1"/>
          </p:cNvPicPr>
          <p:nvPr/>
        </p:nvPicPr>
        <p:blipFill>
          <a:blip r:embed="rId4"/>
          <a:stretch>
            <a:fillRect/>
          </a:stretch>
        </p:blipFill>
        <p:spPr>
          <a:xfrm>
            <a:off x="6172200" y="1244600"/>
            <a:ext cx="5410200" cy="1885950"/>
          </a:xfrm>
          <a:prstGeom prst="rect">
            <a:avLst/>
          </a:prstGeom>
        </p:spPr>
      </p:pic>
      <p:sp>
        <p:nvSpPr>
          <p:cNvPr id="8" name="TextBox 7"/>
          <p:cNvSpPr txBox="1"/>
          <p:nvPr/>
        </p:nvSpPr>
        <p:spPr>
          <a:xfrm>
            <a:off x="6172200" y="3168650"/>
            <a:ext cx="54102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Barkour (Fig. 1b): 0.5 m 멀리뛰기를 겹쳐 찍은 사진이다. 직접 만든 사족 로봇이 웅크렸다가 색 띠 판 위를 날아 넘어 내린다. 출처: arXiv:2305.14654</a:t>
            </a:r>
          </a:p>
        </p:txBody>
      </p:sp>
    </p:spTree>
  </p:cSld>
  <p:clrMapOvr>
    <a:masterClrMapping/>
  </p:clrMapOvr>
</p:sld>
</file>

<file path=ppt/slides/slide31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자세히: Barkour의 점수, 로봇, 전문가 정책, Locomotion-Transformer</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313 / 516</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풀려는 문제.</a:t>
            </a:r>
            <a:r>
              <a:rPr sz="1050" b="0" i="0">
                <a:solidFill>
                  <a:srgbClr val="16213A"/>
                </a:solidFill>
                <a:latin typeface="Arial"/>
                <a:ea typeface="Malgun Gothic"/>
                <a:cs typeface="Malgun Gothic"/>
              </a:rPr>
              <a:t> 보행 연구는 저마다 다른 임시 지표로 결과를 낸다. 민첩성은 빠르기만이 아니라 여러 기술을 제어된 방식으로 이어 쓰는 능력이라, 한 숫자로 비교하기 어렵다. Barkour는 개 어질리티 대회의 규정에서 코스, 시간 점수, 벌점을 가져왔다.</a:t>
            </a:r>
          </a:p>
        </p:txBody>
      </p:sp>
      <p:sp>
        <p:nvSpPr>
          <p:cNvPr id="6" name="TextBox 5"/>
          <p:cNvSpPr txBox="1"/>
          <p:nvPr/>
        </p:nvSpPr>
        <p:spPr>
          <a:xfrm>
            <a:off x="609600" y="176649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점수.</a:t>
            </a:r>
          </a:p>
        </p:txBody>
      </p:sp>
      <p:pic>
        <p:nvPicPr>
          <p:cNvPr id="7" name="Picture 6" descr="image.png"/>
          <p:cNvPicPr>
            <a:picLocks noChangeAspect="1"/>
          </p:cNvPicPr>
          <p:nvPr/>
        </p:nvPicPr>
        <p:blipFill>
          <a:blip r:embed="rId3"/>
          <a:stretch>
            <a:fillRect/>
          </a:stretch>
        </p:blipFill>
        <p:spPr>
          <a:xfrm>
            <a:off x="609600" y="2071886"/>
            <a:ext cx="5915025" cy="425450"/>
          </a:xfrm>
          <a:prstGeom prst="rect">
            <a:avLst/>
          </a:prstGeom>
        </p:spPr>
      </p:pic>
      <p:sp>
        <p:nvSpPr>
          <p:cNvPr id="8" name="TextBox 7"/>
          <p:cNvSpPr txBox="1"/>
          <p:nvPr/>
        </p:nvSpPr>
        <p:spPr>
          <a:xfrm>
            <a:off x="609600" y="2505770"/>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벌점은 실패하거나 건너뛴 장애물마다 0.1이고, 점수가 0이 되면 에피소드를 끝낸다. 명목 거리는 위브 폴 6 m, A자 경사 6 m, 멀리뛰기 4 m, 탁자 둘이 1 m씩이다. 모두 18 m이고 </a:t>
            </a:r>
            <a:r>
              <a:rPr sz="1050" b="0" i="1">
                <a:solidFill>
                  <a:srgbClr val="16213A"/>
                </a:solidFill>
                <a:latin typeface="Arial"/>
                <a:ea typeface="Malgun Gothic"/>
                <a:cs typeface="Malgun Gothic"/>
              </a:rPr>
              <a:t>v_(target) = 1.69</a:t>
            </a:r>
            <a:r>
              <a:rPr sz="1050" b="0" i="0">
                <a:solidFill>
                  <a:srgbClr val="16213A"/>
                </a:solidFill>
                <a:latin typeface="Arial"/>
                <a:ea typeface="Malgun Gothic"/>
                <a:cs typeface="Malgun Gothic"/>
              </a:rPr>
              <a:t> m/s에서 허용 시간은 10.64 s다. 대회와 달리 재시도 같은 작은 감점은 뺐다. 시뮬레이션과 실물에서 똑같이 계산하기 쉽게 하려는 선택이다.</a:t>
            </a:r>
          </a:p>
        </p:txBody>
      </p:sp>
      <p:sp>
        <p:nvSpPr>
          <p:cNvPr id="9" name="TextBox 8"/>
          <p:cNvSpPr txBox="1"/>
          <p:nvPr/>
        </p:nvSpPr>
        <p:spPr>
          <a:xfrm>
            <a:off x="609600" y="302766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로봇(v0).</a:t>
            </a:r>
            <a:r>
              <a:rPr sz="1050" b="0" i="0">
                <a:solidFill>
                  <a:srgbClr val="16213A"/>
                </a:solidFill>
                <a:latin typeface="Arial"/>
                <a:ea typeface="Malgun Gothic"/>
                <a:cs typeface="Malgun Gothic"/>
              </a:rPr>
              <a:t> 무게 11.5 kg, 윗다리 220 mm, 아랫다리 190 mm로 Unitree A1이나 MIT Mini Cheetah와 비슷한 크기다. 관절은 T-Motor AK80-6(관절당 최대 12 N·m)이다. 정책은 바깥 워크스테이션에서 50 Hz로 돌고, PD는 1 kHz다. 코스 위의 위치와 자세는 모션 캡처로 쟀다. 로봇 두 대로 약 3600번 코스를 시도했다. 약 24시간의 연속 운용과 약 60 km의 이동에 해당한다. 2024년에 공개된 후속 vB 판은 약 14 kg이고, AK80-9 모터, 온보드 NUC11, RealSense D435i와 Luxonis 카메라를 단다.</a:t>
            </a:r>
          </a:p>
        </p:txBody>
      </p:sp>
      <p:sp>
        <p:nvSpPr>
          <p:cNvPr id="10" name="TextBox 9"/>
          <p:cNvSpPr txBox="1"/>
          <p:nvPr/>
        </p:nvSpPr>
        <p:spPr>
          <a:xfrm>
            <a:off x="609600" y="3766046"/>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전문가 정책.</a:t>
            </a:r>
            <a:r>
              <a:rPr sz="1050" b="0" i="0">
                <a:solidFill>
                  <a:srgbClr val="16213A"/>
                </a:solidFill>
                <a:latin typeface="Arial"/>
                <a:ea typeface="Malgun Gothic"/>
                <a:cs typeface="Malgun Gothic"/>
              </a:rPr>
              <a:t> 셋 모두 legged_gym에서 PPO로 배운다. 관측은 속도 명령·중력 방향·관절 각·yaw 속도·높이 지도·직전 행동이고, 고유감각에는 0.3 s 이력을 붙인다.</a:t>
            </a:r>
          </a:p>
        </p:txBody>
      </p:sp>
      <p:sp>
        <p:nvSpPr>
          <p:cNvPr id="11" name="TextBox 10"/>
          <p:cNvSpPr txBox="1"/>
          <p:nvPr/>
        </p:nvSpPr>
        <p:spPr>
          <a:xfrm>
            <a:off x="609600" y="4071441"/>
            <a:ext cx="10972800" cy="942181"/>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전방향 걷기: 위브 폴과 탁자를 맡고, Rudin 2021의 지형 커리큘럼을 쓴다.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경사 오르기: 경사를 5°에서 33°까지 3°씩 올리는 커리큘럼이다. 걷기 학습에 30° 경사를 섞는 것만으로는 풀리지 않았다.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멀리뛰기: bound로 2.25 m/s까지 달리기, 0.3–0.6 m 틈, 0.6 m 틈에서 토크 한계를 흔드는 미세 조정의 3단계다.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무작위화: Rudin 2021의 기본 설정은 1 m/s 아래에서 충분했다. 2 m/s를 넘는 뛰기와 경사에서는 격차가 커서 몸통 관성, 모터 모델, 관절 정지 마찰을 더 흔들었다.</a:t>
            </a:r>
          </a:p>
        </p:txBody>
      </p:sp>
      <p:sp>
        <p:nvSpPr>
          <p:cNvPr id="12" name="TextBox 11"/>
          <p:cNvSpPr txBox="1"/>
          <p:nvPr/>
        </p:nvSpPr>
        <p:spPr>
          <a:xfrm>
            <a:off x="609600" y="5102523"/>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Locomotion-Transformer.</a:t>
            </a:r>
            <a:r>
              <a:rPr sz="1050" b="0" i="0">
                <a:solidFill>
                  <a:srgbClr val="16213A"/>
                </a:solidFill>
                <a:latin typeface="Arial"/>
                <a:ea typeface="Malgun Gothic"/>
                <a:cs typeface="Malgun Gothic"/>
              </a:rPr>
              <a:t> 2층 인과 transformer다. 0.3 s 문맥의 고유감각·명령·행동과 가장 최근의 높이 지도를 받아, 다음 행동을 L2 회귀로 배운다. 데이터는 PyBullet에서 전문가를 학습 때와 같은 무작위화로 굴려 모았다. 가장 어려운 뛰기에 가장 많이 배정했다. 뛰기는 10,635 에피소드이고, 나머지 다섯 지형은 각 1,000–3,000 에피소드다. 저자들은 학습과 같은 무작위화로 최적에 가까운 궤적을 모으는 것이 증류 정책의 sim-to-real에 중요하다고 적는다.</a:t>
            </a:r>
          </a:p>
        </p:txBody>
      </p:sp>
      <p:sp>
        <p:nvSpPr>
          <p:cNvPr id="13" name="TextBox 12"/>
          <p:cNvSpPr txBox="1"/>
          <p:nvPr/>
        </p:nvSpPr>
        <p:spPr>
          <a:xfrm>
            <a:off x="609600" y="5840909"/>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5개(문단·식·그림)는 대시보드 리서치 탭의 "자세히: Barkour의 점수, 로봇, 전문가 정책, Locomotion-Transformer" 토글에 있다.</a:t>
            </a:r>
          </a:p>
        </p:txBody>
      </p:sp>
    </p:spTree>
  </p:cSld>
  <p:clrMapOvr>
    <a:masterClrMapping/>
  </p:clrMapOvr>
</p:sld>
</file>

<file path=ppt/slides/slide31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1/9</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314 / 516</a:t>
            </a:r>
          </a:p>
        </p:txBody>
      </p:sp>
      <p:sp>
        <p:nvSpPr>
          <p:cNvPr id="5" name="TextBox 4"/>
          <p:cNvSpPr txBox="1"/>
          <p:nvPr/>
        </p:nvSpPr>
        <p:spPr>
          <a:xfrm>
            <a:off x="609600" y="1244600"/>
            <a:ext cx="10972800" cy="108247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SayTap — 언어 모델이 네 발의 접지 패턴(0과 1의 행렬)을 쓰고, 그 패턴을 따르는 보행 정책이 실물 A1을 움직인다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arXiv:2306.07580</a:t>
            </a:r>
            <a:r>
              <a:rPr sz="1050" b="0" i="0">
                <a:solidFill>
                  <a:srgbClr val="16213A"/>
                </a:solidFill>
                <a:latin typeface="Arial"/>
                <a:ea typeface="Malgun Gothic"/>
                <a:cs typeface="Malgun Gothic"/>
              </a:rPr>
              <a:t>, Tang·Yu·Tan·Zen·Faust·Harada, CoRL 2023(PMLR 229), Google DeepMind·도쿄대, </a:t>
            </a:r>
            <a:r>
              <a:rPr sz="1050" b="0" i="0">
                <a:solidFill>
                  <a:srgbClr val="1D4ED8"/>
                </a:solidFill>
                <a:latin typeface="Arial"/>
                <a:ea typeface="Malgun Gothic"/>
                <a:cs typeface="Malgun Gothic"/>
                <a:hlinkClick r:id="rId4"/>
              </a:rPr>
              <a:t>프로젝트</a:t>
            </a:r>
            <a:r>
              <a:rPr sz="1050" b="0" i="0">
                <a:solidFill>
                  <a:srgbClr val="16213A"/>
                </a:solidFill>
                <a:latin typeface="Arial"/>
                <a:ea typeface="Malgun Gothic"/>
                <a:cs typeface="Malgun Gothic"/>
              </a:rPr>
              <a:t>). LLM은 관절 목표 같은 저수준 명령을 잘 내지 못한다. 그래서 중간 표현으로 발 접지 패턴을 골랐다. 네 발마다 땅에 닿으면 1, 떨어지면 0인 4 × T 행렬이다. GPT-4는 걸음새 정의와 예시를 담은 고정 프롬프트를 받아, 명령을 이 행렬과 속도로 옮긴다. 보행 정책은 행렬의 앞 5스텝 창과 고유감각을 받아 관절 목표를 낸다. 정책은 다섯 걸음새의 주기와 접지 비율을 무작위로 뽑는 패턴 생성기로 Isaac Gym에서 약 15분 배웠고, 실물에는 미세 조정 없이 올렸다. 걸음새 이름이나 사인 함수 파라미터를 인터페이스로 쓴 기준선보다 패턴 정확도가 약 50% 높았다.</a:t>
            </a:r>
          </a:p>
        </p:txBody>
      </p:sp>
      <p:sp>
        <p:nvSpPr>
          <p:cNvPr id="6" name="TextBox 5"/>
          <p:cNvSpPr txBox="1"/>
          <p:nvPr/>
        </p:nvSpPr>
        <p:spPr>
          <a:xfrm>
            <a:off x="609600" y="2415977"/>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직접 쓸 곳은 지금 없다. travplan에는 언어 입력이 없고 스워브에는 걸음새도 없다. 가져올 것은 인터페이스를 고르는 기준이다. 위 층이 쉽게 쓸 수 있어야 하고, 아래 층이 그 분포 전체를 무작위로 뽑아 미리 배울 수 있어야 한다. travplan의 학습 Controller(TinyPolicy, TP-0128)는 GT 지도의 Dijkstra 경로로만 배웠다. Planner D 궤적이나 belief 경로를 넘기려면 그 분포를 학습 때 무작위로 덮어야 한다. 언어 기반 내비게이션은 B.6b에 있다.</a:t>
            </a:r>
          </a:p>
        </p:txBody>
      </p:sp>
    </p:spTree>
  </p:cSld>
  <p:clrMapOvr>
    <a:masterClrMapping/>
  </p:clrMapOvr>
</p:sld>
</file>

<file path=ppt/slides/slide31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2/9</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315 / 516</a:t>
            </a:r>
          </a:p>
        </p:txBody>
      </p:sp>
      <p:pic>
        <p:nvPicPr>
          <p:cNvPr id="5" name="Picture 4" descr="image.jpg"/>
          <p:cNvPicPr>
            <a:picLocks noChangeAspect="1"/>
          </p:cNvPicPr>
          <p:nvPr/>
        </p:nvPicPr>
        <p:blipFill>
          <a:blip r:embed="rId3"/>
          <a:stretch>
            <a:fillRect/>
          </a:stretch>
        </p:blipFill>
        <p:spPr>
          <a:xfrm>
            <a:off x="2397125" y="1244600"/>
            <a:ext cx="7397750" cy="4445000"/>
          </a:xfrm>
          <a:prstGeom prst="rect">
            <a:avLst/>
          </a:prstGeom>
        </p:spPr>
      </p:pic>
      <p:sp>
        <p:nvSpPr>
          <p:cNvPr id="6" name="TextBox 5"/>
          <p:cNvSpPr txBox="1"/>
          <p:nvPr/>
        </p:nvSpPr>
        <p:spPr>
          <a:xfrm>
            <a:off x="2397125" y="5727700"/>
            <a:ext cx="739775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SayTap (Fig. 1): 실물 A1이 "천천히 trot으로 앞으로"와 "좋은 소식이야, 이번 주말에 소풍 간다!"를 차례로 받는다. 가운데는 LLM이 낸 네 발의 목표 접지 패턴, 아래는 실제로 실현된 패턴이다. 앞 명령에서는 대각 다리가 함께 닿는 trot이, 뒤 명령에서는 앞다리끼리와 뒷다리끼리 닿는 bound가 나온다. 출처: arXiv:2306.07580</a:t>
            </a:r>
          </a:p>
        </p:txBody>
      </p:sp>
    </p:spTree>
  </p:cSld>
  <p:clrMapOvr>
    <a:masterClrMapping/>
  </p:clrMapOvr>
</p:sld>
</file>

<file path=ppt/slides/slide31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3/9</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316 / 516</a:t>
            </a:r>
          </a:p>
        </p:txBody>
      </p:sp>
      <p:sp>
        <p:nvSpPr>
          <p:cNvPr id="5" name="TextBox 4"/>
          <p:cNvSpPr txBox="1"/>
          <p:nvPr/>
        </p:nvSpPr>
        <p:spPr>
          <a:xfrm>
            <a:off x="609600" y="1244600"/>
            <a:ext cx="10972800" cy="1298972"/>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Language to Rewards — 언어 모델이 보상 함수의 가중치와 목표값을 쓰고, MuJoCo MPC가 그 보상으로 동작을 실시간에 만든다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arXiv:2306.08647</a:t>
            </a:r>
            <a:r>
              <a:rPr sz="1050" b="0" i="0">
                <a:solidFill>
                  <a:srgbClr val="16213A"/>
                </a:solidFill>
                <a:latin typeface="Arial"/>
                <a:ea typeface="Malgun Gothic"/>
                <a:cs typeface="Malgun Gothic"/>
              </a:rPr>
              <a:t>, Yu·Gileadi·Fu 외 17명, CoRL 2023(PMLR 229), Google DeepMind, </a:t>
            </a:r>
            <a:r>
              <a:rPr sz="1050" b="0" i="0">
                <a:solidFill>
                  <a:srgbClr val="1D4ED8"/>
                </a:solidFill>
                <a:latin typeface="Arial"/>
                <a:ea typeface="Malgun Gothic"/>
                <a:cs typeface="Malgun Gothic"/>
                <a:hlinkClick r:id="rId4"/>
              </a:rPr>
              <a:t>프로젝트</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5"/>
              </a:rPr>
              <a:t>코드</a:t>
            </a:r>
            <a:r>
              <a:rPr sz="1050" b="0" i="0">
                <a:solidFill>
                  <a:srgbClr val="16213A"/>
                </a:solidFill>
                <a:latin typeface="Arial"/>
                <a:ea typeface="Malgun Gothic"/>
                <a:cs typeface="Malgun Gothic"/>
              </a:rPr>
              <a:t> Apache-2.0). 보상은 잔차 항의 가중합 </a:t>
            </a:r>
            <a:r>
              <a:rPr sz="1050" b="0" i="1">
                <a:solidFill>
                  <a:srgbClr val="16213A"/>
                </a:solidFill>
                <a:latin typeface="Arial"/>
                <a:ea typeface="Malgun Gothic"/>
                <a:cs typeface="Malgun Gothic"/>
              </a:rPr>
              <a:t>R = -∑ᵢ wᵢ nᵢ(rᵢ(s, a, ψᵢ))</a:t>
            </a:r>
            <a:r>
              <a:rPr sz="1050" b="0" i="0">
                <a:solidFill>
                  <a:srgbClr val="16213A"/>
                </a:solidFill>
                <a:latin typeface="Arial"/>
                <a:ea typeface="Malgun Gothic"/>
                <a:cs typeface="Malgun Gothic"/>
              </a:rPr>
              <a:t>이고, GPT-4는 가중치 </a:t>
            </a:r>
            <a:r>
              <a:rPr sz="1050" b="0" i="1">
                <a:solidFill>
                  <a:srgbClr val="16213A"/>
                </a:solidFill>
                <a:latin typeface="Arial"/>
                <a:ea typeface="Malgun Gothic"/>
                <a:cs typeface="Malgun Gothic"/>
              </a:rPr>
              <a:t>wᵢ</a:t>
            </a:r>
            <a:r>
              <a:rPr sz="1050" b="0" i="0">
                <a:solidFill>
                  <a:srgbClr val="16213A"/>
                </a:solidFill>
                <a:latin typeface="Arial"/>
                <a:ea typeface="Malgun Gothic"/>
                <a:cs typeface="Malgun Gothic"/>
              </a:rPr>
              <a:t>와 파라미터 </a:t>
            </a:r>
            <a:r>
              <a:rPr sz="1050" b="0" i="1">
                <a:solidFill>
                  <a:srgbClr val="16213A"/>
                </a:solidFill>
                <a:latin typeface="Arial"/>
                <a:ea typeface="Malgun Gothic"/>
                <a:cs typeface="Malgun Gothic"/>
              </a:rPr>
              <a:t>ψᵢ</a:t>
            </a:r>
            <a:r>
              <a:rPr sz="1050" b="0" i="0">
                <a:solidFill>
                  <a:srgbClr val="16213A"/>
                </a:solidFill>
                <a:latin typeface="Arial"/>
                <a:ea typeface="Malgun Gothic"/>
                <a:cs typeface="Malgun Gothic"/>
              </a:rPr>
              <a:t>만 코드로 정한다. MJPC(MuJoCo MPC, 아래 MuJoCo 카드)가 그 보상으로 동작을 만든다. 사족 9개와 손 조작 8개, 모두 17개 과제에서 90%를 풀었고, 기본 동작을 코드로 부르는 기준선은 50%였다. 사족 과제는 시뮬레이션으로만 쟀다. 후속 LMPC(</a:t>
            </a:r>
            <a:r>
              <a:rPr sz="1050" b="0" i="0">
                <a:solidFill>
                  <a:srgbClr val="1D4ED8"/>
                </a:solidFill>
                <a:latin typeface="Arial"/>
                <a:ea typeface="Malgun Gothic"/>
                <a:cs typeface="Malgun Gothic"/>
                <a:hlinkClick r:id="rId6"/>
              </a:rPr>
              <a:t>arXiv:2402.11450</a:t>
            </a:r>
            <a:r>
              <a:rPr sz="1050" b="0" i="0">
                <a:solidFill>
                  <a:srgbClr val="16213A"/>
                </a:solidFill>
                <a:latin typeface="Arial"/>
                <a:ea typeface="Malgun Gothic"/>
                <a:cs typeface="Malgun Gothic"/>
              </a:rPr>
              <a:t>, Liang 외, RSS 2024)가 이 인터페이스를 실물 Barkour에 올렸다. MJPC를 계획기로 쓰는 방식은 빠른 피드백이 필요한 사족에 통하지 않았다. 그래서 MJPC를 전문가로 두고, 보상 항을 조건으로 받는 Locomotion-Transformer(약 320만 파라미터)를 DAgger로 증류했다. 과제 분포가 넓고 무작위화가 있어 오프라인 행동 복제는 실패했다고 저자들은 적는다.</a:t>
            </a:r>
          </a:p>
        </p:txBody>
      </p:sp>
      <p:sp>
        <p:nvSpPr>
          <p:cNvPr id="6" name="TextBox 5"/>
          <p:cNvSpPr txBox="1"/>
          <p:nvPr/>
        </p:nvSpPr>
        <p:spPr>
          <a:xfrm>
            <a:off x="609600" y="2632472"/>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travplan의 Controller도 비용 항의 합이다(</a:t>
            </a:r>
            <a:r>
              <a:rPr sz="1050" b="0" i="0">
                <a:solidFill>
                  <a:srgbClr val="16213A"/>
                </a:solidFill>
                <a:latin typeface="Consolas"/>
                <a:ea typeface="Malgun Gothic"/>
                <a:cs typeface="Malgun Gothic"/>
              </a:rPr>
              <a:t>control/mppi/costs.py</a:t>
            </a:r>
            <a:r>
              <a:rPr sz="1050" b="0" i="0">
                <a:solidFill>
                  <a:srgbClr val="16213A"/>
                </a:solidFill>
                <a:latin typeface="Arial"/>
                <a:ea typeface="Malgun Gothic"/>
                <a:cs typeface="Malgun Gothic"/>
              </a:rPr>
              <a:t>의 </a:t>
            </a:r>
            <a:r>
              <a:rPr sz="1050" b="0" i="0">
                <a:solidFill>
                  <a:srgbClr val="16213A"/>
                </a:solidFill>
                <a:latin typeface="Consolas"/>
                <a:ea typeface="Malgun Gothic"/>
                <a:cs typeface="Malgun Gothic"/>
              </a:rPr>
              <a:t>CostTerm</a:t>
            </a:r>
            <a:r>
              <a:rPr sz="1050" b="0" i="0">
                <a:solidFill>
                  <a:srgbClr val="16213A"/>
                </a:solidFill>
                <a:latin typeface="Arial"/>
                <a:ea typeface="Malgun Gothic"/>
                <a:cs typeface="Malgun Gothic"/>
              </a:rPr>
              <a:t>). Planner가 궤적 대신 비용 가중치와 목표값을 넘기는 인터페이스가 가능하다는 사례다. 다만 Planner–Controller 경계는 </a:t>
            </a:r>
            <a:r>
              <a:rPr sz="1050" b="0" i="0">
                <a:solidFill>
                  <a:srgbClr val="16213A"/>
                </a:solidFill>
                <a:latin typeface="Consolas"/>
                <a:ea typeface="Malgun Gothic"/>
                <a:cs typeface="Malgun Gothic"/>
              </a:rPr>
              <a:t>PlanResult</a:t>
            </a:r>
            <a:r>
              <a:rPr sz="1050" b="0" i="0">
                <a:solidFill>
                  <a:srgbClr val="16213A"/>
                </a:solidFill>
                <a:latin typeface="Arial"/>
                <a:ea typeface="Malgun Gothic"/>
                <a:cs typeface="Malgun Gothic"/>
              </a:rPr>
              <a:t>(경로, 시간)로 정해 두었으므로, 이것은 경계를 넓히는 결정이 필요하다. LMPC의 절차는 학습 Controller(TP-0128)에 바로 닿는다. MPPI를 전문가로 두고 비용 파라미터를 조건으로 받는 작은 정책을 배운다면, 오프라인 회귀가 아니라 DAgger로 조건 분포를 덮는다. Barkour는 같은 transformer를 전문가 셋의 오프라인 행동 복제로 증류해 실물에서 돌렸다. LMPC에서 실패한 것은 조건이 보상 항 전체로 넓어진 뒤다.</a:t>
            </a:r>
          </a:p>
        </p:txBody>
      </p:sp>
    </p:spTree>
  </p:cSld>
  <p:clrMapOvr>
    <a:masterClrMapping/>
  </p:clrMapOvr>
</p:sld>
</file>

<file path=ppt/slides/slide31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4/9</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317 / 516</a:t>
            </a:r>
          </a:p>
        </p:txBody>
      </p:sp>
      <p:pic>
        <p:nvPicPr>
          <p:cNvPr id="5" name="Picture 4" descr="image.jpg"/>
          <p:cNvPicPr>
            <a:picLocks noChangeAspect="1"/>
          </p:cNvPicPr>
          <p:nvPr/>
        </p:nvPicPr>
        <p:blipFill>
          <a:blip r:embed="rId3"/>
          <a:stretch>
            <a:fillRect/>
          </a:stretch>
        </p:blipFill>
        <p:spPr>
          <a:xfrm>
            <a:off x="1016000" y="1244600"/>
            <a:ext cx="10160000" cy="4102100"/>
          </a:xfrm>
          <a:prstGeom prst="rect">
            <a:avLst/>
          </a:prstGeom>
        </p:spPr>
      </p:pic>
      <p:sp>
        <p:nvSpPr>
          <p:cNvPr id="6" name="TextBox 5"/>
          <p:cNvSpPr txBox="1"/>
          <p:nvPr/>
        </p:nvSpPr>
        <p:spPr>
          <a:xfrm>
            <a:off x="1016000" y="5384800"/>
            <a:ext cx="101600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Language to Rewards (Fig. 1): "로봇 개를 두 발로 서게 해"라는 명령의 세 처리 방식이다. 왼쪽은 LLM이 동작을 말로 잘 서술하지만 행동으로 옮기지 못하고, 가운데는 관절 목표를 직접 쓰게 하면 틀린다. 오른쪽은 Reward Translator가 몸통·발 높이 보상 코드를 쓰고 Motion Controller가 그 보상을 최적화해 시뮬레이션 로봇을 두 발로 세운다. 출처: arXiv:2306.08647</a:t>
            </a:r>
          </a:p>
        </p:txBody>
      </p:sp>
    </p:spTree>
  </p:cSld>
  <p:clrMapOvr>
    <a:masterClrMapping/>
  </p:clrMapOvr>
</p:sld>
</file>

<file path=ppt/slides/slide31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5/9</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318 / 516</a:t>
            </a:r>
          </a:p>
        </p:txBody>
      </p:sp>
      <p:sp>
        <p:nvSpPr>
          <p:cNvPr id="5" name="TextBox 4"/>
          <p:cNvSpPr txBox="1"/>
          <p:nvPr/>
        </p:nvSpPr>
        <p:spPr>
          <a:xfrm>
            <a:off x="609600" y="1244600"/>
            <a:ext cx="10972800" cy="2164953"/>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MuJoCo MPC, MJX, MuJoCo Playground — 같은 물리 엔진 위의 실시간 예측 제어기와 GPU 학습 도구, 그리고 보행 sim-to-real</a:t>
            </a:r>
            <a:r>
              <a:rPr sz="1050" b="0" i="0">
                <a:solidFill>
                  <a:srgbClr val="16213A"/>
                </a:solidFill>
                <a:latin typeface="Arial"/>
                <a:ea typeface="Malgun Gothic"/>
                <a:cs typeface="Malgun Gothic"/>
              </a:rPr>
              <a:t>(MJPC </a:t>
            </a:r>
            <a:r>
              <a:rPr sz="1050" b="0" i="0">
                <a:solidFill>
                  <a:srgbClr val="1D4ED8"/>
                </a:solidFill>
                <a:latin typeface="Arial"/>
                <a:ea typeface="Malgun Gothic"/>
                <a:cs typeface="Malgun Gothic"/>
                <a:hlinkClick r:id="rId3"/>
              </a:rPr>
              <a:t>arXiv:2212.00541</a:t>
            </a:r>
            <a:r>
              <a:rPr sz="1050" b="0" i="0">
                <a:solidFill>
                  <a:srgbClr val="16213A"/>
                </a:solidFill>
                <a:latin typeface="Arial"/>
                <a:ea typeface="Malgun Gothic"/>
                <a:cs typeface="Malgun Gothic"/>
              </a:rPr>
              <a:t>, Howell·Gileadi·Tunyasuvunakool·Zakka·Erez·Tassa, 2022-12, </a:t>
            </a:r>
            <a:r>
              <a:rPr sz="1050" b="0" i="0">
                <a:solidFill>
                  <a:srgbClr val="1D4ED8"/>
                </a:solidFill>
                <a:latin typeface="Arial"/>
                <a:ea typeface="Malgun Gothic"/>
                <a:cs typeface="Malgun Gothic"/>
                <a:hlinkClick r:id="rId4"/>
              </a:rPr>
              <a:t>코드</a:t>
            </a:r>
            <a:r>
              <a:rPr sz="1050" b="0" i="0">
                <a:solidFill>
                  <a:srgbClr val="16213A"/>
                </a:solidFill>
                <a:latin typeface="Arial"/>
                <a:ea typeface="Malgun Gothic"/>
                <a:cs typeface="Malgun Gothic"/>
              </a:rPr>
              <a:t> Apache-2.0; MJX는 </a:t>
            </a:r>
            <a:r>
              <a:rPr sz="1050" b="0" i="0">
                <a:solidFill>
                  <a:srgbClr val="1D4ED8"/>
                </a:solidFill>
                <a:latin typeface="Arial"/>
                <a:ea typeface="Malgun Gothic"/>
                <a:cs typeface="Malgun Gothic"/>
                <a:hlinkClick r:id="rId5"/>
              </a:rPr>
              <a:t>MuJoCo 3.0.0</a:t>
            </a:r>
            <a:r>
              <a:rPr sz="1050" b="0" i="0">
                <a:solidFill>
                  <a:srgbClr val="16213A"/>
                </a:solidFill>
                <a:latin typeface="Arial"/>
                <a:ea typeface="Malgun Gothic"/>
                <a:cs typeface="Malgun Gothic"/>
              </a:rPr>
              <a:t>(2023-10-18)에 포함; Playground </a:t>
            </a:r>
            <a:r>
              <a:rPr sz="1050" b="0" i="0">
                <a:solidFill>
                  <a:srgbClr val="1D4ED8"/>
                </a:solidFill>
                <a:latin typeface="Arial"/>
                <a:ea typeface="Malgun Gothic"/>
                <a:cs typeface="Malgun Gothic"/>
                <a:hlinkClick r:id="rId6"/>
              </a:rPr>
              <a:t>arXiv:2502.08844</a:t>
            </a:r>
            <a:r>
              <a:rPr sz="1050" b="0" i="0">
                <a:solidFill>
                  <a:srgbClr val="16213A"/>
                </a:solidFill>
                <a:latin typeface="Arial"/>
                <a:ea typeface="Malgun Gothic"/>
                <a:cs typeface="Malgun Gothic"/>
              </a:rPr>
              <a:t>, Zakka·Tabanpour·Liao 외 10명, RSS 2025, </a:t>
            </a:r>
            <a:r>
              <a:rPr sz="1050" b="0" i="0">
                <a:solidFill>
                  <a:srgbClr val="1D4ED8"/>
                </a:solidFill>
                <a:latin typeface="Arial"/>
                <a:ea typeface="Malgun Gothic"/>
                <a:cs typeface="Malgun Gothic"/>
                <a:hlinkClick r:id="rId7"/>
              </a:rPr>
              <a:t>코드</a:t>
            </a:r>
            <a:r>
              <a:rPr sz="1050" b="0" i="0">
                <a:solidFill>
                  <a:srgbClr val="16213A"/>
                </a:solidFill>
                <a:latin typeface="Arial"/>
                <a:ea typeface="Malgun Gothic"/>
                <a:cs typeface="Malgun Gothic"/>
              </a:rPr>
              <a:t> Apache-2.0). DeepMind는 2021-10에 MuJoCo를 인수했다. 엔진 자체와 MuJoCo Warp는 시뮬레이션 문서 S.1.3에 있고, 여기서는 보행 부분만 적는다. MJPC는 iLQG, 경사 하강, Predictive Sampling을 바꿔 가며 실시간으로 동작을 만드는 예측 제어 도구다. Predictive Sampling은 명목 행동열에 고정 표준편차의 잡음을 더한 후보를 굴려, 가장 좋은 후보로 명목을 바꾼다. 시뮬레이션의 Unitree A1이 이것으로 가파른 경사를 오르고 뒤집혔다가 일어섰다. 원문 예시는 모두 CPU 한 대에서 계획 한 번에 1–20 ms였다. MJX는 MuJoCo의 JAX판으로, GPU에서 환경 수천 개를 함께 돌린다. 3.0.0의 첫 튜토리얼은 Barkour v0와 휴머노이드를 V100에서 각각 12–13분에 학습했다. 지금 튜토리얼은 2023-10-24에 Menagerie에 추가된 Barkour vB를 A100에서 약 6분에 학습한다. MJX보다 먼저 Google Research는 JAX로 짠 GPU 강체 물리 엔진에 PPO·SAC·ES 구현을 묶은 Brax(</a:t>
            </a:r>
            <a:r>
              <a:rPr sz="1050" b="0" i="0">
                <a:solidFill>
                  <a:srgbClr val="1D4ED8"/>
                </a:solidFill>
                <a:latin typeface="Arial"/>
                <a:ea typeface="Malgun Gothic"/>
                <a:cs typeface="Malgun Gothic"/>
                <a:hlinkClick r:id="rId8"/>
              </a:rPr>
              <a:t>arXiv:2106.13281</a:t>
            </a:r>
            <a:r>
              <a:rPr sz="1050" b="0" i="0">
                <a:solidFill>
                  <a:srgbClr val="16213A"/>
                </a:solidFill>
                <a:latin typeface="Arial"/>
                <a:ea typeface="Malgun Gothic"/>
                <a:cs typeface="Malgun Gothic"/>
              </a:rPr>
              <a:t>, Freeman 외, NeurIPS 2021 Datasets and Benchmarks, </a:t>
            </a:r>
            <a:r>
              <a:rPr sz="1050" b="0" i="0">
                <a:solidFill>
                  <a:srgbClr val="1D4ED8"/>
                </a:solidFill>
                <a:latin typeface="Arial"/>
                <a:ea typeface="Malgun Gothic"/>
                <a:cs typeface="Malgun Gothic"/>
                <a:hlinkClick r:id="rId9"/>
              </a:rPr>
              <a:t>코드</a:t>
            </a:r>
            <a:r>
              <a:rPr sz="1050" b="0" i="0">
                <a:solidFill>
                  <a:srgbClr val="16213A"/>
                </a:solidFill>
                <a:latin typeface="Arial"/>
                <a:ea typeface="Malgun Gothic"/>
                <a:cs typeface="Malgun Gothic"/>
              </a:rPr>
              <a:t> Apache-2.0)를 냈다. MuJoCo Playground는 MJX 위의 환경 모음이다. 보행 sim-to-real은 고유감각 입력으로만 했고, Go1의 네 정책과 Berkeley Humanoid·G1·T1의 조이스틱 보행을 실물에 올렸다. 평지 학습은 RTX 4090 두 장에서 5–30분이었다. 영상 입력의 zero-shot 이전은 조작 과제에서만 보였다. 학습기는 Brax의 PPO·SAC 구현이다. 논문은 Go1에서 Brax와 RSL-RL의 PPO를 맞댄 비교 하나를 빼고 모든 결과를 이것으로 냈다.</a:t>
            </a:r>
          </a:p>
        </p:txBody>
      </p:sp>
      <p:sp>
        <p:nvSpPr>
          <p:cNvPr id="6" name="TextBox 5"/>
          <p:cNvSpPr txBox="1"/>
          <p:nvPr/>
        </p:nvSpPr>
        <p:spPr>
          <a:xfrm>
            <a:off x="609600" y="3498453"/>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Predictive Sampling은 travplan MPPI의 가장 단순한 기준선이다. 원문은 이것을 '온도가 무한대인 MPPI'라 부른다. travplan의 가중 </a:t>
            </a:r>
            <a:r>
              <a:rPr sz="1050" b="0" i="1">
                <a:solidFill>
                  <a:srgbClr val="16213A"/>
                </a:solidFill>
                <a:latin typeface="Arial"/>
                <a:ea typeface="Malgun Gothic"/>
                <a:cs typeface="Malgun Gothic"/>
              </a:rPr>
              <a:t>exp(-S/λ)</a:t>
            </a:r>
            <a:r>
              <a:rPr sz="1050" b="0" i="0">
                <a:solidFill>
                  <a:srgbClr val="16213A"/>
                </a:solidFill>
                <a:latin typeface="Arial"/>
                <a:ea typeface="Malgun Gothic"/>
                <a:cs typeface="Malgun Gothic"/>
              </a:rPr>
              <a:t>로 쓰면 최선 표본 하나를 고르는 것은 </a:t>
            </a:r>
            <a:r>
              <a:rPr sz="1050" b="0" i="1">
                <a:solidFill>
                  <a:srgbClr val="16213A"/>
                </a:solidFill>
                <a:latin typeface="Arial"/>
                <a:ea typeface="Malgun Gothic"/>
                <a:cs typeface="Malgun Gothic"/>
              </a:rPr>
              <a:t>λ → 0</a:t>
            </a:r>
            <a:r>
              <a:rPr sz="1050" b="0" i="0">
                <a:solidFill>
                  <a:srgbClr val="16213A"/>
                </a:solidFill>
                <a:latin typeface="Arial"/>
                <a:ea typeface="Malgun Gothic"/>
                <a:cs typeface="Malgun Gothic"/>
              </a:rPr>
              <a:t> 극한이므로, 원문의 온도는 </a:t>
            </a:r>
            <a:r>
              <a:rPr sz="1050" b="0" i="1">
                <a:solidFill>
                  <a:srgbClr val="16213A"/>
                </a:solidFill>
                <a:latin typeface="Arial"/>
                <a:ea typeface="Malgun Gothic"/>
                <a:cs typeface="Malgun Gothic"/>
              </a:rPr>
              <a:t>λ</a:t>
            </a:r>
            <a:r>
              <a:rPr sz="1050" b="0" i="0">
                <a:solidFill>
                  <a:srgbClr val="16213A"/>
                </a:solidFill>
                <a:latin typeface="Arial"/>
                <a:ea typeface="Malgun Gothic"/>
                <a:cs typeface="Malgun Gothic"/>
              </a:rPr>
              <a:t>의 역수로 읽는다. 지금의 </a:t>
            </a:r>
            <a:r>
              <a:rPr sz="1050" b="0" i="1">
                <a:solidFill>
                  <a:srgbClr val="16213A"/>
                </a:solidFill>
                <a:latin typeface="Arial"/>
                <a:ea typeface="Malgun Gothic"/>
                <a:cs typeface="Malgun Gothic"/>
              </a:rPr>
              <a:t>λ = 0.5</a:t>
            </a:r>
            <a:r>
              <a:rPr sz="1050" b="0" i="0">
                <a:solidFill>
                  <a:srgbClr val="16213A"/>
                </a:solidFill>
                <a:latin typeface="Arial"/>
                <a:ea typeface="Malgun Gothic"/>
                <a:cs typeface="Malgun Gothic"/>
              </a:rPr>
              <a:t> 고정 MPPI와 이 극한을 같은 벤치마크에서 비교하면, 가중 평균이 실제로 얼마나 버는지 잴 수 있다. TP-0080의 AntBot MJCF(MuJoCo 모델 파일)를 만들면 MJX로도 병렬 rollout할 수 있다. S.1.3은 MuJoCo Warp를 Newton으로 품는 Isaac Lab 경로를 택했으므로, MJX를 따로 쓰는 것은 그 결정을 다시 여는 선택지다.</a:t>
            </a:r>
          </a:p>
        </p:txBody>
      </p:sp>
    </p:spTree>
  </p:cSld>
  <p:clrMapOvr>
    <a:masterClrMapping/>
  </p:clrMapOvr>
</p:sld>
</file>

<file path=ppt/slides/slide31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6/9</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319 / 516</a:t>
            </a:r>
          </a:p>
        </p:txBody>
      </p:sp>
      <p:pic>
        <p:nvPicPr>
          <p:cNvPr id="5" name="Picture 4" descr="image.jpg"/>
          <p:cNvPicPr>
            <a:picLocks noChangeAspect="1"/>
          </p:cNvPicPr>
          <p:nvPr/>
        </p:nvPicPr>
        <p:blipFill>
          <a:blip r:embed="rId3"/>
          <a:stretch>
            <a:fillRect/>
          </a:stretch>
        </p:blipFill>
        <p:spPr>
          <a:xfrm>
            <a:off x="1847850" y="1244600"/>
            <a:ext cx="8496300" cy="4445000"/>
          </a:xfrm>
          <a:prstGeom prst="rect">
            <a:avLst/>
          </a:prstGeom>
        </p:spPr>
      </p:pic>
      <p:sp>
        <p:nvSpPr>
          <p:cNvPr id="6" name="TextBox 5"/>
          <p:cNvSpPr txBox="1"/>
          <p:nvPr/>
        </p:nvSpPr>
        <p:spPr>
          <a:xfrm>
            <a:off x="1847850" y="5727700"/>
            <a:ext cx="84963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MuJoCo Playground (Fig. 4): 실물에 올린 네 정책이다. (A) 약 2 m/s로 가던 Go1이 발에 차인 뒤 회복한다. (B) Berkeley Humanoid가 미끄러운 바닥에서 회전 속도 명령을 따른다. (C)와 (D)는 손의 큐브 돌리기와 팔의 블록 돌리기다. 출처: arXiv:2502.08844</a:t>
            </a:r>
          </a:p>
        </p:txBody>
      </p:sp>
    </p:spTree>
  </p:cSld>
  <p:clrMapOvr>
    <a:masterClrMapping/>
  </p:clrMapOvr>
</p:sld>
</file>

<file path=ppt/slides/slide32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7/9</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320 / 516</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Gemini Robotics(2025–2026).</a:t>
            </a:r>
            <a:r>
              <a:rPr sz="1050" b="0" i="0">
                <a:solidFill>
                  <a:srgbClr val="16213A"/>
                </a:solidFill>
                <a:latin typeface="Arial"/>
                <a:ea typeface="Malgun Gothic"/>
                <a:cs typeface="Malgun Gothic"/>
              </a:rPr>
              <a:t> 이 계보의 두 갈래인 MuJoCo 시뮬레이션과 Gemini가 다리 로봇에서 처음 만난 것은 Proc4Gem(</a:t>
            </a:r>
            <a:r>
              <a:rPr sz="1050" b="0" i="0">
                <a:solidFill>
                  <a:srgbClr val="1D4ED8"/>
                </a:solidFill>
                <a:latin typeface="Arial"/>
                <a:ea typeface="Malgun Gothic"/>
                <a:cs typeface="Malgun Gothic"/>
                <a:hlinkClick r:id="rId3"/>
              </a:rPr>
              <a:t>arXiv:2503.08593</a:t>
            </a:r>
            <a:r>
              <a:rPr sz="1050" b="0" i="0">
                <a:solidFill>
                  <a:srgbClr val="16213A"/>
                </a:solidFill>
                <a:latin typeface="Arial"/>
                <a:ea typeface="Malgun Gothic"/>
                <a:cs typeface="Malgun Gothic"/>
              </a:rPr>
              <a:t>, Lin 외, 2025-03)이다. 시뮬레이션 데이터로만 미세 조정한 Gemini가 언어 지시를 받아 Barkour 로봇에 2 Hz로 몸통 속도 명령을 내고, 처음 보는 실물 거실에서 트롤리를 목표 물체까지 밀었다. 그 아래의 보행 정책은 MJX에서 RL로 배웠다. 학습에 없던 목표(키 1.5 m 기린 인형)에서 성공은 10번 중 7번이었고, 같은 데이터로 배운 SPOC 기준선은 0번이었다.</a:t>
            </a:r>
          </a:p>
        </p:txBody>
      </p:sp>
      <p:sp>
        <p:nvSpPr>
          <p:cNvPr id="6" name="TextBox 5"/>
          <p:cNvSpPr txBox="1"/>
          <p:nvPr/>
        </p:nvSpPr>
        <p:spPr>
          <a:xfrm>
            <a:off x="609600" y="1982986"/>
            <a:ext cx="10972800" cy="151546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Gemini Robotics — 2025년에는 휴머노이드의 상체 조작만 하던 기반 모델이, 2026-07의 2판에서 걷기와 웅크리기까지 낸다</a:t>
            </a:r>
            <a:r>
              <a:rPr sz="1050" b="0" i="0">
                <a:solidFill>
                  <a:srgbClr val="16213A"/>
                </a:solidFill>
                <a:latin typeface="Arial"/>
                <a:ea typeface="Malgun Gothic"/>
                <a:cs typeface="Malgun Gothic"/>
              </a:rPr>
              <a:t>(Gemini Robotics </a:t>
            </a:r>
            <a:r>
              <a:rPr sz="1050" b="0" i="0">
                <a:solidFill>
                  <a:srgbClr val="1D4ED8"/>
                </a:solidFill>
                <a:latin typeface="Arial"/>
                <a:ea typeface="Malgun Gothic"/>
                <a:cs typeface="Malgun Gothic"/>
                <a:hlinkClick r:id="rId4"/>
              </a:rPr>
              <a:t>arXiv:2503.20020</a:t>
            </a:r>
            <a:r>
              <a:rPr sz="1050" b="0" i="0">
                <a:solidFill>
                  <a:srgbClr val="16213A"/>
                </a:solidFill>
                <a:latin typeface="Arial"/>
                <a:ea typeface="Malgun Gothic"/>
                <a:cs typeface="Malgun Gothic"/>
              </a:rPr>
              <a:t>, 2025-03; Gemini Robotics 1.5 </a:t>
            </a:r>
            <a:r>
              <a:rPr sz="1050" b="0" i="0">
                <a:solidFill>
                  <a:srgbClr val="1D4ED8"/>
                </a:solidFill>
                <a:latin typeface="Arial"/>
                <a:ea typeface="Malgun Gothic"/>
                <a:cs typeface="Malgun Gothic"/>
                <a:hlinkClick r:id="rId5"/>
              </a:rPr>
              <a:t>arXiv:2510.03342</a:t>
            </a:r>
            <a:r>
              <a:rPr sz="1050" b="0" i="0">
                <a:solidFill>
                  <a:srgbClr val="16213A"/>
                </a:solidFill>
                <a:latin typeface="Arial"/>
                <a:ea typeface="Malgun Gothic"/>
                <a:cs typeface="Malgun Gothic"/>
              </a:rPr>
              <a:t>, 2025-10; </a:t>
            </a:r>
            <a:r>
              <a:rPr sz="1050" b="0" i="0">
                <a:solidFill>
                  <a:srgbClr val="1D4ED8"/>
                </a:solidFill>
                <a:latin typeface="Arial"/>
                <a:ea typeface="Malgun Gothic"/>
                <a:cs typeface="Malgun Gothic"/>
                <a:hlinkClick r:id="rId6"/>
              </a:rPr>
              <a:t>Gemini Robotics 2 발표</a:t>
            </a:r>
            <a:r>
              <a:rPr sz="1050" b="0" i="0">
                <a:solidFill>
                  <a:srgbClr val="16213A"/>
                </a:solidFill>
                <a:latin typeface="Arial"/>
                <a:ea typeface="Malgun Gothic"/>
                <a:cs typeface="Malgun Gothic"/>
              </a:rPr>
              <a:t>, 2026-07-30; Google DeepMind Gemini Robotics 팀). VLA 모델은 영상과 지시를 받아 행동을 직접 내고, ER(embodied reasoning) 모델은 공간 이해와 계획을 맡는다. 1판(2025-03-12)은 주로 ALOHA 2 양팔 데이터로 학습했고, 미세 조정으로 Apptronik의 휴머노이드 Apollo에 옮겼다. Apollo가 한 일은 서서 하는 상체 조작이다. 1.5판(2025-09-25)은 세 로봇(ALOHA·양팔 Franka·Apollo)의 데이터를 함께 배워, 한 체크포인트로 셋을 움직인다. 2판(2026-07-30)에서 처음으로 Apollo 2의 몸 전체를 제어한다. 발표 예시에서 Apollo 2는 탁자로 걸어가 물뿌리개를 집고, 몇 걸음 옮겨 선반 아래 칸에 넣는다. 발표는 이동 속도가 아직 더 나아져야 한다고 적는다. 휴머노이드 하드웨어와의 공식 제휴는 둘이다. Apptronik과는 2024-12-19에 전략 제휴를 맺었고, Boston Dynamics와는 2026-01-05 CES에서 새 Atlas에 Gemini Robotics를 얹는 공동 연구를 발표했다. Gemini 1.5 Pro를 고수준 내비게이션에 쓴 Mobility VLA는 B.6c에 있다.</a:t>
            </a:r>
          </a:p>
        </p:txBody>
      </p:sp>
      <p:sp>
        <p:nvSpPr>
          <p:cNvPr id="7" name="TextBox 6"/>
          <p:cNvSpPr txBox="1"/>
          <p:nvPr/>
        </p:nvSpPr>
        <p:spPr>
          <a:xfrm>
            <a:off x="609600" y="3587353"/>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보행 연구로서의 내용은 아직 적다. 2판의 전신 제어는 발표 블로그와 영상으로만 공개됐고, 방법을 설명한 기술 보고서는 찾지 못했다(2026-10-07 확인). 가져올 것은 평가 방식 하나다. 1.5판은 개발 중 평가 에피소드의 90% 넘게를 MuJoCo 시뮬레이션에서 돌렸고, 시뮬레이션과 실물의 순위가 강하게 일치한다고 적었다. travplan의 sim-to-real 예측력 프로토콜(TP-0043, S.6.4의 SRCC)과 같은 질문이다. Apptronik은 2026-06-30에 Apollo 2를 두 발 구성과 바퀴 받침 구성으로 공개했다. 휴머노이드 업체가 기존 산업용 이동 로봇의 안전 기준에 맞추려고 바퀴 구성을 따로 둔 사례이고, 두 발 구성도 함께 내고 계속 다듬는다.</a:t>
            </a:r>
          </a:p>
        </p:txBody>
      </p:sp>
    </p:spTree>
  </p:cSld>
  <p:clrMapOvr>
    <a:masterClrMapping/>
  </p:clrMapOvr>
</p:sld>
</file>

<file path=ppt/slides/slide32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8/9</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321 / 516</a:t>
            </a:r>
          </a:p>
        </p:txBody>
      </p:sp>
      <p:pic>
        <p:nvPicPr>
          <p:cNvPr id="5" name="Picture 4" descr="image.jpg"/>
          <p:cNvPicPr>
            <a:picLocks noChangeAspect="1"/>
          </p:cNvPicPr>
          <p:nvPr/>
        </p:nvPicPr>
        <p:blipFill>
          <a:blip r:embed="rId3"/>
          <a:stretch>
            <a:fillRect/>
          </a:stretch>
        </p:blipFill>
        <p:spPr>
          <a:xfrm>
            <a:off x="1863725" y="1244600"/>
            <a:ext cx="8464550" cy="4445000"/>
          </a:xfrm>
          <a:prstGeom prst="rect">
            <a:avLst/>
          </a:prstGeom>
        </p:spPr>
      </p:pic>
      <p:sp>
        <p:nvSpPr>
          <p:cNvPr id="6" name="TextBox 5"/>
          <p:cNvSpPr txBox="1"/>
          <p:nvPr/>
        </p:nvSpPr>
        <p:spPr>
          <a:xfrm>
            <a:off x="1863725" y="5727700"/>
            <a:ext cx="846455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Gemini Robotics 2 (발표 대표 이미지): 휴머노이드가 무릎과 허리를 굽혀 바닥 가까이 놓인 물뿌리개를 집으려 한다. 물뿌리개의 색 점 무늬와 왼쪽 제목 글자는 원 이미지의 그래픽이다. 출처: Google DeepMind 블로그 2026-07-30</a:t>
            </a:r>
          </a:p>
        </p:txBody>
      </p:sp>
    </p:spTree>
  </p:cSld>
  <p:clrMapOvr>
    <a:masterClrMapping/>
  </p:clrMapOvr>
</p:sld>
</file>

<file path=ppt/slides/slide32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9/9</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322 / 516</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사람.</a:t>
            </a:r>
            <a:r>
              <a:rPr sz="1050" b="0" i="0">
                <a:solidFill>
                  <a:srgbClr val="16213A"/>
                </a:solidFill>
                <a:latin typeface="Arial"/>
                <a:ea typeface="Malgun Gothic"/>
                <a:cs typeface="Malgun Gothic"/>
              </a:rPr>
              <a:t> 이 계보는 Google Brain의 Tan 팀, DeepMind의 Heess 팀, MuJoCo 팀의 세 갈래가 만들었다. 2026-07-30 Gemini Robotics 2 발표의 팀 명단에는 세 갈래의 사람이 함께 있다. 소속은 2026-10-07에 확인한 1차 출처(최근 논문의 저자 소속, 공식 발표, 본인 페이지)만 적었다. 명단에 없다고 떠났다는 뜻은 아니다.</a:t>
            </a:r>
          </a:p>
        </p:txBody>
      </p:sp>
      <p:graphicFrame>
        <p:nvGraphicFramePr>
          <p:cNvPr id="6" name="Table 5"/>
          <p:cNvGraphicFramePr>
            <a:graphicFrameLocks noGrp="1"/>
          </p:cNvGraphicFramePr>
          <p:nvPr/>
        </p:nvGraphicFramePr>
        <p:xfrm>
          <a:off x="609600" y="1766491"/>
          <a:ext cx="10966449" cy="2333544"/>
        </p:xfrm>
        <a:graphic>
          <a:graphicData uri="http://schemas.openxmlformats.org/drawingml/2006/table">
            <a:tbl>
              <a:tblPr firstRow="1" bandRow="1">
                <a:tableStyleId>{5C22544A-7EE6-4342-B048-85BDC9FD1C3A}</a:tableStyleId>
              </a:tblPr>
              <a:tblGrid>
                <a:gridCol w="2203648"/>
                <a:gridCol w="5678884"/>
                <a:gridCol w="3083917"/>
              </a:tblGrid>
              <a:tr h="197088">
                <a:tc>
                  <a:txBody>
                    <a:bodyPr wrap="square"/>
                    <a:lstStyle/>
                    <a:p>
                      <a:r>
                        <a:rPr sz="800" b="1" i="0">
                          <a:solidFill>
                            <a:srgbClr val="F4F1EA"/>
                          </a:solidFill>
                          <a:latin typeface="Arial"/>
                          <a:ea typeface="Malgun Gothic"/>
                          <a:cs typeface="Malgun Gothic"/>
                        </a:rPr>
                        <a:t>사람</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이 소절에서 남긴 것</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지금 소속</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Jie Tan</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Minitaur sim-to-real 1저자, Brain 사족 연구 대부분과 Barkour·SayTap·Language to Rewards 공저</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Google DeepMind(Gemini Robotics 2 팀 명단)</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Tingnan Zhang, Wenhao Yu, Yuxiang Yang, Ken Caluwaerts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Visual-Locomotion·Language to Rewards(Yu), Data Efficient RL·걸음새 전환·Semantics-Aware(Yang), Barkour(Caluwaerts)의 1저자. Zhang은 이 계보 대부분의 공저자</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Google DeepMind(같은 명단)</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Nicolas Heess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OP3 갈래 다섯 편의 마지막 저자</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Google DeepMind(같은 명단)</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Tuomas Haarnoja</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SAC 저자, Learning to Walk와 OP3 축구 1저자</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2024 논문 기준 Google DeepMind. 그 뒤는 확인하지 못했다</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Xue Bin (Jason) Peng</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동물 모방 보행 1저자, DeepMimic·AWR·AMP 저자</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B.16.1의 사람 표와 같다</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Sehoon Ha</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Learning to Walk 공동 1저자, Minimal Human Effort 1저자</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Georgia Institute of Technology(2026-09 논문 소속)</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Erwin Coumans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Bullet·PyBullet 저자, Minitaur·Imitating Animals·Visual-Locomotion 공저</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본인 GitHub 프로필은 NVIDIA를 적는다</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Yuval Tassa</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MJPC·Language to Rewards·MuJoCo Playground 공저</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MuJoCo Playground 논문(2025-02) 소속 Google DeepMind. 그 뒤는 확인하지 못했다</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Carolina Parada</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Barkour 지휘진, LMPC 프로그램 책임자, Gemini Robotics 발표</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Google DeepMind 로보틱스 시니어 디렉터(Boston Dynamics 2026-01-05 발표의 직함)</a:t>
                      </a:r>
                    </a:p>
                  </a:txBody>
                  <a:tcPr marL="63500" marR="63500" marT="12700" marB="12700">
                    <a:solidFill>
                      <a:srgbClr val="FFFDF8"/>
                    </a:solidFill>
                  </a:tcPr>
                </a:tc>
              </a:tr>
            </a:tbl>
          </a:graphicData>
        </a:graphic>
      </p:graphicFrame>
      <p:sp>
        <p:nvSpPr>
          <p:cNvPr id="7" name="TextBox 6"/>
          <p:cNvSpPr txBox="1"/>
          <p:nvPr/>
        </p:nvSpPr>
        <p:spPr>
          <a:xfrm>
            <a:off x="717550" y="4778673"/>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B.16.3 취리히: RSL 밖의 ETH Zürich, Disney Research, Flexion</a:t>
            </a:r>
          </a:p>
        </p:txBody>
      </p:sp>
      <p:sp>
        <p:nvSpPr>
          <p:cNvPr id="8" name="TextBox 7"/>
          <p:cNvSpPr txBox="1"/>
          <p:nvPr/>
        </p:nvSpPr>
        <p:spPr>
          <a:xfrm>
            <a:off x="609600" y="5081885"/>
            <a:ext cx="10972800" cy="108247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취리히의 다리·휴머노이드 연구는 ETH 연구실, 그 출신이 세운 회사, 같은 학습 도구를 쓰는 기업 연구소가 사람과 코드를 주고받는 망이다.</a:t>
            </a:r>
            <a:r>
              <a:rPr sz="1050" b="0" i="0">
                <a:solidFill>
                  <a:srgbClr val="16213A"/>
                </a:solidFill>
                <a:latin typeface="Arial"/>
                <a:ea typeface="Malgun Gothic"/>
                <a:cs typeface="Malgun Gothic"/>
              </a:rPr>
              <a:t> RSL(B.14)에서 legged_gym과 ANYmal Parkour를 낸 Rudin과 Hoeller는 NVIDIA 소속으로 Isaac Gym·Orbit·Isaac Lab 논문에 참여했고(B.16.1), 2024-12 RSL 동료들과 휴머노이드 자율 소프트웨어 회사 Flexion을 세웠다. Disney Research는 같은 GPU 병렬 RL로 캐릭터 로봇 BDX와 Olaf를 걷게 했고, RSL과 지도 인코더 논문(AME-1)을 함께 냈다. B.14가 다루지 않은 RSL 연구로는 망가진 인식 아래의 내비게이션, 측정으로 맞추는 sim-to-real, 바퀴 달린 다리의 물류 로봇이 있다. </a:t>
            </a:r>
            <a:r>
              <a:rPr sz="1050" b="1" i="0">
                <a:solidFill>
                  <a:srgbClr val="C2410C"/>
                </a:solidFill>
                <a:latin typeface="Arial"/>
                <a:ea typeface="Malgun Gothic"/>
                <a:cs typeface="Malgun Gothic"/>
              </a:rPr>
              <a:t>travplan이 이 묶음에서 가져올 것은 로봇 형태가 아니라, 생성기와 추종기를 서로에게 맞춰 학습하는 절차와 plant를 측정으로 맞추는 절차다.</a:t>
            </a:r>
            <a:r>
              <a:rPr sz="1050" b="0" i="0">
                <a:solidFill>
                  <a:srgbClr val="16213A"/>
                </a:solidFill>
                <a:latin typeface="Arial"/>
                <a:ea typeface="Malgun Gothic"/>
                <a:cs typeface="Malgun Gothic"/>
              </a:rPr>
              <a:t> 카드는 Flexion과 Disney Research를 먼저 두고, RSL과 바퀴·다리 로봇, ETH의 다른 연구실을 차례로 놓는다.</a:t>
            </a:r>
          </a:p>
        </p:txBody>
      </p:sp>
    </p:spTree>
  </p:cSld>
  <p:clrMapOvr>
    <a:masterClrMapping/>
  </p:clrMapOvr>
</p:sld>
</file>

<file path=ppt/slides/slide32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자세히: 이 소절의 연구 목록(표 24행)</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323 / 516</a:t>
            </a:r>
          </a:p>
        </p:txBody>
      </p:sp>
      <p:sp>
        <p:nvSpPr>
          <p:cNvPr id="5" name="TextBox 4"/>
          <p:cNvSpPr txBox="1"/>
          <p:nvPr/>
        </p:nvSpPr>
        <p:spPr>
          <a:xfrm>
            <a:off x="609600" y="1244600"/>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1개(문단·식·그림)는 대시보드 리서치 탭의 "자세히: 이 소절의 연구 목록(표 24행)" 토글에 있다.</a:t>
            </a:r>
          </a:p>
        </p:txBody>
      </p:sp>
    </p:spTree>
  </p:cSld>
  <p:clrMapOvr>
    <a:masterClrMapping/>
  </p:clrMapOvr>
</p:sld>
</file>

<file path=ppt/slides/slide32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1/4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324 / 516</a:t>
            </a:r>
          </a:p>
        </p:txBody>
      </p:sp>
      <p:sp>
        <p:nvSpPr>
          <p:cNvPr id="5" name="TextBox 4"/>
          <p:cNvSpPr txBox="1"/>
          <p:nvPr/>
        </p:nvSpPr>
        <p:spPr>
          <a:xfrm>
            <a:off x="609600" y="1244600"/>
            <a:ext cx="10972800" cy="108247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Flexion — legged_gym과 Isaac Lab의 핵심 개발자들이 세운 휴머노이드 자율 소프트웨어 회사</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flexion.ai</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4"/>
              </a:rPr>
              <a:t>팀</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5"/>
              </a:rPr>
              <a:t>선언문</a:t>
            </a:r>
            <a:r>
              <a:rPr sz="1050" b="0" i="0">
                <a:solidFill>
                  <a:srgbClr val="16213A"/>
                </a:solidFill>
                <a:latin typeface="Arial"/>
                <a:ea typeface="Malgun Gothic"/>
                <a:cs typeface="Malgun Gothic"/>
              </a:rPr>
              <a:t> 2025-11-19, </a:t>
            </a:r>
            <a:r>
              <a:rPr sz="1050" b="0" i="0">
                <a:solidFill>
                  <a:srgbClr val="1D4ED8"/>
                </a:solidFill>
                <a:latin typeface="Arial"/>
                <a:ea typeface="Malgun Gothic"/>
                <a:cs typeface="Malgun Gothic"/>
                <a:hlinkClick r:id="rId6"/>
              </a:rPr>
              <a:t>Series A 발표</a:t>
            </a:r>
            <a:r>
              <a:rPr sz="1050" b="0" i="0">
                <a:solidFill>
                  <a:srgbClr val="16213A"/>
                </a:solidFill>
                <a:latin typeface="Arial"/>
                <a:ea typeface="Malgun Gothic"/>
                <a:cs typeface="Malgun Gothic"/>
              </a:rPr>
              <a:t> 2025-11-20, </a:t>
            </a:r>
            <a:r>
              <a:rPr sz="1050" b="0" i="0">
                <a:solidFill>
                  <a:srgbClr val="1D4ED8"/>
                </a:solidFill>
                <a:latin typeface="Arial"/>
                <a:ea typeface="Malgun Gothic"/>
                <a:cs typeface="Malgun Gothic"/>
                <a:hlinkClick r:id="rId7"/>
              </a:rPr>
              <a:t>Reflect v0</a:t>
            </a:r>
            <a:r>
              <a:rPr sz="1050" b="0" i="0">
                <a:solidFill>
                  <a:srgbClr val="16213A"/>
                </a:solidFill>
                <a:latin typeface="Arial"/>
                <a:ea typeface="Malgun Gothic"/>
                <a:cs typeface="Malgun Gothic"/>
              </a:rPr>
              <a:t> 2025-11-20, </a:t>
            </a:r>
            <a:r>
              <a:rPr sz="1050" b="0" i="0">
                <a:solidFill>
                  <a:srgbClr val="1D4ED8"/>
                </a:solidFill>
                <a:latin typeface="Arial"/>
                <a:ea typeface="Malgun Gothic"/>
                <a:cs typeface="Malgun Gothic"/>
                <a:hlinkClick r:id="rId8"/>
              </a:rPr>
              <a:t>Reflect v1.0</a:t>
            </a:r>
            <a:r>
              <a:rPr sz="1050" b="0" i="0">
                <a:solidFill>
                  <a:srgbClr val="16213A"/>
                </a:solidFill>
                <a:latin typeface="Arial"/>
                <a:ea typeface="Malgun Gothic"/>
                <a:cs typeface="Malgun Gothic"/>
              </a:rPr>
              <a:t> 2026-06-29; Flexion Robotics AG, 취리히). Flexion은 로봇 몸이 아니라 그 위에서 도는 자율 소프트웨어를 만든다. Series A 발표의 표현으로는 "몸이 아니라 두뇌"다. 스위스 상업등기에는 2024-12-12에 새로 올랐고(정관 2024-12-02), 등기 목적은 휴머노이드 로봇을 제어하는 소프트웨어다(</a:t>
            </a:r>
            <a:r>
              <a:rPr sz="1050" b="0" i="0">
                <a:solidFill>
                  <a:srgbClr val="1D4ED8"/>
                </a:solidFill>
                <a:latin typeface="Arial"/>
                <a:ea typeface="Malgun Gothic"/>
                <a:cs typeface="Malgun Gothic"/>
                <a:hlinkClick r:id="rId9"/>
              </a:rPr>
              <a:t>Zefix</a:t>
            </a:r>
            <a:r>
              <a:rPr sz="1050" b="0" i="0">
                <a:solidFill>
                  <a:srgbClr val="16213A"/>
                </a:solidFill>
                <a:latin typeface="Arial"/>
                <a:ea typeface="Malgun Gothic"/>
                <a:cs typeface="Malgun Gothic"/>
              </a:rPr>
              <a:t>). 공동 창업자는 다섯이다(팀 페이지, 2026-10-07 확인). Nikita Rudin이 CEO, David Höller(논문 표기 Hoeller)가 CTO다. Julian Nubert는 인식 팀을, Fabian Tischhauser는 하드웨어 팀을 이끌고, Marco Hutter는 자문을 맡는다. 투자는 시드 735만 달러(Frst·Moonfire·redalpine) 뒤의 Series A 5,000만 달러(DST Global Partners·NVentures·redalpine·Prosus Ventures·Moonfire)다. NVentures는 NVIDIA의 투자 조직이다.</a:t>
            </a:r>
          </a:p>
        </p:txBody>
      </p:sp>
      <p:sp>
        <p:nvSpPr>
          <p:cNvPr id="6" name="TextBox 5"/>
          <p:cNvSpPr txBox="1"/>
          <p:nvPr/>
        </p:nvSpPr>
        <p:spPr>
          <a:xfrm>
            <a:off x="609600" y="2415977"/>
            <a:ext cx="10972800" cy="1298972"/>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두 창업자는 RSL의 학습 도구를 만든 사람들이다. Rudin은 legged_gym(B.14.1)의 1저자이고, ANYmal Parkour(B.14.2)는 Hoeller와 Rudin이 공동 1저자다. 둘은 NVIDIA 소속으로 Isaac Gym 기술 보고서에, ETH와 NVIDIA 소속으로 Orbit에 이름을 올렸다(B.16.1). 2025-11 Isaac Lab 논문(S.1.1)에서 Hoeller는 핵심 리더 셋 가운데 하나이고, 둘은 소속에 Flexion을 함께 적었다. Series A 발표가 적은 스택은 명령, 운동, 제어의 세 층이다. Reflect v0 글이 적은 목표 구조도 셋이다. 임무를 쪼개고 도구를 부르는 LLM·VLM agent, 짧은 충돌 인지 궤적을 내는 운동 생성기, 그 궤적을 따르는 RL 전신 추종기다. 당시 구현은 따로 학습한 기술(지각 험지 보행·전신 손끝 추종·내비게이션·물체 집기)을 agent가 도구 호출로 엮는 단계였고, diffusion 운동 생성기는 다음 판으로 예고했다. Reflect v1.0은 같은 구조에서 RL을 기술 하나에 가두지 않고 전신 제어부터 VLM 임무 제어까지 모든 층에 쓴다. 아래 층 제어 모듈의 이름은 Reflex다. v1.0의 임무 시연과 16단계 임무 완주율(지도 미세 조정만 38%, RL을 더하면 90%)은 인식 문서 A.8.1에 있다.</a:t>
            </a:r>
          </a:p>
        </p:txBody>
      </p:sp>
      <p:sp>
        <p:nvSpPr>
          <p:cNvPr id="7" name="TextBox 6"/>
          <p:cNvSpPr txBox="1"/>
          <p:nvPr/>
        </p:nvSpPr>
        <p:spPr>
          <a:xfrm>
            <a:off x="609600" y="3803848"/>
            <a:ext cx="10972800" cy="1731962"/>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Reflect v0의 목표 구조에서 운동 생성기와 전신 추종기의 경계는 travplan의 Planner와 Controller 경계와 같다. 짧은 궤적을 내는 생성기 아래에서 학습한 추종기가 그 궤적을 따른다. travplan은 생성기(Planner D)만 학습하고 추종기는 MPPI와 NMPC로 둔다. 학습 Controller는 아직 Playground용 작은 정책(</a:t>
            </a:r>
            <a:r>
              <a:rPr sz="1050" b="0" i="0">
                <a:solidFill>
                  <a:srgbClr val="16213A"/>
                </a:solidFill>
                <a:latin typeface="Consolas"/>
                <a:ea typeface="Malgun Gothic"/>
                <a:cs typeface="Malgun Gothic"/>
              </a:rPr>
              <a:t>TinyPolicy</a:t>
            </a:r>
            <a:r>
              <a:rPr sz="1050" b="0" i="0">
                <a:solidFill>
                  <a:srgbClr val="16213A"/>
                </a:solidFill>
                <a:latin typeface="Arial"/>
                <a:ea typeface="Malgun Gothic"/>
                <a:cs typeface="Malgun Gothic"/>
              </a:rPr>
              <a:t>, TP-0128)이다. 그래서 바로 옮길 것은 층 구성이 아니라 선언문의 sim-to-real 주장이다. 선언문은 넓은 도메인 무작위화가 현실에 없는 세계까지 덮어 정책을 지나치게 조심스럽게 만든다고 본다. 그래서 동역학·접촉·구동·센서를 real-to-sim으로 맞추고, 실제로 변하는 파라미터(지면 마찰, 짐의 무게 분포)만 무작위화하자고 한다. 글마다 표현은 다르다. v0은 운동 기술을 '대규모 무작위화와 외란'으로 학습했다고 적고, v1.0은 '표적(targeted) 도메인 무작위화'라고만 적는다. 권장 L1 레벨 3의 360 에피소드에서 스워브 plant의 지연을 MPPI rollout에 넣자 치명 실패가 55회에서 4회로 준 결과(TP-0150)가 선언문과 같은 방향이다. 다만 rollout이 plant의 지연을 정확히 아는 시뮬 결과라서, 보정과 무작위화를 맞대 본 근거는 아니다. travplan이 학습 루프를 옮겨 갈 후보로 둔 Isaac Lab(TP-0042)과, Controller 문서 F.6이 들인다면 첫 후보로 꼽은 rsl_rl을 만든 사람 가운데 몇이 이 회사를 세웠다. Isaac Lab 논문은 Rudin과 Hoeller를 핵심 기여자로 적고, rsl_rl의 첫 관리자는 Rudin이었다(2021 README). 다만 Reflex와 VLA 모델에 대한 논문은 없고, 수치는 모두 회사 발표다.</a:t>
            </a:r>
          </a:p>
        </p:txBody>
      </p:sp>
    </p:spTree>
  </p:cSld>
  <p:clrMapOvr>
    <a:masterClrMapping/>
  </p:clrMapOvr>
</p:sld>
</file>

<file path=ppt/slides/slide32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2/4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325 / 516</a:t>
            </a:r>
          </a:p>
        </p:txBody>
      </p:sp>
      <p:pic>
        <p:nvPicPr>
          <p:cNvPr id="5" name="Picture 4" descr="image.jpg"/>
          <p:cNvPicPr>
            <a:picLocks noChangeAspect="1"/>
          </p:cNvPicPr>
          <p:nvPr/>
        </p:nvPicPr>
        <p:blipFill>
          <a:blip r:embed="rId3"/>
          <a:stretch>
            <a:fillRect/>
          </a:stretch>
        </p:blipFill>
        <p:spPr>
          <a:xfrm>
            <a:off x="609600" y="1244600"/>
            <a:ext cx="4000500" cy="2667000"/>
          </a:xfrm>
          <a:prstGeom prst="rect">
            <a:avLst/>
          </a:prstGeom>
        </p:spPr>
      </p:pic>
      <p:sp>
        <p:nvSpPr>
          <p:cNvPr id="6" name="TextBox 5"/>
          <p:cNvSpPr txBox="1"/>
          <p:nvPr/>
        </p:nvSpPr>
        <p:spPr>
          <a:xfrm>
            <a:off x="609600" y="3949700"/>
            <a:ext cx="54102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Flexion (홈페이지 사진): 이끼 낀 숲속 오솔길을 걸어오는 흰 휴머노이드다. 회사는 로봇 기종을 밝히지 않는다. 출처: flexion.ai</a:t>
            </a:r>
          </a:p>
        </p:txBody>
      </p:sp>
      <p:pic>
        <p:nvPicPr>
          <p:cNvPr id="7" name="Picture 6" descr="image.jpg"/>
          <p:cNvPicPr>
            <a:picLocks noChangeAspect="1"/>
          </p:cNvPicPr>
          <p:nvPr/>
        </p:nvPicPr>
        <p:blipFill>
          <a:blip r:embed="rId4"/>
          <a:stretch>
            <a:fillRect/>
          </a:stretch>
        </p:blipFill>
        <p:spPr>
          <a:xfrm>
            <a:off x="6172200" y="1244600"/>
            <a:ext cx="5410200" cy="2012950"/>
          </a:xfrm>
          <a:prstGeom prst="rect">
            <a:avLst/>
          </a:prstGeom>
        </p:spPr>
      </p:pic>
      <p:sp>
        <p:nvSpPr>
          <p:cNvPr id="8" name="TextBox 7"/>
          <p:cNvSpPr txBox="1"/>
          <p:nvPr/>
        </p:nvSpPr>
        <p:spPr>
          <a:xfrm>
            <a:off x="6172200" y="3295650"/>
            <a:ext cx="5410200" cy="42654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Flexion Reflect v1.0 (구조도): 임무 문장 하나를 Agent가 받아 하위 과제로 바꾸고, 필요하면 의미 지도(Semantic Map)를 도구로 부른다. Motion Generator가 하위 과제를 짧은 궤적으로, Whole-Body Controller가 그 궤적을 모터 명령으로 바꾼다. Neural Perception은 운동 생성과 전신 제어 둘 다에 들어간다. 출처: Reflect v1.0</a:t>
            </a:r>
          </a:p>
        </p:txBody>
      </p:sp>
      <p:sp>
        <p:nvSpPr>
          <p:cNvPr id="9" name="TextBox 8"/>
          <p:cNvSpPr txBox="1"/>
          <p:nvPr/>
        </p:nvSpPr>
        <p:spPr>
          <a:xfrm>
            <a:off x="609600" y="4322961"/>
            <a:ext cx="10972800" cy="1731962"/>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Flexion Reflect v1.0 — 임무 VLM까지 RL로 다듬어, 지시 한 문장짜리 여러 층 임무를 끝까지 잇는다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5"/>
              </a:rPr>
              <a:t>Reflect v1.0</a:t>
            </a:r>
            <a:r>
              <a:rPr sz="1050" b="0" i="0">
                <a:solidFill>
                  <a:srgbClr val="16213A"/>
                </a:solidFill>
                <a:latin typeface="Arial"/>
                <a:ea typeface="Malgun Gothic"/>
                <a:cs typeface="Malgun Gothic"/>
              </a:rPr>
              <a:t>, Flexion Team, 2026-06-29, 회사 블로그; 기술 보고서·논문 없음, 코드·가중치·데이터 공개 없음). </a:t>
            </a:r>
            <a:r>
              <a:rPr sz="1050" b="1" i="0">
                <a:solidFill>
                  <a:srgbClr val="C2410C"/>
                </a:solidFill>
                <a:latin typeface="Arial"/>
                <a:ea typeface="Malgun Gothic"/>
                <a:cs typeface="Malgun Gothic"/>
              </a:rPr>
              <a:t>RL을 운동 기술에만 쓰지 않고 맨 위 임무 VLM까지 넓혀, 16단계 임무 평가에서 실수 없이 끝까지 간 비율을 SFT 38 %에서 SFT+RL 90 %로 올렸다고 밝혔다.</a:t>
            </a:r>
            <a:r>
              <a:rPr sz="1050" b="0" i="0">
                <a:solidFill>
                  <a:srgbClr val="16213A"/>
                </a:solidFill>
                <a:latin typeface="Arial"/>
                <a:ea typeface="Malgun Gothic"/>
                <a:cs typeface="Malgun Gothic"/>
              </a:rPr>
              <a:t> 로봇은 지시 한 문장을 받는다. 시연의 예는 "계단으로 가서 택배 상자를 가져오고 승강기로 올라와, 상자를 열어 빈 서랍에 넣어라"다. 임무 VLM은 1인칭 카메라 영상으로 진행을 판단하며 구조화된 도구를 하나씩 부른다. 시연 화면의 도구 이름은 </a:t>
            </a:r>
            <a:r>
              <a:rPr sz="1050" b="0" i="0">
                <a:solidFill>
                  <a:srgbClr val="16213A"/>
                </a:solidFill>
                <a:latin typeface="Consolas"/>
                <a:ea typeface="Malgun Gothic"/>
                <a:cs typeface="Malgun Gothic"/>
              </a:rPr>
              <a:t>navigate global</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move to object</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drop off box</a:t>
            </a:r>
            <a:r>
              <a:rPr sz="1050" b="0" i="0">
                <a:solidFill>
                  <a:srgbClr val="16213A"/>
                </a:solidFill>
                <a:latin typeface="Arial"/>
                <a:ea typeface="Malgun Gothic"/>
                <a:cs typeface="Malgun Gothic"/>
              </a:rPr>
              <a:t> 같은 것이다. 의미 지도 도구는 건물 스캔으로 자동 생성한다. VLM이 문장으로 구역과 물체를 물으면 전역 경로를 돌려준다. 스캔 센서와 지도 형식은 밝히지 않았다. 운동 층은 하위 과제를 짧은 지평 궤적으로 바꾼다. 실제 데이터로 학습한 VLA와 RL 기술을 섞고, RL 기술은 대부분 Isaac Lab에서 자체 시각 인코더와 표적 도메인 무작위화로 학습했다. 상자를 도구로 여는 동작은 원격조종 데이터로 배운 VLA가 맡는다. 아래 층 Reflex는 그 궤적을 실시간 모터 명령으로 바꾸는 힘 인지 전신 제어기다. 로봇과 형태마다 적은 사람 수고로 학습해 배포한다고 적었고, 구조와 보상은 밝히지 않았다. 임무 VLM에 RL을 쓴 이유는 기성 VLM이 너무 성급하기 때문이다. 앞 도구 호출이 끝났는지 눈으로 확인하지 않고 그럴듯한 다음 호출을 낸다. 실패는 두 단에서 받는다. 운동 층이 RL에서 배운 복구 동작으로 먼저 다시 하고, 하위 목표가 틀어지면 VLM이 카메라 영상으로 알아채 다시 계획한다.</a:t>
            </a:r>
          </a:p>
        </p:txBody>
      </p:sp>
    </p:spTree>
  </p:cSld>
  <p:clrMapOvr>
    <a:masterClrMapping/>
  </p:clrMapOvr>
</p:sld>
</file>

<file path=ppt/slides/slide32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3/4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326 / 516</a:t>
            </a:r>
          </a:p>
        </p:txBody>
      </p:sp>
      <p:sp>
        <p:nvSpPr>
          <p:cNvPr id="5" name="TextBox 4"/>
          <p:cNvSpPr txBox="1"/>
          <p:nvPr/>
        </p:nvSpPr>
        <p:spPr>
          <a:xfrm>
            <a:off x="609600" y="1244600"/>
            <a:ext cx="10972800" cy="1082477"/>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평가 곡선은 단계마다 아직 첫 실수를 하지 않은 시도의 비율이다. 기본 VLM은 2단계에서 0 %가 되고, SFT는 4단계에서 약 68 %로 떨어져 16단계에서 38 %로 끝난다. 시도 수와 평가 환경(실물, 시뮬, 기록 재생)은 적지 않았다. 그 밖의 시연은 100 g–3.5 kg 상자를 집는 정책 하나, 승강기 버튼 누르기, 상자를 든 채 움직이는 장애물 피하기다. 계단 100회 연속 왕복은 회사 영상이 보인다. 배포 전에는 3D Gaussian splatting 기반의 사진 같은 시뮬레이터에서 전체 파이프라인을 시험한다. 3DGS로 학습까지 한 것은 RGB 로컬 내비 정책 하나다(인식 문서 A.8.1의 3DGS 현장 복제 카드). 통신층 FlexComm은 같은 호스트에서 수십–수백 µs이고, ROS DDS보다 최대 40 % 빠르며 CPU를 30 % 덜 쓴다고 적었다. 로봇 기종은 밝히지 않았고, </a:t>
            </a:r>
            <a:r>
              <a:rPr sz="1050" b="0" i="0">
                <a:solidFill>
                  <a:srgbClr val="1D4ED8"/>
                </a:solidFill>
                <a:latin typeface="Arial"/>
                <a:ea typeface="Malgun Gothic"/>
                <a:cs typeface="Malgun Gothic"/>
                <a:hlinkClick r:id="rId3"/>
              </a:rPr>
              <a:t>WIRED</a:t>
            </a:r>
            <a:r>
              <a:rPr sz="1050" b="0" i="0">
                <a:solidFill>
                  <a:srgbClr val="16213A"/>
                </a:solidFill>
                <a:latin typeface="Arial"/>
                <a:ea typeface="Malgun Gothic"/>
                <a:cs typeface="Malgun Gothic"/>
              </a:rPr>
              <a:t>는 개조한 Unitree 휴머노이드라고 적었다. 모델명은 확인하지 못했다. 저자가 밝힌 한계는 좁은 과제 분포, 잡기 어려운 물체, 시각 입력에서 틀리는 VLM의 가정, 일부 실패 유형에만 통하는 복구다.</a:t>
            </a:r>
          </a:p>
        </p:txBody>
      </p:sp>
      <p:sp>
        <p:nvSpPr>
          <p:cNvPr id="6" name="TextBox 5"/>
          <p:cNvSpPr txBox="1"/>
          <p:nvPr/>
        </p:nvSpPr>
        <p:spPr>
          <a:xfrm>
            <a:off x="609600" y="2415977"/>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층을 대 보면 Guidance의 전역 경로가 의미 지도의 전역 경로 자리이고, Planner D와 MPPI가 운동 층(짧은 궤적과 그 추종) 자리다. Reflex 자리에는 학습하지 않는 스워브 plant가 온다. 임무 VLM 층은 travplan에 없다. 가져올 것은 평가 방식이다. 단계마다 아직 첫 실수를 하지 않은 시도의 비율을 그리면, 에피소드 성공률이 감추는 실패 지점이 드러난다. travplan에서는 연석, 경사로, 보행자 구간을 단계로 놓고 같은 곡선을 그릴 수 있다. 두 단 복구는 Guidance 폴백(</a:t>
            </a:r>
            <a:r>
              <a:rPr sz="1050" b="0" i="0">
                <a:solidFill>
                  <a:srgbClr val="16213A"/>
                </a:solidFill>
                <a:latin typeface="Consolas"/>
                <a:ea typeface="Malgun Gothic"/>
                <a:cs typeface="Malgun Gothic"/>
              </a:rPr>
              <a:t>planner_df</a:t>
            </a:r>
            <a:r>
              <a:rPr sz="1050" b="0" i="0">
                <a:solidFill>
                  <a:srgbClr val="16213A"/>
                </a:solidFill>
                <a:latin typeface="Arial"/>
                <a:ea typeface="Malgun Gothic"/>
                <a:cs typeface="Malgun Gothic"/>
              </a:rPr>
              <a:t>, TP-0078)과 같은 구조다. 매 스텝의 재계획이 운동 층의 재시도에, 치명 표본이 이어질 때 Guidance 경로로 바꾸는 폴백이 VLM의 재계획에 해당한다. 수치는 가져오지 않는다. 실내 임무이고, 충돌과 여유 거리 지표가 없고, 16단계 평가의 시도 수와 환경을 밝히지 않았다.</a:t>
            </a:r>
          </a:p>
        </p:txBody>
      </p:sp>
    </p:spTree>
  </p:cSld>
  <p:clrMapOvr>
    <a:masterClrMapping/>
  </p:clrMapOvr>
</p:sld>
</file>

<file path=ppt/slides/slide32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4/4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327 / 516</a:t>
            </a:r>
          </a:p>
        </p:txBody>
      </p:sp>
      <p:pic>
        <p:nvPicPr>
          <p:cNvPr id="5" name="Picture 4" descr="image.jpg"/>
          <p:cNvPicPr>
            <a:picLocks noChangeAspect="1"/>
          </p:cNvPicPr>
          <p:nvPr/>
        </p:nvPicPr>
        <p:blipFill>
          <a:blip r:embed="rId3"/>
          <a:stretch>
            <a:fillRect/>
          </a:stretch>
        </p:blipFill>
        <p:spPr>
          <a:xfrm>
            <a:off x="1016000" y="1244600"/>
            <a:ext cx="10160000" cy="4229100"/>
          </a:xfrm>
          <a:prstGeom prst="rect">
            <a:avLst/>
          </a:prstGeom>
        </p:spPr>
      </p:pic>
      <p:sp>
        <p:nvSpPr>
          <p:cNvPr id="6" name="TextBox 5"/>
          <p:cNvSpPr txBox="1"/>
          <p:nvPr/>
        </p:nvSpPr>
        <p:spPr>
          <a:xfrm>
            <a:off x="1016000" y="5511800"/>
            <a:ext cx="101600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Flexion Reflect v1.0 (임무 평가): 16단계 임무에서 단계마다 아직 첫 실수를 하지 않은 시도의 비율이다. 기본 VLM은 2단계에서 0 %가 되고, SFT는 16단계에서 38 %, SFT+RL은 90 %로 끝난다. 시도 수와 평가 환경은 글에 없다. 출처: Reflect v1.0</a:t>
            </a:r>
          </a:p>
        </p:txBody>
      </p:sp>
    </p:spTree>
  </p:cSld>
  <p:clrMapOvr>
    <a:masterClrMapping/>
  </p:clrMapOvr>
</p:sld>
</file>

<file path=ppt/slides/slide32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자세히: Reflect v1.0의 층과 학습</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328 / 516</a:t>
            </a:r>
          </a:p>
        </p:txBody>
      </p:sp>
      <p:graphicFrame>
        <p:nvGraphicFramePr>
          <p:cNvPr id="5" name="Table 4"/>
          <p:cNvGraphicFramePr>
            <a:graphicFrameLocks noGrp="1"/>
          </p:cNvGraphicFramePr>
          <p:nvPr/>
        </p:nvGraphicFramePr>
        <p:xfrm>
          <a:off x="609600" y="1244600"/>
          <a:ext cx="10966449" cy="985440"/>
        </p:xfrm>
        <a:graphic>
          <a:graphicData uri="http://schemas.openxmlformats.org/drawingml/2006/table">
            <a:tbl>
              <a:tblPr firstRow="1" bandRow="1">
                <a:tableStyleId>{5C22544A-7EE6-4342-B048-85BDC9FD1C3A}</a:tableStyleId>
              </a:tblPr>
              <a:tblGrid>
                <a:gridCol w="855166"/>
                <a:gridCol w="6000849"/>
                <a:gridCol w="4110434"/>
              </a:tblGrid>
              <a:tr h="197088">
                <a:tc>
                  <a:txBody>
                    <a:bodyPr wrap="square"/>
                    <a:lstStyle/>
                    <a:p>
                      <a:r>
                        <a:rPr sz="800" b="1" i="0">
                          <a:solidFill>
                            <a:srgbClr val="F4F1EA"/>
                          </a:solidFill>
                          <a:latin typeface="Arial"/>
                          <a:ea typeface="Malgun Gothic"/>
                          <a:cs typeface="Malgun Gothic"/>
                        </a:rPr>
                        <a:t>층</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입력과 출력</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학습</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임무 VLM</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지시문과 1인칭 영상을 받아 도구 호출(</a:t>
                      </a:r>
                      <a:r>
                        <a:rPr sz="800" b="0" i="0">
                          <a:solidFill>
                            <a:srgbClr val="16213A"/>
                          </a:solidFill>
                          <a:latin typeface="Consolas"/>
                          <a:ea typeface="Malgun Gothic"/>
                          <a:cs typeface="Malgun Gothic"/>
                        </a:rPr>
                        <a:t>navigate global</a:t>
                      </a:r>
                      <a:r>
                        <a:rPr sz="800" b="0" i="0">
                          <a:solidFill>
                            <a:srgbClr val="16213A"/>
                          </a:solidFill>
                          <a:latin typeface="Arial"/>
                          <a:ea typeface="Malgun Gothic"/>
                          <a:cs typeface="Malgun Gothic"/>
                        </a:rPr>
                        <a:t>, </a:t>
                      </a:r>
                      <a:r>
                        <a:rPr sz="800" b="0" i="0">
                          <a:solidFill>
                            <a:srgbClr val="16213A"/>
                          </a:solidFill>
                          <a:latin typeface="Consolas"/>
                          <a:ea typeface="Malgun Gothic"/>
                          <a:cs typeface="Malgun Gothic"/>
                        </a:rPr>
                        <a:t>move to object</a:t>
                      </a:r>
                      <a:r>
                        <a:rPr sz="800" b="0" i="0">
                          <a:solidFill>
                            <a:srgbClr val="16213A"/>
                          </a:solidFill>
                          <a:latin typeface="Arial"/>
                          <a:ea typeface="Malgun Gothic"/>
                          <a:cs typeface="Malgun Gothic"/>
                        </a:rPr>
                        <a:t> 등)을 낸다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사전학습 VLM, SFT, RL 미세 조정</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의미 지도</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건물 스캔으로 만든 지도. 문장 질의에 구역·물체와 전역 경로를 준다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형식 미공개</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운동 층</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하위 과제를 짧은 지평 궤적으로 바꾼다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실제 데이터 VLA와 Isaac Lab RL 기술, 표적 도메인 무작위화</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Reflex</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궤적을 모터 명령으로 바꾸며 균형, 구동 한계, 안전을 함께 지킨다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미공개. 로봇마다 적은 수고로 학습한다</a:t>
                      </a:r>
                    </a:p>
                  </a:txBody>
                  <a:tcPr marL="63500" marR="63500" marT="12700" marB="12700">
                    <a:solidFill>
                      <a:srgbClr val="F3F0E8"/>
                    </a:solidFill>
                  </a:tcPr>
                </a:tc>
              </a:tr>
            </a:tbl>
          </a:graphicData>
        </a:graphic>
      </p:graphicFrame>
      <p:sp>
        <p:nvSpPr>
          <p:cNvPr id="6" name="TextBox 5"/>
          <p:cNvSpPr txBox="1"/>
          <p:nvPr/>
        </p:nvSpPr>
        <p:spPr>
          <a:xfrm>
            <a:off x="609600" y="2571651"/>
            <a:ext cx="10972800" cy="700286"/>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v0과 달라진 것.</a:t>
            </a:r>
            <a:r>
              <a:rPr sz="1050" b="0" i="0">
                <a:solidFill>
                  <a:srgbClr val="16213A"/>
                </a:solidFill>
                <a:latin typeface="Arial"/>
                <a:ea typeface="Malgun Gothic"/>
                <a:cs typeface="Malgun Gothic"/>
              </a:rPr>
              <a:t> v0(2025-11)은 따로 학습한 기술을 agent가 도구 호출로 엮는 단계였고, diffusion 운동 생성기를 다음 판으로 예고했다. v1.0이 그것을 넣었는지는 글에 없다.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언론과 원문의 차이.</a:t>
            </a:r>
            <a:r>
              <a:rPr sz="1050" b="0" i="0">
                <a:solidFill>
                  <a:srgbClr val="16213A"/>
                </a:solidFill>
                <a:latin typeface="Arial"/>
                <a:ea typeface="Malgun Gothic"/>
                <a:cs typeface="Malgun Gothic"/>
              </a:rPr>
              <a:t> WIRED와 TechSpot은 최상위 모델이 사람 영상으로 배운다고 적었지만, v1.0 원문에는 SFT와 RL만 있다.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런타임 감시.</a:t>
            </a:r>
            <a:r>
              <a:rPr sz="1050" b="0" i="0">
                <a:solidFill>
                  <a:srgbClr val="16213A"/>
                </a:solidFill>
                <a:latin typeface="Arial"/>
                <a:ea typeface="Malgun Gothic"/>
                <a:cs typeface="Malgun Gothic"/>
              </a:rPr>
              <a:t> 추론 기록부터 커널·네트워크 로그까지 모은다고 적었다.</a:t>
            </a:r>
          </a:p>
        </p:txBody>
      </p:sp>
    </p:spTree>
  </p:cSld>
  <p:clrMapOvr>
    <a:masterClrMapping/>
  </p:clrMapOvr>
</p:sld>
</file>

<file path=ppt/slides/slide32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자세히: Flexion의 계보, 법인과 투자, 스택의 층, Reflect v0</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329 / 516</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풀려는 문제.</a:t>
            </a:r>
            <a:r>
              <a:rPr sz="1050" b="0" i="0">
                <a:solidFill>
                  <a:srgbClr val="16213A"/>
                </a:solidFill>
                <a:latin typeface="Arial"/>
                <a:ea typeface="Malgun Gothic"/>
                <a:cs typeface="Malgun Gothic"/>
              </a:rPr>
              <a:t> 선언문이 꼽는 문제는 일반화다. 사람의 시연을 따라 하게 하면 과제, 로봇, 현장이 바뀔 때마다 사람이 다시 가르쳐야 한다. Flexion은 시뮬레이션 RL을 엔진으로 삼고, 로봇 형태를 가리지 않는 수평 소프트웨어 층을 목표로 한다. 휴머노이드를 먼저 풀면 다른 형태로 단순화할 수 있지만 반대는 안 된다는 것이 선언문의 논리다.</a:t>
            </a:r>
          </a:p>
        </p:txBody>
      </p:sp>
      <p:sp>
        <p:nvSpPr>
          <p:cNvPr id="6" name="TextBox 5"/>
          <p:cNvSpPr txBox="1"/>
          <p:nvPr/>
        </p:nvSpPr>
        <p:spPr>
          <a:xfrm>
            <a:off x="609600" y="176649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계보(논문 저자 표기 기준).</a:t>
            </a:r>
            <a:r>
              <a:rPr sz="1050" b="0" i="0">
                <a:solidFill>
                  <a:srgbClr val="16213A"/>
                </a:solidFill>
                <a:latin typeface="Arial"/>
                <a:ea typeface="Malgun Gothic"/>
                <a:cs typeface="Malgun Gothic"/>
              </a:rPr>
              <a:t> 표의 소속은 각 논문 표지의 표기다. 2025년부터 Flexion이 더해진다.</a:t>
            </a:r>
          </a:p>
        </p:txBody>
      </p:sp>
      <p:graphicFrame>
        <p:nvGraphicFramePr>
          <p:cNvPr id="7" name="Table 6"/>
          <p:cNvGraphicFramePr>
            <a:graphicFrameLocks noGrp="1"/>
          </p:cNvGraphicFramePr>
          <p:nvPr/>
        </p:nvGraphicFramePr>
        <p:xfrm>
          <a:off x="609600" y="2071886"/>
          <a:ext cx="10966450" cy="1970880"/>
        </p:xfrm>
        <a:graphic>
          <a:graphicData uri="http://schemas.openxmlformats.org/drawingml/2006/table">
            <a:tbl>
              <a:tblPr firstRow="1" bandRow="1">
                <a:tableStyleId>{5C22544A-7EE6-4342-B048-85BDC9FD1C3A}</a:tableStyleId>
              </a:tblPr>
              <a:tblGrid>
                <a:gridCol w="971153"/>
                <a:gridCol w="5365750"/>
                <a:gridCol w="2698155"/>
                <a:gridCol w="1931392"/>
              </a:tblGrid>
              <a:tr h="197088">
                <a:tc>
                  <a:txBody>
                    <a:bodyPr wrap="square"/>
                    <a:lstStyle/>
                    <a:p>
                      <a:r>
                        <a:rPr sz="800" b="1" i="0">
                          <a:solidFill>
                            <a:srgbClr val="F4F1EA"/>
                          </a:solidFill>
                          <a:latin typeface="Arial"/>
                          <a:ea typeface="Malgun Gothic"/>
                          <a:cs typeface="Malgun Gothic"/>
                        </a:rPr>
                        <a:t>시점</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무엇</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Rudin·Hoeller의 소속 표기</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다룬 곳</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2021-08</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Isaac Gym 기술 보고서(NeurIPS 2021 Datasets and Benchmarks)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NVIDIA</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B.16.1, 강화학습 R.15</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2021-09</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legged_gym(CoRL 2021)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ETH Zurich와 NVIDIA</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B.14.1</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2022-09</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위치 명령 국소 내비(IROS 2022, Rudin 2022)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RSL과 NVIDIA</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B.14.2</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2023-01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Orbit(RA-L 2023), Isaac Lab의 전신</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ETH와 NVIDIA</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B.16.1</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2023-06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ANYmal Parkour(Science Robotics 2024)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ETH와 NVIDIA</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B.14.2</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2024-12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Flexion Robotics AG 상업등기</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해당 없음</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이 카드</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2025-05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Parkour in the Wild(Rudin 1저자)</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RSL과 NVIDIA Switzerland</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이 소절</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2025-09</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RSL-RL 논문</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ETH, NVIDIA, Flexion Robotics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Controller 문서 F.6</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2025-11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Isaac Lab 논문(Hoeller 핵심 리더)</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NVIDIA, Flexion Robotics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시뮬레이션 S.1.1</a:t>
                      </a:r>
                    </a:p>
                  </a:txBody>
                  <a:tcPr marL="63500" marR="63500" marT="12700" marB="12700">
                    <a:solidFill>
                      <a:srgbClr val="FFFDF8"/>
                    </a:solidFill>
                  </a:tcPr>
                </a:tc>
              </a:tr>
            </a:tbl>
          </a:graphicData>
        </a:graphic>
      </p:graphicFrame>
      <p:sp>
        <p:nvSpPr>
          <p:cNvPr id="8" name="TextBox 7"/>
          <p:cNvSpPr txBox="1"/>
          <p:nvPr/>
        </p:nvSpPr>
        <p:spPr>
          <a:xfrm>
            <a:off x="609600" y="4630738"/>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법인과 투자(1차 출처).</a:t>
            </a:r>
          </a:p>
        </p:txBody>
      </p:sp>
      <p:sp>
        <p:nvSpPr>
          <p:cNvPr id="9" name="TextBox 8"/>
          <p:cNvSpPr txBox="1"/>
          <p:nvPr/>
        </p:nvSpPr>
        <p:spPr>
          <a:xfrm>
            <a:off x="609600" y="4936133"/>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12개(문단·식·그림)는 대시보드 리서치 탭의 "자세히: Flexion의 계보, 법인과 투자, 스택의 층, Reflect v0" 토글에 있다.</a:t>
            </a:r>
          </a:p>
        </p:txBody>
      </p:sp>
    </p:spTree>
  </p:cSld>
  <p:clrMapOvr>
    <a:masterClrMapping/>
  </p:clrMapOvr>
</p:sld>
</file>

<file path=ppt/slides/slide33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330 / 516</a:t>
            </a:r>
          </a:p>
        </p:txBody>
      </p:sp>
      <p:sp>
        <p:nvSpPr>
          <p:cNvPr id="5" name="TextBox 4"/>
          <p:cNvSpPr txBox="1"/>
          <p:nvPr/>
        </p:nvSpPr>
        <p:spPr>
          <a:xfrm>
            <a:off x="609600" y="1244600"/>
            <a:ext cx="10972800" cy="151546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두 발 캐릭터 로봇 BDX(Disney Research) — 애니메이터의 동작을 동작 종류별 조건부 RL 정책으로 옮기고, 실시간 애니메이션 엔진이 그 조건을 낸다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RSS 2024</a:t>
            </a:r>
            <a:r>
              <a:rPr sz="1050" b="0" i="0">
                <a:solidFill>
                  <a:srgbClr val="16213A"/>
                </a:solidFill>
                <a:latin typeface="Arial"/>
                <a:ea typeface="Malgun Gothic"/>
                <a:cs typeface="Malgun Gothic"/>
              </a:rPr>
              <a:t>, Grandia·Knoop·Hopkins·Wiedebach·Bishop·Pickles·Müller·Bächer, Disney Research(스위스·미국)와 Walt Disney Imagineering R&amp;D, </a:t>
            </a:r>
            <a:r>
              <a:rPr sz="1050" b="0" i="0">
                <a:solidFill>
                  <a:srgbClr val="1D4ED8"/>
                </a:solidFill>
                <a:latin typeface="Arial"/>
                <a:ea typeface="Malgun Gothic"/>
                <a:cs typeface="Malgun Gothic"/>
                <a:hlinkClick r:id="rId4"/>
              </a:rPr>
              <a:t>arXiv:2501.05204</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5"/>
              </a:rPr>
              <a:t>Disney Research 페이지</a:t>
            </a:r>
            <a:r>
              <a:rPr sz="1050" b="0" i="0">
                <a:solidFill>
                  <a:srgbClr val="16213A"/>
                </a:solidFill>
                <a:latin typeface="Arial"/>
                <a:ea typeface="Malgun Gothic"/>
                <a:cs typeface="Malgun Gothic"/>
              </a:rPr>
              <a:t>). Disney Research는 기능이 아니라 캐릭터를 기준으로 두 발 로봇을 설계하고, 애니메이터가 만든 동작을 RL로 실물에 옮겼다. 키 0.66 m(안테나 제외), 무게 15.4 kg이고 다리마다 5자유도, 목과 머리에 4자유도가 있다. 발목 roll 구동기를 빼고 둥근 우레탄 폼 발바닥으로 수동 roll을 받으며, 무릎은 캐릭터 설정대로 뒤로 꺾인다. 저자들은 이 로봇을 한 해가 안 되는 기간에 만들었다고 적는다. 2023-10 IROS(디트로이트) 저녁 기조연설에서 처음 공개됐고(</a:t>
            </a:r>
            <a:r>
              <a:rPr sz="1050" b="0" i="0">
                <a:solidFill>
                  <a:srgbClr val="1D4ED8"/>
                </a:solidFill>
                <a:latin typeface="Arial"/>
                <a:ea typeface="Malgun Gothic"/>
                <a:cs typeface="Malgun Gothic"/>
                <a:hlinkClick r:id="rId6"/>
              </a:rPr>
              <a:t>IEEE Spectrum 2023-10-06</a:t>
            </a:r>
            <a:r>
              <a:rPr sz="1050" b="0" i="0">
                <a:solidFill>
                  <a:srgbClr val="16213A"/>
                </a:solidFill>
                <a:latin typeface="Arial"/>
                <a:ea typeface="Malgun Gothic"/>
                <a:cs typeface="Malgun Gothic"/>
              </a:rPr>
              <a:t>), 논문은 RSS 2024에 실렸다. 논문은 로봇에 이름을 붙이지 않는다. Disney Research는 BDX 드로이드가 이 팀의 보행 로봇·RL 연구에서 나왔고, 조종하는 캐릭터로 여러 행사·학회·쇼에 나왔다고 적는다. 파크에서는 시범 운영을 예고했다(</a:t>
            </a:r>
            <a:r>
              <a:rPr sz="1050" b="0" i="0">
                <a:solidFill>
                  <a:srgbClr val="1D4ED8"/>
                </a:solidFill>
                <a:latin typeface="Arial"/>
                <a:ea typeface="Malgun Gothic"/>
                <a:cs typeface="Malgun Gothic"/>
                <a:hlinkClick r:id="rId7"/>
              </a:rPr>
              <a:t>BDX 페이지</a:t>
            </a:r>
            <a:r>
              <a:rPr sz="1050" b="0" i="0">
                <a:solidFill>
                  <a:srgbClr val="16213A"/>
                </a:solidFill>
                <a:latin typeface="Arial"/>
                <a:ea typeface="Malgun Gothic"/>
                <a:cs typeface="Malgun Gothic"/>
              </a:rPr>
              <a:t>). 이 소절에서는 논문의 로봇을 BDX라고 부른다.</a:t>
            </a:r>
          </a:p>
        </p:txBody>
      </p:sp>
      <p:sp>
        <p:nvSpPr>
          <p:cNvPr id="6" name="TextBox 5"/>
          <p:cNvSpPr txBox="1"/>
          <p:nvPr/>
        </p:nvSpPr>
        <p:spPr>
          <a:xfrm>
            <a:off x="609600" y="2848967"/>
            <a:ext cx="10972800" cy="86598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정책 하나로 모든 동작을 다루지 않고, 시간 성질이 다른 동작마다 정책을 따로 학습한다. 시작과 끝이 없는 서기, 위상이 계속 도는 걷기, 길이가 정해진 짧은 연기(춤·점프·떼쓰기)다. 각 정책은 저차원 명령 </a:t>
            </a:r>
            <a:r>
              <a:rPr sz="1050" b="0" i="1">
                <a:solidFill>
                  <a:srgbClr val="16213A"/>
                </a:solidFill>
                <a:latin typeface="Arial"/>
                <a:ea typeface="Malgun Gothic"/>
                <a:cs typeface="Malgun Gothic"/>
              </a:rPr>
              <a:t>gₜ</a:t>
            </a:r>
            <a:r>
              <a:rPr sz="1050" b="0" i="0">
                <a:solidFill>
                  <a:srgbClr val="16213A"/>
                </a:solidFill>
                <a:latin typeface="Arial"/>
                <a:ea typeface="Malgun Gothic"/>
                <a:cs typeface="Malgun Gothic"/>
              </a:rPr>
              <a:t>를 조건으로 받는다. 서기는 머리 높이·방향 오프셋과 몸통 높이·자세를, 걷기는 머리 오프셋과 경로 속도를 받는다. 학습 때는 </a:t>
            </a:r>
            <a:r>
              <a:rPr sz="1050" b="0" i="1">
                <a:solidFill>
                  <a:srgbClr val="16213A"/>
                </a:solidFill>
                <a:latin typeface="Arial"/>
                <a:ea typeface="Malgun Gothic"/>
                <a:cs typeface="Malgun Gothic"/>
              </a:rPr>
              <a:t>gₜ</a:t>
            </a:r>
            <a:r>
              <a:rPr sz="1050" b="0" i="0">
                <a:solidFill>
                  <a:srgbClr val="16213A"/>
                </a:solidFill>
                <a:latin typeface="Arial"/>
                <a:ea typeface="Malgun Gothic"/>
                <a:cs typeface="Malgun Gothic"/>
              </a:rPr>
              <a:t>를 전 범위에서 무작위로 뽑는다. 보상은 기준 동작 모방, 정규화, 생존의 셋이다. 실행 중에는 애니메이션 엔진이 배경 애니메이션, 버튼으로 부른 짧은 클립, 조이스틱 입력을 겹쳐 </a:t>
            </a:r>
            <a:r>
              <a:rPr sz="1050" b="0" i="1">
                <a:solidFill>
                  <a:srgbClr val="16213A"/>
                </a:solidFill>
                <a:latin typeface="Arial"/>
                <a:ea typeface="Malgun Gothic"/>
                <a:cs typeface="Malgun Gothic"/>
              </a:rPr>
              <a:t>gₜ</a:t>
            </a:r>
            <a:r>
              <a:rPr sz="1050" b="0" i="0">
                <a:solidFill>
                  <a:srgbClr val="16213A"/>
                </a:solidFill>
                <a:latin typeface="Arial"/>
                <a:ea typeface="Malgun Gothic"/>
                <a:cs typeface="Malgun Gothic"/>
              </a:rPr>
              <a:t>와 정책 전환을 만든다. 안테나·눈·머리등·소리도 동작에 맞춘다. 조종자가 조이스틱 둘 달린 원격조종기로 움직이는 인형극이다. 정책은 50 Hz로 관절 목표를 내고, 저수준이 600 Hz로 보간한다. Isaac Gym에서 정책 하나를 RTX 4090 한 장으로 약 2일 학습했다.</a:t>
            </a:r>
          </a:p>
        </p:txBody>
      </p:sp>
      <p:sp>
        <p:nvSpPr>
          <p:cNvPr id="7" name="TextBox 6"/>
          <p:cNvSpPr txBox="1"/>
          <p:nvPr/>
        </p:nvSpPr>
        <p:spPr>
          <a:xfrm>
            <a:off x="609600" y="3803848"/>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로봇 형태는 travplan과 멀다. 가져올 것은 둘이다. 첫째는 아래 층 정책을 위 층 명령의 전 범위에서 학습하는 것이다. BDX는 학습 때 명령 </a:t>
            </a:r>
            <a:r>
              <a:rPr sz="1050" b="0" i="1">
                <a:solidFill>
                  <a:srgbClr val="16213A"/>
                </a:solidFill>
                <a:latin typeface="Arial"/>
                <a:ea typeface="Malgun Gothic"/>
                <a:cs typeface="Malgun Gothic"/>
              </a:rPr>
              <a:t>gₜ</a:t>
            </a:r>
            <a:r>
              <a:rPr sz="1050" b="0" i="0">
                <a:solidFill>
                  <a:srgbClr val="16213A"/>
                </a:solidFill>
                <a:latin typeface="Arial"/>
                <a:ea typeface="Malgun Gothic"/>
                <a:cs typeface="Malgun Gothic"/>
              </a:rPr>
              <a:t>를 전 범위에서 뽑아, 애니메이션 엔진이 실행 중 어떤 명령을 내도 정책이 받게 했다. 학습 Controller(TP-0128)를 키울 때 Planner D가 낼 수 있는 기준 궤적의 범위를 학습 분포로 덮어야 한다는 같은 원칙이다. 둘째는 구동기를 시험대에서 재고, 잰 범위 안에서만 무작위화한 것이다. 다만 travplan plant(</a:t>
            </a:r>
            <a:r>
              <a:rPr sz="1050" b="0" i="0">
                <a:solidFill>
                  <a:srgbClr val="16213A"/>
                </a:solidFill>
                <a:latin typeface="Consolas"/>
                <a:ea typeface="Malgun Gothic"/>
                <a:cs typeface="Malgun Gothic"/>
              </a:rPr>
              <a:t>robot/plant.py</a:t>
            </a:r>
            <a:r>
              <a:rPr sz="1050" b="0" i="0">
                <a:solidFill>
                  <a:srgbClr val="16213A"/>
                </a:solidFill>
                <a:latin typeface="Arial"/>
                <a:ea typeface="Malgun Gothic"/>
                <a:cs typeface="Malgun Gothic"/>
              </a:rPr>
              <a:t>)는 관성과 토크가 없는 운동학 모델이다. 이 식의 항 가운데 운동학 plant에 그대로 옮길 수 있는 것은 속도 한계(plant에 이미 있다)와 조향 엔코더 오프셋 정도다. PD 토크, 마찰, 백래시, 반사 관성은 조향·구동 축의 동역학을 plant에 더할 때 쓸 항목이다.</a:t>
            </a:r>
          </a:p>
        </p:txBody>
      </p:sp>
    </p:spTree>
  </p:cSld>
  <p:clrMapOvr>
    <a:masterClrMapping/>
  </p:clrMapOvr>
</p:sld>
</file>

<file path=ppt/slides/slide33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331 / 516</a:t>
            </a:r>
          </a:p>
        </p:txBody>
      </p:sp>
      <p:pic>
        <p:nvPicPr>
          <p:cNvPr id="5" name="Picture 4" descr="image.jpg"/>
          <p:cNvPicPr>
            <a:picLocks noChangeAspect="1"/>
          </p:cNvPicPr>
          <p:nvPr/>
        </p:nvPicPr>
        <p:blipFill>
          <a:blip r:embed="rId3"/>
          <a:stretch>
            <a:fillRect/>
          </a:stretch>
        </p:blipFill>
        <p:spPr>
          <a:xfrm>
            <a:off x="609600" y="1244600"/>
            <a:ext cx="4000500" cy="2667000"/>
          </a:xfrm>
          <a:prstGeom prst="rect">
            <a:avLst/>
          </a:prstGeom>
        </p:spPr>
      </p:pic>
      <p:sp>
        <p:nvSpPr>
          <p:cNvPr id="6" name="TextBox 5"/>
          <p:cNvSpPr txBox="1"/>
          <p:nvPr/>
        </p:nvSpPr>
        <p:spPr>
          <a:xfrm>
            <a:off x="609600" y="3949700"/>
            <a:ext cx="54102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Design and Control of a Bipedal Robotic Character (Fig. 1): 겉모습의 도색만 다르고 구조는 같은 로봇 셋이 대본 없는 쇼를 한다. 로봇마다 조종자가 따로 있다. 출처: arXiv:2501.05204</a:t>
            </a:r>
          </a:p>
        </p:txBody>
      </p:sp>
      <p:pic>
        <p:nvPicPr>
          <p:cNvPr id="7" name="Picture 6" descr="image.jpg"/>
          <p:cNvPicPr>
            <a:picLocks noChangeAspect="1"/>
          </p:cNvPicPr>
          <p:nvPr/>
        </p:nvPicPr>
        <p:blipFill>
          <a:blip r:embed="rId4"/>
          <a:stretch>
            <a:fillRect/>
          </a:stretch>
        </p:blipFill>
        <p:spPr>
          <a:xfrm>
            <a:off x="6172200" y="1244600"/>
            <a:ext cx="2432050" cy="2667000"/>
          </a:xfrm>
          <a:prstGeom prst="rect">
            <a:avLst/>
          </a:prstGeom>
        </p:spPr>
      </p:pic>
      <p:sp>
        <p:nvSpPr>
          <p:cNvPr id="8" name="TextBox 7"/>
          <p:cNvSpPr txBox="1"/>
          <p:nvPr/>
        </p:nvSpPr>
        <p:spPr>
          <a:xfrm>
            <a:off x="6172200" y="3949700"/>
            <a:ext cx="5410200" cy="42654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Design and Control of a Bipedal Robotic Character (Fig. 3): 기계 구성이다. 노랑은 구동기이고 주황은 그 밖의 모듈이다. 초록은 표정 기능(안테나·빛나는 눈·머리등·스피커)이고 파랑은 도색한 외피다. 몸통에 통신 보드, 배터리, IMU가 있고 머리에 온보드 PC가 있다. 출처: arXiv:2501.05204</a:t>
            </a:r>
          </a:p>
        </p:txBody>
      </p:sp>
    </p:spTree>
  </p:cSld>
  <p:clrMapOvr>
    <a:masterClrMapping/>
  </p:clrMapOvr>
</p:sld>
</file>

<file path=ppt/slides/slide33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자세히: BDX의 정책 정식화, 구동기 모델, 애니메이션 엔진, 후속 연구</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332 / 516</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풀려는 문제.</a:t>
            </a:r>
            <a:r>
              <a:rPr sz="1050" b="0" i="0">
                <a:solidFill>
                  <a:srgbClr val="16213A"/>
                </a:solidFill>
                <a:latin typeface="Arial"/>
                <a:ea typeface="Malgun Gothic"/>
                <a:cs typeface="Malgun Gothic"/>
              </a:rPr>
              <a:t> 오락용 다리 로봇은 넘어지지 않는 것만으로 부족하다. 관객에게 그럴듯한 성격이 보여야 하고, 애니메이터의 의도가 동작에 남아야 한다. 애니메이션 도구에는 물리가 없어 그대로 옮기면 실물이 넘어진다. 모델 기반 최적화로 기준 동작을 실현 가능하게 다듬어도, 밀렸을 때 동작과 접촉 순서를 실시간으로 함께 다시 짜기는 어렵다.</a:t>
            </a:r>
          </a:p>
        </p:txBody>
      </p:sp>
      <p:sp>
        <p:nvSpPr>
          <p:cNvPr id="6" name="TextBox 5"/>
          <p:cNvSpPr txBox="1"/>
          <p:nvPr/>
        </p:nvSpPr>
        <p:spPr>
          <a:xfrm>
            <a:off x="609600" y="176649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정책의 입력과 출력.</a:t>
            </a:r>
            <a:r>
              <a:rPr sz="1050" b="0" i="0">
                <a:solidFill>
                  <a:srgbClr val="16213A"/>
                </a:solidFill>
                <a:latin typeface="Arial"/>
                <a:ea typeface="Malgun Gothic"/>
                <a:cs typeface="Malgun Gothic"/>
              </a:rPr>
              <a:t> 경로 프레임을 </a:t>
            </a:r>
            <a:r>
              <a:rPr sz="1050" b="0" i="1">
                <a:solidFill>
                  <a:srgbClr val="16213A"/>
                </a:solidFill>
                <a:latin typeface="Arial"/>
                <a:ea typeface="Malgun Gothic"/>
                <a:cs typeface="Malgun Gothic"/>
              </a:rPr>
              <a:t>𝒫</a:t>
            </a:r>
            <a:r>
              <a:rPr sz="1050" b="0" i="0">
                <a:solidFill>
                  <a:srgbClr val="16213A"/>
                </a:solidFill>
                <a:latin typeface="Arial"/>
                <a:ea typeface="Malgun Gothic"/>
                <a:cs typeface="Malgun Gothic"/>
              </a:rPr>
              <a:t>, 몸통 프레임을 </a:t>
            </a:r>
            <a:r>
              <a:rPr sz="1050" b="0" i="1">
                <a:solidFill>
                  <a:srgbClr val="16213A"/>
                </a:solidFill>
                <a:latin typeface="Arial"/>
                <a:ea typeface="Malgun Gothic"/>
                <a:cs typeface="Malgun Gothic"/>
              </a:rPr>
              <a:t>𝒯</a:t>
            </a:r>
            <a:r>
              <a:rPr sz="1050" b="0" i="0">
                <a:solidFill>
                  <a:srgbClr val="16213A"/>
                </a:solidFill>
                <a:latin typeface="Arial"/>
                <a:ea typeface="Malgun Gothic"/>
                <a:cs typeface="Malgun Gothic"/>
              </a:rPr>
              <a:t>로 쓴다.</a:t>
            </a:r>
          </a:p>
        </p:txBody>
      </p:sp>
      <p:pic>
        <p:nvPicPr>
          <p:cNvPr id="7" name="Picture 6" descr="image.png"/>
          <p:cNvPicPr>
            <a:picLocks noChangeAspect="1"/>
          </p:cNvPicPr>
          <p:nvPr/>
        </p:nvPicPr>
        <p:blipFill>
          <a:blip r:embed="rId3"/>
          <a:stretch>
            <a:fillRect/>
          </a:stretch>
        </p:blipFill>
        <p:spPr>
          <a:xfrm>
            <a:off x="609600" y="2071886"/>
            <a:ext cx="4829175" cy="238125"/>
          </a:xfrm>
          <a:prstGeom prst="rect">
            <a:avLst/>
          </a:prstGeom>
        </p:spPr>
      </p:pic>
      <p:sp>
        <p:nvSpPr>
          <p:cNvPr id="8" name="TextBox 7"/>
          <p:cNvSpPr txBox="1"/>
          <p:nvPr/>
        </p:nvSpPr>
        <p:spPr>
          <a:xfrm>
            <a:off x="609600" y="2349401"/>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위상 </a:t>
            </a:r>
            <a:r>
              <a:rPr sz="1050" b="0" i="1">
                <a:solidFill>
                  <a:srgbClr val="16213A"/>
                </a:solidFill>
                <a:latin typeface="Arial"/>
                <a:ea typeface="Malgun Gothic"/>
                <a:cs typeface="Malgun Gothic"/>
              </a:rPr>
              <a:t>φₜ</a:t>
            </a:r>
            <a:r>
              <a:rPr sz="1050" b="0" i="0">
                <a:solidFill>
                  <a:srgbClr val="16213A"/>
                </a:solidFill>
                <a:latin typeface="Arial"/>
                <a:ea typeface="Malgun Gothic"/>
                <a:cs typeface="Malgun Gothic"/>
              </a:rPr>
              <a:t>는 그대로 넣지 않는다. 걷기는 첫째와 둘째 조화 성분(</a:t>
            </a:r>
            <a:r>
              <a:rPr sz="1050" b="0" i="1">
                <a:solidFill>
                  <a:srgbClr val="16213A"/>
                </a:solidFill>
                <a:latin typeface="Arial"/>
                <a:ea typeface="Malgun Gothic"/>
                <a:cs typeface="Malgun Gothic"/>
              </a:rPr>
              <a:t>k = 1, 2</a:t>
            </a:r>
            <a:r>
              <a:rPr sz="1050" b="0" i="0">
                <a:solidFill>
                  <a:srgbClr val="16213A"/>
                </a:solidFill>
                <a:latin typeface="Arial"/>
                <a:ea typeface="Malgun Gothic"/>
                <a:cs typeface="Malgun Gothic"/>
              </a:rPr>
              <a:t>의 사인과 코사인)으로, 짧은 연기는 가우시안 기저 50개로 바꾼다. 둘째 조화 성분은 걸음 주기의 두 배로 까딱이는 머리를 배우기 쉽게 한다. 행동은 PD 관절 목표이고, 측정 관절 위치 둘레의 최대 편차로 자른다. 편차는 최대 토크를 낼 수 있을 만큼 크게 잡는다.</a:t>
            </a:r>
          </a:p>
        </p:txBody>
      </p:sp>
      <p:sp>
        <p:nvSpPr>
          <p:cNvPr id="9" name="TextBox 8"/>
          <p:cNvSpPr txBox="1"/>
          <p:nvPr/>
        </p:nvSpPr>
        <p:spPr>
          <a:xfrm>
            <a:off x="609600" y="2871291"/>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경로 프레임.</a:t>
            </a:r>
            <a:r>
              <a:rPr sz="1050" b="0" i="0">
                <a:solidFill>
                  <a:srgbClr val="16213A"/>
                </a:solidFill>
                <a:latin typeface="Arial"/>
                <a:ea typeface="Malgun Gothic"/>
                <a:cs typeface="Malgun Gothic"/>
              </a:rPr>
              <a:t> 서 있을 때는 두 발 가운데로 천천히 수렴하고, 걸을 때는 명령 경로 속도를 적분한다. 모든 기준 동작은 이 프레임 좌표로 저장한다. 프레임은 몸통에서 정한 거리 이상 떨어지지 않게 투영한다. 그래서 정책을 바꿔도 기준이 튀지 않고, 로봇이 밀려도 기준이 로봇에서 멀어지지 않는다. 걷기 기준은 애니메이터가 속도별로 만든 걸음 표본을 절차적으로 섞어 만든다(같은 팀의 양식화된 걸음 설계 도구, SIGGRAPH 2024).</a:t>
            </a:r>
          </a:p>
        </p:txBody>
      </p:sp>
      <p:sp>
        <p:nvSpPr>
          <p:cNvPr id="10" name="TextBox 9"/>
          <p:cNvSpPr txBox="1"/>
          <p:nvPr/>
        </p:nvSpPr>
        <p:spPr>
          <a:xfrm>
            <a:off x="609600" y="3609677"/>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보상(표 I).</a:t>
            </a:r>
            <a:r>
              <a:rPr sz="1050" b="0" i="0">
                <a:solidFill>
                  <a:srgbClr val="16213A"/>
                </a:solidFill>
                <a:latin typeface="Arial"/>
                <a:ea typeface="Malgun Gothic"/>
                <a:cs typeface="Malgun Gothic"/>
              </a:rPr>
              <a:t> 모방 항은 지수형이다. 몸통 xy 위치 </a:t>
            </a:r>
            <a:r>
              <a:rPr sz="1050" b="0" i="1">
                <a:solidFill>
                  <a:srgbClr val="16213A"/>
                </a:solidFill>
                <a:latin typeface="Arial"/>
                <a:ea typeface="Malgun Gothic"/>
                <a:cs typeface="Malgun Gothic"/>
              </a:rPr>
              <a:t>exp(-200‖·‖²)</a:t>
            </a:r>
            <a:r>
              <a:rPr sz="1050" b="0" i="0">
                <a:solidFill>
                  <a:srgbClr val="16213A"/>
                </a:solidFill>
                <a:latin typeface="Arial"/>
                <a:ea typeface="Malgun Gothic"/>
                <a:cs typeface="Malgun Gothic"/>
              </a:rPr>
              <a:t>, 자세 </a:t>
            </a:r>
            <a:r>
              <a:rPr sz="1050" b="0" i="1">
                <a:solidFill>
                  <a:srgbClr val="16213A"/>
                </a:solidFill>
                <a:latin typeface="Arial"/>
                <a:ea typeface="Malgun Gothic"/>
                <a:cs typeface="Malgun Gothic"/>
              </a:rPr>
              <a:t>exp(-20‖·‖²)</a:t>
            </a:r>
            <a:r>
              <a:rPr sz="1050" b="0" i="0">
                <a:solidFill>
                  <a:srgbClr val="16213A"/>
                </a:solidFill>
                <a:latin typeface="Arial"/>
                <a:ea typeface="Malgun Gothic"/>
                <a:cs typeface="Malgun Gothic"/>
              </a:rPr>
              <a:t>, 선속도 </a:t>
            </a:r>
            <a:r>
              <a:rPr sz="1050" b="0" i="1">
                <a:solidFill>
                  <a:srgbClr val="16213A"/>
                </a:solidFill>
                <a:latin typeface="Arial"/>
                <a:ea typeface="Malgun Gothic"/>
                <a:cs typeface="Malgun Gothic"/>
              </a:rPr>
              <a:t>exp(-8‖·‖²)</a:t>
            </a:r>
            <a:r>
              <a:rPr sz="1050" b="0" i="0">
                <a:solidFill>
                  <a:srgbClr val="16213A"/>
                </a:solidFill>
                <a:latin typeface="Arial"/>
                <a:ea typeface="Malgun Gothic"/>
                <a:cs typeface="Malgun Gothic"/>
              </a:rPr>
              <a:t>, 각속도 </a:t>
            </a:r>
            <a:r>
              <a:rPr sz="1050" b="0" i="1">
                <a:solidFill>
                  <a:srgbClr val="16213A"/>
                </a:solidFill>
                <a:latin typeface="Arial"/>
                <a:ea typeface="Malgun Gothic"/>
                <a:cs typeface="Malgun Gothic"/>
              </a:rPr>
              <a:t>exp(-2‖·‖²)</a:t>
            </a:r>
            <a:r>
              <a:rPr sz="1050" b="0" i="0">
                <a:solidFill>
                  <a:srgbClr val="16213A"/>
                </a:solidFill>
                <a:latin typeface="Arial"/>
                <a:ea typeface="Malgun Gothic"/>
                <a:cs typeface="Malgun Gothic"/>
              </a:rPr>
              <a:t>이다. 다리 관절 위치는 가중 15, 목 관절 위치는 가중 100의 제곱 벌점이다. 발 접촉 상태가 기준과 같으면 보상하고, 생존 보상(가중 20)이 학습 초반에 일찍 끝내는 쪽을 막는다. 점프와 흥분 동작은 특정 위상 구간의 가중을 키웠다. 그러지 않으면 정책이 발끝을 땅에 붙인 채 점프를 흉내 낸다.</a:t>
            </a:r>
          </a:p>
        </p:txBody>
      </p:sp>
      <p:sp>
        <p:nvSpPr>
          <p:cNvPr id="11" name="TextBox 10"/>
          <p:cNvSpPr txBox="1"/>
          <p:nvPr/>
        </p:nvSpPr>
        <p:spPr>
          <a:xfrm>
            <a:off x="609600" y="4348063"/>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학습(부록 A).</a:t>
            </a:r>
            <a:r>
              <a:rPr sz="1050" b="0" i="0">
                <a:solidFill>
                  <a:srgbClr val="16213A"/>
                </a:solidFill>
                <a:latin typeface="Arial"/>
                <a:ea typeface="Malgun Gothic"/>
                <a:cs typeface="Malgun Gothic"/>
              </a:rPr>
              <a:t> 정책마다 PPO 10만 반복이고, RTX 4090 한 장에서 약 2일이 걸린다. 1,500 반복(30분)이면 대략의 동작을 미리 볼 수 있다. 배치는 환경 8,192개 × 24스텝이고, 할인은 0.99, GAE(generalized advantage estimation)는 0.95다. 적응 학습률(목표 KL 0.01)은 legged_gym을 따랐다. 정책과 critic은 각각 512 × 3 ELU MLP이고, critic은 잡음 없는 상태와 마찰 계수를 특권 정보로 본다. 외란은 세 종류다. 골반에 주는 수평 90–150 N 힘(0.1 s, 12–15 s 간격)이 가장 크고, 1,500 반복에 걸쳐 키운다. 걷기 정책은 지형도 무작위로 바꾼다.</a:t>
            </a:r>
          </a:p>
        </p:txBody>
      </p:sp>
      <p:sp>
        <p:nvSpPr>
          <p:cNvPr id="12" name="TextBox 11"/>
          <p:cNvSpPr txBox="1"/>
          <p:nvPr/>
        </p:nvSpPr>
        <p:spPr>
          <a:xfrm>
            <a:off x="609600" y="5086449"/>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구동기 모델(부록 B).</a:t>
            </a:r>
            <a:r>
              <a:rPr sz="1050" b="0" i="0">
                <a:solidFill>
                  <a:srgbClr val="16213A"/>
                </a:solidFill>
                <a:latin typeface="Arial"/>
                <a:ea typeface="Malgun Gothic"/>
                <a:cs typeface="Malgun Gothic"/>
              </a:rPr>
              <a:t> 구동기를 하나씩 시험대에 올려 출력 토크를 재고 파라미터를 맞췄다(표 VI). 다리의 준직접 구동기는 Unitree A1(최대 34 N·m)과 Go1(23.7 N·m) 모듈이다. 머리는 Dynamixel XH540-V150(4.8 N·m)이다.</a:t>
            </a:r>
          </a:p>
        </p:txBody>
      </p:sp>
      <p:pic>
        <p:nvPicPr>
          <p:cNvPr id="13" name="Picture 12" descr="image.png"/>
          <p:cNvPicPr>
            <a:picLocks noChangeAspect="1"/>
          </p:cNvPicPr>
          <p:nvPr/>
        </p:nvPicPr>
        <p:blipFill>
          <a:blip r:embed="rId4"/>
          <a:stretch>
            <a:fillRect/>
          </a:stretch>
        </p:blipFill>
        <p:spPr>
          <a:xfrm>
            <a:off x="609600" y="5608340"/>
            <a:ext cx="5702300" cy="250825"/>
          </a:xfrm>
          <a:prstGeom prst="rect">
            <a:avLst/>
          </a:prstGeom>
        </p:spPr>
      </p:pic>
      <p:sp>
        <p:nvSpPr>
          <p:cNvPr id="14" name="TextBox 13"/>
          <p:cNvSpPr txBox="1"/>
          <p:nvPr/>
        </p:nvSpPr>
        <p:spPr>
          <a:xfrm>
            <a:off x="609600" y="5892006"/>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11개(문단·식·그림)는 대시보드 리서치 탭의 "자세히: BDX의 정책 정식화, 구동기 모델, 애니메이션 엔진, 후속 연구" 토글에 있다.</a:t>
            </a:r>
          </a:p>
        </p:txBody>
      </p:sp>
    </p:spTree>
  </p:cSld>
  <p:clrMapOvr>
    <a:masterClrMapping/>
  </p:clrMapOvr>
</p:sld>
</file>

<file path=ppt/slides/slide33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1/4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333 / 516</a:t>
            </a:r>
          </a:p>
        </p:txBody>
      </p:sp>
      <p:sp>
        <p:nvSpPr>
          <p:cNvPr id="5" name="TextBox 4"/>
          <p:cNvSpPr txBox="1"/>
          <p:nvPr/>
        </p:nvSpPr>
        <p:spPr>
          <a:xfrm>
            <a:off x="609600" y="1244600"/>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RobotMDM — 추종 정책이 따라갈 수 있는 동작만 내도록, 추종 결과를 예측하는 critic으로 동작 diffusion을 미세 조정했다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SIGGRAPH Asia 2024</a:t>
            </a:r>
            <a:r>
              <a:rPr sz="1050" b="0" i="0">
                <a:solidFill>
                  <a:srgbClr val="16213A"/>
                </a:solidFill>
                <a:latin typeface="Arial"/>
                <a:ea typeface="Malgun Gothic"/>
                <a:cs typeface="Malgun Gothic"/>
              </a:rPr>
              <a:t>, Serifi·Grandia·Knoop·Gross·Bächer, Disney Research(ETH Zürich 공저), </a:t>
            </a:r>
            <a:r>
              <a:rPr sz="1050" b="0" i="0">
                <a:solidFill>
                  <a:srgbClr val="1D4ED8"/>
                </a:solidFill>
                <a:latin typeface="Arial"/>
                <a:ea typeface="Malgun Gothic"/>
                <a:cs typeface="Malgun Gothic"/>
                <a:hlinkClick r:id="rId4"/>
              </a:rPr>
              <a:t>Disney Research 페이지</a:t>
            </a:r>
            <a:r>
              <a:rPr sz="1050" b="0" i="0">
                <a:solidFill>
                  <a:srgbClr val="16213A"/>
                </a:solidFill>
                <a:latin typeface="Arial"/>
                <a:ea typeface="Malgun Gothic"/>
                <a:cs typeface="Malgun Gothic"/>
              </a:rPr>
              <a:t>). 문장으로 동작을 만드는 diffusion(MDM, motion diffusion model)은 물리를 모른다. 그대로 로봇에 주면 떠 있거나, 발이 미끄러지거나, 몸이 겹치거나, 균형을 잃는 동작이 나온다. 저자들은 먼저 추종 정책(VMP)을 고정하고, 동작 창 </a:t>
            </a:r>
            <a:r>
              <a:rPr sz="1050" b="0" i="1">
                <a:solidFill>
                  <a:srgbClr val="16213A"/>
                </a:solidFill>
                <a:latin typeface="Arial"/>
                <a:ea typeface="Malgun Gothic"/>
                <a:cs typeface="Malgun Gothic"/>
              </a:rPr>
              <a:t>m</a:t>
            </a:r>
            <a:r>
              <a:rPr sz="1050" b="0" i="0">
                <a:solidFill>
                  <a:srgbClr val="16213A"/>
                </a:solidFill>
                <a:latin typeface="Arial"/>
                <a:ea typeface="Malgun Gothic"/>
                <a:cs typeface="Malgun Gothic"/>
              </a:rPr>
              <a:t>만 보고 그 정책의 할인 누적 보상을 예측하는 critic </a:t>
            </a:r>
            <a:r>
              <a:rPr sz="1050" b="0" i="1">
                <a:solidFill>
                  <a:srgbClr val="16213A"/>
                </a:solidFill>
                <a:latin typeface="Arial"/>
                <a:ea typeface="Malgun Gothic"/>
                <a:cs typeface="Malgun Gothic"/>
              </a:rPr>
              <a:t>v_θ(m)</a:t>
            </a:r>
            <a:r>
              <a:rPr sz="1050" b="0" i="0">
                <a:solidFill>
                  <a:srgbClr val="16213A"/>
                </a:solidFill>
                <a:latin typeface="Arial"/>
                <a:ea typeface="Malgun Gothic"/>
                <a:cs typeface="Malgun Gothic"/>
              </a:rPr>
              <a:t>를 학습한다. 상태를 보지 않는 critic이라 동작 하나에 매기는 미분 가능한 실현 가능성 점수가 된다. 그다음 diffusion 손실에 이 점수를 더해 40만 스텝(약 12시간) 미세 조정한다.</a:t>
            </a:r>
          </a:p>
        </p:txBody>
      </p:sp>
      <p:pic>
        <p:nvPicPr>
          <p:cNvPr id="6" name="Picture 5" descr="image.png"/>
          <p:cNvPicPr>
            <a:picLocks noChangeAspect="1"/>
          </p:cNvPicPr>
          <p:nvPr/>
        </p:nvPicPr>
        <p:blipFill>
          <a:blip r:embed="rId5"/>
          <a:stretch>
            <a:fillRect/>
          </a:stretch>
        </p:blipFill>
        <p:spPr>
          <a:xfrm>
            <a:off x="609600" y="2199481"/>
            <a:ext cx="3651250" cy="412750"/>
          </a:xfrm>
          <a:prstGeom prst="rect">
            <a:avLst/>
          </a:prstGeom>
        </p:spPr>
      </p:pic>
      <p:sp>
        <p:nvSpPr>
          <p:cNvPr id="7" name="TextBox 6"/>
          <p:cNvSpPr txBox="1"/>
          <p:nvPr/>
        </p:nvSpPr>
        <p:spPr>
          <a:xfrm>
            <a:off x="609600" y="2625725"/>
            <a:ext cx="10972800" cy="649486"/>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로봇은 20자유도, 0.84 m, 16.2 kg의 두 발 캐릭터이고 다리는 Unitree A1 구동기다. critic 값을 동작 전체에 누적한 Realism은 MDM 8.730에서 9.562로 올랐다(표 2). 문장 일치(R-Precision 상위 3)는 0.680 대 0.684, FID(Fréchet inception distance)는 0.415 대 0.472로 비슷했다. 의자 없이 앉는 동작은 쪼그려 앉기로, 지나친 발차기는 균형 잡힌 발차기로 바뀌었다. 생성에 드는 계산은 MDM과 같다.</a:t>
            </a:r>
          </a:p>
        </p:txBody>
      </p:sp>
      <p:sp>
        <p:nvSpPr>
          <p:cNvPr id="8" name="TextBox 7"/>
          <p:cNvSpPr txBox="1"/>
          <p:nvPr/>
        </p:nvSpPr>
        <p:spPr>
          <a:xfrm>
            <a:off x="609600" y="3364111"/>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Planner D와 MPPI의 관계가 RobotMDM과 추종 정책의 관계와 같다. 생성기가 낸 궤적을 아래 층이 실제로 따라갈 수 있어야 한다. RL 후학습(TP-0066)은 후보를 GT 지도에서 채점하고 그 점수를 가중치로 쓴다. RobotMDM은 채점기 자체를 작은 망으로 학습해 미분 가능한 손실로 쓴다. RL 후학습은 라운드마다 상태 약 4,100–4,400개에서 후보 16개씩을 채점한다(B.15.3). 이 상태·후보·점수로 critic을 학습하면 flow matching 손실에 더하거나 Planner D 선택기의 점수로 쓸 수 있다. B.14.6이 제안한 실패 확률 머리와 같은 자리다.</a:t>
            </a:r>
          </a:p>
        </p:txBody>
      </p:sp>
    </p:spTree>
  </p:cSld>
  <p:clrMapOvr>
    <a:masterClrMapping/>
  </p:clrMapOvr>
</p:sld>
</file>

<file path=ppt/slides/slide33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2/4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334 / 516</a:t>
            </a:r>
          </a:p>
        </p:txBody>
      </p:sp>
      <p:pic>
        <p:nvPicPr>
          <p:cNvPr id="5" name="Picture 4" descr="image.jpg"/>
          <p:cNvPicPr>
            <a:picLocks noChangeAspect="1"/>
          </p:cNvPicPr>
          <p:nvPr/>
        </p:nvPicPr>
        <p:blipFill>
          <a:blip r:embed="rId3"/>
          <a:stretch>
            <a:fillRect/>
          </a:stretch>
        </p:blipFill>
        <p:spPr>
          <a:xfrm>
            <a:off x="1016000" y="1244600"/>
            <a:ext cx="10160000" cy="3302000"/>
          </a:xfrm>
          <a:prstGeom prst="rect">
            <a:avLst/>
          </a:prstGeom>
        </p:spPr>
      </p:pic>
      <p:sp>
        <p:nvSpPr>
          <p:cNvPr id="6" name="TextBox 5"/>
          <p:cNvSpPr txBox="1"/>
          <p:nvPr/>
        </p:nvSpPr>
        <p:spPr>
          <a:xfrm>
            <a:off x="1016000" y="4584700"/>
            <a:ext cx="10160000" cy="142180"/>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RobotMDM (Fig. 1): 'a person who performed a right-handed uppercut'이라는 문장으로 만든 동작을 위의 시뮬레이션(초록)과 아래의 실물 두 발 로봇이 같은 순서로 수행한다. 출처: Disney Research</a:t>
            </a:r>
          </a:p>
        </p:txBody>
      </p:sp>
    </p:spTree>
  </p:cSld>
  <p:clrMapOvr>
    <a:masterClrMapping/>
  </p:clrMapOvr>
</p:sld>
</file>

<file path=ppt/slides/slide33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3/4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335 / 516</a:t>
            </a:r>
          </a:p>
        </p:txBody>
      </p:sp>
      <p:sp>
        <p:nvSpPr>
          <p:cNvPr id="5" name="TextBox 4"/>
          <p:cNvSpPr txBox="1"/>
          <p:nvPr/>
        </p:nvSpPr>
        <p:spPr>
          <a:xfrm>
            <a:off x="609600" y="1244600"/>
            <a:ext cx="10972800" cy="151546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Olaf — 만화 캐릭터를 걷게 하려고 구동기 온도와 발소리를 보상에 넣었다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arXiv:2512.16705</a:t>
            </a:r>
            <a:r>
              <a:rPr sz="1050" b="0" i="0">
                <a:solidFill>
                  <a:srgbClr val="16213A"/>
                </a:solidFill>
                <a:latin typeface="Arial"/>
                <a:ea typeface="Malgun Gothic"/>
                <a:cs typeface="Malgun Gothic"/>
              </a:rPr>
              <a:t>, Müller·Knoop(공동 1저자)·Mylonopoulos·Serifi·Hopkins·Grandia·Bächer, Disney Research Imagineering, </a:t>
            </a:r>
            <a:r>
              <a:rPr sz="1050" b="0" i="0">
                <a:solidFill>
                  <a:srgbClr val="1D4ED8"/>
                </a:solidFill>
                <a:latin typeface="Arial"/>
                <a:ea typeface="Malgun Gothic"/>
                <a:cs typeface="Malgun Gothic"/>
                <a:hlinkClick r:id="rId4"/>
              </a:rPr>
              <a:t>RA-L 11(6) 2026</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5"/>
              </a:rPr>
              <a:t>Disney Research 페이지</a:t>
            </a:r>
            <a:r>
              <a:rPr sz="1050" b="0" i="0">
                <a:solidFill>
                  <a:srgbClr val="16213A"/>
                </a:solidFill>
                <a:latin typeface="Arial"/>
                <a:ea typeface="Malgun Gothic"/>
                <a:cs typeface="Malgun Gothic"/>
              </a:rPr>
              <a:t>). BDX의 경로 프레임과 정책 구조를 이어받고, 캐릭터가 로봇답지 않아 생긴 문제 셋을 풀었다. 키 88.7 cm(머리카락 제외), 무게 14.9 kg, 25자유도다. 첫째, 발이 몸 아래 눈덩이처럼 보이도록 비대칭 6자유도 다리 둘을 부드러운 폼 치마 밑에 숨겼다. 둘째, 무거운 머리를 가는 목의 작은 구동기가 받쳐 과열된다. 그래서 구동기 온도 </a:t>
            </a:r>
            <a:r>
              <a:rPr sz="1050" b="0" i="1">
                <a:solidFill>
                  <a:srgbClr val="16213A"/>
                </a:solidFill>
                <a:latin typeface="Arial"/>
                <a:ea typeface="Malgun Gothic"/>
                <a:cs typeface="Malgun Gothic"/>
              </a:rPr>
              <a:t>T</a:t>
            </a:r>
            <a:r>
              <a:rPr sz="1050" b="0" i="0">
                <a:solidFill>
                  <a:srgbClr val="16213A"/>
                </a:solidFill>
                <a:latin typeface="Arial"/>
                <a:ea typeface="Malgun Gothic"/>
                <a:cs typeface="Malgun Gothic"/>
              </a:rPr>
              <a:t>를 관측에 넣고, 시뮬레이션에서 1차 열 모델 </a:t>
            </a:r>
            <a:r>
              <a:rPr sz="1050" b="0" i="1">
                <a:solidFill>
                  <a:srgbClr val="16213A"/>
                </a:solidFill>
                <a:latin typeface="Arial"/>
                <a:ea typeface="Malgun Gothic"/>
                <a:cs typeface="Malgun Gothic"/>
              </a:rPr>
              <a:t>Ṫ = -α(T - T_(amb)) + βτ²</a:t>
            </a:r>
            <a:r>
              <a:rPr sz="1050" b="0" i="0">
                <a:solidFill>
                  <a:srgbClr val="16213A"/>
                </a:solidFill>
                <a:latin typeface="Arial"/>
                <a:ea typeface="Malgun Gothic"/>
                <a:cs typeface="Malgun Gothic"/>
              </a:rPr>
              <a:t>로 온도를 굴린다. 보상은 제어 장벽 함수(CBF, control barrier function) 조건 </a:t>
            </a:r>
            <a:r>
              <a:rPr sz="1050" b="0" i="1">
                <a:solidFill>
                  <a:srgbClr val="16213A"/>
                </a:solidFill>
                <a:latin typeface="Arial"/>
                <a:ea typeface="Malgun Gothic"/>
                <a:cs typeface="Malgun Gothic"/>
              </a:rPr>
              <a:t>-Ṫ + γ_T(Tₘₐₓ - T) ≥ 0</a:t>
            </a:r>
            <a:r>
              <a:rPr sz="1050" b="0" i="0">
                <a:solidFill>
                  <a:srgbClr val="16213A"/>
                </a:solidFill>
                <a:latin typeface="Arial"/>
                <a:ea typeface="Malgun Gothic"/>
                <a:cs typeface="Malgun Gothic"/>
              </a:rPr>
              <a:t>의 위반량을 벌한다. 셋째, 딱딱한 발소리가 캐릭터를 깨므로 발의 수직 속도 변화를 벌한다. 열 보상이 없으면 목 pitch 구동기가 40 s 만에 100 °C에 닿아 실험을 멈췄다. 열 보상이 있으면 같은 동작을 1시간 돌려 마지막 1분 평균 77.3 °C(상한 80 °C)에 머물렀다. 발소리 보상은 5분 주행의 평균 음량을 13.5 dB 낮췄다. Isaac Sim에서 환경 8,192개, RTX 4090 한 장으로 10만 반복(약 2일) 학습했다. Disney는 2025-11-24 이 로봇을 공개하며 Disneyland Paris의 World of Frozen 쇼에 내보낸다고 밝혔다(</a:t>
            </a:r>
            <a:r>
              <a:rPr sz="1050" b="0" i="0">
                <a:solidFill>
                  <a:srgbClr val="1D4ED8"/>
                </a:solidFill>
                <a:latin typeface="Arial"/>
                <a:ea typeface="Malgun Gothic"/>
                <a:cs typeface="Malgun Gothic"/>
                <a:hlinkClick r:id="rId6"/>
              </a:rPr>
              <a:t>Disney Parks Blog</a:t>
            </a:r>
            <a:r>
              <a:rPr sz="1050" b="0" i="0">
                <a:solidFill>
                  <a:srgbClr val="16213A"/>
                </a:solidFill>
                <a:latin typeface="Arial"/>
                <a:ea typeface="Malgun Gothic"/>
                <a:cs typeface="Malgun Gothic"/>
              </a:rPr>
              <a:t>).</a:t>
            </a:r>
          </a:p>
        </p:txBody>
      </p:sp>
      <p:sp>
        <p:nvSpPr>
          <p:cNvPr id="6" name="TextBox 5"/>
          <p:cNvSpPr txBox="1"/>
          <p:nvPr/>
        </p:nvSpPr>
        <p:spPr>
          <a:xfrm>
            <a:off x="609600" y="2848967"/>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느리게 변하는 한계를 RL에서 다루는 형식이 쓸모 있다. 한계와 관련된 상태(온도)를 관측에 넣고, 한계를 넘은 순간이 아니라 한계로 다가가는 속도(CBF 조건)를 벌한다. travplan에는 온도 제약이 없지만 치명 셀까지의 거리에 같은 형식을 쓸 수 있다. 지금 RL 후학습(TP-0066)은 치명 후보를 채점에서 벌한다. 거리 </a:t>
            </a:r>
            <a:r>
              <a:rPr sz="1050" b="0" i="1">
                <a:solidFill>
                  <a:srgbClr val="16213A"/>
                </a:solidFill>
                <a:latin typeface="Arial"/>
                <a:ea typeface="Malgun Gothic"/>
                <a:cs typeface="Malgun Gothic"/>
              </a:rPr>
              <a:t>h</a:t>
            </a:r>
            <a:r>
              <a:rPr sz="1050" b="0" i="0">
                <a:solidFill>
                  <a:srgbClr val="16213A"/>
                </a:solidFill>
                <a:latin typeface="Arial"/>
                <a:ea typeface="Malgun Gothic"/>
                <a:cs typeface="Malgun Gothic"/>
              </a:rPr>
              <a:t>에 대해 </a:t>
            </a:r>
            <a:r>
              <a:rPr sz="1050" b="0" i="1">
                <a:solidFill>
                  <a:srgbClr val="16213A"/>
                </a:solidFill>
                <a:latin typeface="Arial"/>
                <a:ea typeface="Malgun Gothic"/>
                <a:cs typeface="Malgun Gothic"/>
              </a:rPr>
              <a:t>ḣ + γ h ≥ 0</a:t>
            </a:r>
            <a:r>
              <a:rPr sz="1050" b="0" i="0">
                <a:solidFill>
                  <a:srgbClr val="16213A"/>
                </a:solidFill>
                <a:latin typeface="Arial"/>
                <a:ea typeface="Malgun Gothic"/>
                <a:cs typeface="Malgun Gothic"/>
              </a:rPr>
              <a:t>의 위반을 벌하면, 경계로 빠르게 다가가는 계획을 닿기 전에 벌한다. acados NMPC는 같은 형식의 이산 CBF 감쇠(</a:t>
            </a:r>
            <a:r>
              <a:rPr sz="1050" b="0" i="1">
                <a:solidFill>
                  <a:srgbClr val="16213A"/>
                </a:solidFill>
                <a:latin typeface="Arial"/>
                <a:ea typeface="Malgun Gothic"/>
                <a:cs typeface="Malgun Gothic"/>
              </a:rPr>
              <a:t>γ = 0.2</a:t>
            </a:r>
            <a:r>
              <a:rPr sz="1050" b="0" i="0">
                <a:solidFill>
                  <a:srgbClr val="16213A"/>
                </a:solidFill>
                <a:latin typeface="Arial"/>
                <a:ea typeface="Malgun Gothic"/>
                <a:cs typeface="Malgun Gothic"/>
              </a:rPr>
              <a:t>)를 벌점 큰 soft 제약 행으로 쓴다(TP-0093, MPC 문서 M.3.10). 제약을 hard로 두면 노드 1이 그 하한을 지킬 수 없어 감쇠를 끈다. RL 보상과 NMPC 제약의 결과를 같은 장면에서 맞댈 수 있다.</a:t>
            </a:r>
          </a:p>
        </p:txBody>
      </p:sp>
    </p:spTree>
  </p:cSld>
  <p:clrMapOvr>
    <a:masterClrMapping/>
  </p:clrMapOvr>
</p:sld>
</file>

<file path=ppt/slides/slide33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4/4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336 / 516</a:t>
            </a:r>
          </a:p>
        </p:txBody>
      </p:sp>
      <p:pic>
        <p:nvPicPr>
          <p:cNvPr id="5" name="Picture 4" descr="image.jpg"/>
          <p:cNvPicPr>
            <a:picLocks noChangeAspect="1"/>
          </p:cNvPicPr>
          <p:nvPr/>
        </p:nvPicPr>
        <p:blipFill>
          <a:blip r:embed="rId3"/>
          <a:stretch>
            <a:fillRect/>
          </a:stretch>
        </p:blipFill>
        <p:spPr>
          <a:xfrm>
            <a:off x="2759075" y="1244600"/>
            <a:ext cx="6673850" cy="4445000"/>
          </a:xfrm>
          <a:prstGeom prst="rect">
            <a:avLst/>
          </a:prstGeom>
        </p:spPr>
      </p:pic>
      <p:sp>
        <p:nvSpPr>
          <p:cNvPr id="6" name="TextBox 5"/>
          <p:cNvSpPr txBox="1"/>
          <p:nvPr/>
        </p:nvSpPr>
        <p:spPr>
          <a:xfrm>
            <a:off x="2759075" y="5727700"/>
            <a:ext cx="667385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Olaf (Fig. 1): 'FROZEN' 간판이 걸린 시계탑 건물 앞의 Olaf 로봇이다. 본문은 늘어나는 천 코스튬이 기계를 덮고, 다리는 아래쪽 눈덩이 모양의 폼 치마 안에 있다고 적는다. 출처: arXiv:2512.16705</a:t>
            </a:r>
          </a:p>
        </p:txBody>
      </p:sp>
    </p:spTree>
  </p:cSld>
  <p:clrMapOvr>
    <a:masterClrMapping/>
  </p:clrMapOvr>
</p:sld>
</file>

<file path=ppt/slides/slide33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자세히: Olaf의 기구, 보상 식, 수치</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337 / 516</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기구.</a:t>
            </a:r>
            <a:r>
              <a:rPr sz="1050" b="0" i="0">
                <a:solidFill>
                  <a:srgbClr val="16213A"/>
                </a:solidFill>
                <a:latin typeface="Arial"/>
                <a:ea typeface="Malgun Gothic"/>
                <a:cs typeface="Malgun Gothic"/>
              </a:rPr>
              <a:t> 25자유도 가운데 다리가 12, 어깨가 4, 목이 3이고, 나머지 6은 턱·눈썹·눈이다. 한 다리는 뒤집어 달아서, 다리가 yaw로 돌 때 두 hip roll 구동기와 두 무릎이 부딪히지 않는다. 어깨는 몸통 안 구동기가 구면 5절 링크로 움직이고, 위턱과 눈 pitch·눈꺼풀은 4절 링크로 원격 구동한다. 팔·코·단추·눈썹·머리카락은 자석으로 붙어 넘어질 때 떨어진다. 온보드 컴퓨터는 셋이다.</a:t>
            </a:r>
          </a:p>
        </p:txBody>
      </p:sp>
      <p:sp>
        <p:nvSpPr>
          <p:cNvPr id="6" name="TextBox 5"/>
          <p:cNvSpPr txBox="1"/>
          <p:nvPr/>
        </p:nvSpPr>
        <p:spPr>
          <a:xfrm>
            <a:off x="609600" y="176649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보상.</a:t>
            </a:r>
            <a:r>
              <a:rPr sz="1050" b="0" i="0">
                <a:solidFill>
                  <a:srgbClr val="16213A"/>
                </a:solidFill>
                <a:latin typeface="Arial"/>
                <a:ea typeface="Malgun Gothic"/>
                <a:cs typeface="Malgun Gothic"/>
              </a:rPr>
              <a:t> 모방과 정규화 항의 형태는 BDX와 같고, 가중치는 표 III에서 다시 정했다(목 관절 위치 가중은 BDX 100, Olaf 40). 여기에 한계와 충격 항을 더했다.</a:t>
            </a:r>
          </a:p>
        </p:txBody>
      </p:sp>
      <p:pic>
        <p:nvPicPr>
          <p:cNvPr id="7" name="Picture 6" descr="image.png"/>
          <p:cNvPicPr>
            <a:picLocks noChangeAspect="1"/>
          </p:cNvPicPr>
          <p:nvPr/>
        </p:nvPicPr>
        <p:blipFill>
          <a:blip r:embed="rId3"/>
          <a:stretch>
            <a:fillRect/>
          </a:stretch>
        </p:blipFill>
        <p:spPr>
          <a:xfrm>
            <a:off x="609600" y="2071886"/>
            <a:ext cx="6226175" cy="460375"/>
          </a:xfrm>
          <a:prstGeom prst="rect">
            <a:avLst/>
          </a:prstGeom>
        </p:spPr>
      </p:pic>
      <p:sp>
        <p:nvSpPr>
          <p:cNvPr id="8" name="TextBox 7"/>
          <p:cNvSpPr txBox="1"/>
          <p:nvPr/>
        </p:nvSpPr>
        <p:spPr>
          <a:xfrm>
            <a:off x="609600" y="2537123"/>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관절 한계도 같은 CBF 형식으로 벌한다(여유 </a:t>
            </a:r>
            <a:r>
              <a:rPr sz="1050" b="0" i="1">
                <a:solidFill>
                  <a:srgbClr val="16213A"/>
                </a:solidFill>
                <a:latin typeface="Arial"/>
                <a:ea typeface="Malgun Gothic"/>
                <a:cs typeface="Malgun Gothic"/>
              </a:rPr>
              <a:t>qₘ = 0.1</a:t>
            </a:r>
            <a:r>
              <a:rPr sz="1050" b="0" i="0">
                <a:solidFill>
                  <a:srgbClr val="16213A"/>
                </a:solidFill>
                <a:latin typeface="Arial"/>
                <a:ea typeface="Malgun Gothic"/>
                <a:cs typeface="Malgun Gothic"/>
              </a:rPr>
              <a:t> rad, </a:t>
            </a:r>
            <a:r>
              <a:rPr sz="1050" b="0" i="1">
                <a:solidFill>
                  <a:srgbClr val="16213A"/>
                </a:solidFill>
                <a:latin typeface="Arial"/>
                <a:ea typeface="Malgun Gothic"/>
                <a:cs typeface="Malgun Gothic"/>
              </a:rPr>
              <a:t>γ_q = 20</a:t>
            </a:r>
            <a:r>
              <a:rPr sz="1050" b="0" i="0">
                <a:solidFill>
                  <a:srgbClr val="16213A"/>
                </a:solidFill>
                <a:latin typeface="Arial"/>
                <a:ea typeface="Malgun Gothic"/>
                <a:cs typeface="Malgun Gothic"/>
              </a:rPr>
              <a:t>). 두 발이 부딪히면 벌점을 준다. 충격 항은 물리 엔진의 접촉 해결이 큰 속도 변화를 내 critic을 흔들지 않도록 포화시켰다. 열 모델은 20분 기록으로 맞췄다(</a:t>
            </a:r>
            <a:r>
              <a:rPr sz="1050" b="0" i="1">
                <a:solidFill>
                  <a:srgbClr val="16213A"/>
                </a:solidFill>
                <a:latin typeface="Arial"/>
                <a:ea typeface="Malgun Gothic"/>
                <a:cs typeface="Malgun Gothic"/>
              </a:rPr>
              <a:t>α = 0.038</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β = 0.377</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T_(amb) = 43.94</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Tₘₐₓ</a:t>
            </a:r>
            <a:r>
              <a:rPr sz="1050" b="0" i="0">
                <a:solidFill>
                  <a:srgbClr val="16213A"/>
                </a:solidFill>
                <a:latin typeface="Arial"/>
                <a:ea typeface="Malgun Gothic"/>
                <a:cs typeface="Malgun Gothic"/>
              </a:rPr>
              <a:t>는 80 °C, 관측과 보상의 온도는 70–85 °C로 자르고, </a:t>
            </a:r>
            <a:r>
              <a:rPr sz="1050" b="0" i="1">
                <a:solidFill>
                  <a:srgbClr val="16213A"/>
                </a:solidFill>
                <a:latin typeface="Arial"/>
                <a:ea typeface="Malgun Gothic"/>
                <a:cs typeface="Malgun Gothic"/>
              </a:rPr>
              <a:t>γ_T = 0.312</a:t>
            </a:r>
            <a:r>
              <a:rPr sz="1050" b="0" i="0">
                <a:solidFill>
                  <a:srgbClr val="16213A"/>
                </a:solidFill>
                <a:latin typeface="Arial"/>
                <a:ea typeface="Malgun Gothic"/>
                <a:cs typeface="Malgun Gothic"/>
              </a:rPr>
              <a:t>를 쓴다.</a:t>
            </a:r>
          </a:p>
        </p:txBody>
      </p:sp>
      <p:sp>
        <p:nvSpPr>
          <p:cNvPr id="9" name="TextBox 8"/>
          <p:cNvSpPr txBox="1"/>
          <p:nvPr/>
        </p:nvSpPr>
        <p:spPr>
          <a:xfrm>
            <a:off x="609600" y="3059013"/>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결과.</a:t>
            </a:r>
            <a:r>
              <a:rPr sz="1050" b="0" i="0">
                <a:solidFill>
                  <a:srgbClr val="16213A"/>
                </a:solidFill>
                <a:latin typeface="Arial"/>
                <a:ea typeface="Malgun Gothic"/>
                <a:cs typeface="Malgun Gothic"/>
              </a:rPr>
              <a:t> 관절 추종 평균 절대 오차는 서기 3.87° ± 2.40°, 걷기 4.02° ± 2.01°다(제어 입력 전 범위, 각 5분). 열 모델은 처음 보는 10분 궤적에서 평균 1.87 °C 틀렸다. 열 보상을 쓴 정책은 상한에 가까워지면 머리를 수평 쪽으로 옮겨 토크를 줄였고, 1시간 실험의 마지막 1분 관절 추종 오차는 0.14 rad였다.</a:t>
            </a:r>
          </a:p>
        </p:txBody>
      </p:sp>
      <p:sp>
        <p:nvSpPr>
          <p:cNvPr id="10" name="TextBox 9"/>
          <p:cNvSpPr txBox="1"/>
          <p:nvPr/>
        </p:nvSpPr>
        <p:spPr>
          <a:xfrm>
            <a:off x="609600" y="3580904"/>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2개(문단·식·그림)는 대시보드 리서치 탭의 "자세히: Olaf의 기구, 보상 식, 수치" 토글에 있다.</a:t>
            </a:r>
          </a:p>
        </p:txBody>
      </p:sp>
    </p:spTree>
  </p:cSld>
  <p:clrMapOvr>
    <a:masterClrMapping/>
  </p:clrMapOvr>
</p:sld>
</file>

<file path=ppt/slides/slide33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1/4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338 / 516</a:t>
            </a:r>
          </a:p>
        </p:txBody>
      </p:sp>
      <p:sp>
        <p:nvSpPr>
          <p:cNvPr id="5" name="TextBox 4"/>
          <p:cNvSpPr txBox="1"/>
          <p:nvPr/>
        </p:nvSpPr>
        <p:spPr>
          <a:xfrm>
            <a:off x="609600" y="1244600"/>
            <a:ext cx="10972800" cy="1948458"/>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Resilient Legged Local Navigation — 인식 실패를 보이지 않는 장애물과 구덩이로 모델링하고, 망가진 지도를 받는 RL 로컬 내비 정책이 부딪힘과 헛디딤에 반응하게 했다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arXiv:2310.03581</a:t>
            </a:r>
            <a:r>
              <a:rPr sz="1050" b="0" i="0">
                <a:solidFill>
                  <a:srgbClr val="16213A"/>
                </a:solidFill>
                <a:latin typeface="Arial"/>
                <a:ea typeface="Malgun Gothic"/>
                <a:cs typeface="Malgun Gothic"/>
              </a:rPr>
              <a:t>, Jin·C. Zhang(공동 1저자)·Frey·Rudin·Mattamala·Cadena·Hutter, ETH RSL(Oxford·MPI-IS 공저), </a:t>
            </a:r>
            <a:r>
              <a:rPr sz="1050" b="0" i="0">
                <a:solidFill>
                  <a:srgbClr val="1D4ED8"/>
                </a:solidFill>
                <a:latin typeface="Arial"/>
                <a:ea typeface="Malgun Gothic"/>
                <a:cs typeface="Malgun Gothic"/>
                <a:hlinkClick r:id="rId4"/>
              </a:rPr>
              <a:t>ICRA 2024</a:t>
            </a:r>
            <a:r>
              <a:rPr sz="1050" b="0" i="0">
                <a:solidFill>
                  <a:srgbClr val="16213A"/>
                </a:solidFill>
                <a:latin typeface="Arial"/>
                <a:ea typeface="Malgun Gothic"/>
                <a:cs typeface="Malgun Gothic"/>
              </a:rPr>
              <a:t>). 어둠·비·안개, 투명한 물체, 가려진 구덩이 때문에 지도에 나타나지 않는 장애물과 구덩이를 이 논문은 '인식 실패'라고 부른다. 지도를 믿고 경로를 짜는 고전 로컬 Planner는 보이지 않는 장애물 앞에서 멈춘다. 상위 내비 정책은 PPO로 학습해 속도 명령을 내고, 아래 보행은 Miki 2022(B.14.2)의 정책을 그대로 쓴다. 정책 입력에는 elevation_mapping_cupy 방식의 traversability 지도(로봇 둘레 3 m를 12 cm 격자로)뿐 아니라 보행 층의 높이 스캔 208점, 관절 토크 이력, 몸통 가속도 이력이 들어간다. 그래서 몸 여러 부위의 부딪힘과 발의 헛디딤을 느낀다. 학습 때 장애물과 구덩이의 절반을 지도에서 지웠다. actor는 망가진 지도와 LSTM 기억을 보고, critic은 참값 지도와 외력을 본다. actor의 LSTM 출력을 critic의 잠재 특징 쪽으로 끌어당기는 정규화가 성능에 결정적이었다. 시뮬레이션에서 장애물이 전혀 보이지 않을 때(가시도 0%) 성공률은 이 정책 84.0%, 고전 Planner 53%, 가시도 100%로 학습한 Oracle 33.3%였다. 구덩이는 각각 93.0%, 57%, 57.3%다. 실물 ANYmal C는 인식을 끈 채 장애물에 부딪힌 뒤 옆으로 비켜 목표에 갔고, 보이지 않는 구덩이에 한 발이 빠지면 옆으로 끌어내 회복했다. 추론은 CPU에서 10 ms 아래다. 같은 해 RSL의 Miki 외(</a:t>
            </a:r>
            <a:r>
              <a:rPr sz="1050" b="0" i="0">
                <a:solidFill>
                  <a:srgbClr val="1D4ED8"/>
                </a:solidFill>
                <a:latin typeface="Arial"/>
                <a:ea typeface="Malgun Gothic"/>
                <a:cs typeface="Malgun Gothic"/>
                <a:hlinkClick r:id="rId5"/>
              </a:rPr>
              <a:t>ICRA 2024</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6"/>
              </a:rPr>
              <a:t>arXiv:2403.00187</a:t>
            </a:r>
            <a:r>
              <a:rPr sz="1050" b="0" i="0">
                <a:solidFill>
                  <a:srgbClr val="16213A"/>
                </a:solidFill>
                <a:latin typeface="Arial"/>
                <a:ea typeface="Malgun Gothic"/>
                <a:cs typeface="Malgun Gothic"/>
              </a:rPr>
              <a:t>)는 3D 부피 표현을 보는 상위 정책과 6D 명령을 따르는 하위 정책으로 오버행 밑과 좁은 공간을 지나게 했다. travplan이 알려진 한계로 적은 '오버행 미표현'에 대한 RSL의 답이다.</a:t>
            </a:r>
          </a:p>
        </p:txBody>
      </p:sp>
      <p:sp>
        <p:nvSpPr>
          <p:cNvPr id="6" name="TextBox 5"/>
          <p:cNvSpPr txBox="1"/>
          <p:nvPr/>
        </p:nvSpPr>
        <p:spPr>
          <a:xfrm>
            <a:off x="609600" y="3281958"/>
            <a:ext cx="10972800" cy="1731962"/>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이 논문의 인식 실패는 travplan의 가림 실패와 같은 종류다. L0 가림(TP-0031)을 켜면 포트홀 둘레에서 실패가 났다(36–38/40). travplan은 지도 쪽 규칙인 그림자 상한과 깊이 prior(TP-0044·TP-0047)로 40/40을 되찾았다. 이 논문은 지도를 고치지 않고, 정책이 부딪힘과 헛디딤을 느껴 반응하게 했다. 스워브 바퀴는 포트홀에 빠지는 순간이 실패라서 반응형 회복을 그대로 쓸 수는 없다. 옮길 것은 학습과 평가의 설계다. 첫째, 가시도 100%로 학습한 Oracle은 0% 가시도의 장애물에서 33.3%로 무너졌다. 실패를 학습 중에 보여 주지 않으면 대처를 배우지 못한다는 뜻이다. Planner D의 시연은 참값 높이로 만든 지도를 보고, 지도 가운데 절반쯤에만 원판 모양의 미관측 구역을 무작위로 1–3개 뚫는다. DAgger의 라벨도 참값 지도에서 만든다. RL 후학습(TP-0066)은 가림을 켠 rollout과 끈 rollout을 함께 돌리고, 로봇이 본 belief에서 후보를 뽑아 GT 지도에서 채점한다. actor는 망가진 지도를, critic은 참값 지도를 보는 이 논문의 비대칭과 같은 구조다. L1 매퍼가 만드는 지도 오차는 아직 어느 단계에도 없고, Planner D를 L1 belief로 다시 배우는 TP-0055가 그 자리다. 둘째, 가시도를 0·50·100%로 나눠 재는 평가는 belief에서 포트홀 일부를 지워 그대로 만들 수 있다. 저자들이 밝힌 한계도 travplan과 겹친다. 정책은 지도의 통과 불가 칸을 늘 피하므로, 인식이 만든 가짜 장애물이 로봇을 세운다. 그림자 깊이 prior의 오탐 점검(TP-0048)이 같은 질문이다.</a:t>
            </a:r>
          </a:p>
        </p:txBody>
      </p:sp>
    </p:spTree>
  </p:cSld>
  <p:clrMapOvr>
    <a:masterClrMapping/>
  </p:clrMapOvr>
</p:sld>
</file>

<file path=ppt/slides/slide33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2/4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339 / 516</a:t>
            </a:r>
          </a:p>
        </p:txBody>
      </p:sp>
      <p:pic>
        <p:nvPicPr>
          <p:cNvPr id="5" name="Picture 4" descr="image.jpg"/>
          <p:cNvPicPr>
            <a:picLocks noChangeAspect="1"/>
          </p:cNvPicPr>
          <p:nvPr/>
        </p:nvPicPr>
        <p:blipFill>
          <a:blip r:embed="rId3"/>
          <a:stretch>
            <a:fillRect/>
          </a:stretch>
        </p:blipFill>
        <p:spPr>
          <a:xfrm>
            <a:off x="4149725" y="1244600"/>
            <a:ext cx="3892550" cy="4445000"/>
          </a:xfrm>
          <a:prstGeom prst="rect">
            <a:avLst/>
          </a:prstGeom>
        </p:spPr>
      </p:pic>
      <p:sp>
        <p:nvSpPr>
          <p:cNvPr id="6" name="TextBox 5"/>
          <p:cNvSpPr txBox="1"/>
          <p:nvPr/>
        </p:nvSpPr>
        <p:spPr>
          <a:xfrm>
            <a:off x="4149725" y="5727700"/>
            <a:ext cx="3892550" cy="568722"/>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Resilient Legged Local Navigation (Fig. 1): (A) 장애물이 보이면 고전 Planner와 학습 정책 모두 돌아간다. (B) 보이지 않는 장애물 앞에서 고전 Planner는 멈춘다. (C) 학습 정책은 부딪힌 뒤 옆으로 비켜 목표에 닿는다. (D) 인식을 끈 실물 ANYmal C가 같은 동작으로 목표에 간다. 출처: arXiv:2310.03581</a:t>
            </a:r>
          </a:p>
        </p:txBody>
      </p:sp>
    </p:spTree>
  </p:cSld>
  <p:clrMapOvr>
    <a:masterClrMapping/>
  </p:clrMapOvr>
</p:sld>
</file>

<file path=ppt/slides/slide34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3/4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340 / 516</a:t>
            </a:r>
          </a:p>
        </p:txBody>
      </p:sp>
      <p:sp>
        <p:nvSpPr>
          <p:cNvPr id="5" name="TextBox 4"/>
          <p:cNvSpPr txBox="1"/>
          <p:nvPr/>
        </p:nvSpPr>
        <p:spPr>
          <a:xfrm>
            <a:off x="609600" y="1244600"/>
            <a:ext cx="10972800" cy="151546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Parkour in the Wild — 전문가 정책 아홉을 깊이 카메라 학생 하나로 증류한 뒤 RL로 미세 조정해, 증류만으로는 못 가던 지형을 간다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arXiv:2505.11164</a:t>
            </a:r>
            <a:r>
              <a:rPr sz="1050" b="0" i="0">
                <a:solidFill>
                  <a:srgbClr val="16213A"/>
                </a:solidFill>
                <a:latin typeface="Arial"/>
                <a:ea typeface="Malgun Gothic"/>
                <a:cs typeface="Malgun Gothic"/>
              </a:rPr>
              <a:t>, Rudin·He·Aurand·Hutter, ETH RSL과 NVIDIA Switzerland, </a:t>
            </a:r>
            <a:r>
              <a:rPr sz="1050" b="0" i="0">
                <a:solidFill>
                  <a:srgbClr val="1D4ED8"/>
                </a:solidFill>
                <a:latin typeface="Arial"/>
                <a:ea typeface="Malgun Gothic"/>
                <a:cs typeface="Malgun Gothic"/>
                <a:hlinkClick r:id="rId4"/>
              </a:rPr>
              <a:t>IJRR 2026</a:t>
            </a:r>
            <a:r>
              <a:rPr sz="1050" b="0" i="0">
                <a:solidFill>
                  <a:srgbClr val="16213A"/>
                </a:solidFill>
                <a:latin typeface="Arial"/>
                <a:ea typeface="Malgun Gothic"/>
                <a:cs typeface="Malgun Gothic"/>
              </a:rPr>
              <a:t>). ANYmal Parkour(B.14.2)의 후속이다. 거기서는 상위 정책이 기술 다섯 가운데 하나를 골랐는데, 기술을 아홉으로 늘리자 상위 정책이 일부 기술을 아예 쓰지 않았다. 그래서 학습을 세 단계로 바꿨다. 높이 지도를 보는 전문가 아홉(걷기·오르기·내려가기·점프·탁자·바위 더미·낮은 벽·빔·징검돌)을 지형마다 RL로 따로 학습한다. 깊이 카메라 네 대만 보는 학생 하나로 DAgger 증류를 하고, 그 학생을 RL로 미세 조정하며 수색 구조 훈련장의 3D 스캔 지형을 더한다. 지형마다 시뮬레이션 1,000회의 성공률(표 4)로, 학습에 없던 스캔 지형은 증류 직후 14.9%에서 미세 조정 뒤 94.9%가 됐고 파쿠르 코스는 5.8%에서 98.5%가 됐다. 미세 조정한 정책은 해당 전문가보다 평균 3.1% 높다. 실물 ANYmal D가 처음 보는 잔해 더미와 실내 장애물을 넘었다. 같은 연구실의 Risky Terrains(C. Zhang·Rudin·Hoeller·Hutter, </a:t>
            </a:r>
            <a:r>
              <a:rPr sz="1050" b="0" i="0">
                <a:solidFill>
                  <a:srgbClr val="1D4ED8"/>
                </a:solidFill>
                <a:latin typeface="Arial"/>
                <a:ea typeface="Malgun Gothic"/>
                <a:cs typeface="Malgun Gothic"/>
                <a:hlinkClick r:id="rId5"/>
              </a:rPr>
              <a:t>IROS 2024</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6"/>
              </a:rPr>
              <a:t>arXiv:2311.10484</a:t>
            </a:r>
            <a:r>
              <a:rPr sz="1050" b="0" i="0">
                <a:solidFill>
                  <a:srgbClr val="16213A"/>
                </a:solidFill>
                <a:latin typeface="Arial"/>
                <a:ea typeface="Malgun Gothic"/>
                <a:cs typeface="Malgun Gothic"/>
              </a:rPr>
              <a:t>)도 징검돌 generalist 정책을 빔·징검돌 specialist로 미세 조정했다. 이 논문이 그것을 인용한다. 그쪽 실물은 참값 지도와 모션 캡처로 돌렸고, 징검돌과 빔에서 최고 2.5 m/s 넘게 달렸다.</a:t>
            </a:r>
          </a:p>
        </p:txBody>
      </p:sp>
      <p:sp>
        <p:nvSpPr>
          <p:cNvPr id="6" name="TextBox 5"/>
          <p:cNvSpPr txBox="1"/>
          <p:nvPr/>
        </p:nvSpPr>
        <p:spPr>
          <a:xfrm>
            <a:off x="609600" y="2848967"/>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Planner D의 학습 순서(시연·DAgger·RL 후학습)와 같은 구조이고, 새 지형을 더할 때의 처방을 하나 준다. 모든 지형으로 다시 미세 조정한 쪽이 새 지형 하나로만 한 쪽보다 새 지형에서도 높았다. 이때 새 지형 표본은 3%뿐이었다. travplan의 TP-0138에서는 curb_ramp 레벨 3만으로 돌린 2단계와 모든 지형 레벨 2–3으로 돌린 재시도가 둘 다 26/30이었다(B.15.5). 30 에피소드의 잡음 바닥 안이라 이 처방을 확인하지도 반박하지도 못한다. 안정화 요령은 셋이다. 증류 때 행동 잡음, 줄인 초기 표준편차, 정책을 고정한 critic 사전 학습이다. 마지막 요령은 critic 없는 그룹 상대 이점(GRPO식)을 쓰는 Planner D 후학습에는 해당하지 않는다.</a:t>
            </a:r>
          </a:p>
        </p:txBody>
      </p:sp>
    </p:spTree>
  </p:cSld>
  <p:clrMapOvr>
    <a:masterClrMapping/>
  </p:clrMapOvr>
</p:sld>
</file>

<file path=ppt/slides/slide34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4/4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341 / 516</a:t>
            </a:r>
          </a:p>
        </p:txBody>
      </p:sp>
      <p:pic>
        <p:nvPicPr>
          <p:cNvPr id="5" name="Picture 4" descr="image.jpg"/>
          <p:cNvPicPr>
            <a:picLocks noChangeAspect="1"/>
          </p:cNvPicPr>
          <p:nvPr/>
        </p:nvPicPr>
        <p:blipFill>
          <a:blip r:embed="rId3"/>
          <a:stretch>
            <a:fillRect/>
          </a:stretch>
        </p:blipFill>
        <p:spPr>
          <a:xfrm>
            <a:off x="3740150" y="1244600"/>
            <a:ext cx="4711700" cy="4445000"/>
          </a:xfrm>
          <a:prstGeom prst="rect">
            <a:avLst/>
          </a:prstGeom>
        </p:spPr>
      </p:pic>
      <p:sp>
        <p:nvSpPr>
          <p:cNvPr id="6" name="TextBox 5"/>
          <p:cNvSpPr txBox="1"/>
          <p:nvPr/>
        </p:nvSpPr>
        <p:spPr>
          <a:xfrm>
            <a:off x="3740150" y="5727700"/>
            <a:ext cx="47117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Parkour in the Wild (Fig. 1): 정책 하나로 실물 ANYmal D가 콘크리트 잔해와 바위 더미, 풀 비탈, 차량 경사판을 넘는다. 아래 두 줄은 실내 상자와 탁자 장애물이다. 출처: arXiv:2505.11164</a:t>
            </a:r>
          </a:p>
        </p:txBody>
      </p:sp>
    </p:spTree>
  </p:cSld>
  <p:clrMapOvr>
    <a:masterClrMapping/>
  </p:clrMapOvr>
</p:sld>
</file>

<file path=ppt/slides/slide34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자세히: 증류와 미세 조정의 설정, 깊이 잡음 모델, 결과 표</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342 / 516</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전문가.</a:t>
            </a:r>
            <a:r>
              <a:rPr sz="1050" b="0" i="0">
                <a:solidFill>
                  <a:srgbClr val="16213A"/>
                </a:solidFill>
                <a:latin typeface="Arial"/>
                <a:ea typeface="Malgun Gothic"/>
                <a:cs typeface="Malgun Gothic"/>
              </a:rPr>
              <a:t> ANYmal Parkour의 보행 모듈을 따르고, 위치 기반 명령(정한 시간 안에 목표 위치와 방향, Rudin 2022)을 쓴다. 전문가마다 커리큘럼, 보상, 학습 절차가 따로다.</a:t>
            </a:r>
          </a:p>
        </p:txBody>
      </p:sp>
      <p:sp>
        <p:nvSpPr>
          <p:cNvPr id="6" name="TextBox 5"/>
          <p:cNvSpPr txBox="1"/>
          <p:nvPr/>
        </p:nvSpPr>
        <p:spPr>
          <a:xfrm>
            <a:off x="609600" y="1549995"/>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학생.</a:t>
            </a:r>
            <a:r>
              <a:rPr sz="1050" b="0" i="0">
                <a:solidFill>
                  <a:srgbClr val="16213A"/>
                </a:solidFill>
                <a:latin typeface="Arial"/>
                <a:ea typeface="Malgun Gothic"/>
                <a:cs typeface="Malgun Gothic"/>
              </a:rPr>
              <a:t> 앞 두 대와 뒤 두 대의 깊이 영상을 영상마다 CNN으로 줄이고, 고유감각과 합쳐 LSTM 2층에 넣는다. LSTM 출력에 고유감각과 명령을 다시 붙여 MLP 3층이 행동을 낸다. DAgger 수집 때 학생 행동에 가우시안 잡음을 더해 일부 궤적에 과적합하지 않게 했다. 이 잡음은 뒤의 RL 탐색 잡음에도 학생을 미리 익숙하게 한다.</a:t>
            </a:r>
          </a:p>
        </p:txBody>
      </p:sp>
      <p:sp>
        <p:nvSpPr>
          <p:cNvPr id="7" name="TextBox 6"/>
          <p:cNvSpPr txBox="1"/>
          <p:nvPr/>
        </p:nvSpPr>
        <p:spPr>
          <a:xfrm>
            <a:off x="609600" y="2071886"/>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미세 조정.</a:t>
            </a:r>
            <a:r>
              <a:rPr sz="1050" b="0" i="0">
                <a:solidFill>
                  <a:srgbClr val="16213A"/>
                </a:solidFill>
                <a:latin typeface="Arial"/>
                <a:ea typeface="Malgun Gothic"/>
                <a:cs typeface="Malgun Gothic"/>
              </a:rPr>
              <a:t> 증류한 정책에 그대로 RL을 걸면 성능이 계속 떨어졌다. 행동 잡음에 강한 학생, 줄인 초기 표준편차, 보수적인 하이퍼파라미터, 정책을 고정한 critic 사전 학습으로 이것을 막았다.</a:t>
            </a:r>
          </a:p>
        </p:txBody>
      </p:sp>
      <p:sp>
        <p:nvSpPr>
          <p:cNvPr id="8" name="TextBox 7"/>
          <p:cNvSpPr txBox="1"/>
          <p:nvPr/>
        </p:nvSpPr>
        <p:spPr>
          <a:xfrm>
            <a:off x="609600" y="237728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깊이 잡음 모델.</a:t>
            </a:r>
            <a:r>
              <a:rPr sz="1050" b="0" i="0">
                <a:solidFill>
                  <a:srgbClr val="16213A"/>
                </a:solidFill>
                <a:latin typeface="Arial"/>
                <a:ea typeface="Malgun Gothic"/>
                <a:cs typeface="Malgun Gothic"/>
              </a:rPr>
              <a:t> 48 × 32로 렌더링한 시뮬레이션 깊이에 다섯 단계를 건다. 2 m에서 자르고 0.15 m 아래는 비운다. 모서리 둘레 화소를 지우거나 섞고, 천천히 변하는 Perlin 잡음으로 구멍을 낸다. 왼쪽 1–5열을 지우고(스테레오 근거리 사각), 가우시안 흐림을 건다.</a:t>
            </a:r>
          </a:p>
        </p:txBody>
      </p:sp>
      <p:sp>
        <p:nvSpPr>
          <p:cNvPr id="9" name="TextBox 8"/>
          <p:cNvSpPr txBox="1"/>
          <p:nvPr/>
        </p:nvSpPr>
        <p:spPr>
          <a:xfrm>
            <a:off x="609600" y="2899172"/>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배치.</a:t>
            </a:r>
            <a:r>
              <a:rPr sz="1050" b="0" i="0">
                <a:solidFill>
                  <a:srgbClr val="16213A"/>
                </a:solidFill>
                <a:latin typeface="Arial"/>
                <a:ea typeface="Malgun Gothic"/>
                <a:cs typeface="Malgun Gothic"/>
              </a:rPr>
              <a:t> ANYmal D의 깊이 카메라 여섯 가운데 넷만 쓰고 LiDAR는 쓰지 않는다. 정책은 온보드 CPU에서 50 Hz, 영상은 15 Hz로 갱신한다. 학습 때 카메라마다 지연을 무작위로 넣어, 배치 때 동기화 없이 가장 최근 영상을 넣는다.</a:t>
            </a:r>
          </a:p>
        </p:txBody>
      </p:sp>
      <p:sp>
        <p:nvSpPr>
          <p:cNvPr id="10" name="TextBox 9"/>
          <p:cNvSpPr txBox="1"/>
          <p:nvPr/>
        </p:nvSpPr>
        <p:spPr>
          <a:xfrm>
            <a:off x="609600" y="3421062"/>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결과(표 4, 지형마다 1,000회, 최대 난이도의 90%).</a:t>
            </a:r>
          </a:p>
        </p:txBody>
      </p:sp>
      <p:graphicFrame>
        <p:nvGraphicFramePr>
          <p:cNvPr id="11" name="Table 10"/>
          <p:cNvGraphicFramePr>
            <a:graphicFrameLocks noGrp="1"/>
          </p:cNvGraphicFramePr>
          <p:nvPr/>
        </p:nvGraphicFramePr>
        <p:xfrm>
          <a:off x="609600" y="3726458"/>
          <a:ext cx="10966450" cy="788352"/>
        </p:xfrm>
        <a:graphic>
          <a:graphicData uri="http://schemas.openxmlformats.org/drawingml/2006/table">
            <a:tbl>
              <a:tblPr firstRow="1" bandRow="1">
                <a:tableStyleId>{5C22544A-7EE6-4342-B048-85BDC9FD1C3A}</a:tableStyleId>
              </a:tblPr>
              <a:tblGrid>
                <a:gridCol w="5138837"/>
                <a:gridCol w="1281410"/>
                <a:gridCol w="1907679"/>
                <a:gridCol w="2638524"/>
              </a:tblGrid>
              <a:tr h="197088">
                <a:tc>
                  <a:txBody>
                    <a:bodyPr wrap="square"/>
                    <a:lstStyle/>
                    <a:p>
                      <a:r>
                        <a:rPr sz="800" b="1" i="0">
                          <a:solidFill>
                            <a:srgbClr val="F4F1EA"/>
                          </a:solidFill>
                          <a:latin typeface="Arial"/>
                          <a:ea typeface="Malgun Gothic"/>
                          <a:cs typeface="Malgun Gothic"/>
                        </a:rPr>
                        <a:t>지형</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증류</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미세 조정</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다시 미세 조정</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스캔 지형(학습에 없음)</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14.9</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94.9</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93.9</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파쿠르 코스(학습에 없음)</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5.8</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98.5</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98.7</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징검돌로 내려가기(학습에 없음)</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11.3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54.4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92.4</a:t>
                      </a:r>
                    </a:p>
                  </a:txBody>
                  <a:tcPr marL="63500" marR="63500" marT="12700" marB="12700">
                    <a:solidFill>
                      <a:srgbClr val="FFFDF8"/>
                    </a:solidFill>
                  </a:tcPr>
                </a:tc>
              </a:tr>
            </a:tbl>
          </a:graphicData>
        </a:graphic>
      </p:graphicFrame>
      <p:sp>
        <p:nvSpPr>
          <p:cNvPr id="12" name="TextBox 11"/>
          <p:cNvSpPr txBox="1"/>
          <p:nvPr/>
        </p:nvSpPr>
        <p:spPr>
          <a:xfrm>
            <a:off x="609600" y="4807148"/>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마지막 열은 '징검돌로 내려가기'를 모든 지형과 함께 다시 미세 조정한 정책이다. 다른 지형의 성공률은 거의 그대로였다. 증류 직후는 전문가 대비 평균 10.4% 낮았다.</a:t>
            </a:r>
          </a:p>
        </p:txBody>
      </p:sp>
      <p:sp>
        <p:nvSpPr>
          <p:cNvPr id="13" name="TextBox 12"/>
          <p:cNvSpPr txBox="1"/>
          <p:nvPr/>
        </p:nvSpPr>
        <p:spPr>
          <a:xfrm>
            <a:off x="609600" y="5112544"/>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한계.</a:t>
            </a:r>
            <a:r>
              <a:rPr sz="1050" b="0" i="0">
                <a:solidFill>
                  <a:srgbClr val="16213A"/>
                </a:solidFill>
                <a:latin typeface="Arial"/>
                <a:ea typeface="Malgun Gothic"/>
                <a:cs typeface="Malgun Gothic"/>
              </a:rPr>
              <a:t> 저자가 밝힌 것: 징검돌과 빔에서 헛디딘 뒤 회복하는 일이 잦고, 오르내릴 때 무릎을 많이 써 하드웨어가 빨리 닳는다. LSTM의 기억이 짧아, 상자 앞에 몇 초 서 있으면 상자를 잊고 부딪힌다. 깊이 해상도를 높이고 잡음 모델의 영향을 줄이면 동작이 나아질 것으로 본다. 우리가 보기에: 실물 결과는 영상과 사진뿐이고 성공률이 없다.</a:t>
            </a:r>
          </a:p>
        </p:txBody>
      </p:sp>
      <p:sp>
        <p:nvSpPr>
          <p:cNvPr id="14" name="TextBox 13"/>
          <p:cNvSpPr txBox="1"/>
          <p:nvPr/>
        </p:nvSpPr>
        <p:spPr>
          <a:xfrm>
            <a:off x="609600" y="5634434"/>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1개(문단·식·그림)는 대시보드 리서치 탭의 "자세히: 증류와 미세 조정의 설정, 깊이 잡음 모델, 결과 표" 토글에 있다.</a:t>
            </a:r>
          </a:p>
        </p:txBody>
      </p:sp>
    </p:spTree>
  </p:cSld>
  <p:clrMapOvr>
    <a:masterClrMapping/>
  </p:clrMapOvr>
</p:sld>
</file>

<file path=ppt/slides/slide34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1/4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343 / 516</a:t>
            </a:r>
          </a:p>
        </p:txBody>
      </p:sp>
      <p:sp>
        <p:nvSpPr>
          <p:cNvPr id="5" name="TextBox 4"/>
          <p:cNvSpPr txBox="1"/>
          <p:nvPr/>
        </p:nvSpPr>
        <p:spPr>
          <a:xfrm>
            <a:off x="609600" y="1244600"/>
            <a:ext cx="10972800" cy="2164953"/>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PACE — 들어 올린 로봇의 엔코더 기록 20 s로 관절 동역학 파라미터 몇 개를 맞추면, 동역학 무작위화 없이도 보행 정책이 실물로 옮겨 간다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arXiv:2509.06342</a:t>
            </a:r>
            <a:r>
              <a:rPr sz="1050" b="0" i="0">
                <a:solidFill>
                  <a:srgbClr val="16213A"/>
                </a:solidFill>
                <a:latin typeface="Arial"/>
                <a:ea typeface="Malgun Gothic"/>
                <a:cs typeface="Malgun Gothic"/>
              </a:rPr>
              <a:t>, F. Bjelonic·Tischhauser·Hutter, ETH RSL, </a:t>
            </a:r>
            <a:r>
              <a:rPr sz="1050" b="0" i="0">
                <a:solidFill>
                  <a:srgbClr val="1D4ED8"/>
                </a:solidFill>
                <a:latin typeface="Arial"/>
                <a:ea typeface="Malgun Gothic"/>
                <a:cs typeface="Malgun Gothic"/>
                <a:hlinkClick r:id="rId4"/>
              </a:rPr>
              <a:t>IJRR 2026</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5"/>
              </a:rPr>
              <a:t>코드</a:t>
            </a:r>
            <a:r>
              <a:rPr sz="1050" b="0" i="0">
                <a:solidFill>
                  <a:srgbClr val="16213A"/>
                </a:solidFill>
                <a:latin typeface="Arial"/>
                <a:ea typeface="Malgun Gothic"/>
                <a:cs typeface="Malgun Gothic"/>
              </a:rPr>
              <a:t> Apache-2.0). PACE(Precise Adaptation through Continuous Evolution)는 RSL의 관절 동역학 맞춤 절차이고, NVIDIA의 보행자 애니메이션 연구 Trace and Pace(B.16.1)와는 다르다. 로봇 몸통을 고정대에 매달고 관절을 넓은 주파수로 흔들어(chirp) 엔코더 궤적만 모은다. 맞추는 것은 관절마다 넷(armature 관성·점성 감쇠·쿨롱 마찰·위치 편향)과 로봇 전체에 하나인 명령 지연이다. 위치 편향은 엔코더 영점 같은 고정 오프셋이다. 토크와 속도의 포화는 맞추지 않고 제조사 값으로 둔다. 시뮬레이션 궤적이 측정과 겹치도록 CMA-ES(covariance matrix adaptation evolution strategy)로 맞추고, 토크 센서는 쓰지 않는다. 로봇 한 대에 공중 데이터 약 20 s면 된다. 주 플랫폼 셋(ANYmal, Tytan, Minimal)에서는 이렇게 맞춘 시뮬레이터로 동역학 무작위화 없이 학습한 blind 보행 정책을 zero-shot으로 올렸다. 같은 절차를 Aibo, NAO, LEVA, GR-1과 로봇 손 둘을 포함한 열 대에 더 적용했다. ANYmal에서 로봇 기술 파일(URDF)의 값만 쓴 정책은 전진하다 넘어졌고, PACE와 actuator net(B.14.1)은 둘 다 정상 상태 약 0.85 m/s로 걸었다. actuator net은 토크를 잰 데이터 약 4분을 썼다. 전동기 손실 모델을 넣은 4항 보상으로 400 m 트랙에서 ANYmal D의 전체 수송 비용(CoT, cost of transport)이 1.27이었다. 같은 트랙에서 잰 이전 actuator net 기반 ANYmal C 기록 1.86보다 약 32% 낮지만, 하드웨어 세대 차이가 섞인 비교다. 저자들은 PACE가 무작위화의 가치를 없앤다고 주장하지 않고, 둘이 보완 관계라고 적는다. 주 실험 로봇 Tytan은 같은 연구실의 Barry(Valsecchi·Rudin·Nachtigall·Mayer·Tischhauser·Hutter, </a:t>
            </a:r>
            <a:r>
              <a:rPr sz="1050" b="0" i="0">
                <a:solidFill>
                  <a:srgbClr val="1D4ED8"/>
                </a:solidFill>
                <a:latin typeface="Arial"/>
                <a:ea typeface="Malgun Gothic"/>
                <a:cs typeface="Malgun Gothic"/>
                <a:hlinkClick r:id="rId6"/>
              </a:rPr>
              <a:t>RA-L 8(11) 2023</a:t>
            </a:r>
            <a:r>
              <a:rPr sz="1050" b="0" i="0">
                <a:solidFill>
                  <a:srgbClr val="16213A"/>
                </a:solidFill>
                <a:latin typeface="Arial"/>
                <a:ea typeface="Malgun Gothic"/>
                <a:cs typeface="Malgun Gothic"/>
              </a:rPr>
              <a:t>)를 바탕으로 했다. Barry는 모델에 없는 짐을 90 kg까지 싣고 걷는 사족 로봇이다.</a:t>
            </a:r>
          </a:p>
        </p:txBody>
      </p:sp>
      <p:sp>
        <p:nvSpPr>
          <p:cNvPr id="6" name="TextBox 5"/>
          <p:cNvSpPr txBox="1"/>
          <p:nvPr/>
        </p:nvSpPr>
        <p:spPr>
          <a:xfrm>
            <a:off x="609600" y="3498453"/>
            <a:ext cx="10972800" cy="108247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TP-0035(배달로봇 스워브 모듈 파라미터, 사용자 대기)가 풀리면 쓸 절차다. 다만 travplan plant(</a:t>
            </a:r>
            <a:r>
              <a:rPr sz="1050" b="0" i="0">
                <a:solidFill>
                  <a:srgbClr val="16213A"/>
                </a:solidFill>
                <a:latin typeface="Consolas"/>
                <a:ea typeface="Malgun Gothic"/>
                <a:cs typeface="Malgun Gothic"/>
              </a:rPr>
              <a:t>robot/plant.py</a:t>
            </a:r>
            <a:r>
              <a:rPr sz="1050" b="0" i="0">
                <a:solidFill>
                  <a:srgbClr val="16213A"/>
                </a:solidFill>
                <a:latin typeface="Arial"/>
                <a:ea typeface="Malgun Gothic"/>
                <a:cs typeface="Malgun Gothic"/>
              </a:rPr>
              <a:t>)는 관성이 없는 운동학 모델이라 PACE의 항을 그대로 맞출 수 없다. 들어 올린 스워브의 엔코더 기록으로 맞출 수 있는 것은 명령 지연(plant는 지금 1차 지연 0.2 s를 가정한다)과, plant에 항을 하나 더하면 조향 엔코더 영점이다. 조향 속도 한계는 PACE가 포화를 다루듯 사양 값으로 두고, 미끄럼 계수는 지면 접촉이 있어야 해서 공중 데이터로는 맞추지 못한다. armature와 감쇠를 쓰려면 바퀴·조향 축의 동역학을 plant에 먼저 넣어야 한다. 지연을 측정값으로 바꾸면 plant를 아는 MPPI(TP-0150)의 rollout 모델과 GP 잔차(TP-0068)의 명목 모델이 같은 근거 위에 선다. 공동 저자 Tischhauser는 Flexion 공동 창업자이고, Flexion 선언문의 '무작위화보다 보정'과 같은 방향이다.</a:t>
            </a:r>
          </a:p>
        </p:txBody>
      </p:sp>
    </p:spTree>
  </p:cSld>
  <p:clrMapOvr>
    <a:masterClrMapping/>
  </p:clrMapOvr>
</p:sld>
</file>

<file path=ppt/slides/slide34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2/4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344 / 516</a:t>
            </a:r>
          </a:p>
        </p:txBody>
      </p:sp>
      <p:pic>
        <p:nvPicPr>
          <p:cNvPr id="5" name="Picture 4" descr="image.jpg"/>
          <p:cNvPicPr>
            <a:picLocks noChangeAspect="1"/>
          </p:cNvPicPr>
          <p:nvPr/>
        </p:nvPicPr>
        <p:blipFill>
          <a:blip r:embed="rId3"/>
          <a:stretch>
            <a:fillRect/>
          </a:stretch>
        </p:blipFill>
        <p:spPr>
          <a:xfrm>
            <a:off x="3390900" y="1244600"/>
            <a:ext cx="5410200" cy="4445000"/>
          </a:xfrm>
          <a:prstGeom prst="rect">
            <a:avLst/>
          </a:prstGeom>
        </p:spPr>
      </p:pic>
      <p:sp>
        <p:nvSpPr>
          <p:cNvPr id="6" name="TextBox 5"/>
          <p:cNvSpPr txBox="1"/>
          <p:nvPr/>
        </p:nvSpPr>
        <p:spPr>
          <a:xfrm>
            <a:off x="3390900" y="5727700"/>
            <a:ext cx="54102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PACE (Fig. 4): 위 줄은 주 실험 로봇 ANYmal, Tytan, Minimal이다. 아래 두 줄은 같은 절차로 파라미터를 맞춰 움직인 Aibo·NAO·ALMA·Spacehopper·LEVA·Magnecko v2와 v1·GR-1이다. 출처: arXiv:2509.06342</a:t>
            </a:r>
          </a:p>
        </p:txBody>
      </p:sp>
    </p:spTree>
  </p:cSld>
  <p:clrMapOvr>
    <a:masterClrMapping/>
  </p:clrMapOvr>
</p:sld>
</file>

<file path=ppt/slides/slide34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3/4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345 / 516</a:t>
            </a:r>
          </a:p>
        </p:txBody>
      </p:sp>
      <p:sp>
        <p:nvSpPr>
          <p:cNvPr id="5" name="TextBox 4"/>
          <p:cNvSpPr txBox="1"/>
          <p:nvPr/>
        </p:nvSpPr>
        <p:spPr>
          <a:xfrm>
            <a:off x="609600" y="1244600"/>
            <a:ext cx="10972800" cy="1731962"/>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AME-2 — 높이 지도에서 발 디딜 곳과 지형의 성격을 주의(attention)로 골라 읽고, 지도는 칸마다 분산을 함께 낸다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arXiv:2601.08485</a:t>
            </a:r>
            <a:r>
              <a:rPr sz="1050" b="0" i="0">
                <a:solidFill>
                  <a:srgbClr val="16213A"/>
                </a:solidFill>
                <a:latin typeface="Arial"/>
                <a:ea typeface="Malgun Gothic"/>
                <a:cs typeface="Malgun Gothic"/>
              </a:rPr>
              <a:t>, C. Zhang·Klemm·F. Yang·Hutter, ETH RSL, arXiv 표기 IEEE T-RO 조건부 채택; 전작 AME-1 </a:t>
            </a:r>
            <a:r>
              <a:rPr sz="1050" b="0" i="0">
                <a:solidFill>
                  <a:srgbClr val="1D4ED8"/>
                </a:solidFill>
                <a:latin typeface="Arial"/>
                <a:ea typeface="Malgun Gothic"/>
                <a:cs typeface="Malgun Gothic"/>
                <a:hlinkClick r:id="rId4"/>
              </a:rPr>
              <a:t>Science Robotics 10(105) 2025</a:t>
            </a:r>
            <a:r>
              <a:rPr sz="1050" b="0" i="0">
                <a:solidFill>
                  <a:srgbClr val="16213A"/>
                </a:solidFill>
                <a:latin typeface="Arial"/>
                <a:ea typeface="Malgun Gothic"/>
                <a:cs typeface="Malgun Gothic"/>
              </a:rPr>
              <a:t>, He·C. Zhang·Jenelten·Grandia·Bächer·Hutter, ETH RSL과 Disney Research Zurich, </a:t>
            </a:r>
            <a:r>
              <a:rPr sz="1050" b="0" i="0">
                <a:solidFill>
                  <a:srgbClr val="1D4ED8"/>
                </a:solidFill>
                <a:latin typeface="Arial"/>
                <a:ea typeface="Malgun Gothic"/>
                <a:cs typeface="Malgun Gothic"/>
                <a:hlinkClick r:id="rId5"/>
              </a:rPr>
              <a:t>arXiv:2506.09588</a:t>
            </a:r>
            <a:r>
              <a:rPr sz="1050" b="0" i="0">
                <a:solidFill>
                  <a:srgbClr val="16213A"/>
                </a:solidFill>
                <a:latin typeface="Arial"/>
                <a:ea typeface="Malgun Gothic"/>
                <a:cs typeface="Malgun Gothic"/>
              </a:rPr>
              <a:t>). 보행 정책 하나가 학습에 없던 지형까지 가도록 만드는 지도 인코더와 지도 파이프라인이다. 인코더는 로봇 중심 높이 지도에서 국소 특징과 전역 특징을 따로 뽑는다. 국소 주의는 다음 발 디딤과 무릎 지지 자리에 모이고, 전역 특징은 지형 종류를 말해 주는 몇 점에 모인다(원문 그림 15). 지도는 깊이 점을 국소 격자에 투영하고(칸마다 최대 높이), 작은 U-Net이 칸마다 높이와 로그 분산을 예측한다. 이것을 전역 지도에 합칠 때 베이즈 융합 대신 확률적 승자 독식(probabilistic winner-take-all)을 쓴다. 같은 예측이 반복될 뿐인 칸에서 분산이 줄지 않게 하려는 것이다. 교사(참값 지도)와 학생(신경 지도)의 두 단계로 ANYmal D와 두 발 로봇 LimX TRON1을 학습했다. 표 II에서 ANYmal D는 1 m를 오르내리고, TRON1은 0.48 m를 오르고 0.88 m를 내려간다. 학습에 없던 파쿠르 코스를 최대 2 m/s로 지났다. 같은 연구실의 구름사다리 휴머노이드(Ongan·C. Zhang 외, </a:t>
            </a:r>
            <a:r>
              <a:rPr sz="1050" b="0" i="0">
                <a:solidFill>
                  <a:srgbClr val="1D4ED8"/>
                </a:solidFill>
                <a:latin typeface="Arial"/>
                <a:ea typeface="Malgun Gothic"/>
                <a:cs typeface="Malgun Gothic"/>
                <a:hlinkClick r:id="rId6"/>
              </a:rPr>
              <a:t>arXiv:2608.29769</a:t>
            </a:r>
            <a:r>
              <a:rPr sz="1050" b="0" i="0">
                <a:solidFill>
                  <a:srgbClr val="16213A"/>
                </a:solidFill>
                <a:latin typeface="Arial"/>
                <a:ea typeface="Malgun Gothic"/>
                <a:cs typeface="Malgun Gothic"/>
              </a:rPr>
              <a:t>)는 이 인코더를 머리 LiDAR의 원시 스캔에 맞게 고쳐 썼다. EngineAI PM01이 막대 배치 셋에 걸쳐 15회 중 14회 뛰어올라 매달려 건너고 내려왔고, 같은 인식 구조의 다른 정책은 2 cm 굵기의 머리 위 장애물 밑을 숙여 지났다.</a:t>
            </a:r>
          </a:p>
        </p:txBody>
      </p:sp>
      <p:sp>
        <p:nvSpPr>
          <p:cNvPr id="6" name="TextBox 5"/>
          <p:cNvSpPr txBox="1"/>
          <p:nvPr/>
        </p:nvSpPr>
        <p:spPr>
          <a:xfrm>
            <a:off x="609600" y="3065462"/>
            <a:ext cx="10972800" cy="108247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가장 직접 닿는 곳은 TravMap σ다. 인식 문서 A.13.13(TP-0054)에서 L1 매퍼의 높이 분산은 틀린 cost 칸을 약하게만 가려냈고(AUROC 0.67), 오차의 주된 원인은 모서리 칸에서 턱의 위아래가 섞이는 것이었다. AME-2의 융합 규칙은 다른 축의 과신을 다룬다. 칼만식 융합은 같은 값을 거듭 보면 분산이 줄어, 늘 같은 쪽으로 틀린 칸까지 확신하게 된다. 승자 독식 규칙은 새 분산을 직전 분산의 0.5배 아래로 내리지 않고, 1.5배를 넘는 갱신은 버리되 표준편차 0.2 m 아래면 받는다. 이 규칙을 L1 매퍼의 융합(</a:t>
            </a:r>
            <a:r>
              <a:rPr sz="1050" b="0" i="0">
                <a:solidFill>
                  <a:srgbClr val="16213A"/>
                </a:solidFill>
                <a:latin typeface="Consolas"/>
                <a:ea typeface="Malgun Gothic"/>
                <a:cs typeface="Malgun Gothic"/>
              </a:rPr>
              <a:t>perception/emap_mapper.py</a:t>
            </a:r>
            <a:r>
              <a:rPr sz="1050" b="0" i="0">
                <a:solidFill>
                  <a:srgbClr val="16213A"/>
                </a:solidFill>
                <a:latin typeface="Arial"/>
                <a:ea typeface="Malgun Gothic"/>
                <a:cs typeface="Malgun Gothic"/>
              </a:rPr>
              <a:t>가 감싼 elevation_mapping_cupy 커널)에 넣어 볼 수 있다. A.13.13 설정에서 모서리 칸의 과신(</a:t>
            </a:r>
            <a:r>
              <a:rPr sz="1050" b="0" i="1">
                <a:solidFill>
                  <a:srgbClr val="16213A"/>
                </a:solidFill>
                <a:latin typeface="Arial"/>
                <a:ea typeface="Malgun Gothic"/>
                <a:cs typeface="Malgun Gothic"/>
              </a:rPr>
              <a:t>z²</a:t>
            </a:r>
            <a:r>
              <a:rPr sz="1050" b="0" i="0">
                <a:solidFill>
                  <a:srgbClr val="16213A"/>
                </a:solidFill>
                <a:latin typeface="Arial"/>
                <a:ea typeface="Malgun Gothic"/>
                <a:cs typeface="Malgun Gothic"/>
              </a:rPr>
              <a:t>)이 주는지 재는 후보다. 다만 매퍼 분산이 오차 순위를 맞히지 못한 원인(모서리 섞임 항이 없음)은 이 규칙으로 풀리지 않는다. 원문 그림 19는 elevation_mapping_cupy의 가림 결측이 보행을 떨어뜨린 예를 보인다. travplan L1과 같은 코어다.</a:t>
            </a:r>
          </a:p>
        </p:txBody>
      </p:sp>
    </p:spTree>
  </p:cSld>
  <p:clrMapOvr>
    <a:masterClrMapping/>
  </p:clrMapOvr>
</p:sld>
</file>

<file path=ppt/slides/slide34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4/4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346 / 516</a:t>
            </a:r>
          </a:p>
        </p:txBody>
      </p:sp>
      <p:pic>
        <p:nvPicPr>
          <p:cNvPr id="5" name="Picture 4" descr="image.jpg"/>
          <p:cNvPicPr>
            <a:picLocks noChangeAspect="1"/>
          </p:cNvPicPr>
          <p:nvPr/>
        </p:nvPicPr>
        <p:blipFill>
          <a:blip r:embed="rId3"/>
          <a:stretch>
            <a:fillRect/>
          </a:stretch>
        </p:blipFill>
        <p:spPr>
          <a:xfrm>
            <a:off x="1720850" y="1244600"/>
            <a:ext cx="8750300" cy="4445000"/>
          </a:xfrm>
          <a:prstGeom prst="rect">
            <a:avLst/>
          </a:prstGeom>
        </p:spPr>
      </p:pic>
      <p:sp>
        <p:nvSpPr>
          <p:cNvPr id="6" name="TextBox 5"/>
          <p:cNvSpPr txBox="1"/>
          <p:nvPr/>
        </p:nvSpPr>
        <p:spPr>
          <a:xfrm>
            <a:off x="1720850" y="5727700"/>
            <a:ext cx="8750300" cy="142180"/>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AME-2 (Fig. 1): 온보드 센서와 연산만으로 ANYmal D(빨강)와 두 발 로봇 TRON1(검정)이 지형을 넘는 장면들이다. 상자 사이 틈·징검돌·기운 팔레트·계단·상자 오르내리기가 있다. 출처: arXiv:2601.08485</a:t>
            </a:r>
          </a:p>
        </p:txBody>
      </p:sp>
    </p:spTree>
  </p:cSld>
  <p:clrMapOvr>
    <a:masterClrMapping/>
  </p:clrMapOvr>
</p:sld>
</file>

<file path=ppt/slides/slide34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자세히: 승자 독식 지도 융합과 지도 모델의 손실</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347 / 516</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융합.</a:t>
            </a:r>
            <a:r>
              <a:rPr sz="1050" b="0" i="0">
                <a:solidFill>
                  <a:srgbClr val="16213A"/>
                </a:solidFill>
                <a:latin typeface="Arial"/>
                <a:ea typeface="Malgun Gothic"/>
                <a:cs typeface="Malgun Gothic"/>
              </a:rPr>
              <a:t> 칸마다 새 예측 </a:t>
            </a:r>
            <a:r>
              <a:rPr sz="1050" b="0" i="1">
                <a:solidFill>
                  <a:srgbClr val="16213A"/>
                </a:solidFill>
                <a:latin typeface="Arial"/>
                <a:ea typeface="Malgun Gothic"/>
                <a:cs typeface="Malgun Gothic"/>
              </a:rPr>
              <a:t>(hₜ, σₜ²)</a:t>
            </a:r>
            <a:r>
              <a:rPr sz="1050" b="0" i="0">
                <a:solidFill>
                  <a:srgbClr val="16213A"/>
                </a:solidFill>
                <a:latin typeface="Arial"/>
                <a:ea typeface="Malgun Gothic"/>
                <a:cs typeface="Malgun Gothic"/>
              </a:rPr>
              <a:t>와 지도의 값 </a:t>
            </a:r>
            <a:r>
              <a:rPr sz="1050" b="0" i="1">
                <a:solidFill>
                  <a:srgbClr val="16213A"/>
                </a:solidFill>
                <a:latin typeface="Arial"/>
                <a:ea typeface="Malgun Gothic"/>
                <a:cs typeface="Malgun Gothic"/>
              </a:rPr>
              <a:t>(hₚᵣᵢₒᵣ, σₚᵣᵢₒᵣ²)</a:t>
            </a:r>
            <a:r>
              <a:rPr sz="1050" b="0" i="0">
                <a:solidFill>
                  <a:srgbClr val="16213A"/>
                </a:solidFill>
                <a:latin typeface="Arial"/>
                <a:ea typeface="Malgun Gothic"/>
                <a:cs typeface="Malgun Gothic"/>
              </a:rPr>
              <a:t>가 있을 때, 새 분산을 아래로 묶고 이길 확률을 정밀도로 정한다.</a:t>
            </a:r>
          </a:p>
        </p:txBody>
      </p:sp>
      <p:pic>
        <p:nvPicPr>
          <p:cNvPr id="6" name="Picture 5" descr="image.png"/>
          <p:cNvPicPr>
            <a:picLocks noChangeAspect="1"/>
          </p:cNvPicPr>
          <p:nvPr/>
        </p:nvPicPr>
        <p:blipFill>
          <a:blip r:embed="rId3"/>
          <a:stretch>
            <a:fillRect/>
          </a:stretch>
        </p:blipFill>
        <p:spPr>
          <a:xfrm>
            <a:off x="609600" y="1549995"/>
            <a:ext cx="3584575" cy="479425"/>
          </a:xfrm>
          <a:prstGeom prst="rect">
            <a:avLst/>
          </a:prstGeom>
        </p:spPr>
      </p:pic>
      <p:sp>
        <p:nvSpPr>
          <p:cNvPr id="7" name="TextBox 6"/>
          <p:cNvSpPr txBox="1"/>
          <p:nvPr/>
        </p:nvSpPr>
        <p:spPr>
          <a:xfrm>
            <a:off x="609600" y="2034084"/>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갱신은 </a:t>
            </a:r>
            <a:r>
              <a:rPr sz="1050" b="0" i="1">
                <a:solidFill>
                  <a:srgbClr val="16213A"/>
                </a:solidFill>
                <a:latin typeface="Arial"/>
                <a:ea typeface="Malgun Gothic"/>
                <a:cs typeface="Malgun Gothic"/>
              </a:rPr>
              <a:t>σ̂ₜ² &lt; 1.5 σₚᵣᵢₒᵣ²</a:t>
            </a:r>
            <a:r>
              <a:rPr sz="1050" b="0" i="0">
                <a:solidFill>
                  <a:srgbClr val="16213A"/>
                </a:solidFill>
                <a:latin typeface="Arial"/>
                <a:ea typeface="Malgun Gothic"/>
                <a:cs typeface="Malgun Gothic"/>
              </a:rPr>
              <a:t>이거나 </a:t>
            </a:r>
            <a:r>
              <a:rPr sz="1050" b="0" i="1">
                <a:solidFill>
                  <a:srgbClr val="16213A"/>
                </a:solidFill>
                <a:latin typeface="Arial"/>
                <a:ea typeface="Malgun Gothic"/>
                <a:cs typeface="Malgun Gothic"/>
              </a:rPr>
              <a:t>σ̂ₜ² &lt; 0.2²</a:t>
            </a:r>
            <a:r>
              <a:rPr sz="1050" b="0" i="0">
                <a:solidFill>
                  <a:srgbClr val="16213A"/>
                </a:solidFill>
                <a:latin typeface="Arial"/>
                <a:ea typeface="Malgun Gothic"/>
                <a:cs typeface="Malgun Gothic"/>
              </a:rPr>
              <a:t>일 때만 유효하다. 유효하면 </a:t>
            </a:r>
            <a:r>
              <a:rPr sz="1050" b="0" i="1">
                <a:solidFill>
                  <a:srgbClr val="16213A"/>
                </a:solidFill>
                <a:latin typeface="Arial"/>
                <a:ea typeface="Malgun Gothic"/>
                <a:cs typeface="Malgun Gothic"/>
              </a:rPr>
              <a:t>ξ ∼ 𝒰[0, 1]</a:t>
            </a:r>
            <a:r>
              <a:rPr sz="1050" b="0" i="0">
                <a:solidFill>
                  <a:srgbClr val="16213A"/>
                </a:solidFill>
                <a:latin typeface="Arial"/>
                <a:ea typeface="Malgun Gothic"/>
                <a:cs typeface="Malgun Gothic"/>
              </a:rPr>
              <a:t>을 뽑아 </a:t>
            </a:r>
            <a:r>
              <a:rPr sz="1050" b="0" i="1">
                <a:solidFill>
                  <a:srgbClr val="16213A"/>
                </a:solidFill>
                <a:latin typeface="Arial"/>
                <a:ea typeface="Malgun Gothic"/>
                <a:cs typeface="Malgun Gothic"/>
              </a:rPr>
              <a:t>ξ &lt; p_(win)</a:t>
            </a:r>
            <a:r>
              <a:rPr sz="1050" b="0" i="0">
                <a:solidFill>
                  <a:srgbClr val="16213A"/>
                </a:solidFill>
                <a:latin typeface="Arial"/>
                <a:ea typeface="Malgun Gothic"/>
                <a:cs typeface="Malgun Gothic"/>
              </a:rPr>
              <a:t>일 때 새 값으로 바꾼다. 그래서 같은 가림 칸의 불확실성은 같은 예측이 반복돼도 줄지 않고, 일관되지 않은 과신 예측은 칸을 차지하지 못하며, 확신 높은 새 측정은 바뀐 지형을 바로 반영한다.</a:t>
            </a:r>
          </a:p>
        </p:txBody>
      </p:sp>
      <p:sp>
        <p:nvSpPr>
          <p:cNvPr id="8" name="TextBox 7"/>
          <p:cNvSpPr txBox="1"/>
          <p:nvPr/>
        </p:nvSpPr>
        <p:spPr>
          <a:xfrm>
            <a:off x="609600" y="2555974"/>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지도 모델 학습.</a:t>
            </a:r>
            <a:r>
              <a:rPr sz="1050" b="0" i="0">
                <a:solidFill>
                  <a:srgbClr val="16213A"/>
                </a:solidFill>
                <a:latin typeface="Arial"/>
                <a:ea typeface="Malgun Gothic"/>
                <a:cs typeface="Malgun Gothic"/>
              </a:rPr>
              <a:t> 높이와 분산을 β-NLL 손실(</a:t>
            </a:r>
            <a:r>
              <a:rPr sz="1050" b="0" i="1">
                <a:solidFill>
                  <a:srgbClr val="16213A"/>
                </a:solidFill>
                <a:latin typeface="Arial"/>
                <a:ea typeface="Malgun Gothic"/>
                <a:cs typeface="Malgun Gothic"/>
              </a:rPr>
              <a:t>β = 0.5</a:t>
            </a:r>
            <a:r>
              <a:rPr sz="1050" b="0" i="0">
                <a:solidFill>
                  <a:srgbClr val="16213A"/>
                </a:solidFill>
                <a:latin typeface="Arial"/>
                <a:ea typeface="Malgun Gothic"/>
                <a:cs typeface="Malgun Gothic"/>
              </a:rPr>
              <a:t>)로 학습한다. 음의 로그 우도(NLL)를 그대로 쓰면 어려운 표본에서 분산을 키워 손실을 쉽게 줄이는데, 아래 식의 가중이 그쪽을 막는다.</a:t>
            </a:r>
          </a:p>
        </p:txBody>
      </p:sp>
      <p:pic>
        <p:nvPicPr>
          <p:cNvPr id="9" name="Picture 8" descr="image.png"/>
          <p:cNvPicPr>
            <a:picLocks noChangeAspect="1"/>
          </p:cNvPicPr>
          <p:nvPr/>
        </p:nvPicPr>
        <p:blipFill>
          <a:blip r:embed="rId4"/>
          <a:stretch>
            <a:fillRect/>
          </a:stretch>
        </p:blipFill>
        <p:spPr>
          <a:xfrm>
            <a:off x="609600" y="2861370"/>
            <a:ext cx="3740150" cy="434975"/>
          </a:xfrm>
          <a:prstGeom prst="rect">
            <a:avLst/>
          </a:prstGeom>
        </p:spPr>
      </p:pic>
      <p:sp>
        <p:nvSpPr>
          <p:cNvPr id="10" name="TextBox 9"/>
          <p:cNvSpPr txBox="1"/>
          <p:nvPr/>
        </p:nvSpPr>
        <p:spPr>
          <a:xfrm>
            <a:off x="609600" y="3306266"/>
            <a:ext cx="10972800" cy="432991"/>
          </a:xfrm>
          <a:prstGeom prst="rect">
            <a:avLst/>
          </a:prstGeom>
          <a:noFill/>
        </p:spPr>
        <p:txBody>
          <a:bodyPr wrap="square" lIns="0" rIns="0" tIns="0" bIns="0" anchor="t">
            <a:spAutoFit/>
            <a:normAutofit/>
          </a:bodyPr>
          <a:lstStyle/>
          <a:p>
            <a:r>
              <a:rPr sz="1050" b="0" i="1">
                <a:solidFill>
                  <a:srgbClr val="16213A"/>
                </a:solidFill>
                <a:latin typeface="Arial"/>
                <a:ea typeface="Malgun Gothic"/>
                <a:cs typeface="Malgun Gothic"/>
              </a:rPr>
              <a:t>sg</a:t>
            </a:r>
            <a:r>
              <a:rPr sz="1050" b="0" i="0">
                <a:solidFill>
                  <a:srgbClr val="16213A"/>
                </a:solidFill>
                <a:latin typeface="Arial"/>
                <a:ea typeface="Malgun Gothic"/>
                <a:cs typeface="Malgun Gothic"/>
              </a:rPr>
              <a:t>는 기울기 멈춤이다. 평지 표본이 배치를 지배하지 않게 표본마다 총변동(total variation)으로 가중한다. 입력은 무작위 메시에서 Warp 광선 추적으로 뽑은 국소 격자이고, RTX 4090 한 장에서 초당 수십만 프레임을 만든다. 잡음·테두리 자르기·무작위 센서 자세의 가림·높이 자르기·빠진 점과 이상치를 섞어 입력을 망가뜨린다.</a:t>
            </a:r>
          </a:p>
        </p:txBody>
      </p:sp>
      <p:sp>
        <p:nvSpPr>
          <p:cNvPr id="11" name="TextBox 10"/>
          <p:cNvSpPr txBox="1"/>
          <p:nvPr/>
        </p:nvSpPr>
        <p:spPr>
          <a:xfrm>
            <a:off x="609600" y="3828157"/>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것.</a:t>
            </a:r>
            <a:r>
              <a:rPr sz="1050" b="0" i="0">
                <a:solidFill>
                  <a:srgbClr val="16213A"/>
                </a:solidFill>
                <a:latin typeface="Arial"/>
                <a:ea typeface="Malgun Gothic"/>
                <a:cs typeface="Malgun Gothic"/>
              </a:rPr>
              <a:t> travplan은 L0 가림(TP-0031)으로 생긴 미관측 칸을 그림자 상한과 깊이 prior(TP-0044·TP-0047)라는 규칙으로 채운다. 이 논문은 같은 일을 학습한 예측과 분산으로 하고, 반복 예측으로 분산이 줄지 않게 융합 규칙을 바꿨다. 지금 travplan은 매퍼 분산을 σ로 쓰지 않고 이진 σ를 기본값으로 둔다(TP-0054). 위의 규칙은 그 결정을 바꿀 근거가 아니라, 매퍼 분산을 다시 시험할 때의 후보 하나다.</a:t>
            </a:r>
          </a:p>
        </p:txBody>
      </p:sp>
    </p:spTree>
  </p:cSld>
  <p:clrMapOvr>
    <a:masterClrMapping/>
  </p:clrMapOvr>
</p:sld>
</file>

<file path=ppt/slides/slide34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348 / 516</a:t>
            </a:r>
          </a:p>
        </p:txBody>
      </p:sp>
      <p:sp>
        <p:nvSpPr>
          <p:cNvPr id="5" name="TextBox 4"/>
          <p:cNvSpPr txBox="1"/>
          <p:nvPr/>
        </p:nvSpPr>
        <p:spPr>
          <a:xfrm>
            <a:off x="609600" y="1244600"/>
            <a:ext cx="10972800" cy="151546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Watch Your Step — 지도를 보지 않는 작은 망이 다음 발 디딤 둘을 예측하고, 정책은 높이 지도에서 그 두 곳의 7 × 7 조각만 본다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arXiv:2610.29612</a:t>
            </a:r>
            <a:r>
              <a:rPr sz="1050" b="0" i="0">
                <a:solidFill>
                  <a:srgbClr val="16213A"/>
                </a:solidFill>
                <a:latin typeface="Arial"/>
                <a:ea typeface="Malgun Gothic"/>
                <a:cs typeface="Malgun Gothic"/>
              </a:rPr>
              <a:t>, Heyrman·C. Li·Dadiotis·Hutter, ETH RSL과 ETH AI Center, 2026-10-21 공개, IEEE 투고; </a:t>
            </a:r>
            <a:r>
              <a:rPr sz="1050" b="0" i="0">
                <a:solidFill>
                  <a:srgbClr val="1D4ED8"/>
                </a:solidFill>
                <a:latin typeface="Arial"/>
                <a:ea typeface="Malgun Gothic"/>
                <a:cs typeface="Malgun Gothic"/>
                <a:hlinkClick r:id="rId4"/>
              </a:rPr>
              <a:t>프로젝트 페이지</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5"/>
              </a:rPr>
              <a:t>영상</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6"/>
              </a:rPr>
              <a:t>코드</a:t>
            </a:r>
            <a:r>
              <a:rPr sz="1050" b="0" i="0">
                <a:solidFill>
                  <a:srgbClr val="16213A"/>
                </a:solidFill>
                <a:latin typeface="Arial"/>
                <a:ea typeface="Malgun Gothic"/>
                <a:cs typeface="Malgun Gothic"/>
              </a:rPr>
              <a:t> MIT). Unitree G1(29자유도)의 인식 보행 정책이 보는 지형을 693칸에서 102개 값으로 줄였다. 전체 높이 지도는 몸체 기준 1.6 m × 1.0 m를 5 cm 칸(33 × 21)으로 나눈 것이다. 줄이는 일은 FPM(foothold prediction model)이 맡는다. FPM은 은닉층 둘(128, 128)의 MLP이고, 고유감각 70차원만 받아 다음 발 디딤 둘의 평면 위치를 몸체 좌표로 낸다. 입력은 몸체 속도·각속도·중력 방향·속도 명령·관절각·관절 속도다. 높이 지도도, 자기 직전 출력도 보지 않는다. 정책은 두 예측 위치 둘레의 7 × 7 조각과 예측 좌표만 받는다. 조각 하나는 0.35 m 정사각이고, G1의 발 길이는 0.208 m다. 전체 지도는 학습 때 critic만 본다. FPM과 정책은 번갈아 학습한다. 처음 500 iteration은 발 디딤을 몸체 바로 아래로 고정하고 걷기부터 배운다. 그 뒤에는 500 iteration마다 현재 정책을 굴려 전이 50만 개를 모으고, 실제 착지 위치를 라벨로 FPM을 처음부터 다시 맞춘다. 미세 조정하지 않는 이유는 학습 초기의 불안한 걸음새를 물려받지 않게 하려는 것이다.</a:t>
            </a:r>
          </a:p>
        </p:txBody>
      </p:sp>
      <p:sp>
        <p:nvSpPr>
          <p:cNvPr id="6" name="TextBox 5"/>
          <p:cNvSpPr txBox="1"/>
          <p:nvPr/>
        </p:nvSpPr>
        <p:spPr>
          <a:xfrm>
            <a:off x="609600" y="2848967"/>
            <a:ext cx="10972800" cy="1082477"/>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결과는 세 가지다. 첫째, 학습이 빠르다. 지형 커리큘럼 레벨 5에 7.5k iteration에 닿아, 전체 지도를 보는 MLP(HM, 26.1k)보다 3.5배, 주의 인코더 기준선 AME2(20.0k)보다 2.7배 빠르다. AME2는 이 소절 AME-2 카드의 인코더를 본뜬 기준선이다. 정책 갱신 한 번에 GPU 넷에서 6.3 s가 걸렸고, FPM은 GPU 하나에서 0.55 s였다. 둘째, 디딜 곳이 드문 지형에서 강하다. 1.3 m 폭 복도 시험의 드문 디딤 지형(징검돌 등)에서 74.2%로, AME2 71.7%와 HM 42.7%를 앞선다(표 II). 셋째, 실물 G1에 그대로 옮겨졌다. 학습에 없던 0.55 m 틈과 0.6 m 낙차를 넘었고, 야외 18단 계단을 올랐다. 틈과 낙차 앞에서는 보상하지 않은 감속과 몸 낮추기가 나타났다. 성능을 가른 것은 보는 높이의 수가 아니라 위치다. 같은 수 이상의 높이를 현재 발 둘레(Wild, Miki 2022의 원형 스캔)나 명령 방향 앞(Naive, 200칸)에서 뽑은 기준선은 전체 지도(HM)보다도 나빴다.</a:t>
            </a:r>
          </a:p>
        </p:txBody>
      </p:sp>
      <p:sp>
        <p:nvSpPr>
          <p:cNvPr id="7" name="TextBox 6"/>
          <p:cNvSpPr txBox="1"/>
          <p:nvPr/>
        </p:nvSpPr>
        <p:spPr>
          <a:xfrm>
            <a:off x="609600" y="4020344"/>
            <a:ext cx="10972800" cy="1298972"/>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학습 Controller </a:t>
            </a:r>
            <a:r>
              <a:rPr sz="1050" b="0" i="0">
                <a:solidFill>
                  <a:srgbClr val="16213A"/>
                </a:solidFill>
                <a:latin typeface="Consolas"/>
                <a:ea typeface="Malgun Gothic"/>
                <a:cs typeface="Malgun Gothic"/>
              </a:rPr>
              <a:t>TinyPolicy</a:t>
            </a:r>
            <a:r>
              <a:rPr sz="1050" b="0" i="0">
                <a:solidFill>
                  <a:srgbClr val="16213A"/>
                </a:solidFill>
                <a:latin typeface="Arial"/>
                <a:ea typeface="Malgun Gothic"/>
                <a:cs typeface="Malgun Gothic"/>
              </a:rPr>
              <a:t>(TP-0128)의 지형 관측은 이 논문의 Naive와 같은 모양이다. 로봇 앞 0–2.4 m, 좌우 ±0.6 m의 고정 7 × 5 격자에서 belief cost를 읽고, Naive와 달리 속도에 따라 옮기지도 않는다(</a:t>
            </a:r>
            <a:r>
              <a:rPr sz="1050" b="0" i="0">
                <a:solidFill>
                  <a:srgbClr val="16213A"/>
                </a:solidFill>
                <a:latin typeface="Consolas"/>
                <a:ea typeface="Malgun Gothic"/>
                <a:cs typeface="Malgun Gothic"/>
              </a:rPr>
              <a:t>travplan/control/tiny_policy.py</a:t>
            </a:r>
            <a:r>
              <a:rPr sz="1050" b="0" i="0">
                <a:solidFill>
                  <a:srgbClr val="16213A"/>
                </a:solidFill>
                <a:latin typeface="Arial"/>
                <a:ea typeface="Malgun Gothic"/>
                <a:cs typeface="Malgun Gothic"/>
              </a:rPr>
              <a:t>). 논문에서 Naive는 거의 모든 열에서 가장 나빴다(학습 지형 77.6%, 학습 밖 지형 71.8%). 바퀴 로봇에서 발 디딤에 해당하는 것은 곧 지날 바닥이다. </a:t>
            </a:r>
            <a:r>
              <a:rPr sz="1050" b="0" i="0">
                <a:solidFill>
                  <a:srgbClr val="16213A"/>
                </a:solidFill>
                <a:latin typeface="Consolas"/>
                <a:ea typeface="Malgun Gothic"/>
                <a:cs typeface="Malgun Gothic"/>
              </a:rPr>
              <a:t>TinyPolicy</a:t>
            </a:r>
            <a:r>
              <a:rPr sz="1050" b="0" i="0">
                <a:solidFill>
                  <a:srgbClr val="16213A"/>
                </a:solidFill>
                <a:latin typeface="Arial"/>
                <a:ea typeface="Malgun Gothic"/>
                <a:cs typeface="Malgun Gothic"/>
              </a:rPr>
              <a:t>는 경로 앞 네 점(0.5·1·2·3 m)을 이미 받는다. 그래서 고정 격자 대신 그 네 점 둘레의 작은 조각을 읽는 변형은 관측 크기를 늘리지 않고 시험할 수 있다. 관측을 바꾸면 Playground의 </a:t>
            </a:r>
            <a:r>
              <a:rPr sz="1050" b="0" i="0">
                <a:solidFill>
                  <a:srgbClr val="16213A"/>
                </a:solidFill>
                <a:latin typeface="Consolas"/>
                <a:ea typeface="Malgun Gothic"/>
                <a:cs typeface="Malgun Gothic"/>
              </a:rPr>
              <a:t>js/policy.js</a:t>
            </a:r>
            <a:r>
              <a:rPr sz="1050" b="0" i="0">
                <a:solidFill>
                  <a:srgbClr val="16213A"/>
                </a:solidFill>
                <a:latin typeface="Arial"/>
                <a:ea typeface="Malgun Gothic"/>
                <a:cs typeface="Malgun Gothic"/>
              </a:rPr>
              <a:t>도 함께 고친다. 그대로 가져오면 안 되는 점도 있다. 저자들이 밝혔듯 이 방식은 밟지 않을 지형을 모두 버려서, 옆에서 다가오는 장애물은 조각에 늦게 들어오거나 아예 들어오지 않는다. travplan의 보행자는 옆에서 다가온다(TP-0154, 720 중 충돌 8건). 정적 지형 채널만 거르고 동적 장애물은 넓은 시야로 따로 받는 구성이 출발점이다. 학습 절차도 참고할 만하다. 관측이 정책 자신의 걸음에 따라 바뀌므로 예측기를 정책의 최신 rollout에 다시 맞춰야 한다. 이 소절이 모은 '생성기와 추종기를 서로에게 맞춰 학습하는 절차'의 또 다른 예다.</a:t>
            </a:r>
          </a:p>
        </p:txBody>
      </p:sp>
    </p:spTree>
  </p:cSld>
  <p:clrMapOvr>
    <a:masterClrMapping/>
  </p:clrMapOvr>
</p:sld>
</file>

<file path=ppt/slides/slide34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349 / 516</a:t>
            </a:r>
          </a:p>
        </p:txBody>
      </p:sp>
      <p:pic>
        <p:nvPicPr>
          <p:cNvPr id="5" name="Picture 4" descr="image.jpg"/>
          <p:cNvPicPr>
            <a:picLocks noChangeAspect="1"/>
          </p:cNvPicPr>
          <p:nvPr/>
        </p:nvPicPr>
        <p:blipFill>
          <a:blip r:embed="rId3"/>
          <a:stretch>
            <a:fillRect/>
          </a:stretch>
        </p:blipFill>
        <p:spPr>
          <a:xfrm>
            <a:off x="609600" y="1244600"/>
            <a:ext cx="5410200" cy="2616200"/>
          </a:xfrm>
          <a:prstGeom prst="rect">
            <a:avLst/>
          </a:prstGeom>
        </p:spPr>
      </p:pic>
      <p:sp>
        <p:nvSpPr>
          <p:cNvPr id="6" name="TextBox 5"/>
          <p:cNvSpPr txBox="1"/>
          <p:nvPr/>
        </p:nvSpPr>
        <p:spPr>
          <a:xfrm>
            <a:off x="609600" y="3898900"/>
            <a:ext cx="5410200" cy="42654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Watch Your Step (Fig. 2): 방법 개요다. 정책은 FPM이 예측한 발 디딤 둘레로 거른 높이 지도를 보고 속도 명령을 따른다. 500 iteration마다 (A) 현재 정책의 rollout에서 실제 착지 위치를 얻고, (B) FPM을 처음부터 다시 학습한다. 출처: arXiv:2610.29612</a:t>
            </a:r>
          </a:p>
        </p:txBody>
      </p:sp>
      <p:pic>
        <p:nvPicPr>
          <p:cNvPr id="7" name="Picture 6" descr="image.jpg"/>
          <p:cNvPicPr>
            <a:picLocks noChangeAspect="1"/>
          </p:cNvPicPr>
          <p:nvPr/>
        </p:nvPicPr>
        <p:blipFill>
          <a:blip r:embed="rId4"/>
          <a:stretch>
            <a:fillRect/>
          </a:stretch>
        </p:blipFill>
        <p:spPr>
          <a:xfrm>
            <a:off x="6172200" y="1244600"/>
            <a:ext cx="5410200" cy="2578100"/>
          </a:xfrm>
          <a:prstGeom prst="rect">
            <a:avLst/>
          </a:prstGeom>
        </p:spPr>
      </p:pic>
      <p:sp>
        <p:nvSpPr>
          <p:cNvPr id="8" name="TextBox 7"/>
          <p:cNvSpPr txBox="1"/>
          <p:nvPr/>
        </p:nvSpPr>
        <p:spPr>
          <a:xfrm>
            <a:off x="6172200" y="3860800"/>
            <a:ext cx="54102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Watch Your Step (Fig. 4): 실물 G1이 계단과 거친 지형(학습 분포 안), 0.55 m 틈과 0.6 m 낙차(학습 분포 밖)를 지난다. 자홍색 점이 걸음마다 예측한 발 디딤이고, 아래 그래프는 명령 전진 속도와 odometry로 잰 속도다. 출처: arXiv:2610.29612</a:t>
            </a:r>
          </a:p>
        </p:txBody>
      </p:sp>
    </p:spTree>
  </p:cSld>
  <p:clrMapOvr>
    <a:masterClrMapping/>
  </p:clrMapOvr>
</p:sld>
</file>

<file path=ppt/slides/slide35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자세히: Watch Your Step의 학습 절차, 표, 공개 코드</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350 / 516</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무엇을 예측하나.</a:t>
            </a:r>
            <a:r>
              <a:rPr sz="1050" b="0" i="0">
                <a:solidFill>
                  <a:srgbClr val="16213A"/>
                </a:solidFill>
                <a:latin typeface="Arial"/>
                <a:ea typeface="Malgun Gothic"/>
                <a:cs typeface="Malgun Gothic"/>
              </a:rPr>
              <a:t> 라벨은 rollout이 끝난 뒤 시간을 거슬러 붙인다. 첫째 발 디딤은 지금 공중에 있거나 곧 뜰 발의 착지 위치이고, 둘째는 다른 발이 다음에 뜬 뒤 처음 닿는 위치다. 둘 다 시각 </a:t>
            </a:r>
            <a:r>
              <a:rPr sz="1050" b="0" i="1">
                <a:solidFill>
                  <a:srgbClr val="16213A"/>
                </a:solidFill>
                <a:latin typeface="Arial"/>
                <a:ea typeface="Malgun Gothic"/>
                <a:cs typeface="Malgun Gothic"/>
              </a:rPr>
              <a:t>t</a:t>
            </a:r>
            <a:r>
              <a:rPr sz="1050" b="0" i="0">
                <a:solidFill>
                  <a:srgbClr val="16213A"/>
                </a:solidFill>
                <a:latin typeface="Arial"/>
                <a:ea typeface="Malgun Gothic"/>
                <a:cs typeface="Malgun Gothic"/>
              </a:rPr>
              <a:t>의 몸체 좌표로 적는다. 라벨이 에피소드 종료(몸체 위치가 0.5 m 넘게 튐)를 넘어가는 창만 가린다. 넘어지기 직전 상태라도 다음 착지가 실제로 있었으면 남긴다. 그래서 무너지기 직전의 걸음새에서도 예측이 맞는다. 손실은 경계 </a:t>
            </a:r>
            <a:r>
              <a:rPr sz="1050" b="0" i="1">
                <a:solidFill>
                  <a:srgbClr val="16213A"/>
                </a:solidFill>
                <a:latin typeface="Arial"/>
                <a:ea typeface="Malgun Gothic"/>
                <a:cs typeface="Malgun Gothic"/>
              </a:rPr>
              <a:t>δ = 0.01</a:t>
            </a:r>
            <a:r>
              <a:rPr sz="1050" b="0" i="0">
                <a:solidFill>
                  <a:srgbClr val="16213A"/>
                </a:solidFill>
                <a:latin typeface="Arial"/>
                <a:ea typeface="Malgun Gothic"/>
                <a:cs typeface="Malgun Gothic"/>
              </a:rPr>
              <a:t>의 Huber다. 기울기가 묶여 있어 에피소드 경계 근처의 이상치가 맞춤을 지배하지 못한다.</a:t>
            </a:r>
          </a:p>
        </p:txBody>
      </p:sp>
      <p:pic>
        <p:nvPicPr>
          <p:cNvPr id="6" name="Picture 5" descr="image.png"/>
          <p:cNvPicPr>
            <a:picLocks noChangeAspect="1"/>
          </p:cNvPicPr>
          <p:nvPr/>
        </p:nvPicPr>
        <p:blipFill>
          <a:blip r:embed="rId3"/>
          <a:stretch>
            <a:fillRect/>
          </a:stretch>
        </p:blipFill>
        <p:spPr>
          <a:xfrm>
            <a:off x="609600" y="1982986"/>
            <a:ext cx="4146550" cy="241300"/>
          </a:xfrm>
          <a:prstGeom prst="rect">
            <a:avLst/>
          </a:prstGeom>
        </p:spPr>
      </p:pic>
      <p:sp>
        <p:nvSpPr>
          <p:cNvPr id="7" name="TextBox 6"/>
          <p:cNvSpPr txBox="1"/>
          <p:nvPr/>
        </p:nvSpPr>
        <p:spPr>
          <a:xfrm>
            <a:off x="609600" y="226050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정책이 보는 것.</a:t>
            </a:r>
            <a:r>
              <a:rPr sz="1050" b="0" i="0">
                <a:solidFill>
                  <a:srgbClr val="16213A"/>
                </a:solidFill>
                <a:latin typeface="Arial"/>
                <a:ea typeface="Malgun Gothic"/>
                <a:cs typeface="Malgun Gothic"/>
              </a:rPr>
              <a:t> 예측 위치를 지도 칸으로 반올림하고 둘레 </a:t>
            </a:r>
            <a:r>
              <a:rPr sz="1050" b="0" i="1">
                <a:solidFill>
                  <a:srgbClr val="16213A"/>
                </a:solidFill>
                <a:latin typeface="Arial"/>
                <a:ea typeface="Malgun Gothic"/>
                <a:cs typeface="Malgun Gothic"/>
              </a:rPr>
              <a:t>k × k</a:t>
            </a:r>
            <a:r>
              <a:rPr sz="1050" b="0" i="0">
                <a:solidFill>
                  <a:srgbClr val="16213A"/>
                </a:solidFill>
                <a:latin typeface="Arial"/>
                <a:ea typeface="Malgun Gothic"/>
                <a:cs typeface="Malgun Gothic"/>
              </a:rPr>
              <a:t>(</a:t>
            </a:r>
            <a:r>
              <a:rPr sz="1050" b="0" i="1">
                <a:solidFill>
                  <a:srgbClr val="16213A"/>
                </a:solidFill>
                <a:latin typeface="Arial"/>
                <a:ea typeface="Malgun Gothic"/>
                <a:cs typeface="Malgun Gothic"/>
              </a:rPr>
              <a:t>k = 7</a:t>
            </a:r>
            <a:r>
              <a:rPr sz="1050" b="0" i="0">
                <a:solidFill>
                  <a:srgbClr val="16213A"/>
                </a:solidFill>
                <a:latin typeface="Arial"/>
                <a:ea typeface="Malgun Gothic"/>
                <a:cs typeface="Malgun Gothic"/>
              </a:rPr>
              <a:t>) 칸을 모은다. 지도 경계에서는 칸 번호를 자른다. 정책의 지형 입력은 아래 102개이고, 행동 관측 전체는 상태 70, 직전 행동 29, 지형 102를 이은 201차원이다.</a:t>
            </a:r>
          </a:p>
        </p:txBody>
      </p:sp>
      <p:pic>
        <p:nvPicPr>
          <p:cNvPr id="8" name="Picture 7" descr="image.png"/>
          <p:cNvPicPr>
            <a:picLocks noChangeAspect="1"/>
          </p:cNvPicPr>
          <p:nvPr/>
        </p:nvPicPr>
        <p:blipFill>
          <a:blip r:embed="rId4"/>
          <a:stretch>
            <a:fillRect/>
          </a:stretch>
        </p:blipFill>
        <p:spPr>
          <a:xfrm>
            <a:off x="609600" y="2782391"/>
            <a:ext cx="2120900" cy="241300"/>
          </a:xfrm>
          <a:prstGeom prst="rect">
            <a:avLst/>
          </a:prstGeom>
        </p:spPr>
      </p:pic>
      <p:sp>
        <p:nvSpPr>
          <p:cNvPr id="9" name="TextBox 8"/>
          <p:cNvSpPr txBox="1"/>
          <p:nvPr/>
        </p:nvSpPr>
        <p:spPr>
          <a:xfrm>
            <a:off x="609600" y="3059906"/>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정책이 조회 위치를 너무 믿지 않게 두 가지를 섞는다. 에피소드마다 조각 전체를 평면과 높이로 ±0.05 m 옮기되 알려 주는 좌표는 그대로 둔다(예측 어긋남과 odometry 드리프트를 흉내 낸다). 점마다 ±0.1 m 균일 잡음을 더하고 [−1, 1]로 자른다.</a:t>
            </a:r>
          </a:p>
        </p:txBody>
      </p:sp>
      <p:sp>
        <p:nvSpPr>
          <p:cNvPr id="10" name="TextBox 9"/>
          <p:cNvSpPr txBox="1"/>
          <p:nvPr/>
        </p:nvSpPr>
        <p:spPr>
          <a:xfrm>
            <a:off x="609600" y="3581797"/>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학습 설정.</a:t>
            </a:r>
            <a:r>
              <a:rPr sz="1050" b="0" i="0">
                <a:solidFill>
                  <a:srgbClr val="16213A"/>
                </a:solidFill>
                <a:latin typeface="Arial"/>
                <a:ea typeface="Malgun Gothic"/>
                <a:cs typeface="Malgun Gothic"/>
              </a:rPr>
              <a:t> RTX 3090 한 장에서 Isaac Lab 환경 8,192개로 PPO를 돌린다. 물리는 200 Hz, 정책은 50 Hz다. 지형은 징검돌 30%, 오르는 계단과 내리는 계단 15%씩, 상자 15%, 오르막과 내리막 7.5%와 5%, 거친 지면 5%, 구덩이 5%, 평지 2.5%의 10단계다. 몸통을 위로 미는 보조 힘이 있다. 평균 레벨 0에서 몸무게의 절반을 받쳐 주고, 평균 레벨 4에서 0이 된다. 드문 지형에서 공중의 발을 고쳐 디디는 법을 배울 여유를 준다고 저자들은 적었다. 대칭은 손실 대신 거울상 전이로 배치를 늘려 다룬다.</a:t>
            </a:r>
          </a:p>
        </p:txBody>
      </p:sp>
      <p:sp>
        <p:nvSpPr>
          <p:cNvPr id="11" name="TextBox 10"/>
          <p:cNvSpPr txBox="1"/>
          <p:nvPr/>
        </p:nvSpPr>
        <p:spPr>
          <a:xfrm>
            <a:off x="609600" y="4320183"/>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표 II 발췌(성공률·넘어짐, %).</a:t>
            </a:r>
            <a:r>
              <a:rPr sz="1050" b="0" i="0">
                <a:solidFill>
                  <a:srgbClr val="16213A"/>
                </a:solidFill>
                <a:latin typeface="Arial"/>
                <a:ea typeface="Malgun Gothic"/>
                <a:cs typeface="Malgun Gothic"/>
              </a:rPr>
              <a:t> 다섯 seed, 지형마다 1,000 에피소드다. 성공률은 명령대로 갔다면 간 거리 대비 실제 진행 거리라서 100%는 사실상 닿을 수 없고, 넘어지면 남은 거리를 모두 잃는다.</a:t>
            </a:r>
          </a:p>
        </p:txBody>
      </p:sp>
      <p:sp>
        <p:nvSpPr>
          <p:cNvPr id="12" name="TextBox 11"/>
          <p:cNvSpPr txBox="1"/>
          <p:nvPr/>
        </p:nvSpPr>
        <p:spPr>
          <a:xfrm>
            <a:off x="609600" y="4625578"/>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6개(문단·식·그림)는 대시보드 리서치 탭의 "자세히: Watch Your Step의 학습 절차, 표, 공개 코드" 토글에 있다.</a:t>
            </a:r>
          </a:p>
        </p:txBody>
      </p:sp>
    </p:spTree>
  </p:cSld>
  <p:clrMapOvr>
    <a:masterClrMapping/>
  </p:clrMapOvr>
</p:sld>
</file>

<file path=ppt/slides/slide35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1/13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351 / 516</a:t>
            </a:r>
          </a:p>
        </p:txBody>
      </p:sp>
      <p:sp>
        <p:nvSpPr>
          <p:cNvPr id="5" name="TextBox 4"/>
          <p:cNvSpPr txBox="1"/>
          <p:nvPr/>
        </p:nvSpPr>
        <p:spPr>
          <a:xfrm>
            <a:off x="609600" y="1244600"/>
            <a:ext cx="10972800" cy="1298972"/>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동작 생성 + 동작 추종 휴머노이드(RSL) — 지형을 보는 diffusion이 0.5 s 기준 동작을 내고, RL 추종기가 그것을 걸러 따라간다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arXiv:2604.17335</a:t>
            </a:r>
            <a:r>
              <a:rPr sz="1050" b="0" i="0">
                <a:solidFill>
                  <a:srgbClr val="16213A"/>
                </a:solidFill>
                <a:latin typeface="Arial"/>
                <a:ea typeface="Malgun Gothic"/>
                <a:cs typeface="Malgun Gothic"/>
              </a:rPr>
              <a:t>, Z. Zhang·Wen·Xu·He·C. Li·Miki·Schwarke·C. Zhang·Peng·Hutter, ETH RSL과 Simon Fraser University, </a:t>
            </a:r>
            <a:r>
              <a:rPr sz="1050" b="0" i="0">
                <a:solidFill>
                  <a:srgbClr val="1D4ED8"/>
                </a:solidFill>
                <a:latin typeface="Arial"/>
                <a:ea typeface="Malgun Gothic"/>
                <a:cs typeface="Malgun Gothic"/>
                <a:hlinkClick r:id="rId4"/>
              </a:rPr>
              <a:t>RA-L 11(9) 2026</a:t>
            </a:r>
            <a:r>
              <a:rPr sz="1050" b="0" i="0">
                <a:solidFill>
                  <a:srgbClr val="16213A"/>
                </a:solidFill>
                <a:latin typeface="Arial"/>
                <a:ea typeface="Malgun Gothic"/>
                <a:cs typeface="Malgun Gothic"/>
              </a:rPr>
              <a:t>). Unitree G1이 상자 오르내리기, 허들 넘기, 계단, 섞인 지형을 손과 무릎까지 쓰며 지나간다. 사람 동작 약 5분(영상 복원과 공개 데이터)을 리타기팅하고, 지형을 바꿔 가며 늘려 약 1시간의 데이터로 만든다. 이 데이터로 지형을 보는 diffusion 동작 생성기와 RL 추종기를 따로 사전 학습한다. 마지막에 생성기를 고정하고, 폐루프에서 추종기만 RL로 미세 조정한다. 미세 조정한 추종기는 '동작 필터'가 되어, 생성기의 기준이 위험하면 높이 스캔을 보고 실행을 바꾼다. 생성기는 denoising 2스텝으로 Jetson Thor에서 약 0.02 s(TensorRT)에 돌고, 0.5 s 지평을 0.25 s마다 갱신한다. 지형은 MID-360 LiDAR, DLIO(direct LiDAR-inertial odometry) 자세 추정, elevation_mapping_cupy로 만든다. 시뮬레이션 500대씩의 비교(표 III)에서 고정 기준만 따르는 추종기는 80 cm 상자에서 성공률 0.230, 생성기를 붙인 전체는 0.962였다.</a:t>
            </a:r>
          </a:p>
        </p:txBody>
      </p:sp>
      <p:sp>
        <p:nvSpPr>
          <p:cNvPr id="6" name="TextBox 5"/>
          <p:cNvSpPr txBox="1"/>
          <p:nvPr/>
        </p:nvSpPr>
        <p:spPr>
          <a:xfrm>
            <a:off x="609600" y="2632472"/>
            <a:ext cx="10972800" cy="108247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생성기와 추종기를 나눈 것이 travplan의 Planner와 Controller 분리와 같고, 높이 지도 코어도 travplan L1(TP-0053)과 같다. 두 층을 맞추는 방향은 RobotMDM과 반대다. RobotMDM은 생성기를 추종기에 맞추고, 이 논문은 고정한 생성기 앞에서 추종기를 학습한다. 미세 조정한 추종기는 다섯 지형 과제 모두에서 성공률이 올랐고, 어려운 높이일수록 차이가 컸다(원문 그림 4). travplan은 지금까지 이 맞춤을 손으로 했다. Planner D를 그대로 두고 MPPI 시간 참조에 진행 항을 더해 8/12를 12/12로 만든 것(B.8.3)이 추종기를 생성기에 맞춘 쪽이다. 학습 Controller(TP-0128)를 Planner D 위에서 키울 때는 생성기를 고정하고 그 출력의 잡음과 끊김을 그대로 보여 주는 이 절차가 출발점이다. 계획을 매 스텝 다시 풀면 추종이 쉬워지는 함정(B.14.2의 DTC)도 함께 본다.</a:t>
            </a:r>
          </a:p>
        </p:txBody>
      </p:sp>
    </p:spTree>
  </p:cSld>
  <p:clrMapOvr>
    <a:masterClrMapping/>
  </p:clrMapOvr>
</p:sld>
</file>

<file path=ppt/slides/slide35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2/13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352 / 516</a:t>
            </a:r>
          </a:p>
        </p:txBody>
      </p:sp>
      <p:pic>
        <p:nvPicPr>
          <p:cNvPr id="5" name="Picture 4" descr="image.jpg"/>
          <p:cNvPicPr>
            <a:picLocks noChangeAspect="1"/>
          </p:cNvPicPr>
          <p:nvPr/>
        </p:nvPicPr>
        <p:blipFill>
          <a:blip r:embed="rId3"/>
          <a:stretch>
            <a:fillRect/>
          </a:stretch>
        </p:blipFill>
        <p:spPr>
          <a:xfrm>
            <a:off x="2463800" y="1244600"/>
            <a:ext cx="7264400" cy="4445000"/>
          </a:xfrm>
          <a:prstGeom prst="rect">
            <a:avLst/>
          </a:prstGeom>
        </p:spPr>
      </p:pic>
      <p:sp>
        <p:nvSpPr>
          <p:cNvPr id="6" name="TextBox 5"/>
          <p:cNvSpPr txBox="1"/>
          <p:nvPr/>
        </p:nvSpPr>
        <p:spPr>
          <a:xfrm>
            <a:off x="2463800" y="5727700"/>
            <a:ext cx="72644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동작 생성 + 동작 추종 휴머노이드 (Fig. 3): 실물 G1이다. (A) 상자를 정면으로, 오른 뒤 90° 돌아 옆으로, 모서리로 오르내린다. (B) 계단과 연속 허들. (C) 목표로 가려고 상자를 옆으로 돌아간다. (D) 허들, 계단, 상자가 섞인 지형. 출처: arXiv:2604.17335</a:t>
            </a:r>
          </a:p>
        </p:txBody>
      </p:sp>
    </p:spTree>
  </p:cSld>
  <p:clrMapOvr>
    <a:masterClrMapping/>
  </p:clrMapOvr>
</p:sld>
</file>

<file path=ppt/slides/slide35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3/13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353 / 516</a:t>
            </a:r>
          </a:p>
        </p:txBody>
      </p:sp>
      <p:sp>
        <p:nvSpPr>
          <p:cNvPr id="5" name="TextBox 4"/>
          <p:cNvSpPr txBox="1"/>
          <p:nvPr/>
        </p:nvSpPr>
        <p:spPr>
          <a:xfrm>
            <a:off x="609600" y="1244600"/>
            <a:ext cx="10972800" cy="1948458"/>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Ascento — 두 바퀴로 균형을 잡고 다리로 뛰는 로봇, 연구실 과제에서 경비 로봇 회사까지</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arXiv:2005.11435</a:t>
            </a:r>
            <a:r>
              <a:rPr sz="1050" b="0" i="0">
                <a:solidFill>
                  <a:srgbClr val="16213A"/>
                </a:solidFill>
                <a:latin typeface="Arial"/>
                <a:ea typeface="Malgun Gothic"/>
                <a:cs typeface="Malgun Gothic"/>
              </a:rPr>
              <a:t>, Klemm·Morra·Salzmann(공동 1저자) 외, ETH Autonomous Systems Lab(ASL, Siegwart), ICRA 2019; 전신 제어 </a:t>
            </a:r>
            <a:r>
              <a:rPr sz="1050" b="0" i="0">
                <a:solidFill>
                  <a:srgbClr val="1D4ED8"/>
                </a:solidFill>
                <a:latin typeface="Arial"/>
                <a:ea typeface="Malgun Gothic"/>
                <a:cs typeface="Malgun Gothic"/>
                <a:hlinkClick r:id="rId4"/>
              </a:rPr>
              <a:t>arXiv:2005.11431</a:t>
            </a:r>
            <a:r>
              <a:rPr sz="1050" b="0" i="0">
                <a:solidFill>
                  <a:srgbClr val="16213A"/>
                </a:solidFill>
                <a:latin typeface="Arial"/>
                <a:ea typeface="Malgun Gothic"/>
                <a:cs typeface="Malgun Gothic"/>
              </a:rPr>
              <a:t>, RA-L 2020; RL 계단 </a:t>
            </a:r>
            <a:r>
              <a:rPr sz="1050" b="0" i="0">
                <a:solidFill>
                  <a:srgbClr val="1D4ED8"/>
                </a:solidFill>
                <a:latin typeface="Arial"/>
                <a:ea typeface="Malgun Gothic"/>
                <a:cs typeface="Malgun Gothic"/>
                <a:hlinkClick r:id="rId5"/>
              </a:rPr>
              <a:t>arXiv:2402.06143</a:t>
            </a:r>
            <a:r>
              <a:rPr sz="1050" b="0" i="0">
                <a:solidFill>
                  <a:srgbClr val="16213A"/>
                </a:solidFill>
                <a:latin typeface="Arial"/>
                <a:ea typeface="Malgun Gothic"/>
                <a:cs typeface="Malgun Gothic"/>
              </a:rPr>
              <a:t>, Chamorro·Klemm·de la Iglesia Valls·Pal·Siegwart, ICRA 2024; 회사 </a:t>
            </a:r>
            <a:r>
              <a:rPr sz="1050" b="0" i="0">
                <a:solidFill>
                  <a:srgbClr val="1D4ED8"/>
                </a:solidFill>
                <a:latin typeface="Arial"/>
                <a:ea typeface="Malgun Gothic"/>
                <a:cs typeface="Malgun Gothic"/>
                <a:hlinkClick r:id="rId6"/>
              </a:rPr>
              <a:t>ascento.ai</a:t>
            </a:r>
            <a:r>
              <a:rPr sz="1050" b="0" i="0">
                <a:solidFill>
                  <a:srgbClr val="16213A"/>
                </a:solidFill>
                <a:latin typeface="Arial"/>
                <a:ea typeface="Malgun Gothic"/>
                <a:cs typeface="Malgun Gothic"/>
              </a:rPr>
              <a:t>). 다리 끝마다 허브 모터 바퀴가 달린 두 바퀴 균형 로봇이다. ICRA 2019 판은 10.4 kg, 높이 31–66 cm, 최고 8 km/h이고 최대 0.4 m를 뛴다(표 II). 다리 링크는 위상 최적화로 설계해 3D 프린팅했고, 바퀴가 무게중심을 지나는 직선에 가깝게 움직여 뛰어도 몸통이 돌지 않는다. 균형과 주행은 LQR(linear quadratic regulator)이, 점프와 넘어진 뒤 일어서기는 단계별 앞먹임과 되먹임이 맡는다. RL 계단 논문은 이 로봇으로 15 cm 단을 올랐다. 저자들은 이 판의 Ascento가 어떤 제어기로도 이 높이를 오르지 못했다고 적는다. 속도 대신 목표 위치를 명령하는 정식화(Rudin 2022, B.14.2)와 계단 모드를 켜는 이진 관측을 썼고, 단은 고유감각으로 부딪혀 알아챈다. 지연 무작위화가 없으면 관절 속도가 15 rad/s까지 튀며 떨렸고, 넣으면 1.5 rad/s 아래로 매끄럽게 올랐다. Ascento 논문들의 공저자 넷(Morra·de la Iglesia Valls·Salzmann·Mannhart)은 Ascento Robotics를 세웠다. 회사는 바퀴·다리 야외 경비 로봇 Ascento Guard를 로봇 서비스(robotics-as-a-service)로 판다(회사 페이지). 1저자 Klemm은 회사의 로봇 자문이다. RSL 소속으로는 수동 인라인 스케이트를 신은 휴머노이드(Booster T1, </a:t>
            </a:r>
            <a:r>
              <a:rPr sz="1050" b="0" i="0">
                <a:solidFill>
                  <a:srgbClr val="1D4ED8"/>
                </a:solidFill>
                <a:latin typeface="Arial"/>
                <a:ea typeface="Malgun Gothic"/>
                <a:cs typeface="Malgun Gothic"/>
                <a:hlinkClick r:id="rId7"/>
              </a:rPr>
              <a:t>arXiv:2606.31807</a:t>
            </a:r>
            <a:r>
              <a:rPr sz="1050" b="0" i="0">
                <a:solidFill>
                  <a:srgbClr val="16213A"/>
                </a:solidFill>
                <a:latin typeface="Arial"/>
                <a:ea typeface="Malgun Gothic"/>
                <a:cs typeface="Malgun Gothic"/>
              </a:rPr>
              <a:t>, IROS 2026)도 공저했다. 그 정책은 사람 동작 없이 보상만으로 날을 밀어 나아가며, 걷기보다 수송 비용이 최대 50% 낮다.</a:t>
            </a:r>
          </a:p>
        </p:txBody>
      </p:sp>
      <p:sp>
        <p:nvSpPr>
          <p:cNvPr id="6" name="TextBox 5"/>
          <p:cNvSpPr txBox="1"/>
          <p:nvPr/>
        </p:nvSpPr>
        <p:spPr>
          <a:xfrm>
            <a:off x="609600" y="3281958"/>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바퀴 로봇이 턱을 넘는 다른 해법이다. travplan 스워브는 턱 한계(0.08 m)를 넘는 칸을 피해야 하지만, Ascento는 다리로 바퀴를 들어 15 cm를 오른다. 옮길 것은 학습 쪽 교훈 둘이다. 하나는 지연을 학습에 넣지 않은 정책이 실물에서 떨렸다는 것이다. 바퀴 plant의 지연을 MPPI rollout에 넣자 치명 실패가 55회에서 4회로 준 TP-0150과 같은 방향이다. 다만 Ascento는 학습 때 지연을 무작위로 넣었고, TP-0150은 예측 모델에 지연을 넣었다. 다른 하나는 속도 대신 위치를 명령하면 정책이 장애물 앞에서 속도를 스스로 고른다는 것이다. B.15.2에서 같은 Guidance 경로를 시간 없이 넘기자 MPPI가 한 칸 폭의 통로를 지난 관찰과 같은 방향이다. 다만 B.15.2의 원인 분석은 아직 추정이다.</a:t>
            </a:r>
          </a:p>
        </p:txBody>
      </p:sp>
    </p:spTree>
  </p:cSld>
  <p:clrMapOvr>
    <a:masterClrMapping/>
  </p:clrMapOvr>
</p:sld>
</file>

<file path=ppt/slides/slide35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4/13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354 / 516</a:t>
            </a:r>
          </a:p>
        </p:txBody>
      </p:sp>
      <p:pic>
        <p:nvPicPr>
          <p:cNvPr id="5" name="Picture 4" descr="image.jpg"/>
          <p:cNvPicPr>
            <a:picLocks noChangeAspect="1"/>
          </p:cNvPicPr>
          <p:nvPr/>
        </p:nvPicPr>
        <p:blipFill>
          <a:blip r:embed="rId3"/>
          <a:stretch>
            <a:fillRect/>
          </a:stretch>
        </p:blipFill>
        <p:spPr>
          <a:xfrm>
            <a:off x="1762125" y="1244600"/>
            <a:ext cx="8667750" cy="4445000"/>
          </a:xfrm>
          <a:prstGeom prst="rect">
            <a:avLst/>
          </a:prstGeom>
        </p:spPr>
      </p:pic>
      <p:sp>
        <p:nvSpPr>
          <p:cNvPr id="6" name="TextBox 5"/>
          <p:cNvSpPr txBox="1"/>
          <p:nvPr/>
        </p:nvSpPr>
        <p:spPr>
          <a:xfrm>
            <a:off x="1762125" y="5727700"/>
            <a:ext cx="8667750" cy="142180"/>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Ascento (Fig. 1): ICRA 2019 시점의 시제품이다. 붉은 위상 최적화 다리 끝에 허브 모터 바퀴가 달렸고, 몸통은 짙은 회색이다. 출처: arXiv:2005.11435</a:t>
            </a:r>
          </a:p>
        </p:txBody>
      </p:sp>
    </p:spTree>
  </p:cSld>
  <p:clrMapOvr>
    <a:masterClrMapping/>
  </p:clrMapOvr>
</p:sld>
</file>

<file path=ppt/slides/slide35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5/13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355 / 516</a:t>
            </a:r>
          </a:p>
        </p:txBody>
      </p:sp>
      <p:sp>
        <p:nvSpPr>
          <p:cNvPr id="5" name="TextBox 4"/>
          <p:cNvSpPr txBox="1"/>
          <p:nvPr/>
        </p:nvSpPr>
        <p:spPr>
          <a:xfrm>
            <a:off x="609600" y="1244600"/>
            <a:ext cx="10972800" cy="151546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LEVA — 조향 바퀴를 단 다리 네 개로 계단을 오르고, 상자를 스스로 싣는 물류 로봇</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arXiv:2503.10028</a:t>
            </a:r>
            <a:r>
              <a:rPr sz="1050" b="0" i="0">
                <a:solidFill>
                  <a:srgbClr val="16213A"/>
                </a:solidFill>
                <a:latin typeface="Arial"/>
                <a:ea typeface="Malgun Gothic"/>
                <a:cs typeface="Malgun Gothic"/>
              </a:rPr>
              <a:t>, Arnold 외 17명, ETH RSL과 취리히 응용과학대(ZHAW), </a:t>
            </a:r>
            <a:r>
              <a:rPr sz="1050" b="0" i="0">
                <a:solidFill>
                  <a:srgbClr val="1D4ED8"/>
                </a:solidFill>
                <a:latin typeface="Arial"/>
                <a:ea typeface="Malgun Gothic"/>
                <a:cs typeface="Malgun Gothic"/>
                <a:hlinkClick r:id="rId4"/>
              </a:rPr>
              <a:t>ICRA 2025</a:t>
            </a:r>
            <a:r>
              <a:rPr sz="1050" b="0" i="0">
                <a:solidFill>
                  <a:srgbClr val="16213A"/>
                </a:solidFill>
                <a:latin typeface="Arial"/>
                <a:ea typeface="Malgun Gothic"/>
                <a:cs typeface="Malgun Gothic"/>
              </a:rPr>
              <a:t>). 다리 넷은 각각 4자유도이고, 평면으로 움직이는 다리 끝에 조향 축이 달린 바퀴(반지름 14 cm)를 달았다. 조향 축은 바퀴 접지점에서 비켜 있다(비동축). 로봇은 85 kg이고, 길이 1.2 m, 폭 0.75 m, 굴림 높이 0.6–0.9 m다. 평지에서는 역기구학 굴림 제어기가 몸체 속도 명령에서 조향각과 바퀴 속도를 계산한다. 조향하는 동안 바퀴가 끌리지 않게 바퀴 속도를 보정하고, 케이블 때문에 조향 범위가 막혀 있어 해가 여럿이면 지금 각에서 가까운 해를 고르되 조향 한계에서 먼 각 쪽으로 치우친다. 계단은 RL 제어기가 맡는다. Orbit(B.16.1)에서 rsl_rl로 학습했고, 교사–학생 구조와 계단 여부를 알리는 이진 관측(Ascento 계단 논문의 방식)을 썼다. 시뮬레이터가 타이어 미끄럼을 현실적으로 내지 못해 바퀴 축 방향 속도를 벌했고, 개체의 10%는 행동 잡음을 0으로 두었다. 저자도 잡음 끄기는 검증이 더 필요한 휴리스틱이라고 적었다. 상자 싣고 내리기 50회 연속(짐 0–70 kg)은 86% 성공했고, 구동기·카메라 연결 고장 6회를 빼면 97.7%다. 수송 비용은 다리로 버틸 때 0.23, 다리를 범프 스톱에 얹으면 0.15다. 30° 경사와 15 cm 연석·팔레트는 굴림 제어기만으로 넘었다.</a:t>
            </a:r>
          </a:p>
        </p:txBody>
      </p:sp>
      <p:sp>
        <p:nvSpPr>
          <p:cNvPr id="6" name="TextBox 5"/>
          <p:cNvSpPr txBox="1"/>
          <p:nvPr/>
        </p:nvSpPr>
        <p:spPr>
          <a:xfrm>
            <a:off x="609600" y="2848967"/>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RSL 계열에서 travplan 로봇과 가장 닮은 기구다. 비동축 조향 바퀴 넷이고, 짐을 싣고, 연석과 경사가 과제다. 굴림 제어기의 두 규칙은 travplan plant(TP-0034, </a:t>
            </a:r>
            <a:r>
              <a:rPr sz="1050" b="0" i="0">
                <a:solidFill>
                  <a:srgbClr val="16213A"/>
                </a:solidFill>
                <a:latin typeface="Consolas"/>
                <a:ea typeface="Malgun Gothic"/>
                <a:cs typeface="Malgun Gothic"/>
              </a:rPr>
              <a:t>robot/plant.py</a:t>
            </a:r>
            <a:r>
              <a:rPr sz="1050" b="0" i="0">
                <a:solidFill>
                  <a:srgbClr val="16213A"/>
                </a:solidFill>
                <a:latin typeface="Arial"/>
                <a:ea typeface="Malgun Gothic"/>
                <a:cs typeface="Malgun Gothic"/>
              </a:rPr>
              <a:t>)와 맞대 볼 수 있다. plant는 바퀴를 앞으로 굴리는 해와 180° 돌려 뒤로 굴리는 해 가운데 지금 각에서 조향이 덜 필요한 쪽을 고른 뒤, 조향 범위(±56.2°)로 자른다. LEVA는 해를 고를 때부터 조향 한계에서 먼 각 쪽으로 치우친다. 조향 중 바퀴 속도 보정은 plant에도 선택 항목(</a:t>
            </a:r>
            <a:r>
              <a:rPr sz="1050" b="0" i="0">
                <a:solidFill>
                  <a:srgbClr val="16213A"/>
                </a:solidFill>
                <a:latin typeface="Consolas"/>
                <a:ea typeface="Malgun Gothic"/>
                <a:cs typeface="Malgun Gothic"/>
              </a:rPr>
              <a:t>scrub_compensation</a:t>
            </a:r>
            <a:r>
              <a:rPr sz="1050" b="0" i="0">
                <a:solidFill>
                  <a:srgbClr val="16213A"/>
                </a:solidFill>
                <a:latin typeface="Arial"/>
                <a:ea typeface="Malgun Gothic"/>
                <a:cs typeface="Malgun Gothic"/>
              </a:rPr>
              <a:t>)으로 있고, 기본값은 끔이다. RL 쪽 두 요령(바퀴 축 방향 속도 벌점과 일부 개체의 행동 잡음 끄기)은 학습 Controller를 물리 시뮬레이터(Isaac)에서 PPO로 학습할 때 쓸 것이다. 지금 </a:t>
            </a:r>
            <a:r>
              <a:rPr sz="1050" b="0" i="0">
                <a:solidFill>
                  <a:srgbClr val="16213A"/>
                </a:solidFill>
                <a:latin typeface="Consolas"/>
                <a:ea typeface="Malgun Gothic"/>
                <a:cs typeface="Malgun Gothic"/>
              </a:rPr>
              <a:t>TinyPolicy</a:t>
            </a:r>
            <a:r>
              <a:rPr sz="1050" b="0" i="0">
                <a:solidFill>
                  <a:srgbClr val="16213A"/>
                </a:solidFill>
                <a:latin typeface="Arial"/>
                <a:ea typeface="Malgun Gothic"/>
                <a:cs typeface="Malgun Gothic"/>
              </a:rPr>
              <a:t>(TP-0128)는 운동학 시뮬에서 진화 전략으로 학습하므로 해당하지 않는다.</a:t>
            </a:r>
          </a:p>
        </p:txBody>
      </p:sp>
    </p:spTree>
  </p:cSld>
  <p:clrMapOvr>
    <a:masterClrMapping/>
  </p:clrMapOvr>
</p:sld>
</file>

<file path=ppt/slides/slide35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6/13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356 / 516</a:t>
            </a:r>
          </a:p>
        </p:txBody>
      </p:sp>
      <p:pic>
        <p:nvPicPr>
          <p:cNvPr id="5" name="Picture 4" descr="image.jpg"/>
          <p:cNvPicPr>
            <a:picLocks noChangeAspect="1"/>
          </p:cNvPicPr>
          <p:nvPr/>
        </p:nvPicPr>
        <p:blipFill>
          <a:blip r:embed="rId3"/>
          <a:stretch>
            <a:fillRect/>
          </a:stretch>
        </p:blipFill>
        <p:spPr>
          <a:xfrm>
            <a:off x="3556000" y="1244600"/>
            <a:ext cx="5080000" cy="3810000"/>
          </a:xfrm>
          <a:prstGeom prst="rect">
            <a:avLst/>
          </a:prstGeom>
        </p:spPr>
      </p:pic>
      <p:sp>
        <p:nvSpPr>
          <p:cNvPr id="6" name="TextBox 5"/>
          <p:cNvSpPr txBox="1"/>
          <p:nvPr/>
        </p:nvSpPr>
        <p:spPr>
          <a:xfrm>
            <a:off x="3556000" y="5092700"/>
            <a:ext cx="50800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LEVA (Fig. 1): 원문 캡션은 '여러 환경의 LEVA'다. 왼쪽 위는 계단을 오르는 모습, 왼쪽 아래는 풀밭에서 팔레트를 넘는 모습, 오른쪽 두 장은 회색 상자를 몸 아래에 실은 모습이다. 출처: arXiv:2503.10028</a:t>
            </a:r>
          </a:p>
        </p:txBody>
      </p:sp>
    </p:spTree>
  </p:cSld>
  <p:clrMapOvr>
    <a:masterClrMapping/>
  </p:clrMapOvr>
</p:sld>
</file>

<file path=ppt/slides/slide35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7/13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357 / 516</a:t>
            </a:r>
          </a:p>
        </p:txBody>
      </p:sp>
      <p:sp>
        <p:nvSpPr>
          <p:cNvPr id="5" name="TextBox 4"/>
          <p:cNvSpPr txBox="1"/>
          <p:nvPr/>
        </p:nvSpPr>
        <p:spPr>
          <a:xfrm>
            <a:off x="609600" y="1244600"/>
            <a:ext cx="10972800" cy="1731962"/>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RL + 모델 기반 제어(CRL) — 학습 중에 최적 제어로 기준 동작을 그때그때 만들어 RL이 따라 하게 한다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arXiv:2305.17842</a:t>
            </a:r>
            <a:r>
              <a:rPr sz="1050" b="0" i="0">
                <a:solidFill>
                  <a:srgbClr val="16213A"/>
                </a:solidFill>
                <a:latin typeface="Arial"/>
                <a:ea typeface="Malgun Gothic"/>
                <a:cs typeface="Malgun Gothic"/>
              </a:rPr>
              <a:t>, Kang·Cheng·Zamora·Zargarbashi·Coros, ETH Computational Robotics Lab, </a:t>
            </a:r>
            <a:r>
              <a:rPr sz="1050" b="0" i="0">
                <a:solidFill>
                  <a:srgbClr val="1D4ED8"/>
                </a:solidFill>
                <a:latin typeface="Arial"/>
                <a:ea typeface="Malgun Gothic"/>
                <a:cs typeface="Malgun Gothic"/>
                <a:hlinkClick r:id="rId4"/>
              </a:rPr>
              <a:t>RA-L 8(10) 2023</a:t>
            </a:r>
            <a:r>
              <a:rPr sz="1050" b="0" i="0">
                <a:solidFill>
                  <a:srgbClr val="16213A"/>
                </a:solidFill>
                <a:latin typeface="Arial"/>
                <a:ea typeface="Malgun Gothic"/>
                <a:cs typeface="Malgun Gothic"/>
              </a:rPr>
              <a:t>; 후속 RAMBO </a:t>
            </a:r>
            <a:r>
              <a:rPr sz="1050" b="0" i="0">
                <a:solidFill>
                  <a:srgbClr val="1D4ED8"/>
                </a:solidFill>
                <a:latin typeface="Arial"/>
                <a:ea typeface="Malgun Gothic"/>
                <a:cs typeface="Malgun Gothic"/>
                <a:hlinkClick r:id="rId5"/>
              </a:rPr>
              <a:t>arXiv:2504.06662</a:t>
            </a:r>
            <a:r>
              <a:rPr sz="1050" b="0" i="0">
                <a:solidFill>
                  <a:srgbClr val="16213A"/>
                </a:solidFill>
                <a:latin typeface="Arial"/>
                <a:ea typeface="Malgun Gothic"/>
                <a:cs typeface="Malgun Gothic"/>
              </a:rPr>
              <a:t>, Cheng·Kang·Fadini·Shi·Coros, </a:t>
            </a:r>
            <a:r>
              <a:rPr sz="1050" b="0" i="0">
                <a:solidFill>
                  <a:srgbClr val="1D4ED8"/>
                </a:solidFill>
                <a:latin typeface="Arial"/>
                <a:ea typeface="Malgun Gothic"/>
                <a:cs typeface="Malgun Gothic"/>
                <a:hlinkClick r:id="rId6"/>
              </a:rPr>
              <a:t>RA-L 10(9) 2025</a:t>
            </a:r>
            <a:r>
              <a:rPr sz="1050" b="0" i="0">
                <a:solidFill>
                  <a:srgbClr val="16213A"/>
                </a:solidFill>
                <a:latin typeface="Arial"/>
                <a:ea typeface="Malgun Gothic"/>
                <a:cs typeface="Malgun Gothic"/>
              </a:rPr>
              <a:t>). CRL(Computational Robotics Lab)은 ETH 컴퓨터과학과의 Stelian Coros 연구실이다. 이 논문은 가변 높이 역진자 모델의 유한 지평 최적 제어로 기준 동작을 만든다. 학습 에피소드마다 속도 명령과 걸음새(trot·pace·pronk·bound·gallop)를 뽑고, 그 명령에 맞는 기준을 미리 만든 데이터셋이 아니라 학습 중에 필요할 때마다 새로 만든다. RL 정책은 그 기준을 모방하고, 배치 때는 걸음 계획기와 정책만 로봇에 올린다. 단순 모델이 담지 못하는 몸통 회전과 고르지 않은 지형은 RL이 실제 동역학으로 메운다. 로봇마다 보상과 하이퍼파라미터를 바꾸지 않고 Unitree Go1(12 kg)과 Aliengo(22.6 kg)에 같은 틀을 썼고, 시뮬레이션에 30 ms 구동기 지연을 넣었다. 후속 RAMBO는 역할을 나눈다. 2차 계획(QP, quadratic program) 전신 제어기가 앞먹임 토크를 내고, RL 정책이 되먹임 보정을 더한다. Unitree Go2가 네 발과 두 발 자세에서 쇼핑 카트를 밀고, 접시를 받치고, 부드러운 물체를 든다. BDX 논문은 이 논문을 모델 기반 계획을 RL이 모방하는 선행으로 인용한다. Parkour in the Wild는 이 갈래가 MPC의 가정과 RL의 튜닝 부담을 함께 지닌다고 비판한다.</a:t>
            </a:r>
          </a:p>
        </p:txBody>
      </p:sp>
      <p:sp>
        <p:nvSpPr>
          <p:cNvPr id="6" name="TextBox 5"/>
          <p:cNvSpPr txBox="1"/>
          <p:nvPr/>
        </p:nvSpPr>
        <p:spPr>
          <a:xfrm>
            <a:off x="609600" y="3065462"/>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Planner D는 Guidance와 MPPI가 미리 만든 시연으로 학습한다(B.8.3의 첫 판은 32,768개). RL 후학습(TP-0066)에서도 고정된 시연 데이터로 모방 손실(λ = 0.5)을 건다. 이 논문은 기준을 데이터셋으로 미리 만들지 않고, 학습이 뽑은 명령마다 교사를 다시 불러 만든다. RL 후학습은 라운드마다 새 지형 64개를 뽑으므로, 모방 목표도 그 지형에서 Guidance와 MPPI를 다시 돌려 만들 수 있다. 그러면 모방 항이 RL rollout과 같은 지형 분포를 본다. 방문한 상태에 라벨을 붙이는 DAgger(TP-0075)와는 다른 처방이다. RAMBO와 travplan의 GP 잔차(TP-0068)는 명목 모델 위에 학습 보정을 얹는 점은 같지만, TP-0068은 예측 모델을 고치고 RAMBO는 제어 출력을 고친다.</a:t>
            </a:r>
          </a:p>
        </p:txBody>
      </p:sp>
    </p:spTree>
  </p:cSld>
  <p:clrMapOvr>
    <a:masterClrMapping/>
  </p:clrMapOvr>
</p:sld>
</file>

<file path=ppt/slides/slide35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8/13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358 / 516</a:t>
            </a:r>
          </a:p>
        </p:txBody>
      </p:sp>
      <p:pic>
        <p:nvPicPr>
          <p:cNvPr id="5" name="Picture 4" descr="image.jpg"/>
          <p:cNvPicPr>
            <a:picLocks noChangeAspect="1"/>
          </p:cNvPicPr>
          <p:nvPr/>
        </p:nvPicPr>
        <p:blipFill>
          <a:blip r:embed="rId3"/>
          <a:stretch>
            <a:fillRect/>
          </a:stretch>
        </p:blipFill>
        <p:spPr>
          <a:xfrm>
            <a:off x="2822575" y="1244600"/>
            <a:ext cx="6546850" cy="4445000"/>
          </a:xfrm>
          <a:prstGeom prst="rect">
            <a:avLst/>
          </a:prstGeom>
        </p:spPr>
      </p:pic>
      <p:sp>
        <p:nvSpPr>
          <p:cNvPr id="6" name="TextBox 5"/>
          <p:cNvSpPr txBox="1"/>
          <p:nvPr/>
        </p:nvSpPr>
        <p:spPr>
          <a:xfrm>
            <a:off x="2822575" y="5727700"/>
            <a:ext cx="654685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RL + Model-based Control (Fig. 1): 위 두 장은 Unitree Go1이다(발에 차여도 버티기, 흩어진 나무판 위 걷기). 아래 두 장은 Unitree Aliengo가 돌길과 풀밭을 걷는다. 출처: arXiv:2305.17842</a:t>
            </a:r>
          </a:p>
        </p:txBody>
      </p:sp>
    </p:spTree>
  </p:cSld>
  <p:clrMapOvr>
    <a:masterClrMapping/>
  </p:clrMapOvr>
</p:sld>
</file>

<file path=ppt/slides/slide35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9/13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359 / 516</a:t>
            </a:r>
          </a:p>
        </p:txBody>
      </p:sp>
      <p:sp>
        <p:nvSpPr>
          <p:cNvPr id="5" name="TextBox 4"/>
          <p:cNvSpPr txBox="1"/>
          <p:nvPr/>
        </p:nvSpPr>
        <p:spPr>
          <a:xfrm>
            <a:off x="609600" y="1244600"/>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FLD(Fourier Latent Dynamics) — 주기 동작을 위상·주파수·진폭·오프셋의 잠재 동역학으로 표현하고, 학습 분포 밖의 목표는 거부해 안전한 동작으로 되돌린다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arXiv:2402.13820</a:t>
            </a:r>
            <a:r>
              <a:rPr sz="1050" b="0" i="0">
                <a:solidFill>
                  <a:srgbClr val="16213A"/>
                </a:solidFill>
                <a:latin typeface="Arial"/>
                <a:ea typeface="Malgun Gothic"/>
                <a:cs typeface="Malgun Gothic"/>
              </a:rPr>
              <a:t>, C. Li·Stanger-Jones·Heim·S. Kim, MIT 기계공학과, ICLR 2024 spotlight). 1저자 Chenhao Li가 2023년 MIT Biomimetic Robotics Lab을 방문하며 한 연구라 소속 표기는 MIT다. 주기 오토인코더(PAE, periodic autoencoder)의 잠재를 한 걸음 더 밀었다. 구간 안에서 주파수 </a:t>
            </a:r>
            <a:r>
              <a:rPr sz="1050" b="0" i="1">
                <a:solidFill>
                  <a:srgbClr val="16213A"/>
                </a:solidFill>
                <a:latin typeface="Arial"/>
                <a:ea typeface="Malgun Gothic"/>
                <a:cs typeface="Malgun Gothic"/>
              </a:rPr>
              <a:t>f</a:t>
            </a:r>
            <a:r>
              <a:rPr sz="1050" b="0" i="0">
                <a:solidFill>
                  <a:srgbClr val="16213A"/>
                </a:solidFill>
                <a:latin typeface="Arial"/>
                <a:ea typeface="Malgun Gothic"/>
                <a:cs typeface="Malgun Gothic"/>
              </a:rPr>
              <a:t>·진폭 </a:t>
            </a:r>
            <a:r>
              <a:rPr sz="1050" b="0" i="1">
                <a:solidFill>
                  <a:srgbClr val="16213A"/>
                </a:solidFill>
                <a:latin typeface="Arial"/>
                <a:ea typeface="Malgun Gothic"/>
                <a:cs typeface="Malgun Gothic"/>
              </a:rPr>
              <a:t>a</a:t>
            </a:r>
            <a:r>
              <a:rPr sz="1050" b="0" i="0">
                <a:solidFill>
                  <a:srgbClr val="16213A"/>
                </a:solidFill>
                <a:latin typeface="Arial"/>
                <a:ea typeface="Malgun Gothic"/>
                <a:cs typeface="Malgun Gothic"/>
              </a:rPr>
              <a:t>·오프셋 </a:t>
            </a:r>
            <a:r>
              <a:rPr sz="1050" b="0" i="1">
                <a:solidFill>
                  <a:srgbClr val="16213A"/>
                </a:solidFill>
                <a:latin typeface="Arial"/>
                <a:ea typeface="Malgun Gothic"/>
                <a:cs typeface="Malgun Gothic"/>
              </a:rPr>
              <a:t>b</a:t>
            </a:r>
            <a:r>
              <a:rPr sz="1050" b="0" i="0">
                <a:solidFill>
                  <a:srgbClr val="16213A"/>
                </a:solidFill>
                <a:latin typeface="Arial"/>
                <a:ea typeface="Malgun Gothic"/>
                <a:cs typeface="Malgun Gothic"/>
              </a:rPr>
              <a:t>는 일정하고, 위상만 </a:t>
            </a:r>
            <a:r>
              <a:rPr sz="1050" b="0" i="1">
                <a:solidFill>
                  <a:srgbClr val="16213A"/>
                </a:solidFill>
                <a:latin typeface="Arial"/>
                <a:ea typeface="Malgun Gothic"/>
                <a:cs typeface="Malgun Gothic"/>
              </a:rPr>
              <a:t>φₜ₊ᵢ = φₜ + i f Δ t</a:t>
            </a:r>
            <a:r>
              <a:rPr sz="1050" b="0" i="0">
                <a:solidFill>
                  <a:srgbClr val="16213A"/>
                </a:solidFill>
                <a:latin typeface="Arial"/>
                <a:ea typeface="Malgun Gothic"/>
                <a:cs typeface="Malgun Gothic"/>
              </a:rPr>
              <a:t>로 나아간다고 강제한다. 손실은 여러 스텝 앞 예측 오차의 감쇠 합이다.</a:t>
            </a:r>
          </a:p>
        </p:txBody>
      </p:sp>
      <p:pic>
        <p:nvPicPr>
          <p:cNvPr id="6" name="Picture 5" descr="image.png"/>
          <p:cNvPicPr>
            <a:picLocks noChangeAspect="1"/>
          </p:cNvPicPr>
          <p:nvPr/>
        </p:nvPicPr>
        <p:blipFill>
          <a:blip r:embed="rId4"/>
          <a:stretch>
            <a:fillRect/>
          </a:stretch>
        </p:blipFill>
        <p:spPr>
          <a:xfrm>
            <a:off x="609600" y="2199481"/>
            <a:ext cx="2235200" cy="552450"/>
          </a:xfrm>
          <a:prstGeom prst="rect">
            <a:avLst/>
          </a:prstGeom>
        </p:spPr>
      </p:pic>
      <p:sp>
        <p:nvSpPr>
          <p:cNvPr id="7" name="TextBox 6"/>
          <p:cNvSpPr txBox="1"/>
          <p:nvPr/>
        </p:nvSpPr>
        <p:spPr>
          <a:xfrm>
            <a:off x="609600" y="2743895"/>
            <a:ext cx="10972800" cy="649486"/>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이 잠재 공간에서 동작 사이를 매끄럽게 보간하고, 추종 정책(Isaac Gym의 PPO)의 학습 목표를 학습 진척 기반 자동 커리큘럼(ALPGMM)으로 뽑는다. 실행 중 사용자가 새 목표 동작을 주면 같은 손실로 그 동작의 동역학이 학습 데이터와 닮았는지 잰다. 학습 통계로 정한 문턱 </a:t>
            </a:r>
            <a:r>
              <a:rPr sz="1050" b="0" i="1">
                <a:solidFill>
                  <a:srgbClr val="16213A"/>
                </a:solidFill>
                <a:latin typeface="Arial"/>
                <a:ea typeface="Malgun Gothic"/>
                <a:cs typeface="Malgun Gothic"/>
              </a:rPr>
              <a:t>ε_(FLD)</a:t>
            </a:r>
            <a:r>
              <a:rPr sz="1050" b="0" i="0">
                <a:solidFill>
                  <a:srgbClr val="16213A"/>
                </a:solidFill>
                <a:latin typeface="Arial"/>
                <a:ea typeface="Malgun Gothic"/>
                <a:cs typeface="Malgun Gothic"/>
              </a:rPr>
              <a:t>를 넘으면 거부하고, 직전 동작의 잠재를 계속 굴려 안전한 대안을 낸다. MIT Humanoid 시뮬레이션에서 학습 분포 밖의 회전 발차기를 거부하고 앞으로 걷기를 이어 갔다. 실물 실험은 없다.</a:t>
            </a:r>
          </a:p>
        </p:txBody>
      </p:sp>
      <p:sp>
        <p:nvSpPr>
          <p:cNvPr id="8" name="TextBox 7"/>
          <p:cNvSpPr txBox="1"/>
          <p:nvPr/>
        </p:nvSpPr>
        <p:spPr>
          <a:xfrm>
            <a:off x="609600" y="3482280"/>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Guidance 폴백(TP-0078)은 Planner D의 새 표본 가운데 치명 비율이 0.9 이상인 계획이 3번 이어질 때 켜진다. 결과(치명)를 보고 켜는 신호다. FLD는 '입력이 학습 분포 밖'이라는 신호로 폴백을 켠다. Planner D에도 분포 밖 신호를 따로 둘 수 있다. 다만 Planner D의 flow는 관측을 조건으로 궤적의 분포를 모델링하므로, 그 우도로는 관측 자체가 분포 밖인지 재지 못한다. TravMap 크롭을 재구성하는 작은 오토인코더의 오차처럼, 입력 쪽을 따로 모델링한 신호가 문턱을 넘으면 Guidance 경로를 후보로 올리는 식이다. FLD의 가정(구간 안에서 거의 일정한 주파수·진폭·오프셋)은 주기 동작에서 잘 맞고, 비주기 전환에서는 잠재 동역학을 정하기 어려워 재구성이 부정확해진다고 저자도 적었다.</a:t>
            </a:r>
          </a:p>
        </p:txBody>
      </p:sp>
    </p:spTree>
  </p:cSld>
  <p:clrMapOvr>
    <a:masterClrMapping/>
  </p:clrMapOvr>
</p:sld>
</file>

<file path=ppt/slides/slide36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10/13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360 / 516</a:t>
            </a:r>
          </a:p>
        </p:txBody>
      </p:sp>
      <p:pic>
        <p:nvPicPr>
          <p:cNvPr id="5" name="Picture 4" descr="image.jpg"/>
          <p:cNvPicPr>
            <a:picLocks noChangeAspect="1"/>
          </p:cNvPicPr>
          <p:nvPr/>
        </p:nvPicPr>
        <p:blipFill>
          <a:blip r:embed="rId3"/>
          <a:stretch>
            <a:fillRect/>
          </a:stretch>
        </p:blipFill>
        <p:spPr>
          <a:xfrm>
            <a:off x="1016000" y="1244600"/>
            <a:ext cx="10160000" cy="3981450"/>
          </a:xfrm>
          <a:prstGeom prst="rect">
            <a:avLst/>
          </a:prstGeom>
        </p:spPr>
      </p:pic>
      <p:sp>
        <p:nvSpPr>
          <p:cNvPr id="6" name="TextBox 5"/>
          <p:cNvSpPr txBox="1"/>
          <p:nvPr/>
        </p:nvSpPr>
        <p:spPr>
          <a:xfrm>
            <a:off x="1016000" y="5264150"/>
            <a:ext cx="101600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FLD (Fig. 2): 학습 때의 구조다. 기술 표본기가 잠재 파라미터 θ를, 균등분포가 초기 위상 φ를 뽑고, 잠재 동역학(LD)이 위상을 앞으로 민다. 둘은 사인 재구성과 복호기를 거쳐 목표 상태가 되고, 정책은 목표 상태와 측정 상태의 차이로 보상을 받는다. 출처: arXiv:2402.13820</a:t>
            </a:r>
          </a:p>
        </p:txBody>
      </p:sp>
    </p:spTree>
  </p:cSld>
  <p:clrMapOvr>
    <a:masterClrMapping/>
  </p:clrMapOvr>
</p:sld>
</file>

<file path=ppt/slides/slide36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11/13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361 / 516</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RWM(Robotic World Model) — 자기 예측을 다시 넣으며 학습한 world model 안에서 PPO로 정책을 학습해 ANYmal D와 G1에 올렸다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arXiv:2501.10100</a:t>
            </a:r>
            <a:r>
              <a:rPr sz="1050" b="0" i="0">
                <a:solidFill>
                  <a:srgbClr val="16213A"/>
                </a:solidFill>
                <a:latin typeface="Arial"/>
                <a:ea typeface="Malgun Gothic"/>
                <a:cs typeface="Malgun Gothic"/>
              </a:rPr>
              <a:t>, C. Li·Krause·Hutter, ETH AI Center·Learning &amp; Adaptive Systems Group·RSL, 2025-01, </a:t>
            </a:r>
            <a:r>
              <a:rPr sz="1050" b="0" i="0">
                <a:solidFill>
                  <a:srgbClr val="1D4ED8"/>
                </a:solidFill>
                <a:latin typeface="Arial"/>
                <a:ea typeface="Malgun Gothic"/>
                <a:cs typeface="Malgun Gothic"/>
                <a:hlinkClick r:id="rId4"/>
              </a:rPr>
              <a:t>코드 rsl_rl_rwm</a:t>
            </a:r>
            <a:r>
              <a:rPr sz="1050" b="0" i="0">
                <a:solidFill>
                  <a:srgbClr val="16213A"/>
                </a:solidFill>
                <a:latin typeface="Arial"/>
                <a:ea typeface="Malgun Gothic"/>
                <a:cs typeface="Malgun Gothic"/>
              </a:rPr>
              <a:t> BSD-3 형식; 후속 RWM-U </a:t>
            </a:r>
            <a:r>
              <a:rPr sz="1050" b="0" i="0">
                <a:solidFill>
                  <a:srgbClr val="1D4ED8"/>
                </a:solidFill>
                <a:latin typeface="Arial"/>
                <a:ea typeface="Malgun Gothic"/>
                <a:cs typeface="Malgun Gothic"/>
                <a:hlinkClick r:id="rId5"/>
              </a:rPr>
              <a:t>arXiv:2504.16680</a:t>
            </a:r>
            <a:r>
              <a:rPr sz="1050" b="0" i="0">
                <a:solidFill>
                  <a:srgbClr val="16213A"/>
                </a:solidFill>
                <a:latin typeface="Arial"/>
                <a:ea typeface="Malgun Gothic"/>
                <a:cs typeface="Malgun Gothic"/>
              </a:rPr>
              <a:t>). GRU 기반 world model이 관측과 행동의 이력 </a:t>
            </a:r>
            <a:r>
              <a:rPr sz="1050" b="0" i="1">
                <a:solidFill>
                  <a:srgbClr val="16213A"/>
                </a:solidFill>
                <a:latin typeface="Arial"/>
                <a:ea typeface="Malgun Gothic"/>
                <a:cs typeface="Malgun Gothic"/>
              </a:rPr>
              <a:t>M</a:t>
            </a:r>
            <a:r>
              <a:rPr sz="1050" b="0" i="0">
                <a:solidFill>
                  <a:srgbClr val="16213A"/>
                </a:solidFill>
                <a:latin typeface="Arial"/>
                <a:ea typeface="Malgun Gothic"/>
                <a:cs typeface="Malgun Gothic"/>
              </a:rPr>
              <a:t>스텝을 받아 다음 관측을 예측하고, 그 예측을 다시 입력에 넣으며 </a:t>
            </a:r>
            <a:r>
              <a:rPr sz="1050" b="0" i="1">
                <a:solidFill>
                  <a:srgbClr val="16213A"/>
                </a:solidFill>
                <a:latin typeface="Arial"/>
                <a:ea typeface="Malgun Gothic"/>
                <a:cs typeface="Malgun Gothic"/>
              </a:rPr>
              <a:t>N</a:t>
            </a:r>
            <a:r>
              <a:rPr sz="1050" b="0" i="0">
                <a:solidFill>
                  <a:srgbClr val="16213A"/>
                </a:solidFill>
                <a:latin typeface="Arial"/>
                <a:ea typeface="Malgun Gothic"/>
                <a:cs typeface="Malgun Gothic"/>
              </a:rPr>
              <a:t>스텝을 굴린다. 학습 손실도 이 굴림 위의 여러 스텝 오차이고, 접촉 같은 특권 정보도 함께 예측한다.</a:t>
            </a:r>
          </a:p>
        </p:txBody>
      </p:sp>
      <p:pic>
        <p:nvPicPr>
          <p:cNvPr id="6" name="Picture 5" descr="image.png"/>
          <p:cNvPicPr>
            <a:picLocks noChangeAspect="1"/>
          </p:cNvPicPr>
          <p:nvPr/>
        </p:nvPicPr>
        <p:blipFill>
          <a:blip r:embed="rId6"/>
          <a:stretch>
            <a:fillRect/>
          </a:stretch>
        </p:blipFill>
        <p:spPr>
          <a:xfrm>
            <a:off x="609600" y="1982986"/>
            <a:ext cx="3305175" cy="552450"/>
          </a:xfrm>
          <a:prstGeom prst="rect">
            <a:avLst/>
          </a:prstGeom>
        </p:spPr>
      </p:pic>
      <p:sp>
        <p:nvSpPr>
          <p:cNvPr id="7" name="TextBox 6"/>
          <p:cNvSpPr txBox="1"/>
          <p:nvPr/>
        </p:nvSpPr>
        <p:spPr>
          <a:xfrm>
            <a:off x="609600" y="2530971"/>
            <a:ext cx="10972800" cy="1298972"/>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teacher forcing은 </a:t>
            </a:r>
            <a:r>
              <a:rPr sz="1050" b="0" i="1">
                <a:solidFill>
                  <a:srgbClr val="16213A"/>
                </a:solidFill>
                <a:latin typeface="Arial"/>
                <a:ea typeface="Malgun Gothic"/>
                <a:cs typeface="Malgun Gothic"/>
              </a:rPr>
              <a:t>N = 1</a:t>
            </a:r>
            <a:r>
              <a:rPr sz="1050" b="0" i="0">
                <a:solidFill>
                  <a:srgbClr val="16213A"/>
                </a:solidFill>
                <a:latin typeface="Arial"/>
                <a:ea typeface="Malgun Gothic"/>
                <a:cs typeface="Malgun Gothic"/>
              </a:rPr>
              <a:t>인 특수한 경우다. 정책은 이 모델 안의 상상 rollout으로 PPO를 돌리는 MBPO-PPO(MBPO는 model-based policy optimization)로 학습했고, 100스텝 넘는 자기회귀 rollout에서도 안정적이었다. 1차 기울기를 쓰는 SHAC(short-horizon actor-critic)와 DreamerV3는 배치할 정책을 내지 못했다. 시뮬레이션 데이터로 미리 학습한 world model(전이 600만 개, 50분) 위에서 정책 학습은 5분이 걸렸다. 실물 속도 추종 보상은 0.90 ± 0.04였다. 고충실도 시뮬레이터에서 전이 2억 5천만 개로 10분 학습한 PPO(0.90 ± 0.03)와 같다. 그래도 저자들은 잘 맞춘 고충실도 시뮬레이터의 model-free RL에 아직 못 미친다고 적는다. RWM은 NeurIPS 2025 Embodied World Models for Decision Making 워크숍에서 우수 논문상을 받았다(저자 페이지). 후속 RWM-U는 모델(epistemic) 불확실성을 rollout 내내 전파한다. 그 불확실성만큼 보상을 깎는 MOPO-PPO(MOPO는 model-based offline policy optimization)로, 오프라인 데이터만으로 사족과 휴머노이드 정책을 학습했다.</a:t>
            </a:r>
          </a:p>
        </p:txBody>
      </p:sp>
      <p:sp>
        <p:nvSpPr>
          <p:cNvPr id="8" name="TextBox 7"/>
          <p:cNvSpPr txBox="1"/>
          <p:nvPr/>
        </p:nvSpPr>
        <p:spPr>
          <a:xfrm>
            <a:off x="609600" y="3918843"/>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TP-0126(학습 전방 동역학 모델을 MPPI rollout 모델로, 대기)을 학습할 때의 손실 설계다. 한 스텝 오차만 줄이면 MPPI의 40스텝(4 s) rollout에서 오차가 쌓인다. 저자 비교로는 예측을 다시 넣는 여러 스텝 손실로 학습하면 긴 rollout에서 오차가 덜 쌓였다. B.14.3의 FDM이 몇 초 앞을 예측하는 같은 연구실의 학습 동역학이다. travplan의 운동학 시뮬은 싸서 Planner D 후학습을 world model 안으로 옮길 이유는 없다. 이 계열이 쓸모 있는 곳은 실물 스워브 기록으로 plant를 맞출 때다. RWM-U의 불확실성 벌점은 GP σ로 보수성을 조절한 TP-0069와 같은 발상이다.</a:t>
            </a:r>
          </a:p>
        </p:txBody>
      </p:sp>
    </p:spTree>
  </p:cSld>
  <p:clrMapOvr>
    <a:masterClrMapping/>
  </p:clrMapOvr>
</p:sld>
</file>

<file path=ppt/slides/slide36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12/13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362 / 516</a:t>
            </a:r>
          </a:p>
        </p:txBody>
      </p:sp>
      <p:pic>
        <p:nvPicPr>
          <p:cNvPr id="5" name="Picture 4" descr="image.jpg"/>
          <p:cNvPicPr>
            <a:picLocks noChangeAspect="1"/>
          </p:cNvPicPr>
          <p:nvPr/>
        </p:nvPicPr>
        <p:blipFill>
          <a:blip r:embed="rId3"/>
          <a:stretch>
            <a:fillRect/>
          </a:stretch>
        </p:blipFill>
        <p:spPr>
          <a:xfrm>
            <a:off x="3657600" y="1244600"/>
            <a:ext cx="4876800" cy="4445000"/>
          </a:xfrm>
          <a:prstGeom prst="rect">
            <a:avLst/>
          </a:prstGeom>
        </p:spPr>
      </p:pic>
      <p:sp>
        <p:nvSpPr>
          <p:cNvPr id="6" name="TextBox 5"/>
          <p:cNvSpPr txBox="1"/>
          <p:nvPr/>
        </p:nvSpPr>
        <p:spPr>
          <a:xfrm>
            <a:off x="3657600" y="5727700"/>
            <a:ext cx="48768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RWM (Fig. 1): 환경마다 위 줄은 RWM이 자기회귀로 상상한 궤적, 아래 줄은 시뮬레이터의 참값이다. ANYmal D와 Unitree G1 묶음에는 셋째 줄에 실물 배치 장면이 있다. 출처: arXiv:2501.10100</a:t>
            </a:r>
          </a:p>
        </p:txBody>
      </p:sp>
    </p:spTree>
  </p:cSld>
  <p:clrMapOvr>
    <a:masterClrMapping/>
  </p:clrMapOvr>
</p:sld>
</file>

<file path=ppt/slides/slide36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13/13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363 / 516</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사람.</a:t>
            </a:r>
            <a:r>
              <a:rPr sz="1050" b="0" i="0">
                <a:solidFill>
                  <a:srgbClr val="16213A"/>
                </a:solidFill>
                <a:latin typeface="Arial"/>
                <a:ea typeface="Malgun Gothic"/>
                <a:cs typeface="Malgun Gothic"/>
              </a:rPr>
              <a:t> 이 소절의 연구와 회사를 잇는 사람만 적는다. 지금의 소속은 2026-10-07에 각 출처에서 확인했다.</a:t>
            </a:r>
          </a:p>
        </p:txBody>
      </p:sp>
      <p:graphicFrame>
        <p:nvGraphicFramePr>
          <p:cNvPr id="6" name="Table 5"/>
          <p:cNvGraphicFramePr>
            <a:graphicFrameLocks noGrp="1"/>
          </p:cNvGraphicFramePr>
          <p:nvPr/>
        </p:nvGraphicFramePr>
        <p:xfrm>
          <a:off x="609600" y="1549995"/>
          <a:ext cx="10966450" cy="2302032"/>
        </p:xfrm>
        <a:graphic>
          <a:graphicData uri="http://schemas.openxmlformats.org/drawingml/2006/table">
            <a:tbl>
              <a:tblPr firstRow="1" bandRow="1">
                <a:tableStyleId>{5C22544A-7EE6-4342-B048-85BDC9FD1C3A}</a:tableStyleId>
              </a:tblPr>
              <a:tblGrid>
                <a:gridCol w="2468364"/>
                <a:gridCol w="4089698"/>
                <a:gridCol w="4408388"/>
              </a:tblGrid>
              <a:tr h="197088">
                <a:tc>
                  <a:txBody>
                    <a:bodyPr wrap="square"/>
                    <a:lstStyle/>
                    <a:p>
                      <a:r>
                        <a:rPr sz="800" b="1" i="0">
                          <a:solidFill>
                            <a:srgbClr val="F4F1EA"/>
                          </a:solidFill>
                          <a:latin typeface="Arial"/>
                          <a:ea typeface="Malgun Gothic"/>
                          <a:cs typeface="Malgun Gothic"/>
                        </a:rPr>
                        <a:t>사람</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이 소절에서 남긴 것</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지금 소속</a:t>
                      </a:r>
                    </a:p>
                  </a:txBody>
                  <a:tcPr marL="63500" marR="63500" marT="12700" marB="12700">
                    <a:solidFill>
                      <a:srgbClr val="16213A"/>
                    </a:solidFill>
                  </a:tcPr>
                </a:tc>
              </a:tr>
              <a:tr h="317976">
                <a:tc>
                  <a:txBody>
                    <a:bodyPr wrap="square"/>
                    <a:lstStyle/>
                    <a:p>
                      <a:r>
                        <a:rPr sz="800" b="0" i="0">
                          <a:solidFill>
                            <a:srgbClr val="16213A"/>
                          </a:solidFill>
                          <a:latin typeface="Arial"/>
                          <a:ea typeface="Malgun Gothic"/>
                          <a:cs typeface="Malgun Gothic"/>
                        </a:rPr>
                        <a:t>Nikita Rudin, David Höller(Hoeller), Julian Nubert, Fabian Tischhauser, Marco Hutter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legged_gym·Parkour in the Wild(Rudin), ANYmal Parkour·Isaac Lab(Hoeller), ViPlanner(Nubert), Barry·PACE(Tischhauser), RSL을 이끈다(Hutter)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Flexion 공동 창업자 다섯. Rudin CEO, Höller CTO, Nubert 인식 팀 책임, Tischhauser 하드웨어 팀 책임, Hutter 자문(ETH 교수, RAI Institute 취리히 사무소 책임자) (Flexion 팀 페이지)</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Jean-Pierre Sleiman</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다접촉 로코매니퓰레이션 계획(Science Robotics 2023) 1저자, RAI Institute에서 Atlas RL 정책(ZEST, B.16.4)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Flexion 제어 팀 (Flexion 팀 페이지)</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Moritz Bächer, Ruben Grandia</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BDX·RobotMDM·Olaf의 마지막 저자(Bächer), BDX 1저자와 ETH 시절 인식 NMPC 1저자(Grandia)</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Disney Research Imagineering의 Associate Lab Director와 Research Scientist (Disney Research 연구자 페이지)</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Chong Zhang</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Risky Terrains·AME-2 1저자, Resilient Legged Local Navigation 공동 1저자, 구름사다리 휴머노이드 공저</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ETH RSL, ETH의 Secure, Reliable, and Intelligent Systems Lab, ETH AI Center (AME-2 v3 소속 표기, 2026-09)</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Chenhao Li</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FLD·RWM 1저자, 동작 생성 + 동작 추종 휴머노이드 공저</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ETH AI Center 박사 과정(Hutter·Krause 지도), 2026-04부터 Google DeepMind Gemini Robotics 팀 Student Researcher (개인 페이지)</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Stelian Coros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CRL을 이끈다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ETH 컴퓨터과학과 부교수 (CRL 페이지)</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Victor Klemm, Alessandro Morra, Miguel de la Iglesia Valls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Ascento 1저자(Klemm), Ascento 공저와 회사 창업(Morra·de la Iglesia Valls)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Ascento Robotics의 로봇 자문(Klemm), CEO(Morra), CTO(de la Iglesia Valls) (회사 페이지). Klemm은 2026 논문들에 RSL 소속을 적는다</a:t>
                      </a:r>
                    </a:p>
                  </a:txBody>
                  <a:tcPr marL="63500" marR="63500" marT="12700" marB="12700">
                    <a:solidFill>
                      <a:srgbClr val="FFFDF8"/>
                    </a:solidFill>
                  </a:tcPr>
                </a:tc>
              </a:tr>
            </a:tbl>
          </a:graphicData>
        </a:graphic>
      </p:graphicFrame>
      <p:sp>
        <p:nvSpPr>
          <p:cNvPr id="7" name="TextBox 6"/>
          <p:cNvSpPr txBox="1"/>
          <p:nvPr/>
        </p:nvSpPr>
        <p:spPr>
          <a:xfrm>
            <a:off x="717550" y="4522788"/>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B.16.4 RAI Institute와 Boston Dynamics: 학습 정책과 MPC를 어느 층에 둘 것인가</a:t>
            </a:r>
          </a:p>
        </p:txBody>
      </p:sp>
      <p:sp>
        <p:nvSpPr>
          <p:cNvPr id="8" name="TextBox 7"/>
          <p:cNvSpPr txBox="1"/>
          <p:nvPr/>
        </p:nvSpPr>
        <p:spPr>
          <a:xfrm>
            <a:off x="609600" y="4826000"/>
            <a:ext cx="10972800" cy="1298972"/>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RAI Institute와 Boston Dynamics는 같은 Spot과 Atlas 위에서 학습 정책과 MPC를 어느 층에 둘지 여러 배치를 시험했다.</a:t>
            </a:r>
            <a:r>
              <a:rPr sz="1050" b="0" i="0">
                <a:solidFill>
                  <a:srgbClr val="16213A"/>
                </a:solidFill>
                <a:latin typeface="Arial"/>
                <a:ea typeface="Malgun Gothic"/>
                <a:cs typeface="Malgun Gothic"/>
              </a:rPr>
              <a:t> Boston Dynamics는 Spot 4.0(2024)에서 RL 정책을 MPC 보행 제어기 위에 얹었고, RAI Institute는 MPC 없는 RL 정책으로 Spot을 5.2 m/s로 달리게 했다. Atlas에서는 Boston Dynamics가 TRI와 함께, 원격조종 시연으로 학습한 행동 모델을 MPC 위에 얹었다(2025). travplan에 가장 가까운 것은 RL로 학습한 하위 정책 위에서 샘플링 MPC가 실행 중에 명령을 찾는 배치이고, Sumo(2026)는 그 하위 정책을 rollout 안에 그대로 넣었다. RAI Institute는 2022-08 Hyundai Motor Group이 Boston Dynamics AI Institute로 세웠고, 2026-09에는 SoftBank가 인수하기로 합의했다는 업계 보도가 나왔다(이름과 소유의 변화는 아래 연표). travplan과 닿는 질문은 MPPI rollout이 아래 층의 닫힌 루프를 얼마나 알아야 하는가이다. 1차 지연만 넣은 travplan(TP-0150), 미끄럼 분포를 배운 EVORA, 실제 하위 정책과 물리를 굴린 Sumo가 그 축 위의 세 점이다.</a:t>
            </a:r>
          </a:p>
        </p:txBody>
      </p:sp>
    </p:spTree>
  </p:cSld>
  <p:clrMapOvr>
    <a:masterClrMapping/>
  </p:clrMapOvr>
</p:sld>
</file>

<file path=ppt/slides/slide36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자세히: 이 소절의 연구 목록(표 15행)</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364 / 516</a:t>
            </a:r>
          </a:p>
        </p:txBody>
      </p:sp>
      <p:sp>
        <p:nvSpPr>
          <p:cNvPr id="5" name="TextBox 4"/>
          <p:cNvSpPr txBox="1"/>
          <p:nvPr/>
        </p:nvSpPr>
        <p:spPr>
          <a:xfrm>
            <a:off x="609600" y="1244600"/>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1개(문단·식·그림)는 대시보드 리서치 탭의 "자세히: 이 소절의 연구 목록(표 15행)" 토글에 있다.</a:t>
            </a:r>
          </a:p>
        </p:txBody>
      </p:sp>
    </p:spTree>
  </p:cSld>
  <p:clrMapOvr>
    <a:masterClrMapping/>
  </p:clrMapOvr>
</p:sld>
</file>

<file path=ppt/slides/slide36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자세히: RAI Institute와 Boston Dynamics 연표(2022–2026)</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365 / 516</a:t>
            </a:r>
          </a:p>
        </p:txBody>
      </p:sp>
      <p:sp>
        <p:nvSpPr>
          <p:cNvPr id="5" name="TextBox 4"/>
          <p:cNvSpPr txBox="1"/>
          <p:nvPr/>
        </p:nvSpPr>
        <p:spPr>
          <a:xfrm>
            <a:off x="609600" y="1244600"/>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1개(문단·식·그림)는 대시보드 리서치 탭의 "자세히: RAI Institute와 Boston Dynamics 연표(2022–2026)" 토글에 있다.</a:t>
            </a:r>
          </a:p>
        </p:txBody>
      </p:sp>
    </p:spTree>
  </p:cSld>
  <p:clrMapOvr>
    <a:masterClrMapping/>
  </p:clrMapOvr>
</p:sld>
</file>

<file path=ppt/slides/slide36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1/4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366 / 516</a:t>
            </a:r>
          </a:p>
        </p:txBody>
      </p:sp>
      <p:sp>
        <p:nvSpPr>
          <p:cNvPr id="5" name="TextBox 4"/>
          <p:cNvSpPr txBox="1"/>
          <p:nvPr/>
        </p:nvSpPr>
        <p:spPr>
          <a:xfrm>
            <a:off x="609600" y="1244600"/>
            <a:ext cx="10972800" cy="2164953"/>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judo — MuJoCo로 굴리는 샘플링 MPC를 파이썬으로 짜고, 브라우저 GUI로 조율하고, 같은 제어기 코드로 실물에 올리는 도구 상자</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arXiv:2506.17184</a:t>
            </a:r>
            <a:r>
              <a:rPr sz="1050" b="0" i="0">
                <a:solidFill>
                  <a:srgbClr val="16213A"/>
                </a:solidFill>
                <a:latin typeface="Arial"/>
                <a:ea typeface="Malgun Gothic"/>
                <a:cs typeface="Malgun Gothic"/>
              </a:rPr>
              <a:t>, Li·Hung·Ames·Wang·Le Cléac'h·Culbertson, Caltech·RAI Institute, RSS 2025 워크숍, </a:t>
            </a:r>
            <a:r>
              <a:rPr sz="1050" b="0" i="0">
                <a:solidFill>
                  <a:srgbClr val="1D4ED8"/>
                </a:solidFill>
                <a:latin typeface="Arial"/>
                <a:ea typeface="Malgun Gothic"/>
                <a:cs typeface="Malgun Gothic"/>
                <a:hlinkClick r:id="rId4"/>
              </a:rPr>
              <a:t>확장판 PDF</a:t>
            </a:r>
            <a:r>
              <a:rPr sz="1050" b="0" i="0">
                <a:solidFill>
                  <a:srgbClr val="16213A"/>
                </a:solidFill>
                <a:latin typeface="Arial"/>
                <a:ea typeface="Malgun Gothic"/>
                <a:cs typeface="Malgun Gothic"/>
              </a:rPr>
              <a:t>는 RAI Institute 페이지가 ICRA 2026으로 표기, </a:t>
            </a:r>
            <a:r>
              <a:rPr sz="1050" b="0" i="0">
                <a:solidFill>
                  <a:srgbClr val="1D4ED8"/>
                </a:solidFill>
                <a:latin typeface="Arial"/>
                <a:ea typeface="Malgun Gothic"/>
                <a:cs typeface="Malgun Gothic"/>
                <a:hlinkClick r:id="rId5"/>
              </a:rPr>
              <a:t>코드</a:t>
            </a:r>
            <a:r>
              <a:rPr sz="1050" b="0" i="0">
                <a:solidFill>
                  <a:srgbClr val="16213A"/>
                </a:solidFill>
                <a:latin typeface="Arial"/>
                <a:ea typeface="Malgun Gothic"/>
                <a:cs typeface="Malgun Gothic"/>
              </a:rPr>
              <a:t> MIT, </a:t>
            </a:r>
            <a:r>
              <a:rPr sz="1050" b="0" i="0">
                <a:solidFill>
                  <a:srgbClr val="1D4ED8"/>
                </a:solidFill>
                <a:latin typeface="Arial"/>
                <a:ea typeface="Malgun Gothic"/>
                <a:cs typeface="Malgun Gothic"/>
                <a:hlinkClick r:id="rId6"/>
              </a:rPr>
              <a:t>문서</a:t>
            </a:r>
            <a:r>
              <a:rPr sz="1050" b="0" i="0">
                <a:solidFill>
                  <a:srgbClr val="16213A"/>
                </a:solidFill>
                <a:latin typeface="Arial"/>
                <a:ea typeface="Malgun Gothic"/>
                <a:cs typeface="Malgun Gothic"/>
              </a:rPr>
              <a:t>). MuJoCo MPC(MJPC, B.16.2)를 본뜬 파이썬 패키지이고, Sumo가 이 위에 섰다. 과제는 MuJoCo 모델과 보상을 정하고, 최적화기는 스플라인 매듭의 표집과 명목 매듭의 갱신을 정한다. 공개 코드에는 Predictive Sampling(PS), CEM, MPPI가 있다. 확장판 논문은 CMA-ES를 더해 비교했지만, 그 구현은 공개 저장소에 없다(2026-10-07 확인). rollout은 MuJoCo의 멀티스레드 C 구현(</a:t>
            </a:r>
            <a:r>
              <a:rPr sz="1050" b="0" i="0">
                <a:solidFill>
                  <a:srgbClr val="16213A"/>
                </a:solidFill>
                <a:latin typeface="Consolas"/>
                <a:ea typeface="Malgun Gothic"/>
                <a:cs typeface="Malgun Gothic"/>
              </a:rPr>
              <a:t>mujoco.rollout</a:t>
            </a:r>
            <a:r>
              <a:rPr sz="1050" b="0" i="0">
                <a:solidFill>
                  <a:srgbClr val="16213A"/>
                </a:solidFill>
                <a:latin typeface="Arial"/>
                <a:ea typeface="Malgun Gothic"/>
                <a:cs typeface="Malgun Gothic"/>
              </a:rPr>
              <a:t>)을 부르므로, 파이썬인데도 갱신 한 번이 C++ MJPC와 비슷하다. 확장판 표 III의 LEAP 손 정육면체 과제에서 갱신 한 번은 judo 28.7 ms, MJPC 32.4 ms였다. 조건은 AMD EPYC 9354, PS, 1,000스텝 평균이다. v0.0.7(2026-03)은 하위 정책이 있는 로봇을 위해 ONNX(Open Neural Network Exchange) 정책을 rollout 안에서 돌리는 C++ 확장을 더했다. v0.1.0(2026-04)은 MuJoCo Warp GPU 백엔드를 더했다. GUI는 viser 기반 브라우저 화면이고, 설정 데이터클래스의 필드가 슬라이더와 드롭다운으로 자동으로 바뀐다. 시뮬레이터, 시각화, 제어기는 비동기 노드로 나뉜다(기본 미들웨어는 dora). 시뮬 노드를 하드웨어 노드로 바꾸면 같은 제어기 코드가 실물에서 돈다. 확장판은 지평 뒤쪽 매듭일수록 잡음을 키우는 '잡음 ramp'가 모든 최적화기를 크게 낫게 했다고 적었지만, 그 수치는 싣지 않았다. 저자들은 이것이 DIAL-MPC의 행동 수준 담금질과 닮았다고 적는다. DIAL-MPC(CMU의 Xue 외, ICRA 2025)는 반복마다 잡음을 줄이고 지평 위치마다 잡음을 달리하는 두 겹의 담금질로 Go2의 관절 토크를 직접 찾는다(</a:t>
            </a:r>
            <a:r>
              <a:rPr sz="1050" b="0" i="0">
                <a:solidFill>
                  <a:srgbClr val="1D4ED8"/>
                </a:solidFill>
                <a:latin typeface="Arial"/>
                <a:ea typeface="Malgun Gothic"/>
                <a:cs typeface="Malgun Gothic"/>
                <a:hlinkClick r:id="rId7"/>
              </a:rPr>
              <a:t>arXiv:2409.15610</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8"/>
              </a:rPr>
              <a:t>코드</a:t>
            </a:r>
            <a:r>
              <a:rPr sz="1050" b="0" i="0">
                <a:solidFill>
                  <a:srgbClr val="16213A"/>
                </a:solidFill>
                <a:latin typeface="Arial"/>
                <a:ea typeface="Malgun Gothic"/>
                <a:cs typeface="Malgun Gothic"/>
              </a:rPr>
              <a:t> Apache-2.0).</a:t>
            </a:r>
          </a:p>
        </p:txBody>
      </p:sp>
      <p:sp>
        <p:nvSpPr>
          <p:cNvPr id="6" name="TextBox 5"/>
          <p:cNvSpPr txBox="1"/>
          <p:nvPr/>
        </p:nvSpPr>
        <p:spPr>
          <a:xfrm>
            <a:off x="609600" y="3498453"/>
            <a:ext cx="10972800" cy="108247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travplan의 MuJoCo plant 계획(MPC 문서 M.2)은 CPU 로봇 한 대로 시작해 MuJoCo Warp 배치로 넘어간다. judo의 두 백엔드가 같은 순서다. 스워브 MJCF가 생기면, 물리를 MPPI rollout 모델로 넣는 실험(TP-0124의 동역학 층)을 judo 과제 하나로 먼저 돌려 볼 수 있다. 가장 가까운 출발점은 judo의 </a:t>
            </a:r>
            <a:r>
              <a:rPr sz="1050" b="0" i="0">
                <a:solidFill>
                  <a:srgbClr val="16213A"/>
                </a:solidFill>
                <a:latin typeface="Consolas"/>
                <a:ea typeface="Malgun Gothic"/>
                <a:cs typeface="Malgun Gothic"/>
              </a:rPr>
              <a:t>spot_navigate</a:t>
            </a:r>
            <a:r>
              <a:rPr sz="1050" b="0" i="0">
                <a:solidFill>
                  <a:srgbClr val="16213A"/>
                </a:solidFill>
                <a:latin typeface="Arial"/>
                <a:ea typeface="Malgun Gothic"/>
                <a:cs typeface="Malgun Gothic"/>
              </a:rPr>
              <a:t> 과제다. 보행 정책을 rollout에 넣고 목표점까지 걷게 하며, 비용은 목표 거리(가중 60)와 넘어짐 벌점(2500)뿐이다. 바닥이 평면이라 지형은 travplan 쪽에서 넣어야 한다. judo의 보상은 numpy 함수 하나이고 travplan의 비용은 torch </a:t>
            </a:r>
            <a:r>
              <a:rPr sz="1050" b="0" i="0">
                <a:solidFill>
                  <a:srgbClr val="16213A"/>
                </a:solidFill>
                <a:latin typeface="Consolas"/>
                <a:ea typeface="Malgun Gothic"/>
                <a:cs typeface="Malgun Gothic"/>
              </a:rPr>
              <a:t>CostTerm</a:t>
            </a:r>
            <a:r>
              <a:rPr sz="1050" b="0" i="0">
                <a:solidFill>
                  <a:srgbClr val="16213A"/>
                </a:solidFill>
                <a:latin typeface="Arial"/>
                <a:ea typeface="Malgun Gothic"/>
                <a:cs typeface="Malgun Gothic"/>
              </a:rPr>
              <a:t> 목록이라, 옮기려면 비용 항을 다시 써야 한다. 잡음 ramp는 SMPPI(</a:t>
            </a:r>
            <a:r>
              <a:rPr sz="1050" b="0" i="0">
                <a:solidFill>
                  <a:srgbClr val="16213A"/>
                </a:solidFill>
                <a:latin typeface="Consolas"/>
                <a:ea typeface="Malgun Gothic"/>
                <a:cs typeface="Malgun Gothic"/>
              </a:rPr>
              <a:t>control/mppi/smooth.py</a:t>
            </a:r>
            <a:r>
              <a:rPr sz="1050" b="0" i="0">
                <a:solidFill>
                  <a:srgbClr val="16213A"/>
                </a:solidFill>
                <a:latin typeface="Arial"/>
                <a:ea typeface="Malgun Gothic"/>
                <a:cs typeface="Malgun Gothic"/>
              </a:rPr>
              <a:t>)처럼 </a:t>
            </a:r>
            <a:r>
              <a:rPr sz="1050" b="0" i="0">
                <a:solidFill>
                  <a:srgbClr val="16213A"/>
                </a:solidFill>
                <a:latin typeface="Consolas"/>
                <a:ea typeface="Malgun Gothic"/>
                <a:cs typeface="Malgun Gothic"/>
              </a:rPr>
              <a:t>_noise</a:t>
            </a:r>
            <a:r>
              <a:rPr sz="1050" b="0" i="0">
                <a:solidFill>
                  <a:srgbClr val="16213A"/>
                </a:solidFill>
                <a:latin typeface="Arial"/>
                <a:ea typeface="Malgun Gothic"/>
                <a:cs typeface="Malgun Gothic"/>
              </a:rPr>
              <a:t> 하나만 바꾸는 Controller로 시험할 수 있다. 수치 근거가 없고 TP-0130이 최적화기 쪽 여지가 작다고 보였으므로 우선순위는 낮다.</a:t>
            </a:r>
          </a:p>
        </p:txBody>
      </p:sp>
    </p:spTree>
  </p:cSld>
  <p:clrMapOvr>
    <a:masterClrMapping/>
  </p:clrMapOvr>
</p:sld>
</file>

<file path=ppt/slides/slide36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2/4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367 / 516</a:t>
            </a:r>
          </a:p>
        </p:txBody>
      </p:sp>
      <p:pic>
        <p:nvPicPr>
          <p:cNvPr id="5" name="Picture 4" descr="image.jpg"/>
          <p:cNvPicPr>
            <a:picLocks noChangeAspect="1"/>
          </p:cNvPicPr>
          <p:nvPr/>
        </p:nvPicPr>
        <p:blipFill>
          <a:blip r:embed="rId3"/>
          <a:stretch>
            <a:fillRect/>
          </a:stretch>
        </p:blipFill>
        <p:spPr>
          <a:xfrm>
            <a:off x="2428875" y="1244600"/>
            <a:ext cx="7334250" cy="4445000"/>
          </a:xfrm>
          <a:prstGeom prst="rect">
            <a:avLst/>
          </a:prstGeom>
        </p:spPr>
      </p:pic>
      <p:sp>
        <p:nvSpPr>
          <p:cNvPr id="6" name="TextBox 5"/>
          <p:cNvSpPr txBox="1"/>
          <p:nvPr/>
        </p:nvSpPr>
        <p:spPr>
          <a:xfrm>
            <a:off x="2428875" y="5727700"/>
            <a:ext cx="733425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judo (Fig. 1): 브라우저 GUI다. 오른쪽 패널의 드롭다운으로 과제(cartpole), 최적화기(cem), 스플라인 차수(zero)를 바꾸고, 지평과 제어 주기 같은 값은 슬라이더로 실행 중에 고친다. 왼쪽의 노란 곡선은 보상이 가장 높은 표본이, 자홍 곡선은 그다음 상위 표본들이 지평 동안 그리는 궤적(trace)이다. 출처: arXiv:2506.17184</a:t>
            </a:r>
          </a:p>
        </p:txBody>
      </p:sp>
    </p:spTree>
  </p:cSld>
  <p:clrMapOvr>
    <a:masterClrMapping/>
  </p:clrMapOvr>
</p:sld>
</file>

<file path=ppt/slides/slide36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3/4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368 / 516</a:t>
            </a:r>
          </a:p>
        </p:txBody>
      </p:sp>
      <p:sp>
        <p:nvSpPr>
          <p:cNvPr id="5" name="TextBox 4"/>
          <p:cNvSpPr txBox="1"/>
          <p:nvPr/>
        </p:nvSpPr>
        <p:spPr>
          <a:xfrm>
            <a:off x="609600" y="1244600"/>
            <a:ext cx="10972800" cy="1298972"/>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Sumo — 미리 학습한 전신 정책을 샘플링 MPC가 실행 중에 조종해, Spot이 팔의 들기 한계보다 무거운 타이어를 세운다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arXiv:2604.08508</a:t>
            </a:r>
            <a:r>
              <a:rPr sz="1050" b="0" i="0">
                <a:solidFill>
                  <a:srgbClr val="16213A"/>
                </a:solidFill>
                <a:latin typeface="Arial"/>
                <a:ea typeface="Malgun Gothic"/>
                <a:cs typeface="Malgun Gothic"/>
              </a:rPr>
              <a:t>, 원제 'Sumo: Dynamic and Generalizable Whole-Body Loco-Manipulation', John Z. Zhang 외 16명, 마지막 저자 Simon Le Cléac'h, RAI Institute·MIT·Cornell, arXiv 2026-04 v1·2026-09 v3, 발표처 표기 없음, </a:t>
            </a:r>
            <a:r>
              <a:rPr sz="1050" b="0" i="0">
                <a:solidFill>
                  <a:srgbClr val="1D4ED8"/>
                </a:solidFill>
                <a:latin typeface="Arial"/>
                <a:ea typeface="Malgun Gothic"/>
                <a:cs typeface="Malgun Gothic"/>
                <a:hlinkClick r:id="rId4"/>
              </a:rPr>
              <a:t>프로젝트</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5"/>
              </a:rPr>
              <a:t>코드</a:t>
            </a:r>
            <a:r>
              <a:rPr sz="1050" b="0" i="0">
                <a:solidFill>
                  <a:srgbClr val="16213A"/>
                </a:solidFill>
                <a:latin typeface="Arial"/>
                <a:ea typeface="Malgun Gothic"/>
                <a:cs typeface="Malgun Gothic"/>
              </a:rPr>
              <a:t> MIT). 층은 둘이다. 아래 층은 RL로 미리 학습한 전신 정책이고, 50 Hz로 관절 명령을 낸다. Spot은 같은 연구소의 ReLIC 정책을 쓴다. G1은 mjlab(MuJoCo Warp 위에서 Isaac Lab식 API로 RL을 돌리는 학습 틀)의 기본 속도 추종 정책을 쓴다. 위 층은 샘플링 MPC이고, 20 Hz로 그 정책에 줄 명령을 다시 계획한다. 명령은 몸통의 평면 속도와 팔 관절 목표이고, 과제에 따라 앞다리 관절·몸통 자세·그리퍼를 더한다. 핵심은 rollout이다. 후보 명령열마다 MuJoCo 안에서 정책을 실제로 돌리고, 정책이 낸 관절 명령으로 로봇과 물체를 함께 굴린다(policy-in-the-loop). 균형과 걸음은 정책이 맡으므로, 분석 과제의 비용은 조작 목표 세 항 이하다. 실물 과제는 넘어짐 벌점 같은 안전 항을 더한다. 최적화기는 CEM이고, 1.5 s 지평에 둔 스플라인 매듭(knot) 4개를 표본 32개로 찾는다.</a:t>
            </a:r>
          </a:p>
        </p:txBody>
      </p:sp>
      <p:sp>
        <p:nvSpPr>
          <p:cNvPr id="6" name="TextBox 5"/>
          <p:cNvSpPr txBox="1"/>
          <p:nvPr/>
        </p:nvSpPr>
        <p:spPr>
          <a:xfrm>
            <a:off x="609600" y="2632472"/>
            <a:ext cx="10972800" cy="86598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실물 Spot은 여덟 과제를 10회씩 해서 72번 성공했다(우리 합산). 15 kg 타이어 세우기는 10/10이었고, Spot 팔의 최대 들기 하중은 11 kg이다. G1은 시뮬레이션에서만 시험했고, 문 열기 10/10, 탁자 밀기 8/10이었다. 시뮬 분석에서 다섯 물체를 목표로 옮기는 성공률은 Sumo가 0.85–1.00, 같은 CEM으로 관절 명령을 직접 찾는 MPC가 0.00–0.50이었다. 물체와 몸통의 자세는 모션 캡처로 쟀고, 계산은 외부 데스크톱(64코어)이 했다. 정책을 넣은 물리 rollout 자체는 처음이 아니다. 원문이 가장 가깝다고 꼽은 Kim 외(2025, MPC 문서 M.1.3)가 지형 통과에서 먼저 썼고, Sumo는 그 구조를 무거운 물체의 접촉 조작으로 옮겼다.</a:t>
            </a:r>
          </a:p>
        </p:txBody>
      </p:sp>
      <p:sp>
        <p:nvSpPr>
          <p:cNvPr id="7" name="TextBox 6"/>
          <p:cNvSpPr txBox="1"/>
          <p:nvPr/>
        </p:nvSpPr>
        <p:spPr>
          <a:xfrm>
            <a:off x="609600" y="3587353"/>
            <a:ext cx="10972800" cy="1731962"/>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travplan의 MPPI도 아래 층 위에 앉는다. 하나는 스워브 plant(1차 지연 0.2 s, 미끄럼, 모듈 기구학)다. 다른 하나는 Playground 휴머노이드다. 이 하체는 GR00T 분리형 WBC의 닫힌 루프를 1차 지연과 서기 문턱으로 본뜬다(시정수 0.4 s는 가정, Controller 문서 E.13). 스워브 쪽은 rollout에 지연을 넣자 권장 L1 + plant 레벨 3의 치명이 55에서 4로 줄었다(TP-0150). 휴머노이드는 지연과 서기 전환을 넣자 도달이 10번 중 6번에서 10번이 됐다(TP-0135). 두 결과 모두 시뮬의 하위 모델 자체가 1차 지연이라 rollout 모델과 거의 같다. 실제 하위 제어기와의 차이는 아직 재지 않았다. Sumo는 같은 축의 끝에서 근사 대신 실제 하위 정책과 물리 엔진을 rollout에 넣는다. </a:t>
            </a:r>
            <a:r>
              <a:rPr sz="1050" b="1" i="0">
                <a:solidFill>
                  <a:srgbClr val="C2410C"/>
                </a:solidFill>
                <a:latin typeface="Arial"/>
                <a:ea typeface="Malgun Gothic"/>
                <a:cs typeface="Malgun Gothic"/>
              </a:rPr>
              <a:t>명령 공간을 하위 정책의 입력으로 바꾸고 그 정책을 rollout에 넣은 Sumo는, 같은 CEM으로 관절 명령을 직접 찾은 MPC가 절반을 넘기지 못한 옮기기 과제를 85% 이상 풀었다.</a:t>
            </a:r>
            <a:r>
              <a:rPr sz="1050" b="0" i="0">
                <a:solidFill>
                  <a:srgbClr val="16213A"/>
                </a:solidFill>
                <a:latin typeface="Arial"/>
                <a:ea typeface="Malgun Gothic"/>
                <a:cs typeface="Malgun Gothic"/>
              </a:rPr>
              <a:t> 85%는 그림 5의 막대 값이고, 본문은 '80% 이상'이라 적는다. 대가는 계산이다. 정책을 넣으면 rollout 시간이 두 배가 되고(표본 32개 × 1.5 s에 21.73 ms에서 43.45 ms), 표본 수는 travplan 파이썬 MPPI(768개 × 4 s)의 24분의 1이다. 그리고 아래 층에 가까운 rollout이 늘 낫지는 않다. 미끄럼까지 예측한 travplan의 </a:t>
            </a:r>
            <a:r>
              <a:rPr sz="1050" b="0" i="0">
                <a:solidFill>
                  <a:srgbClr val="16213A"/>
                </a:solidFill>
                <a:latin typeface="Consolas"/>
                <a:ea typeface="Malgun Gothic"/>
                <a:cs typeface="Malgun Gothic"/>
              </a:rPr>
              <a:t>mppi_plant</a:t>
            </a:r>
            <a:r>
              <a:rPr sz="1050" b="0" i="0">
                <a:solidFill>
                  <a:srgbClr val="16213A"/>
                </a:solidFill>
                <a:latin typeface="Arial"/>
                <a:ea typeface="Malgun Gothic"/>
                <a:cs typeface="Malgun Gothic"/>
              </a:rPr>
              <a:t>는 belief 지도의 경사·거칠기로 미끄럼을 걸자 진행이 막혀, 도달이 239에서 189로 줄었다(MPC 문서 M.3.22). 예측 모델 계층(TP-0124)에서 잴 빈칸과, 메쉬 forward 샘플링(TP-0125)·학습 FDM(TP-0126)에 주는 것은 둘째 토글에 있다.</a:t>
            </a:r>
          </a:p>
        </p:txBody>
      </p:sp>
    </p:spTree>
  </p:cSld>
  <p:clrMapOvr>
    <a:masterClrMapping/>
  </p:clrMapOvr>
</p:sld>
</file>

<file path=ppt/slides/slide36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4/4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369 / 516</a:t>
            </a:r>
          </a:p>
        </p:txBody>
      </p:sp>
      <p:pic>
        <p:nvPicPr>
          <p:cNvPr id="5" name="Picture 4" descr="image.jpg"/>
          <p:cNvPicPr>
            <a:picLocks noChangeAspect="1"/>
          </p:cNvPicPr>
          <p:nvPr/>
        </p:nvPicPr>
        <p:blipFill>
          <a:blip r:embed="rId3"/>
          <a:stretch>
            <a:fillRect/>
          </a:stretch>
        </p:blipFill>
        <p:spPr>
          <a:xfrm>
            <a:off x="609600" y="1244600"/>
            <a:ext cx="4064000" cy="2273300"/>
          </a:xfrm>
          <a:prstGeom prst="rect">
            <a:avLst/>
          </a:prstGeom>
        </p:spPr>
      </p:pic>
      <p:sp>
        <p:nvSpPr>
          <p:cNvPr id="6" name="TextBox 5"/>
          <p:cNvSpPr txBox="1"/>
          <p:nvPr/>
        </p:nvSpPr>
        <p:spPr>
          <a:xfrm>
            <a:off x="609600" y="3556000"/>
            <a:ext cx="5410200" cy="42654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Sumo (Fig. 7a): 실물 Spot이 바닥에 누운 15 kg 타이어를 세우는 중간 장면이다. 그리퍼를 타이어 안쪽 테두리에 걸어 한쪽을 들어 올리고 있다. 원문은 이 과제를 팔, 몸통, 다리를 함께 써서 푼다고 적는다. 원문 그림 7은 여덟 과제의 연속 프레임을 모았고, 이 장은 (a) 타이어 세우기의 둘째 프레임이다. 출처: arXiv:2604.08508</a:t>
            </a:r>
          </a:p>
        </p:txBody>
      </p:sp>
      <p:pic>
        <p:nvPicPr>
          <p:cNvPr id="7" name="Picture 6" descr="image.jpg"/>
          <p:cNvPicPr>
            <a:picLocks noChangeAspect="1"/>
          </p:cNvPicPr>
          <p:nvPr/>
        </p:nvPicPr>
        <p:blipFill>
          <a:blip r:embed="rId4"/>
          <a:stretch>
            <a:fillRect/>
          </a:stretch>
        </p:blipFill>
        <p:spPr>
          <a:xfrm>
            <a:off x="6172200" y="1244600"/>
            <a:ext cx="4743450" cy="2667000"/>
          </a:xfrm>
          <a:prstGeom prst="rect">
            <a:avLst/>
          </a:prstGeom>
        </p:spPr>
      </p:pic>
      <p:sp>
        <p:nvSpPr>
          <p:cNvPr id="8" name="TextBox 7"/>
          <p:cNvSpPr txBox="1"/>
          <p:nvPr/>
        </p:nvSpPr>
        <p:spPr>
          <a:xfrm>
            <a:off x="6172200" y="3949700"/>
            <a:ext cx="5410200" cy="42654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Sumo (Fig. 2): 위의 샘플링 MPC(초록)가 멀티스레드 rollout으로 비용을 줄여 20 Hz로 몸통·팔·다리 명령을 낸다. 아래 전신 정책(보라)은 그 명령과 로봇 상태로 50 Hz 관절 명령을 낸다. 물체 상태는 모션 캡처에서, 로봇 상태는 하위 API에서 온다. 오른쪽 아래가 Spot과 G1이다. 출처: arXiv:2604.08508</a:t>
            </a:r>
          </a:p>
        </p:txBody>
      </p:sp>
    </p:spTree>
  </p:cSld>
  <p:clrMapOvr>
    <a:masterClrMapping/>
  </p:clrMapOvr>
</p:sld>
</file>

<file path=ppt/slides/slide37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자세히: Sumo의 방법과 수식, 결과, 한계</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370 / 516</a:t>
            </a:r>
          </a:p>
        </p:txBody>
      </p:sp>
      <p:sp>
        <p:nvSpPr>
          <p:cNvPr id="5" name="TextBox 4"/>
          <p:cNvSpPr txBox="1"/>
          <p:nvPr/>
        </p:nvSpPr>
        <p:spPr>
          <a:xfrm>
            <a:off x="609600" y="1244600"/>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풀려는 문제.</a:t>
            </a:r>
            <a:r>
              <a:rPr sz="1050" b="0" i="0">
                <a:solidFill>
                  <a:srgbClr val="16213A"/>
                </a:solidFill>
                <a:latin typeface="Arial"/>
                <a:ea typeface="Malgun Gothic"/>
                <a:cs typeface="Malgun Gothic"/>
              </a:rPr>
              <a:t> 로봇보다 크거나 팔의 들기 한계보다 무거운 물체를 다리 로봇이 다루려면 몸 전체를 동적으로 써야 한다. 기존의 두 길은 저마다 막힌다. 끝에서 끝까지(E2E, end-to-end) RL은 새 조작 과제마다 보상을 짜고 다시 학습해야 하고, 학습 분포 밖의 물체로 넓히기 어렵다. 샘플링 MPC는 학습 없이 접촉이 많은 조작을 풀지만, 자유도가 높고 스스로 불안정한 과제에서는 좋은 해를 찾기 어렵다. 단일 사격(single shooting) rollout이 불안정계에서 발산하기 때문이다. Sumo는 둘을 층으로 나눈다. RL은 험지에서도 강건한 보행을 오프라인으로 배우고, 접촉 조작의 결정은 실행 중 탐색이 맡는다.</a:t>
            </a:r>
          </a:p>
        </p:txBody>
      </p:sp>
      <p:sp>
        <p:nvSpPr>
          <p:cNvPr id="6" name="TextBox 5"/>
          <p:cNvSpPr txBox="1"/>
          <p:nvPr/>
        </p:nvSpPr>
        <p:spPr>
          <a:xfrm>
            <a:off x="609600" y="219948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계보.</a:t>
            </a:r>
          </a:p>
        </p:txBody>
      </p:sp>
      <p:sp>
        <p:nvSpPr>
          <p:cNvPr id="7" name="TextBox 6"/>
          <p:cNvSpPr txBox="1"/>
          <p:nvPr/>
        </p:nvSpPr>
        <p:spPr>
          <a:xfrm>
            <a:off x="609600" y="2504877"/>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39개(문단·식·그림)는 대시보드 리서치 탭의 "자세히: Sumo의 방법과 수식, 결과, 한계" 토글에 있다.</a:t>
            </a:r>
          </a:p>
        </p:txBody>
      </p:sp>
    </p:spTree>
  </p:cSld>
  <p:clrMapOvr>
    <a:masterClrMapping/>
  </p:clrMapOvr>
</p:sld>
</file>

<file path=ppt/slides/slide37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자세히: Sumo에서 travplan이 가져올 것</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371 / 516</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것.</a:t>
            </a:r>
            <a:r>
              <a:rPr sz="1050" b="0" i="0">
                <a:solidFill>
                  <a:srgbClr val="16213A"/>
                </a:solidFill>
                <a:latin typeface="Arial"/>
                <a:ea typeface="Malgun Gothic"/>
                <a:cs typeface="Malgun Gothic"/>
              </a:rPr>
              <a:t> 다섯 가지다.</a:t>
            </a:r>
          </a:p>
        </p:txBody>
      </p:sp>
      <p:sp>
        <p:nvSpPr>
          <p:cNvPr id="6" name="TextBox 5"/>
          <p:cNvSpPr txBox="1"/>
          <p:nvPr/>
        </p:nvSpPr>
        <p:spPr>
          <a:xfrm>
            <a:off x="609600" y="1549995"/>
            <a:ext cx="10972800" cy="649486"/>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첫째, 예측 모델 계층(TP-0124)의 빈칸이다. travplan의 계층은 셋이다(MPC 문서 M.1.3). 기구학은 </a:t>
            </a:r>
            <a:r>
              <a:rPr sz="1050" b="0" i="0">
                <a:solidFill>
                  <a:srgbClr val="16213A"/>
                </a:solidFill>
                <a:latin typeface="Consolas"/>
                <a:ea typeface="Malgun Gothic"/>
                <a:cs typeface="Malgun Gothic"/>
              </a:rPr>
              <a:t>SwerveModel</a:t>
            </a:r>
            <a:r>
              <a:rPr sz="1050" b="0" i="0">
                <a:solidFill>
                  <a:srgbClr val="16213A"/>
                </a:solidFill>
                <a:latin typeface="Arial"/>
                <a:ea typeface="Malgun Gothic"/>
                <a:cs typeface="Malgun Gothic"/>
              </a:rPr>
              <a:t>, 동역학은 plant의 지연과 미끄럼을 넣은 </a:t>
            </a:r>
            <a:r>
              <a:rPr sz="1050" b="0" i="0">
                <a:solidFill>
                  <a:srgbClr val="16213A"/>
                </a:solidFill>
                <a:latin typeface="Consolas"/>
                <a:ea typeface="Malgun Gothic"/>
                <a:cs typeface="Malgun Gothic"/>
              </a:rPr>
              <a:t>LagSlipSwerveModel</a:t>
            </a:r>
            <a:r>
              <a:rPr sz="1050" b="0" i="0">
                <a:solidFill>
                  <a:srgbClr val="16213A"/>
                </a:solidFill>
                <a:latin typeface="Arial"/>
                <a:ea typeface="Malgun Gothic"/>
                <a:cs typeface="Malgun Gothic"/>
              </a:rPr>
              <a:t>이다. 학습 층은 지금 GP 잔차뿐이고, FDM은 대기 중이다(TP-0126). Sumo의 rollout은 그 위의 점이고, 하위 제어기 자체와 전체 물리를 굴린다. 아래 표는 rollout에 아래 층을 얼마나 넣었는지의 축만 보여 준다. 과제가 달라 숫자끼리는 비교하지 않는다.</a:t>
            </a:r>
          </a:p>
        </p:txBody>
      </p:sp>
      <p:graphicFrame>
        <p:nvGraphicFramePr>
          <p:cNvPr id="7" name="Table 6"/>
          <p:cNvGraphicFramePr>
            <a:graphicFrameLocks noGrp="1"/>
          </p:cNvGraphicFramePr>
          <p:nvPr/>
        </p:nvGraphicFramePr>
        <p:xfrm>
          <a:off x="609600" y="2288381"/>
          <a:ext cx="10966450" cy="1576704"/>
        </p:xfrm>
        <a:graphic>
          <a:graphicData uri="http://schemas.openxmlformats.org/drawingml/2006/table">
            <a:tbl>
              <a:tblPr firstRow="1" bandRow="1">
                <a:tableStyleId>{5C22544A-7EE6-4342-B048-85BDC9FD1C3A}</a:tableStyleId>
              </a:tblPr>
              <a:tblGrid>
                <a:gridCol w="3056731"/>
                <a:gridCol w="4127500"/>
                <a:gridCol w="3782219"/>
              </a:tblGrid>
              <a:tr h="197088">
                <a:tc>
                  <a:txBody>
                    <a:bodyPr wrap="square"/>
                    <a:lstStyle/>
                    <a:p>
                      <a:r>
                        <a:rPr sz="800" b="1" i="0">
                          <a:solidFill>
                            <a:srgbClr val="F4F1EA"/>
                          </a:solidFill>
                          <a:latin typeface="Arial"/>
                          <a:ea typeface="Malgun Gothic"/>
                          <a:cs typeface="Malgun Gothic"/>
                        </a:rPr>
                        <a:t>rollout에 넣은 아래 층</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어디서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결과</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없음(명령이 곧 속도)</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travplan </a:t>
                      </a:r>
                      <a:r>
                        <a:rPr sz="800" b="0" i="0">
                          <a:solidFill>
                            <a:srgbClr val="16213A"/>
                          </a:solidFill>
                          <a:latin typeface="Consolas"/>
                          <a:ea typeface="Malgun Gothic"/>
                          <a:cs typeface="Malgun Gothic"/>
                        </a:rPr>
                        <a:t>mppi</a:t>
                      </a:r>
                      <a:r>
                        <a:rPr sz="800" b="0" i="0">
                          <a:solidFill>
                            <a:srgbClr val="16213A"/>
                          </a:solidFill>
                          <a:latin typeface="Arial"/>
                          <a:ea typeface="Malgun Gothic"/>
                          <a:cs typeface="Malgun Gothic"/>
                        </a:rPr>
                        <a:t>, 권장 L1 + plant 레벨 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360 중 221 도달, 치명 55(TP-0149)</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1차 지연 0.2 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travplan </a:t>
                      </a:r>
                      <a:r>
                        <a:rPr sz="800" b="0" i="0">
                          <a:solidFill>
                            <a:srgbClr val="16213A"/>
                          </a:solidFill>
                          <a:latin typeface="Consolas"/>
                          <a:ea typeface="Malgun Gothic"/>
                          <a:cs typeface="Malgun Gothic"/>
                        </a:rPr>
                        <a:t>mppi_plant_lag</a:t>
                      </a:r>
                      <a:r>
                        <a:rPr sz="800" b="0" i="0">
                          <a:solidFill>
                            <a:srgbClr val="16213A"/>
                          </a:solidFill>
                          <a:latin typeface="Arial"/>
                          <a:ea typeface="Malgun Gothic"/>
                          <a:cs typeface="Malgun Gothic"/>
                        </a:rPr>
                        <a:t>, 같은 조건</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239 도달, 치명 4(TP-0150)</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1차 지연과 belief 지도로 건 기댓값 미끄럼</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travplan </a:t>
                      </a:r>
                      <a:r>
                        <a:rPr sz="800" b="0" i="0">
                          <a:solidFill>
                            <a:srgbClr val="16213A"/>
                          </a:solidFill>
                          <a:latin typeface="Consolas"/>
                          <a:ea typeface="Malgun Gothic"/>
                          <a:cs typeface="Malgun Gothic"/>
                        </a:rPr>
                        <a:t>mppi_plant</a:t>
                      </a:r>
                      <a:r>
                        <a:rPr sz="800" b="0" i="0">
                          <a:solidFill>
                            <a:srgbClr val="16213A"/>
                          </a:solidFill>
                          <a:latin typeface="Arial"/>
                          <a:ea typeface="Malgun Gothic"/>
                          <a:cs typeface="Malgun Gothic"/>
                        </a:rPr>
                        <a:t>, 같은 조건</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189 도달, 치명 4, 시간 초과 167(MPC 문서 M.3.22)</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1차 지연 0.4 s(가정)와 서기 문턱</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Playground 휴머노이드 MPPI(GR00T WBC를 본뜬 하체)</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10번 중 10번 도달, 지연을 모르면 6번(TP-0135)</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학습한 견인 분포의 왼쪽 꼬리</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EVORA, Spot 실외(이 소절의 EVORA 카드)</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기준선과 기댓값 견인보다 도달 시간이 짧다(왕복 3번)</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정책 없이 관절 명령을 직접 계획</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Sumo의 E2E MPC</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옮기기 0.00–0.50</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실제 하위 정책과 전체 물리</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Sumo</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옮기기 0.85–1.00, 실물 72/80</a:t>
                      </a:r>
                    </a:p>
                  </a:txBody>
                  <a:tcPr marL="63500" marR="63500" marT="12700" marB="12700">
                    <a:solidFill>
                      <a:srgbClr val="FFFDF8"/>
                    </a:solidFill>
                  </a:tcPr>
                </a:tc>
              </a:tr>
            </a:tbl>
          </a:graphicData>
        </a:graphic>
      </p:graphicFrame>
      <p:sp>
        <p:nvSpPr>
          <p:cNvPr id="8" name="TextBox 7"/>
          <p:cNvSpPr txBox="1"/>
          <p:nvPr/>
        </p:nvSpPr>
        <p:spPr>
          <a:xfrm>
            <a:off x="609600" y="4354512"/>
            <a:ext cx="10972800" cy="86598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Sumo가 보인 것은 마지막 두 줄의 차이이고, travplan이 보인 것은 처음 네 줄의 차이다. 1차 지연 근사와 실제 하위 제어기 사이는 아무도 재지 않았다. 시뮬에서는 스워브 plant(</a:t>
            </a:r>
            <a:r>
              <a:rPr sz="1050" b="0" i="0">
                <a:solidFill>
                  <a:srgbClr val="16213A"/>
                </a:solidFill>
                <a:latin typeface="Consolas"/>
                <a:ea typeface="Malgun Gothic"/>
                <a:cs typeface="Malgun Gothic"/>
              </a:rPr>
              <a:t>robot/plant.py</a:t>
            </a:r>
            <a:r>
              <a:rPr sz="1050" b="0" i="0">
                <a:solidFill>
                  <a:srgbClr val="16213A"/>
                </a:solidFill>
                <a:latin typeface="Arial"/>
                <a:ea typeface="Malgun Gothic"/>
                <a:cs typeface="Malgun Gothic"/>
              </a:rPr>
              <a:t>)를 정확히 안다. 그 plant를 참값 지형과 함께 rollout에 넣은 줄이 '오라클 상한'이고, belief 지도와 함께 넣은 줄은 따로 잰다. M.3.22처럼 plant에 더 가까운 모델이 belief 지도 위에서는 진행을 막을 수 있으므로, 정확도와 성적이 함께 오른다고 가정하지 않는다. </a:t>
            </a:r>
            <a:r>
              <a:rPr sz="1050" b="0" i="0">
                <a:solidFill>
                  <a:srgbClr val="16213A"/>
                </a:solidFill>
                <a:latin typeface="Consolas"/>
                <a:ea typeface="Malgun Gothic"/>
                <a:cs typeface="Malgun Gothic"/>
              </a:rPr>
              <a:t>SwervePlant</a:t>
            </a:r>
            <a:r>
              <a:rPr sz="1050" b="0" i="0">
                <a:solidFill>
                  <a:srgbClr val="16213A"/>
                </a:solidFill>
                <a:latin typeface="Arial"/>
                <a:ea typeface="Malgun Gothic"/>
                <a:cs typeface="Malgun Gothic"/>
              </a:rPr>
              <a:t>는 조향각 상태와 난수 미끄럼을 가진 로봇 한 대용 numpy 모델이라, 배치로 바꾸는 일이 먼저다. 이 줄은 근사의 손실을 재는 상한이지 검증이 아니다. 명목 모델과 plant가 같으면 아무것도 검증되지 않는다는 경계(MPC 문서 M.2)는 그대로다.</a:t>
            </a:r>
          </a:p>
        </p:txBody>
      </p:sp>
      <p:sp>
        <p:nvSpPr>
          <p:cNvPr id="9" name="TextBox 8"/>
          <p:cNvSpPr txBox="1"/>
          <p:nvPr/>
        </p:nvSpPr>
        <p:spPr>
          <a:xfrm>
            <a:off x="609600" y="5309394"/>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5개(문단·식·그림)는 대시보드 리서치 탭의 "자세히: Sumo에서 travplan이 가져올 것" 토글에 있다.</a:t>
            </a:r>
          </a:p>
        </p:txBody>
      </p:sp>
    </p:spTree>
  </p:cSld>
  <p:clrMapOvr>
    <a:masterClrMapping/>
  </p:clrMapOvr>
</p:sld>
</file>

<file path=ppt/slides/slide37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1/14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372 / 516</a:t>
            </a:r>
          </a:p>
        </p:txBody>
      </p:sp>
      <p:sp>
        <p:nvSpPr>
          <p:cNvPr id="5" name="TextBox 4"/>
          <p:cNvSpPr txBox="1"/>
          <p:nvPr/>
        </p:nvSpPr>
        <p:spPr>
          <a:xfrm>
            <a:off x="609600" y="1244600"/>
            <a:ext cx="10972800" cy="1948458"/>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SMPC 시연 + 희소 보상 RL(RAI Institute) — 시뮬레이션의 샘플링 MPC가 만든 시연으로 off-policy RL을 띄우고, 희소 보상만으로 교사보다 빠른 정책을 얻는다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arXiv:2608.12063</a:t>
            </a:r>
            <a:r>
              <a:rPr sz="1050" b="0" i="0">
                <a:solidFill>
                  <a:srgbClr val="16213A"/>
                </a:solidFill>
                <a:latin typeface="Arial"/>
                <a:ea typeface="Malgun Gothic"/>
                <a:cs typeface="Malgun Gothic"/>
              </a:rPr>
              <a:t>, Schuck·Sorokin·Manni·Ta·Schoellig·Hutter·Le Cléac'h·Brüdigam, RAI Institute·TU Munich·ETH Zürich, 2026-08, 프로젝트 페이지 표기 CoRL 2026 spotlight, </a:t>
            </a:r>
            <a:r>
              <a:rPr sz="1050" b="0" i="0">
                <a:solidFill>
                  <a:srgbClr val="1D4ED8"/>
                </a:solidFill>
                <a:latin typeface="Arial"/>
                <a:ea typeface="Malgun Gothic"/>
                <a:cs typeface="Malgun Gothic"/>
                <a:hlinkClick r:id="rId4"/>
              </a:rPr>
              <a:t>프로젝트</a:t>
            </a:r>
            <a:r>
              <a:rPr sz="1050" b="0" i="0">
                <a:solidFill>
                  <a:srgbClr val="16213A"/>
                </a:solidFill>
                <a:latin typeface="Arial"/>
                <a:ea typeface="Malgun Gothic"/>
                <a:cs typeface="Malgun Gothic"/>
              </a:rPr>
              <a:t>). Sumo와 같은 팀의 다른 갈래다. Sumo가 샘플링 MPC를 실행 중에 돌린다면, 이 논문은 샘플링 MPC(SMPC, sample-based MPC)를 시뮬레이션에서만 돌려 시연 자료를 만든다. 위 층이 몸통 평면 속도와 팔 관절 목표의 변화량을 내고, 고정한 ReLIC 방식 정책이 균형을 잡는다. 교사 SMPC는 Predictive Sampling 계열이고 MuJoCo Warp에서 돈다. 지평은 1 s(50 Hz × 50스텝)이고, 스플라인 매듭 10개와 타일당 표본 256개를 쓴다. 밀집 비용을 몇 분 만에 손으로 맞추고, 타일 여러 개를 GPU에서 묶어 시간당 표본 100만 개를 만든다. 가장 어려운 과제는 400만 개(GPU 4시간)가 필요했다. 학생은 FastTD3(병렬 시뮬레이션용 TD3 변형)를 고친 off-policy RL이다. 보상은 목표 도달 0, 넘어짐 </a:t>
            </a:r>
            <a:r>
              <a:rPr sz="1050" b="0" i="1">
                <a:solidFill>
                  <a:srgbClr val="16213A"/>
                </a:solidFill>
                <a:latin typeface="Arial"/>
                <a:ea typeface="Malgun Gothic"/>
                <a:cs typeface="Malgun Gothic"/>
              </a:rPr>
              <a:t>-2/(1-γ)</a:t>
            </a:r>
            <a:r>
              <a:rPr sz="1050" b="0" i="0">
                <a:solidFill>
                  <a:srgbClr val="16213A"/>
                </a:solidFill>
                <a:latin typeface="Arial"/>
                <a:ea typeface="Malgun Gothic"/>
                <a:cs typeface="Malgun Gothic"/>
              </a:rPr>
              <a:t>, 그 밖 </a:t>
            </a:r>
            <a:r>
              <a:rPr sz="1050" b="0" i="1">
                <a:solidFill>
                  <a:srgbClr val="16213A"/>
                </a:solidFill>
                <a:latin typeface="Arial"/>
                <a:ea typeface="Malgun Gothic"/>
                <a:cs typeface="Malgun Gothic"/>
              </a:rPr>
              <a:t>-1</a:t>
            </a:r>
            <a:r>
              <a:rPr sz="1050" b="0" i="0">
                <a:solidFill>
                  <a:srgbClr val="16213A"/>
                </a:solidFill>
                <a:latin typeface="Arial"/>
                <a:ea typeface="Malgun Gothic"/>
                <a:cs typeface="Malgun Gothic"/>
              </a:rPr>
              <a:t>뿐이다. 처음에는 재생 버퍼의 50%를 시연으로 채우고(RLPD 방식, 강화학습 문서 R.10), 성공률이 10%를 넘으면 시연을 뺀다. 팔 달린 Spot(목표점 이동, 상자 밀기, 타이어 세우기와 굴리기)과 G1(상자 밀기)에 올렸다. 학습한 정책은 과제를 SMPC보다 빨리 끝냈고(일부 과제는 50% 넘게), 소요 시간의 표준편차가 11–45% 줄었다. 반대로 교사의 해가 여러 갈래(다리로 차기, 어깨로 밀기, 타이어 안으로 들어가기)로 섞이면 학습이 완전히 실패했다. 다리·몸통 접촉 항을 넣어 팔을 쓰는 한 갈래로 모으자 학습됐다. 시연을 오래 남겨 두어도 학습이 느려졌다.</a:t>
            </a:r>
          </a:p>
        </p:txBody>
      </p:sp>
      <p:sp>
        <p:nvSpPr>
          <p:cNvPr id="6" name="TextBox 5"/>
          <p:cNvSpPr txBox="1"/>
          <p:nvPr/>
        </p:nvSpPr>
        <p:spPr>
          <a:xfrm>
            <a:off x="609600" y="3281958"/>
            <a:ext cx="10972800" cy="1298972"/>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Planner D의 시연도 Guidance 경로를 따르는 MPPI(샘플링 MPC)가 만든다(B.8.3). 이 논문은 같은 종류의 교사로 두 가지를 보였다. 시연은 탐색을 여는 데만 쓰고 일찍 빼야 학생이 교사를 넘는다. 그리고 교사의 해가 여러 갈래로 섞이면 학습이 무너진다. 원문은 원인을 둘로 적는다. 단봉·마르코프 RL 정책과, warm start에 따라 해가 갈려 관측만으로 정해지지 않는 SMPC다. Planner D(flow matching)는 앞의 문제를 덜 겪는다. travplan의 교사 MPPI는 상태마다 새 제어기를 만들어 0에서 시작하므로 직전 상태의 해를 물려받지 않는다(</a:t>
            </a:r>
            <a:r>
              <a:rPr sz="1050" b="0" i="0">
                <a:solidFill>
                  <a:srgbClr val="16213A"/>
                </a:solidFill>
                <a:latin typeface="Consolas"/>
                <a:ea typeface="Malgun Gothic"/>
                <a:cs typeface="Malgun Gothic"/>
              </a:rPr>
              <a:t>scripts/train_planner_d.py</a:t>
            </a:r>
            <a:r>
              <a:rPr sz="1050" b="0" i="0">
                <a:solidFill>
                  <a:srgbClr val="16213A"/>
                </a:solidFill>
                <a:latin typeface="Arial"/>
                <a:ea typeface="Malgun Gothic"/>
                <a:cs typeface="Malgun Gothic"/>
              </a:rPr>
              <a:t>). 그래도 표본 난수에 따라 고르는 갈래가 달라질 수 있어, 비슷한 관측에 다른 갈래의 라벨이 붙을 수 있다. B.8.3이 적은 '단일 모드 교사'의 공백을 MPOT 같은 다봉 교사(B.10.1)로 메울 때도, 교사의 해가 관측의 함수인지부터 확인해야 한다. 희소 보상은 지금 RL 후학습(TP-0066)의 밀집 보상과 맞대 볼 후보다. 지금 후학습은 후보를 진행, cost, 치명, 부드러움으로 채점한다(B.15.3).</a:t>
            </a:r>
          </a:p>
        </p:txBody>
      </p:sp>
    </p:spTree>
  </p:cSld>
  <p:clrMapOvr>
    <a:masterClrMapping/>
  </p:clrMapOvr>
</p:sld>
</file>

<file path=ppt/slides/slide37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2/14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373 / 516</a:t>
            </a:r>
          </a:p>
        </p:txBody>
      </p:sp>
      <p:pic>
        <p:nvPicPr>
          <p:cNvPr id="5" name="Picture 4" descr="image.jpg"/>
          <p:cNvPicPr>
            <a:picLocks noChangeAspect="1"/>
          </p:cNvPicPr>
          <p:nvPr/>
        </p:nvPicPr>
        <p:blipFill>
          <a:blip r:embed="rId3"/>
          <a:stretch>
            <a:fillRect/>
          </a:stretch>
        </p:blipFill>
        <p:spPr>
          <a:xfrm>
            <a:off x="2765425" y="1244600"/>
            <a:ext cx="6661150" cy="4445000"/>
          </a:xfrm>
          <a:prstGeom prst="rect">
            <a:avLst/>
          </a:prstGeom>
        </p:spPr>
      </p:pic>
      <p:sp>
        <p:nvSpPr>
          <p:cNvPr id="6" name="TextBox 5"/>
          <p:cNvSpPr txBox="1"/>
          <p:nvPr/>
        </p:nvSpPr>
        <p:spPr>
          <a:xfrm>
            <a:off x="2765425" y="5727700"/>
            <a:ext cx="666115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SMPC 시연 + 희소 보상 RL (Fig. 2 일부): 희소 보상만으로 학습한 정책을 실물에 올린 장면 가운데 하나로, 팔 달린 Spot이 타이어(14.3 kg)를 굴린다. 원문 그림 2는 다섯 과제의 실물 장면을 모았다. 출처: arXiv:2608.12063</a:t>
            </a:r>
          </a:p>
        </p:txBody>
      </p:sp>
    </p:spTree>
  </p:cSld>
  <p:clrMapOvr>
    <a:masterClrMapping/>
  </p:clrMapOvr>
</p:sld>
</file>

<file path=ppt/slides/slide37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3/14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374 / 516</a:t>
            </a:r>
          </a:p>
        </p:txBody>
      </p:sp>
      <p:sp>
        <p:nvSpPr>
          <p:cNvPr id="5" name="TextBox 4"/>
          <p:cNvSpPr txBox="1"/>
          <p:nvPr/>
        </p:nvSpPr>
        <p:spPr>
          <a:xfrm>
            <a:off x="609600" y="1244600"/>
            <a:ext cx="10972800" cy="1298972"/>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EVORA — 명령 대비 실현 속도의 비(견인)를 분포로 배워, MPPI rollout을 그 분포의 나쁜 꼬리로 굴린다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arXiv:2311.06234</a:t>
            </a:r>
            <a:r>
              <a:rPr sz="1050" b="0" i="0">
                <a:solidFill>
                  <a:srgbClr val="16213A"/>
                </a:solidFill>
                <a:latin typeface="Arial"/>
                <a:ea typeface="Malgun Gothic"/>
                <a:cs typeface="Malgun Gothic"/>
              </a:rPr>
              <a:t>, Cai·Ancha·Sharma·Osteen·Bucher·Phillips·Wang·Everett·Roy·How, MIT·Boston Dynamics AI Institute 등, IEEE T-RO 40, 2024, </a:t>
            </a:r>
            <a:r>
              <a:rPr sz="1050" b="0" i="0">
                <a:solidFill>
                  <a:srgbClr val="1D4ED8"/>
                </a:solidFill>
                <a:latin typeface="Arial"/>
                <a:ea typeface="Malgun Gothic"/>
                <a:cs typeface="Malgun Gothic"/>
                <a:hlinkClick r:id="rId4"/>
              </a:rPr>
              <a:t>프로젝트</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5"/>
              </a:rPr>
              <a:t>코드</a:t>
            </a:r>
            <a:r>
              <a:rPr sz="1050" b="0" i="0">
                <a:solidFill>
                  <a:srgbClr val="16213A"/>
                </a:solidFill>
                <a:latin typeface="Arial"/>
                <a:ea typeface="Malgun Gothic"/>
                <a:cs typeface="Malgun Gothic"/>
              </a:rPr>
              <a:t> MIT). 견인(traction)은 실현 속도를 명령 속도로 나눈 값이다. 단륜 모델에서 직진 속도에 </a:t>
            </a:r>
            <a:r>
              <a:rPr sz="1050" b="0" i="1">
                <a:solidFill>
                  <a:srgbClr val="16213A"/>
                </a:solidFill>
                <a:latin typeface="Arial"/>
                <a:ea typeface="Malgun Gothic"/>
                <a:cs typeface="Malgun Gothic"/>
              </a:rPr>
              <a:t>ψ₁</a:t>
            </a:r>
            <a:r>
              <a:rPr sz="1050" b="0" i="0">
                <a:solidFill>
                  <a:srgbClr val="16213A"/>
                </a:solidFill>
                <a:latin typeface="Arial"/>
                <a:ea typeface="Malgun Gothic"/>
                <a:cs typeface="Malgun Gothic"/>
              </a:rPr>
              <a:t>, 회전 속도에 </a:t>
            </a:r>
            <a:r>
              <a:rPr sz="1050" b="0" i="1">
                <a:solidFill>
                  <a:srgbClr val="16213A"/>
                </a:solidFill>
                <a:latin typeface="Arial"/>
                <a:ea typeface="Malgun Gothic"/>
                <a:cs typeface="Malgun Gothic"/>
              </a:rPr>
              <a:t>ψ₂</a:t>
            </a:r>
            <a:r>
              <a:rPr sz="1050" b="0" i="0">
                <a:solidFill>
                  <a:srgbClr val="16213A"/>
                </a:solidFill>
                <a:latin typeface="Arial"/>
                <a:ea typeface="Malgun Gothic"/>
                <a:cs typeface="Malgun Gothic"/>
              </a:rPr>
              <a:t>를 곱하고, 둘 다 0과 1 사이다. 신경망이 높이·의미 분할 지도 조각을 받아 0–1을 나눈 칸 위의 견인 분포를 낸다. 출력이 디리클레 분포의 모수인 증거 학습(evidential learning)이라, 한 번의 추론으로 두 불확실성을 함께 낸다. 우연 불확실성(같아 보이는 풀도 견인이 다르다)은 분포의 퍼짐에 담는다. 인식 불확실성(학습 때 못 본 지형)은 잠재 특징의 밀도로 잰다(normalizing flow). 계획기는 MPPI다. 표본 명령열마다 견인 분포의 왼쪽 꼬리 CVaR(conditional value at risk)로 상태를 굴린다(CVaR-Dyn). CVaR는 가장 나쁜 </a:t>
            </a:r>
            <a:r>
              <a:rPr sz="1050" b="0" i="1">
                <a:solidFill>
                  <a:srgbClr val="16213A"/>
                </a:solidFill>
                <a:latin typeface="Arial"/>
                <a:ea typeface="Malgun Gothic"/>
                <a:cs typeface="Malgun Gothic"/>
              </a:rPr>
              <a:t>α</a:t>
            </a:r>
            <a:r>
              <a:rPr sz="1050" b="0" i="0">
                <a:solidFill>
                  <a:srgbClr val="16213A"/>
                </a:solidFill>
                <a:latin typeface="Arial"/>
                <a:ea typeface="Malgun Gothic"/>
                <a:cs typeface="Malgun Gothic"/>
              </a:rPr>
              <a:t> 비율의 평균이다(배경 0.3). 밀도가 문턱 아래인 칸은 분포 밖(OOD, out-of-distribution) 지형으로 보고 벌점을 준다.</a:t>
            </a:r>
          </a:p>
        </p:txBody>
      </p:sp>
      <p:pic>
        <p:nvPicPr>
          <p:cNvPr id="6" name="Picture 5" descr="image.png"/>
          <p:cNvPicPr>
            <a:picLocks noChangeAspect="1"/>
          </p:cNvPicPr>
          <p:nvPr/>
        </p:nvPicPr>
        <p:blipFill>
          <a:blip r:embed="rId6"/>
          <a:stretch>
            <a:fillRect/>
          </a:stretch>
        </p:blipFill>
        <p:spPr>
          <a:xfrm>
            <a:off x="609600" y="2632472"/>
            <a:ext cx="3946525" cy="241300"/>
          </a:xfrm>
          <a:prstGeom prst="rect">
            <a:avLst/>
          </a:prstGeom>
        </p:spPr>
      </p:pic>
      <p:sp>
        <p:nvSpPr>
          <p:cNvPr id="7" name="TextBox 6"/>
          <p:cNvSpPr txBox="1"/>
          <p:nvPr/>
        </p:nvSpPr>
        <p:spPr>
          <a:xfrm>
            <a:off x="609600" y="2909987"/>
            <a:ext cx="10972800" cy="865981"/>
          </a:xfrm>
          <a:prstGeom prst="rect">
            <a:avLst/>
          </a:prstGeom>
          <a:noFill/>
        </p:spPr>
        <p:txBody>
          <a:bodyPr wrap="square" lIns="0" rIns="0" tIns="0" bIns="0" anchor="t">
            <a:spAutoFit/>
            <a:normAutofit/>
          </a:bodyPr>
          <a:lstStyle/>
          <a:p>
            <a:r>
              <a:rPr sz="1050" b="0" i="1">
                <a:solidFill>
                  <a:srgbClr val="16213A"/>
                </a:solidFill>
                <a:latin typeface="Arial"/>
                <a:ea typeface="Malgun Gothic"/>
                <a:cs typeface="Malgun Gothic"/>
              </a:rPr>
              <a:t>α = 1</a:t>
            </a:r>
            <a:r>
              <a:rPr sz="1050" b="0" i="0">
                <a:solidFill>
                  <a:srgbClr val="16213A"/>
                </a:solidFill>
                <a:latin typeface="Arial"/>
                <a:ea typeface="Malgun Gothic"/>
                <a:cs typeface="Malgun Gothic"/>
              </a:rPr>
              <a:t>이면 기댓값 견인으로 굴리는 WayFAST와 같다. 비용의 CVaR를 견인 지도 표본으로 직접 줄이는 CVaR-Cost보다 rollout이 한 번이라 싸다. Spot 실험은 1저자가 Boston Dynamics AI Institute에서 인턴으로 일할 때 했다. 명령 속도와 Spot 내장 오도메트리로 견인을 재고 5분 걸은 자료로 학습했으며, Jetson AGX Orin에서 5 Hz, 8 s 지평, rollout 800개로 계획했다. 왕복 3번(6회)에서 CVaR-Dyn(</a:t>
            </a:r>
            <a:r>
              <a:rPr sz="1050" b="0" i="1">
                <a:solidFill>
                  <a:srgbClr val="16213A"/>
                </a:solidFill>
                <a:latin typeface="Arial"/>
                <a:ea typeface="Malgun Gothic"/>
                <a:cs typeface="Malgun Gothic"/>
              </a:rPr>
              <a:t>α</a:t>
            </a:r>
            <a:r>
              <a:rPr sz="1050" b="0" i="0">
                <a:solidFill>
                  <a:srgbClr val="16213A"/>
                </a:solidFill>
                <a:latin typeface="Arial"/>
                <a:ea typeface="Malgun Gothic"/>
                <a:cs typeface="Malgun Gothic"/>
              </a:rPr>
              <a:t> 0.9)의 도달 시간이 가장 짧았다. 비교 대상은 견인을 명목값으로 두고 풀·덤불에 벌점을 준 기준선, 기댓값 견인(WayFAST), CVaR-Cost다. 학습 때보다 키 큰 풀이 있는 시험장에서는 OOD 벌점을 켜야 사람 개입 없이 도달했다.</a:t>
            </a:r>
          </a:p>
        </p:txBody>
      </p:sp>
      <p:sp>
        <p:nvSpPr>
          <p:cNvPr id="8" name="TextBox 7"/>
          <p:cNvSpPr txBox="1"/>
          <p:nvPr/>
        </p:nvSpPr>
        <p:spPr>
          <a:xfrm>
            <a:off x="609600" y="3864868"/>
            <a:ext cx="10972800" cy="151546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RAI Institute 공저 연구 가운데 travplan의 plant와 가장 직접 닿는다. 스워브 plant의 미끄럼은 이동 속도에 </a:t>
            </a:r>
            <a:r>
              <a:rPr sz="1050" b="0" i="1">
                <a:solidFill>
                  <a:srgbClr val="16213A"/>
                </a:solidFill>
                <a:latin typeface="Arial"/>
                <a:ea typeface="Malgun Gothic"/>
                <a:cs typeface="Malgun Gothic"/>
              </a:rPr>
              <a:t>(1 - s)</a:t>
            </a:r>
            <a:r>
              <a:rPr sz="1050" b="0" i="0">
                <a:solidFill>
                  <a:srgbClr val="16213A"/>
                </a:solidFill>
                <a:latin typeface="Arial"/>
                <a:ea typeface="Malgun Gothic"/>
                <a:cs typeface="Malgun Gothic"/>
              </a:rPr>
              <a:t>를 곱하고 회전은 그대로 둔다(TP-0033). EVORA의 직진 견인이 바로 이 </a:t>
            </a:r>
            <a:r>
              <a:rPr sz="1050" b="0" i="1">
                <a:solidFill>
                  <a:srgbClr val="16213A"/>
                </a:solidFill>
                <a:latin typeface="Arial"/>
                <a:ea typeface="Malgun Gothic"/>
                <a:cs typeface="Malgun Gothic"/>
              </a:rPr>
              <a:t>(1 - s)</a:t>
            </a:r>
            <a:r>
              <a:rPr sz="1050" b="0" i="0">
                <a:solidFill>
                  <a:srgbClr val="16213A"/>
                </a:solidFill>
                <a:latin typeface="Arial"/>
                <a:ea typeface="Malgun Gothic"/>
                <a:cs typeface="Malgun Gothic"/>
              </a:rPr>
              <a:t>이고, travplan에서 회전 견인은 1이다. travplan이 이미 가진 세 장치와 짝이 맞는다. 미끄럼을 rollout에 넣은 </a:t>
            </a:r>
            <a:r>
              <a:rPr sz="1050" b="0" i="0">
                <a:solidFill>
                  <a:srgbClr val="16213A"/>
                </a:solidFill>
                <a:latin typeface="Consolas"/>
                <a:ea typeface="Malgun Gothic"/>
                <a:cs typeface="Malgun Gothic"/>
              </a:rPr>
              <a:t>mppi_plant</a:t>
            </a:r>
            <a:r>
              <a:rPr sz="1050" b="0" i="0">
                <a:solidFill>
                  <a:srgbClr val="16213A"/>
                </a:solidFill>
                <a:latin typeface="Arial"/>
                <a:ea typeface="Malgun Gothic"/>
                <a:cs typeface="Malgun Gothic"/>
              </a:rPr>
              <a:t>(TP-0150), 명목 모델 위의 GP 잔차(TP-0068), GP 분산으로 세운 확률 제약(TP-0076)이다. 다른 점은 미끄럼을 어디서 읽느냐다. </a:t>
            </a:r>
            <a:r>
              <a:rPr sz="1050" b="0" i="0">
                <a:solidFill>
                  <a:srgbClr val="16213A"/>
                </a:solidFill>
                <a:latin typeface="Consolas"/>
                <a:ea typeface="Malgun Gothic"/>
                <a:cs typeface="Malgun Gothic"/>
              </a:rPr>
              <a:t>mppi_plant</a:t>
            </a:r>
            <a:r>
              <a:rPr sz="1050" b="0" i="0">
                <a:solidFill>
                  <a:srgbClr val="16213A"/>
                </a:solidFill>
                <a:latin typeface="Arial"/>
                <a:ea typeface="Malgun Gothic"/>
                <a:cs typeface="Malgun Gothic"/>
              </a:rPr>
              <a:t>는 plant의 미끄럼 식을 잡음 없이 belief 지도의 경사·거칠기에 적용한다. EVORA로 치면 </a:t>
            </a:r>
            <a:r>
              <a:rPr sz="1050" b="0" i="1">
                <a:solidFill>
                  <a:srgbClr val="16213A"/>
                </a:solidFill>
                <a:latin typeface="Arial"/>
                <a:ea typeface="Malgun Gothic"/>
                <a:cs typeface="Malgun Gothic"/>
              </a:rPr>
              <a:t>α = 1</a:t>
            </a:r>
            <a:r>
              <a:rPr sz="1050" b="0" i="0">
                <a:solidFill>
                  <a:srgbClr val="16213A"/>
                </a:solidFill>
                <a:latin typeface="Arial"/>
                <a:ea typeface="Malgun Gothic"/>
                <a:cs typeface="Malgun Gothic"/>
              </a:rPr>
              <a:t>(기댓값)에 가깝다. 그러자 Guidance 스택의 bumps_potholes 레벨 3에서 30개 중 28개가 첫 과속방지턱 앞에서 멈췄다(MPC 문서 M.3.22). EVORA는 같은 종류의 지형을 실제로 지나간 기록으로 분포를 배웠고, 비관의 정도를 </a:t>
            </a:r>
            <a:r>
              <a:rPr sz="1050" b="0" i="1">
                <a:solidFill>
                  <a:srgbClr val="16213A"/>
                </a:solidFill>
                <a:latin typeface="Arial"/>
                <a:ea typeface="Malgun Gothic"/>
                <a:cs typeface="Malgun Gothic"/>
              </a:rPr>
              <a:t>α</a:t>
            </a:r>
            <a:r>
              <a:rPr sz="1050" b="0" i="0">
                <a:solidFill>
                  <a:srgbClr val="16213A"/>
                </a:solidFill>
                <a:latin typeface="Arial"/>
                <a:ea typeface="Malgun Gothic"/>
                <a:cs typeface="Malgun Gothic"/>
              </a:rPr>
              <a:t> 하나로 조절했다. travplan에서 시험할 순서는 셋이다. 미끄럼을 plant·실물 기록에서 분포로 배우고(Controller 문서 E.10의 ② 지형에서 미끄럼으로 가는 자리), </a:t>
            </a:r>
            <a:r>
              <a:rPr sz="1050" b="0" i="1">
                <a:solidFill>
                  <a:srgbClr val="16213A"/>
                </a:solidFill>
                <a:latin typeface="Arial"/>
                <a:ea typeface="Malgun Gothic"/>
                <a:cs typeface="Malgun Gothic"/>
              </a:rPr>
              <a:t>α</a:t>
            </a:r>
            <a:r>
              <a:rPr sz="1050" b="0" i="0">
                <a:solidFill>
                  <a:srgbClr val="16213A"/>
                </a:solidFill>
                <a:latin typeface="Arial"/>
                <a:ea typeface="Malgun Gothic"/>
                <a:cs typeface="Malgun Gothic"/>
              </a:rPr>
              <a:t>를 짝 비교로 훑고, 치명이 하나라도 늘면 채택하지 않는다. WVN(인식 문서 A.7)도 명령 대비 실제 속도를 라벨로 쓰지만 점수 하나로 줄인다. 같은 연구실의 코드 </a:t>
            </a:r>
            <a:r>
              <a:rPr sz="1050" b="0" i="0">
                <a:solidFill>
                  <a:srgbClr val="16213A"/>
                </a:solidFill>
                <a:latin typeface="Consolas"/>
                <a:ea typeface="Malgun Gothic"/>
                <a:cs typeface="Malgun Gothic"/>
              </a:rPr>
              <a:t>mppi_numba</a:t>
            </a:r>
            <a:r>
              <a:rPr sz="1050" b="0" i="0">
                <a:solidFill>
                  <a:srgbClr val="16213A"/>
                </a:solidFill>
                <a:latin typeface="Arial"/>
                <a:ea typeface="Malgun Gothic"/>
                <a:cs typeface="Malgun Gothic"/>
              </a:rPr>
              <a:t>는 참고문헌 D.13.2(ACL)에 이미 있다. EVORA의 계획기는 명목 명령의 변화율 공간에서 표본을 뽑는 SMPPI(Controller 문서 B.5)를 썼고, 이것도 travplan에 있다.</a:t>
            </a:r>
          </a:p>
        </p:txBody>
      </p:sp>
    </p:spTree>
  </p:cSld>
  <p:clrMapOvr>
    <a:masterClrMapping/>
  </p:clrMapOvr>
</p:sld>
</file>

<file path=ppt/slides/slide37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4/14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375 / 516</a:t>
            </a:r>
          </a:p>
        </p:txBody>
      </p:sp>
      <p:pic>
        <p:nvPicPr>
          <p:cNvPr id="5" name="Picture 4" descr="image.jpg"/>
          <p:cNvPicPr>
            <a:picLocks noChangeAspect="1"/>
          </p:cNvPicPr>
          <p:nvPr/>
        </p:nvPicPr>
        <p:blipFill>
          <a:blip r:embed="rId3"/>
          <a:stretch>
            <a:fillRect/>
          </a:stretch>
        </p:blipFill>
        <p:spPr>
          <a:xfrm>
            <a:off x="1806575" y="1244600"/>
            <a:ext cx="8578850" cy="4445000"/>
          </a:xfrm>
          <a:prstGeom prst="rect">
            <a:avLst/>
          </a:prstGeom>
        </p:spPr>
      </p:pic>
      <p:sp>
        <p:nvSpPr>
          <p:cNvPr id="6" name="TextBox 5"/>
          <p:cNvSpPr txBox="1"/>
          <p:nvPr/>
        </p:nvSpPr>
        <p:spPr>
          <a:xfrm>
            <a:off x="1806575" y="5727700"/>
            <a:ext cx="8578850" cy="42654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EVORA (Fig. 2): (a) Spot을 몰아 지나간 길의 견인 값과 높이·의미 지도를 모은다. (b) 견인 분포(디리클레)를 내는 예측기와 그 잠재 특징의 밀도를 내는 normalizing flow를 함께 학습한다. (c) 배치 때 샘플링 MPC가 같은 명령열을 명목 견인으로 굴리면(빨간 점선) 멀리 나아가 크게 돌지만, 견인 분포의 왼쪽 꼬리 CVaR로 굴리면(파란 화살표) 덜 나아가고 덜 돈다. 밀도가 문턱 아래인 지형(하늘색)은 OOD로 피한다. 출처: arXiv:2311.06234</a:t>
            </a:r>
          </a:p>
        </p:txBody>
      </p:sp>
    </p:spTree>
  </p:cSld>
  <p:clrMapOvr>
    <a:masterClrMapping/>
  </p:clrMapOvr>
</p:sld>
</file>

<file path=ppt/slides/slide37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5/14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376 / 516</a:t>
            </a:r>
          </a:p>
        </p:txBody>
      </p:sp>
      <p:sp>
        <p:nvSpPr>
          <p:cNvPr id="5" name="TextBox 4"/>
          <p:cNvSpPr txBox="1"/>
          <p:nvPr/>
        </p:nvSpPr>
        <p:spPr>
          <a:xfrm>
            <a:off x="609600" y="1244600"/>
            <a:ext cx="10972800" cy="151546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Spot의 RL 보행(Boston Dynamics) — 경로 계획기와 MPC 보행 제어기 사이에 RL 정책을 넣어 고객 로봇에 출하했다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Boston Dynamics 블로그 2024-03-19</a:t>
            </a:r>
            <a:r>
              <a:rPr sz="1050" b="0" i="0">
                <a:solidFill>
                  <a:srgbClr val="16213A"/>
                </a:solidFill>
                <a:latin typeface="Arial"/>
                <a:ea typeface="Malgun Gothic"/>
                <a:cs typeface="Malgun Gothic"/>
              </a:rPr>
              <a:t>, Spot 소프트웨어 4.0(2024-02), </a:t>
            </a:r>
            <a:r>
              <a:rPr sz="1050" b="0" i="0">
                <a:solidFill>
                  <a:srgbClr val="1D4ED8"/>
                </a:solidFill>
                <a:latin typeface="Arial"/>
                <a:ea typeface="Malgun Gothic"/>
                <a:cs typeface="Malgun Gothic"/>
                <a:hlinkClick r:id="rId4"/>
              </a:rPr>
              <a:t>RL Researcher Kit</a:t>
            </a:r>
            <a:r>
              <a:rPr sz="1050" b="0" i="0">
                <a:solidFill>
                  <a:srgbClr val="16213A"/>
                </a:solidFill>
                <a:latin typeface="Arial"/>
                <a:ea typeface="Malgun Gothic"/>
                <a:cs typeface="Malgun Gothic"/>
              </a:rPr>
              <a:t>). 이전 Spot은 걸음 기준이 서로 다른 MPC 지평 수십 개를 1 ms 안에 함께 풀고, 점수 함수로 하나를 골랐다. 넘어짐 사이 평균 시간은 수백 시간이었다. Boston Dynamics가 든 단점은 둘이다. MPC 여럿을 함께 푸는 계산이 비싸고, 새 실패를 고치려 선택 함수를 바꾸면 다른 상황이 나빠질 위험이 있다. 새 구조에서는 RL 정책이 경로 계획기의 궤적과 상태·지도를 받아, 궤적과 걸음새를 기존 모델 기반 보행 제어기에 넘긴다. 학습은 계단 치수·노면 거칠기·마찰을 무작위로 바꾼 시뮬레이션 백만 번 이상이다. 검증은 두 단계다. 병렬 시뮬레이션에서 새 장면은 나아지고 기존 수백 장면은 그대로인지 본 뒤, 주당 2,000시간 넘게 도는 사내 Spot 무리에 올린다. 무리에서 나온 넘어짐 가운데 시뮬레이션에서 재현되는 것은 학습 또는 평가 집합에 넣는다. Boston Dynamics는 미끄럽고 고르지 않은 바닥에서 덜 넘어진다고 적었지만 수치는 공개하지 않았다. 2024-03에는 NVIDIA, AI Institute(지금 RAI Institute)와 함께 RL Researcher Kit를 발표했다. 관절 수준 API 사용권, Jetson AGX Orin 탑재 장치, Isaac Lab 기반 Spot 시뮬레이션 환경을 묶은 것이고, 첫 고객이 AI Institute였다(다음 카드).</a:t>
            </a:r>
          </a:p>
        </p:txBody>
      </p:sp>
      <p:sp>
        <p:nvSpPr>
          <p:cNvPr id="6" name="TextBox 5"/>
          <p:cNvSpPr txBox="1"/>
          <p:nvPr/>
        </p:nvSpPr>
        <p:spPr>
          <a:xfrm>
            <a:off x="609600" y="2848967"/>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이전 Spot의 '후보 여럿을 풀고 점수로 고르기'는 Planner D의 표본과 선택기에 해당한다. Boston Dynamics가 든 위험(새 실패를 고치려 선택 함수를 바꾸면 다른 상황이 나빠질 수 있다)은 travplan 선택기에도 생길 수 있다. 지금까지 Guidance 폴백(TP-0078)은 레벨 0과 보행자 성적을 지켰다(B.15.2). '새 장면은 나아지고 기존 수백 장면은 그대로'라는 출하 기준은 짝 비교와 잡음 바닥으로 가르는 travplan의 판정(B.15.2)과 같은 생각이다. 실패를 시뮬레이션으로 옮겨 학습·평가 집합에 넣는 순환은 실물 주행이 시작된 뒤의 절차로 sim-to-real 프로토콜(TP-0043)에 넣을 만하다.</a:t>
            </a:r>
          </a:p>
        </p:txBody>
      </p:sp>
      <p:pic>
        <p:nvPicPr>
          <p:cNvPr id="7" name="Picture 6" descr="image.jpg"/>
          <p:cNvPicPr>
            <a:picLocks noChangeAspect="1"/>
          </p:cNvPicPr>
          <p:nvPr/>
        </p:nvPicPr>
        <p:blipFill>
          <a:blip r:embed="rId5"/>
          <a:stretch>
            <a:fillRect/>
          </a:stretch>
        </p:blipFill>
        <p:spPr>
          <a:xfrm>
            <a:off x="1016000" y="3803848"/>
            <a:ext cx="10160000" cy="1301750"/>
          </a:xfrm>
          <a:prstGeom prst="rect">
            <a:avLst/>
          </a:prstGeom>
        </p:spPr>
      </p:pic>
      <p:sp>
        <p:nvSpPr>
          <p:cNvPr id="8" name="TextBox 7"/>
          <p:cNvSpPr txBox="1"/>
          <p:nvPr/>
        </p:nvSpPr>
        <p:spPr>
          <a:xfrm>
            <a:off x="1016000" y="5143698"/>
            <a:ext cx="101600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Spot RL 보행 제어 (Boston Dynamics 블로그 그림): 경로 계획기가 명령과 장애물에서 궤적을 내고, RL 정책이 그 궤적과 상태·지도를 받아 궤적과 걸음새를 보행 제어기에 넘긴다. 보행 제어기가 구동 명령을 낸다. 출처: Boston Dynamics 블로그</a:t>
            </a:r>
          </a:p>
        </p:txBody>
      </p:sp>
    </p:spTree>
  </p:cSld>
  <p:clrMapOvr>
    <a:masterClrMapping/>
  </p:clrMapOvr>
</p:sld>
</file>

<file path=ppt/slides/slide37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6/14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377 / 516</a:t>
            </a:r>
          </a:p>
        </p:txBody>
      </p:sp>
      <p:sp>
        <p:nvSpPr>
          <p:cNvPr id="5" name="TextBox 4"/>
          <p:cNvSpPr txBox="1"/>
          <p:nvPr/>
        </p:nvSpPr>
        <p:spPr>
          <a:xfrm>
            <a:off x="609600" y="1244600"/>
            <a:ext cx="10972800" cy="1298972"/>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Spot 고속 RL(RAI Institute) — 시뮬레이션 파라미터를 분포 거리로 맞춘 RL 단독 정책으로 Spot이 5.2 m/s로 달렸다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arXiv:2504.17857</a:t>
            </a:r>
            <a:r>
              <a:rPr sz="1050" b="0" i="0">
                <a:solidFill>
                  <a:srgbClr val="16213A"/>
                </a:solidFill>
                <a:latin typeface="Arial"/>
                <a:ea typeface="Malgun Gothic"/>
                <a:cs typeface="Malgun Gothic"/>
              </a:rPr>
              <a:t>, Miller·Yu·Brauckmann·Farshidian, ICRA 2025, </a:t>
            </a:r>
            <a:r>
              <a:rPr sz="1050" b="0" i="0">
                <a:solidFill>
                  <a:srgbClr val="1D4ED8"/>
                </a:solidFill>
                <a:latin typeface="Arial"/>
                <a:ea typeface="Malgun Gothic"/>
                <a:cs typeface="Malgun Gothic"/>
                <a:hlinkClick r:id="rId4"/>
              </a:rPr>
              <a:t>RAI Institute 페이지</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5"/>
              </a:rPr>
              <a:t>학습 환경</a:t>
            </a:r>
            <a:r>
              <a:rPr sz="1050" b="0" i="0">
                <a:solidFill>
                  <a:srgbClr val="16213A"/>
                </a:solidFill>
                <a:latin typeface="Arial"/>
                <a:ea typeface="Malgun Gothic"/>
                <a:cs typeface="Malgun Gothic"/>
              </a:rPr>
              <a:t> BSD-3-Clause). RL Researcher Kit의 관절 수준 API로 MPC 없이 정책 하나가 Spot을 몰고, 원문은 이것을 Spot 실물의 첫 공개 끝에서 끝까지 RL 정책이라고 적는다. 학습은 Isaac Lab과 rsl_rl, 배포는 Jetson Orin이다. 명령열 넷을 실물에서 5번씩, 시뮬레이션에서 여러 번 굴린다. 4 m/s 달리기, 여섯 방향 1.5 m/s 이동, 무작위 명령, 사람 조종이다. 관절 위치·속도·행동의 분포 차이를 Wasserstein 거리와 MMD(maximum mean discrepancy)로 잰다. 그 차이를 목적 함수로 CMA-ES가 관절 마찰 2개와 토크-속도 곡선 6개, 모두 8개의 파라미터를 맞췄다(반복 100회, 개체 10). 원문은 토크 측정이 필요한 블랙박스 actuator net(B.14.1) 대신 이 회색 상자 모델을 골랐다. 한 번 맞추고 다시 학습하자 실물 최고 속도가 3.8에서 5.2 m/s로 올랐고, 이전 정책이 실물에서 실패하던 네 발이 모두 뜨는 걸음도 됐다. 원문은 기본 Spot 제어기의 최고 속도를 1.6 m/s로 적는다.</a:t>
            </a:r>
          </a:p>
        </p:txBody>
      </p:sp>
      <p:sp>
        <p:nvSpPr>
          <p:cNvPr id="6" name="TextBox 5"/>
          <p:cNvSpPr txBox="1"/>
          <p:nvPr/>
        </p:nvSpPr>
        <p:spPr>
          <a:xfrm>
            <a:off x="609600" y="2632472"/>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실물 주행이 시작되면 첫 주행 기록으로 plant 파라미터를 맞추는 절차가 필요하다(시뮬레이션 문서 S.6.2, TP-0043). 이 논문은 궤적을 시점마다 맞추지 않고 분포로 맞춘다. 시작 상태를 같게 만들 필요가 없고, 시간에 따라 오차가 쌓이는 문제를 피한다. travplan에서는 같은 명령열로 실물과 plant를 굴린 뒤, 명령 대비 실현 twist의 분포 차이를 줄이도록 스워브 plant의 지연과 미끄럼 파라미터를 맞추면 된다. plant는 </a:t>
            </a:r>
            <a:r>
              <a:rPr sz="1050" b="0" i="0">
                <a:solidFill>
                  <a:srgbClr val="16213A"/>
                </a:solidFill>
                <a:latin typeface="Consolas"/>
                <a:ea typeface="Malgun Gothic"/>
                <a:cs typeface="Malgun Gothic"/>
              </a:rPr>
              <a:t>robot/plant.py</a:t>
            </a:r>
            <a:r>
              <a:rPr sz="1050" b="0" i="0">
                <a:solidFill>
                  <a:srgbClr val="16213A"/>
                </a:solidFill>
                <a:latin typeface="Arial"/>
                <a:ea typeface="Malgun Gothic"/>
                <a:cs typeface="Malgun Gothic"/>
              </a:rPr>
              <a:t>(TP-0033·TP-0034)이고, 맞춘 값은 지연 rollout(TP-0150)과 잔차 학습(TP-0068)이 함께 쓴다. 같은 연구소의 ReLIC도 무릎 토크-속도 한계를 실물·시뮬 rollout의 Wasserstein 거리를 CMA-ES로 줄여 맞췄다.</a:t>
            </a:r>
          </a:p>
        </p:txBody>
      </p:sp>
    </p:spTree>
  </p:cSld>
  <p:clrMapOvr>
    <a:masterClrMapping/>
  </p:clrMapOvr>
</p:sld>
</file>

<file path=ppt/slides/slide37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7/14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378 / 516</a:t>
            </a:r>
          </a:p>
        </p:txBody>
      </p:sp>
      <p:pic>
        <p:nvPicPr>
          <p:cNvPr id="5" name="Picture 4" descr="image.jpg"/>
          <p:cNvPicPr>
            <a:picLocks noChangeAspect="1"/>
          </p:cNvPicPr>
          <p:nvPr/>
        </p:nvPicPr>
        <p:blipFill>
          <a:blip r:embed="rId3"/>
          <a:stretch>
            <a:fillRect/>
          </a:stretch>
        </p:blipFill>
        <p:spPr>
          <a:xfrm>
            <a:off x="2590800" y="1244600"/>
            <a:ext cx="7010400" cy="4445000"/>
          </a:xfrm>
          <a:prstGeom prst="rect">
            <a:avLst/>
          </a:prstGeom>
        </p:spPr>
      </p:pic>
      <p:sp>
        <p:nvSpPr>
          <p:cNvPr id="6" name="TextBox 5"/>
          <p:cNvSpPr txBox="1"/>
          <p:nvPr/>
        </p:nvSpPr>
        <p:spPr>
          <a:xfrm>
            <a:off x="2590800" y="5727700"/>
            <a:ext cx="70104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Spot 고속 RL (Fig. 1): 이 정책으로 트랙을 5.2 m/s로 달리는 Spot이 네 발이 모두 뜬 순간이다. 등에 탑재 장치가 얹혀 있다. 원문 캡션은 이 걸음을 gallop으로, 본문은 flying trot으로 적는다. 출처: arXiv:2504.17857</a:t>
            </a:r>
          </a:p>
        </p:txBody>
      </p:sp>
    </p:spTree>
  </p:cSld>
  <p:clrMapOvr>
    <a:masterClrMapping/>
  </p:clrMapOvr>
</p:sld>
</file>

<file path=ppt/slides/slide37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8/14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379 / 516</a:t>
            </a:r>
          </a:p>
        </p:txBody>
      </p:sp>
      <p:sp>
        <p:nvSpPr>
          <p:cNvPr id="5" name="TextBox 4"/>
          <p:cNvSpPr txBox="1"/>
          <p:nvPr/>
        </p:nvSpPr>
        <p:spPr>
          <a:xfrm>
            <a:off x="609600" y="1244600"/>
            <a:ext cx="10972800" cy="1731962"/>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ZEST — 모션 캡처·영상·애니메이션을 따라 하는 RL 정책을 시뮬레이션에서만 학습해 Atlas·G1·Spot에 바로 올렸다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arXiv:2602.00401</a:t>
            </a:r>
            <a:r>
              <a:rPr sz="1050" b="0" i="0">
                <a:solidFill>
                  <a:srgbClr val="16213A"/>
                </a:solidFill>
                <a:latin typeface="Arial"/>
                <a:ea typeface="Malgun Gothic"/>
                <a:cs typeface="Malgun Gothic"/>
              </a:rPr>
              <a:t>, Sleiman 외 27명, 교신 저자 Farshidian, RAI Institute·Boston Dynamics, Science Robotics 11(117) eaec7695, 2026-08, </a:t>
            </a:r>
            <a:r>
              <a:rPr sz="1050" b="0" i="0">
                <a:solidFill>
                  <a:srgbClr val="1D4ED8"/>
                </a:solidFill>
                <a:latin typeface="Arial"/>
                <a:ea typeface="Malgun Gothic"/>
                <a:cs typeface="Malgun Gothic"/>
                <a:hlinkClick r:id="rId4"/>
              </a:rPr>
              <a:t>doi:10.1126/scirobotics.aec7695</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5"/>
              </a:rPr>
              <a:t>협력 발표 2025-02-05</a:t>
            </a:r>
            <a:r>
              <a:rPr sz="1050" b="0" i="0">
                <a:solidFill>
                  <a:srgbClr val="16213A"/>
                </a:solidFill>
                <a:latin typeface="Arial"/>
                <a:ea typeface="Malgun Gothic"/>
                <a:cs typeface="Malgun Gothic"/>
              </a:rPr>
              <a:t>). 두 기관은 2025-02에 전기 Atlas의 공동 RL 학습 파이프라인을 발표했고, ZEST는 두 기관이 함께 쓴 방법 논문이다. 정책은 현재 고유감각과 바로 다음 한 스텝의 기준 상태만 보고, 기준 관절각에 더할 잔차를 낸다. 이력은 직전 행동 하나뿐이고, 미래 기준 창과 상태 추정기는 쓰지 않는다. 어려운 구간을 실패율에 따라 더 자주 뽑는 적응 표집과, 몸통을 받쳐 주다가 줄여 가는 보조 렌치 커리큘럼으로 옆돌기, 브레이크댄스, 포복을 배웠다. 기술 하나의 정책을 NVIDIA L4 GPU 한 장으로 약 10시간 학습했다(Isaac Lab, PPO). 시뮬레이션에서는 Atlas 동작 전체를 함께 배운 RL 정책 하나를 Boston Dynamics의 전신 MPC와 비교했다. 걷기는 둘이 거의 같았다(관절 오차 MPC 0.047 rad, RL 0.055 rad). 조깅(0.117 대 0.076)과 옆돌기(0.237 대 0.088)는 RL이 나았다. MPC는 춤 하나, 물구나무 넘기, 네발 구르기를 해내지 못했다. 손발 밖의 접촉(무릎, 몸통, 팔뚝)이 필요한 동작은 MPC가 다루지 못해 비교에서 뺐다. 저자들은 이 정책이 고유감각만 쓰고 평평하고 미끄럽지 않은 지형을 가정한다고 적는다. 1저자 Jean-Pierre Sleiman은 지금 Flexion 팀에 있다(B.16.3). 휴머노이드 소절(B.16.6)은 이 카드를 가리킨다.</a:t>
            </a:r>
          </a:p>
        </p:txBody>
      </p:sp>
      <p:sp>
        <p:nvSpPr>
          <p:cNvPr id="6" name="TextBox 5"/>
          <p:cNvSpPr txBox="1"/>
          <p:nvPr/>
        </p:nvSpPr>
        <p:spPr>
          <a:xfrm>
            <a:off x="609600" y="3065462"/>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모델 기반 MPC와 학습 정책을 같은 시뮬레이터, 같은 기준 동작에서 맞댄 방식은 travplan이 MPPI와 NMPC를 같은 벤치마크에서 비교하는 방식과 같다. ZEST에서 MPC는 기준 동작에서 휴리스틱으로 뽑은 접촉 일정이 정확한 걷기에서 대등했고, 접촉 일정이 틀리기 쉬운 동작에서 먼저 무너졌다. travplan에서도 plant 지연을 모르는 NMPC가 지연을 아는 MPPI보다 치명이 많았다(TP-0152). 모델 가정이 틀린 쪽이 진다는 방향은 같지만, 문제와 원인은 다르다. 구간별 실패율로 어려운 구간을 더 자주 뽑는 적응 표집은 Planner D RL 후학습(TP-0066)의 지형 표집에 옮길 수 있다.</a:t>
            </a:r>
          </a:p>
        </p:txBody>
      </p:sp>
    </p:spTree>
  </p:cSld>
  <p:clrMapOvr>
    <a:masterClrMapping/>
  </p:clrMapOvr>
</p:sld>
</file>

<file path=ppt/slides/slide38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9/14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380 / 516</a:t>
            </a:r>
          </a:p>
        </p:txBody>
      </p:sp>
      <p:pic>
        <p:nvPicPr>
          <p:cNvPr id="5" name="Picture 4" descr="image.jpg"/>
          <p:cNvPicPr>
            <a:picLocks noChangeAspect="1"/>
          </p:cNvPicPr>
          <p:nvPr/>
        </p:nvPicPr>
        <p:blipFill>
          <a:blip r:embed="rId3"/>
          <a:stretch>
            <a:fillRect/>
          </a:stretch>
        </p:blipFill>
        <p:spPr>
          <a:xfrm>
            <a:off x="3756025" y="1244600"/>
            <a:ext cx="4679950" cy="4445000"/>
          </a:xfrm>
          <a:prstGeom prst="rect">
            <a:avLst/>
          </a:prstGeom>
        </p:spPr>
      </p:pic>
      <p:sp>
        <p:nvSpPr>
          <p:cNvPr id="6" name="TextBox 5"/>
          <p:cNvSpPr txBox="1"/>
          <p:nvPr/>
        </p:nvSpPr>
        <p:spPr>
          <a:xfrm>
            <a:off x="3756025" y="5727700"/>
            <a:ext cx="4679950" cy="42654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ZEST (Fig. 1): Atlas·G1·Spot이 모션 캡처(포복, 구르기, 조깅, 브레이크댄스, 옆돌기, 탁구), 영상(춤, 상자 오르기, 발레, 축구 차기), 애니메이션(물구나무, 연속 백플립, 배럴 롤)에서 배운 동작을 실물에서 한다. 원문 캡션은 왼쪽 위부터 오른쪽 아래 순서로 동작 19개를 나열한다. 출처: arXiv:2602.00401</a:t>
            </a:r>
          </a:p>
        </p:txBody>
      </p:sp>
    </p:spTree>
  </p:cSld>
  <p:clrMapOvr>
    <a:masterClrMapping/>
  </p:clrMapOvr>
</p:sld>
</file>

<file path=ppt/slides/slide38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10/14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381 / 516</a:t>
            </a:r>
          </a:p>
        </p:txBody>
      </p:sp>
      <p:sp>
        <p:nvSpPr>
          <p:cNvPr id="5" name="TextBox 4"/>
          <p:cNvSpPr txBox="1"/>
          <p:nvPr/>
        </p:nvSpPr>
        <p:spPr>
          <a:xfrm>
            <a:off x="609600" y="1244600"/>
            <a:ext cx="10972800" cy="151546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Atlas 대형 행동 모델(Boston Dynamics·TRI) — 원격조종 시연으로 학습한 언어 조건 diffusion transformer가 손·발·몸통 목표를 내고, Atlas의 MPC가 균형을 맡는다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Boston Dynamics 블로그 2025-08-20</a:t>
            </a:r>
            <a:r>
              <a:rPr sz="1050" b="0" i="0">
                <a:solidFill>
                  <a:srgbClr val="16213A"/>
                </a:solidFill>
                <a:latin typeface="Arial"/>
                <a:ea typeface="Malgun Gothic"/>
                <a:cs typeface="Malgun Gothic"/>
              </a:rPr>
              <a:t>, Boston Dynamics와 Toyota Research Institute(TRI) 연구팀, 논문 없음). 정책은 머리의 HDR 스테레오 카메라 영상, 고유감각, 언어 지시를 받아 Atlas 전신을 30 Hz로 움직인다. 모델은 4.5억 파라미터 diffusion transformer이고 flow matching 손실로 학습했다. 행동은 두 그리퍼의 관절, 목 회전, 몸통·두 손·두 발의 자세다. 한 번에 48개(1.6 s)를 내고, 보통 그 가운데 24개(0.8 s)를 실행한 뒤 다시 추론한다. 데이터는 VR 원격조종으로 모았다. 원격조종은 Boston Dynamics의 MPC 위에서 돌고, 균형과 자기 충돌 회피는 MPC가 맡는다. 정책도 원격조종과 같은 제어 인터페이스로 로봇을 움직인다. 첫 판은 서 있는 채로만 조종했다. 두 발에 추적기를 더한 뒤로는 조종자가 발을 옮기면 Atlas의 지지 다각형과 디딤도 따라 바뀐다. 상체만 있는 Atlas MTS(29자유도)와 TRI의 Ramen 데이터, 시뮬레이션 데이터를 함께 학습했다. 한 정책이 언어 지시 셋으로 Spot 부품을 정리하는 긴 과제를 끊지 않고 이어 했다. 정책이 행동과 그 실행 시각을 함께 내므로, 추론 때 시각만 줄여 1.5–2배 빨리 돌려도 성능이 크게 떨어지지 않았다고 적는다. 성공률 같은 수치는 공개하지 않았다.</a:t>
            </a:r>
          </a:p>
        </p:txBody>
      </p:sp>
      <p:sp>
        <p:nvSpPr>
          <p:cNvPr id="6" name="TextBox 5"/>
          <p:cNvSpPr txBox="1"/>
          <p:nvPr/>
        </p:nvSpPr>
        <p:spPr>
          <a:xfrm>
            <a:off x="609600" y="2848967"/>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학습한 위 층이 손·발·몸통 목표를 내고 모델 기반 MPC가 균형과 접촉을 맡는 배치는 travplan의 Planner D와 MPPI·NMPC 분리와 같다. 행동 생성기도 Planner D처럼 flow matching이다. Boston Dynamics는 Spot의 RL 보행(이 소절 앞 카드)과 Atlas의 이 모델 모두에서 학습 정책을 모델 기반 제어기 위에 두었다. Boston Dynamics가 함께한 연구 가운데 MPC 없이 RL 정책이 관절을 직접 움직이는 것은 RAI Institute와 쓴 ZEST다. 행동과 실행 시각을 함께 내는 꼴은 Planner D의 시간 인덱스 궤적(</a:t>
            </a:r>
            <a:r>
              <a:rPr sz="1050" b="0" i="0">
                <a:solidFill>
                  <a:srgbClr val="16213A"/>
                </a:solidFill>
                <a:latin typeface="Consolas"/>
                <a:ea typeface="Malgun Gothic"/>
                <a:cs typeface="Malgun Gothic"/>
              </a:rPr>
              <a:t>PlanResult.times</a:t>
            </a:r>
            <a:r>
              <a:rPr sz="1050" b="0" i="0">
                <a:solidFill>
                  <a:srgbClr val="16213A"/>
                </a:solidFill>
                <a:latin typeface="Arial"/>
                <a:ea typeface="Malgun Gothic"/>
                <a:cs typeface="Malgun Gothic"/>
              </a:rPr>
              <a:t>)과 같다. Planner D 궤적의 시각만 늘여 천천히 따르게 하는 시험은 travplan 문서에 기록이 없다.</a:t>
            </a:r>
          </a:p>
        </p:txBody>
      </p:sp>
    </p:spTree>
  </p:cSld>
  <p:clrMapOvr>
    <a:masterClrMapping/>
  </p:clrMapOvr>
</p:sld>
</file>

<file path=ppt/slides/slide38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11/14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382 / 516</a:t>
            </a:r>
          </a:p>
        </p:txBody>
      </p:sp>
      <p:pic>
        <p:nvPicPr>
          <p:cNvPr id="5" name="Picture 4" descr="image.jpg"/>
          <p:cNvPicPr>
            <a:picLocks noChangeAspect="1"/>
          </p:cNvPicPr>
          <p:nvPr/>
        </p:nvPicPr>
        <p:blipFill>
          <a:blip r:embed="rId3"/>
          <a:stretch>
            <a:fillRect/>
          </a:stretch>
        </p:blipFill>
        <p:spPr>
          <a:xfrm>
            <a:off x="1016000" y="1244600"/>
            <a:ext cx="10160000" cy="3689350"/>
          </a:xfrm>
          <a:prstGeom prst="rect">
            <a:avLst/>
          </a:prstGeom>
        </p:spPr>
      </p:pic>
      <p:sp>
        <p:nvSpPr>
          <p:cNvPr id="6" name="TextBox 5"/>
          <p:cNvSpPr txBox="1"/>
          <p:nvPr/>
        </p:nvSpPr>
        <p:spPr>
          <a:xfrm>
            <a:off x="1016000" y="4972050"/>
            <a:ext cx="101600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Atlas 대형 행동 모델 (Boston Dynamics 블로그 그림): 입력은 머리 카메라의 RGB 영상, 언어 지시(예: 통의 부품을 비워 상자 트럭으로 옮겨라), 고유감각, diffusion 단계 번호다. 영상과 언어는 각 인코더를 거쳐 diffusion transformer의 조건이 되고, 이 망이 잡음 섞인 행동 열을 깨끗한 행동 열로 바꾼다. 오른쪽 행동 공간은 목 회전 관절, 몸통·두 손·두 발의 자세, 두 그리퍼 관절이다. 출처: Boston Dynamics 블로그</a:t>
            </a:r>
          </a:p>
        </p:txBody>
      </p:sp>
    </p:spTree>
  </p:cSld>
  <p:clrMapOvr>
    <a:masterClrMapping/>
  </p:clrMapOvr>
</p:sld>
</file>

<file path=ppt/slides/slide38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12/14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383 / 516</a:t>
            </a:r>
          </a:p>
        </p:txBody>
      </p:sp>
      <p:sp>
        <p:nvSpPr>
          <p:cNvPr id="5" name="TextBox 4"/>
          <p:cNvSpPr txBox="1"/>
          <p:nvPr/>
        </p:nvSpPr>
        <p:spPr>
          <a:xfrm>
            <a:off x="609600" y="1244600"/>
            <a:ext cx="10972800" cy="108247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바퀴 쪽의 UMV와 Roadrunner — 다리 대신 바퀴로도 같은 학습 정책 실험을 한다.</a:t>
            </a:r>
            <a:r>
              <a:rPr sz="1050" b="0" i="0">
                <a:solidFill>
                  <a:srgbClr val="16213A"/>
                </a:solidFill>
                <a:latin typeface="Arial"/>
                <a:ea typeface="Malgun Gothic"/>
                <a:cs typeface="Malgun Gothic"/>
              </a:rPr>
              <a:t> UMV(Ultra Mobility Vehicle)는 23.5 kg 자전거 로봇이다(</a:t>
            </a:r>
            <a:r>
              <a:rPr sz="1050" b="0" i="0">
                <a:solidFill>
                  <a:srgbClr val="1D4ED8"/>
                </a:solidFill>
                <a:latin typeface="Arial"/>
                <a:ea typeface="Malgun Gothic"/>
                <a:cs typeface="Malgun Gothic"/>
                <a:hlinkClick r:id="rId3"/>
              </a:rPr>
              <a:t>arXiv:2602.22118</a:t>
            </a:r>
            <a:r>
              <a:rPr sz="1050" b="0" i="0">
                <a:solidFill>
                  <a:srgbClr val="16213A"/>
                </a:solidFill>
                <a:latin typeface="Arial"/>
                <a:ea typeface="Malgun Gothic"/>
                <a:cs typeface="Malgun Gothic"/>
              </a:rPr>
              <a:t>). 질량 대부분을 머리에 모으고, 공간 링크로 그 질량을 던지듯 움직여 뒷바퀴 뛰기, 앞공중제비, 1 m 탁자 뛰어오르기를 한다. 1 m는 로봇 기본 높이의 130%다. 링크 구조는 시뮬레이션 기반 설계 최적화로 고르고, 동작은 제약 RL로 학습해 실물에 바로 올렸다. 최고 속도는 8 m/s다. Roadrunner는 바퀴를 나란히 또는 앞뒤로 바꿔 다는 약 15 kg 바퀴 이족 시제품이다. 정책 하나가 두 주행 모드를 맡는다. 논문 없이 </a:t>
            </a:r>
            <a:r>
              <a:rPr sz="1050" b="0" i="0">
                <a:solidFill>
                  <a:srgbClr val="1D4ED8"/>
                </a:solidFill>
                <a:latin typeface="Arial"/>
                <a:ea typeface="Malgun Gothic"/>
                <a:cs typeface="Malgun Gothic"/>
                <a:hlinkClick r:id="rId4"/>
              </a:rPr>
              <a:t>영상 페이지</a:t>
            </a:r>
            <a:r>
              <a:rPr sz="1050" b="0" i="0">
                <a:solidFill>
                  <a:srgbClr val="16213A"/>
                </a:solidFill>
                <a:latin typeface="Arial"/>
                <a:ea typeface="Malgun Gothic"/>
                <a:cs typeface="Malgun Gothic"/>
              </a:rPr>
              <a:t>만 있다(2026-10-07). travplan과의 관련은 간접적이다. 스워브 보도 로봇에는 이런 곡예가 필요 없다. 다만 UMV는 몸체의 링크 구조를 시뮬레이션으로 먼저 고르고 같은 시뮬레이터에서 정책을 학습했다. 모듈 오프셋 같은 하드웨어 파라미터를 고를 때 같은 순서를 쓸 수 있다.</a:t>
            </a:r>
          </a:p>
        </p:txBody>
      </p:sp>
    </p:spTree>
  </p:cSld>
  <p:clrMapOvr>
    <a:masterClrMapping/>
  </p:clrMapOvr>
</p:sld>
</file>

<file path=ppt/slides/slide38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13/14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384 / 516</a:t>
            </a:r>
          </a:p>
        </p:txBody>
      </p:sp>
      <p:pic>
        <p:nvPicPr>
          <p:cNvPr id="5" name="Picture 4" descr="image.jpg"/>
          <p:cNvPicPr>
            <a:picLocks noChangeAspect="1"/>
          </p:cNvPicPr>
          <p:nvPr/>
        </p:nvPicPr>
        <p:blipFill>
          <a:blip r:embed="rId3"/>
          <a:stretch>
            <a:fillRect/>
          </a:stretch>
        </p:blipFill>
        <p:spPr>
          <a:xfrm>
            <a:off x="1568450" y="1244600"/>
            <a:ext cx="9055100" cy="4445000"/>
          </a:xfrm>
          <a:prstGeom prst="rect">
            <a:avLst/>
          </a:prstGeom>
        </p:spPr>
      </p:pic>
      <p:sp>
        <p:nvSpPr>
          <p:cNvPr id="6" name="TextBox 5"/>
          <p:cNvSpPr txBox="1"/>
          <p:nvPr/>
        </p:nvSpPr>
        <p:spPr>
          <a:xfrm>
            <a:off x="1568450" y="5727700"/>
            <a:ext cx="90551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UMV (Fig. 1): (A) 구동 자유도 다섯의 자전거 로봇이다. 조향과 뒷바퀴 구동 외에, 머리(Head)의 점프 구동기 셋이 목(Neck)과 연결 막대를 거쳐 질량을 움직인다. (B) 앞공중제비, (C) 한 다리 호퍼처럼 균형을 잡는 뒷바퀴 뛰기, (D) 가속해 1 m 탁자에 뛰어올라 지나간 뒤 내려오는 자율 동작의 합성 사진이다. 출처: arXiv:2602.22118</a:t>
            </a:r>
          </a:p>
        </p:txBody>
      </p:sp>
    </p:spTree>
  </p:cSld>
  <p:clrMapOvr>
    <a:masterClrMapping/>
  </p:clrMapOvr>
</p:sld>
</file>

<file path=ppt/slides/slide38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14/14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385 / 516</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사람.</a:t>
            </a:r>
            <a:r>
              <a:rPr sz="1050" b="0" i="0">
                <a:solidFill>
                  <a:srgbClr val="16213A"/>
                </a:solidFill>
                <a:latin typeface="Arial"/>
                <a:ea typeface="Malgun Gothic"/>
                <a:cs typeface="Malgun Gothic"/>
              </a:rPr>
              <a:t> 이 소절의 연구는 몇 사람으로 이어진다. 소속은 각 논문의 저자란과 공식 페이지에서 확인했다(2026-10-07).</a:t>
            </a:r>
          </a:p>
        </p:txBody>
      </p:sp>
      <p:graphicFrame>
        <p:nvGraphicFramePr>
          <p:cNvPr id="6" name="Table 5"/>
          <p:cNvGraphicFramePr>
            <a:graphicFrameLocks noGrp="1"/>
          </p:cNvGraphicFramePr>
          <p:nvPr/>
        </p:nvGraphicFramePr>
        <p:xfrm>
          <a:off x="609600" y="1549995"/>
          <a:ext cx="10966450" cy="2015568"/>
        </p:xfrm>
        <a:graphic>
          <a:graphicData uri="http://schemas.openxmlformats.org/drawingml/2006/table">
            <a:tbl>
              <a:tblPr firstRow="1" bandRow="1">
                <a:tableStyleId>{5C22544A-7EE6-4342-B048-85BDC9FD1C3A}</a:tableStyleId>
              </a:tblPr>
              <a:tblGrid>
                <a:gridCol w="1139329"/>
                <a:gridCol w="5009158"/>
                <a:gridCol w="4817963"/>
              </a:tblGrid>
              <a:tr h="197088">
                <a:tc>
                  <a:txBody>
                    <a:bodyPr wrap="square"/>
                    <a:lstStyle/>
                    <a:p>
                      <a:r>
                        <a:rPr sz="800" b="1" i="0">
                          <a:solidFill>
                            <a:srgbClr val="F4F1EA"/>
                          </a:solidFill>
                          <a:latin typeface="Arial"/>
                          <a:ea typeface="Malgun Gothic"/>
                          <a:cs typeface="Malgun Gothic"/>
                        </a:rPr>
                        <a:t>사람</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이 소절에서 남긴 것</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지금 소속</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Marc Raibert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Boston Dynamics 창업자. 연구소를 세우고 이끈다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RAI Institute 창립자·소장(RAI Institute 리더십 페이지)</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Marco Hutter</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취리히 사무소 책임자(2023-12 발표 때 연구소 이름은 The AI Institute), SMPC 시연 논문·UMV 설계 논문 공저</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RAI Institute 취리히 Senior Director(리더십 페이지), ETH RSL 교수(B.14.5), Flexion 공동 창업(B.16.3)</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Farbod Farshidian</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DTC 공저(B.14.2), Spot 고속 RL 마지막 저자, ZEST 교신 저자</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ZEST(2026) 소속 RAI Institute. 직함은 확인하지 못했다</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Simon Le Cléac'h</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Sumo 마지막 저자, judo·ReLIC·SMPC 시연 논문 공저</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2026-08 논문 소속 RAI Institute. 직함은 확인하지 못했다</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Preston Culbertson</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judo 마지막 저자, Sumo 공저</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Sumo 소속 표기 RAI Institute와 Cornell. 직함은 확인하지 못했다</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Jiuguang Wang</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Sumo·judo·ReLIC·EVORA·VLFM 공저</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Sumo(2026) 소속 RAI Institute. 직함은 확인하지 못했다</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John Z. Zhang</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Sumo 1저자, 실물 전신 MPPI 공저와 MuJoCo iLQR 1저자(두 편 모두 마지막 저자는 Zachary Manchester)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Sumo 소속 표기 MIT(일부를 RAI Institute 인턴십 중에 수행)</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Jean-Pierre Sleiman</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ZEST 1저자</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Flexion 팀 페이지가 RAI Institute 연구원(Atlas) 출신으로 소개한다(B.16.3)</a:t>
                      </a:r>
                    </a:p>
                  </a:txBody>
                  <a:tcPr marL="63500" marR="63500" marT="12700" marB="12700">
                    <a:solidFill>
                      <a:srgbClr val="F3F0E8"/>
                    </a:solidFill>
                  </a:tcPr>
                </a:tc>
              </a:tr>
            </a:tbl>
          </a:graphicData>
        </a:graphic>
      </p:graphicFrame>
      <p:sp>
        <p:nvSpPr>
          <p:cNvPr id="7" name="TextBox 6"/>
          <p:cNvSpPr txBox="1"/>
          <p:nvPr/>
        </p:nvSpPr>
        <p:spPr>
          <a:xfrm>
            <a:off x="609600" y="4164707"/>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RAI Institute의 CTO Al Rizzi와 연구 부사장 Jessica Hodgins는 둘 다 ZEST 공저자다(RAI Institute 리더십 페이지). Hodgins는 Spot 탁구 MPC, Rizzi는 UMV 설계 논문에도 이름이 있다.</a:t>
            </a:r>
          </a:p>
        </p:txBody>
      </p:sp>
      <p:sp>
        <p:nvSpPr>
          <p:cNvPr id="8" name="TextBox 7"/>
          <p:cNvSpPr txBox="1"/>
          <p:nvPr/>
        </p:nvSpPr>
        <p:spPr>
          <a:xfrm>
            <a:off x="717550" y="4470102"/>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B.16.5 다른 연구실의 사족보행: 적응, 안전, 무른 지면, 시각</a:t>
            </a:r>
          </a:p>
        </p:txBody>
      </p:sp>
      <p:sp>
        <p:nvSpPr>
          <p:cNvPr id="9" name="TextBox 8"/>
          <p:cNvSpPr txBox="1"/>
          <p:nvPr/>
        </p:nvSpPr>
        <p:spPr>
          <a:xfrm>
            <a:off x="609600" y="4773315"/>
            <a:ext cx="10972800" cy="1298972"/>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ETH·Google·NVIDIA 밖의 사족보행 연구는 시뮬레이션에서만 배운 정책을 그대로 실물에 옮기는 길을 넓혔고, 연구실마다 건 곳이 다르다.</a:t>
            </a:r>
            <a:r>
              <a:rPr sz="1050" b="0" i="0">
                <a:solidFill>
                  <a:srgbClr val="16213A"/>
                </a:solidFill>
                <a:latin typeface="Arial"/>
                <a:ea typeface="Malgun Gothic"/>
                <a:cs typeface="Malgun Gothic"/>
              </a:rPr>
              <a:t> UC Berkeley·CMU의 Malik·Pathak 그룹은 환경을 잠재 벡터로 추정하는 적응(RMA)에 걸었고, 그 위에 내비게이션과 깊이 영상 보행을 얹었다. MIT의 Agrawal 연구실은 명령 공간 커리큘럼, 사람이 고르는 걸음새 파라미터, 자기지도 노면 물성으로 갔다. KAIST RaiLab(Jemin Hwangbo)은 자체 로봇과 자체 시뮬레이터 RaiSim 위에서 모래 같은 무른 지면의 접촉을 학습에 넣었고, 기구·전장·정책을 함께 설계해 에너지 효율을 끌어올렸다. CMU LeCAR Lab은 빠른 정책을 학습한 도달-회피 가치로 감시했고, Unitree는 값싼 로봇과 공식 학습·배포 코드를 냈다. Boston Dynamics와 RAI Institute의 Spot RL은 B.16.4에 있다. </a:t>
            </a:r>
            <a:r>
              <a:rPr sz="1050" b="1" i="0">
                <a:solidFill>
                  <a:srgbClr val="C2410C"/>
                </a:solidFill>
                <a:latin typeface="Arial"/>
                <a:ea typeface="Malgun Gothic"/>
                <a:cs typeface="Malgun Gothic"/>
              </a:rPr>
              <a:t>이 소절에서 travplan의 Planner·Controller 분리에 가장 가까운 것은 VP-Nav다.</a:t>
            </a:r>
            <a:r>
              <a:rPr sz="1050" b="0" i="0">
                <a:solidFill>
                  <a:srgbClr val="16213A"/>
                </a:solidFill>
                <a:latin typeface="Arial"/>
                <a:ea typeface="Malgun Gothic"/>
                <a:cs typeface="Malgun Gothic"/>
              </a:rPr>
              <a:t> 비용 지도 위의 Planner가 경로를 내고 학습 보행 정책이 그 명령을 따르며, 고유감각으로 감지한 장애물과 속도 상한이 Planner로 되돌아간다.</a:t>
            </a:r>
          </a:p>
        </p:txBody>
      </p:sp>
    </p:spTree>
  </p:cSld>
  <p:clrMapOvr>
    <a:masterClrMapping/>
  </p:clrMapOvr>
</p:sld>
</file>

<file path=ppt/slides/slide38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자세히: 이 소절의 연구 목록(표 23행)</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386 / 516</a:t>
            </a:r>
          </a:p>
        </p:txBody>
      </p:sp>
      <p:sp>
        <p:nvSpPr>
          <p:cNvPr id="5" name="TextBox 4"/>
          <p:cNvSpPr txBox="1"/>
          <p:nvPr/>
        </p:nvSpPr>
        <p:spPr>
          <a:xfrm>
            <a:off x="609600" y="1244600"/>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1개(문단·식·그림)는 대시보드 리서치 탭의 "자세히: 이 소절의 연구 목록(표 23행)" 토글에 있다.</a:t>
            </a:r>
          </a:p>
        </p:txBody>
      </p:sp>
    </p:spTree>
  </p:cSld>
  <p:clrMapOvr>
    <a:masterClrMapping/>
  </p:clrMapOvr>
</p:sld>
</file>

<file path=ppt/slides/slide38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387 / 516</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UC Berkeley·CMU(Malik·Pathak 그룹).</a:t>
            </a:r>
            <a:r>
              <a:rPr sz="1050" b="0" i="0">
                <a:solidFill>
                  <a:srgbClr val="16213A"/>
                </a:solidFill>
                <a:latin typeface="Arial"/>
                <a:ea typeface="Malgun Gothic"/>
                <a:cs typeface="Malgun Gothic"/>
              </a:rPr>
              <a:t> RMA에서 시작한 한 줄이다. RMA가 환경 잠재를 이력에서 추정하는 보행 정책을 만들었다. VP-Nav는 그 정책 위에 시각 Planner와 안전 조언을 얹었고, 자기 중심 깊이 보행은 지도 없이 깊이 영상으로 걷는 정책을 같은 구조로 증류했다. 그 뒤를 Extreme Parkour(Controller 문서 F.6.2)가 잇는다. Pathak이 세운 Skild AI는 RMA의 "이력에서 추정한다"를 맥락 수십 초와 무작위 로봇 10만 대로 키워 LocoFormer(CoRL 2025)를 냈고, 같은 맥락 안 학습을 조작으로 옮긴 S1(2026-08, 블로그 발표)을 내놓았다.</a:t>
            </a:r>
          </a:p>
        </p:txBody>
      </p:sp>
      <p:sp>
        <p:nvSpPr>
          <p:cNvPr id="6" name="TextBox 5"/>
          <p:cNvSpPr txBox="1"/>
          <p:nvPr/>
        </p:nvSpPr>
        <p:spPr>
          <a:xfrm>
            <a:off x="609600" y="1982986"/>
            <a:ext cx="10972800" cy="1298972"/>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RMA(Rapid Motor Adaptation) — 환경을 잠재 벡터로 압축해 두고, 배포 때는 0.5초 이력에서 그 벡터를 추정한다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arXiv:2107.04034</a:t>
            </a:r>
            <a:r>
              <a:rPr sz="1050" b="0" i="0">
                <a:solidFill>
                  <a:srgbClr val="16213A"/>
                </a:solidFill>
                <a:latin typeface="Arial"/>
                <a:ea typeface="Malgun Gothic"/>
                <a:cs typeface="Malgun Gothic"/>
              </a:rPr>
              <a:t>, Kumar·Fu·Pathak·Malik, RSS 2021, UC Berkeley·CMU, </a:t>
            </a:r>
            <a:r>
              <a:rPr sz="1050" b="0" i="0">
                <a:solidFill>
                  <a:srgbClr val="1D4ED8"/>
                </a:solidFill>
                <a:latin typeface="Arial"/>
                <a:ea typeface="Malgun Gothic"/>
                <a:cs typeface="Malgun Gothic"/>
                <a:hlinkClick r:id="rId4"/>
              </a:rPr>
              <a:t>프로젝트</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5"/>
              </a:rPr>
              <a:t>학습 코드</a:t>
            </a:r>
            <a:r>
              <a:rPr sz="1050" b="0" i="0">
                <a:solidFill>
                  <a:srgbClr val="16213A"/>
                </a:solidFill>
                <a:latin typeface="Arial"/>
                <a:ea typeface="Malgun Gothic"/>
                <a:cs typeface="Malgun Gothic"/>
              </a:rPr>
              <a:t>(후속 연구가 RMA 코드 위에 공개, GPL-3.0)). 두 단계 구조와 식은 Controller 문서 E.2에 있고, 이 카드는 그 위의 학습 설계와 실물 결과를 본다. 기본 정책은 상태 30차원, 직전 행동 12차원, 잠재 벡터(extrinsics) 8차원을 받아 100 Hz로 관절 목표를 낸다. 잠재 벡터는 짐 질량과 위치, 모터 세기, 마찰, 발밑 높이로 된 17차원 환경 벡터를 인코더가 줄인 것이다. 적응 모듈(1D CNN)은 최근 50스텝(0.5 s)의 상태·행동 이력에서 같은 벡터를 10 Hz로 추정한다. 두 모듈은 시계를 맞추지 않고 따로 돈다. 학습은 시뮬레이터 RaiSim에서만 했다. 기준 궤적이나 발 궤적 생성기 없이, 일과 지면 충격을 줄이는 보상에서 걸음새가 나왔다. Unitree A1(약 12 kg)은 미세 조정 없이 모래·진흙·흙에서 한 번도 실패하지 않았다. 학습 범위(0–6 kg)의 두 배인 12 kg 짐을 지고도 약 80% 성공했다(토글의 그림 3).</a:t>
            </a:r>
          </a:p>
        </p:txBody>
      </p:sp>
      <p:sp>
        <p:nvSpPr>
          <p:cNvPr id="7" name="TextBox 6"/>
          <p:cNvSpPr txBox="1"/>
          <p:nvPr/>
        </p:nvSpPr>
        <p:spPr>
          <a:xfrm>
            <a:off x="609600" y="3370858"/>
            <a:ext cx="10972800" cy="1082477"/>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같은 그룹의 에너지 최소화 걸음새(</a:t>
            </a:r>
            <a:r>
              <a:rPr sz="1050" b="0" i="0">
                <a:solidFill>
                  <a:srgbClr val="1D4ED8"/>
                </a:solidFill>
                <a:latin typeface="Arial"/>
                <a:ea typeface="Malgun Gothic"/>
                <a:cs typeface="Malgun Gothic"/>
                <a:hlinkClick r:id="rId6"/>
              </a:rPr>
              <a:t>arXiv:2111.01674</a:t>
            </a:r>
            <a:r>
              <a:rPr sz="1050" b="0" i="0">
                <a:solidFill>
                  <a:srgbClr val="16213A"/>
                </a:solidFill>
                <a:latin typeface="Arial"/>
                <a:ea typeface="Malgun Gothic"/>
                <a:cs typeface="Malgun Gothic"/>
              </a:rPr>
              <a:t>, Fu·Kumar·Malik·Pathak, CoRL 2021)는 기계 일률 벌점 하나로 A1에서 속도에 따라 walk(0.375 m/s), trot(0.9 m/s), bounce(1.5 m/s)가 나오는 것을 보였다. 이 정책도 RMA로 실물에 옮겼고, 시뮬레이션에서 1 m를 가는 에너지가 MIT 볼록 MPC로 만든 같은 걸음보다 작았다(walk 30.7 대 87.0). 이력에서 외부 상태를 추정하는 이 갈래는 DreamWaQ(Controller 문서 F.4)와 HIMLoco(</a:t>
            </a:r>
            <a:r>
              <a:rPr sz="1050" b="0" i="0">
                <a:solidFill>
                  <a:srgbClr val="1D4ED8"/>
                </a:solidFill>
                <a:latin typeface="Arial"/>
                <a:ea typeface="Malgun Gothic"/>
                <a:cs typeface="Malgun Gothic"/>
                <a:hlinkClick r:id="rId7"/>
              </a:rPr>
              <a:t>arXiv:2312.11460</a:t>
            </a:r>
            <a:r>
              <a:rPr sz="1050" b="0" i="0">
                <a:solidFill>
                  <a:srgbClr val="16213A"/>
                </a:solidFill>
                <a:latin typeface="Arial"/>
                <a:ea typeface="Malgun Gothic"/>
                <a:cs typeface="Malgun Gothic"/>
              </a:rPr>
              <a:t>, Shanghai AI Laboratory, ICLR 2024, </a:t>
            </a:r>
            <a:r>
              <a:rPr sz="1050" b="0" i="0">
                <a:solidFill>
                  <a:srgbClr val="1D4ED8"/>
                </a:solidFill>
                <a:latin typeface="Arial"/>
                <a:ea typeface="Malgun Gothic"/>
                <a:cs typeface="Malgun Gothic"/>
                <a:hlinkClick r:id="rId8"/>
              </a:rPr>
              <a:t>코드</a:t>
            </a:r>
            <a:r>
              <a:rPr sz="1050" b="0" i="0">
                <a:solidFill>
                  <a:srgbClr val="16213A"/>
                </a:solidFill>
                <a:latin typeface="Arial"/>
                <a:ea typeface="Malgun Gothic"/>
                <a:cs typeface="Malgun Gothic"/>
              </a:rPr>
              <a:t> CC BY-NC-SA 4.0)로 이어졌다. 둘 다 RMA를 기준선으로 비교했다. HIMLoco는 몸통 속도와 안정성 잠재로 된 로봇의 응답을 고유감각만으로 추정하고, 그 잠재가 다음 상태와 가까워지도록 대조 학습한다. 지형 마찰과 높이 같은 외부 상태는 그 응답에 담긴 외란으로 본다.</a:t>
            </a:r>
          </a:p>
        </p:txBody>
      </p:sp>
      <p:sp>
        <p:nvSpPr>
          <p:cNvPr id="8" name="TextBox 7"/>
          <p:cNvSpPr txBox="1"/>
          <p:nvPr/>
        </p:nvSpPr>
        <p:spPr>
          <a:xfrm>
            <a:off x="609600" y="4542234"/>
            <a:ext cx="10972800" cy="108247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RMA를 travplan에 옮기는 일반론(노면과 화물을 잠재 문맥으로 두고 Controller rollout이나 Planner D 조건에 넣기)은 배경 0.11과 Controller 문서 E.2·E.4에 있다. 이 카드가 더하는 것은 추정 대상과 창 길이다. 추정 대상의 첫 후보는 plant 지연이다. </a:t>
            </a:r>
            <a:r>
              <a:rPr sz="1050" b="0" i="0">
                <a:solidFill>
                  <a:srgbClr val="16213A"/>
                </a:solidFill>
                <a:latin typeface="Consolas"/>
                <a:ea typeface="Malgun Gothic"/>
                <a:cs typeface="Malgun Gothic"/>
              </a:rPr>
              <a:t>mppi_plant_lag</a:t>
            </a:r>
            <a:r>
              <a:rPr sz="1050" b="0" i="0">
                <a:solidFill>
                  <a:srgbClr val="16213A"/>
                </a:solidFill>
                <a:latin typeface="Arial"/>
                <a:ea typeface="Malgun Gothic"/>
                <a:cs typeface="Malgun Gothic"/>
              </a:rPr>
              <a:t>는 시뮬 plant와 같은 1차 지연(τ = 0.2 s)을 rollout에 상수로 넣어, 권장 L1과 plant를 켠 레벨 3의 치명을 360 에피소드 중 55에서 4로 줄였다(TP-0150). 실물에서는 τ를 모르므로, 명령과 실현 twist의 최근 이력에서 τ를 추정하는 것이 RMA의 자리다. 미끄럼은 뒤로 미룬다. 같은 실험에서 미끄럼까지 rollout에 넣은 </a:t>
            </a:r>
            <a:r>
              <a:rPr sz="1050" b="0" i="0">
                <a:solidFill>
                  <a:srgbClr val="16213A"/>
                </a:solidFill>
                <a:latin typeface="Consolas"/>
                <a:ea typeface="Malgun Gothic"/>
                <a:cs typeface="Malgun Gothic"/>
              </a:rPr>
              <a:t>mppi_plant</a:t>
            </a:r>
            <a:r>
              <a:rPr sz="1050" b="0" i="0">
                <a:solidFill>
                  <a:srgbClr val="16213A"/>
                </a:solidFill>
                <a:latin typeface="Arial"/>
                <a:ea typeface="Malgun Gothic"/>
                <a:cs typeface="Malgun Gothic"/>
              </a:rPr>
              <a:t>도 치명은 줄였지만, 도달은 지연만 넣었을 때의 239/360에서 189/360으로 줄었다(MPC 문서 M.3.22). 창 길이도 옮길 때 다시 정한다. RMA의 창은 100 Hz에서 50스텝(0.5 s)이다. travplan 제어 주기 0.1 s에서는 같은 시간이 5스텝이고, 같은 스텝 수는 5 s다.</a:t>
            </a:r>
          </a:p>
        </p:txBody>
      </p:sp>
    </p:spTree>
  </p:cSld>
  <p:clrMapOvr>
    <a:masterClrMapping/>
  </p:clrMapOvr>
</p:sld>
</file>

<file path=ppt/slides/slide38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388 / 516</a:t>
            </a:r>
          </a:p>
        </p:txBody>
      </p:sp>
      <p:pic>
        <p:nvPicPr>
          <p:cNvPr id="5" name="Picture 4" descr="image.jpg"/>
          <p:cNvPicPr>
            <a:picLocks noChangeAspect="1"/>
          </p:cNvPicPr>
          <p:nvPr/>
        </p:nvPicPr>
        <p:blipFill>
          <a:blip r:embed="rId3"/>
          <a:stretch>
            <a:fillRect/>
          </a:stretch>
        </p:blipFill>
        <p:spPr>
          <a:xfrm>
            <a:off x="609600" y="1244600"/>
            <a:ext cx="5334000" cy="2667000"/>
          </a:xfrm>
          <a:prstGeom prst="rect">
            <a:avLst/>
          </a:prstGeom>
        </p:spPr>
      </p:pic>
      <p:sp>
        <p:nvSpPr>
          <p:cNvPr id="6" name="TextBox 5"/>
          <p:cNvSpPr txBox="1"/>
          <p:nvPr/>
        </p:nvSpPr>
        <p:spPr>
          <a:xfrm>
            <a:off x="609600" y="3949700"/>
            <a:ext cx="5410200" cy="42654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RMA (Fig. 1): 정책 하나로 A1이 물가 바위, 낙엽 덮인 흙, 풀, 흙과 자갈 더미, 모래 같은 야외 지형을 걷는다. 원문은 모래·진흙·산길·긴 풀·흙더미에서 실패가 없었고, 산길 계단 내려가기는 70%, 시멘트·자갈 더미 건너기는 80% 성공했다고 적는다. 출처: arXiv:2107.04034</a:t>
            </a:r>
          </a:p>
        </p:txBody>
      </p:sp>
      <p:pic>
        <p:nvPicPr>
          <p:cNvPr id="7" name="Picture 6" descr="image.jpg"/>
          <p:cNvPicPr>
            <a:picLocks noChangeAspect="1"/>
          </p:cNvPicPr>
          <p:nvPr/>
        </p:nvPicPr>
        <p:blipFill>
          <a:blip r:embed="rId4"/>
          <a:stretch>
            <a:fillRect/>
          </a:stretch>
        </p:blipFill>
        <p:spPr>
          <a:xfrm>
            <a:off x="6172200" y="1244600"/>
            <a:ext cx="3327400" cy="2667000"/>
          </a:xfrm>
          <a:prstGeom prst="rect">
            <a:avLst/>
          </a:prstGeom>
        </p:spPr>
      </p:pic>
      <p:sp>
        <p:nvSpPr>
          <p:cNvPr id="8" name="TextBox 7"/>
          <p:cNvSpPr txBox="1"/>
          <p:nvPr/>
        </p:nvSpPr>
        <p:spPr>
          <a:xfrm>
            <a:off x="6172200" y="3949700"/>
            <a:ext cx="5410200" cy="42654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RMA (Fig. 4): 발에 비닐을 씌운 A1이 기름 바른 비닐 위를 지난다. 위는 네 발의 접지 패턴, 가운데는 무릎 토크, 아래는 적응 모듈이 낸 잠재 벡터의 1·5번째 성분이다. 약 2 s에 미끄러지기 시작하자 적응 구간(빨간 띠, 약 2–3.4 s)에서 두 성분이 바뀐다. 원문은 걸음이 돌아온 뒤에도 잠재가 미끄러운 바닥이라는 값을 유지한다고 해석한다. 출처: arXiv:2107.04034</a:t>
            </a:r>
          </a:p>
        </p:txBody>
      </p:sp>
    </p:spTree>
  </p:cSld>
  <p:clrMapOvr>
    <a:masterClrMapping/>
  </p:clrMapOvr>
</p:sld>
</file>

<file path=ppt/slides/slide38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자세히: RMA에서 E.2에 없는 것(보상, 학습 규모, 실험, 한계)</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389 / 516</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풀려는 문제.</a:t>
            </a:r>
            <a:r>
              <a:rPr sz="1050" b="0" i="0">
                <a:solidFill>
                  <a:srgbClr val="16213A"/>
                </a:solidFill>
                <a:latin typeface="Arial"/>
                <a:ea typeface="Malgun Gothic"/>
                <a:cs typeface="Malgun Gothic"/>
              </a:rPr>
              <a:t> 저자들은 sim-to-real 격차가 세 곳에서 온다고 본다. 로봇 모델, 지형, 접촉과 변형 같은 물리다. 격차를 다 줄이는 대신 실물에서 1초 안쪽으로 적응하는 것이 목표다. 앞선 잠재 적응(Peng 외 2020, B.16.2)은 새 환경마다 실물 자료 4–8분(5–10 s 에피소드 50개)이 필요했다. 아직 잘 걷지 못하는 정책으로 그 자료를 모으면 로봇이 넘어진다.</a:t>
            </a:r>
          </a:p>
        </p:txBody>
      </p:sp>
      <p:sp>
        <p:nvSpPr>
          <p:cNvPr id="6" name="TextBox 5"/>
          <p:cNvSpPr txBox="1"/>
          <p:nvPr/>
        </p:nvSpPr>
        <p:spPr>
          <a:xfrm>
            <a:off x="609600" y="1766491"/>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입력과 출력.</a:t>
            </a:r>
            <a:r>
              <a:rPr sz="1050" b="0" i="0">
                <a:solidFill>
                  <a:srgbClr val="16213A"/>
                </a:solidFill>
                <a:latin typeface="Arial"/>
                <a:ea typeface="Malgun Gothic"/>
                <a:cs typeface="Malgun Gothic"/>
              </a:rPr>
              <a:t> 상태 </a:t>
            </a:r>
            <a:r>
              <a:rPr sz="1050" b="0" i="1">
                <a:solidFill>
                  <a:srgbClr val="16213A"/>
                </a:solidFill>
                <a:latin typeface="Arial"/>
                <a:ea typeface="Malgun Gothic"/>
                <a:cs typeface="Malgun Gothic"/>
              </a:rPr>
              <a:t>xₜ</a:t>
            </a:r>
            <a:r>
              <a:rPr sz="1050" b="0" i="0">
                <a:solidFill>
                  <a:srgbClr val="16213A"/>
                </a:solidFill>
                <a:latin typeface="Arial"/>
                <a:ea typeface="Malgun Gothic"/>
                <a:cs typeface="Malgun Gothic"/>
              </a:rPr>
              <a:t>는 관절 위치 12, 관절 속도 12, 몸통 roll·pitch 2, 발 접촉 4의 30차원이다. 행동은 관절 목표 12개이고, 고정 이득 PD 제어기(</a:t>
            </a:r>
            <a:r>
              <a:rPr sz="1050" b="0" i="1">
                <a:solidFill>
                  <a:srgbClr val="16213A"/>
                </a:solidFill>
                <a:latin typeface="Arial"/>
                <a:ea typeface="Malgun Gothic"/>
                <a:cs typeface="Malgun Gothic"/>
              </a:rPr>
              <a:t>Kₚ = 55</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K_d = 0.8</a:t>
            </a:r>
            <a:r>
              <a:rPr sz="1050" b="0" i="0">
                <a:solidFill>
                  <a:srgbClr val="16213A"/>
                </a:solidFill>
                <a:latin typeface="Arial"/>
                <a:ea typeface="Malgun Gothic"/>
                <a:cs typeface="Malgun Gothic"/>
              </a:rPr>
              <a:t>)가 토크로 바꾼다. 환경 벡터 </a:t>
            </a:r>
            <a:r>
              <a:rPr sz="1050" b="0" i="1">
                <a:solidFill>
                  <a:srgbClr val="16213A"/>
                </a:solidFill>
                <a:latin typeface="Arial"/>
                <a:ea typeface="Malgun Gothic"/>
                <a:cs typeface="Malgun Gothic"/>
              </a:rPr>
              <a:t>eₜ</a:t>
            </a:r>
            <a:r>
              <a:rPr sz="1050" b="0" i="0">
                <a:solidFill>
                  <a:srgbClr val="16213A"/>
                </a:solidFill>
                <a:latin typeface="Arial"/>
                <a:ea typeface="Malgun Gothic"/>
                <a:cs typeface="Malgun Gothic"/>
              </a:rPr>
              <a:t>는 짐 질량과 위치 3, 모터 세기 12, 마찰 1, 발밑 높이 1의 17차원이다. 발밑 높이는 네 발 밑 높이를 소수 첫째 자리로 자른 뒤 그 최댓값을 쓴 스칼라다. 빠르고 정확한 지형 인식에 기대지 않게 하려는 선택이다.</a:t>
            </a:r>
          </a:p>
        </p:txBody>
      </p:sp>
      <p:sp>
        <p:nvSpPr>
          <p:cNvPr id="7" name="TextBox 6"/>
          <p:cNvSpPr txBox="1"/>
          <p:nvPr/>
        </p:nvSpPr>
        <p:spPr>
          <a:xfrm>
            <a:off x="609600" y="2504877"/>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보상.</a:t>
            </a:r>
            <a:r>
              <a:rPr sz="1050" b="0" i="0">
                <a:solidFill>
                  <a:srgbClr val="16213A"/>
                </a:solidFill>
                <a:latin typeface="Arial"/>
                <a:ea typeface="Malgun Gothic"/>
                <a:cs typeface="Malgun Gothic"/>
              </a:rPr>
              <a:t> 열 항의 합이다. 전진 </a:t>
            </a:r>
            <a:r>
              <a:rPr sz="1050" b="0" i="1">
                <a:solidFill>
                  <a:srgbClr val="16213A"/>
                </a:solidFill>
                <a:latin typeface="Arial"/>
                <a:ea typeface="Malgun Gothic"/>
                <a:cs typeface="Malgun Gothic"/>
              </a:rPr>
              <a:t>min(vₓ, 0.35)</a:t>
            </a:r>
            <a:r>
              <a:rPr sz="1050" b="0" i="0">
                <a:solidFill>
                  <a:srgbClr val="16213A"/>
                </a:solidFill>
                <a:latin typeface="Arial"/>
                <a:ea typeface="Malgun Gothic"/>
                <a:cs typeface="Malgun Gothic"/>
              </a:rPr>
              <a:t>, 옆걸음과 회전, 일 </a:t>
            </a:r>
            <a:r>
              <a:rPr sz="1050" b="0" i="1">
                <a:solidFill>
                  <a:srgbClr val="16213A"/>
                </a:solidFill>
                <a:latin typeface="Arial"/>
                <a:ea typeface="Malgun Gothic"/>
                <a:cs typeface="Malgun Gothic"/>
              </a:rPr>
              <a:t>lvert τ^⊤ (qₜ - qₜ₋₁) rvert</a:t>
            </a:r>
            <a:r>
              <a:rPr sz="1050" b="0" i="0">
                <a:solidFill>
                  <a:srgbClr val="16213A"/>
                </a:solidFill>
                <a:latin typeface="Arial"/>
                <a:ea typeface="Malgun Gothic"/>
                <a:cs typeface="Malgun Gothic"/>
              </a:rPr>
              <a:t>, 지면 충격 </a:t>
            </a:r>
            <a:r>
              <a:rPr sz="1050" b="0" i="1">
                <a:solidFill>
                  <a:srgbClr val="16213A"/>
                </a:solidFill>
                <a:latin typeface="Arial"/>
                <a:ea typeface="Malgun Gothic"/>
                <a:cs typeface="Malgun Gothic"/>
              </a:rPr>
              <a:t>‖ fₜ - fₜ₋₁ ‖²</a:t>
            </a:r>
            <a:r>
              <a:rPr sz="1050" b="0" i="0">
                <a:solidFill>
                  <a:srgbClr val="16213A"/>
                </a:solidFill>
                <a:latin typeface="Arial"/>
                <a:ea typeface="Malgun Gothic"/>
                <a:cs typeface="Malgun Gothic"/>
              </a:rPr>
              <a:t>, 토크 변화, 행동 크기, 관절 속도, 자세, 수직 속도, 접지 발 미끄럼이다. 가중치는 차례로 20, 21, 0.002, 0.02, 0.001, 0.07, 0.002, 1.5, 2.0, 0.8이다. 저자들은 일과 충격을 줄이는 생체 에너지 보상이 자연스러운 걸음새에 결정적이었다고 적는다. 벌점을 처음부터 다 주면 제자리에 서 있기가 최선이 된다. 그래서 벌점 항에 계수 </a:t>
            </a:r>
            <a:r>
              <a:rPr sz="1050" b="0" i="1">
                <a:solidFill>
                  <a:srgbClr val="16213A"/>
                </a:solidFill>
                <a:latin typeface="Arial"/>
                <a:ea typeface="Malgun Gothic"/>
                <a:cs typeface="Malgun Gothic"/>
              </a:rPr>
              <a:t>kₜ</a:t>
            </a:r>
            <a:r>
              <a:rPr sz="1050" b="0" i="0">
                <a:solidFill>
                  <a:srgbClr val="16213A"/>
                </a:solidFill>
                <a:latin typeface="Arial"/>
                <a:ea typeface="Malgun Gothic"/>
                <a:cs typeface="Malgun Gothic"/>
              </a:rPr>
              <a:t>를 곱하고 </a:t>
            </a:r>
            <a:r>
              <a:rPr sz="1050" b="0" i="1">
                <a:solidFill>
                  <a:srgbClr val="16213A"/>
                </a:solidFill>
                <a:latin typeface="Arial"/>
                <a:ea typeface="Malgun Gothic"/>
                <a:cs typeface="Malgun Gothic"/>
              </a:rPr>
              <a:t>k₀ = 0.03</a:t>
            </a:r>
            <a:r>
              <a:rPr sz="1050" b="0" i="0">
                <a:solidFill>
                  <a:srgbClr val="16213A"/>
                </a:solidFill>
                <a:latin typeface="Arial"/>
                <a:ea typeface="Malgun Gothic"/>
                <a:cs typeface="Malgun Gothic"/>
              </a:rPr>
              <a:t>에서 시작해 </a:t>
            </a:r>
            <a:r>
              <a:rPr sz="1050" b="0" i="1">
                <a:solidFill>
                  <a:srgbClr val="16213A"/>
                </a:solidFill>
                <a:latin typeface="Arial"/>
                <a:ea typeface="Malgun Gothic"/>
                <a:cs typeface="Malgun Gothic"/>
              </a:rPr>
              <a:t>kₜ₊₁ = kₜ^(0.997)</a:t>
            </a:r>
            <a:r>
              <a:rPr sz="1050" b="0" i="0">
                <a:solidFill>
                  <a:srgbClr val="16213A"/>
                </a:solidFill>
                <a:latin typeface="Arial"/>
                <a:ea typeface="Malgun Gothic"/>
                <a:cs typeface="Malgun Gothic"/>
              </a:rPr>
              <a:t>로 키웠다(보충 자료). actuator net 논문(B.14.1)의 비용 커리큘럼을 따른 것이고, 시작값만 0.3 대신 0.03이다.</a:t>
            </a:r>
          </a:p>
        </p:txBody>
      </p:sp>
      <p:sp>
        <p:nvSpPr>
          <p:cNvPr id="8" name="TextBox 7"/>
          <p:cNvSpPr txBox="1"/>
          <p:nvPr/>
        </p:nvSpPr>
        <p:spPr>
          <a:xfrm>
            <a:off x="609600" y="3459758"/>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적응 모듈과 학습 자료.</a:t>
            </a:r>
            <a:r>
              <a:rPr sz="1050" b="0" i="0">
                <a:solidFill>
                  <a:srgbClr val="16213A"/>
                </a:solidFill>
                <a:latin typeface="Arial"/>
                <a:ea typeface="Malgun Gothic"/>
                <a:cs typeface="Malgun Gothic"/>
              </a:rPr>
              <a:t> 상태와 행동을 2층 MLP로 32차원에 묻고, 1D CNN 3층으로 시간 축을 합친 뒤 선형 사영으로 </a:t>
            </a:r>
            <a:r>
              <a:rPr sz="1050" b="0" i="1">
                <a:solidFill>
                  <a:srgbClr val="16213A"/>
                </a:solidFill>
                <a:latin typeface="Arial"/>
                <a:ea typeface="Malgun Gothic"/>
                <a:cs typeface="Malgun Gothic"/>
              </a:rPr>
              <a:t>ẑₜ</a:t>
            </a:r>
            <a:r>
              <a:rPr sz="1050" b="0" i="0">
                <a:solidFill>
                  <a:srgbClr val="16213A"/>
                </a:solidFill>
                <a:latin typeface="Arial"/>
                <a:ea typeface="Malgun Gothic"/>
                <a:cs typeface="Malgun Gothic"/>
              </a:rPr>
              <a:t>를 낸다. 층마다 입력 채널·출력 채널·커널·보폭은 [32, 32, 8, 4], [32, 32, 5, 1], [32, 32, 5, 1]이다. 학습 자료는 참값 </a:t>
            </a:r>
            <a:r>
              <a:rPr sz="1050" b="0" i="1">
                <a:solidFill>
                  <a:srgbClr val="16213A"/>
                </a:solidFill>
                <a:latin typeface="Arial"/>
                <a:ea typeface="Malgun Gothic"/>
                <a:cs typeface="Malgun Gothic"/>
              </a:rPr>
              <a:t>zₜ</a:t>
            </a:r>
            <a:r>
              <a:rPr sz="1050" b="0" i="0">
                <a:solidFill>
                  <a:srgbClr val="16213A"/>
                </a:solidFill>
                <a:latin typeface="Arial"/>
                <a:ea typeface="Malgun Gothic"/>
                <a:cs typeface="Malgun Gothic"/>
              </a:rPr>
              <a:t>가 아니라 무작위로 초기화한 적응 모듈의 </a:t>
            </a:r>
            <a:r>
              <a:rPr sz="1050" b="0" i="1">
                <a:solidFill>
                  <a:srgbClr val="16213A"/>
                </a:solidFill>
                <a:latin typeface="Arial"/>
                <a:ea typeface="Malgun Gothic"/>
                <a:cs typeface="Malgun Gothic"/>
              </a:rPr>
              <a:t>ẑₜ</a:t>
            </a:r>
            <a:r>
              <a:rPr sz="1050" b="0" i="0">
                <a:solidFill>
                  <a:srgbClr val="16213A"/>
                </a:solidFill>
                <a:latin typeface="Arial"/>
                <a:ea typeface="Malgun Gothic"/>
                <a:cs typeface="Malgun Gothic"/>
              </a:rPr>
              <a:t>로 기본 정책을 굴려 모은다. 전문가 궤적만 쓰면 어긋난 상태를 보지 못하기 때문이다(배경 0.12의 DAgger와 같은 생각). 저자들은 이력을 정책에 바로 넣는 단일 망도 시험했다. 걸음새가 부자연스럽고 성능이 낮았으며, 온보드에서 10 Hz로만 돌았다.</a:t>
            </a:r>
          </a:p>
        </p:txBody>
      </p:sp>
      <p:sp>
        <p:nvSpPr>
          <p:cNvPr id="9" name="TextBox 8"/>
          <p:cNvSpPr txBox="1"/>
          <p:nvPr/>
        </p:nvSpPr>
        <p:spPr>
          <a:xfrm>
            <a:off x="609600" y="4198144"/>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학습 규모.</a:t>
            </a:r>
            <a:r>
              <a:rPr sz="1050" b="0" i="0">
                <a:solidFill>
                  <a:srgbClr val="16213A"/>
                </a:solidFill>
                <a:latin typeface="Arial"/>
                <a:ea typeface="Malgun Gothic"/>
                <a:cs typeface="Malgun Gothic"/>
              </a:rPr>
              <a:t> 기본 정책과 인코더는 PPO로 15,000회 반복했고, 반복마다 전이 80,000개를 썼다. 데스크톱 GPU 한 장으로 약 24시간, 12억 스텝이다. 적응 모듈은 1,000회 반복, 8,000만 스텝, 약 3시간이다. 지형은 RaiSim의 프랙털 생성기(z 축척 0.27)이고, 지형 커리큘럼은 없다. 질량·마찰·모터 세기의 무작위화 폭만 학습이 진행되며 넓혔다. 마찰은 [0.05, 4.5]에서 배우고 [0.04, 6.0]에서 시험했고, 짐은 [0, 6] kg에서 배우고 [0, 7] kg에서 시험했다(표 I).</a:t>
            </a:r>
          </a:p>
        </p:txBody>
      </p:sp>
      <p:sp>
        <p:nvSpPr>
          <p:cNvPr id="10" name="TextBox 9"/>
          <p:cNvSpPr txBox="1"/>
          <p:nvPr/>
        </p:nvSpPr>
        <p:spPr>
          <a:xfrm>
            <a:off x="609600" y="493653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결과(시뮬레이션, 표 II).</a:t>
            </a:r>
            <a:r>
              <a:rPr sz="1050" b="0" i="0">
                <a:solidFill>
                  <a:srgbClr val="16213A"/>
                </a:solidFill>
                <a:latin typeface="Arial"/>
                <a:ea typeface="Malgun Gothic"/>
                <a:cs typeface="Malgun Gothic"/>
              </a:rPr>
              <a:t> 시험 중 환경 파라미터를 스텝당 0.01 확률로 다시 뽑았다. 정책 초기화 3개 × 에피소드 1,000개의 평균이다.</a:t>
            </a:r>
          </a:p>
        </p:txBody>
      </p:sp>
      <p:sp>
        <p:nvSpPr>
          <p:cNvPr id="11" name="TextBox 10"/>
          <p:cNvSpPr txBox="1"/>
          <p:nvPr/>
        </p:nvSpPr>
        <p:spPr>
          <a:xfrm>
            <a:off x="609600" y="5241925"/>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9개(문단·식·그림)는 대시보드 리서치 탭의 "자세히: RMA에서 E.2에 없는 것(보상, 학습 규모, 실험, 한계)" 토글에 있다.</a:t>
            </a:r>
          </a:p>
        </p:txBody>
      </p:sp>
    </p:spTree>
  </p:cSld>
  <p:clrMapOvr>
    <a:masterClrMapping/>
  </p:clrMapOvr>
</p:sld>
</file>

<file path=ppt/slides/slide39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1/5</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390 / 516</a:t>
            </a:r>
          </a:p>
        </p:txBody>
      </p:sp>
      <p:sp>
        <p:nvSpPr>
          <p:cNvPr id="5" name="TextBox 4"/>
          <p:cNvSpPr txBox="1"/>
          <p:nvPr/>
        </p:nvSpPr>
        <p:spPr>
          <a:xfrm>
            <a:off x="609600" y="1244600"/>
            <a:ext cx="10972800" cy="1298972"/>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VP-Nav — 비용 지도 위의 Planner가 경로를 내고 RMA 보행 정책이 따르며, 고유감각으로 감지한 것이 지도와 속도 상한으로 되돌아간다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arXiv:2112.02094</a:t>
            </a:r>
            <a:r>
              <a:rPr sz="1050" b="0" i="0">
                <a:solidFill>
                  <a:srgbClr val="16213A"/>
                </a:solidFill>
                <a:latin typeface="Arial"/>
                <a:ea typeface="Malgun Gothic"/>
                <a:cs typeface="Malgun Gothic"/>
              </a:rPr>
              <a:t>, Fu·Kumar(공동 1저자)·Agarwal·Qi·Malik·Pathak, CVPR 2022, CMU·UC Berkeley, </a:t>
            </a:r>
            <a:r>
              <a:rPr sz="1050" b="0" i="0">
                <a:solidFill>
                  <a:srgbClr val="1D4ED8"/>
                </a:solidFill>
                <a:latin typeface="Arial"/>
                <a:ea typeface="Malgun Gothic"/>
                <a:cs typeface="Malgun Gothic"/>
                <a:hlinkClick r:id="rId4"/>
              </a:rPr>
              <a:t>프로젝트</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5"/>
              </a:rPr>
              <a:t>Planner 코드</a:t>
            </a:r>
            <a:r>
              <a:rPr sz="1050" b="0" i="0">
                <a:solidFill>
                  <a:srgbClr val="16213A"/>
                </a:solidFill>
                <a:latin typeface="Arial"/>
                <a:ea typeface="Malgun Gothic"/>
                <a:cs typeface="Malgun Gothic"/>
              </a:rPr>
              <a:t> Apache-2.0). VP-Nav(Vision and Proprioception for Navigation)는 세 층이다. 시각 Planner는 깊이 카메라와 추적 카메라로 2D 점유 지도를 쌓는다. 그 위에서 FMM(fast marching method)으로 구한 목표까지의 측지 거리에, 장애물에 0.3 m보다 가까우면 커지는 벌점을 더해 비용 지도를 만든다. 속도 명령 생성기는 10 Hz로 비용이 가장 빨리 줄어드는 방향을 PD로 따라 각속도를 정하고, 지금 방향으로 비용이 계속 줄어드는 거리만큼 선속도를 정한다. 보행 정책은 RMA 구조와 에너지 보상(Fu 2021)으로 RaiSim에서 배운 속도 조건 정책이다. 안전 조언 모듈은 고유감각 이력(실물에서는 0.2 s)에서 두 확률을 낸다. 충돌 확률이 0.5를 넘으면 로봇 앞 지도에 9 cm × 3 cm 장애물 칸을 더한다. 1초 안에 넘어질 확률이 0.5를 넘으면 속도 상한을 0.2 m/s 낮추고, 아니면 0.05 m/s씩 올린다.</a:t>
            </a:r>
          </a:p>
        </p:txBody>
      </p:sp>
      <p:sp>
        <p:nvSpPr>
          <p:cNvPr id="6" name="TextBox 5"/>
          <p:cNvSpPr txBox="1"/>
          <p:nvPr/>
        </p:nvSpPr>
        <p:spPr>
          <a:xfrm>
            <a:off x="609600" y="2632472"/>
            <a:ext cx="10972800" cy="1082477"/>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시뮬레이션은 Matterport3D·Gibson의 방 배치 200개를 RaiSim으로 옮기고 방마다 목표 10개를 두었다. 보이지 않는 장애물을 2·4·8개 두면, 안전 조언이 성공률을 68.45%에서 74.15%로, 45.85%에서 59.20%로, 24.35%에서 39.25%로 올렸다. 미끄럽고 거친 조각과 5초마다 싣고 내리는 8 kg 짐을 섞은 조건에서는 80.25%에서 87.40%가 됐고, 대신 도달 시간이 105.7 s에서 117.7 s로 늘었다. 높이 5 cm 거친 조각을 둔 지형에서 바퀴 로봇 LoCoBot은 15.70%였고, 조각 위치를 알고 돌아가도 69.10%였다. VP-Nav는 95.05%였다. 실물 A1은 카메라가 못 보는 유리벽에 부딪힌 뒤 지도에 장애물을 더하고 돌아가 8번 모두 지났고, 시각만 쓴 기준선은 한 번도 지나지 못했다. 저자가 밝힌 한계는 보행 정책이 시각을 보지 않아 장애물을 넘지 못하고 돌아가기만 한다는 것이다.</a:t>
            </a:r>
          </a:p>
        </p:txBody>
      </p:sp>
      <p:sp>
        <p:nvSpPr>
          <p:cNvPr id="7" name="TextBox 6"/>
          <p:cNvSpPr txBox="1"/>
          <p:nvPr/>
        </p:nvSpPr>
        <p:spPr>
          <a:xfrm>
            <a:off x="609600" y="3803848"/>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층 배치가 travplan과 같다. FMM Planner가 Guidance의 cost-to-go 경로 자리이고, 속도 명령 생성기가 Controller 자리다. 보행 정책은 그 아래 plant 자리다(B.14.2 Robust Perceptive Locomotion 토글과 같은 해석). travplan에 없는 것은 실행 중의 되먹임이다. VP-Nav에서는 고유감각으로 감지한 것이 지도 칸과 속도 상한으로 Planner에 돌아간다. 바퀴 로봇에서 같은 자리를 채울 신호는 명령과 실현 twist의 차이(미끄럼, 막힘)이고, 이 신호는 GP 잔차(TP-0068)가 이미 쓴다. 그 차이를 belief 지도 칸이나 속도 상한으로 돌리는 것이 VP-Nav의 안전 조언에 해당한다.</a:t>
            </a:r>
          </a:p>
        </p:txBody>
      </p:sp>
    </p:spTree>
  </p:cSld>
  <p:clrMapOvr>
    <a:masterClrMapping/>
  </p:clrMapOvr>
</p:sld>
</file>

<file path=ppt/slides/slide39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2/5</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391 / 516</a:t>
            </a:r>
          </a:p>
        </p:txBody>
      </p:sp>
      <p:pic>
        <p:nvPicPr>
          <p:cNvPr id="5" name="Picture 4" descr="image.jpg"/>
          <p:cNvPicPr>
            <a:picLocks noChangeAspect="1"/>
          </p:cNvPicPr>
          <p:nvPr/>
        </p:nvPicPr>
        <p:blipFill>
          <a:blip r:embed="rId3"/>
          <a:stretch>
            <a:fillRect/>
          </a:stretch>
        </p:blipFill>
        <p:spPr>
          <a:xfrm>
            <a:off x="1295400" y="1244600"/>
            <a:ext cx="9601200" cy="4445000"/>
          </a:xfrm>
          <a:prstGeom prst="rect">
            <a:avLst/>
          </a:prstGeom>
        </p:spPr>
      </p:pic>
      <p:sp>
        <p:nvSpPr>
          <p:cNvPr id="6" name="TextBox 5"/>
          <p:cNvSpPr txBox="1"/>
          <p:nvPr/>
        </p:nvSpPr>
        <p:spPr>
          <a:xfrm>
            <a:off x="1295400" y="5727700"/>
            <a:ext cx="96012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VP-Nav (Fig. 2): 시각 Planner(점유 지도 5 Hz, FMM 거리와 장애물 SDF로 만든 비용 지도 10 Hz)와 속도 명령 생성기(10 Hz)가 보행 정책(기본 정책 100 Hz, 적응 모듈 75 Hz)에 속도 명령을 준다. 아래의 안전 조언(10 Hz)은 고유감각 이력으로 넘어짐 예측기와 충돌 감지기를 돌려, 속도 제약과 지역 점유 지도 수정을 Planner로 되돌린다. 깊이 카메라는 30 Hz, 추적 카메라는 200 Hz다. 출처: arXiv:2112.02094</a:t>
            </a:r>
          </a:p>
        </p:txBody>
      </p:sp>
    </p:spTree>
  </p:cSld>
  <p:clrMapOvr>
    <a:masterClrMapping/>
  </p:clrMapOvr>
</p:sld>
</file>

<file path=ppt/slides/slide39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3/5</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392 / 516</a:t>
            </a:r>
          </a:p>
        </p:txBody>
      </p:sp>
      <p:sp>
        <p:nvSpPr>
          <p:cNvPr id="5" name="TextBox 4"/>
          <p:cNvSpPr txBox="1"/>
          <p:nvPr/>
        </p:nvSpPr>
        <p:spPr>
          <a:xfrm>
            <a:off x="609600" y="1244600"/>
            <a:ext cx="10972800" cy="1731962"/>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자기 중심 깊이 보행(Agarwal 2022) — 높이 지도 없이 앞쪽 깊이 영상과 순환 기억으로 계단과 징검돌을 걷는다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arXiv:2211.07638</a:t>
            </a:r>
            <a:r>
              <a:rPr sz="1050" b="0" i="0">
                <a:solidFill>
                  <a:srgbClr val="16213A"/>
                </a:solidFill>
                <a:latin typeface="Arial"/>
                <a:ea typeface="Malgun Gothic"/>
                <a:cs typeface="Malgun Gothic"/>
              </a:rPr>
              <a:t>, Agarwal·Kumar(공동 1저자)·Malik·Pathak, CoRL 2022 구두 발표·Best Systems Paper Award, CMU·UC Berkeley, </a:t>
            </a:r>
            <a:r>
              <a:rPr sz="1050" b="0" i="0">
                <a:solidFill>
                  <a:srgbClr val="1D4ED8"/>
                </a:solidFill>
                <a:latin typeface="Arial"/>
                <a:ea typeface="Malgun Gothic"/>
                <a:cs typeface="Malgun Gothic"/>
                <a:hlinkClick r:id="rId4"/>
              </a:rPr>
              <a:t>프로젝트</a:t>
            </a:r>
            <a:r>
              <a:rPr sz="1050" b="0" i="0">
                <a:solidFill>
                  <a:srgbClr val="16213A"/>
                </a:solidFill>
                <a:latin typeface="Arial"/>
                <a:ea typeface="Malgun Gothic"/>
                <a:cs typeface="Malgun Gothic"/>
              </a:rPr>
              <a:t>). 높이 지도는 여러 깊이 영상을 자세 추정으로 이어 붙여야 하고, 자세가 틀리면 지도도 틀린다. 저자들은 지도를 만들지 않고, 정책이 GRU 기억으로 이미 지나간 몸 아래 지형을 기억하게 했다. 1단계는 몸 둘레의 높이 점(scandots)을 보는 정책을 RL로 배우고, 2단계는 깊이 영상과 고유감각만 보는 학생에게 DAgger로 증류한다. 한 갈래는 RMA 구조를 그대로 써서 지형 잠재와 환경 잠재를 따로 추정한다. 학습 환경은 legged_gym이고, 실물은 깊이 카메라(D435)를 단 A1이다. 실물에서 높이 17 cm 계단 오르기·내려가기 100%, 징검돌 94%, 26 cm 틈 100%였고, 눈 없는 정책은 오르기·징검돌·틈에서 모두 0%였다. 계단은 머리 안 앞쪽 카메라로, 징검돌과 틈은 따로 단 위쪽 카메라로 증류한 별도 정책이다(정책마다 카메라 한 대). 시뮬레이션에서 Miki 2022(B.14.2)의 잡음 모델로 잡음을 섞은 높이 지도를 본 기준선은 징검돌에서 1.09 m만 갔다(제안 방법 18.83–20.72 m). 같은 그룹의 Extreme Parkour(</a:t>
            </a:r>
            <a:r>
              <a:rPr sz="1050" b="0" i="0">
                <a:solidFill>
                  <a:srgbClr val="1D4ED8"/>
                </a:solidFill>
                <a:latin typeface="Arial"/>
                <a:ea typeface="Malgun Gothic"/>
                <a:cs typeface="Malgun Gothic"/>
                <a:hlinkClick r:id="rId5"/>
              </a:rPr>
              <a:t>arXiv:2309.14341</a:t>
            </a:r>
            <a:r>
              <a:rPr sz="1050" b="0" i="0">
                <a:solidFill>
                  <a:srgbClr val="16213A"/>
                </a:solidFill>
                <a:latin typeface="Arial"/>
                <a:ea typeface="Malgun Gothic"/>
                <a:cs typeface="Malgun Gothic"/>
              </a:rPr>
              <a:t>, ICRA 2024)가 이 두 단계 학습을 파쿠르로 넓혔고, 논문과 공개 코드를 읽은 결과는 Controller 문서 F.6.2에 있다. 기술 다섯 개를 깊이 영상 정책 하나로 증류한 Robot Parkour Learning(</a:t>
            </a:r>
            <a:r>
              <a:rPr sz="1050" b="0" i="0">
                <a:solidFill>
                  <a:srgbClr val="1D4ED8"/>
                </a:solidFill>
                <a:latin typeface="Arial"/>
                <a:ea typeface="Malgun Gothic"/>
                <a:cs typeface="Malgun Gothic"/>
                <a:hlinkClick r:id="rId6"/>
              </a:rPr>
              <a:t>arXiv:2309.05665</a:t>
            </a:r>
            <a:r>
              <a:rPr sz="1050" b="0" i="0">
                <a:solidFill>
                  <a:srgbClr val="16213A"/>
                </a:solidFill>
                <a:latin typeface="Arial"/>
                <a:ea typeface="Malgun Gothic"/>
                <a:cs typeface="Malgun Gothic"/>
              </a:rPr>
              <a:t>, CoRL 2023, Zhuang·Fu 외)은 B.12.2에 있다.</a:t>
            </a:r>
          </a:p>
        </p:txBody>
      </p:sp>
      <p:sp>
        <p:nvSpPr>
          <p:cNvPr id="6" name="TextBox 5"/>
          <p:cNvSpPr txBox="1"/>
          <p:nvPr/>
        </p:nvSpPr>
        <p:spPr>
          <a:xfrm>
            <a:off x="609600" y="3065462"/>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travplan은 반대쪽에 걸었다. TravMap을 Planner와 Controller의 공통 표현으로 둔다. Controller 문서 E.12의 결론처럼 지도가 비싼 쪽은 기동력이 낮은 쪽이다. TP-0129의 파이썬 평가에서 지도 없이 학습한 정책은 사족이 12개 중 8개를, 스워브가 3개를 지났다. 가져올 것은 값싼 특권 입력으로 RL을 하고 실물에서 얻을 입력으로 증류하는 두 단계 절차다. 지금 Planner D의 DAgger(TP-0075)는 교사와 학생이 같은 GT 지도를 보고(B.14.1), 학생을 belief 지도로 바꾸는 일이 TP-0055다.</a:t>
            </a:r>
          </a:p>
        </p:txBody>
      </p:sp>
    </p:spTree>
  </p:cSld>
  <p:clrMapOvr>
    <a:masterClrMapping/>
  </p:clrMapOvr>
</p:sld>
</file>

<file path=ppt/slides/slide39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4/5</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393 / 516</a:t>
            </a:r>
          </a:p>
        </p:txBody>
      </p:sp>
      <p:pic>
        <p:nvPicPr>
          <p:cNvPr id="5" name="Picture 4" descr="image.jpg"/>
          <p:cNvPicPr>
            <a:picLocks noChangeAspect="1"/>
          </p:cNvPicPr>
          <p:nvPr/>
        </p:nvPicPr>
        <p:blipFill>
          <a:blip r:embed="rId3"/>
          <a:stretch>
            <a:fillRect/>
          </a:stretch>
        </p:blipFill>
        <p:spPr>
          <a:xfrm>
            <a:off x="2546350" y="1244600"/>
            <a:ext cx="7099300" cy="4445000"/>
          </a:xfrm>
          <a:prstGeom prst="rect">
            <a:avLst/>
          </a:prstGeom>
        </p:spPr>
      </p:pic>
      <p:sp>
        <p:nvSpPr>
          <p:cNvPr id="6" name="TextBox 5"/>
          <p:cNvSpPr txBox="1"/>
          <p:nvPr/>
        </p:nvSpPr>
        <p:spPr>
          <a:xfrm>
            <a:off x="2546350" y="5727700"/>
            <a:ext cx="70993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자기 중심 깊이 보행 (Fig. 1): A1이 깊이 카메라 한 대로 실내 스툴 징검돌(위쪽에 단 카메라가 보인다), 숲속 돌계단, 상자, 바위, 밤의 계단, 물가 바위, 여러 실내외 계단과 연석을 지난다. 출처: arXiv:2211.07638</a:t>
            </a:r>
          </a:p>
        </p:txBody>
      </p:sp>
    </p:spTree>
  </p:cSld>
  <p:clrMapOvr>
    <a:masterClrMapping/>
  </p:clrMapOvr>
</p:sld>
</file>

<file path=ppt/slides/slide39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5/5</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394 / 516</a:t>
            </a:r>
          </a:p>
        </p:txBody>
      </p:sp>
      <p:sp>
        <p:nvSpPr>
          <p:cNvPr id="5" name="TextBox 4"/>
          <p:cNvSpPr txBox="1"/>
          <p:nvPr/>
        </p:nvSpPr>
        <p:spPr>
          <a:xfrm>
            <a:off x="609600" y="1244600"/>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LocoFormer — 무작위로 만든 로봇 10만 대에서 RL로 배운 transformer 하나가 처음 보는 다리·바퀴 로봇을 몇 초 안에 몰고, 넘어진 시도를 기억해 다음 시도에 고친다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arXiv:2509.23745</a:t>
            </a:r>
            <a:r>
              <a:rPr sz="1050" b="0" i="0">
                <a:solidFill>
                  <a:srgbClr val="16213A"/>
                </a:solidFill>
                <a:latin typeface="Arial"/>
                <a:ea typeface="Malgun Gothic"/>
                <a:cs typeface="Malgun Gothic"/>
              </a:rPr>
              <a:t>, Min Liu·Deepak Pathak·Ananye Agarwal, Skild AI, CoRL 2025 최우수 논문 최종 후보, </a:t>
            </a:r>
            <a:r>
              <a:rPr sz="1050" b="0" i="0">
                <a:solidFill>
                  <a:srgbClr val="1D4ED8"/>
                </a:solidFill>
                <a:latin typeface="Arial"/>
                <a:ea typeface="Malgun Gothic"/>
                <a:cs typeface="Malgun Gothic"/>
                <a:hlinkClick r:id="rId4"/>
              </a:rPr>
              <a:t>프로젝트</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5"/>
              </a:rPr>
              <a:t>영상</a:t>
            </a:r>
            <a:r>
              <a:rPr sz="1050" b="0" i="0">
                <a:solidFill>
                  <a:srgbClr val="16213A"/>
                </a:solidFill>
                <a:latin typeface="Arial"/>
                <a:ea typeface="Malgun Gothic"/>
                <a:cs typeface="Malgun Gothic"/>
              </a:rPr>
              <a:t>, 코드·가중치 비공개). RMA가 0.5 s 이력으로 환경 잠재 8차원을 추정했다면, LocoFormer는 </a:t>
            </a:r>
            <a:r>
              <a:rPr sz="1050" b="1" i="0">
                <a:solidFill>
                  <a:srgbClr val="C2410C"/>
                </a:solidFill>
                <a:latin typeface="Arial"/>
                <a:ea typeface="Malgun Gothic"/>
                <a:cs typeface="Malgun Gothic"/>
              </a:rPr>
              <a:t>맥락을 수십 초로 늘려 로봇의 몸 자체를 추정한다.</a:t>
            </a:r>
            <a:r>
              <a:rPr sz="1050" b="0" i="0">
                <a:solidFill>
                  <a:srgbClr val="16213A"/>
                </a:solidFill>
                <a:latin typeface="Arial"/>
                <a:ea typeface="Malgun Gothic"/>
                <a:cs typeface="Malgun Gothic"/>
              </a:rPr>
              <a:t> 몸 정보(관절 수·길이·질량)는 입력으로 주지 않는다. 처음 보는 로봇 10종(시뮬레이션)에서 영점 성적은 평균 0.96이었다. 로봇마다 따로 학습한 전문가 정책은 0.99였다. 실물은 G1·H1·Go2·Go2-W 넷이다. 무릎 고정, 바퀴 잠금, 죽마, 종아리 절단처럼 학습에 없던 변화도 몇 초에서 수십 초 안에 걷는 법을 다시 찾았다.</a:t>
            </a:r>
          </a:p>
        </p:txBody>
      </p:sp>
      <p:sp>
        <p:nvSpPr>
          <p:cNvPr id="6" name="TextBox 5"/>
          <p:cNvSpPr txBox="1"/>
          <p:nvPr/>
        </p:nvSpPr>
        <p:spPr>
          <a:xfrm>
            <a:off x="609600" y="2199481"/>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비결은 둘이다.</a:t>
            </a:r>
          </a:p>
        </p:txBody>
      </p:sp>
      <p:sp>
        <p:nvSpPr>
          <p:cNvPr id="7" name="TextBox 6"/>
          <p:cNvSpPr txBox="1"/>
          <p:nvPr/>
        </p:nvSpPr>
        <p:spPr>
          <a:xfrm>
            <a:off x="609600" y="2504877"/>
            <a:ext cx="10972800" cy="458391"/>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과제 공간을 넓힌다.</a:t>
            </a:r>
            <a:r>
              <a:rPr sz="1050" b="0" i="0">
                <a:solidFill>
                  <a:srgbClr val="16213A"/>
                </a:solidFill>
                <a:latin typeface="Arial"/>
                <a:ea typeface="Malgun Gothic"/>
                <a:cs typeface="Malgun Gothic"/>
              </a:rPr>
              <a:t> 이족·사족과 그 바퀴형을 절차 생성하고, 관성·이득·관절 한계를 크게 무작위화한다.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맥락을 에피소드 경계 너머로 늘린다.</a:t>
            </a:r>
            <a:r>
              <a:rPr sz="1050" b="0" i="0">
                <a:solidFill>
                  <a:srgbClr val="16213A"/>
                </a:solidFill>
                <a:latin typeface="Arial"/>
                <a:ea typeface="Malgun Gothic"/>
                <a:cs typeface="Malgun Gothic"/>
              </a:rPr>
              <a:t> 한 에피소드 안에서 여러 번 시도하게 하고, 기억을 시도 사이에 넘긴다. 목표는 에피소드 전체의 보상 합이다(RL²와 같은 메타 RL, 배경 0.11·강화학습 R.15).</a:t>
            </a:r>
          </a:p>
        </p:txBody>
      </p:sp>
      <p:pic>
        <p:nvPicPr>
          <p:cNvPr id="8" name="Picture 7" descr="image.jpg"/>
          <p:cNvPicPr>
            <a:picLocks noChangeAspect="1"/>
          </p:cNvPicPr>
          <p:nvPr/>
        </p:nvPicPr>
        <p:blipFill>
          <a:blip r:embed="rId6"/>
          <a:stretch>
            <a:fillRect/>
          </a:stretch>
        </p:blipFill>
        <p:spPr>
          <a:xfrm>
            <a:off x="609600" y="3052167"/>
            <a:ext cx="3981450" cy="2667000"/>
          </a:xfrm>
          <a:prstGeom prst="rect">
            <a:avLst/>
          </a:prstGeom>
        </p:spPr>
      </p:pic>
      <p:sp>
        <p:nvSpPr>
          <p:cNvPr id="9" name="TextBox 8"/>
          <p:cNvSpPr txBox="1"/>
          <p:nvPr/>
        </p:nvSpPr>
        <p:spPr>
          <a:xfrm>
            <a:off x="609600" y="5757267"/>
            <a:ext cx="54102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LocoFormer (Fig. 1): 위 두 줄은 학습 때 본 적 없는 실물(바퀴 달린 이족 모드 Go2-W, 다리 둘만 쓰는 Go2, G1·H1, 죽마를 단 Go2, 다리를 고정한 Go2), 아래 줄은 학습에 쓴 절차 생성 로봇의 예다. 출처: arXiv:2509.23745</a:t>
            </a:r>
          </a:p>
        </p:txBody>
      </p:sp>
      <p:pic>
        <p:nvPicPr>
          <p:cNvPr id="10" name="Picture 9" descr="image.jpg"/>
          <p:cNvPicPr>
            <a:picLocks noChangeAspect="1"/>
          </p:cNvPicPr>
          <p:nvPr/>
        </p:nvPicPr>
        <p:blipFill>
          <a:blip r:embed="rId7"/>
          <a:stretch>
            <a:fillRect/>
          </a:stretch>
        </p:blipFill>
        <p:spPr>
          <a:xfrm>
            <a:off x="6172200" y="3052167"/>
            <a:ext cx="4394200" cy="2667000"/>
          </a:xfrm>
          <a:prstGeom prst="rect">
            <a:avLst/>
          </a:prstGeom>
        </p:spPr>
      </p:pic>
      <p:sp>
        <p:nvSpPr>
          <p:cNvPr id="11" name="TextBox 10"/>
          <p:cNvSpPr txBox="1"/>
          <p:nvPr/>
        </p:nvSpPr>
        <p:spPr>
          <a:xfrm>
            <a:off x="6172200" y="5757267"/>
            <a:ext cx="5410200" cy="42654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LocoFormer (Fig. 5): 같은 정책 하나의 실물 적응. A 무릎 고정 → 세 다리로, B 이족 모드에서 시도 1·2는 넘어지고 시도 3에서 선다, C 바퀴를 잠그면 걷고 풀면 다시 구른다, D 죽마, E 다리 한두 개 고정, F 종아리를 잘라내면 7–8 s 뒤 무릎으로 걷는다. 출처: arXiv:2509.23745</a:t>
            </a:r>
          </a:p>
        </p:txBody>
      </p:sp>
    </p:spTree>
  </p:cSld>
  <p:clrMapOvr>
    <a:masterClrMapping/>
  </p:clrMapOvr>
</p:sld>
</file>

<file path=ppt/slides/slide39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자세히: LocoFormer의 방법·수식·결과와 한계</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395 / 516</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목적 함수(시도를 넘는 에피소드).</a:t>
            </a:r>
            <a:r>
              <a:rPr sz="1050" b="0" i="0">
                <a:solidFill>
                  <a:srgbClr val="16213A"/>
                </a:solidFill>
                <a:latin typeface="Arial"/>
                <a:ea typeface="Malgun Gothic"/>
                <a:cs typeface="Malgun Gothic"/>
              </a:rPr>
              <a:t> 시도(trial)는 초기 상태에서 넘어지거나 끝날 때까지의 궤적 하나다. 에피소드는 같은 MDP(같은 로봇) 안의 시도 </a:t>
            </a:r>
            <a:r>
              <a:rPr sz="1050" b="0" i="1">
                <a:solidFill>
                  <a:srgbClr val="16213A"/>
                </a:solidFill>
                <a:latin typeface="Arial"/>
                <a:ea typeface="Malgun Gothic"/>
                <a:cs typeface="Malgun Gothic"/>
              </a:rPr>
              <a:t>k</a:t>
            </a:r>
            <a:r>
              <a:rPr sz="1050" b="0" i="0">
                <a:solidFill>
                  <a:srgbClr val="16213A"/>
                </a:solidFill>
                <a:latin typeface="Arial"/>
                <a:ea typeface="Malgun Gothic"/>
                <a:cs typeface="Malgun Gothic"/>
              </a:rPr>
              <a:t>개다. 정책은 에피소드 안의 모든 상태·행동을 보고, 에피소드 전체의 할인 보상 합을 키운다(</a:t>
            </a:r>
            <a:r>
              <a:rPr sz="1050" b="0" i="1">
                <a:solidFill>
                  <a:srgbClr val="16213A"/>
                </a:solidFill>
                <a:latin typeface="Arial"/>
                <a:ea typeface="Malgun Gothic"/>
                <a:cs typeface="Malgun Gothic"/>
              </a:rPr>
              <a:t>Hᵢ</a:t>
            </a:r>
            <a:r>
              <a:rPr sz="1050" b="0" i="0">
                <a:solidFill>
                  <a:srgbClr val="16213A"/>
                </a:solidFill>
                <a:latin typeface="Arial"/>
                <a:ea typeface="Malgun Gothic"/>
                <a:cs typeface="Malgun Gothic"/>
              </a:rPr>
              <a:t>는 </a:t>
            </a:r>
            <a:r>
              <a:rPr sz="1050" b="0" i="1">
                <a:solidFill>
                  <a:srgbClr val="16213A"/>
                </a:solidFill>
                <a:latin typeface="Arial"/>
                <a:ea typeface="Malgun Gothic"/>
                <a:cs typeface="Malgun Gothic"/>
              </a:rPr>
              <a:t>i</a:t>
            </a:r>
            <a:r>
              <a:rPr sz="1050" b="0" i="0">
                <a:solidFill>
                  <a:srgbClr val="16213A"/>
                </a:solidFill>
                <a:latin typeface="Arial"/>
                <a:ea typeface="Malgun Gothic"/>
                <a:cs typeface="Malgun Gothic"/>
              </a:rPr>
              <a:t>번째 시도까지의 누적 길이).</a:t>
            </a:r>
          </a:p>
        </p:txBody>
      </p:sp>
      <p:pic>
        <p:nvPicPr>
          <p:cNvPr id="6" name="Picture 5" descr="image.png"/>
          <p:cNvPicPr>
            <a:picLocks noChangeAspect="1"/>
          </p:cNvPicPr>
          <p:nvPr/>
        </p:nvPicPr>
        <p:blipFill>
          <a:blip r:embed="rId3"/>
          <a:stretch>
            <a:fillRect/>
          </a:stretch>
        </p:blipFill>
        <p:spPr>
          <a:xfrm>
            <a:off x="609600" y="1766491"/>
            <a:ext cx="5305425" cy="552450"/>
          </a:xfrm>
          <a:prstGeom prst="rect">
            <a:avLst/>
          </a:prstGeom>
        </p:spPr>
      </p:pic>
      <p:sp>
        <p:nvSpPr>
          <p:cNvPr id="7" name="TextBox 6"/>
          <p:cNvSpPr txBox="1"/>
          <p:nvPr/>
        </p:nvSpPr>
        <p:spPr>
          <a:xfrm>
            <a:off x="609600" y="2312095"/>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시도 수를 직접 뽑는 대신 적응 시간 예산 </a:t>
            </a:r>
            <a:r>
              <a:rPr sz="1050" b="0" i="1">
                <a:solidFill>
                  <a:srgbClr val="16213A"/>
                </a:solidFill>
                <a:latin typeface="Arial"/>
                <a:ea typeface="Malgun Gothic"/>
                <a:cs typeface="Malgun Gothic"/>
              </a:rPr>
              <a:t>u ∼ U(0, U)</a:t>
            </a:r>
            <a:r>
              <a:rPr sz="1050" b="0" i="0">
                <a:solidFill>
                  <a:srgbClr val="16213A"/>
                </a:solidFill>
                <a:latin typeface="Arial"/>
                <a:ea typeface="Malgun Gothic"/>
                <a:cs typeface="Malgun Gothic"/>
              </a:rPr>
              <a:t>초를 뽑는다. 정책은 그 시간 안에 몇 번이든 시도하고, 그 뒤 마지막 시도로 평가받는다. 학습은 두 단계다. 처음에는 짧은 시도와 작은 </a:t>
            </a:r>
            <a:r>
              <a:rPr sz="1050" b="0" i="1">
                <a:solidFill>
                  <a:srgbClr val="16213A"/>
                </a:solidFill>
                <a:latin typeface="Arial"/>
                <a:ea typeface="Malgun Gothic"/>
                <a:cs typeface="Malgun Gothic"/>
              </a:rPr>
              <a:t>U</a:t>
            </a:r>
            <a:r>
              <a:rPr sz="1050" b="0" i="0">
                <a:solidFill>
                  <a:srgbClr val="16213A"/>
                </a:solidFill>
                <a:latin typeface="Arial"/>
                <a:ea typeface="Malgun Gothic"/>
                <a:cs typeface="Malgun Gothic"/>
              </a:rPr>
              <a:t>로 적응 행동부터 익히고, 뒤에는 시도와 적응 시간을 늘려 실물 배포에 맞춘다.</a:t>
            </a:r>
          </a:p>
        </p:txBody>
      </p:sp>
      <p:sp>
        <p:nvSpPr>
          <p:cNvPr id="8" name="TextBox 7"/>
          <p:cNvSpPr txBox="1"/>
          <p:nvPr/>
        </p:nvSpPr>
        <p:spPr>
          <a:xfrm>
            <a:off x="609600" y="2833985"/>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과제 생성.</a:t>
            </a:r>
            <a:r>
              <a:rPr sz="1050" b="0" i="0">
                <a:solidFill>
                  <a:srgbClr val="16213A"/>
                </a:solidFill>
                <a:latin typeface="Arial"/>
                <a:ea typeface="Malgun Gothic"/>
                <a:cs typeface="Malgun Gothic"/>
              </a:rPr>
              <a:t> 이족, 사족, 바퀴 이족, 바퀴 사족 네 갈래를 절차 생성한다. 시판 로봇의 파라미터는 쓰지 않고 설계 관행만 따른다. 관절 배치·순서, 질량, 무게중심 등을 무작위화한다. 동역학 무작위화는 Agarwal 2022(자기 중심 깊이 보행)의 항목을 쓰되 범위를 훨씬 넓혔다. 시험 로봇에는 이 생성기가 못 만드는 구조도 있다. Berkeley Humanoid는 고관절 roll·yaw 둘 다 기울어져 있고, G1은 관절 축이 x 방향으로 어긋나 있다.</a:t>
            </a:r>
          </a:p>
        </p:txBody>
      </p:sp>
      <p:sp>
        <p:nvSpPr>
          <p:cNvPr id="9" name="TextBox 8"/>
          <p:cNvSpPr txBox="1"/>
          <p:nvPr/>
        </p:nvSpPr>
        <p:spPr>
          <a:xfrm>
            <a:off x="609600" y="357237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공통 관절 공간.</a:t>
            </a:r>
            <a:r>
              <a:rPr sz="1050" b="0" i="0">
                <a:solidFill>
                  <a:srgbClr val="16213A"/>
                </a:solidFill>
                <a:latin typeface="Arial"/>
                <a:ea typeface="Malgun Gothic"/>
                <a:cs typeface="Malgun Gothic"/>
              </a:rPr>
              <a:t> 요즘 다리 로봇 대부분의 모터 수를 덮는 관절 상위 집합을 이어 붙여 관측과 행동을 통일한다. 정책은 그 공간에서 관절 목표 위치를 내고, 로봇마다 있는 관절만 꺼내 쓴다. 보상은 명령 속도 추종 둘과 벌점·생존 항이다.</a:t>
            </a:r>
          </a:p>
        </p:txBody>
      </p:sp>
      <p:pic>
        <p:nvPicPr>
          <p:cNvPr id="10" name="Picture 9" descr="image.png"/>
          <p:cNvPicPr>
            <a:picLocks noChangeAspect="1"/>
          </p:cNvPicPr>
          <p:nvPr/>
        </p:nvPicPr>
        <p:blipFill>
          <a:blip r:embed="rId4"/>
          <a:stretch>
            <a:fillRect/>
          </a:stretch>
        </p:blipFill>
        <p:spPr>
          <a:xfrm>
            <a:off x="609600" y="4094262"/>
            <a:ext cx="6248400" cy="266700"/>
          </a:xfrm>
          <a:prstGeom prst="rect">
            <a:avLst/>
          </a:prstGeom>
        </p:spPr>
      </p:pic>
      <p:sp>
        <p:nvSpPr>
          <p:cNvPr id="11" name="TextBox 10"/>
          <p:cNvSpPr txBox="1"/>
          <p:nvPr/>
        </p:nvSpPr>
        <p:spPr>
          <a:xfrm>
            <a:off x="609600" y="4394200"/>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가중치는 논문에 없다(부록은 항 목록만 준다).</a:t>
            </a:r>
          </a:p>
        </p:txBody>
      </p:sp>
      <p:sp>
        <p:nvSpPr>
          <p:cNvPr id="12" name="TextBox 11"/>
          <p:cNvSpPr txBox="1"/>
          <p:nvPr/>
        </p:nvSpPr>
        <p:spPr>
          <a:xfrm>
            <a:off x="609600" y="4699595"/>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Transformer-XL 정책.</a:t>
            </a:r>
            <a:r>
              <a:rPr sz="1050" b="0" i="0">
                <a:solidFill>
                  <a:srgbClr val="16213A"/>
                </a:solidFill>
                <a:latin typeface="Arial"/>
                <a:ea typeface="Malgun Gothic"/>
                <a:cs typeface="Malgun Gothic"/>
              </a:rPr>
              <a:t> 50 Hz 제어에서 5 s는 이미 250토큰이라 보통 transformer로는 맥락이 비싸다. 관측을 MLP로 토큰 </a:t>
            </a:r>
            <a:r>
              <a:rPr sz="1050" b="0" i="1">
                <a:solidFill>
                  <a:srgbClr val="16213A"/>
                </a:solidFill>
                <a:latin typeface="Arial"/>
                <a:ea typeface="Malgun Gothic"/>
                <a:cs typeface="Malgun Gothic"/>
              </a:rPr>
              <a:t>xₜ</a:t>
            </a:r>
            <a:r>
              <a:rPr sz="1050" b="0" i="0">
                <a:solidFill>
                  <a:srgbClr val="16213A"/>
                </a:solidFill>
                <a:latin typeface="Arial"/>
                <a:ea typeface="Malgun Gothic"/>
                <a:cs typeface="Malgun Gothic"/>
              </a:rPr>
              <a:t>에 묻고, 길이 </a:t>
            </a:r>
            <a:r>
              <a:rPr sz="1050" b="0" i="1">
                <a:solidFill>
                  <a:srgbClr val="16213A"/>
                </a:solidFill>
                <a:latin typeface="Arial"/>
                <a:ea typeface="Malgun Gothic"/>
                <a:cs typeface="Malgun Gothic"/>
              </a:rPr>
              <a:t>L</a:t>
            </a:r>
            <a:r>
              <a:rPr sz="1050" b="0" i="0">
                <a:solidFill>
                  <a:srgbClr val="16213A"/>
                </a:solidFill>
                <a:latin typeface="Arial"/>
                <a:ea typeface="Malgun Gothic"/>
                <a:cs typeface="Malgun Gothic"/>
              </a:rPr>
              <a:t>의 구간(segment) 단위로 처리한다. 현재 구간의 키·값을 만들 때 직전 구간의 은닉 상태를 stop-gradient로 이어 붙인다.</a:t>
            </a:r>
          </a:p>
        </p:txBody>
      </p:sp>
      <p:pic>
        <p:nvPicPr>
          <p:cNvPr id="13" name="Picture 12" descr="image.png"/>
          <p:cNvPicPr>
            <a:picLocks noChangeAspect="1"/>
          </p:cNvPicPr>
          <p:nvPr/>
        </p:nvPicPr>
        <p:blipFill>
          <a:blip r:embed="rId5"/>
          <a:stretch>
            <a:fillRect/>
          </a:stretch>
        </p:blipFill>
        <p:spPr>
          <a:xfrm>
            <a:off x="609600" y="5221486"/>
            <a:ext cx="5575300" cy="247650"/>
          </a:xfrm>
          <a:prstGeom prst="rect">
            <a:avLst/>
          </a:prstGeom>
        </p:spPr>
      </p:pic>
      <p:sp>
        <p:nvSpPr>
          <p:cNvPr id="14" name="TextBox 13"/>
          <p:cNvSpPr txBox="1"/>
          <p:nvPr/>
        </p:nvSpPr>
        <p:spPr>
          <a:xfrm>
            <a:off x="609600" y="5502275"/>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층마다 한 구간씩 더 뒤를 보므로 유효 맥락은 </a:t>
            </a:r>
            <a:r>
              <a:rPr sz="1050" b="0" i="1">
                <a:solidFill>
                  <a:srgbClr val="16213A"/>
                </a:solidFill>
                <a:latin typeface="Arial"/>
                <a:ea typeface="Malgun Gothic"/>
                <a:cs typeface="Malgun Gothic"/>
              </a:rPr>
              <a:t>O(NL)</a:t>
            </a:r>
            <a:r>
              <a:rPr sz="1050" b="0" i="0">
                <a:solidFill>
                  <a:srgbClr val="16213A"/>
                </a:solidFill>
                <a:latin typeface="Arial"/>
                <a:ea typeface="Malgun Gothic"/>
                <a:cs typeface="Malgun Gothic"/>
              </a:rPr>
              <a:t>이다. 6층, </a:t>
            </a:r>
            <a:r>
              <a:rPr sz="1050" b="0" i="1">
                <a:solidFill>
                  <a:srgbClr val="16213A"/>
                </a:solidFill>
                <a:latin typeface="Arial"/>
                <a:ea typeface="Malgun Gothic"/>
                <a:cs typeface="Malgun Gothic"/>
              </a:rPr>
              <a:t>L = 128</a:t>
            </a:r>
            <a:r>
              <a:rPr sz="1050" b="0" i="0">
                <a:solidFill>
                  <a:srgbClr val="16213A"/>
                </a:solidFill>
                <a:latin typeface="Arial"/>
                <a:ea typeface="Malgun Gothic"/>
                <a:cs typeface="Malgun Gothic"/>
              </a:rPr>
              <a:t>이면 최대 896스텝, 50 Hz로 약 18 s다. 구간이 에피소드 경계를 넘으면 어텐션 마스크로 막는다. 시도 경계는 막지 않는다. 그래서 넘어진 시도가 다음 시도의 맥락에 남는다. Actor와 Critic은 같은 몸통에 MLP 머리를 따로 단다. 배포 때는 KV 캐시에 최근 </a:t>
            </a:r>
            <a:r>
              <a:rPr sz="1050" b="0" i="1">
                <a:solidFill>
                  <a:srgbClr val="16213A"/>
                </a:solidFill>
                <a:latin typeface="Arial"/>
                <a:ea typeface="Malgun Gothic"/>
                <a:cs typeface="Malgun Gothic"/>
              </a:rPr>
              <a:t>2L - 1</a:t>
            </a:r>
            <a:r>
              <a:rPr sz="1050" b="0" i="0">
                <a:solidFill>
                  <a:srgbClr val="16213A"/>
                </a:solidFill>
                <a:latin typeface="Arial"/>
                <a:ea typeface="Malgun Gothic"/>
                <a:cs typeface="Malgun Gothic"/>
              </a:rPr>
              <a:t>스텝만 남겨 계산을 선형으로 줄인다.</a:t>
            </a:r>
          </a:p>
        </p:txBody>
      </p:sp>
      <p:sp>
        <p:nvSpPr>
          <p:cNvPr id="15" name="TextBox 14"/>
          <p:cNvSpPr txBox="1"/>
          <p:nvPr/>
        </p:nvSpPr>
        <p:spPr>
          <a:xfrm>
            <a:off x="609600" y="6024166"/>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14개(문단·식·그림)는 대시보드 리서치 탭의 "자세히: LocoFormer의 방법·수식·결과와 한계" 토글에 있다.</a:t>
            </a:r>
          </a:p>
        </p:txBody>
      </p:sp>
    </p:spTree>
  </p:cSld>
  <p:clrMapOvr>
    <a:masterClrMapping/>
  </p:clrMapOvr>
</p:sld>
</file>

<file path=ppt/slides/slide39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1/4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396 / 516</a:t>
            </a:r>
          </a:p>
        </p:txBody>
      </p:sp>
      <p:sp>
        <p:nvSpPr>
          <p:cNvPr id="5" name="TextBox 4"/>
          <p:cNvSpPr txBox="1"/>
          <p:nvPr/>
        </p:nvSpPr>
        <p:spPr>
          <a:xfrm>
            <a:off x="609600" y="1244600"/>
            <a:ext cx="10972800" cy="108247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LocoFormer의 계보와 후속 연구 — 처음 보는 몸을 "설명으로 준다"와 "이력에서 읽는다"의 두 답</a:t>
            </a:r>
            <a:r>
              <a:rPr sz="1050" b="0" i="0">
                <a:solidFill>
                  <a:srgbClr val="16213A"/>
                </a:solidFill>
                <a:latin typeface="Arial"/>
                <a:ea typeface="Malgun Gothic"/>
                <a:cs typeface="Malgun Gothic"/>
              </a:rPr>
              <a:t>(앞선 연구·동시대 연구 15편, 인용 36편 가운데 10편, 2026-10-23 확인). 앞선 연구는 처음 보는 몸을 아는 법에 두 가지로 답했다. 하나는 몸 정보를 입력으로 주는 것이고(URMA, Embodiment Scaling Laws, COMPASS), 다른 하나는 이력에서 읽는 것이다(GenLoco, AnyCar, X-Nav). </a:t>
            </a:r>
            <a:r>
              <a:rPr sz="1050" b="1" i="0">
                <a:solidFill>
                  <a:srgbClr val="C2410C"/>
                </a:solidFill>
                <a:latin typeface="Arial"/>
                <a:ea typeface="Malgun Gothic"/>
                <a:cs typeface="Malgun Gothic"/>
              </a:rPr>
              <a:t>LocoFormer는 이력 쪽 답을 GenLoco의 15스텝에서 수십 초로 키우고, DeepMind AdA의 "Transformer-XL + 여러 시도" 틀을 보행으로 옮겼다.</a:t>
            </a:r>
            <a:r>
              <a:rPr sz="1050" b="0" i="0">
                <a:solidFill>
                  <a:srgbClr val="16213A"/>
                </a:solidFill>
                <a:latin typeface="Arial"/>
                <a:ea typeface="Malgun Gothic"/>
                <a:cs typeface="Malgun Gothic"/>
              </a:rPr>
              <a:t> LocoFormer 본문의 관련 연구 절은 RL², SMP, CrossFormer, URMA, GenLoco, AdA를 들고, GenLoco를 가장 가까운 연구로 지목한다. 바퀴 쪽 연구는 하나도 인용하지 않는다. 2025년의 다른 연구실은 대부분 반대쪽 답을 키웠다. 몸 설명을 명시하고, 전문가 정책을 증류하고, 몸체 수를 늘렸다(Embodiment Scaling Laws 1,012대, URMAv2 다리 로봇 50종).</a:t>
            </a:r>
          </a:p>
        </p:txBody>
      </p:sp>
      <p:sp>
        <p:nvSpPr>
          <p:cNvPr id="6" name="TextBox 5"/>
          <p:cNvSpPr txBox="1"/>
          <p:nvPr/>
        </p:nvSpPr>
        <p:spPr>
          <a:xfrm>
            <a:off x="609600" y="2415977"/>
            <a:ext cx="10972800" cy="649486"/>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인용은 Semantic Scholar 기준 36편이다(2026-10-23). LocoFormer와 수치로 겨룬 논문은 없다. 코드와 가중치가 공개되지 않았기 때문이다. LocoFormer식 암묵 이력 정책을 다시 구현해 기준선으로 쓴 것은 Rapid Embodiment Adaptation 하나다. 공식 코드 대신 비공식 구현이 둘 있다. </a:t>
            </a:r>
            <a:r>
              <a:rPr sz="1050" b="0" i="0">
                <a:solidFill>
                  <a:srgbClr val="1D4ED8"/>
                </a:solidFill>
                <a:latin typeface="Arial"/>
                <a:ea typeface="Malgun Gothic"/>
                <a:cs typeface="Malgun Gothic"/>
                <a:hlinkClick r:id="rId3"/>
              </a:rPr>
              <a:t>lucidrains/locoformer</a:t>
            </a:r>
            <a:r>
              <a:rPr sz="1050" b="0" i="0">
                <a:solidFill>
                  <a:srgbClr val="16213A"/>
                </a:solidFill>
                <a:latin typeface="Arial"/>
                <a:ea typeface="Malgun Gothic"/>
                <a:cs typeface="Malgun Gothic"/>
              </a:rPr>
              <a:t>(MIT, 작업 중, 가중치 없음)와 </a:t>
            </a:r>
            <a:r>
              <a:rPr sz="1050" b="0" i="0">
                <a:solidFill>
                  <a:srgbClr val="1D4ED8"/>
                </a:solidFill>
                <a:latin typeface="Arial"/>
                <a:ea typeface="Malgun Gothic"/>
                <a:cs typeface="Malgun Gothic"/>
                <a:hlinkClick r:id="rId4"/>
              </a:rPr>
              <a:t>BabyLocoFormer</a:t>
            </a:r>
            <a:r>
              <a:rPr sz="1050" b="0" i="0">
                <a:solidFill>
                  <a:srgbClr val="16213A"/>
                </a:solidFill>
                <a:latin typeface="Arial"/>
                <a:ea typeface="Malgun Gothic"/>
                <a:cs typeface="Malgun Gothic"/>
              </a:rPr>
              <a:t>(BSD-3, 저자가 스스로 결과가 나쁘다고 적었다)다. 후속은 네 갈래로 나뉜다.</a:t>
            </a:r>
          </a:p>
        </p:txBody>
      </p:sp>
      <p:graphicFrame>
        <p:nvGraphicFramePr>
          <p:cNvPr id="7" name="Table 6"/>
          <p:cNvGraphicFramePr>
            <a:graphicFrameLocks noGrp="1"/>
          </p:cNvGraphicFramePr>
          <p:nvPr/>
        </p:nvGraphicFramePr>
        <p:xfrm>
          <a:off x="609600" y="3154362"/>
          <a:ext cx="10966451" cy="985440"/>
        </p:xfrm>
        <a:graphic>
          <a:graphicData uri="http://schemas.openxmlformats.org/drawingml/2006/table">
            <a:tbl>
              <a:tblPr firstRow="1" bandRow="1">
                <a:tableStyleId>{5C22544A-7EE6-4342-B048-85BDC9FD1C3A}</a:tableStyleId>
              </a:tblPr>
              <a:tblGrid>
                <a:gridCol w="1768277"/>
                <a:gridCol w="4626273"/>
                <a:gridCol w="4571901"/>
              </a:tblGrid>
              <a:tr h="197088">
                <a:tc>
                  <a:txBody>
                    <a:bodyPr wrap="square"/>
                    <a:lstStyle/>
                    <a:p>
                      <a:r>
                        <a:rPr sz="800" b="1" i="0">
                          <a:solidFill>
                            <a:srgbClr val="F4F1EA"/>
                          </a:solidFill>
                          <a:latin typeface="Arial"/>
                          <a:ea typeface="Malgun Gothic"/>
                          <a:cs typeface="Malgun Gothic"/>
                        </a:rPr>
                        <a:t>갈래</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연구</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무엇을 바꾸나</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긴 맥락 대신 명시 식별</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Rapid Embodiment Adaptation, Active Embodiment ID</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짧은 이력에서 관절 범위·몸통 질량 같은 몸 파라미터를 명시적으로 추정한다</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규모 대신 효율과 지형</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MorFiC(학습 2시간), PolyMorph(RTX 4090 한 장 약 2.7일), PPAL(약 30시간)</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LocoFormer의 계산량을 비판하고, 작은 예산에서 몸 정보나 지형 인식을 더한다</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시도 사이 맥락을 조작으로</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RopeFormer, DexFormer, Gated Memory Policy</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여러 시도를 잇는 맥락을 밧줄·손 조작으로 옮긴다</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휴머노이드 기반 정책 옮기기</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XHugWBC, TRACE</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맥락 적응 대신 공간 정렬과 미세 조정으로 몸을 바꾼다</a:t>
                      </a:r>
                    </a:p>
                  </a:txBody>
                  <a:tcPr marL="63500" marR="63500" marT="12700" marB="12700">
                    <a:solidFill>
                      <a:srgbClr val="F3F0E8"/>
                    </a:solidFill>
                  </a:tcPr>
                </a:tc>
              </a:tr>
            </a:tbl>
          </a:graphicData>
        </a:graphic>
      </p:graphicFrame>
      <p:sp>
        <p:nvSpPr>
          <p:cNvPr id="8" name="TextBox 7"/>
          <p:cNvSpPr txBox="1"/>
          <p:nvPr/>
        </p:nvSpPr>
        <p:spPr>
          <a:xfrm>
            <a:off x="609600" y="4481413"/>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AnyCar — 같은 질문의 바퀴판, 정책이 아니라 MPPI의 rollout 모델에 답한다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5"/>
              </a:rPr>
              <a:t>arXiv:2409.15783</a:t>
            </a:r>
            <a:r>
              <a:rPr sz="1050" b="0" i="0">
                <a:solidFill>
                  <a:srgbClr val="16213A"/>
                </a:solidFill>
                <a:latin typeface="Arial"/>
                <a:ea typeface="Malgun Gothic"/>
                <a:cs typeface="Malgun Gothic"/>
              </a:rPr>
              <a:t>, CMU LeCAR Lab, ICRA 2025, </a:t>
            </a:r>
            <a:r>
              <a:rPr sz="1050" b="0" i="0">
                <a:solidFill>
                  <a:srgbClr val="1D4ED8"/>
                </a:solidFill>
                <a:latin typeface="Arial"/>
                <a:ea typeface="Malgun Gothic"/>
                <a:cs typeface="Malgun Gothic"/>
                <a:hlinkClick r:id="rId6"/>
              </a:rPr>
              <a:t>코드</a:t>
            </a:r>
            <a:r>
              <a:rPr sz="1050" b="0" i="0">
                <a:solidFill>
                  <a:srgbClr val="16213A"/>
                </a:solidFill>
                <a:latin typeface="Arial"/>
                <a:ea typeface="Malgun Gothic"/>
                <a:cs typeface="Malgun Gothic"/>
              </a:rPr>
              <a:t>). 바퀴 차량용 범용 순동역학 모델이다. 상태·행동 이력을 토큰으로 읽는 transformer가 차의 크기와 물성이 바뀌어도 이력에서 적응한다. 시뮬레이터 4종의 1억 스텝으로 사전학습하고 실제 데이터 약 2만 개로 미세 조정했다. 20만 매개변수 모델로 50 Hz MPPI(샘플 600개)를 돌렸다. 실내 상태 추정 오차 조건에서, 처음 보는 고속 주행의 추종 오차가 0.57로 전문가 모델(1.26)의 절반이었다(표 II). LocoFormer는 이 연구를 인용하지 않는다. 비슷한 설계의 후속 OptCar는 Controller 문서 E.4에 있다.</a:t>
            </a:r>
          </a:p>
        </p:txBody>
      </p:sp>
    </p:spTree>
  </p:cSld>
  <p:clrMapOvr>
    <a:masterClrMapping/>
  </p:clrMapOvr>
</p:sld>
</file>

<file path=ppt/slides/slide39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2/4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397 / 516</a:t>
            </a:r>
          </a:p>
        </p:txBody>
      </p:sp>
      <p:sp>
        <p:nvSpPr>
          <p:cNvPr id="5" name="TextBox 4"/>
          <p:cNvSpPr txBox="1"/>
          <p:nvPr/>
        </p:nvSpPr>
        <p:spPr>
          <a:xfrm>
            <a:off x="609600" y="1244600"/>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Rapid Embodiment Adaptation — LocoFormer식 암묵 이력 정책을 기준선으로 다시 구현하고, 짧은 이력의 명시 식별로 이겼다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arXiv:2608.01506</a:t>
            </a:r>
            <a:r>
              <a:rPr sz="1050" b="0" i="0">
                <a:solidFill>
                  <a:srgbClr val="16213A"/>
                </a:solidFill>
                <a:latin typeface="Arial"/>
                <a:ea typeface="Malgun Gothic"/>
                <a:cs typeface="Malgun Gothic"/>
              </a:rPr>
              <a:t>, UCSD·TU Darmstadt, 2026-08, 코드 없음). URMA 정책 위에서 짧은 이력으로 관절 범위 배율과 몸통 질량 오차를 추정한다. 시뮬에서 0.4 s 안에 식별했다. 다섯 팔(암묵 이력, 무적응, 명시 추정, 잠재 추정, 정답 조건)을 비교했다. 시뮬에서 두 추정 판은 정답 조건 정책에 다가갔고, 암묵 이력 정책은 대체로 그보다 나빴다. 실물 Go2에서 앞오른쪽 관절을 0.3으로 잠그면 성공률이 80 %로 무적응(20 %)의 네 배였다(표 IV, 조건마다 10회). 표 IV는 열마다 가장 좋은 값을 1로 정규화했고, 1.0이 성공률 80 %다. 실물에서는 암묵 이력 정책을 시험하지 않았다.</a:t>
            </a:r>
          </a:p>
        </p:txBody>
      </p:sp>
      <p:sp>
        <p:nvSpPr>
          <p:cNvPr id="6" name="TextBox 5"/>
          <p:cNvSpPr txBox="1"/>
          <p:nvPr/>
        </p:nvSpPr>
        <p:spPr>
          <a:xfrm>
            <a:off x="609600" y="2199481"/>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RopeFormer — LocoFormer의 구성을 그대로 밧줄 조작에 쓰고, 구동기 명령 지연까지 무작위화한다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4"/>
              </a:rPr>
              <a:t>arXiv:2609.23432</a:t>
            </a:r>
            <a:r>
              <a:rPr sz="1050" b="0" i="0">
                <a:solidFill>
                  <a:srgbClr val="16213A"/>
                </a:solidFill>
                <a:latin typeface="Arial"/>
                <a:ea typeface="Malgun Gothic"/>
                <a:cs typeface="Malgun Gothic"/>
              </a:rPr>
              <a:t>, UC Berkeley, 2026-09, 코드 공개 예정). Transformer-XL(6층, 8헤드, 구간 128)과 한 에피소드 안의 여러 시도를 LocoFormer에서 그대로 가져왔다. 무작위화에는 밧줄 물성과 함께 구동기 추종 응답, 명령 지연, 동작 한계가 들어간다. 가중치를 고정한 채 실물 H1-2 팔에서 첫 시도에서 셋째 시도로 가며 목표 도달 시간이 30.9 %(Swing), 33.9 %(Twirl) 줄었다. Whip의 평균 적중은 3회 중 0.2회에서 2.3회로 늘었다.</a:t>
            </a:r>
          </a:p>
        </p:txBody>
      </p:sp>
      <p:sp>
        <p:nvSpPr>
          <p:cNvPr id="7" name="TextBox 6"/>
          <p:cNvSpPr txBox="1"/>
          <p:nvPr/>
        </p:nvSpPr>
        <p:spPr>
          <a:xfrm>
            <a:off x="609600" y="2937867"/>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PolyMorph — 몸 정보를 숨기는 LocoFormer와 반대로 URDF를 토큰으로 넣고, GPU 한 장으로 학습한다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5"/>
              </a:rPr>
              <a:t>arXiv:2610.19615</a:t>
            </a:r>
            <a:r>
              <a:rPr sz="1050" b="0" i="0">
                <a:solidFill>
                  <a:srgbClr val="16213A"/>
                </a:solidFill>
                <a:latin typeface="Arial"/>
                <a:ea typeface="Malgun Gothic"/>
                <a:cs typeface="Malgun Gothic"/>
              </a:rPr>
              <a:t>, KAIST Hwangbo 연구실(저자와 로봇 Raibo로 판단), 2026-10, 코드 없음). URDF를 관절–링크 토큰으로 바꾸고 GRU, 그래프 Transformer, 관절별 디코더를 지난다. PD 이득은 URDF에서 구한다. RaiSim에서 RTX 4090 한 장으로 약 2.7일 학습했다. 실물 50 m 야외 경로(평지, 경사, 계단, 울퉁불퉁한 지면)에서 사족 20/20, 삼족 20/20, 이족 9/10, 처음 보는 삼족 7/10이었다(표 III). 온보드 추론 지연은 평균 0.366 ms다.</a:t>
            </a:r>
          </a:p>
        </p:txBody>
      </p:sp>
    </p:spTree>
  </p:cSld>
  <p:clrMapOvr>
    <a:masterClrMapping/>
  </p:clrMapOvr>
</p:sld>
</file>

<file path=ppt/slides/slide39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3/4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398 / 516</a:t>
            </a:r>
          </a:p>
        </p:txBody>
      </p:sp>
      <p:pic>
        <p:nvPicPr>
          <p:cNvPr id="5" name="Picture 4" descr="image.jpg"/>
          <p:cNvPicPr>
            <a:picLocks noChangeAspect="1"/>
          </p:cNvPicPr>
          <p:nvPr/>
        </p:nvPicPr>
        <p:blipFill>
          <a:blip r:embed="rId3"/>
          <a:stretch>
            <a:fillRect/>
          </a:stretch>
        </p:blipFill>
        <p:spPr>
          <a:xfrm>
            <a:off x="609600" y="1244600"/>
            <a:ext cx="4000500" cy="2667000"/>
          </a:xfrm>
          <a:prstGeom prst="rect">
            <a:avLst/>
          </a:prstGeom>
        </p:spPr>
      </p:pic>
      <p:sp>
        <p:nvSpPr>
          <p:cNvPr id="6" name="TextBox 5"/>
          <p:cNvSpPr txBox="1"/>
          <p:nvPr/>
        </p:nvSpPr>
        <p:spPr>
          <a:xfrm>
            <a:off x="609600" y="3949700"/>
            <a:ext cx="54102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AnyCar (Fig. 2): 시뮬레이터 4종에서 사전학습하고 실제 데이터로 미세 조정한 순동역학 transformer를 MPPI의 rollout 모델로 쓴다. 출처: arXiv:2409.15783</a:t>
            </a:r>
          </a:p>
        </p:txBody>
      </p:sp>
      <p:pic>
        <p:nvPicPr>
          <p:cNvPr id="7" name="Picture 6" descr="image.jpg"/>
          <p:cNvPicPr>
            <a:picLocks noChangeAspect="1"/>
          </p:cNvPicPr>
          <p:nvPr/>
        </p:nvPicPr>
        <p:blipFill>
          <a:blip r:embed="rId4"/>
          <a:stretch>
            <a:fillRect/>
          </a:stretch>
        </p:blipFill>
        <p:spPr>
          <a:xfrm>
            <a:off x="6172200" y="1244600"/>
            <a:ext cx="5219700" cy="2667000"/>
          </a:xfrm>
          <a:prstGeom prst="rect">
            <a:avLst/>
          </a:prstGeom>
        </p:spPr>
      </p:pic>
      <p:sp>
        <p:nvSpPr>
          <p:cNvPr id="8" name="TextBox 7"/>
          <p:cNvSpPr txBox="1"/>
          <p:nvPr/>
        </p:nvSpPr>
        <p:spPr>
          <a:xfrm>
            <a:off x="6172200" y="3949700"/>
            <a:ext cx="54102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Rapid Embodiment Adaptation (Fig. 1): 짧은 상호작용 이력에서 몸 파라미터를 추정해 URMA 정책에 넣는다. 출처: arXiv:2608.01506</a:t>
            </a:r>
          </a:p>
        </p:txBody>
      </p:sp>
    </p:spTree>
  </p:cSld>
  <p:clrMapOvr>
    <a:masterClrMapping/>
  </p:clrMapOvr>
</p:sld>
</file>

<file path=ppt/slides/slide39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4/4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399 / 516</a:t>
            </a:r>
          </a:p>
        </p:txBody>
      </p:sp>
      <p:sp>
        <p:nvSpPr>
          <p:cNvPr id="5" name="TextBox 4"/>
          <p:cNvSpPr txBox="1"/>
          <p:nvPr/>
        </p:nvSpPr>
        <p:spPr>
          <a:xfrm>
            <a:off x="609600" y="1244600"/>
            <a:ext cx="10972800" cy="1948458"/>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travplan은 실제 스워브 파라미터를 모른다(TP-0035). 그래서 URMA나 COMPASS처럼 몸 설명을 줄 수 없고, 이력에서 읽는 쪽으로 가야 한다. 가장 가까운 선례는 AnyCar다. TP-0150의 </a:t>
            </a:r>
            <a:r>
              <a:rPr sz="1050" b="0" i="0">
                <a:solidFill>
                  <a:srgbClr val="16213A"/>
                </a:solidFill>
                <a:latin typeface="Consolas"/>
                <a:ea typeface="Malgun Gothic"/>
                <a:cs typeface="Malgun Gothic"/>
              </a:rPr>
              <a:t>mppi_plant_lag</a:t>
            </a:r>
            <a:r>
              <a:rPr sz="1050" b="0" i="0">
                <a:solidFill>
                  <a:srgbClr val="16213A"/>
                </a:solidFill>
                <a:latin typeface="Arial"/>
                <a:ea typeface="Malgun Gothic"/>
                <a:cs typeface="Malgun Gothic"/>
              </a:rPr>
              <a:t>는 지연을 아는 값으로 rollout에 넣었다. AnyCar식이라면 그 자리를 지연과 슬립을 이력에서 읽는 학습 순동역학 모델이 맡고, MPPI 최적화기는 그대로 둔다. Rapid Embodiment Adaptation의 명시 식별은 travplan 구조에 더 잘 맞는다. 짧은 이력에서 지연과 이득을 추정해 </a:t>
            </a:r>
            <a:r>
              <a:rPr sz="1050" b="0" i="0">
                <a:solidFill>
                  <a:srgbClr val="16213A"/>
                </a:solidFill>
                <a:latin typeface="Consolas"/>
                <a:ea typeface="Malgun Gothic"/>
                <a:cs typeface="Malgun Gothic"/>
              </a:rPr>
              <a:t>mppi_plant_lag</a:t>
            </a:r>
            <a:r>
              <a:rPr sz="1050" b="0" i="0">
                <a:solidFill>
                  <a:srgbClr val="16213A"/>
                </a:solidFill>
                <a:latin typeface="Arial"/>
                <a:ea typeface="Malgun Gothic"/>
                <a:cs typeface="Malgun Gothic"/>
              </a:rPr>
              <a:t>의 rollout에 넣으면, 추정값을 사람이 읽을 수 있고 Planner→Controller 분리도 그대로다. 같은 논문의 다섯 팔은 TP-0150 비교표의 틀로 쓸 수 있다. 무적응(</a:t>
            </a:r>
            <a:r>
              <a:rPr sz="1050" b="0" i="0">
                <a:solidFill>
                  <a:srgbClr val="16213A"/>
                </a:solidFill>
                <a:latin typeface="Consolas"/>
                <a:ea typeface="Malgun Gothic"/>
                <a:cs typeface="Malgun Gothic"/>
              </a:rPr>
              <a:t>mppi</a:t>
            </a:r>
            <a:r>
              <a:rPr sz="1050" b="0" i="0">
                <a:solidFill>
                  <a:srgbClr val="16213A"/>
                </a:solidFill>
                <a:latin typeface="Arial"/>
                <a:ea typeface="Malgun Gothic"/>
                <a:cs typeface="Malgun Gothic"/>
              </a:rPr>
              <a:t>), 정답 지연(</a:t>
            </a:r>
            <a:r>
              <a:rPr sz="1050" b="0" i="0">
                <a:solidFill>
                  <a:srgbClr val="16213A"/>
                </a:solidFill>
                <a:latin typeface="Consolas"/>
                <a:ea typeface="Malgun Gothic"/>
                <a:cs typeface="Malgun Gothic"/>
              </a:rPr>
              <a:t>mppi_plant_lag</a:t>
            </a:r>
            <a:r>
              <a:rPr sz="1050" b="0" i="0">
                <a:solidFill>
                  <a:srgbClr val="16213A"/>
                </a:solidFill>
                <a:latin typeface="Arial"/>
                <a:ea typeface="Malgun Gothic"/>
                <a:cs typeface="Malgun Gothic"/>
              </a:rPr>
              <a:t>), 추정 지연, 잠재, 암묵 이력이다. 학습 Controller </a:t>
            </a:r>
            <a:r>
              <a:rPr sz="1050" b="0" i="0">
                <a:solidFill>
                  <a:srgbClr val="16213A"/>
                </a:solidFill>
                <a:latin typeface="Consolas"/>
                <a:ea typeface="Malgun Gothic"/>
                <a:cs typeface="Malgun Gothic"/>
              </a:rPr>
              <a:t>TinyPolicy</a:t>
            </a:r>
            <a:r>
              <a:rPr sz="1050" b="0" i="0">
                <a:solidFill>
                  <a:srgbClr val="16213A"/>
                </a:solidFill>
                <a:latin typeface="Arial"/>
                <a:ea typeface="Malgun Gothic"/>
                <a:cs typeface="Malgun Gothic"/>
              </a:rPr>
              <a:t>(TP-0128)의 첫 단계는 GenLoco 크기다. 이력 15스텝을 넣고, RopeFormer처럼 명령 지연과 추종 응답을 무작위화한다. 반대 근거도 있다. Dynamics Distillation(</a:t>
            </a:r>
            <a:r>
              <a:rPr sz="1050" b="0" i="0">
                <a:solidFill>
                  <a:srgbClr val="1D4ED8"/>
                </a:solidFill>
                <a:latin typeface="Arial"/>
                <a:ea typeface="Malgun Gothic"/>
                <a:cs typeface="Malgun Gothic"/>
                <a:hlinkClick r:id="rId3"/>
              </a:rPr>
              <a:t>arXiv:2605.01516</a:t>
            </a:r>
            <a:r>
              <a:rPr sz="1050" b="0" i="0">
                <a:solidFill>
                  <a:srgbClr val="16213A"/>
                </a:solidFill>
                <a:latin typeface="Arial"/>
                <a:ea typeface="Malgun Gothic"/>
                <a:cs typeface="Malgun Gothic"/>
              </a:rPr>
              <a:t>)은 학습 분포가 넓으면 현재 상태만 보는 차량 정책도 얼음길에서 버틴다고 보였다(학습에서 얼음을 빼면 주행 거리가 83.4 %에서 40.4 %로 준다). 그래서 "넓은 무작위화 + 현재 관측"과 "이력 15스텝"을 짝 비교로 먼저 가른다. COMPASS는 (v, ω) 명령 위에서 바퀴 Carter와 다리 로봇을 정책 하나로 몬다. Playground의 공통 twist 인터페이스(TP-0135)를 학습 쪽에서 비교할 기준선이다. 코드 출발점은 Embodiment Scaling Laws(BSD-3, 체크포인트 공개), URMA(MIT), 비공식 lucidrains/locoformer(MIT)다. 다만 Embodiment Scaling Laws의 전문가 학습은 GPU 160장으로 약 5일이 들어 travplan 규모를 넘는다.</a:t>
            </a:r>
          </a:p>
        </p:txBody>
      </p:sp>
    </p:spTree>
  </p:cSld>
  <p:clrMapOvr>
    <a:masterClrMapping/>
  </p:clrMapOvr>
</p:sld>
</file>

<file path=ppt/slides/slide40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자세히: LocoFormer의 계보 15편과 후속 10편</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400 / 516</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앞선 연구와 동시대 연구.</a:t>
            </a:r>
            <a:r>
              <a:rPr sz="1050" b="0" i="0">
                <a:solidFill>
                  <a:srgbClr val="16213A"/>
                </a:solidFill>
                <a:latin typeface="Arial"/>
                <a:ea typeface="Malgun Gothic"/>
                <a:cs typeface="Malgun Gothic"/>
              </a:rPr>
              <a:t> 관계 열의 "인용"은 LocoFormer 본문이 그 연구를 인용했다는 뜻이다.</a:t>
            </a:r>
          </a:p>
        </p:txBody>
      </p:sp>
      <p:sp>
        <p:nvSpPr>
          <p:cNvPr id="6" name="TextBox 5"/>
          <p:cNvSpPr txBox="1"/>
          <p:nvPr/>
        </p:nvSpPr>
        <p:spPr>
          <a:xfrm>
            <a:off x="609600" y="1549995"/>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4개(문단·식·그림)는 대시보드 리서치 탭의 "자세히: LocoFormer의 계보 15편과 후속 10편" 토글에 있다.</a:t>
            </a:r>
          </a:p>
        </p:txBody>
      </p:sp>
    </p:spTree>
  </p:cSld>
  <p:clrMapOvr>
    <a:masterClrMapping/>
  </p:clrMapOvr>
</p:sld>
</file>

<file path=ppt/slides/slide40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1/3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401 / 516</a:t>
            </a:r>
          </a:p>
        </p:txBody>
      </p:sp>
      <p:sp>
        <p:nvSpPr>
          <p:cNvPr id="5" name="TextBox 4"/>
          <p:cNvSpPr txBox="1"/>
          <p:nvPr/>
        </p:nvSpPr>
        <p:spPr>
          <a:xfrm>
            <a:off x="609600" y="1244600"/>
            <a:ext cx="10972800" cy="108247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Skild AI — Pathak·Gupta가 2023년에 세운 회사. 몸체를 가리지 않는 로봇 두뇌 하나를 목표로, 보행에서는 LocoFormer를, 조작에서는 영상 시연 한 편을 맥락에 넣는 S1(2026-08)을 냈다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skild.ai</a:t>
            </a:r>
            <a:r>
              <a:rPr sz="1050" b="0" i="0">
                <a:solidFill>
                  <a:srgbClr val="16213A"/>
                </a:solidFill>
                <a:latin typeface="Arial"/>
                <a:ea typeface="Malgun Gothic"/>
                <a:cs typeface="Malgun Gothic"/>
              </a:rPr>
              <a:t>, 피츠버그, 블로그 12편 2024-07–2026-09). CEO는 Deepak Pathak(CMU), President는 Abhinav Gupta(CMU, 전 Meta 피츠버그 로봇 연구실)다. 회사가 내세우는 구조는 두 층이다. </a:t>
            </a:r>
            <a:r>
              <a:rPr sz="1050" b="1" i="0">
                <a:solidFill>
                  <a:srgbClr val="C2410C"/>
                </a:solidFill>
                <a:latin typeface="Arial"/>
                <a:ea typeface="Malgun Gothic"/>
                <a:cs typeface="Malgun Gothic"/>
              </a:rPr>
              <a:t>낮은 주기의 상위 조작·내비 정책이 높은 주기의 하위 정책에 입력을 주고, 하위 정책이 관절 각도와 토크를 낸다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4"/>
              </a:rPr>
              <a:t>2025-07 블로그</a:t>
            </a:r>
            <a:r>
              <a:rPr sz="1050" b="0" i="0">
                <a:solidFill>
                  <a:srgbClr val="16213A"/>
                </a:solidFill>
                <a:latin typeface="Arial"/>
                <a:ea typeface="Malgun Gothic"/>
                <a:cs typeface="Malgun Gothic"/>
              </a:rPr>
              <a:t>). travplan의 Planner → Controller 분리와 같은 꼴이다. 하위 층의 공개 근거가 LocoFormer이고, 상위 층의 최근 발표가 S1이다. </a:t>
            </a:r>
            <a:r>
              <a:rPr sz="1050" b="1" i="0">
                <a:solidFill>
                  <a:srgbClr val="C2410C"/>
                </a:solidFill>
                <a:latin typeface="Arial"/>
                <a:ea typeface="Malgun Gothic"/>
                <a:cs typeface="Malgun Gothic"/>
              </a:rPr>
              <a:t>논문으로 낸 것은 LocoFormer뿐이다.</a:t>
            </a:r>
            <a:r>
              <a:rPr sz="1050" b="0" i="0">
                <a:solidFill>
                  <a:srgbClr val="16213A"/>
                </a:solidFill>
                <a:latin typeface="Arial"/>
                <a:ea typeface="Malgun Gothic"/>
                <a:cs typeface="Malgun Gothic"/>
              </a:rPr>
              <a:t> Skild Brain과 S1은 블로그 발표만 있다. 가중치, 코드, 논문, 외부 평가가 없다. 그래서 아래 S1 수치는 모두 회사 자체 측정이다.</a:t>
            </a:r>
          </a:p>
        </p:txBody>
      </p:sp>
      <p:graphicFrame>
        <p:nvGraphicFramePr>
          <p:cNvPr id="6" name="Table 5"/>
          <p:cNvGraphicFramePr>
            <a:graphicFrameLocks noGrp="1"/>
          </p:cNvGraphicFramePr>
          <p:nvPr/>
        </p:nvGraphicFramePr>
        <p:xfrm>
          <a:off x="609600" y="2415977"/>
          <a:ext cx="10966450" cy="2740896"/>
        </p:xfrm>
        <a:graphic>
          <a:graphicData uri="http://schemas.openxmlformats.org/drawingml/2006/table">
            <a:tbl>
              <a:tblPr firstRow="1" bandRow="1">
                <a:tableStyleId>{5C22544A-7EE6-4342-B048-85BDC9FD1C3A}</a:tableStyleId>
              </a:tblPr>
              <a:tblGrid>
                <a:gridCol w="586680"/>
                <a:gridCol w="1821755"/>
                <a:gridCol w="6807895"/>
                <a:gridCol w="1750120"/>
              </a:tblGrid>
              <a:tr h="197088">
                <a:tc>
                  <a:txBody>
                    <a:bodyPr wrap="square"/>
                    <a:lstStyle/>
                    <a:p>
                      <a:r>
                        <a:rPr sz="800" b="1" i="0">
                          <a:solidFill>
                            <a:srgbClr val="F4F1EA"/>
                          </a:solidFill>
                          <a:latin typeface="Arial"/>
                          <a:ea typeface="Malgun Gothic"/>
                          <a:cs typeface="Malgun Gothic"/>
                        </a:rPr>
                        <a:t>시점</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발표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무엇</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근거의 성격</a:t>
                      </a:r>
                    </a:p>
                  </a:txBody>
                  <a:tcPr marL="63500" marR="63500" marT="12700" marB="12700">
                    <a:solidFill>
                      <a:srgbClr val="16213A"/>
                    </a:solidFill>
                  </a:tcPr>
                </a:tc>
              </a:tr>
              <a:tr h="317976">
                <a:tc>
                  <a:txBody>
                    <a:bodyPr wrap="square"/>
                    <a:lstStyle/>
                    <a:p>
                      <a:r>
                        <a:rPr sz="800" b="0" i="0">
                          <a:solidFill>
                            <a:srgbClr val="16213A"/>
                          </a:solidFill>
                          <a:latin typeface="Arial"/>
                          <a:ea typeface="Malgun Gothic"/>
                          <a:cs typeface="Malgun Gothic"/>
                        </a:rPr>
                        <a:t>2024-07</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Series A</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3억 달러, 기업가치 15억 달러. 2023년 창업</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회사 블로그</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2025-07</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Skild Brain</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몸체 무관 2층 구조. "VLM에 로봇 데이터 1 % 미만을 섞은 것"을 로봇 기반 모델이 아니라고 비판. 시뮬과 인터넷 영상으로 사전학습, 표적 실물 데이터로 후학습</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블로그, 영상</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2025-08</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영상 기반 보행(</a:t>
                      </a:r>
                      <a:r>
                        <a:rPr sz="800" b="0" i="0">
                          <a:solidFill>
                            <a:srgbClr val="1D4ED8"/>
                          </a:solidFill>
                          <a:latin typeface="Arial"/>
                          <a:ea typeface="Malgun Gothic"/>
                          <a:cs typeface="Malgun Gothic"/>
                          <a:hlinkClick r:id="rId5"/>
                        </a:rPr>
                        <a:t>블로그</a:t>
                      </a:r>
                      <a:r>
                        <a:rPr sz="800" b="0" i="0">
                          <a:solidFill>
                            <a:srgbClr val="16213A"/>
                          </a:solidFill>
                          <a:latin typeface="Arial"/>
                          <a:ea typeface="Malgun Gothic"/>
                          <a:cs typeface="Malgun Gothic"/>
                        </a:rPr>
                        <a: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휴머노이드가 원시 영상과 관절 피드백에서 모터 명령을 곧장 낸다. "계획도, 지도도, 행동 전환도 없이" 계단·비상계단·팔레트·틈을 건넌다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블로그, 영상(정량 없음)</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2025-09</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LocoFormer(</a:t>
                      </a:r>
                      <a:r>
                        <a:rPr sz="800" b="0" i="0">
                          <a:solidFill>
                            <a:srgbClr val="1D4ED8"/>
                          </a:solidFill>
                          <a:latin typeface="Arial"/>
                          <a:ea typeface="Malgun Gothic"/>
                          <a:cs typeface="Malgun Gothic"/>
                          <a:hlinkClick r:id="rId6"/>
                        </a:rPr>
                        <a:t>블로그</a:t>
                      </a:r>
                      <a:r>
                        <a:rPr sz="800" b="0" i="0">
                          <a:solidFill>
                            <a:srgbClr val="16213A"/>
                          </a:solidFill>
                          <a:latin typeface="Arial"/>
                          <a:ea typeface="Malgun Gothic"/>
                          <a:cs typeface="Malgun Gothic"/>
                        </a:rPr>
                        <a: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위 카드</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논문</a:t>
                      </a:r>
                      <a:r>
                        <a:rPr sz="800" b="0" i="0">
                          <a:solidFill>
                            <a:srgbClr val="16213A"/>
                          </a:solidFill>
                          <a:latin typeface="Arial"/>
                          <a:ea typeface="Malgun Gothic"/>
                          <a:cs typeface="Malgun Gothic"/>
                        </a:rPr>
                        <a:t>(CoRL 2025)</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2026-01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Series C</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14억 달러, 기업가치 140억 달러 이상(SoftBank 주도, NVentures 등). 2025년 몇 달 사이 매출 약 3천만 달러</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회사 블로그, </a:t>
                      </a:r>
                      <a:r>
                        <a:rPr sz="800" b="0" i="0">
                          <a:solidFill>
                            <a:srgbClr val="1D4ED8"/>
                          </a:solidFill>
                          <a:latin typeface="Arial"/>
                          <a:ea typeface="Malgun Gothic"/>
                          <a:cs typeface="Malgun Gothic"/>
                          <a:hlinkClick r:id="rId7"/>
                        </a:rPr>
                        <a:t>TechCrunch</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2026-03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ABB·Universal Robots·NVIDIA 제휴</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Foxconn의 Blackwell 조립 라인에서 양팔 조립(버스바, 나사 16개). Isaac Lab·Isaac Sim·Cosmos 사용</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블로그</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2026-04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Zebra 로봇 부문 인수</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옛 Fetch Robotics AMR과 창고 오케스트레이션</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블로그, 업계 보도</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2026-08</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S1</a:t>
                      </a:r>
                      <a:r>
                        <a:rPr sz="800" b="0" i="0">
                          <a:solidFill>
                            <a:srgbClr val="16213A"/>
                          </a:solidFill>
                          <a:latin typeface="Arial"/>
                          <a:ea typeface="Malgun Gothic"/>
                          <a:cs typeface="Malgun Gothic"/>
                        </a:rPr>
                        <a:t>(</a:t>
                      </a:r>
                      <a:r>
                        <a:rPr sz="800" b="0" i="0">
                          <a:solidFill>
                            <a:srgbClr val="1D4ED8"/>
                          </a:solidFill>
                          <a:latin typeface="Arial"/>
                          <a:ea typeface="Malgun Gothic"/>
                          <a:cs typeface="Malgun Gothic"/>
                          <a:hlinkClick r:id="rId8"/>
                        </a:rPr>
                        <a:t>블로그</a:t>
                      </a:r>
                      <a:r>
                        <a:rPr sz="800" b="0" i="0">
                          <a:solidFill>
                            <a:srgbClr val="16213A"/>
                          </a:solidFill>
                          <a:latin typeface="Arial"/>
                          <a:ea typeface="Malgun Gothic"/>
                          <a:cs typeface="Malgun Gothic"/>
                        </a:rPr>
                        <a: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시연 영상 한 편을 맥락에 넣으면 그 일을 한다. 미세조정 없음</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블로그(정량은 사내 벤치마크)</a:t>
                      </a:r>
                    </a:p>
                  </a:txBody>
                  <a:tcPr marL="63500" marR="63500" marT="12700" marB="12700">
                    <a:solidFill>
                      <a:srgbClr val="F3F0E8"/>
                    </a:solidFill>
                  </a:tcPr>
                </a:tc>
              </a:tr>
            </a:tbl>
          </a:graphicData>
        </a:graphic>
      </p:graphicFrame>
    </p:spTree>
  </p:cSld>
  <p:clrMapOvr>
    <a:masterClrMapping/>
  </p:clrMapOvr>
</p:sld>
</file>

<file path=ppt/slides/slide40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2/3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402 / 516</a:t>
            </a:r>
          </a:p>
        </p:txBody>
      </p:sp>
      <p:graphicFrame>
        <p:nvGraphicFramePr>
          <p:cNvPr id="5" name="Table 4"/>
          <p:cNvGraphicFramePr>
            <a:graphicFrameLocks noGrp="1"/>
          </p:cNvGraphicFramePr>
          <p:nvPr/>
        </p:nvGraphicFramePr>
        <p:xfrm>
          <a:off x="609600" y="1244600"/>
          <a:ext cx="10966450" cy="833040"/>
        </p:xfrm>
        <a:graphic>
          <a:graphicData uri="http://schemas.openxmlformats.org/drawingml/2006/table">
            <a:tbl>
              <a:tblPr firstRow="1" bandRow="1">
                <a:tableStyleId>{5C22544A-7EE6-4342-B048-85BDC9FD1C3A}</a:tableStyleId>
              </a:tblPr>
              <a:tblGrid>
                <a:gridCol w="586680"/>
                <a:gridCol w="1821755"/>
                <a:gridCol w="6807895"/>
                <a:gridCol w="1750120"/>
              </a:tblGrid>
              <a:tr h="197088">
                <a:tc>
                  <a:txBody>
                    <a:bodyPr wrap="square"/>
                    <a:lstStyle/>
                    <a:p>
                      <a:r>
                        <a:rPr sz="800" b="1" i="0">
                          <a:solidFill>
                            <a:srgbClr val="F4F1EA"/>
                          </a:solidFill>
                          <a:latin typeface="Arial"/>
                          <a:ea typeface="Malgun Gothic"/>
                          <a:cs typeface="Malgun Gothic"/>
                        </a:rPr>
                        <a:t>시점</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발표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무엇</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근거의 성격</a:t>
                      </a:r>
                    </a:p>
                  </a:txBody>
                  <a:tcPr marL="63500" marR="63500" marT="12700" marB="12700">
                    <a:solidFill>
                      <a:srgbClr val="16213A"/>
                    </a:solidFill>
                  </a:tcPr>
                </a:tc>
              </a:tr>
              <a:tr h="317976">
                <a:tc>
                  <a:txBody>
                    <a:bodyPr wrap="square"/>
                    <a:lstStyle/>
                    <a:p>
                      <a:r>
                        <a:rPr sz="800" b="0" i="0">
                          <a:solidFill>
                            <a:srgbClr val="16213A"/>
                          </a:solidFill>
                          <a:latin typeface="Arial"/>
                          <a:ea typeface="Malgun Gothic"/>
                          <a:cs typeface="Malgun Gothic"/>
                        </a:rPr>
                        <a:t>2026-09</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ARR 1억 달러 돌파</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첫 상용 배포 10개월 뒤, 유료 고객 60곳 이상. 매출의 약 90 %가 조작, 10 %가 이동</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회사 블로그(감사받지 않은 자체 수치)</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2026-09</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Physical Self-Play</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S1 위에서 Isaac Sim 자기 대국 RL로 휴머노이드 축구를 후학습. "시뮬 140년"</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블로그, 영상(정량 없음)</a:t>
                      </a:r>
                    </a:p>
                  </a:txBody>
                  <a:tcPr marL="63500" marR="63500" marT="12700" marB="12700">
                    <a:solidFill>
                      <a:srgbClr val="F3F0E8"/>
                    </a:solidFill>
                  </a:tcPr>
                </a:tc>
              </a:tr>
            </a:tbl>
          </a:graphicData>
        </a:graphic>
      </p:graphicFrame>
    </p:spTree>
  </p:cSld>
  <p:clrMapOvr>
    <a:masterClrMapping/>
  </p:clrMapOvr>
</p:sld>
</file>

<file path=ppt/slides/slide40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3/3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403 / 516</a:t>
            </a:r>
          </a:p>
        </p:txBody>
      </p:sp>
      <p:pic>
        <p:nvPicPr>
          <p:cNvPr id="5" name="Picture 4" descr="image.jpg"/>
          <p:cNvPicPr>
            <a:picLocks noChangeAspect="1"/>
          </p:cNvPicPr>
          <p:nvPr/>
        </p:nvPicPr>
        <p:blipFill>
          <a:blip r:embed="rId3"/>
          <a:stretch>
            <a:fillRect/>
          </a:stretch>
        </p:blipFill>
        <p:spPr>
          <a:xfrm>
            <a:off x="2127250" y="1244600"/>
            <a:ext cx="7937500" cy="4445000"/>
          </a:xfrm>
          <a:prstGeom prst="rect">
            <a:avLst/>
          </a:prstGeom>
        </p:spPr>
      </p:pic>
      <p:sp>
        <p:nvSpPr>
          <p:cNvPr id="6" name="TextBox 5"/>
          <p:cNvSpPr txBox="1"/>
          <p:nvPr/>
        </p:nvSpPr>
        <p:spPr>
          <a:xfrm>
            <a:off x="2127250" y="5727700"/>
            <a:ext cx="79375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Skild AI S1: 프롬프트 영상을 찍는 세 방법. 머리에 단 카메라로 찍은 사람 손, VR 원격 조종, 손에 드는 그리퍼(UMI식). 어느 것이든 맥락에 넣으면 정책이 자기 몸과 지금 장면으로 옮겨 실행한다고 한다. 출처: Skild AI 블로그 "Introducing S1"(2026-08)</a:t>
            </a:r>
          </a:p>
        </p:txBody>
      </p:sp>
    </p:spTree>
  </p:cSld>
  <p:clrMapOvr>
    <a:masterClrMapping/>
  </p:clrMapOvr>
</p:sld>
</file>

<file path=ppt/slides/slide40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자세히: S1의 주장·수치와 읽는 법, Skild 사람들의 관련 논문</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404 / 516</a:t>
            </a:r>
          </a:p>
        </p:txBody>
      </p:sp>
      <p:sp>
        <p:nvSpPr>
          <p:cNvPr id="5" name="TextBox 4"/>
          <p:cNvSpPr txBox="1"/>
          <p:nvPr/>
        </p:nvSpPr>
        <p:spPr>
          <a:xfrm>
            <a:off x="609600" y="1244600"/>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S1이 무엇인가.</a:t>
            </a:r>
            <a:r>
              <a:rPr sz="1050" b="0" i="0">
                <a:solidFill>
                  <a:srgbClr val="16213A"/>
                </a:solidFill>
                <a:latin typeface="Arial"/>
                <a:ea typeface="Malgun Gothic"/>
                <a:cs typeface="Malgun Gothic"/>
              </a:rPr>
              <a:t> 회사 표현으로는 "처음부터 맥락 안 학습기(in-context learner)로 만든 대표 로봇 기반 모델"이다. 과제를 언어로 주지 않고 </a:t>
            </a:r>
            <a:r>
              <a:rPr sz="1050" b="1" i="0">
                <a:solidFill>
                  <a:srgbClr val="16213A"/>
                </a:solidFill>
                <a:latin typeface="Arial"/>
                <a:ea typeface="Malgun Gothic"/>
                <a:cs typeface="Malgun Gothic"/>
              </a:rPr>
              <a:t>시연 영상</a:t>
            </a:r>
            <a:r>
              <a:rPr sz="1050" b="0" i="0">
                <a:solidFill>
                  <a:srgbClr val="16213A"/>
                </a:solidFill>
                <a:latin typeface="Arial"/>
                <a:ea typeface="Malgun Gothic"/>
                <a:cs typeface="Malgun Gothic"/>
              </a:rPr>
              <a:t>으로 준다. 시연은 다른 장면, 다른 시점, 다른 몸(사람 손)에서 와도 된다. 사전학습 데이터의 에피소드마다 과제를 맥락 속 시연으로만 지정한다. 그래서 정책이 시연자의 의도, 기능적 대응(어느 물체가 어느 물체 역할인가), 과제 진행을 스스로 읽어야 한다. 블로그는 이것을 메타 학습으로 설명한다. 사전학습이 바깥 고리이고, 가중치를 바꾸지 않는 맥락 속 시연이 안쪽 고리다. </a:t>
            </a:r>
            <a:r>
              <a:rPr sz="1050" b="1" i="0">
                <a:solidFill>
                  <a:srgbClr val="C2410C"/>
                </a:solidFill>
                <a:latin typeface="Arial"/>
                <a:ea typeface="Malgun Gothic"/>
                <a:cs typeface="Malgun Gothic"/>
              </a:rPr>
              <a:t>LocoFormer의 "이전 시도를 맥락에 두고 다음 시도에 고친다"를 조작으로 옮긴 셈이다.</a:t>
            </a:r>
            <a:r>
              <a:rPr sz="1050" b="0" i="0">
                <a:solidFill>
                  <a:srgbClr val="16213A"/>
                </a:solidFill>
                <a:latin typeface="Arial"/>
                <a:ea typeface="Malgun Gothic"/>
                <a:cs typeface="Malgun Gothic"/>
              </a:rPr>
              <a:t> 회사 연표도 2025-09 LocoFormer → 2026-02 첫 맥락 안 학습 결과 → 2026-08 S1로 잇는다.</a:t>
            </a:r>
          </a:p>
        </p:txBody>
      </p:sp>
      <p:sp>
        <p:nvSpPr>
          <p:cNvPr id="6" name="TextBox 5"/>
          <p:cNvSpPr txBox="1"/>
          <p:nvPr/>
        </p:nvSpPr>
        <p:spPr>
          <a:xfrm>
            <a:off x="609600" y="219948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데이터.</a:t>
            </a:r>
            <a:r>
              <a:rPr sz="1050" b="0" i="0">
                <a:solidFill>
                  <a:srgbClr val="16213A"/>
                </a:solidFill>
                <a:latin typeface="Arial"/>
                <a:ea typeface="Malgun Gothic"/>
                <a:cs typeface="Malgun Gothic"/>
              </a:rPr>
              <a:t> 원천은 넷이다. 원격 조종(하드웨어에 가깝지만 다양성·확장성이 낮다), UMI식 손 그리퍼(중간), 1인칭 사람 영상(다양성·확장성이 높고 하드웨어와 멀다), 시뮬레이션이다. "데이터 수집에 1달러를 쓰면 품질 관리에 3달러를 쓴다"고 적었다. 데이터 혼합 비율, 모델 구조, 매개변수 수, 행동 공간, 제어 주기, 지연, 추론 하드웨어는 밝히지 않았다.</a:t>
            </a:r>
          </a:p>
        </p:txBody>
      </p:sp>
      <p:sp>
        <p:nvSpPr>
          <p:cNvPr id="7" name="TextBox 6"/>
          <p:cNvSpPr txBox="1"/>
          <p:nvPr/>
        </p:nvSpPr>
        <p:spPr>
          <a:xfrm>
            <a:off x="609600" y="2721372"/>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10개(문단·식·그림)는 대시보드 리서치 탭의 "자세히: S1의 주장·수치와 읽는 법, Skild 사람들의 관련 논문" 토글에 있다.</a:t>
            </a:r>
          </a:p>
        </p:txBody>
      </p:sp>
    </p:spTree>
  </p:cSld>
  <p:clrMapOvr>
    <a:masterClrMapping/>
  </p:clrMapOvr>
</p:sld>
</file>

<file path=ppt/slides/slide40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1/6</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405 / 516</a:t>
            </a:r>
          </a:p>
        </p:txBody>
      </p:sp>
      <p:sp>
        <p:nvSpPr>
          <p:cNvPr id="5" name="TextBox 4"/>
          <p:cNvSpPr txBox="1"/>
          <p:nvPr/>
        </p:nvSpPr>
        <p:spPr>
          <a:xfrm>
            <a:off x="609600" y="1244600"/>
            <a:ext cx="10972800" cy="108247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MIT(Pulkit Agrawal의 Improbable AI Lab과 Sangbae Kim의 Biomimetic Robotics Lab).</a:t>
            </a:r>
            <a:r>
              <a:rPr sz="1050" b="0" i="0">
                <a:solidFill>
                  <a:srgbClr val="16213A"/>
                </a:solidFill>
                <a:latin typeface="Arial"/>
                <a:ea typeface="Malgun Gothic"/>
                <a:cs typeface="Malgun Gothic"/>
              </a:rPr>
              <a:t> Rapid Locomotion(MIT)과 Ji 2022(KAIST)는 Biomimetic Robotics Lab의 Mini Cheetah(</a:t>
            </a:r>
            <a:r>
              <a:rPr sz="1050" b="0" i="0">
                <a:solidFill>
                  <a:srgbClr val="1D4ED8"/>
                </a:solidFill>
                <a:latin typeface="Arial"/>
                <a:ea typeface="Malgun Gothic"/>
                <a:cs typeface="Malgun Gothic"/>
                <a:hlinkClick r:id="rId3"/>
              </a:rPr>
              <a:t>ICRA 2019</a:t>
            </a:r>
            <a:r>
              <a:rPr sz="1050" b="0" i="0">
                <a:solidFill>
                  <a:srgbClr val="16213A"/>
                </a:solidFill>
                <a:latin typeface="Arial"/>
                <a:ea typeface="Malgun Gothic"/>
                <a:cs typeface="Malgun Gothic"/>
              </a:rPr>
              <a:t>, 키 약 0.3 m, 9 kg)를 실물로 썼다. 그 공개 제어 코드는 </a:t>
            </a:r>
            <a:r>
              <a:rPr sz="1050" b="0" i="0">
                <a:solidFill>
                  <a:srgbClr val="1D4ED8"/>
                </a:solidFill>
                <a:latin typeface="Arial"/>
                <a:ea typeface="Malgun Gothic"/>
                <a:cs typeface="Malgun Gothic"/>
                <a:hlinkClick r:id="rId4"/>
              </a:rPr>
              <a:t>Cheetah-Software</a:t>
            </a:r>
            <a:r>
              <a:rPr sz="1050" b="0" i="0">
                <a:solidFill>
                  <a:srgbClr val="16213A"/>
                </a:solidFill>
                <a:latin typeface="Arial"/>
                <a:ea typeface="Malgun Gothic"/>
                <a:cs typeface="Malgun Gothic"/>
              </a:rPr>
              <a:t>(MIT 라이선스, ★3.3k)다. 같은 연구실의 볼록 MPC(</a:t>
            </a:r>
            <a:r>
              <a:rPr sz="1050" b="0" i="0">
                <a:solidFill>
                  <a:srgbClr val="1D4ED8"/>
                </a:solidFill>
                <a:latin typeface="Arial"/>
                <a:ea typeface="Malgun Gothic"/>
                <a:cs typeface="Malgun Gothic"/>
                <a:hlinkClick r:id="rId5"/>
              </a:rPr>
              <a:t>IROS 2018</a:t>
            </a:r>
            <a:r>
              <a:rPr sz="1050" b="0" i="0">
                <a:solidFill>
                  <a:srgbClr val="16213A"/>
                </a:solidFill>
                <a:latin typeface="Arial"/>
                <a:ea typeface="Malgun Gothic"/>
                <a:cs typeface="Malgun Gothic"/>
              </a:rPr>
              <a:t>, Di Carlo 외)는 몸통 동역학을 단순화해 지면 반력 계획을 볼록 최적화로 세운다. 최대 0.5 s 지평을 20–30 Hz로 1 ms 안에 풀어 Cheetah 3를 최고 3 m/s로 달리게 했다. Rapid Locomotion은 같은 로봇의 MPC 기록 3.7 m/s와 비교했고, Ji 2022(KAIST)의 실물 코드는 Cheetah-Software를 포크했다. Improbable AI Lab은 Mini Cheetah의 명령 공간 커리큘럼(Rapid Locomotion)에서 시작했다. 그 뒤 Unitree Go1으로 옮겨 사람이 고르는 걸음새 파라미터(Walk These Ways), 공 다루기(DribbleBot), 자기지도 노면 물성(ASMP)으로 이어 갔다.</a:t>
            </a:r>
          </a:p>
        </p:txBody>
      </p:sp>
      <p:sp>
        <p:nvSpPr>
          <p:cNvPr id="6" name="TextBox 5"/>
          <p:cNvSpPr txBox="1"/>
          <p:nvPr/>
        </p:nvSpPr>
        <p:spPr>
          <a:xfrm>
            <a:off x="609600" y="2415977"/>
            <a:ext cx="10972800" cy="1948458"/>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Rapid Locomotion — 명령 격자 커리큘럼과 이력 기반 추정으로 Mini Cheetah가 3.9 m/s로 달린다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6"/>
              </a:rPr>
              <a:t>arXiv:2205.02824</a:t>
            </a:r>
            <a:r>
              <a:rPr sz="1050" b="0" i="0">
                <a:solidFill>
                  <a:srgbClr val="16213A"/>
                </a:solidFill>
                <a:latin typeface="Arial"/>
                <a:ea typeface="Malgun Gothic"/>
                <a:cs typeface="Malgun Gothic"/>
              </a:rPr>
              <a:t>, Margolis·Yang·Paigwar·Chen·Agrawal, RSS 2022, 확장판 </a:t>
            </a:r>
            <a:r>
              <a:rPr sz="1050" b="0" i="0">
                <a:solidFill>
                  <a:srgbClr val="1D4ED8"/>
                </a:solidFill>
                <a:latin typeface="Arial"/>
                <a:ea typeface="Malgun Gothic"/>
                <a:cs typeface="Malgun Gothic"/>
                <a:hlinkClick r:id="rId7"/>
              </a:rPr>
              <a:t>IJRR 43(4) 2024</a:t>
            </a:r>
            <a:r>
              <a:rPr sz="1050" b="0" i="0">
                <a:solidFill>
                  <a:srgbClr val="16213A"/>
                </a:solidFill>
                <a:latin typeface="Arial"/>
                <a:ea typeface="Malgun Gothic"/>
                <a:cs typeface="Malgun Gothic"/>
              </a:rPr>
              <a:t>, MIT Improbable AI Lab, </a:t>
            </a:r>
            <a:r>
              <a:rPr sz="1050" b="0" i="0">
                <a:solidFill>
                  <a:srgbClr val="1D4ED8"/>
                </a:solidFill>
                <a:latin typeface="Arial"/>
                <a:ea typeface="Malgun Gothic"/>
                <a:cs typeface="Malgun Gothic"/>
                <a:hlinkClick r:id="rId8"/>
              </a:rPr>
              <a:t>프로젝트</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9"/>
              </a:rPr>
              <a:t>코드</a:t>
            </a:r>
            <a:r>
              <a:rPr sz="1050" b="0" i="0">
                <a:solidFill>
                  <a:srgbClr val="16213A"/>
                </a:solidFill>
                <a:latin typeface="Arial"/>
                <a:ea typeface="Malgun Gothic"/>
                <a:cs typeface="Malgun Gothic"/>
              </a:rPr>
              <a:t> MIT). 넓은 명령 범위(전진 ±4 m/s, 회전 ±5 rad/s)를 처음부터 고르게 뽑으면 학습이 실패한다. 무작위 탐색이 빠른 몸 움직임을 거의 만들지 못해 보상이 거의 들어오지 않기 때문이다. 저자들은 (전진, 회전) 명령 평면을 0.5 단위 격자로 나누고, 두 축의 추종 보상이 모두 문턱을 넘은 칸의 이웃으로 표집 분포를 넓혔다. 두 축을 따로 넓히는 상자형과 달리, 격자형은 빠르게 달리면서 도는 조합의 어려움을 반영한다(아래 그림). 학습 코드는 legged_gym에서 시작했고, 15스텝 이력에서 환경을 추정하는 학생을 교사와 함께 학습했다(RMA와 Lee 2020의 절차, B.14.1). 센서는 관절 엔코더와 IMU뿐이고 평지에서만 학습했다. 실내 모션 캡처에서 세 시드 평균 3.8 m/s, 최고 3.9 m/s를 유지했고, 잔디 10 m는 2.94 s(평균 3.4 m/s)에 달렸다. 6.0 m/s 명령에서 실물은 시뮬레이션보다 1.65 m/s 느렸고(5.46 대 3.81 m/s), 이력 추정을 빼면 그 차이가 2.58 m/s로 커졌다(5.07 대 2.49 m/s). 저자들은 자갈 경사와 걸림 턱에서 같은 로봇의 MPC가 회복하지 못한 장면을 보이면서도, MPC로 그런 강건성을 얻을 수 없다고 주장하는 것은 아니라고 적었다. Walk These Ways(</a:t>
            </a:r>
            <a:r>
              <a:rPr sz="1050" b="0" i="0">
                <a:solidFill>
                  <a:srgbClr val="1D4ED8"/>
                </a:solidFill>
                <a:latin typeface="Arial"/>
                <a:ea typeface="Malgun Gothic"/>
                <a:cs typeface="Malgun Gothic"/>
                <a:hlinkClick r:id="rId10"/>
              </a:rPr>
              <a:t>arXiv:2212.03238</a:t>
            </a:r>
            <a:r>
              <a:rPr sz="1050" b="0" i="0">
                <a:solidFill>
                  <a:srgbClr val="16213A"/>
                </a:solidFill>
                <a:latin typeface="Arial"/>
                <a:ea typeface="Malgun Gothic"/>
                <a:cs typeface="Malgun Gothic"/>
              </a:rPr>
              <a:t>, Margolis·Agrawal, CoRL 2022)는 이 격자 커리큘럼 위에서 걸음새·걸음 주파수·발 높이·몸 높이·자세 같은 행동 파라미터 8개를 사람이 현장에서 고르게 한 Go1 정책이다. 구조와 Go2 이식 코드, MuJoCo sim2sim 실측은 Controller 문서 F.6.1과 E.15(TP-0155)에 있다.</a:t>
            </a:r>
          </a:p>
        </p:txBody>
      </p:sp>
      <p:sp>
        <p:nvSpPr>
          <p:cNvPr id="7" name="TextBox 6"/>
          <p:cNvSpPr txBox="1"/>
          <p:nvPr/>
        </p:nvSpPr>
        <p:spPr>
          <a:xfrm>
            <a:off x="609600" y="4453334"/>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격자 커리큘럼을 travplan 지형 레벨 표집으로 옮기는 방법(칸은 (시나리오, 레벨), 문턱은 도달률)과 MIT 라이선스 코드는 Controller 문서 F.6.1의 '주는 것 4'에 있다. 이 카드가 더하는 것은 원 논문의 근거다. 균등 표집은 학습 자체를 실패시켰고, 격자형은 모든 오차 문턱에서 상자형보다 넓은 명령 넓이를 덮었다. 6.0 m/s 명령의 격차가 이력 추정으로 2.58에서 1.65 m/s로 준 것은, 모델 격차를 예측 쪽(추정기나 rollout)에 넣으면 준다는 TP-0150과 같은 교훈이다.</a:t>
            </a:r>
          </a:p>
        </p:txBody>
      </p:sp>
    </p:spTree>
  </p:cSld>
  <p:clrMapOvr>
    <a:masterClrMapping/>
  </p:clrMapOvr>
</p:sld>
</file>

<file path=ppt/slides/slide40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2/6</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406 / 516</a:t>
            </a:r>
          </a:p>
        </p:txBody>
      </p:sp>
      <p:pic>
        <p:nvPicPr>
          <p:cNvPr id="5" name="Picture 4" descr="image.jpg"/>
          <p:cNvPicPr>
            <a:picLocks noChangeAspect="1"/>
          </p:cNvPicPr>
          <p:nvPr/>
        </p:nvPicPr>
        <p:blipFill>
          <a:blip r:embed="rId3"/>
          <a:stretch>
            <a:fillRect/>
          </a:stretch>
        </p:blipFill>
        <p:spPr>
          <a:xfrm>
            <a:off x="2362200" y="1244600"/>
            <a:ext cx="7467600" cy="4445000"/>
          </a:xfrm>
          <a:prstGeom prst="rect">
            <a:avLst/>
          </a:prstGeom>
        </p:spPr>
      </p:pic>
      <p:sp>
        <p:nvSpPr>
          <p:cNvPr id="6" name="TextBox 5"/>
          <p:cNvSpPr txBox="1"/>
          <p:nvPr/>
        </p:nvSpPr>
        <p:spPr>
          <a:xfrm>
            <a:off x="2362200" y="5727700"/>
            <a:ext cx="7467600" cy="42654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Rapid Locomotion (Fig. 3b): 전진 속도 명령(가로, −6–6 m/s)과 회전 속도 명령(세로, −6–6 rad/s)별 추종 오차로, 위는 전진 축, 아래는 회전 축이고 어두울수록 작다. 커리큘럼이 없으면(왼쪽) 제자리에서 떨기만 해 오차가 명령 크기와 같다. 상자형(가운데)은 명령 공간의 끝을 놓치고, 격자형(오른쪽)은 달리며 도는 조합의 어려움을 반영해 더 넓은 영역을 덮는다. 출처: arXiv:2205.02824</a:t>
            </a:r>
          </a:p>
        </p:txBody>
      </p:sp>
    </p:spTree>
  </p:cSld>
  <p:clrMapOvr>
    <a:masterClrMapping/>
  </p:clrMapOvr>
</p:sld>
</file>

<file path=ppt/slides/slide40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3/6</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407 / 516</a:t>
            </a:r>
          </a:p>
        </p:txBody>
      </p:sp>
      <p:sp>
        <p:nvSpPr>
          <p:cNvPr id="5" name="TextBox 4"/>
          <p:cNvSpPr txBox="1"/>
          <p:nvPr/>
        </p:nvSpPr>
        <p:spPr>
          <a:xfrm>
            <a:off x="609600" y="1244600"/>
            <a:ext cx="10972800" cy="108247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DribbleBot — 어안 카메라로 공을 보며 모래·눈·잔디에서 드리블한다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arXiv:2304.01159</a:t>
            </a:r>
            <a:r>
              <a:rPr sz="1050" b="0" i="0">
                <a:solidFill>
                  <a:srgbClr val="16213A"/>
                </a:solidFill>
                <a:latin typeface="Arial"/>
                <a:ea typeface="Malgun Gothic"/>
                <a:cs typeface="Malgun Gothic"/>
              </a:rPr>
              <a:t>, Ji·Margolis(공동 1저자)·Agrawal, ICRA 2023, MIT Improbable AI Lab, </a:t>
            </a:r>
            <a:r>
              <a:rPr sz="1050" b="0" i="0">
                <a:solidFill>
                  <a:srgbClr val="1D4ED8"/>
                </a:solidFill>
                <a:latin typeface="Arial"/>
                <a:ea typeface="Malgun Gothic"/>
                <a:cs typeface="Malgun Gothic"/>
                <a:hlinkClick r:id="rId4"/>
              </a:rPr>
              <a:t>프로젝트</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5"/>
              </a:rPr>
              <a:t>코드</a:t>
            </a:r>
            <a:r>
              <a:rPr sz="1050" b="0" i="0">
                <a:solidFill>
                  <a:srgbClr val="16213A"/>
                </a:solidFill>
                <a:latin typeface="Arial"/>
                <a:ea typeface="Malgun Gothic"/>
                <a:cs typeface="Malgun Gothic"/>
              </a:rPr>
              <a:t> MIT). Walk These Ways의 걸음 시계와 보상을 이어받아, Go1이 사람이 준 공 속도 명령(세계 좌표)을 따라 드리블한다. 공과 지면의 상호작용은 강체 시뮬레이터가 주지 못해서, 속도 제곱에 비례하는 항력 </a:t>
            </a:r>
            <a:r>
              <a:rPr sz="1050" b="0" i="1">
                <a:solidFill>
                  <a:srgbClr val="16213A"/>
                </a:solidFill>
                <a:latin typeface="Arial"/>
                <a:ea typeface="Malgun Gothic"/>
                <a:cs typeface="Malgun Gothic"/>
              </a:rPr>
              <a:t>F_D = C_D v²</a:t>
            </a:r>
            <a:r>
              <a:rPr sz="1050" b="0" i="0">
                <a:solidFill>
                  <a:srgbClr val="16213A"/>
                </a:solidFill>
                <a:latin typeface="Arial"/>
                <a:ea typeface="Malgun Gothic"/>
                <a:cs typeface="Malgun Gothic"/>
              </a:rPr>
              <a:t>의 계수를 무작위화했다. 공 위치는 시야 210°의 어안 카메라 두 대 영상에서 YOLOv7로 찾는다. 로봇 카메라로 찍어 손으로 라벨한 어안 영상 254장으로 미세 조정했고, 미세 조정을 빼면 시험한 네 지형(타일·잔디·모래·눈)에서 모두 0/4였다. 넘어져 roll이나 pitch가 1.0 rad를 넘으면 회복 정책으로 바꾸고, 0.5 rad 아래로 돌아오면 드리블 정책으로 되돌린다. 실물 시험(정해진 궤적, 지형마다 4회)에서 타일·잔디·모래 4/4, 눈 3/4, 연석 내려서기 2/4, 경사로 0/4였다. 학습에 없던 연석과 경사로가 가장 어려웠다.</a:t>
            </a:r>
          </a:p>
        </p:txBody>
      </p:sp>
      <p:sp>
        <p:nvSpPr>
          <p:cNvPr id="6" name="TextBox 5"/>
          <p:cNvSpPr txBox="1"/>
          <p:nvPr/>
        </p:nvSpPr>
        <p:spPr>
          <a:xfrm>
            <a:off x="609600" y="2415977"/>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직접 쓸 기법은 작고, 관찰 둘이 남는다. 실물 성공을 가른 것은 제어 쪽 장치보다 인식 미세 조정이었다. 아직 시작하지 않은 보행자 검출 PoC(TP-0011, Isaac Sim 카메라 대상)에 옮기면, Controller를 손보기 전에 검출기를 로봇 카메라 시점의 영상으로 미세 조정하는 일이 먼저다. 다른 하나는 두 정책 사이 전환에 히스테리시스(1.0 rad에서 넘기고 0.5 rad에서 되돌림)를 둔 것이다. TP-0078 폴백이 치명 비율 조건의 연속(3번)과 유지(20번)를 둔 것과 같은 목적이다.</a:t>
            </a:r>
          </a:p>
        </p:txBody>
      </p:sp>
    </p:spTree>
  </p:cSld>
  <p:clrMapOvr>
    <a:masterClrMapping/>
  </p:clrMapOvr>
</p:sld>
</file>

<file path=ppt/slides/slide40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4/6</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408 / 516</a:t>
            </a:r>
          </a:p>
        </p:txBody>
      </p:sp>
      <p:pic>
        <p:nvPicPr>
          <p:cNvPr id="5" name="Picture 4" descr="image.jpg"/>
          <p:cNvPicPr>
            <a:picLocks noChangeAspect="1"/>
          </p:cNvPicPr>
          <p:nvPr/>
        </p:nvPicPr>
        <p:blipFill>
          <a:blip r:embed="rId3"/>
          <a:stretch>
            <a:fillRect/>
          </a:stretch>
        </p:blipFill>
        <p:spPr>
          <a:xfrm>
            <a:off x="1155700" y="1244600"/>
            <a:ext cx="9880600" cy="4445000"/>
          </a:xfrm>
          <a:prstGeom prst="rect">
            <a:avLst/>
          </a:prstGeom>
        </p:spPr>
      </p:pic>
      <p:sp>
        <p:nvSpPr>
          <p:cNvPr id="6" name="TextBox 5"/>
          <p:cNvSpPr txBox="1"/>
          <p:nvPr/>
        </p:nvSpPr>
        <p:spPr>
          <a:xfrm>
            <a:off x="1155700" y="5727700"/>
            <a:ext cx="98806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DribbleBot (Fig. 2): sim-to-real 장치 셋. (1) 표준 보정 영상 대신 넓은 어안 영상에서 공을 직접 찾는다. (2) 공 항력 F_d를 무작위화해 시뮬레이션에서 배우고 타일·잔디·모래·눈에 배포한다. (3) 분포 밖에서 넘어지면 회복 정책이 일으키고 드리블로 돌아간다. 출처: arXiv:2304.01159</a:t>
            </a:r>
          </a:p>
        </p:txBody>
      </p:sp>
    </p:spTree>
  </p:cSld>
  <p:clrMapOvr>
    <a:masterClrMapping/>
  </p:clrMapOvr>
</p:sld>
</file>

<file path=ppt/slides/slide40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5/6</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409 / 516</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같은 연구실의 ASMP(Active Sensing Motor Policies, </a:t>
            </a:r>
            <a:r>
              <a:rPr sz="1050" b="0" i="0">
                <a:solidFill>
                  <a:srgbClr val="1D4ED8"/>
                </a:solidFill>
                <a:latin typeface="Arial"/>
                <a:ea typeface="Malgun Gothic"/>
                <a:cs typeface="Malgun Gothic"/>
                <a:hlinkClick r:id="rId3"/>
              </a:rPr>
              <a:t>arXiv:2311.01405</a:t>
            </a:r>
            <a:r>
              <a:rPr sz="1050" b="0" i="0">
                <a:solidFill>
                  <a:srgbClr val="16213A"/>
                </a:solidFill>
                <a:latin typeface="Arial"/>
                <a:ea typeface="Malgun Gothic"/>
                <a:cs typeface="Malgun Gothic"/>
              </a:rPr>
              <a:t>, Margolis·Fu·Ji·Agrawal, CoRL 2023)는 자기지도 노면 물성 추정이다. 시뮬레이션에서 배운 고유감각 마찰 추정기로 실물 주행 영상의 밟은 칸에 라벨을 붙이고, 그 추정이 정확해지도록 발로 땅을 쓸어 보는 걸음을 RL로 배운다. Go1의 15분 주행으로 배운 시각 모듈이 드론 영상에서도 마찰 지도를 냈다. TravNet 자기지도 라벨(TP-0010)과 같은 발상이고, 라벨을 모으는 행동까지 학습한다는 점이 다르다.</a:t>
            </a:r>
          </a:p>
        </p:txBody>
      </p:sp>
      <p:sp>
        <p:nvSpPr>
          <p:cNvPr id="6" name="TextBox 5"/>
          <p:cNvSpPr txBox="1"/>
          <p:nvPr/>
        </p:nvSpPr>
        <p:spPr>
          <a:xfrm>
            <a:off x="609600" y="1982986"/>
            <a:ext cx="10972800" cy="1948458"/>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KAIST RaiLab(Jemin Hwangbo).</a:t>
            </a:r>
            <a:r>
              <a:rPr sz="1050" b="0" i="0">
                <a:solidFill>
                  <a:srgbClr val="16213A"/>
                </a:solidFill>
                <a:latin typeface="Arial"/>
                <a:ea typeface="Malgun Gothic"/>
                <a:cs typeface="Malgun Gothic"/>
              </a:rPr>
              <a:t> 자체 로봇(Raibo, 라이보2)과 자체 시뮬레이터 RaiSim을 함께 만들어, 시뮬레이션에서 배운 정책이 실물에서 버티는 데 필요한 것을 하나씩 채웠다. 상태 추정, 무른 지면의 접촉, 에너지 손실이다. 정책·상태 추정기 동시 학습(</a:t>
            </a:r>
            <a:r>
              <a:rPr sz="1050" b="0" i="0">
                <a:solidFill>
                  <a:srgbClr val="1D4ED8"/>
                </a:solidFill>
                <a:latin typeface="Arial"/>
                <a:ea typeface="Malgun Gothic"/>
                <a:cs typeface="Malgun Gothic"/>
                <a:hlinkClick r:id="rId4"/>
              </a:rPr>
              <a:t>arXiv:2202.05481</a:t>
            </a:r>
            <a:r>
              <a:rPr sz="1050" b="0" i="0">
                <a:solidFill>
                  <a:srgbClr val="16213A"/>
                </a:solidFill>
                <a:latin typeface="Arial"/>
                <a:ea typeface="Malgun Gothic"/>
                <a:cs typeface="Malgun Gothic"/>
              </a:rPr>
              <a:t>, Ji·Mun·Kim·Hwangbo, RA-L 7(2)·ICRA 2022)은 몸통 선속도·발 높이·접촉 확률을 내는 추정망을 정책과 함께 RaiSim에서 학습했다. 그 정책으로 Mini Cheetah가 평지에서 3.75 m/s, 마찰 계수 0.22 판 위에서 3.54 m/s로 달렸다. 이 추정기 방식이 Walk These Ways·DribbleBot·ASMP의 추정기가 됐고, DreamWaQ는 이것을 기준선 EstimatorNet으로 삼았다(Controller 문서 F.6.1). 학습 FDM과 정보 샘플러(</a:t>
            </a:r>
            <a:r>
              <a:rPr sz="1050" b="0" i="0">
                <a:solidFill>
                  <a:srgbClr val="1D4ED8"/>
                </a:solidFill>
                <a:latin typeface="Arial"/>
                <a:ea typeface="Malgun Gothic"/>
                <a:cs typeface="Malgun Gothic"/>
                <a:hlinkClick r:id="rId5"/>
              </a:rPr>
              <a:t>arXiv:2204.08647</a:t>
            </a:r>
            <a:r>
              <a:rPr sz="1050" b="0" i="0">
                <a:solidFill>
                  <a:srgbClr val="16213A"/>
                </a:solidFill>
                <a:latin typeface="Arial"/>
                <a:ea typeface="Malgun Gothic"/>
                <a:cs typeface="Malgun Gothic"/>
              </a:rPr>
              <a:t>, Kim·Kim·Hwangbo, RSS 2022)는 명령열의 미래 위치와 충돌 확률을 예측해 샘플링 MPC에 넣는다. 방법은 MPC 문서 M.1.3에 있고, ETH의 FDM(RSS 2025, B.14.3)이 이것을 앞선 FDM 기준선으로 비교했다. 같은 연구실의 Crop-LSTM(</a:t>
            </a:r>
            <a:r>
              <a:rPr sz="1050" b="0" i="0">
                <a:solidFill>
                  <a:srgbClr val="1D4ED8"/>
                </a:solidFill>
                <a:latin typeface="Arial"/>
                <a:ea typeface="Malgun Gothic"/>
                <a:cs typeface="Malgun Gothic"/>
                <a:hlinkClick r:id="rId6"/>
              </a:rPr>
              <a:t>arXiv:2309.02745</a:t>
            </a:r>
            <a:r>
              <a:rPr sz="1050" b="0" i="0">
                <a:solidFill>
                  <a:srgbClr val="16213A"/>
                </a:solidFill>
                <a:latin typeface="Arial"/>
                <a:ea typeface="Malgun Gothic"/>
                <a:cs typeface="Malgun Gothic"/>
              </a:rPr>
              <a:t>, Lee·Choi·Ryu·Oh·Choi·Hwangbo, </a:t>
            </a:r>
            <a:r>
              <a:rPr sz="1050" b="0" i="0">
                <a:solidFill>
                  <a:srgbClr val="1D4ED8"/>
                </a:solidFill>
                <a:latin typeface="Arial"/>
                <a:ea typeface="Malgun Gothic"/>
                <a:cs typeface="Malgun Gothic"/>
                <a:hlinkClick r:id="rId7"/>
              </a:rPr>
              <a:t>RA-L 9(5) 2024</a:t>
            </a:r>
            <a:r>
              <a:rPr sz="1050" b="0" i="0">
                <a:solidFill>
                  <a:srgbClr val="16213A"/>
                </a:solidFill>
                <a:latin typeface="Arial"/>
                <a:ea typeface="Malgun Gothic"/>
                <a:cs typeface="Malgun Gothic"/>
              </a:rPr>
              <a:t>)은 1/5 크기 오프로드 RC 차체로 만든 바퀴 로봇 Raicart에서 나왔다. 로봇 둘레에서 잘라 낸 RGBD 영상 조각을 예측 궤적을 따라 차례로 읽어 3초 앞까지의 위치·방향·흔들림(bumpiness)을 내고, 비포장 실외의 point-goal 내비에 썼다. 학습 FDM 계획(TP-0126)과 같은 모양을 바퀴 로봇에서 보인 예다. Raibo의 고속 내비(</a:t>
            </a:r>
            <a:r>
              <a:rPr sz="1050" b="0" i="0">
                <a:solidFill>
                  <a:srgbClr val="1D4ED8"/>
                </a:solidFill>
                <a:latin typeface="Arial"/>
                <a:ea typeface="Malgun Gothic"/>
                <a:cs typeface="Malgun Gothic"/>
                <a:hlinkClick r:id="rId8"/>
              </a:rPr>
              <a:t>arXiv:2506.02835</a:t>
            </a:r>
            <a:r>
              <a:rPr sz="1050" b="0" i="0">
                <a:solidFill>
                  <a:srgbClr val="16213A"/>
                </a:solidFill>
                <a:latin typeface="Arial"/>
                <a:ea typeface="Malgun Gothic"/>
                <a:cs typeface="Malgun Gothic"/>
              </a:rPr>
              <a:t>, Kim 외, Science Robotics 10(102) 2025)는 발 디딤 Planner와, 지도 생성기와 경쟁하며 학습한 추종기로 벽·계단·징검돌을 최고 4 m/s로 지났다. 방법은 인식 문서 A.7.1에, 물리 rollout으로 후보를 고르는 구조는 MPC 문서 M.1.3에 있다.</a:t>
            </a:r>
          </a:p>
        </p:txBody>
      </p:sp>
      <p:sp>
        <p:nvSpPr>
          <p:cNvPr id="7" name="TextBox 6"/>
          <p:cNvSpPr txBox="1"/>
          <p:nvPr/>
        </p:nvSpPr>
        <p:spPr>
          <a:xfrm>
            <a:off x="609600" y="4020344"/>
            <a:ext cx="10972800" cy="1298972"/>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변형 지형 보행(Choi 2023) — 모래의 접촉을 RL 시뮬레이터에 넣을 만큼 가볍게 모델링해, Raibo가 발이 묻히는 해변 모래를 3.03 m/s로 달렸다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9"/>
              </a:rPr>
              <a:t>DOI 10.1126/scirobotics.ade2256</a:t>
            </a:r>
            <a:r>
              <a:rPr sz="1050" b="0" i="0">
                <a:solidFill>
                  <a:srgbClr val="16213A"/>
                </a:solidFill>
                <a:latin typeface="Arial"/>
                <a:ea typeface="Malgun Gothic"/>
                <a:cs typeface="Malgun Gothic"/>
              </a:rPr>
              <a:t>, Choi·Ji·Park·Kim·Mun·Lee·Hwangbo, Science Robotics 8(74) 2023, KAIST RaiLab, </a:t>
            </a:r>
            <a:r>
              <a:rPr sz="1050" b="0" i="0">
                <a:solidFill>
                  <a:srgbClr val="1D4ED8"/>
                </a:solidFill>
                <a:latin typeface="Arial"/>
                <a:ea typeface="Malgun Gothic"/>
                <a:cs typeface="Malgun Gothic"/>
                <a:hlinkClick r:id="rId10"/>
              </a:rPr>
              <a:t>KAIST 보도자료</a:t>
            </a:r>
            <a:r>
              <a:rPr sz="1050" b="0" i="0">
                <a:solidFill>
                  <a:srgbClr val="16213A"/>
                </a:solidFill>
                <a:latin typeface="Arial"/>
                <a:ea typeface="Malgun Gothic"/>
                <a:cs typeface="Malgun Gothic"/>
              </a:rPr>
              <a:t>). 시뮬레이션 RL 정책은 겪어 보지 않은 환경에서 잘하지 못한다. 강체 접촉만 아는 시뮬레이터에서 배운 정책에게 발이 묻히는 모래는 분포 밖이다(초록). 저자들은 선행 연구가 정의한, 입자 매체의 부가 질량(added mass) 효과를 고려한 지면 반력 모델을 바탕으로 발의 운동에서 접촉력을 예측하는 접촉 모델을 세웠다. 수직력은 부가 질량 효과를, 수평력은 쿨롱 마찰을 따른다. 접촉은 한 점에서 일어난다고 근사하고, 발 옆면이 받는 지면 저항을 따로 넣었다. 시간 단계마다 접촉 하나 또는 여러 개의 힘만 풀어서 RL 학습에 쓸 만큼 가볍다. 파라미터를 바꾸면 아주 무른 해변 모래부터 단단한 아스팔트까지 나타낸다(초록). 정책은 센서 시계열을 읽는 순환 신경망으로 지면 성질을 암묵적으로 추정하고, 그 추정으로 걸음을 바꾼다.</a:t>
            </a:r>
          </a:p>
        </p:txBody>
      </p:sp>
      <p:sp>
        <p:nvSpPr>
          <p:cNvPr id="8" name="TextBox 7"/>
          <p:cNvSpPr txBox="1"/>
          <p:nvPr/>
        </p:nvSpPr>
        <p:spPr>
          <a:xfrm>
            <a:off x="609600" y="5408216"/>
            <a:ext cx="10972800" cy="649486"/>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Raibo는 연구실이 직접 만든 사족 로봇이다. 학습한 제어기 하나로 해변 모래를 최고 3.03 m/s로 달렸고, 이때 발은 접지 동안 모래에 완전히 묻혔다. 같은 정책이 비닐 타일·육상 트랙·풀밭을 달렸고, 에어 매트리스 위에서 1.54 rad/s(초당 약 90°)로 돌았다. 저자들은 지면을 강체로 가정한 제어기와 비교해, 학습 때 알맞은 접촉 경험을 주는 것이 중요하다는 것을 보였다(보도자료). 본문은 유료이고 arXiv 판과 공개 코드는 없다(2026-10-07 확인). 그래서 이 카드는 초록, 보도자료, 연구실 그림, 같은 제목의 1저자 석사 논문 초록(KAIST, 2022년 8월 학위)에서 확인한 것만 적는다.</a:t>
            </a:r>
          </a:p>
        </p:txBody>
      </p:sp>
    </p:spTree>
  </p:cSld>
  <p:clrMapOvr>
    <a:masterClrMapping/>
  </p:clrMapOvr>
</p:sld>
</file>

<file path=ppt/slides/slide41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6/6</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410 / 516</a:t>
            </a:r>
          </a:p>
        </p:txBody>
      </p:sp>
      <p:sp>
        <p:nvSpPr>
          <p:cNvPr id="5" name="TextBox 4"/>
          <p:cNvSpPr txBox="1"/>
          <p:nvPr/>
        </p:nvSpPr>
        <p:spPr>
          <a:xfrm>
            <a:off x="609600" y="1244600"/>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결론은 배포할 지면의 접촉 경험이 학습 분포에 있어야 한다는 것이다. travplan L0 미끄럼(TP-0033)은 경사와 거칠기에서 미끄럼비를 뽑아 실제 이동을 줄이는 가장 값싼 단계다. 그 위의 단계(준경험 토양 모델, 연속체 입자, 이산 요소법)는 시뮬레이션 문서 S.5.4가 비용 순으로 정리했다. 이 접촉 모델은 그 사이의 실용적인 중간 단계다. 다만 발을 한 점으로 보는 모델이라 구르며 미끄러지는 바퀴에는 그대로 맞지 않는다. 바퀴 로봇이 가져올 것은 구조다. 센서 이력에서 노면 성질을 잠재로 추정해 Controller에 넣는 것이고, RMA 카드의 교훈과 같다. travplan의 운행 영역은 대부분 포장 보도라, 이 계열이 직접 닿는 곳은 잔디 가장자리, 공원 흙길, 눈 덮인 보도다.</a:t>
            </a:r>
          </a:p>
        </p:txBody>
      </p:sp>
      <p:pic>
        <p:nvPicPr>
          <p:cNvPr id="6" name="Picture 5" descr="image.jpg"/>
          <p:cNvPicPr>
            <a:picLocks noChangeAspect="1"/>
          </p:cNvPicPr>
          <p:nvPr/>
        </p:nvPicPr>
        <p:blipFill>
          <a:blip r:embed="rId3"/>
          <a:stretch>
            <a:fillRect/>
          </a:stretch>
        </p:blipFill>
        <p:spPr>
          <a:xfrm>
            <a:off x="609600" y="2199481"/>
            <a:ext cx="3092450" cy="2667000"/>
          </a:xfrm>
          <a:prstGeom prst="rect">
            <a:avLst/>
          </a:prstGeom>
        </p:spPr>
      </p:pic>
      <p:sp>
        <p:nvSpPr>
          <p:cNvPr id="7" name="TextBox 6"/>
          <p:cNvSpPr txBox="1"/>
          <p:nvPr/>
        </p:nvSpPr>
        <p:spPr>
          <a:xfrm>
            <a:off x="609600" y="4904581"/>
            <a:ext cx="5410200" cy="42654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변형 지형 보행 (KAIST 보도자료 그림 1): 무작위화한 입자 지면 시뮬레이션에서 배운 제어기 하나로 Raibo가 여러 지면을 달린다. 위 두 장은 해변 모래에서 모래를 튀기며 달리고 선 모습이다. 나머지는 실내 매트와 바닥, 모래 섞인 풀밭, 마른 잔디와 푸른 잔디, 자전거 보관소 앞 포장면, 보도, 육상 트랙, 실내 모래판이다. 출처: RaiLab 연구 페이지, KAIST 보도자료</a:t>
            </a:r>
          </a:p>
        </p:txBody>
      </p:sp>
      <p:pic>
        <p:nvPicPr>
          <p:cNvPr id="8" name="Picture 7" descr="image.jpg"/>
          <p:cNvPicPr>
            <a:picLocks noChangeAspect="1"/>
          </p:cNvPicPr>
          <p:nvPr/>
        </p:nvPicPr>
        <p:blipFill>
          <a:blip r:embed="rId4"/>
          <a:stretch>
            <a:fillRect/>
          </a:stretch>
        </p:blipFill>
        <p:spPr>
          <a:xfrm>
            <a:off x="6172200" y="2199481"/>
            <a:ext cx="5410200" cy="1873250"/>
          </a:xfrm>
          <a:prstGeom prst="rect">
            <a:avLst/>
          </a:prstGeom>
        </p:spPr>
      </p:pic>
      <p:sp>
        <p:nvSpPr>
          <p:cNvPr id="9" name="TextBox 8"/>
          <p:cNvSpPr txBox="1"/>
          <p:nvPr/>
        </p:nvSpPr>
        <p:spPr>
          <a:xfrm>
            <a:off x="6172200" y="4110831"/>
            <a:ext cx="5410200" cy="568722"/>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변형 지형 보행 (KAIST 보도자료 그림 2): 입자 지면 접촉 모델. (A) 발(intruder)이 박히면 발 밑에 자라는 입자 원뿔이 생기고, 원뿔 바닥에 반력 F_GM이 걸린다. (B) 접촉점의 마찰 원뿔(μF_GM)과 충돌 속도, 접촉 충격량 성분(λ_t, λ_z), 접촉 야코비안과 질량 행렬의 역(J_c, M⁻¹). (C) 발이 박히며 생긴 충돌 구덩이(왼쪽)와, 발이 옆으로 움직여 가장자리를 파고들 때 받는 측면 힘 F_HSR(오른쪽). 출처: RaiLab 연구 페이지, KAIST 보도자료</a:t>
            </a:r>
          </a:p>
        </p:txBody>
      </p:sp>
    </p:spTree>
  </p:cSld>
  <p:clrMapOvr>
    <a:masterClrMapping/>
  </p:clrMapOvr>
</p:sld>
</file>

<file path=ppt/slides/slide41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자세히: 변형 지형 보행의 접촉 모델과 결과, 공개 자료로 확인한 범위</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411 / 516</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자료의 범위.</a:t>
            </a:r>
            <a:r>
              <a:rPr sz="1050" b="0" i="0">
                <a:solidFill>
                  <a:srgbClr val="16213A"/>
                </a:solidFill>
                <a:latin typeface="Arial"/>
                <a:ea typeface="Malgun Gothic"/>
                <a:cs typeface="Malgun Gothic"/>
              </a:rPr>
              <a:t> 본문과 보충 자료는 유료다. 이 토글은 공개된 초록(Science Robotics), KAIST 보도자료(국문·영문, 2023-01-26), RaiLab 연구 페이지의 그림, 같은 제목의 1저자 석사 논문 초록에서 확인한 것만 적는다. 석사 논문은 KAIST 학위 기록으로 2022년 8월이지만, 저장소 기록은 2023-06-22에 공개됐고 원문 파일은 없다. 식과 표, 시도 횟수는 확인하지 못했다.</a:t>
            </a:r>
          </a:p>
        </p:txBody>
      </p:sp>
      <p:sp>
        <p:nvSpPr>
          <p:cNvPr id="6" name="TextBox 5"/>
          <p:cNvSpPr txBox="1"/>
          <p:nvPr/>
        </p:nvSpPr>
        <p:spPr>
          <a:xfrm>
            <a:off x="609600" y="176649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풀려는 문제.</a:t>
            </a:r>
            <a:r>
              <a:rPr sz="1050" b="0" i="0">
                <a:solidFill>
                  <a:srgbClr val="16213A"/>
                </a:solidFill>
                <a:latin typeface="Arial"/>
                <a:ea typeface="Malgun Gothic"/>
                <a:cs typeface="Malgun Gothic"/>
              </a:rPr>
              <a:t> 시뮬레이션 RL은 다리 로봇 제어를 크게 바꿨지만, 무르고 변형되는 지면에서 빠르게 걷는 정책은 없었다. 저자들은 원인을 자료 분포로 본다. 정책은 겪어 보지 않은 환경에서 잘하지 못하는데, 강체 접촉 시뮬레이터는 모래의 접촉을 주지 못한다.</a:t>
            </a:r>
          </a:p>
        </p:txBody>
      </p:sp>
      <p:sp>
        <p:nvSpPr>
          <p:cNvPr id="7" name="TextBox 6"/>
          <p:cNvSpPr txBox="1"/>
          <p:nvPr/>
        </p:nvSpPr>
        <p:spPr>
          <a:xfrm>
            <a:off x="609600" y="228838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접촉 모델(위 그림 2).</a:t>
            </a:r>
            <a:r>
              <a:rPr sz="1050" b="0" i="0">
                <a:solidFill>
                  <a:srgbClr val="16213A"/>
                </a:solidFill>
                <a:latin typeface="Arial"/>
                <a:ea typeface="Malgun Gothic"/>
                <a:cs typeface="Malgun Gothic"/>
              </a:rPr>
              <a:t> 보도자료가 적은 구성은 넷이다.</a:t>
            </a:r>
          </a:p>
        </p:txBody>
      </p:sp>
      <p:sp>
        <p:nvSpPr>
          <p:cNvPr id="8" name="TextBox 7"/>
          <p:cNvSpPr txBox="1"/>
          <p:nvPr/>
        </p:nvSpPr>
        <p:spPr>
          <a:xfrm>
            <a:off x="609600" y="2593777"/>
            <a:ext cx="10972800" cy="1158677"/>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수직력은 선행 연구가 정의한, 입자 매체의 부가 질량 효과를 고려한 지면 반력 모델을 따른다. 그림 A의 '자라는 입자 원뿔'은 빠르게 박히는 발 밑에 눌려 쌓이는 알갱이이고, 원뿔 바닥(A_flat)에 반력 F_GM이 걸린다.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수평력은 쿨롱 마찰이다. 그림 B는 접촉점의 마찰 원뿔, 충돌 속도, 접촉 충격량 성분, 접촉 야코비안과 질량 행렬의 역을 표시한다.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접촉은 한 점에서 일어난다고 근사하고, 시간 단계마다 접촉 하나 또는 여러 개의 힘을 푼다. 저자들은 이것을 계산 효율의 근거로 든다.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발 옆면의 지면 저항을 따로 둔다. 그림 C는 구덩이의 기하(r_c, γ_c, z_max)와 측면 힘 F_HSR, 그 작용 거리 d_HSR를 표시한다. 기호의 정의는 본문에 있다.</a:t>
            </a:r>
          </a:p>
        </p:txBody>
      </p:sp>
      <p:sp>
        <p:nvSpPr>
          <p:cNvPr id="9" name="TextBox 8"/>
          <p:cNvSpPr txBox="1"/>
          <p:nvPr/>
        </p:nvSpPr>
        <p:spPr>
          <a:xfrm>
            <a:off x="609600" y="3841353"/>
            <a:ext cx="10972800" cy="649486"/>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부가 질량 효과의 뜻은 후속 연구가 풀어 적었다. MILD(</a:t>
            </a:r>
            <a:r>
              <a:rPr sz="1050" b="0" i="0">
                <a:solidFill>
                  <a:srgbClr val="1D4ED8"/>
                </a:solidFill>
                <a:latin typeface="Arial"/>
                <a:ea typeface="Malgun Gothic"/>
                <a:cs typeface="Malgun Gothic"/>
                <a:hlinkClick r:id="rId3"/>
              </a:rPr>
              <a:t>arXiv:2608.19955</a:t>
            </a:r>
            <a:r>
              <a:rPr sz="1050" b="0" i="0">
                <a:solidFill>
                  <a:srgbClr val="16213A"/>
                </a:solidFill>
                <a:latin typeface="Arial"/>
                <a:ea typeface="Malgun Gothic"/>
                <a:cs typeface="Malgun Gothic"/>
              </a:rPr>
              <a:t>, RA-L 11(2) 2026, 이족 보행)는 빠르게 박히는 물체 밑에 알갱이가 눌려 쌓이고, 그 알갱이가 함께 움직이는 질량처럼 반력을 더한다고 설명한다. 같은 논문은 이런 원뿔 모델의 수직 반력을, 깊이에 따른 준정적 관입 저항과 부가 질량의 운동량 변화 항의 합으로 정리한다. 그리고 이 논문의 모델을 발 중심 한 점의 원뿔 모델('Con-Cone')로 부르며 기준선으로 비교했다. 부가 질량 효과의 출처로는 Aguilar·Goldman(Nature Physics 2016)을 든다. 이 논문의 정확한 식과 파라미터는 본문이 유료라 확인하지 못했다.</a:t>
            </a:r>
          </a:p>
        </p:txBody>
      </p:sp>
      <p:sp>
        <p:nvSpPr>
          <p:cNvPr id="10" name="TextBox 9"/>
          <p:cNvSpPr txBox="1"/>
          <p:nvPr/>
        </p:nvSpPr>
        <p:spPr>
          <a:xfrm>
            <a:off x="609600" y="4579739"/>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적응 구조.</a:t>
            </a:r>
            <a:r>
              <a:rPr sz="1050" b="0" i="0">
                <a:solidFill>
                  <a:srgbClr val="16213A"/>
                </a:solidFill>
                <a:latin typeface="Arial"/>
                <a:ea typeface="Malgun Gothic"/>
                <a:cs typeface="Malgun Gothic"/>
              </a:rPr>
              <a:t> 순환 신경망이 로봇 센서의 시계열을 읽어 지면 특성을 암묵적으로 예측하고, 그 예측이 정책의 걸음을 바꾼다(보도자료). 초록은 이를 로봇이 지면을 느끼면서 지형 성질을 암묵적으로 식별하는 적응 제어 구조라고 부른다. 저자들은 제안한 순환망이 지반 성질에 따라 보행 방식을 바꾼다는 것을 보였다고 적는다.</a:t>
            </a:r>
          </a:p>
        </p:txBody>
      </p:sp>
      <p:sp>
        <p:nvSpPr>
          <p:cNvPr id="11" name="TextBox 10"/>
          <p:cNvSpPr txBox="1"/>
          <p:nvPr/>
        </p:nvSpPr>
        <p:spPr>
          <a:xfrm>
            <a:off x="609600" y="510163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결과(공개 자료의 수치).</a:t>
            </a:r>
          </a:p>
        </p:txBody>
      </p:sp>
      <p:sp>
        <p:nvSpPr>
          <p:cNvPr id="12" name="TextBox 11"/>
          <p:cNvSpPr txBox="1"/>
          <p:nvPr/>
        </p:nvSpPr>
        <p:spPr>
          <a:xfrm>
            <a:off x="609600" y="5407025"/>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7개(문단·식·그림)는 대시보드 리서치 탭의 "자세히: 변형 지형 보행의 접촉 모델과 결과, 공개 자료로 확인한 범위" 토글에 있다.</a:t>
            </a:r>
          </a:p>
        </p:txBody>
      </p:sp>
    </p:spTree>
  </p:cSld>
  <p:clrMapOvr>
    <a:masterClrMapping/>
  </p:clrMapOvr>
</p:sld>
</file>

<file path=ppt/slides/slide41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1/4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412 / 516</a:t>
            </a:r>
          </a:p>
        </p:txBody>
      </p:sp>
      <p:sp>
        <p:nvSpPr>
          <p:cNvPr id="5" name="TextBox 4"/>
          <p:cNvSpPr txBox="1"/>
          <p:nvPr/>
        </p:nvSpPr>
        <p:spPr>
          <a:xfrm>
            <a:off x="609600" y="1244600"/>
            <a:ext cx="10972800" cy="1731962"/>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라이보2(Lee 2026) — 기구·전장·보행 정책을 한 에너지 손실 모델로 설계해, 한 번 충전으로 마라톤 풀코스를 완주했다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DOI 10.1038/s41586-026-11102-5</a:t>
            </a:r>
            <a:r>
              <a:rPr sz="1050" b="0" i="0">
                <a:solidFill>
                  <a:srgbClr val="16213A"/>
                </a:solidFill>
                <a:latin typeface="Arial"/>
                <a:ea typeface="Malgun Gothic"/>
                <a:cs typeface="Malgun Gothic"/>
              </a:rPr>
              <a:t>, Lee·Youm·Park(공동 1저자) 등 18명, Nature 2026-09-23, 프리프린트 </a:t>
            </a:r>
            <a:r>
              <a:rPr sz="1050" b="0" i="0">
                <a:solidFill>
                  <a:srgbClr val="1D4ED8"/>
                </a:solidFill>
                <a:latin typeface="Arial"/>
                <a:ea typeface="Malgun Gothic"/>
                <a:cs typeface="Malgun Gothic"/>
                <a:hlinkClick r:id="rId4"/>
              </a:rPr>
              <a:t>Research Square 2025-03-26</a:t>
            </a:r>
            <a:r>
              <a:rPr sz="1050" b="0" i="0">
                <a:solidFill>
                  <a:srgbClr val="16213A"/>
                </a:solidFill>
                <a:latin typeface="Arial"/>
                <a:ea typeface="Malgun Gothic"/>
                <a:cs typeface="Malgun Gothic"/>
              </a:rPr>
              <a:t>, KAIST RaiLab, </a:t>
            </a:r>
            <a:r>
              <a:rPr sz="1050" b="0" i="0">
                <a:solidFill>
                  <a:srgbClr val="1D4ED8"/>
                </a:solidFill>
                <a:latin typeface="Arial"/>
                <a:ea typeface="Malgun Gothic"/>
                <a:cs typeface="Malgun Gothic"/>
                <a:hlinkClick r:id="rId5"/>
              </a:rPr>
              <a:t>KAIST 보도자료</a:t>
            </a:r>
            <a:r>
              <a:rPr sz="1050" b="0" i="0">
                <a:solidFill>
                  <a:srgbClr val="16213A"/>
                </a:solidFill>
                <a:latin typeface="Arial"/>
                <a:ea typeface="Malgun Gothic"/>
                <a:cs typeface="Malgun Gothic"/>
              </a:rPr>
              <a:t>). 사족 로봇은 몸무게를 받치느라 관절에서 계속 에너지를 쓰고, 발이 땅에 닿을 때마다 운동 에너지를 잃는다(초록). 저자들은 로봇 전체의 에너지 손실 모델을 세우고, 힘이 잘 전달되는(force-transparent) 가벼운 기구, 저항이 낮은 모터 구동 회로, 에너지를 덜 흩뜨리는 보행 정책을 함께 설계했다. 보행 정책은 RaiSim에 경사·계단·빙판길을 만들어 RL로 학습했다(KAIST 보도자료 2024-11-17). 라이보2는 2024-11-17 상주 곶감 마라톤에서 배터리를 바꾸지 않고 42.195 km를 4시간 19분 52초에 완주했다. 전체 수송 비용(TCOT, total cost of transport)은 0.25로 사람 기준 0.37보다 낮고, 충전당 주행 거리는 기존 사족 로봇의 세 배가 넘는다. 2024-09의 첫 도전에서는 다른 주자들에 맞춰 속도를 자주 바꾸느라 배터리가 예상보다 10 km 일찍, 37 km 지점에서 바닥났다(KAIST 보도자료 2024-11-15). 보행 정책의 학습 코드와 보상 항 제거 시험 코드는 </a:t>
            </a:r>
            <a:r>
              <a:rPr sz="1050" b="0" i="0">
                <a:solidFill>
                  <a:srgbClr val="1D4ED8"/>
                </a:solidFill>
                <a:latin typeface="Arial"/>
                <a:ea typeface="Malgun Gothic"/>
                <a:cs typeface="Malgun Gothic"/>
                <a:hlinkClick r:id="rId6"/>
              </a:rPr>
              <a:t>raisimGym_nature</a:t>
            </a:r>
            <a:r>
              <a:rPr sz="1050" b="0" i="0">
                <a:solidFill>
                  <a:srgbClr val="16213A"/>
                </a:solidFill>
                <a:latin typeface="Arial"/>
                <a:ea typeface="Malgun Gothic"/>
                <a:cs typeface="Malgun Gothic"/>
              </a:rPr>
              <a:t>(MIT, RaiSim 필요)로 공개됐다(논문의 코드 공개 절). 시험 스크립트는 구동기 줄열 손실, 발 충돌 손실, 지면 반력 평활 항을 하나씩 뺀 정책을 함께 싣는다. 제품화는 연구실에서 출발한 교원창업기업 라이온로보틱스가 맡는다.</a:t>
            </a:r>
          </a:p>
        </p:txBody>
      </p:sp>
      <p:sp>
        <p:nvSpPr>
          <p:cNvPr id="6" name="TextBox 5"/>
          <p:cNvSpPr txBox="1"/>
          <p:nvPr/>
        </p:nvSpPr>
        <p:spPr>
          <a:xfrm>
            <a:off x="609600" y="3065462"/>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배달로봇의 운용도 충전당 거리로 정해진다. travplan MPPI 비용(</a:t>
            </a:r>
            <a:r>
              <a:rPr sz="1050" b="0" i="0">
                <a:solidFill>
                  <a:srgbClr val="16213A"/>
                </a:solidFill>
                <a:latin typeface="Consolas"/>
                <a:ea typeface="Malgun Gothic"/>
                <a:cs typeface="Malgun Gothic"/>
              </a:rPr>
              <a:t>control/mppi/costs.py</a:t>
            </a:r>
            <a:r>
              <a:rPr sz="1050" b="0" i="0">
                <a:solidFill>
                  <a:srgbClr val="16213A"/>
                </a:solidFill>
                <a:latin typeface="Arial"/>
                <a:ea typeface="Malgun Gothic"/>
                <a:cs typeface="Malgun Gothic"/>
              </a:rPr>
              <a:t>)에는 부드러움(명령 변화율)·옆 이동·후진 벌점은 있지만 에너지 항은 없다. KAIST는 첫 도전에서 배터리가 예상보다 10 km 일찍 바닥난 원인으로 잦은 속도 변화를 들었다. 그래서 아직 열려 있는 실물 주행 프로토콜(TP-0043)의 첫 주행 기록 항목에, 마라톤 때처럼 전압·전류·온도·배터리 상태를 GPS의 위치·속도·고도와 동기화해 남기는 일을 넣는다. 그 기록으로 부드러움 항이 에너지를 얼마나 대신하는지부터 잰다. 공개 코드의 보상 항 제거 시험(구동기 줄열 손실, 지면 반력 평활)은 에너지 항 후보를 고를 때 참고가 된다.</a:t>
            </a:r>
          </a:p>
        </p:txBody>
      </p:sp>
    </p:spTree>
  </p:cSld>
  <p:clrMapOvr>
    <a:masterClrMapping/>
  </p:clrMapOvr>
</p:sld>
</file>

<file path=ppt/slides/slide41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2/4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413 / 516</a:t>
            </a:r>
          </a:p>
        </p:txBody>
      </p:sp>
      <p:pic>
        <p:nvPicPr>
          <p:cNvPr id="5" name="Picture 4" descr="image.jpg"/>
          <p:cNvPicPr>
            <a:picLocks noChangeAspect="1"/>
          </p:cNvPicPr>
          <p:nvPr/>
        </p:nvPicPr>
        <p:blipFill>
          <a:blip r:embed="rId3"/>
          <a:stretch>
            <a:fillRect/>
          </a:stretch>
        </p:blipFill>
        <p:spPr>
          <a:xfrm>
            <a:off x="3714750" y="1244600"/>
            <a:ext cx="4762500" cy="4445000"/>
          </a:xfrm>
          <a:prstGeom prst="rect">
            <a:avLst/>
          </a:prstGeom>
        </p:spPr>
      </p:pic>
      <p:sp>
        <p:nvSpPr>
          <p:cNvPr id="6" name="TextBox 5"/>
          <p:cNvSpPr txBox="1"/>
          <p:nvPr/>
        </p:nvSpPr>
        <p:spPr>
          <a:xfrm>
            <a:off x="3714750" y="5727700"/>
            <a:ext cx="4762500" cy="710902"/>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라이보2 (Fig. 1): (a) 마라톤 참가자들 사이를 달리는 라이보2. (b) 전체 손실 분석에서 기구·전기 회로·보행 정책의 손실 감축으로 이어지는 설계 흐름과 트랙 실측(TCOT 0.25, 주행 거리 65 km). (c) 상주 코스(42.195 km, 그림 표기 'Total elevation' 286 m, 최대 경사 18.4°, 기록 4시간 19분 52초). (d) 질량 대 수송 비용으로, 연료차·전기차·동물·보행 로봇 사이에 라이보2가 있다. (e) 배터리 용량 대 주행 거리로, 라이보2(1,447 Wh와 1,930 Wh)가 Spot·ANYmal·B2 같은 다른 사족 로봇의 추세에서 크게 벗어나 있다. 출처: Nature</a:t>
            </a:r>
          </a:p>
        </p:txBody>
      </p:sp>
    </p:spTree>
  </p:cSld>
  <p:clrMapOvr>
    <a:masterClrMapping/>
  </p:clrMapOvr>
</p:sld>
</file>

<file path=ppt/slides/slide41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3/4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414 / 516</a:t>
            </a:r>
          </a:p>
        </p:txBody>
      </p:sp>
      <p:sp>
        <p:nvSpPr>
          <p:cNvPr id="5" name="TextBox 4"/>
          <p:cNvSpPr txBox="1"/>
          <p:nvPr/>
        </p:nvSpPr>
        <p:spPr>
          <a:xfrm>
            <a:off x="609600" y="1244600"/>
            <a:ext cx="10972800" cy="151546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ABS(Agile But Safe) — 학습한 도달-회피 가치가 빠른 정책을 감시하고, 그 가치를 제약으로 둔 작은 최적화로 회복 명령을 고른다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arXiv:2401.17583</a:t>
            </a:r>
            <a:r>
              <a:rPr sz="1050" b="0" i="0">
                <a:solidFill>
                  <a:srgbClr val="16213A"/>
                </a:solidFill>
                <a:latin typeface="Arial"/>
                <a:ea typeface="Malgun Gothic"/>
                <a:cs typeface="Malgun Gothic"/>
              </a:rPr>
              <a:t>, He·Zhang(공동 1저자)·Xiao·He·Liu·Shi, RSS 2024 Outstanding Student Paper Award 최종 후보, CMU LeCAR Lab·ETH Zürich, </a:t>
            </a:r>
            <a:r>
              <a:rPr sz="1050" b="0" i="0">
                <a:solidFill>
                  <a:srgbClr val="1D4ED8"/>
                </a:solidFill>
                <a:latin typeface="Arial"/>
                <a:ea typeface="Malgun Gothic"/>
                <a:cs typeface="Malgun Gothic"/>
                <a:hlinkClick r:id="rId4"/>
              </a:rPr>
              <a:t>프로젝트</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5"/>
              </a:rPr>
              <a:t>코드</a:t>
            </a:r>
            <a:r>
              <a:rPr sz="1050" b="0" i="0">
                <a:solidFill>
                  <a:srgbClr val="16213A"/>
                </a:solidFill>
                <a:latin typeface="Arial"/>
                <a:ea typeface="Malgun Gothic"/>
                <a:cs typeface="Malgun Gothic"/>
              </a:rPr>
              <a:t> CC BY-NC 4.0). B.9가 이 연구를 위험 인지 로컬 내비의 한 구조로 소개했다(시뮬레이션 성공 79.1%, 충돌 5.7%). 이 카드는 감시와 회복이 어떻게 학습되는지와 그 대가를 본다. 네 모듈을 모두 시뮬레이션에서 학습한다. 빠른 정책은 목표 위치와 방향을 받아 장애물을 피하며 관절 목표를 낸다. 속도 명령을 따르는 대신, 에피소드 마지막 몇 초 동안 목표에 가까이 있으면 보상을 받는다. 도달-회피(RA, reach-avoid) 가치망은 빠른 정책을 굴린 20만 에피소드에서, 지금 상태에서 이 정책으로 가면 부딪히지 않고 목표에 닿는지를 배운다. 가치가 문턱(−0.05) 이상이면 회복 정책이 넘겨받고, 가치를 문턱 아래로 두면서 목표에 가장 다가가는 twist를 따라간다. 외부 인식은 깊이 영상에서 예측한 광선 거리 11개뿐이다. Unitree Go1이 실물에서 최고 3.1 m/s로 달렸다. 세 시험장(어두운 좁은 복도, 가구가 있는 홀, 야외)에서 각 10회씩 돌린 비교에서 충돌 합은 ABS 1회, 빠른 정책만 7회, 제약 RL(PPO-Lagrangian) 4회였다.</a:t>
            </a:r>
          </a:p>
        </p:txBody>
      </p:sp>
      <p:sp>
        <p:nvSpPr>
          <p:cNvPr id="6" name="TextBox 5"/>
          <p:cNvSpPr txBox="1"/>
          <p:nvPr/>
        </p:nvSpPr>
        <p:spPr>
          <a:xfrm>
            <a:off x="609600" y="2848967"/>
            <a:ext cx="10972800" cy="108247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폴백 규칙을 학습된 기준으로 세운다는 제안은 B.9의 ABS 소개에 있다. 지금의 손으로 짠 규칙(TP-0078)은 새 표본 16개 가운데 치명 비율 0.9 이상인 계획이 3번 이어지면 Guidance 경로를 후보로 넣고(20번 유지), 같은 선택기 점수에서 이기면 그 경로를 넘긴다(B.15.2). 이 카드가 더하는 것은 셋이다. 첫째, 라벨 정의는 벤치마크 판정(치명 셀 진입, 보행자 충돌, 목표 거리)을 그대로 쓰되 충돌 직전 몇 스텝을 부드럽게 다시 매긴다. ABS에서 이것을 빼면 시뮬레이션 충돌이 5.7%에서 14.7%로 늘었다. 둘째, 학습 자료는 새로 모아야 한다. 벤치마크는 에피소드마다 지표 한 줄과 xy 궤적만 남기는데(</a:t>
            </a:r>
            <a:r>
              <a:rPr sz="1050" b="0" i="0">
                <a:solidFill>
                  <a:srgbClr val="16213A"/>
                </a:solidFill>
                <a:latin typeface="Consolas"/>
                <a:ea typeface="Malgun Gothic"/>
                <a:cs typeface="Malgun Gothic"/>
              </a:rPr>
              <a:t>run_benchmark.py</a:t>
            </a:r>
            <a:r>
              <a:rPr sz="1050" b="0" i="0">
                <a:solidFill>
                  <a:srgbClr val="16213A"/>
                </a:solidFill>
                <a:latin typeface="Arial"/>
                <a:ea typeface="Malgun Gothic"/>
                <a:cs typeface="Malgun Gothic"/>
              </a:rPr>
              <a:t>), 가치망은 스텝마다 몸통 twist·목표 상대 위치·외부 인식을 본다. 셋째, 가치는 정책에 조건이 걸려 있어서 Planner D를 다시 후학습할 때마다(TP-0066, TP-0138) 새로 배워야 한다.</a:t>
            </a:r>
          </a:p>
        </p:txBody>
      </p:sp>
    </p:spTree>
  </p:cSld>
  <p:clrMapOvr>
    <a:masterClrMapping/>
  </p:clrMapOvr>
</p:sld>
</file>

<file path=ppt/slides/slide41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4/4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415 / 516</a:t>
            </a:r>
          </a:p>
        </p:txBody>
      </p:sp>
      <p:pic>
        <p:nvPicPr>
          <p:cNvPr id="5" name="Picture 4" descr="image.jpg"/>
          <p:cNvPicPr>
            <a:picLocks noChangeAspect="1"/>
          </p:cNvPicPr>
          <p:nvPr/>
        </p:nvPicPr>
        <p:blipFill>
          <a:blip r:embed="rId3"/>
          <a:stretch>
            <a:fillRect/>
          </a:stretch>
        </p:blipFill>
        <p:spPr>
          <a:xfrm>
            <a:off x="609600" y="1244600"/>
            <a:ext cx="5410200" cy="2133600"/>
          </a:xfrm>
          <a:prstGeom prst="rect">
            <a:avLst/>
          </a:prstGeom>
        </p:spPr>
      </p:pic>
      <p:sp>
        <p:nvSpPr>
          <p:cNvPr id="6" name="TextBox 5"/>
          <p:cNvSpPr txBox="1"/>
          <p:nvPr/>
        </p:nvSpPr>
        <p:spPr>
          <a:xfrm>
            <a:off x="609600" y="3416300"/>
            <a:ext cx="5410200" cy="42654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ABS (Fig. 1): Go1이 휘두르는 다리(a), 움직이는 유모차(c), 눈밭의 사람(d)을 피한다. 가구가 있는 홀(e, 평균 2.1 m/s, 최고 2.9 m/s), 어두운 복도(f, 1.5 m/s, 2.5 m/s), 야외(g, 2.3 m/s, 3.0 m/s)를 지나고, (b)는 최고 3.1 m/s 질주다. 아래 띠의 초록은 빠른 정책이, 빨강은 회복 정책이 몬 구간이다. 출처: arXiv:2401.17583</a:t>
            </a:r>
          </a:p>
        </p:txBody>
      </p:sp>
      <p:pic>
        <p:nvPicPr>
          <p:cNvPr id="7" name="Picture 6" descr="image.jpg"/>
          <p:cNvPicPr>
            <a:picLocks noChangeAspect="1"/>
          </p:cNvPicPr>
          <p:nvPr/>
        </p:nvPicPr>
        <p:blipFill>
          <a:blip r:embed="rId4"/>
          <a:stretch>
            <a:fillRect/>
          </a:stretch>
        </p:blipFill>
        <p:spPr>
          <a:xfrm>
            <a:off x="6172200" y="1244600"/>
            <a:ext cx="4864100" cy="2667000"/>
          </a:xfrm>
          <a:prstGeom prst="rect">
            <a:avLst/>
          </a:prstGeom>
        </p:spPr>
      </p:pic>
      <p:sp>
        <p:nvSpPr>
          <p:cNvPr id="8" name="TextBox 7"/>
          <p:cNvSpPr txBox="1"/>
          <p:nvPr/>
        </p:nvSpPr>
        <p:spPr>
          <a:xfrm>
            <a:off x="6172200" y="3949700"/>
            <a:ext cx="5410200" cy="42654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ABS (Fig. 2): (a) 학습. 1단계에서 빠른 정책과 회복 정책을 RL로 배우고, 2단계에서 빠른 정책의 rollout으로 RA 가치망과 광선 예측망을 지도 학습한다. (b) 배포. 가치가 문턱보다 낮으면 빠른 정책이, 문턱 이상이면 회복 정책이 50 Hz로 관절 목표를 내고, PD 제어기가 200 Hz로 따른다. 광선 예측은 40 Hz다. 출처: arXiv:2401.17583</a:t>
            </a:r>
          </a:p>
        </p:txBody>
      </p:sp>
    </p:spTree>
  </p:cSld>
  <p:clrMapOvr>
    <a:masterClrMapping/>
  </p:clrMapOvr>
</p:sld>
</file>

<file path=ppt/slides/slide41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자세히: ABS의 도달-회피 가치, 회복 탐색, 학습과 결과</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416 / 516</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풀려는 문제.</a:t>
            </a:r>
            <a:r>
              <a:rPr sz="1050" b="0" i="0">
                <a:solidFill>
                  <a:srgbClr val="16213A"/>
                </a:solidFill>
                <a:latin typeface="Arial"/>
                <a:ea typeface="Malgun Gothic"/>
                <a:cs typeface="Malgun Gothic"/>
              </a:rPr>
              <a:t> 다리 로봇의 충돌 회피는 대부분 1 m/s 아래에서만 보였다. 경로 계획과 보행 제어를 나누면 위 층은 아래 층의 추종 오차를 모르므로 보수적으로 명령해야 한다. 반대로 RL 정책 하나에 회피까지 맡기면 빠르지만 안전을 보장하지 못한다. ABS는 빠른 정책을 그대로 두고, 그 정책이 실패할지 예측하는 감시기와 실패 직전에 넘겨받는 회복 정책을 더한다. Controller 문서 C.4가 말하는 감시와 개입의 구조를 모두 학습으로 만든 것이다.</a:t>
            </a:r>
          </a:p>
        </p:txBody>
      </p:sp>
      <p:sp>
        <p:nvSpPr>
          <p:cNvPr id="6" name="TextBox 5"/>
          <p:cNvSpPr txBox="1"/>
          <p:nvPr/>
        </p:nvSpPr>
        <p:spPr>
          <a:xfrm>
            <a:off x="609600" y="1982986"/>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도달-회피 가치.</a:t>
            </a:r>
            <a:r>
              <a:rPr sz="1050" b="0" i="0">
                <a:solidFill>
                  <a:srgbClr val="16213A"/>
                </a:solidFill>
                <a:latin typeface="Arial"/>
                <a:ea typeface="Malgun Gothic"/>
                <a:cs typeface="Malgun Gothic"/>
              </a:rPr>
              <a:t> 실패 집합은 </a:t>
            </a:r>
            <a:r>
              <a:rPr sz="1050" b="0" i="1">
                <a:solidFill>
                  <a:srgbClr val="16213A"/>
                </a:solidFill>
                <a:latin typeface="Arial"/>
                <a:ea typeface="Malgun Gothic"/>
                <a:cs typeface="Malgun Gothic"/>
              </a:rPr>
              <a:t>ζ(s) &gt; 0</a:t>
            </a:r>
            <a:r>
              <a:rPr sz="1050" b="0" i="0">
                <a:solidFill>
                  <a:srgbClr val="16213A"/>
                </a:solidFill>
                <a:latin typeface="Arial"/>
                <a:ea typeface="Malgun Gothic"/>
                <a:cs typeface="Malgun Gothic"/>
              </a:rPr>
              <a:t>인 상태(원하지 않는 충돌)이고, 목표 집합은 </a:t>
            </a:r>
            <a:r>
              <a:rPr sz="1050" b="0" i="1">
                <a:solidFill>
                  <a:srgbClr val="16213A"/>
                </a:solidFill>
                <a:latin typeface="Arial"/>
                <a:ea typeface="Malgun Gothic"/>
                <a:cs typeface="Malgun Gothic"/>
              </a:rPr>
              <a:t>l(s) ≤ 0</a:t>
            </a:r>
            <a:r>
              <a:rPr sz="1050" b="0" i="0">
                <a:solidFill>
                  <a:srgbClr val="16213A"/>
                </a:solidFill>
                <a:latin typeface="Arial"/>
                <a:ea typeface="Malgun Gothic"/>
                <a:cs typeface="Malgun Gothic"/>
              </a:rPr>
              <a:t>인 상태다. 정책 </a:t>
            </a:r>
            <a:r>
              <a:rPr sz="1050" b="0" i="1">
                <a:solidFill>
                  <a:srgbClr val="16213A"/>
                </a:solidFill>
                <a:latin typeface="Arial"/>
                <a:ea typeface="Malgun Gothic"/>
                <a:cs typeface="Malgun Gothic"/>
              </a:rPr>
              <a:t>π</a:t>
            </a:r>
            <a:r>
              <a:rPr sz="1050" b="0" i="0">
                <a:solidFill>
                  <a:srgbClr val="16213A"/>
                </a:solidFill>
                <a:latin typeface="Arial"/>
                <a:ea typeface="Malgun Gothic"/>
                <a:cs typeface="Malgun Gothic"/>
              </a:rPr>
              <a:t>로 굴려 실패 없이 목표에 닿는 상태의 가치는 0 이하다. 수축이 보장되도록 할인한 RA 벨만 식을 쓴다(Hsu 외, RSS 2021).</a:t>
            </a:r>
          </a:p>
        </p:txBody>
      </p:sp>
      <p:pic>
        <p:nvPicPr>
          <p:cNvPr id="7" name="Picture 6" descr="image.png"/>
          <p:cNvPicPr>
            <a:picLocks noChangeAspect="1"/>
          </p:cNvPicPr>
          <p:nvPr/>
        </p:nvPicPr>
        <p:blipFill>
          <a:blip r:embed="rId3"/>
          <a:stretch>
            <a:fillRect/>
          </a:stretch>
        </p:blipFill>
        <p:spPr>
          <a:xfrm>
            <a:off x="609600" y="2504877"/>
            <a:ext cx="5854700" cy="241300"/>
          </a:xfrm>
          <a:prstGeom prst="rect">
            <a:avLst/>
          </a:prstGeom>
        </p:spPr>
      </p:pic>
      <p:sp>
        <p:nvSpPr>
          <p:cNvPr id="8" name="TextBox 7"/>
          <p:cNvSpPr txBox="1"/>
          <p:nvPr/>
        </p:nvSpPr>
        <p:spPr>
          <a:xfrm>
            <a:off x="609600" y="2782391"/>
            <a:ext cx="10972800" cy="432991"/>
          </a:xfrm>
          <a:prstGeom prst="rect">
            <a:avLst/>
          </a:prstGeom>
          <a:noFill/>
        </p:spPr>
        <p:txBody>
          <a:bodyPr wrap="square" lIns="0" rIns="0" tIns="0" bIns="0" anchor="t">
            <a:spAutoFit/>
            <a:normAutofit/>
          </a:bodyPr>
          <a:lstStyle/>
          <a:p>
            <a:r>
              <a:rPr sz="1050" b="0" i="1">
                <a:solidFill>
                  <a:srgbClr val="16213A"/>
                </a:solidFill>
                <a:latin typeface="Arial"/>
                <a:ea typeface="Malgun Gothic"/>
                <a:cs typeface="Malgun Gothic"/>
              </a:rPr>
              <a:t>γ_(RA) &lt; 1</a:t>
            </a:r>
            <a:r>
              <a:rPr sz="1050" b="0" i="0">
                <a:solidFill>
                  <a:srgbClr val="16213A"/>
                </a:solidFill>
                <a:latin typeface="Arial"/>
                <a:ea typeface="Malgun Gothic"/>
                <a:cs typeface="Malgun Gothic"/>
              </a:rPr>
              <a:t>이면 이 값은 참 RA 가치를 아래에서 근사하므로, </a:t>
            </a:r>
            <a:r>
              <a:rPr sz="1050" b="0" i="1">
                <a:solidFill>
                  <a:srgbClr val="16213A"/>
                </a:solidFill>
                <a:latin typeface="Arial"/>
                <a:ea typeface="Malgun Gothic"/>
                <a:cs typeface="Malgun Gothic"/>
              </a:rPr>
              <a:t>V ≤ 0</a:t>
            </a:r>
            <a:r>
              <a:rPr sz="1050" b="0" i="0">
                <a:solidFill>
                  <a:srgbClr val="16213A"/>
                </a:solidFill>
                <a:latin typeface="Arial"/>
                <a:ea typeface="Malgun Gothic"/>
                <a:cs typeface="Malgun Gothic"/>
              </a:rPr>
              <a:t>인 상태는 실제로 도달-회피 집합 안에 있다. 저자들은 </a:t>
            </a:r>
            <a:r>
              <a:rPr sz="1050" b="0" i="1">
                <a:solidFill>
                  <a:srgbClr val="16213A"/>
                </a:solidFill>
                <a:latin typeface="Arial"/>
                <a:ea typeface="Malgun Gothic"/>
                <a:cs typeface="Malgun Gothic"/>
              </a:rPr>
              <a:t>γ_(RA) = 0.999999</a:t>
            </a:r>
            <a:r>
              <a:rPr sz="1050" b="0" i="0">
                <a:solidFill>
                  <a:srgbClr val="16213A"/>
                </a:solidFill>
                <a:latin typeface="Arial"/>
                <a:ea typeface="Malgun Gothic"/>
                <a:cs typeface="Malgun Gothic"/>
              </a:rPr>
              <a:t>를 썼다. 앞선 연구와 달리 가치를 빠른 정책에 조건으로 걸었다. 그래서 rollout을 먼저 모은 뒤 따로 학습할 수 있다.</a:t>
            </a:r>
          </a:p>
        </p:txBody>
      </p:sp>
      <p:sp>
        <p:nvSpPr>
          <p:cNvPr id="9" name="TextBox 8"/>
          <p:cNvSpPr txBox="1"/>
          <p:nvPr/>
        </p:nvSpPr>
        <p:spPr>
          <a:xfrm>
            <a:off x="609600" y="3304282"/>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라벨과 입력.</a:t>
            </a:r>
            <a:r>
              <a:rPr sz="1050" b="0" i="0">
                <a:solidFill>
                  <a:srgbClr val="16213A"/>
                </a:solidFill>
                <a:latin typeface="Arial"/>
                <a:ea typeface="Malgun Gothic"/>
                <a:cs typeface="Malgun Gothic"/>
              </a:rPr>
              <a:t> 목표 함수는 </a:t>
            </a:r>
            <a:r>
              <a:rPr sz="1050" b="0" i="1">
                <a:solidFill>
                  <a:srgbClr val="16213A"/>
                </a:solidFill>
                <a:latin typeface="Arial"/>
                <a:ea typeface="Malgun Gothic"/>
                <a:cs typeface="Malgun Gothic"/>
              </a:rPr>
              <a:t>l(s) = tanh log(d_(goal) / σ_(tight))</a:t>
            </a:r>
            <a:r>
              <a:rPr sz="1050" b="0" i="0">
                <a:solidFill>
                  <a:srgbClr val="16213A"/>
                </a:solidFill>
                <a:latin typeface="Arial"/>
                <a:ea typeface="Malgun Gothic"/>
                <a:cs typeface="Malgun Gothic"/>
              </a:rPr>
              <a:t>로 두어 </a:t>
            </a:r>
            <a:r>
              <a:rPr sz="1050" b="0" i="1">
                <a:solidFill>
                  <a:srgbClr val="16213A"/>
                </a:solidFill>
                <a:latin typeface="Arial"/>
                <a:ea typeface="Malgun Gothic"/>
                <a:cs typeface="Malgun Gothic"/>
              </a:rPr>
              <a:t>(-1, 1)</a:t>
            </a:r>
            <a:r>
              <a:rPr sz="1050" b="0" i="0">
                <a:solidFill>
                  <a:srgbClr val="16213A"/>
                </a:solidFill>
                <a:latin typeface="Arial"/>
                <a:ea typeface="Malgun Gothic"/>
                <a:cs typeface="Malgun Gothic"/>
              </a:rPr>
              <a:t>에 묶었다(</a:t>
            </a:r>
            <a:r>
              <a:rPr sz="1050" b="0" i="1">
                <a:solidFill>
                  <a:srgbClr val="16213A"/>
                </a:solidFill>
                <a:latin typeface="Arial"/>
                <a:ea typeface="Malgun Gothic"/>
                <a:cs typeface="Malgun Gothic"/>
              </a:rPr>
              <a:t>σ_(tight) = 0.5</a:t>
            </a:r>
            <a:r>
              <a:rPr sz="1050" b="0" i="0">
                <a:solidFill>
                  <a:srgbClr val="16213A"/>
                </a:solidFill>
                <a:latin typeface="Arial"/>
                <a:ea typeface="Malgun Gothic"/>
                <a:cs typeface="Malgun Gothic"/>
              </a:rPr>
              <a:t> m). 충돌 지시 </a:t>
            </a:r>
            <a:r>
              <a:rPr sz="1050" b="0" i="1">
                <a:solidFill>
                  <a:srgbClr val="16213A"/>
                </a:solidFill>
                <a:latin typeface="Arial"/>
                <a:ea typeface="Malgun Gothic"/>
                <a:cs typeface="Malgun Gothic"/>
              </a:rPr>
              <a:t>ζ = 2 · 1(충돌) - 1</a:t>
            </a:r>
            <a:r>
              <a:rPr sz="1050" b="0" i="0">
                <a:solidFill>
                  <a:srgbClr val="16213A"/>
                </a:solidFill>
                <a:latin typeface="Arial"/>
                <a:ea typeface="Malgun Gothic"/>
                <a:cs typeface="Malgun Gothic"/>
              </a:rPr>
              <a:t>은 계단 함수라 Lipschitz 연속이 아니다. 그래서 충돌이 나면 직전 10스텝의 값을 −0.8, −0.6, …, 1.0으로 다시 매겼다. 가치망 입력은 몸통 twist, 목표의 상대 xy, 광선 거리 11개다. 관절 상태는 차원이 높고 목표 도달과 관계가 적어 뺐다. 자료는 가장 어려운 장애물 배치에서 빠른 정책을 굴린 20만 에피소드다.</a:t>
            </a:r>
          </a:p>
        </p:txBody>
      </p:sp>
      <p:sp>
        <p:nvSpPr>
          <p:cNvPr id="10" name="TextBox 9"/>
          <p:cNvSpPr txBox="1"/>
          <p:nvPr/>
        </p:nvSpPr>
        <p:spPr>
          <a:xfrm>
            <a:off x="609600" y="4042668"/>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회복 탐색.</a:t>
            </a:r>
            <a:r>
              <a:rPr sz="1050" b="0" i="0">
                <a:solidFill>
                  <a:srgbClr val="16213A"/>
                </a:solidFill>
                <a:latin typeface="Arial"/>
                <a:ea typeface="Malgun Gothic"/>
                <a:cs typeface="Malgun Gothic"/>
              </a:rPr>
              <a:t> 가치가 문턱 </a:t>
            </a:r>
            <a:r>
              <a:rPr sz="1050" b="0" i="1">
                <a:solidFill>
                  <a:srgbClr val="16213A"/>
                </a:solidFill>
                <a:latin typeface="Arial"/>
                <a:ea typeface="Malgun Gothic"/>
                <a:cs typeface="Malgun Gothic"/>
              </a:rPr>
              <a:t>V_(threshold) = -0.05</a:t>
            </a:r>
            <a:r>
              <a:rPr sz="1050" b="0" i="0">
                <a:solidFill>
                  <a:srgbClr val="16213A"/>
                </a:solidFill>
                <a:latin typeface="Arial"/>
                <a:ea typeface="Malgun Gothic"/>
                <a:cs typeface="Malgun Gothic"/>
              </a:rPr>
              <a:t> 이상이면, 0.05 s 뒤의 목표 거리를 가장 줄이면서 가치를 문턱 아래에 두는 twist를 찾는다.</a:t>
            </a:r>
          </a:p>
        </p:txBody>
      </p:sp>
      <p:pic>
        <p:nvPicPr>
          <p:cNvPr id="11" name="Picture 10" descr="image.png"/>
          <p:cNvPicPr>
            <a:picLocks noChangeAspect="1"/>
          </p:cNvPicPr>
          <p:nvPr/>
        </p:nvPicPr>
        <p:blipFill>
          <a:blip r:embed="rId4"/>
          <a:stretch>
            <a:fillRect/>
          </a:stretch>
        </p:blipFill>
        <p:spPr>
          <a:xfrm>
            <a:off x="609600" y="4348063"/>
            <a:ext cx="4076700" cy="247650"/>
          </a:xfrm>
          <a:prstGeom prst="rect">
            <a:avLst/>
          </a:prstGeom>
        </p:spPr>
      </p:pic>
      <p:sp>
        <p:nvSpPr>
          <p:cNvPr id="12" name="TextBox 11"/>
          <p:cNvSpPr txBox="1"/>
          <p:nvPr/>
        </p:nvSpPr>
        <p:spPr>
          <a:xfrm>
            <a:off x="609600" y="4632027"/>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현재 twist에서 시작해 라그랑주 승수를 둔 경사 하강을 하면 5스텝 안에 풀린다. 회복 정책은 외부 인식 없이 이 twist만 따라가도록 학습했고, 최대 감속을 위해 무릎이 땅에 닿는 것도 허용했다.</a:t>
            </a:r>
          </a:p>
        </p:txBody>
      </p:sp>
      <p:sp>
        <p:nvSpPr>
          <p:cNvPr id="13" name="TextBox 12"/>
          <p:cNvSpPr txBox="1"/>
          <p:nvPr/>
        </p:nvSpPr>
        <p:spPr>
          <a:xfrm>
            <a:off x="609600" y="4937423"/>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빠른 정책의 보상.</a:t>
            </a:r>
            <a:r>
              <a:rPr sz="1050" b="0" i="0">
                <a:solidFill>
                  <a:srgbClr val="16213A"/>
                </a:solidFill>
                <a:latin typeface="Arial"/>
                <a:ea typeface="Malgun Gothic"/>
                <a:cs typeface="Malgun Gothic"/>
              </a:rPr>
              <a:t> 목표 추종 항은 에피소드 끝 </a:t>
            </a:r>
            <a:r>
              <a:rPr sz="1050" b="0" i="1">
                <a:solidFill>
                  <a:srgbClr val="16213A"/>
                </a:solidFill>
                <a:latin typeface="Arial"/>
                <a:ea typeface="Malgun Gothic"/>
                <a:cs typeface="Malgun Gothic"/>
              </a:rPr>
              <a:t>Tᵣ</a:t>
            </a:r>
            <a:r>
              <a:rPr sz="1050" b="0" i="0">
                <a:solidFill>
                  <a:srgbClr val="16213A"/>
                </a:solidFill>
                <a:latin typeface="Arial"/>
                <a:ea typeface="Malgun Gothic"/>
                <a:cs typeface="Malgun Gothic"/>
              </a:rPr>
              <a:t>초 동안에만 준다.</a:t>
            </a:r>
          </a:p>
        </p:txBody>
      </p:sp>
      <p:pic>
        <p:nvPicPr>
          <p:cNvPr id="14" name="Picture 13" descr="image.png"/>
          <p:cNvPicPr>
            <a:picLocks noChangeAspect="1"/>
          </p:cNvPicPr>
          <p:nvPr/>
        </p:nvPicPr>
        <p:blipFill>
          <a:blip r:embed="rId5"/>
          <a:stretch>
            <a:fillRect/>
          </a:stretch>
        </p:blipFill>
        <p:spPr>
          <a:xfrm>
            <a:off x="609600" y="5242818"/>
            <a:ext cx="2590800" cy="425450"/>
          </a:xfrm>
          <a:prstGeom prst="rect">
            <a:avLst/>
          </a:prstGeom>
        </p:spPr>
      </p:pic>
      <p:sp>
        <p:nvSpPr>
          <p:cNvPr id="15" name="TextBox 14"/>
          <p:cNvSpPr txBox="1"/>
          <p:nvPr/>
        </p:nvSpPr>
        <p:spPr>
          <a:xfrm>
            <a:off x="609600" y="5678289"/>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15개(문단·식·그림)는 대시보드 리서치 탭의 "자세히: ABS의 도달-회피 가치, 회복 탐색, 학습과 결과" 토글에 있다.</a:t>
            </a:r>
          </a:p>
        </p:txBody>
      </p:sp>
    </p:spTree>
  </p:cSld>
  <p:clrMapOvr>
    <a:masterClrMapping/>
  </p:clrMapOvr>
</p:sld>
</file>

<file path=ppt/slides/slide41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1/4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417 / 516</a:t>
            </a:r>
          </a:p>
        </p:txBody>
      </p:sp>
      <p:sp>
        <p:nvSpPr>
          <p:cNvPr id="5" name="TextBox 4"/>
          <p:cNvSpPr txBox="1"/>
          <p:nvPr/>
        </p:nvSpPr>
        <p:spPr>
          <a:xfrm>
            <a:off x="609600" y="1244600"/>
            <a:ext cx="10972800" cy="1731962"/>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Unitree Go2·Go2-W와 공식 학습 코드 — 값싼 사족과 legged_gym·Isaac Lab 위의 공개 학습·배포 코드</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Go2</a:t>
            </a:r>
            <a:r>
              <a:rPr sz="1050" b="0" i="0">
                <a:solidFill>
                  <a:srgbClr val="16213A"/>
                </a:solidFill>
                <a:latin typeface="Arial"/>
                <a:ea typeface="Malgun Gothic"/>
                <a:cs typeface="Malgun Gothic"/>
              </a:rPr>
              <a:t>, 2023-07-12 출시; </a:t>
            </a:r>
            <a:r>
              <a:rPr sz="1050" b="0" i="0">
                <a:solidFill>
                  <a:srgbClr val="1D4ED8"/>
                </a:solidFill>
                <a:latin typeface="Arial"/>
                <a:ea typeface="Malgun Gothic"/>
                <a:cs typeface="Malgun Gothic"/>
                <a:hlinkClick r:id="rId4"/>
              </a:rPr>
              <a:t>Go2-W</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5"/>
              </a:rPr>
              <a:t>unitree_rl_gym</a:t>
            </a:r>
            <a:r>
              <a:rPr sz="1050" b="0" i="0">
                <a:solidFill>
                  <a:srgbClr val="16213A"/>
                </a:solidFill>
                <a:latin typeface="Arial"/>
                <a:ea typeface="Malgun Gothic"/>
                <a:cs typeface="Malgun Gothic"/>
              </a:rPr>
              <a:t> BSD-3-Clause; </a:t>
            </a:r>
            <a:r>
              <a:rPr sz="1050" b="0" i="0">
                <a:solidFill>
                  <a:srgbClr val="1D4ED8"/>
                </a:solidFill>
                <a:latin typeface="Arial"/>
                <a:ea typeface="Malgun Gothic"/>
                <a:cs typeface="Malgun Gothic"/>
                <a:hlinkClick r:id="rId6"/>
              </a:rPr>
              <a:t>unitree_rl_lab</a:t>
            </a:r>
            <a:r>
              <a:rPr sz="1050" b="0" i="0">
                <a:solidFill>
                  <a:srgbClr val="16213A"/>
                </a:solidFill>
                <a:latin typeface="Arial"/>
                <a:ea typeface="Malgun Gothic"/>
                <a:cs typeface="Malgun Gothic"/>
              </a:rPr>
              <a:t> Apache-2.0). Go2는 무게 약 15 kg, 서 있을 때 70 × 31 × 40 cm이고, 가격은 AIR 판 1,600달러부터다. 공식 페이지는 Unitree의 4D LiDAR L2(360° × 96°)를 표준 장비로 적는다(2026-10-07). 속도는 AIR 0–2.5, PRO 0–3.5, X·EDU 0–3.7 m/s이고, X·EDU의 최대는 약 5 m/s다. 페이지 머리말은 이 5 m/s를 실험실에서 쟀다고 적는다. 오를 수 있는 턱은 약 15–16 cm, 경사는 30–40°이고, 발 끝 힘 센서는 EDU 판에만 있다. 바퀴 달린 Go2-W는 다리 끝에 인휠 모터와 7인치 공기압 타이어를 달았다. 제원표는 약 18 kg, 0–2.5 m/s, 최대 등판각 35°를 적는다. 공식 학습 코드는 둘이다. unitree_rl_gym(★3.6k)은 legged_gym·rsl_rl 위에 Go2·G1·H1·H1_2 학습 환경을 두지만, MuJoCo sim2sim과 실물 배포 설정은 휴머노이드 셋(G1·H1·H1_2)뿐이다. Isaac Lab 판 unitree_rl_lab(★1.4k)은 Go2·H1·G1-29dof 학습 과제를 둔다. 배포 쪽에는 Go2와 Go2-W를 포함한 로봇별 C++ 제어기, 그리고 unitree_mujoco sim2sim과 unitree_sdk2 실물 배포 순서가 있다. Go2-W는 로봇 설정과 배포 코드만 있고 학습 과제 목록에는 없다(2026-10-07). 이 문서들에서 Go2는 Walk These Ways Go2 이식(Controller 문서 F.6.1), Poisson 안전 함수(C.4), CMU 자율 스택(B.12.2)의 실험 플랫폼으로 나온다.</a:t>
            </a:r>
          </a:p>
        </p:txBody>
      </p:sp>
      <p:sp>
        <p:nvSpPr>
          <p:cNvPr id="6" name="TextBox 5"/>
          <p:cNvSpPr txBox="1"/>
          <p:nvPr/>
        </p:nvSpPr>
        <p:spPr>
          <a:xfrm>
            <a:off x="609600" y="3065462"/>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Playground의 사족 프로필은 'Go2·ANYmal급'을 본뜬 값이고, 턱 한계가 0.20 m다(</a:t>
            </a:r>
            <a:r>
              <a:rPr sz="1050" b="0" i="0">
                <a:solidFill>
                  <a:srgbClr val="16213A"/>
                </a:solidFill>
                <a:latin typeface="Consolas"/>
                <a:ea typeface="Malgun Gothic"/>
                <a:cs typeface="Malgun Gothic"/>
              </a:rPr>
              <a:t>robots.js</a:t>
            </a:r>
            <a:r>
              <a:rPr sz="1050" b="0" i="0">
                <a:solidFill>
                  <a:srgbClr val="16213A"/>
                </a:solidFill>
                <a:latin typeface="Arial"/>
                <a:ea typeface="Malgun Gothic"/>
                <a:cs typeface="Malgun Gothic"/>
              </a:rPr>
              <a:t>, TP-0102). Go2 공식 제원(약 15–16 cm)보다 높으므로, Go2와 맞대려면 프로필을 Go2와 ANYmal 둘로 나눈다. 바퀴 사족 프로필(</a:t>
            </a:r>
            <a:r>
              <a:rPr sz="1050" b="0" i="0">
                <a:solidFill>
                  <a:srgbClr val="16213A"/>
                </a:solidFill>
                <a:latin typeface="Consolas"/>
                <a:ea typeface="Malgun Gothic"/>
                <a:cs typeface="Malgun Gothic"/>
              </a:rPr>
              <a:t>wheelLeg</a:t>
            </a:r>
            <a:r>
              <a:rPr sz="1050" b="0" i="0">
                <a:solidFill>
                  <a:srgbClr val="16213A"/>
                </a:solidFill>
                <a:latin typeface="Arial"/>
                <a:ea typeface="Malgun Gothic"/>
                <a:cs typeface="Malgun Gothic"/>
              </a:rPr>
              <a:t>)은 'Go2-W·ANYmal on wheels급'이고 최고 속도가 1.5 m/s로, Go2-W 제원의 2.5 m/s보다 낮다. 실물 대조군이 필요해지면 Go2는 1,600달러부터라 값이 낮고, 배포 코드가 공식 unitree_rl_lab에 있다. Walk These Ways Go2 이식본(MIT, F.6.1)은 대안이다.</a:t>
            </a:r>
          </a:p>
        </p:txBody>
      </p:sp>
    </p:spTree>
  </p:cSld>
  <p:clrMapOvr>
    <a:masterClrMapping/>
  </p:clrMapOvr>
</p:sld>
</file>

<file path=ppt/slides/slide41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2/4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418 / 516</a:t>
            </a:r>
          </a:p>
        </p:txBody>
      </p:sp>
      <p:pic>
        <p:nvPicPr>
          <p:cNvPr id="5" name="Picture 4" descr="image.jpg"/>
          <p:cNvPicPr>
            <a:picLocks noChangeAspect="1"/>
          </p:cNvPicPr>
          <p:nvPr/>
        </p:nvPicPr>
        <p:blipFill>
          <a:blip r:embed="rId3"/>
          <a:stretch>
            <a:fillRect/>
          </a:stretch>
        </p:blipFill>
        <p:spPr>
          <a:xfrm>
            <a:off x="2984500" y="1244600"/>
            <a:ext cx="6223000" cy="4445000"/>
          </a:xfrm>
          <a:prstGeom prst="rect">
            <a:avLst/>
          </a:prstGeom>
        </p:spPr>
      </p:pic>
      <p:sp>
        <p:nvSpPr>
          <p:cNvPr id="6" name="TextBox 5"/>
          <p:cNvSpPr txBox="1"/>
          <p:nvPr/>
        </p:nvSpPr>
        <p:spPr>
          <a:xfrm>
            <a:off x="2984500" y="5727700"/>
            <a:ext cx="6223000" cy="42654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Unitree Go2 (공식 제품 페이지 그림): 4D LiDAR L2(360° × 96°), 전면 광각 카메라(1280 × 720, 시야 120°), 앞 조명, 알루미늄 관절 모터 12개, 발 힘 센서, 외부 AI 연산 모듈(Orin NX·Orin Nano 등) 자리, 배터리(표준 8000 mAh, 장시간 15000 mAh), 4G·Wi-Fi 6·Bluetooth 5.2 통신을 표시한다. 발 힘 센서는 제원표상 EDU 판에만 있다. 출처: Unitree Go2</a:t>
            </a:r>
          </a:p>
        </p:txBody>
      </p:sp>
    </p:spTree>
  </p:cSld>
  <p:clrMapOvr>
    <a:masterClrMapping/>
  </p:clrMapOvr>
</p:sld>
</file>

<file path=ppt/slides/slide41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3/4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419 / 516</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사람.</a:t>
            </a:r>
            <a:r>
              <a:rPr sz="1050" b="0" i="0">
                <a:solidFill>
                  <a:srgbClr val="16213A"/>
                </a:solidFill>
                <a:latin typeface="Arial"/>
                <a:ea typeface="Malgun Gothic"/>
                <a:cs typeface="Malgun Gothic"/>
              </a:rPr>
              <a:t> 이 소절의 결과물을 낸 사람들의 지금 자리는 공식·개인 페이지 기준이다(2026-10-07 확인).</a:t>
            </a:r>
          </a:p>
        </p:txBody>
      </p:sp>
      <p:graphicFrame>
        <p:nvGraphicFramePr>
          <p:cNvPr id="6" name="Table 5"/>
          <p:cNvGraphicFramePr>
            <a:graphicFrameLocks noGrp="1"/>
          </p:cNvGraphicFramePr>
          <p:nvPr/>
        </p:nvGraphicFramePr>
        <p:xfrm>
          <a:off x="609600" y="1549995"/>
          <a:ext cx="10966450" cy="2365056"/>
        </p:xfrm>
        <a:graphic>
          <a:graphicData uri="http://schemas.openxmlformats.org/drawingml/2006/table">
            <a:tbl>
              <a:tblPr firstRow="1" bandRow="1">
                <a:tableStyleId>{5C22544A-7EE6-4342-B048-85BDC9FD1C3A}</a:tableStyleId>
              </a:tblPr>
              <a:tblGrid>
                <a:gridCol w="995561"/>
                <a:gridCol w="4177903"/>
                <a:gridCol w="5792986"/>
              </a:tblGrid>
              <a:tr h="197088">
                <a:tc>
                  <a:txBody>
                    <a:bodyPr wrap="square"/>
                    <a:lstStyle/>
                    <a:p>
                      <a:r>
                        <a:rPr sz="800" b="1" i="0">
                          <a:solidFill>
                            <a:srgbClr val="F4F1EA"/>
                          </a:solidFill>
                          <a:latin typeface="Arial"/>
                          <a:ea typeface="Malgun Gothic"/>
                          <a:cs typeface="Malgun Gothic"/>
                        </a:rPr>
                        <a:t>사람</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이 소절에서 남긴 것</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지금 소속</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Jitendra Malik</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RMA·VP-Nav·자기 중심 깊이 보행의 지도 저자</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UC Berkeley EECS 교수(Arthur J. Chick Professor). 현재 박사후연구원 명단에 WVN 1저자 Jonas Frey(B.14.3)가 있다</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Deepak Pathak</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RMA·VP-Nav·자기 중심 깊이 보행·Extreme Parkour의 지도 저자, LocoFormer 2저자</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CMU Raj Reddy 부교수, Skild AI 공동 창업자·CEO</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Ananye Agarwal</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자기 중심 깊이 보행 1저자, Extreme Parkour 3저자, LocoFormer 교신 저자</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Skild AI(LocoFormer 소속 표기)</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Min Liu</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LocoFormer 1저자</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Skild AI(LocoFormer 소속 표기)</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Abhinav Gupta</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Skild AI 공동 창업자</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Skild AI President(2026-09 블로그 서명), CMU 교수, 전 Meta 피츠버그 로봇 연구실</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Zipeng Fu</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RMA 2저자, VP-Nav·에너지 걸음새 1저자, Robot Parkour Learning 공동 1저자</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Reward AI 공동 창업자·CEO(개인 페이지)</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Pulkit Agrawal</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Rapid Locomotion·Walk These Ways·DribbleBot·ASMP의 지도 저자</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MIT EECS 부교수(CSAIL), Eka Robotics 공동 창업자</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Gabriel Margolis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Rapid Locomotion·Walk These Ways·ASMP 1저자, DribbleBot 공동 1저자</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Google DeepMind Robotics 연구원</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Jemin Hwangbo</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이 소절 KAIST 연구의 교신 저자, actuator net 1저자(B.14.1)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KAIST 기계공학과 교수, RaiLab(직급은 확인하지 못했다)</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Guanya Shi</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ABS 지도 저자</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CMU Robotics Institute 조교수, LeCAR Lab. Amazon FAR 팀 Amazon Scholar</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Tairan He</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ABS 공동 1저자, 뒤에 HOVER(B.16.1)·ASAP(B.16.6) 1저자</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OpenAI Member of Technical Staff(개인 페이지)</a:t>
                      </a:r>
                    </a:p>
                  </a:txBody>
                  <a:tcPr marL="63500" marR="63500" marT="12700" marB="12700">
                    <a:solidFill>
                      <a:srgbClr val="FFFDF8"/>
                    </a:solidFill>
                  </a:tcPr>
                </a:tc>
              </a:tr>
            </a:tbl>
          </a:graphicData>
        </a:graphic>
      </p:graphicFrame>
    </p:spTree>
  </p:cSld>
  <p:clrMapOvr>
    <a:masterClrMapping/>
  </p:clrMapOvr>
</p:sld>
</file>

<file path=ppt/slides/slide42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4/4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420 / 516</a:t>
            </a:r>
          </a:p>
        </p:txBody>
      </p:sp>
      <p:sp>
        <p:nvSpPr>
          <p:cNvPr id="5" name="TextBox 4"/>
          <p:cNvSpPr txBox="1"/>
          <p:nvPr/>
        </p:nvSpPr>
        <p:spPr>
          <a:xfrm>
            <a:off x="717550" y="1244600"/>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B.16.6 다른 연구실의 휴머노이드: transformer 정책, 동작 추종, 행동 잔차</a:t>
            </a:r>
          </a:p>
        </p:txBody>
      </p:sp>
      <p:sp>
        <p:nvSpPr>
          <p:cNvPr id="6" name="TextBox 5"/>
          <p:cNvSpPr txBox="1"/>
          <p:nvPr/>
        </p:nvSpPr>
        <p:spPr>
          <a:xfrm>
            <a:off x="609600" y="1547812"/>
            <a:ext cx="10972800" cy="1731962"/>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B.14와 B.16.1–B.16.4에서 다룬 연구실 밖의 휴머노이드 연구에서 travplan이 옮길 것은 정책 자체가 아니라 학습 절차, sim-to-real 보정, 층 사이의 인터페이스다.</a:t>
            </a:r>
            <a:r>
              <a:rPr sz="1050" b="0" i="0">
                <a:solidFill>
                  <a:srgbClr val="16213A"/>
                </a:solidFill>
                <a:latin typeface="Arial"/>
                <a:ea typeface="Malgun Gothic"/>
                <a:cs typeface="Malgun Gothic"/>
              </a:rPr>
              <a:t> 이 연구들은 세 갈래로 자랐다. 첫째는 고유감각만 보는 이족 보행 RL이다. UC Berkeley의 Malik·Darrell·Sreenath는 Digit에서 이력을 보는 transformer로 실외 보행을 보였다. Sreenath 연구실은 Cassie에서 입출력 이력을 보는 정책으로 달리기와 뛰기를 보였다. 둘째는 사람 동작 추종이다. CMU LeCAR Lab(Guanya Shi)은 원격조종(H2O·OmniH2O)에서 시작해, 실물 기록으로 시뮬레이터를 고치는 ASAP으로 갔다. Stanford(HumanPlus)와 UC San Diego(ExBody)는 사람 동작 데이터로 Unitree H1을 움직였다. HKUST의 HumanX는 영상 한 편에서 물체 상호작용까지 합성해 G1이 공을 다루게 했다. 셋째는 지형이나 과제 비용을 보는 정책이다. Humanoid Parkour와 Amazon FAR의 PHP는 깊이 영상을, VideoMimic은 몸통 둘레의 높이 지도를 본다. BeyondMimic(Sreenath 연구실과 Stanford의 C. Karen Liu)은 생성 중에 과제 비용의 기울기로 끌려간다. </a:t>
            </a:r>
            <a:r>
              <a:rPr sz="1050" b="1" i="0">
                <a:solidFill>
                  <a:srgbClr val="C2410C"/>
                </a:solidFill>
                <a:latin typeface="Arial"/>
                <a:ea typeface="Malgun Gothic"/>
                <a:cs typeface="Malgun Gothic"/>
              </a:rPr>
              <a:t>이 소절의 하체·전신 정책은 대부분 속도·위치·자세 목표를 받아 움직이는 층이고, 경로를 고르는 일은 그 위 층에 남아 있다.</a:t>
            </a:r>
            <a:r>
              <a:rPr sz="1050" b="0" i="0">
                <a:solidFill>
                  <a:srgbClr val="16213A"/>
                </a:solidFill>
                <a:latin typeface="Arial"/>
                <a:ea typeface="Malgun Gothic"/>
                <a:cs typeface="Malgun Gothic"/>
              </a:rPr>
              <a:t> 높이 지도를 보는 휴머노이드 보행 정책(PIM·BeamDojo·HPC)은 인식 문서 A.8에, LiDAR 복셀을 보는 Gallant는 B.12.3에 있다. H2O·OmniH2O의 1저자가 NVIDIA GEAR와 함께 만든 HOVER는 B.16.1에, Boston Dynamics·RAI Institute의 Atlas RL(ZEST)은 B.16.4에 있다.</a:t>
            </a:r>
          </a:p>
        </p:txBody>
      </p:sp>
    </p:spTree>
  </p:cSld>
  <p:clrMapOvr>
    <a:masterClrMapping/>
  </p:clrMapOvr>
</p:sld>
</file>

<file path=ppt/slides/slide42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자세히: 이 소절의 연구 목록(표 25행)</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421 / 516</a:t>
            </a:r>
          </a:p>
        </p:txBody>
      </p:sp>
      <p:sp>
        <p:nvSpPr>
          <p:cNvPr id="5" name="TextBox 4"/>
          <p:cNvSpPr txBox="1"/>
          <p:nvPr/>
        </p:nvSpPr>
        <p:spPr>
          <a:xfrm>
            <a:off x="609600" y="1244600"/>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1개(문단·식·그림)는 대시보드 리서치 탭의 "자세히: 이 소절의 연구 목록(표 25행)" 토글에 있다.</a:t>
            </a:r>
          </a:p>
        </p:txBody>
      </p:sp>
    </p:spTree>
  </p:cSld>
  <p:clrMapOvr>
    <a:masterClrMapping/>
  </p:clrMapOvr>
</p:sld>
</file>

<file path=ppt/slides/slide42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422 / 516</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첫째 갈래(고유감각 이족 보행 RL).</a:t>
            </a:r>
            <a:r>
              <a:rPr sz="1050" b="0" i="0">
                <a:solidFill>
                  <a:srgbClr val="16213A"/>
                </a:solidFill>
                <a:latin typeface="Arial"/>
                <a:ea typeface="Malgun Gothic"/>
                <a:cs typeface="Malgun Gothic"/>
              </a:rPr>
              <a:t> 이 갈래의 정책은 카메라와 지도 없이 이력만 보고 지형에 적응한다. Digit에서 시작한 UC Berkeley 계열은 RL에서 시퀀스 모델링으로, 다시 사전학습 뒤 RL 미세 조정으로 학습법을 바꿔 가며 산길과 가파른 도시 거리까지 갔다. Cassie와 Digit을 만든 Agility도 같은 시기에 하체 제어를 학습 정책으로 옮겼다.</a:t>
            </a:r>
          </a:p>
        </p:txBody>
      </p:sp>
      <p:sp>
        <p:nvSpPr>
          <p:cNvPr id="6" name="TextBox 5"/>
          <p:cNvSpPr txBox="1"/>
          <p:nvPr/>
        </p:nvSpPr>
        <p:spPr>
          <a:xfrm>
            <a:off x="609600" y="1766491"/>
            <a:ext cx="10972800" cy="1731962"/>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Real-World Humanoid Locomotion(HT) — 고유감각 이력을 보는 transformer 하나로 실물 Digit이 일주일 동안 실외를 넘어지지 않고 걸었다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arXiv:2303.03381</a:t>
            </a:r>
            <a:r>
              <a:rPr sz="1050" b="0" i="0">
                <a:solidFill>
                  <a:srgbClr val="16213A"/>
                </a:solidFill>
                <a:latin typeface="Arial"/>
                <a:ea typeface="Malgun Gothic"/>
                <a:cs typeface="Malgun Gothic"/>
              </a:rPr>
              <a:t>, Radosavovic·Xiao·Zhang·Darrell·Malik·Sreenath, Science Robotics 9(89) eadi9579, 2024, </a:t>
            </a:r>
            <a:r>
              <a:rPr sz="1050" b="0" i="0">
                <a:solidFill>
                  <a:srgbClr val="1D4ED8"/>
                </a:solidFill>
                <a:latin typeface="Arial"/>
                <a:ea typeface="Malgun Gothic"/>
                <a:cs typeface="Malgun Gothic"/>
                <a:hlinkClick r:id="rId4"/>
              </a:rPr>
              <a:t>doi:10.1126/scirobotics.adi9579</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5"/>
              </a:rPr>
              <a:t>프로젝트</a:t>
            </a:r>
            <a:r>
              <a:rPr sz="1050" b="0" i="0">
                <a:solidFill>
                  <a:srgbClr val="16213A"/>
                </a:solidFill>
                <a:latin typeface="Arial"/>
                <a:ea typeface="Malgun Gothic"/>
                <a:cs typeface="Malgun Gothic"/>
              </a:rPr>
              <a:t>). UC Berkeley의 이 연구는 Agility Robotics의 휴머노이드 Digit(키 약 1.6 m, 45 kg)을 처음부터 끝까지 학습한 제어기로 걷게 했다. 뒤 논문(HT-2)은 이 모델을 Humanoid Transformer, 줄여 HT라고 부른다. 정책은 과거 관측과 행동 16쌍을 보고 다음 행동을 내는 causal transformer다(블록 4, 임베딩 192, 파라미터 1.4M). 카메라와 지도는 쓰지 않는다. 관측은 v1 표 III 기준으로 고유감각과 몸통 선속도다. 최종판의 관측 구성은 보충 자료로 옮겨 확인하지 못했다. 정책은 50 Hz로 관절 16개의 PD 목표와 다리 관절 8개의 PD 이득을 내고, 관절 PD는 1 kHz로 돈다. 학습은 교사–학생 두 단계다. 먼저 참값 상태를 보는 MLP 교사를 PPO로 만든다. 그다음 관측만 보는 transformer 학생을 RL 손실과 교사와의 KL 발산으로 함께 학습한다. KL 가중은 학습이 진행되면서 줄어, 대개 학습 절반쯤에 0이 된다. 학습은 Isaac Gym에서 하고, Agility의 고정밀 시뮬레이터에서 걸러 낸 뒤 실물에 올렸다. 실외 광장·보도·트랙·잔디에서 일주일 동안 종일 시험했고, 넘어진 적이 없었다. 보지 못한 계단 턱에 발이 걸리면 다음 시도에서 다리를 더 높고 빠르게 들었다. 이 행동은 따로 보상하지 않았다.</a:t>
            </a:r>
          </a:p>
        </p:txBody>
      </p:sp>
      <p:sp>
        <p:nvSpPr>
          <p:cNvPr id="7" name="TextBox 6"/>
          <p:cNvSpPr txBox="1"/>
          <p:nvPr/>
        </p:nvSpPr>
        <p:spPr>
          <a:xfrm>
            <a:off x="609600" y="3587353"/>
            <a:ext cx="10972800" cy="151546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travplan의 층으로 옮기면 이 정책은 Controller 아래의 plant 자리다. 속도 명령을 걸음으로 바꾸고, 지형은 보지 않는다. 가장 먼저 가져올 것은 학습 목적식이다. 원문 그림 8C의 시뮬레이션 비교(명령 1 m/s)에서 RL만 쓴 정책은 25° 경사의 평균 속도가 약 0.15 m/s로 떨어졌다. 모방만 쓴 정책은 약 0.63 m/s, 둘을 합친 정책은 약 0.75 m/s였다(그림에서 읽은 값). TP-0066의 Planner D RL 후학습은 모방 손실 가중치를 λ = 0.5로 고정했고, λ는 바꿔 보지 않았다(B.15.3). 학습 중에 가중을 0으로 내리는 일정이 다음 후보다. 같은 Science Robotics 9(89) 호의 OP3 축구(B.16.2)도 예측 가치가 문턱을 넘으면 교사 KL 가중을 0으로 내린다. 둘째는 시뮬레이터 두 개를 관문으로 쓰는 절차다. 근사가 있는 빠른 시뮬레이터에서 학습하고, 정확한 시뮬레이터에서 걸러 낸 뒤 실물로 간다. travplan에서는 운동학 시뮬에서 스워브 plant(TP-0149)를 거쳐 Isaac(P1)으로 가는 사다리가 같은 모양이다. 셋째, 이 학습 하체 정책의 응답에는 수백 ms가 걸린다. 원문 그림 4B를 읽으면 1 m/s 계단 명령에 속도가 약 0.35 s 동안 0 근처에 있다가 올라, 약 1.2 s에 1 m/s에 닿는다. 로봇과 정책이 달라서 이 응답으로 Playground G1급 하체의 시정수 가정(0.4 s, TP-0135)을 보정하지는 못한다. 그 위의 MPPI가 하체 지연을 알아야 한다는 Controller 문서 E.13의 결과를 뒷받침하는 정성 근거로만 쓴다.</a:t>
            </a:r>
          </a:p>
        </p:txBody>
      </p:sp>
    </p:spTree>
  </p:cSld>
  <p:clrMapOvr>
    <a:masterClrMapping/>
  </p:clrMapOvr>
</p:sld>
</file>

<file path=ppt/slides/slide42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423 / 516</a:t>
            </a:r>
          </a:p>
        </p:txBody>
      </p:sp>
      <p:pic>
        <p:nvPicPr>
          <p:cNvPr id="5" name="Picture 4" descr="image.jpg"/>
          <p:cNvPicPr>
            <a:picLocks noChangeAspect="1"/>
          </p:cNvPicPr>
          <p:nvPr/>
        </p:nvPicPr>
        <p:blipFill>
          <a:blip r:embed="rId3"/>
          <a:stretch>
            <a:fillRect/>
          </a:stretch>
        </p:blipFill>
        <p:spPr>
          <a:xfrm>
            <a:off x="609600" y="1244600"/>
            <a:ext cx="2228850" cy="2667000"/>
          </a:xfrm>
          <a:prstGeom prst="rect">
            <a:avLst/>
          </a:prstGeom>
        </p:spPr>
      </p:pic>
      <p:sp>
        <p:nvSpPr>
          <p:cNvPr id="6" name="TextBox 5"/>
          <p:cNvSpPr txBox="1"/>
          <p:nvPr/>
        </p:nvSpPr>
        <p:spPr>
          <a:xfrm>
            <a:off x="609600" y="3949700"/>
            <a:ext cx="5410200" cy="42654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Real-World Humanoid Locomotion (Fig. 1): 캠퍼스 광장, 나무다리, 주차된 차 옆 보도, 경기장 잔디와 트랙, 건물 앞 길, 차도의 횡단보도, 교내 문(Sather Gate), 정지 표지판이 선 보도에서 걷는 Digit이다. 원문은 콘크리트·고무·잔디 같은 재질과 맑은 오후·젖은 아침 같은 상태가 학습에 없던 것이라고 적는다. 출처: arXiv:2303.03381</a:t>
            </a:r>
          </a:p>
        </p:txBody>
      </p:sp>
      <p:pic>
        <p:nvPicPr>
          <p:cNvPr id="7" name="Picture 6" descr="image.jpg"/>
          <p:cNvPicPr>
            <a:picLocks noChangeAspect="1"/>
          </p:cNvPicPr>
          <p:nvPr/>
        </p:nvPicPr>
        <p:blipFill>
          <a:blip r:embed="rId4"/>
          <a:stretch>
            <a:fillRect/>
          </a:stretch>
        </p:blipFill>
        <p:spPr>
          <a:xfrm>
            <a:off x="6172200" y="1244600"/>
            <a:ext cx="2667000" cy="2667000"/>
          </a:xfrm>
          <a:prstGeom prst="rect">
            <a:avLst/>
          </a:prstGeom>
        </p:spPr>
      </p:pic>
      <p:sp>
        <p:nvSpPr>
          <p:cNvPr id="8" name="TextBox 7"/>
          <p:cNvSpPr txBox="1"/>
          <p:nvPr/>
        </p:nvSpPr>
        <p:spPr>
          <a:xfrm>
            <a:off x="6172200" y="3949700"/>
            <a:ext cx="5410200" cy="568722"/>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Real-World Humanoid Locomotion (Fig. 7): (A) 1단계는 로봇·환경 파라미터와 관측을 보는 MLP 교사를 RL로, 2단계는 관측만 보는 transformer 학생을 모방과 RL로 학습한다. (B) Isaac Gym의 병렬 환경에서 학습하고, Agility 시뮬레이터에서 거른 뒤 실물로 옮긴다. (C) 관측과 행동의 이력(그림에서 번갈아 놓인 칸)을 받아 다음 행동을 예측하는 causal transformer다. 본문은 관측–행동 쌍 하나를 토큰 하나로 둔다. 출처: arXiv:2303.03381</a:t>
            </a:r>
          </a:p>
        </p:txBody>
      </p:sp>
    </p:spTree>
  </p:cSld>
  <p:clrMapOvr>
    <a:masterClrMapping/>
  </p:clrMapOvr>
</p:sld>
</file>

<file path=ppt/slides/slide42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자세히: Real-World Humanoid Locomotion의 방법과 수식</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424 / 516</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풀려는 문제.</a:t>
            </a:r>
            <a:r>
              <a:rPr sz="1050" b="0" i="0">
                <a:solidFill>
                  <a:srgbClr val="16213A"/>
                </a:solidFill>
                <a:latin typeface="Arial"/>
                <a:ea typeface="Malgun Gothic"/>
                <a:cs typeface="Malgun Gothic"/>
              </a:rPr>
              <a:t> 실물 크기 휴머노이드는 불안정하고 자유도가 높다. Digit의 정강이와 발목 관절은 판 스프링과 4절 링크로 이어진 수동 관절이라 시뮬레이션하기 어렵다. 2023-03의 첫 판(v1)은 제목이 Learning Humanoid Locomotion with Transformers였다. 이 판은 상태 추정·동역학 모델·궤적 최적화·기준 궤적·걸음 라이브러리를 쓰지 않는다고 적었다. 가설은 관측–행동 이력에 세계에 대한 정보가 들어 있다는 것이다. 그래서 큰 transformer가 가중치를 바꾸지 않고 문맥 안에서 행동을 고칠 수 있다고 본다. 원문은 이것을 언어 모델의 in-context 학습에 견준다.</a:t>
            </a:r>
          </a:p>
        </p:txBody>
      </p:sp>
      <p:sp>
        <p:nvSpPr>
          <p:cNvPr id="6" name="TextBox 5"/>
          <p:cNvSpPr txBox="1"/>
          <p:nvPr/>
        </p:nvSpPr>
        <p:spPr>
          <a:xfrm>
            <a:off x="609600" y="1982986"/>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구조.</a:t>
            </a:r>
            <a:r>
              <a:rPr sz="1050" b="0" i="0">
                <a:solidFill>
                  <a:srgbClr val="16213A"/>
                </a:solidFill>
                <a:latin typeface="Arial"/>
                <a:ea typeface="Malgun Gothic"/>
                <a:cs typeface="Malgun Gothic"/>
              </a:rPr>
              <a:t> 정책 </a:t>
            </a:r>
            <a:r>
              <a:rPr sz="1050" b="0" i="1">
                <a:solidFill>
                  <a:srgbClr val="16213A"/>
                </a:solidFill>
                <a:latin typeface="Arial"/>
                <a:ea typeface="Malgun Gothic"/>
                <a:cs typeface="Malgun Gothic"/>
              </a:rPr>
              <a:t>πₒ</a:t>
            </a:r>
            <a:r>
              <a:rPr sz="1050" b="0" i="0">
                <a:solidFill>
                  <a:srgbClr val="16213A"/>
                </a:solidFill>
                <a:latin typeface="Arial"/>
                <a:ea typeface="Malgun Gothic"/>
                <a:cs typeface="Malgun Gothic"/>
              </a:rPr>
              <a:t>는 길이 </a:t>
            </a:r>
            <a:r>
              <a:rPr sz="1050" b="0" i="1">
                <a:solidFill>
                  <a:srgbClr val="16213A"/>
                </a:solidFill>
                <a:latin typeface="Arial"/>
                <a:ea typeface="Malgun Gothic"/>
                <a:cs typeface="Malgun Gothic"/>
              </a:rPr>
              <a:t>l = 16</a:t>
            </a:r>
            <a:r>
              <a:rPr sz="1050" b="0" i="0">
                <a:solidFill>
                  <a:srgbClr val="16213A"/>
                </a:solidFill>
                <a:latin typeface="Arial"/>
                <a:ea typeface="Malgun Gothic"/>
                <a:cs typeface="Malgun Gothic"/>
              </a:rPr>
              <a:t>의 이력 </a:t>
            </a:r>
            <a:r>
              <a:rPr sz="1050" b="0" i="1">
                <a:solidFill>
                  <a:srgbClr val="16213A"/>
                </a:solidFill>
                <a:latin typeface="Arial"/>
                <a:ea typeface="Malgun Gothic"/>
                <a:cs typeface="Malgun Gothic"/>
              </a:rPr>
              <a:t>(oₜ, aₜ₋₁, oₜ₋₁, …, oₜ₋ₗ₊₁, aₜ₋ₗ)</a:t>
            </a:r>
            <a:r>
              <a:rPr sz="1050" b="0" i="0">
                <a:solidFill>
                  <a:srgbClr val="16213A"/>
                </a:solidFill>
                <a:latin typeface="Arial"/>
                <a:ea typeface="Malgun Gothic"/>
                <a:cs typeface="Malgun Gothic"/>
              </a:rPr>
              <a:t>을 받아 </a:t>
            </a:r>
            <a:r>
              <a:rPr sz="1050" b="0" i="1">
                <a:solidFill>
                  <a:srgbClr val="16213A"/>
                </a:solidFill>
                <a:latin typeface="Arial"/>
                <a:ea typeface="Malgun Gothic"/>
                <a:cs typeface="Malgun Gothic"/>
              </a:rPr>
              <a:t>aₜ</a:t>
            </a:r>
            <a:r>
              <a:rPr sz="1050" b="0" i="0">
                <a:solidFill>
                  <a:srgbClr val="16213A"/>
                </a:solidFill>
                <a:latin typeface="Arial"/>
                <a:ea typeface="Malgun Gothic"/>
                <a:cs typeface="Malgun Gothic"/>
              </a:rPr>
              <a:t>를 낸다. 관측–행동 쌍 하나가 토큰 하나다. 토큰은 MLP(512·512)로 임베딩하고 사인 위치 인코딩을 더한 뒤, 앞쪽 토큰만 보는 self-attention에 넣는다(블록 4·임베딩 192·헤드 4). 행동 머리는 MLP(256·128)이고, 교사는 MLP(512·512·256·128)다. actor와 critic은 가중치를 나누지 않고, critic은 늘 상태를 본다. v1 표 III을 보면 교사와 critic이 보는 상태에는 높이 지도 121칸이 있다. 학생 actor는 그것을 보지 않는다.</a:t>
            </a:r>
          </a:p>
        </p:txBody>
      </p:sp>
      <p:sp>
        <p:nvSpPr>
          <p:cNvPr id="7" name="TextBox 6"/>
          <p:cNvSpPr txBox="1"/>
          <p:nvPr/>
        </p:nvSpPr>
        <p:spPr>
          <a:xfrm>
            <a:off x="609600" y="2721372"/>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목적식.</a:t>
            </a:r>
            <a:r>
              <a:rPr sz="1050" b="0" i="0">
                <a:solidFill>
                  <a:srgbClr val="16213A"/>
                </a:solidFill>
                <a:latin typeface="Arial"/>
                <a:ea typeface="Malgun Gothic"/>
                <a:cs typeface="Malgun Gothic"/>
              </a:rPr>
              <a:t> 학생은 RL 손실과 교사와의 KL 발산을 함께 줄인다.</a:t>
            </a:r>
          </a:p>
        </p:txBody>
      </p:sp>
      <p:pic>
        <p:nvPicPr>
          <p:cNvPr id="8" name="Picture 7" descr="image.png"/>
          <p:cNvPicPr>
            <a:picLocks noChangeAspect="1"/>
          </p:cNvPicPr>
          <p:nvPr/>
        </p:nvPicPr>
        <p:blipFill>
          <a:blip r:embed="rId3"/>
          <a:stretch>
            <a:fillRect/>
          </a:stretch>
        </p:blipFill>
        <p:spPr>
          <a:xfrm>
            <a:off x="609600" y="3026767"/>
            <a:ext cx="2549525" cy="241300"/>
          </a:xfrm>
          <a:prstGeom prst="rect">
            <a:avLst/>
          </a:prstGeom>
        </p:spPr>
      </p:pic>
      <p:sp>
        <p:nvSpPr>
          <p:cNvPr id="9" name="TextBox 8"/>
          <p:cNvSpPr txBox="1"/>
          <p:nvPr/>
        </p:nvSpPr>
        <p:spPr>
          <a:xfrm>
            <a:off x="609600" y="3304282"/>
            <a:ext cx="10972800" cy="432991"/>
          </a:xfrm>
          <a:prstGeom prst="rect">
            <a:avLst/>
          </a:prstGeom>
          <a:noFill/>
        </p:spPr>
        <p:txBody>
          <a:bodyPr wrap="square" lIns="0" rIns="0" tIns="0" bIns="0" anchor="t">
            <a:spAutoFit/>
            <a:normAutofit/>
          </a:bodyPr>
          <a:lstStyle/>
          <a:p>
            <a:r>
              <a:rPr sz="1050" b="0" i="1">
                <a:solidFill>
                  <a:srgbClr val="16213A"/>
                </a:solidFill>
                <a:latin typeface="Arial"/>
                <a:ea typeface="Malgun Gothic"/>
                <a:cs typeface="Malgun Gothic"/>
              </a:rPr>
              <a:t>λ</a:t>
            </a:r>
            <a:r>
              <a:rPr sz="1050" b="0" i="0">
                <a:solidFill>
                  <a:srgbClr val="16213A"/>
                </a:solidFill>
                <a:latin typeface="Arial"/>
                <a:ea typeface="Malgun Gothic"/>
                <a:cs typeface="Malgun Gothic"/>
              </a:rPr>
              <a:t>는 학습이 진행되면서 줄고, 대개 학습 지평의 중간에서 0이 된다. 그래서 학생은 초반에는 교사에게 배우고, 뒤에는 교사를 넘어설 수 있다. 두 항 모두 on-policy로 최적화하므로 미리 계산한 궤적이나 오프라인 데이터가 필요 없다.</a:t>
            </a:r>
          </a:p>
        </p:txBody>
      </p:sp>
      <p:sp>
        <p:nvSpPr>
          <p:cNvPr id="10" name="TextBox 9"/>
          <p:cNvSpPr txBox="1"/>
          <p:nvPr/>
        </p:nvSpPr>
        <p:spPr>
          <a:xfrm>
            <a:off x="609600" y="3826173"/>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행동과 시뮬레이션.</a:t>
            </a:r>
            <a:r>
              <a:rPr sz="1050" b="0" i="0">
                <a:solidFill>
                  <a:srgbClr val="16213A"/>
                </a:solidFill>
                <a:latin typeface="Arial"/>
                <a:ea typeface="Malgun Gothic"/>
                <a:cs typeface="Malgun Gothic"/>
              </a:rPr>
              <a:t> 행동은 구동 관절 16개의 PD 목표와 다리 관절 8개의 PD 이득이다. 발가락 모터 넷은 학습하지 않고, 고정 이득으로 기본 자세에 둔다. Isaac Gym은 닫힌 사슬과 비구동 관절을 다루지 못한다. 그래서 막대를 강성이 큰 가상 스프링으로 두고, 교대 sub-step으로 스프링 길이를 바로잡았다. 저자들은 동역학·지형·지연 무작위화의 조합이 sim-to-real의 관건이었다고 적는다.</a:t>
            </a:r>
          </a:p>
        </p:txBody>
      </p:sp>
      <p:sp>
        <p:nvSpPr>
          <p:cNvPr id="11" name="TextBox 10"/>
          <p:cNvSpPr txBox="1"/>
          <p:nvPr/>
        </p:nvSpPr>
        <p:spPr>
          <a:xfrm>
            <a:off x="609600" y="4348063"/>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학습 설정(arXiv v1의 표).</a:t>
            </a:r>
            <a:r>
              <a:rPr sz="1050" b="0" i="0">
                <a:solidFill>
                  <a:srgbClr val="16213A"/>
                </a:solidFill>
                <a:latin typeface="Arial"/>
                <a:ea typeface="Malgun Gothic"/>
                <a:cs typeface="Malgun Gothic"/>
              </a:rPr>
              <a:t> 최종판은 보상·관측 구성·무작위화 범위를 보충 자료로 옮겼다. 그 보충 자료는 확인하지 못해서 아래에 v1의 표를 옮긴다.</a:t>
            </a:r>
          </a:p>
        </p:txBody>
      </p:sp>
      <p:sp>
        <p:nvSpPr>
          <p:cNvPr id="12" name="TextBox 11"/>
          <p:cNvSpPr txBox="1"/>
          <p:nvPr/>
        </p:nvSpPr>
        <p:spPr>
          <a:xfrm>
            <a:off x="609600" y="4653459"/>
            <a:ext cx="10972800" cy="1158677"/>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PPO로 A100 4장에서 학습했다. 환경은 교사 8192개와 학생 4096개이고, 6000번 반복했다. 에피소드는 20 s다.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명령은 전진 −0.3–1.0 m/s, 옆 ±0.3 m/s, 회전 ±1.0 rad/s이고, 10 s마다 다시 뽑는다. 문턱(0.10 m/s, 0.26 rad/s)보다 작은 명령은 0으로 둔다.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무작위화 범위는 마찰 0.3–2.0배, 모터 세기 0.85–1.15배, P 이득 0.9–1.1배다.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보상은 지수형 속도 추종 둘(</a:t>
            </a:r>
            <a:r>
              <a:rPr sz="1050" b="0" i="1">
                <a:solidFill>
                  <a:srgbClr val="16213A"/>
                </a:solidFill>
                <a:latin typeface="Arial"/>
                <a:ea typeface="Malgun Gothic"/>
                <a:cs typeface="Malgun Gothic"/>
              </a:rPr>
              <a:t>σ = 0.2</a:t>
            </a:r>
            <a:r>
              <a:rPr sz="1050" b="0" i="0">
                <a:solidFill>
                  <a:srgbClr val="16213A"/>
                </a:solidFill>
                <a:latin typeface="Arial"/>
                <a:ea typeface="Malgun Gothic"/>
                <a:cs typeface="Malgun Gothic"/>
              </a:rPr>
              <a:t>)에 몸통 운동·자세·높이(하한 1.0 m)·발 궤적·토크·행동 변화율 같은 정규화 항을 더한다. 발 궤적의 수평은 Raibert 휴리스틱, 높이는 von Mises 분포를 따른다. 팔 흔들기를 시키는 항은 없다.</a:t>
            </a:r>
          </a:p>
        </p:txBody>
      </p:sp>
      <p:sp>
        <p:nvSpPr>
          <p:cNvPr id="13" name="TextBox 12"/>
          <p:cNvSpPr txBox="1"/>
          <p:nvPr/>
        </p:nvSpPr>
        <p:spPr>
          <a:xfrm>
            <a:off x="609600" y="5901035"/>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11개(문단·식·그림)는 대시보드 리서치 탭의 "자세히: Real-World Humanoid Locomotion의 방법과 수식" 토글에 있다.</a:t>
            </a:r>
          </a:p>
        </p:txBody>
      </p:sp>
    </p:spTree>
  </p:cSld>
  <p:clrMapOvr>
    <a:masterClrMapping/>
  </p:clrMapOvr>
</p:sld>
</file>

<file path=ppt/slides/slide42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1/20</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425 / 516</a:t>
            </a:r>
          </a:p>
        </p:txBody>
      </p:sp>
      <p:sp>
        <p:nvSpPr>
          <p:cNvPr id="5" name="TextBox 4"/>
          <p:cNvSpPr txBox="1"/>
          <p:nvPr/>
        </p:nvSpPr>
        <p:spPr>
          <a:xfrm>
            <a:off x="609600" y="1244600"/>
            <a:ext cx="10972800" cy="1298972"/>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Versatile Bipedal Locomotion — 짧은 입출력 이력과 긴 입출력 이력을 함께 보는 한 구조로 Cassie가 걷고 달리고 뛰었다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arXiv:2401.16889</a:t>
            </a:r>
            <a:r>
              <a:rPr sz="1050" b="0" i="0">
                <a:solidFill>
                  <a:srgbClr val="16213A"/>
                </a:solidFill>
                <a:latin typeface="Arial"/>
                <a:ea typeface="Malgun Gothic"/>
                <a:cs typeface="Malgun Gothic"/>
              </a:rPr>
              <a:t>, Li·Peng·Abbeel·Levine·Berseth·Sreenath, IJRR 44(5) 2025, </a:t>
            </a:r>
            <a:r>
              <a:rPr sz="1050" b="0" i="0">
                <a:solidFill>
                  <a:srgbClr val="1D4ED8"/>
                </a:solidFill>
                <a:latin typeface="Arial"/>
                <a:ea typeface="Malgun Gothic"/>
                <a:cs typeface="Malgun Gothic"/>
                <a:hlinkClick r:id="rId4"/>
              </a:rPr>
              <a:t>doi:10.1177/02783649241285161</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5"/>
              </a:rPr>
              <a:t>코드(걷기 예제)</a:t>
            </a:r>
            <a:r>
              <a:rPr sz="1050" b="0" i="0">
                <a:solidFill>
                  <a:srgbClr val="16213A"/>
                </a:solidFill>
                <a:latin typeface="Arial"/>
                <a:ea typeface="Malgun Gothic"/>
                <a:cs typeface="Malgun Gothic"/>
              </a:rPr>
              <a:t> CC BY-NC-SA 4.0). UC Berkeley Hybrid Robotics(Koushil Sreenath)가 Agility의 토크 제어 이족 로봇 Cassie로 한 연구다. 같은 정책 구조와 학습 절차로 서기, 걷기, 달리기, 뛰기를 기술마다 따로 학습했다. 정책은 명령과 기준 동작 미리보기(1·4·7스텝 앞)를 받는다. 입출력 이력은 최근 4스텝과 최근 2 s(66스텝)의 두 갈래로 받는다. 긴 이력은 1D CNN으로 압축해 MLP에 넣고, 짧은 이력은 MLP에 바로 넣는다. 정책은 33 Hz로 모터 10개의 목표 위치를 내고, 2 kHz 관절 PD가 뒤따른다. 학습은 MuJoCo에서 PPO로 하는 세 단계다. 한 과제를 먼저 익히고, 명령과 목표를 넓게 무작위화한 뒤(과제 무작위화), 마지막에 동역학을 무작위화한다. 실물에서 400 m를 2분 34초에 달렸고, 100 m 최고 기록은 27.06 s였다. 1.4 m 앞으로 뛰었고, 높이 0.44 m 단에 뛰어올랐다.</a:t>
            </a:r>
          </a:p>
        </p:txBody>
      </p:sp>
      <p:sp>
        <p:nvSpPr>
          <p:cNvPr id="6" name="TextBox 5"/>
          <p:cNvSpPr txBox="1"/>
          <p:nvPr/>
        </p:nvSpPr>
        <p:spPr>
          <a:xfrm>
            <a:off x="609600" y="2632472"/>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이 논문은 적응과 강건성이 어디서 오는지 나눠 쟀다. 긴 입출력 이력은 저역 통과 필터·PD·로봇 몸체·상태 추정기를 포함한 동역학을 식별하는 데 쓰였다. travplan의 학습 Controller(TP-0128)는 입출력 이력 없이 현재 관측(지도 조각·경로·현재 twist·자세)만 본다. 스워브 plant의 지연은 지금 rollout 모델에 손으로 넣는다(TP-0150). 과제 무작위화는 원문이 동역학·환경 무작위화와 따로 세운 강건성의 출처다. travplan에서 그에 가까운 것은 시연의 명령·소목표·속도 범위를 넓히는 일이다. 지형 레벨을 섞은 TP-0073은 환경 무작위화 쪽이다. 기록 지표에도 교훈이 있다. 400 m 주행의 평균 속도는 상태 추정으로 2.15 m/s였지만, 실제 기록(154 s)으로는 2.6 m/s였다. 고속에서 추정 속도를 지표로 쓰면 성적이 틀린다.</a:t>
            </a:r>
          </a:p>
        </p:txBody>
      </p:sp>
      <p:pic>
        <p:nvPicPr>
          <p:cNvPr id="7" name="Picture 6" descr="image.jpg"/>
          <p:cNvPicPr>
            <a:picLocks noChangeAspect="1"/>
          </p:cNvPicPr>
          <p:nvPr/>
        </p:nvPicPr>
        <p:blipFill>
          <a:blip r:embed="rId6"/>
          <a:stretch>
            <a:fillRect/>
          </a:stretch>
        </p:blipFill>
        <p:spPr>
          <a:xfrm>
            <a:off x="1016000" y="3587353"/>
            <a:ext cx="10160000" cy="2197100"/>
          </a:xfrm>
          <a:prstGeom prst="rect">
            <a:avLst/>
          </a:prstGeom>
        </p:spPr>
      </p:pic>
      <p:sp>
        <p:nvSpPr>
          <p:cNvPr id="8" name="TextBox 7"/>
          <p:cNvSpPr txBox="1"/>
          <p:nvPr/>
        </p:nvSpPr>
        <p:spPr>
          <a:xfrm>
            <a:off x="1016000" y="5822553"/>
            <a:ext cx="10160000" cy="142180"/>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Versatile Bipedal Locomotion (Fig. 1): (a) 걷다가 옆에서 밀려도 버티는 Cassie다. (b) 운동장 트랙을 달리고, 빨간 테두리는 두 발이 모두 뜬 비행 구간이다. (c) 1.4 m 앞으로 뛴다. 출처: arXiv:2401.16889</a:t>
            </a:r>
          </a:p>
        </p:txBody>
      </p:sp>
    </p:spTree>
  </p:cSld>
  <p:clrMapOvr>
    <a:masterClrMapping/>
  </p:clrMapOvr>
</p:sld>
</file>

<file path=ppt/slides/slide42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2/20</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426 / 516</a:t>
            </a:r>
          </a:p>
        </p:txBody>
      </p:sp>
      <p:sp>
        <p:nvSpPr>
          <p:cNvPr id="5" name="TextBox 4"/>
          <p:cNvSpPr txBox="1"/>
          <p:nvPr/>
        </p:nvSpPr>
        <p:spPr>
          <a:xfrm>
            <a:off x="609600" y="1244600"/>
            <a:ext cx="10972800" cy="1298972"/>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Humanoid Locomotion as Next Token Prediction(NTP) — 행동이 없는 기록까지 섞어, 다음 토큰을 예측하는 transformer로 걷는다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arXiv:2402.19469</a:t>
            </a:r>
            <a:r>
              <a:rPr sz="1050" b="0" i="0">
                <a:solidFill>
                  <a:srgbClr val="16213A"/>
                </a:solidFill>
                <a:latin typeface="Arial"/>
                <a:ea typeface="Malgun Gothic"/>
                <a:cs typeface="Malgun Gothic"/>
              </a:rPr>
              <a:t>, Radosavovic·Zhang·Shi·Rajasegaran·Kamat·Darrell·Sreenath·Malik, NeurIPS 2024, </a:t>
            </a:r>
            <a:r>
              <a:rPr sz="1050" b="0" i="0">
                <a:solidFill>
                  <a:srgbClr val="1D4ED8"/>
                </a:solidFill>
                <a:latin typeface="Arial"/>
                <a:ea typeface="Malgun Gothic"/>
                <a:cs typeface="Malgun Gothic"/>
                <a:hlinkClick r:id="rId4"/>
              </a:rPr>
              <a:t>프로젝트</a:t>
            </a:r>
            <a:r>
              <a:rPr sz="1050" b="0" i="0">
                <a:solidFill>
                  <a:srgbClr val="16213A"/>
                </a:solidFill>
                <a:latin typeface="Arial"/>
                <a:ea typeface="Malgun Gothic"/>
                <a:cs typeface="Malgun Gothic"/>
              </a:rPr>
              <a:t>). 같은 연구진이 같은 Digit에서 RL 대신 관측–행동 열의 다음 토큰 예측으로 걷는 정책을 학습했다. 데이터는 네 갈래다. HT 정책의 평지 궤적 1만 개(각 10 s)에는 관측과 행동이 다 있다. Agility 모델 기반 제어기의 궤적 두 묶음(각 1만 개)에는 관측만 있다. 나머지는 KIT 모션 캡처 약 1천 개와 YouTube 영상에서 복원한 사람 동작이다. 사람 데이터는 역기구학으로 로봇 자세로 옮겼다. 행동이 없는 궤적은 행동 자리를 학습하는 mask 토큰으로 채우고, 그 자리의 손실은 뺀다. 이 정책은 샌프란시스코 여러 곳에서 일주일 동안 걸었다. 시뮬레이션 추종 오차는 데이터를 준 HT 정책보다 낮았다(245회). 상태와 행동을 함께 예측한 모델의 추종 오차가 행동만 예측한 모델보다 낮았다(0.305 대 0.335, 원문 표 1).</a:t>
            </a:r>
          </a:p>
        </p:txBody>
      </p:sp>
      <p:sp>
        <p:nvSpPr>
          <p:cNvPr id="6" name="TextBox 5"/>
          <p:cNvSpPr txBox="1"/>
          <p:nvPr/>
        </p:nvSpPr>
        <p:spPr>
          <a:xfrm>
            <a:off x="609600" y="2632472"/>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Planner D도 Guidance + MPPI 시연을 따라 배우는 생성 정책이다(B.8.3). 옮길 것이 둘이다. 하나는 오프라인 지표다. 모델 14개에서 검증 데이터의 예측 오차와 폐루프 추종 오차의 상관이 r = 0.87이었다. travplan의 짝 비교(TP-0156)는 비싸다. Planner D의 검증 손실이 폐루프 도달 수를 얼마나 맞히는지 재 두면 학습 후보를 싸게 거를 수 있다. 다른 하나는 행동 없는 기록이다. Planner D가 상태(포즈) 열도 함께 생성하도록 바꾸면, 제어 입력이 없는 보행 기록도 mask 토큰처럼 학습에 넣을 수 있다. 지금 구조(제어 변화율만 생성)에서는 바로 쓰지 못한다. 원문의 '뒤로 걷기 일반화'는 조심해서 읽는다. 행동이 붙은 데이터에는 뒤로 걷기가 없었지만, 관측만 있는 모델 기반 데이터의 전진 명령은 −1–1 m/s에서 뽑았다.</a:t>
            </a:r>
          </a:p>
        </p:txBody>
      </p:sp>
    </p:spTree>
  </p:cSld>
  <p:clrMapOvr>
    <a:masterClrMapping/>
  </p:clrMapOvr>
</p:sld>
</file>

<file path=ppt/slides/slide42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3/20</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427 / 516</a:t>
            </a:r>
          </a:p>
        </p:txBody>
      </p:sp>
      <p:pic>
        <p:nvPicPr>
          <p:cNvPr id="5" name="Picture 4" descr="image.jpg"/>
          <p:cNvPicPr>
            <a:picLocks noChangeAspect="1"/>
          </p:cNvPicPr>
          <p:nvPr/>
        </p:nvPicPr>
        <p:blipFill>
          <a:blip r:embed="rId3"/>
          <a:stretch>
            <a:fillRect/>
          </a:stretch>
        </p:blipFill>
        <p:spPr>
          <a:xfrm>
            <a:off x="4070350" y="1244600"/>
            <a:ext cx="4051300" cy="4445000"/>
          </a:xfrm>
          <a:prstGeom prst="rect">
            <a:avLst/>
          </a:prstGeom>
        </p:spPr>
      </p:pic>
      <p:sp>
        <p:nvSpPr>
          <p:cNvPr id="6" name="TextBox 5"/>
          <p:cNvSpPr txBox="1"/>
          <p:nvPr/>
        </p:nvSpPr>
        <p:spPr>
          <a:xfrm>
            <a:off x="4070350" y="5727700"/>
            <a:ext cx="4051300" cy="568722"/>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Humanoid Locomotion as Next Token Prediction (Fig. 1): 샌프란시스코의 궁전 건물 앞, 시청 앞, 금문교가 보이는 해변 길, 주택가 보도, 언덕 공원, 도심 횡단보도, 벽화 골목, 케이블카가 지나는 거리, 페리 빌딩 앞 광장, 지하철역 입구에서 걷는 Digit이다. 원문은 보도·콘크리트·아스팔트·타일 광장·모래 깔린 길을 일주일 동안 걸었다고 적는다. 출처: arXiv:2402.19469</a:t>
            </a:r>
          </a:p>
        </p:txBody>
      </p:sp>
    </p:spTree>
  </p:cSld>
  <p:clrMapOvr>
    <a:masterClrMapping/>
  </p:clrMapOvr>
</p:sld>
</file>

<file path=ppt/slides/slide42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4/20</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428 / 516</a:t>
            </a:r>
          </a:p>
        </p:txBody>
      </p:sp>
      <p:sp>
        <p:nvSpPr>
          <p:cNvPr id="5" name="TextBox 4"/>
          <p:cNvSpPr txBox="1"/>
          <p:nvPr/>
        </p:nvSpPr>
        <p:spPr>
          <a:xfrm>
            <a:off x="609600" y="1244600"/>
            <a:ext cx="10972800" cy="151546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Berkeley Humanoid — 시뮬레이션하기 쉽게 설계한 16 kg 휴머노이드는 이력 없는 MLP 정책으로도 실외 산길을 걸었다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arXiv:2407.21781</a:t>
            </a:r>
            <a:r>
              <a:rPr sz="1050" b="0" i="0">
                <a:solidFill>
                  <a:srgbClr val="16213A"/>
                </a:solidFill>
                <a:latin typeface="Arial"/>
                <a:ea typeface="Malgun Gothic"/>
                <a:cs typeface="Malgun Gothic"/>
              </a:rPr>
              <a:t>, Liao·Zhang·Huang·Huang·Li·Sreenath, ICRA 2025, </a:t>
            </a:r>
            <a:r>
              <a:rPr sz="1050" b="0" i="0">
                <a:solidFill>
                  <a:srgbClr val="1D4ED8"/>
                </a:solidFill>
                <a:latin typeface="Arial"/>
                <a:ea typeface="Malgun Gothic"/>
                <a:cs typeface="Malgun Gothic"/>
                <a:hlinkClick r:id="rId4"/>
              </a:rPr>
              <a:t>프로젝트</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5"/>
              </a:rPr>
              <a:t>코드</a:t>
            </a:r>
            <a:r>
              <a:rPr sz="1050" b="0" i="0">
                <a:solidFill>
                  <a:srgbClr val="16213A"/>
                </a:solidFill>
                <a:latin typeface="Arial"/>
                <a:ea typeface="Malgun Gothic"/>
                <a:cs typeface="Malgun Gothic"/>
              </a:rPr>
              <a:t> BSD-3-Clause). Hybrid Robotics가 직접 만든 연구용 휴머노이드다. 키 0.85 m, 16 kg이고, 다리 둘이 각각 6자유도다. 구동기를 관절에 바로 붙이거나 관절과 선형으로 이어, 시뮬레이터가 틀리기 쉬운 링크 구조를 피했다. 무작위화는 두 종류로 나눴다. CAD와 간단한 시험으로 잴 수 있는 로봇 물성은 좁게 두고, 장소마다 다른 지면 마찰·반발·외력은 넓게 둔다. 흔히 쓰는 '모터 세기' 비율이나 PD 이득 무작위화는 분석하기 어려운 손쉬운 근사로 보고 쓰지 않았다. 정책은 이력도 위상 신호도 없는 MLP(512·256·128)이고, Isaac Lab에서 PPO로 학습해 50 Hz로 돈다. 캠퍼스를 10분 동안 364 m 걸었고, 비포장 산길을 5분 넘게 96 m 올랐다(고도 10.5 m). 원문은 이 산길의 경사를 평균 20°로 적는데, 96 m에 10.5 m는 평균 약 6°다(우리 계산). 60 s 시험의 속도 추종 오차는 전후 방향이 시뮬레이션 0.051 m/s, 실물 0.058 m/s였다. 좌우 방향은 0.086 m/s와 0.1156 m/s였다. 후속 Berkeley Humanoid Lite(RSS 2025, </a:t>
            </a:r>
            <a:r>
              <a:rPr sz="1050" b="0" i="0">
                <a:solidFill>
                  <a:srgbClr val="1D4ED8"/>
                </a:solidFill>
                <a:latin typeface="Arial"/>
                <a:ea typeface="Malgun Gothic"/>
                <a:cs typeface="Malgun Gothic"/>
                <a:hlinkClick r:id="rId6"/>
              </a:rPr>
              <a:t>arXiv:2504.17249</a:t>
            </a:r>
            <a:r>
              <a:rPr sz="1050" b="0" i="0">
                <a:solidFill>
                  <a:srgbClr val="16213A"/>
                </a:solidFill>
                <a:latin typeface="Arial"/>
                <a:ea typeface="Malgun Gothic"/>
                <a:cs typeface="Malgun Gothic"/>
              </a:rPr>
              <a:t>)는 3D 프린트 감속기와 시중 부품으로 만든 5,000달러 이하 휴머노이드다.</a:t>
            </a:r>
          </a:p>
        </p:txBody>
      </p:sp>
      <p:sp>
        <p:nvSpPr>
          <p:cNvPr id="6" name="TextBox 5"/>
          <p:cNvSpPr txBox="1"/>
          <p:nvPr/>
        </p:nvSpPr>
        <p:spPr>
          <a:xfrm>
            <a:off x="609600" y="2848967"/>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무작위화를 '잴 수 있는 것'과 '잴 수 없는 것'으로 나눈 원칙은 스워브 plant와 바로 닿는다. 배달로봇 모듈 파라미터(TP-0035)는 모듈 위치·비동축 오프셋·바퀴 반지름·조향 속도 한계다. 이 값을 받으면 측정값 근처로 좁히고, 지면 미끄럼(TP-0033)처럼 장소마다 다른 값만 넓게 흔든다. 같은 정책의 속도 추종 오차를 시뮬레이션과 실물에서 나란히 잰 방식은, 실물이 생겼을 때 plant 보정이 끝났는지 판정하는 간단한 기준이 된다(시뮬레이션 문서 S.6.2).</a:t>
            </a:r>
          </a:p>
        </p:txBody>
      </p:sp>
    </p:spTree>
  </p:cSld>
  <p:clrMapOvr>
    <a:masterClrMapping/>
  </p:clrMapOvr>
</p:sld>
</file>

<file path=ppt/slides/slide42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5/20</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429 / 516</a:t>
            </a:r>
          </a:p>
        </p:txBody>
      </p:sp>
      <p:pic>
        <p:nvPicPr>
          <p:cNvPr id="5" name="Picture 4" descr="image.jpg"/>
          <p:cNvPicPr>
            <a:picLocks noChangeAspect="1"/>
          </p:cNvPicPr>
          <p:nvPr/>
        </p:nvPicPr>
        <p:blipFill>
          <a:blip r:embed="rId3"/>
          <a:stretch>
            <a:fillRect/>
          </a:stretch>
        </p:blipFill>
        <p:spPr>
          <a:xfrm>
            <a:off x="1016000" y="1244600"/>
            <a:ext cx="10160000" cy="2825750"/>
          </a:xfrm>
          <a:prstGeom prst="rect">
            <a:avLst/>
          </a:prstGeom>
        </p:spPr>
      </p:pic>
      <p:sp>
        <p:nvSpPr>
          <p:cNvPr id="6" name="TextBox 5"/>
          <p:cNvSpPr txBox="1"/>
          <p:nvPr/>
        </p:nvSpPr>
        <p:spPr>
          <a:xfrm>
            <a:off x="1016000" y="4108450"/>
            <a:ext cx="10160000" cy="142180"/>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Berkeley Humanoid (Fig. 1): (a) 경량 중형 휴머노이드의 CAD 설계, (b) Isaac Lab의 계단 지형에서 하는 병렬 학습, (c) 실내 블록 계단, 캠퍼스 화단과 나무다리, 시계탑 앞 잔디, 흙 비탈에서의 실물 배치다. 출처: arXiv:2407.21781</a:t>
            </a:r>
          </a:p>
        </p:txBody>
      </p:sp>
    </p:spTree>
  </p:cSld>
  <p:clrMapOvr>
    <a:masterClrMapping/>
  </p:clrMapOvr>
</p:sld>
</file>

<file path=ppt/slides/slide43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6/20</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430 / 516</a:t>
            </a:r>
          </a:p>
        </p:txBody>
      </p:sp>
      <p:sp>
        <p:nvSpPr>
          <p:cNvPr id="5" name="TextBox 4"/>
          <p:cNvSpPr txBox="1"/>
          <p:nvPr/>
        </p:nvSpPr>
        <p:spPr>
          <a:xfrm>
            <a:off x="609600" y="1244600"/>
            <a:ext cx="10972800" cy="1948458"/>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HT-2(Learning Humanoid Locomotion over Challenging Terrain) — 평지 궤적으로 사전학습한 transformer를 험지에서 RL로 미세 조정해, Digit이 산길 약 4.3마일과 경사 31% 도로를 걸었다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arXiv:2410.03654</a:t>
            </a:r>
            <a:r>
              <a:rPr sz="1050" b="0" i="0">
                <a:solidFill>
                  <a:srgbClr val="16213A"/>
                </a:solidFill>
                <a:latin typeface="Arial"/>
                <a:ea typeface="Malgun Gothic"/>
                <a:cs typeface="Malgun Gothic"/>
              </a:rPr>
              <a:t>, Radosavovic·Kamat·Darrell·Malik, arXiv 2024-10, </a:t>
            </a:r>
            <a:r>
              <a:rPr sz="1050" b="0" i="0">
                <a:solidFill>
                  <a:srgbClr val="1D4ED8"/>
                </a:solidFill>
                <a:latin typeface="Arial"/>
                <a:ea typeface="Malgun Gothic"/>
                <a:cs typeface="Malgun Gothic"/>
                <a:hlinkClick r:id="rId4"/>
              </a:rPr>
              <a:t>프로젝트</a:t>
            </a:r>
            <a:r>
              <a:rPr sz="1050" b="0" i="0">
                <a:solidFill>
                  <a:srgbClr val="16213A"/>
                </a:solidFill>
                <a:latin typeface="Arial"/>
                <a:ea typeface="Malgun Gothic"/>
                <a:cs typeface="Malgun Gothic"/>
              </a:rPr>
              <a:t>). 같은 연구진의 세 번째 Digit 논문이고, HT-2는 Humanoid Transformer 2의 줄임이다. 정식 발표처와 공개 코드는 찾지 못했다(2026-10-07). 인식 문서 A.8.2의 HPC(Learning Perceptive Humanoid Locomotion over Challenging Terrain)와 제목이 거의 같지만 다른 논문이다. 구조는 HT와 같은 causal transformer(문맥 16, 파라미터 1.4M)이고, 학습만 두 단계로 바꿨다. 먼저 NTP 방식으로 평지 궤적을 시퀀스 모델링해 사전학습한다. 데이터는 HT 정책의 궤적, 행동이 없는 모델 기반 제어기 궤적, 사람 모션 캡처와 영상이다. 그다음 MuJoCo에서 PPO로 미세 조정한다. 지형은 평지·거친 평지·매끈한 경사·거친 경사·낮은 장애물·언덕의 여섯 종이다. 경사는 2–20%, 장애물 높이는 0.5–5 cm다. 원문의 미세 조정 절은 모방 항 없이 PPO 보상만 적는다. 대신 사전학습 가중치에서 시작하고, 탐색 잡음(초기 표준편차 0.135)과 actor 학습률(1e-5)을 작게 둔다. 미세 조정은 A10 GPU 한 장에서 했고, 환경 단계 약 1억 번은 CPU 병렬 MuJoCo로 약 하루에 모았다. 정책은 카메라 없이 걷고, critic만 높이 지도 121칸을 포함한 특권 상태를 본다(보충 표 S1). 실물 시험은 2024-05 중순부터 약 2주 동안 했다. 버클리 산길 다섯 곳(합쳐 약 4.3마일)을 모두 완주했다. 샌프란시스코 Russian Hill에서는 경사 31% 도로를 포함해 시험한 거리를 모두 지났다. MuJoCo에서 HT와 256회씩 비교하면 오르막에서 차이가 가장 컸고, HT는 난이도가 오를수록 빨리 무너졌다. 처음부터 RL로 학습한 정책은 두 배의 환경 단계를 써도 미세 조정한 정책보다 못했고, 걸음이 비대칭이었다.</a:t>
            </a:r>
          </a:p>
        </p:txBody>
      </p:sp>
      <p:sp>
        <p:nvSpPr>
          <p:cNvPr id="6" name="TextBox 5"/>
          <p:cNvSpPr txBox="1"/>
          <p:nvPr/>
        </p:nvSpPr>
        <p:spPr>
          <a:xfrm>
            <a:off x="609600" y="3281958"/>
            <a:ext cx="10972800" cy="108247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구조가 Planner D와 TP-0066의 조합과 같다. 시연(Guidance + MPPI)으로 사전학습한 생성 Planner를 폐루프 RL로 후학습한다. 사전학습을 지키는 장치는 다르다. TP-0066은 모방 손실 가중 λ = 0.5를 걸었고, HT-2는 모방 항 없이 작은 탐색 잡음과 낮은 학습률로 지켰다. HT는 교사 KL 가중을 학습 중에 0으로 내렸다. travplan에 옮기면 고정 λ, 학습 중 0으로 내리는 λ, 모방 항 없이 낮은 학습률의 세 판이 된다. 이 셋을 같은 짝 비교(TP-0156의 2층 절차)로 재는 것이 TP-0066 후속 실험의 설계다. 그림의 경사 15–31%를 travplan의 기하 비용(</a:t>
            </a:r>
            <a:r>
              <a:rPr sz="1050" b="0" i="0">
                <a:solidFill>
                  <a:srgbClr val="16213A"/>
                </a:solidFill>
                <a:latin typeface="Consolas"/>
                <a:ea typeface="Malgun Gothic"/>
                <a:cs typeface="Malgun Gothic"/>
              </a:rPr>
              <a:t>GeometricTravConfig</a:t>
            </a:r>
            <a:r>
              <a:rPr sz="1050" b="0" i="0">
                <a:solidFill>
                  <a:srgbClr val="16213A"/>
                </a:solidFill>
                <a:latin typeface="Arial"/>
                <a:ea typeface="Malgun Gothic"/>
                <a:cs typeface="Malgun Gothic"/>
              </a:rPr>
              <a:t>의 경사 한계 0.26 rad)으로 옮기면 15%는 cost 약 0.39이고, 26%와 31%는 치명 셀이다(우리 계산). 저자들은 카메라가 없으면 연석 같은 턱은 운 좋게 넘거나 부딪혀서 알아챌 수밖에 없다고 적는다. 턱 한계가 0.08 m인 스워브에게는 부딪혀서 아는 것이 곧 치명이다(Controller 문서 E.12).</a:t>
            </a:r>
          </a:p>
        </p:txBody>
      </p:sp>
    </p:spTree>
  </p:cSld>
  <p:clrMapOvr>
    <a:masterClrMapping/>
  </p:clrMapOvr>
</p:sld>
</file>

<file path=ppt/slides/slide43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7/20</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431 / 516</a:t>
            </a:r>
          </a:p>
        </p:txBody>
      </p:sp>
      <p:pic>
        <p:nvPicPr>
          <p:cNvPr id="5" name="Picture 4" descr="image.jpg"/>
          <p:cNvPicPr>
            <a:picLocks noChangeAspect="1"/>
          </p:cNvPicPr>
          <p:nvPr/>
        </p:nvPicPr>
        <p:blipFill>
          <a:blip r:embed="rId3"/>
          <a:stretch>
            <a:fillRect/>
          </a:stretch>
        </p:blipFill>
        <p:spPr>
          <a:xfrm>
            <a:off x="2139950" y="1244600"/>
            <a:ext cx="7912100" cy="4445000"/>
          </a:xfrm>
          <a:prstGeom prst="rect">
            <a:avLst/>
          </a:prstGeom>
        </p:spPr>
      </p:pic>
      <p:sp>
        <p:nvSpPr>
          <p:cNvPr id="6" name="TextBox 5"/>
          <p:cNvSpPr txBox="1"/>
          <p:nvPr/>
        </p:nvSpPr>
        <p:spPr>
          <a:xfrm>
            <a:off x="2139950" y="5727700"/>
            <a:ext cx="79121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HT-2 (Fig. 3): 샌프란시스코 Russian Hill의 Green·Leavenworth·Broadway·Jones 거리에서 걷는 Digit이다. 사진마다 경사(15–31%)가 적혀 있고, 가운데 항공 사진의 청록 선이 걸은 길이다. 보도와 차도를 모두 지났고, 31% 두 장은 차가 늘어선 도로다. 출처: arXiv:2410.03654</a:t>
            </a:r>
          </a:p>
        </p:txBody>
      </p:sp>
    </p:spTree>
  </p:cSld>
  <p:clrMapOvr>
    <a:masterClrMapping/>
  </p:clrMapOvr>
</p:sld>
</file>

<file path=ppt/slides/slide43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8/20</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432 / 516</a:t>
            </a:r>
          </a:p>
        </p:txBody>
      </p:sp>
      <p:sp>
        <p:nvSpPr>
          <p:cNvPr id="5" name="TextBox 4"/>
          <p:cNvSpPr txBox="1"/>
          <p:nvPr/>
        </p:nvSpPr>
        <p:spPr>
          <a:xfrm>
            <a:off x="609600" y="1244600"/>
            <a:ext cx="10972800" cy="1948458"/>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Agility Robotics의 Digit — 하체 제어를 Isaac Lab 학습 정책으로 옮기고, 위 층과는 위치 목표로 말한다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Crossing the Sim2Real Gap With NVIDIA Isaac Lab, 2024-10-31</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4"/>
              </a:rPr>
              <a:t>Training a Whole-Body Control Foundation Model, 2025-08-28</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5"/>
              </a:rPr>
              <a:t>Agility and AI, 2026-03-16</a:t>
            </a:r>
            <a:r>
              <a:rPr sz="1050" b="0" i="0">
                <a:solidFill>
                  <a:srgbClr val="16213A"/>
                </a:solidFill>
                <a:latin typeface="Arial"/>
                <a:ea typeface="Malgun Gothic"/>
                <a:cs typeface="Malgun Gothic"/>
              </a:rPr>
              <a:t>). Agility는 2015년 Oregon State University(OSU)의 Dynamic Robotics Lab에서 나왔다. 이족 로봇 Cassie는 2016년에 첫걸음을 뗐고, 그다음이 휴머노이드 Digit이다(회사 소개). OSU의 Siekmann 외(Fern·Hurst 공저)는 힘과 속도에 거는 확률적 주기 비용을 합성해, Cassie의 서기·걷기·깡충 뛰기·달리기·스킵을 sim-to-real RL로 학습했다(</a:t>
            </a:r>
            <a:r>
              <a:rPr sz="1050" b="0" i="0">
                <a:solidFill>
                  <a:srgbClr val="1D4ED8"/>
                </a:solidFill>
                <a:latin typeface="Arial"/>
                <a:ea typeface="Malgun Gothic"/>
                <a:cs typeface="Malgun Gothic"/>
                <a:hlinkClick r:id="rId6"/>
              </a:rPr>
              <a:t>ICRA 2021</a:t>
            </a:r>
            <a:r>
              <a:rPr sz="1050" b="0" i="0">
                <a:solidFill>
                  <a:srgbClr val="16213A"/>
                </a:solidFill>
                <a:latin typeface="Arial"/>
                <a:ea typeface="Malgun Gothic"/>
                <a:cs typeface="Malgun Gothic"/>
              </a:rPr>
              <a:t>). 이어서 보상은 그대로 두고 계단 모양 지형 무작위화만 더해, 외부 인식 없이 실제 계단을 오르내렸다(</a:t>
            </a:r>
            <a:r>
              <a:rPr sz="1050" b="0" i="0">
                <a:solidFill>
                  <a:srgbClr val="1D4ED8"/>
                </a:solidFill>
                <a:latin typeface="Arial"/>
                <a:ea typeface="Malgun Gothic"/>
                <a:cs typeface="Malgun Gothic"/>
                <a:hlinkClick r:id="rId7"/>
              </a:rPr>
              <a:t>RSS 2021</a:t>
            </a:r>
            <a:r>
              <a:rPr sz="1050" b="0" i="0">
                <a:solidFill>
                  <a:srgbClr val="16213A"/>
                </a:solidFill>
                <a:latin typeface="Arial"/>
                <a:ea typeface="Malgun Gothic"/>
                <a:cs typeface="Malgun Gothic"/>
              </a:rPr>
              <a:t>). 이 논문에는 Siekmann과 Hurst의 소속으로 Agility Robotics가 함께 적혀 있다. 아래 Agility 자료는 모두 회사 블로그이고, 논문이나 독립 검증은 없다. 2024년 글은 많은 동작을 단순 물리 모델과 역동역학으로 제어해 왔다고 적고, 모델 기반 제어기와 RL 제어기의 발 디딤 회복을 비교한 그림을 실었다. 초기 Isaac Lab 정책은 시뮬레이션에서 잘 걷고 실물에서 미끄러졌다. 원인을 찾는 데 6개월이 걸렸다. 원인은 발가락 판의 충돌 형상 단순화, 구동기와 변속기의 에너지 전달 오차, 닫힌 링크 구속 풀이의 불안정이었다. 그 뒤 보상을 덧댐 항 대신 에너지와 대칭 같은 몇 개로 줄였다. 2025-08 글은 전신 제어 기반 모델을 소개했다. 100만 개 미만 파라미터의 LSTM을 Isaac Sim에서 3–4일 동안 수십 년 분량의 시뮬레이션 시간으로 학습해 실물에 바로 올렸다. 이 정책은 손과 몸통의 자유 공간 위치·자세 목표를 받고, 필요하면 스스로 걸음을 옮긴다. 2026-03 글은 스택을 세 층으로 설명한다. 인지 층은 LLM과 VLA 모델을 쓴다. 기술 층은 시연 학습을, 제어 층은 RL과 시뮬레이션을 쓴다.</a:t>
            </a:r>
          </a:p>
        </p:txBody>
      </p:sp>
      <p:sp>
        <p:nvSpPr>
          <p:cNvPr id="6" name="TextBox 5"/>
          <p:cNvSpPr txBox="1"/>
          <p:nvPr/>
        </p:nvSpPr>
        <p:spPr>
          <a:xfrm>
            <a:off x="609600" y="3281958"/>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Agility가 밝힌 인터페이스 선택은 travplan의 결정과 같은 쪽이다. 2025-08 글은 ExBody·ExBody2·HumanPlus·GMT를 속도 목표형으로, OmniH2O·HOVER를 위치 목표도 받는 쪽으로 나눈다. 속도 목표를 받는 하체 정책에는 위치 오차를 고칠 상위 Planner나 사람이 계속 붙어 있어야 한다. 그래서 Agility는 '이 점으로 가라'는 위치 목표를 택했다. travplan의 Planner도 경로나 시간 인덱스 궤적(</a:t>
            </a:r>
            <a:r>
              <a:rPr sz="1050" b="0" i="0">
                <a:solidFill>
                  <a:srgbClr val="16213A"/>
                </a:solidFill>
                <a:latin typeface="Consolas"/>
                <a:ea typeface="Malgun Gothic"/>
                <a:cs typeface="Malgun Gothic"/>
              </a:rPr>
              <a:t>PlanResult</a:t>
            </a:r>
            <a:r>
              <a:rPr sz="1050" b="0" i="0">
                <a:solidFill>
                  <a:srgbClr val="16213A"/>
                </a:solidFill>
                <a:latin typeface="Arial"/>
                <a:ea typeface="Malgun Gothic"/>
                <a:cs typeface="Malgun Gothic"/>
              </a:rPr>
              <a:t>)을 넘기고, Controller가 그 위치 오차를 고쳐 body twist를 낸다. 시뮬레이션의 접촉 모델을 6개월 동안 고친 경험은, 보상 항을 늘리기 전에 시뮬레이터가 틀린 이유를 먼저 찾으라는 교훈이다. travplan에서는 스워브 바퀴의 미끄럼(TP-0033)이 같은 자리다.</a:t>
            </a:r>
          </a:p>
        </p:txBody>
      </p:sp>
    </p:spTree>
  </p:cSld>
  <p:clrMapOvr>
    <a:masterClrMapping/>
  </p:clrMapOvr>
</p:sld>
</file>

<file path=ppt/slides/slide43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9/20</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433 / 516</a:t>
            </a:r>
          </a:p>
        </p:txBody>
      </p:sp>
      <p:pic>
        <p:nvPicPr>
          <p:cNvPr id="5" name="Picture 4" descr="image.jpg"/>
          <p:cNvPicPr>
            <a:picLocks noChangeAspect="1"/>
          </p:cNvPicPr>
          <p:nvPr/>
        </p:nvPicPr>
        <p:blipFill>
          <a:blip r:embed="rId3"/>
          <a:stretch>
            <a:fillRect/>
          </a:stretch>
        </p:blipFill>
        <p:spPr>
          <a:xfrm>
            <a:off x="3175000" y="1244600"/>
            <a:ext cx="5842000" cy="2946400"/>
          </a:xfrm>
          <a:prstGeom prst="rect">
            <a:avLst/>
          </a:prstGeom>
        </p:spPr>
      </p:pic>
      <p:sp>
        <p:nvSpPr>
          <p:cNvPr id="6" name="TextBox 5"/>
          <p:cNvSpPr txBox="1"/>
          <p:nvPr/>
        </p:nvSpPr>
        <p:spPr>
          <a:xfrm>
            <a:off x="3175000" y="4229100"/>
            <a:ext cx="5842000" cy="42654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Digit 발 디딤 회복 (블로그 그림): Digit에 앞뒤(세로축)와 좌우(가로축) 충격량(N·s)을 준 시험의 결과다. 시뮬레이션인지 실물인지는 글에 적혀 있지 않다. 초록은 회복, 붉은색은 넘어짐, 파랑은 걸음 없이 버틴 경우다. 왼쪽 모델 기반 제어기보다 오른쪽 RL 제어기의 초록 영역이 넓다(그림 제목은 둘 다 2024-08-15). 출처: Agility Robotics 2024-10-31</a:t>
            </a:r>
          </a:p>
        </p:txBody>
      </p:sp>
      <p:sp>
        <p:nvSpPr>
          <p:cNvPr id="7" name="TextBox 6"/>
          <p:cNvSpPr txBox="1"/>
          <p:nvPr/>
        </p:nvSpPr>
        <p:spPr>
          <a:xfrm>
            <a:off x="609600" y="4744541"/>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둘째 갈래(사람 동작 추종).</a:t>
            </a:r>
            <a:r>
              <a:rPr sz="1050" b="0" i="0">
                <a:solidFill>
                  <a:srgbClr val="16213A"/>
                </a:solidFill>
                <a:latin typeface="Arial"/>
                <a:ea typeface="Malgun Gothic"/>
                <a:cs typeface="Malgun Gothic"/>
              </a:rPr>
              <a:t> 이 갈래는 사람 동작을 따라 하는 전신 정책이고, 공통 문제는 로봇이 할 수 없는 동작을 거르고 시뮬레이터의 오차를 고치는 일이다. H2O는 시뮬레이션 실행 가능성으로, ExBody2는 기본 정책의 추종 오차로 데이터를 걸렀다. 이 갈래의 데이터·리타기팅·동작 추종과 2026년의 범용 추종기(SONIC, SuperMimic)는 모방 문서(§I)에 한 흐름으로 모았다. 아래 카드는 그대로 두고, 표 하나로 비교한 것은 I.8에 있다. ASAP은 실물 기록으로 시뮬레이터 쪽을 고쳤다. 로봇은 대부분 Unitree H1과 G1이다.</a:t>
            </a:r>
          </a:p>
        </p:txBody>
      </p:sp>
    </p:spTree>
  </p:cSld>
  <p:clrMapOvr>
    <a:masterClrMapping/>
  </p:clrMapOvr>
</p:sld>
</file>

<file path=ppt/slides/slide43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10/20</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434 / 516</a:t>
            </a:r>
          </a:p>
        </p:txBody>
      </p:sp>
      <p:sp>
        <p:nvSpPr>
          <p:cNvPr id="5" name="TextBox 4"/>
          <p:cNvSpPr txBox="1"/>
          <p:nvPr/>
        </p:nvSpPr>
        <p:spPr>
          <a:xfrm>
            <a:off x="609600" y="1244600"/>
            <a:ext cx="10972800" cy="108247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ExBody — 상체만 사람 동작을 따라 하고 하체는 몸통 속도 목표만 지키게 해, H1이 실외에서 춤추고 걸었다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arXiv:2402.16796</a:t>
            </a:r>
            <a:r>
              <a:rPr sz="1050" b="0" i="0">
                <a:solidFill>
                  <a:srgbClr val="16213A"/>
                </a:solidFill>
                <a:latin typeface="Arial"/>
                <a:ea typeface="Malgun Gothic"/>
                <a:cs typeface="Malgun Gothic"/>
              </a:rPr>
              <a:t>, Cheng·Ji·Chen·Yang·Yang·Wang, RSS 2024, </a:t>
            </a:r>
            <a:r>
              <a:rPr sz="1050" b="0" i="0">
                <a:solidFill>
                  <a:srgbClr val="1D4ED8"/>
                </a:solidFill>
                <a:latin typeface="Arial"/>
                <a:ea typeface="Malgun Gothic"/>
                <a:cs typeface="Malgun Gothic"/>
                <a:hlinkClick r:id="rId4"/>
              </a:rPr>
              <a:t>프로젝트</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5"/>
              </a:rPr>
              <a:t>코드</a:t>
            </a:r>
            <a:r>
              <a:rPr sz="1050" b="0" i="0">
                <a:solidFill>
                  <a:srgbClr val="16213A"/>
                </a:solidFill>
                <a:latin typeface="Arial"/>
                <a:ea typeface="Malgun Gothic"/>
                <a:cs typeface="Malgun Gothic"/>
              </a:rPr>
              <a:t> Apache-2.0). UC San Diego(Xiaolong Wang)의 연구다. 사람 모션 캡처를 H1이 그대로 따라 하게 하면 자유도와 힘이 달라 실물에서 무너진다. ExBody는 목표를 둘로 나눈다. 상체의 관절각과 키포인트는 기준 동작을 따른다. 몸 전체는 기준 동작에서 뽑은 몸통 속도·자세·높이 목표만 따르고, 이 목표는 조이스틱으로도 줄 수 있다. CMU MoCap에서 780개(약 3.7시간)를 골라 Isaac Gym에서 학습했고, 정규화 보상은 legged_gym(B.14.1)에서 가져왔다. 에피소드를 데이터의 상태에서 시작하는 기준 상태 초기화(RSI, reference state initialization)가 결정적이었다. 이것이 없으면 평균 에피소드 길이가 16.87에서 0.23으로 떨어졌다(원문 표 IV). AMP 보상을 더한 정책은 무릎을 덜 굽히고 발을 덜 들어 비틀거렸다.</a:t>
            </a:r>
          </a:p>
        </p:txBody>
      </p:sp>
      <p:sp>
        <p:nvSpPr>
          <p:cNvPr id="6" name="TextBox 5"/>
          <p:cNvSpPr txBox="1"/>
          <p:nvPr/>
        </p:nvSpPr>
        <p:spPr>
          <a:xfrm>
            <a:off x="609600" y="2415977"/>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하체가 몸통 속도 목표만 받는 구조라, 이 정책 위에는 travplan Controller 같은 층이 그대로 앉을 수 있다. Agility가 지적하듯 속도 목표형 하체에는 위치 오차를 고칠 위 층이 계속 필요하다. travplan에서는 Planner의 경로를 따라가는 Controller가 그 몫이다.</a:t>
            </a:r>
          </a:p>
        </p:txBody>
      </p:sp>
    </p:spTree>
  </p:cSld>
  <p:clrMapOvr>
    <a:masterClrMapping/>
  </p:clrMapOvr>
</p:sld>
</file>

<file path=ppt/slides/slide43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11/20</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435 / 516</a:t>
            </a:r>
          </a:p>
        </p:txBody>
      </p:sp>
      <p:pic>
        <p:nvPicPr>
          <p:cNvPr id="5" name="Picture 4" descr="image.jpg"/>
          <p:cNvPicPr>
            <a:picLocks noChangeAspect="1"/>
          </p:cNvPicPr>
          <p:nvPr/>
        </p:nvPicPr>
        <p:blipFill>
          <a:blip r:embed="rId3"/>
          <a:stretch>
            <a:fillRect/>
          </a:stretch>
        </p:blipFill>
        <p:spPr>
          <a:xfrm>
            <a:off x="2432050" y="1244600"/>
            <a:ext cx="7327900" cy="4445000"/>
          </a:xfrm>
          <a:prstGeom prst="rect">
            <a:avLst/>
          </a:prstGeom>
        </p:spPr>
      </p:pic>
      <p:sp>
        <p:nvSpPr>
          <p:cNvPr id="6" name="TextBox 5"/>
          <p:cNvSpPr txBox="1"/>
          <p:nvPr/>
        </p:nvSpPr>
        <p:spPr>
          <a:xfrm>
            <a:off x="2432050" y="5727700"/>
            <a:ext cx="73279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ExBody (Fig. 1): 위 줄은 사람과 춤추기, 안기, 손바닥 마주치기와 연석 옆 화단을 걷는 H1이다. 가운데 줄은 해변 모래, 나무 조각 화단, 콘크리트 길, 실내에서 운동용 공에 맞는 장면, 잔디 위 관중 앞의 H1이다. 아래 줄은 손을 흔들어 동작 감지 자동문을 여는 장면과 사람과 악수하는 장면이다. 출처: arXiv:2402.16796</a:t>
            </a:r>
          </a:p>
        </p:txBody>
      </p:sp>
    </p:spTree>
  </p:cSld>
  <p:clrMapOvr>
    <a:masterClrMapping/>
  </p:clrMapOvr>
</p:sld>
</file>

<file path=ppt/slides/slide43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12/20</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436 / 516</a:t>
            </a:r>
          </a:p>
        </p:txBody>
      </p:sp>
      <p:sp>
        <p:nvSpPr>
          <p:cNvPr id="5" name="TextBox 4"/>
          <p:cNvSpPr txBox="1"/>
          <p:nvPr/>
        </p:nvSpPr>
        <p:spPr>
          <a:xfrm>
            <a:off x="609600" y="1244600"/>
            <a:ext cx="10972800" cy="1298972"/>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H2O — RGB 카메라 한 대로 실물 크기 휴머노이드를 실시간 전신 원격조종하고, 로봇이 못 하는 사람 동작은 시뮬레이션으로 거른다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arXiv:2403.04436</a:t>
            </a:r>
            <a:r>
              <a:rPr sz="1050" b="0" i="0">
                <a:solidFill>
                  <a:srgbClr val="16213A"/>
                </a:solidFill>
                <a:latin typeface="Arial"/>
                <a:ea typeface="Malgun Gothic"/>
                <a:cs typeface="Malgun Gothic"/>
              </a:rPr>
              <a:t>, He·Luo·Xiao·Zhang·Kitani·Liu·Shi, IROS 2024, </a:t>
            </a:r>
            <a:r>
              <a:rPr sz="1050" b="0" i="0">
                <a:solidFill>
                  <a:srgbClr val="1D4ED8"/>
                </a:solidFill>
                <a:latin typeface="Arial"/>
                <a:ea typeface="Malgun Gothic"/>
                <a:cs typeface="Malgun Gothic"/>
                <a:hlinkClick r:id="rId4"/>
              </a:rPr>
              <a:t>프로젝트</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5"/>
              </a:rPr>
              <a:t>코드</a:t>
            </a:r>
            <a:r>
              <a:rPr sz="1050" b="0" i="0">
                <a:solidFill>
                  <a:srgbClr val="16213A"/>
                </a:solidFill>
                <a:latin typeface="Arial"/>
                <a:ea typeface="Malgun Gothic"/>
                <a:cs typeface="Malgun Gothic"/>
              </a:rPr>
              <a:t> CC BY-NC 4.0). CMU LeCAR Lab(Guanya Shi)의 연구로, 원문은 학습 기반 실시간 전신 휴머노이드 원격조종을 처음 보였다고 적는다. 로봇은 Unitree H1이다. 사람 동작 데이터 AMASS를 H1으로 옮기면, 사람은 하지만 로봇은 못 하는 동작이 섞인다. 그래서 참값 상태를 다 보는 특권 모방 정책으로 전체를 따라 해 보고, 실패한 동작을 버렸다(sim-to-data). 옮긴 1만 개 가운데 약 8,500개가 남았다. 그다음 실물에서 얻을 수 있는 관측만 보는 정책을 무작위화와 함께 학습했다. 배포 때는 웹캠 영상에서 사람 자세를 30 Hz로 추정해 목표로 넣고, 정책이 50 Hz로 관절 목표를 낸다. 배포 때 로봇의 몸통 선속도는 모션 캡처로 쟀다. 시뮬레이션 성공률은 걸러 낸 데이터로 학습한 정책이 72.5%, 거르지 않은 데이터의 정책이 67.9%였다. 걸러 낸 쪽은 데이터가 적은데도 높았다.</a:t>
            </a:r>
          </a:p>
        </p:txBody>
      </p:sp>
      <p:sp>
        <p:nvSpPr>
          <p:cNvPr id="6" name="TextBox 5"/>
          <p:cNvSpPr txBox="1"/>
          <p:nvPr/>
        </p:nvSpPr>
        <p:spPr>
          <a:xfrm>
            <a:off x="609600" y="2632472"/>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시연을 '실행할 수 있는가'로 먼저 거르는 절차는 Planner D 시연에 옮길 수 있다. 지금 시연은 절차 지형에서 Guidance + MPPI가 낸 4초 제어열이다(B.8.3). 스워브 plant(TP-0149)에서 MPPI가 따라가지 못하는 시연을 빼면, 실물에 가까운 조건에서 실행할 수 있는 분포만 남는다. 효과는 travplan에서 재 보지 않았다.</a:t>
            </a:r>
          </a:p>
        </p:txBody>
      </p:sp>
    </p:spTree>
  </p:cSld>
  <p:clrMapOvr>
    <a:masterClrMapping/>
  </p:clrMapOvr>
</p:sld>
</file>

<file path=ppt/slides/slide43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13/20</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437 / 516</a:t>
            </a:r>
          </a:p>
        </p:txBody>
      </p:sp>
      <p:pic>
        <p:nvPicPr>
          <p:cNvPr id="5" name="Picture 4" descr="image.jpg"/>
          <p:cNvPicPr>
            <a:picLocks noChangeAspect="1"/>
          </p:cNvPicPr>
          <p:nvPr/>
        </p:nvPicPr>
        <p:blipFill>
          <a:blip r:embed="rId3"/>
          <a:stretch>
            <a:fillRect/>
          </a:stretch>
        </p:blipFill>
        <p:spPr>
          <a:xfrm>
            <a:off x="1917700" y="1244600"/>
            <a:ext cx="8356600" cy="4445000"/>
          </a:xfrm>
          <a:prstGeom prst="rect">
            <a:avLst/>
          </a:prstGeom>
        </p:spPr>
      </p:pic>
      <p:sp>
        <p:nvSpPr>
          <p:cNvPr id="6" name="TextBox 5"/>
          <p:cNvSpPr txBox="1"/>
          <p:nvPr/>
        </p:nvSpPr>
        <p:spPr>
          <a:xfrm>
            <a:off x="1917700" y="5727700"/>
            <a:ext cx="83566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H2O (Fig. 4): (a) SMPL 사람 몸 모델의 모양을 H1에 맞춘 뒤 동작을 옮기고, 특권 모방 정책이 따라 하지 못한 동작을 걸러 낸다. (b) 걸러 낸 동작을 목표로 무작위화와 함께 sim-to-real 모방 정책을 학습한다. (c) RGB 카메라(30 Hz)와 3D 자세 추정기로 받은 사람 동작을 정책(50 Hz)과 PD 제어기(200 Hz)가 H1에서 재현한다. 출처: arXiv:2403.04436</a:t>
            </a:r>
          </a:p>
        </p:txBody>
      </p:sp>
    </p:spTree>
  </p:cSld>
  <p:clrMapOvr>
    <a:masterClrMapping/>
  </p:clrMapOvr>
</p:sld>
</file>

<file path=ppt/slides/slide43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14/20</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438 / 516</a:t>
            </a:r>
          </a:p>
        </p:txBody>
      </p:sp>
      <p:sp>
        <p:nvSpPr>
          <p:cNvPr id="5" name="TextBox 4"/>
          <p:cNvSpPr txBox="1"/>
          <p:nvPr/>
        </p:nvSpPr>
        <p:spPr>
          <a:xfrm>
            <a:off x="609600" y="1244600"/>
            <a:ext cx="10972800" cy="1298972"/>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OmniH2O — 머리와 두 손 세 점을 공통 인터페이스로 두고, VR·RGB·언어·GPT-4o·시연 학습 정책이 같은 전신 정책을 부른다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arXiv:2406.08858</a:t>
            </a:r>
            <a:r>
              <a:rPr sz="1050" b="0" i="0">
                <a:solidFill>
                  <a:srgbClr val="16213A"/>
                </a:solidFill>
                <a:latin typeface="Arial"/>
                <a:ea typeface="Malgun Gothic"/>
                <a:cs typeface="Malgun Gothic"/>
              </a:rPr>
              <a:t>, He·Luo·He·Xiao·Zhang·Zhang·Kitani·Liu·Shi, CoRL 2024(PMLR 270), </a:t>
            </a:r>
            <a:r>
              <a:rPr sz="1050" b="0" i="0">
                <a:solidFill>
                  <a:srgbClr val="1D4ED8"/>
                </a:solidFill>
                <a:latin typeface="Arial"/>
                <a:ea typeface="Malgun Gothic"/>
                <a:cs typeface="Malgun Gothic"/>
                <a:hlinkClick r:id="rId4"/>
              </a:rPr>
              <a:t>프로젝트</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5"/>
              </a:rPr>
              <a:t>코드</a:t>
            </a:r>
            <a:r>
              <a:rPr sz="1050" b="0" i="0">
                <a:solidFill>
                  <a:srgbClr val="16213A"/>
                </a:solidFill>
                <a:latin typeface="Arial"/>
                <a:ea typeface="Malgun Gothic"/>
                <a:cs typeface="Malgun Gothic"/>
              </a:rPr>
              <a:t> CC BY-NC 4.0). H2O의 후속이고, 실물에서 정책이 받는 목표는 머리와 두 손의 위치다. 그래서 VR 헤드셋·RGB 카메라·언어 동작 생성 모델·GPT-4o·Diffusion Policy가 모두 같은 정책 위에서 돌았다. 학습은 교사–학생이다. 특권 정보를 보는 교사를 RL로 만들고, 학생은 세 점 목표와 고유감각의 25스텝 이력만 보고 DAgger로 교사 행동을 배운다. 학생에는 몸통 선속도 입력이 없어서, H2O가 배포 때 쓰던 모션 캡처가 필요 없다. 실물 시험에서는 VIO(visual-inertial odometry)나 신경망 추정기로 선속도를 넣은 정책보다, 넣지 않은 정책이 더 잘 따랐다. 원격조종으로 모은 6개 작업 시연(OmniH2O-6)도 공개했다. 같은 1저자가 NVIDIA GEAR와 함께 만든 HOVER(B.16.1)는 ExBody·HumanPlus·H2O·OmniH2O의 명령 모드를 마스크 하나로 모은다. HOVER의 교사는 OmniH2O의 망 구조와 무작위화를 그대로 쓴다.</a:t>
            </a:r>
          </a:p>
        </p:txBody>
      </p:sp>
      <p:sp>
        <p:nvSpPr>
          <p:cNvPr id="6" name="TextBox 5"/>
          <p:cNvSpPr txBox="1"/>
          <p:nvPr/>
        </p:nvSpPr>
        <p:spPr>
          <a:xfrm>
            <a:off x="609600" y="2632472"/>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상위 모듈이 무엇이든 하위 정책은 같은 형식의 목표를 받는다. travplan에서 그 형식은 </a:t>
            </a:r>
            <a:r>
              <a:rPr sz="1050" b="0" i="0">
                <a:solidFill>
                  <a:srgbClr val="16213A"/>
                </a:solidFill>
                <a:latin typeface="Consolas"/>
                <a:ea typeface="Malgun Gothic"/>
                <a:cs typeface="Malgun Gothic"/>
              </a:rPr>
              <a:t>PlanResult</a:t>
            </a:r>
            <a:r>
              <a:rPr sz="1050" b="0" i="0">
                <a:solidFill>
                  <a:srgbClr val="16213A"/>
                </a:solidFill>
                <a:latin typeface="Arial"/>
                <a:ea typeface="Malgun Gothic"/>
                <a:cs typeface="Malgun Gothic"/>
              </a:rPr>
              <a:t>(경로 또는 시간 인덱스 궤적)다. 벤치마크에서는 Guidance와 Planner D가, Playground에서는 MPOT Planner(TP-0136)도 같은 Controller를 부른다. B.12.3의 HEAD도 머리와 두 손 세 점을 따르는 전신 정책 위에 상위 내비게이션 정책을 얹는다. OmniH2O는 GPT-4o에 동작 목표를 직접 내게 하지 않고, 미리 정한 동작 몇 개 가운데 고르게 했다. 응답 시간이 길어서다. 보도 배달에서 VLA나 언어 모델을 Planner 위에 얹을 때(B.6b)도 같은 제약이 생긴다.</a:t>
            </a:r>
          </a:p>
        </p:txBody>
      </p:sp>
      <p:pic>
        <p:nvPicPr>
          <p:cNvPr id="7" name="Picture 6" descr="image.jpg"/>
          <p:cNvPicPr>
            <a:picLocks noChangeAspect="1"/>
          </p:cNvPicPr>
          <p:nvPr/>
        </p:nvPicPr>
        <p:blipFill>
          <a:blip r:embed="rId6"/>
          <a:stretch>
            <a:fillRect/>
          </a:stretch>
        </p:blipFill>
        <p:spPr>
          <a:xfrm>
            <a:off x="1828800" y="3370858"/>
            <a:ext cx="8534400" cy="1676400"/>
          </a:xfrm>
          <a:prstGeom prst="rect">
            <a:avLst/>
          </a:prstGeom>
        </p:spPr>
      </p:pic>
      <p:sp>
        <p:nvSpPr>
          <p:cNvPr id="8" name="TextBox 7"/>
          <p:cNvSpPr txBox="1"/>
          <p:nvPr/>
        </p:nvSpPr>
        <p:spPr>
          <a:xfrm>
            <a:off x="1828800" y="5085358"/>
            <a:ext cx="85344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OmniH2O (Fig. 5): (a) 사람이 여러 방향에서 주먹과 발로 쳐도 H1이 균형을 지킨다(얼굴은 원문에서 가렸다). (b) 같은 정책으로 잔디, 기울어진 돌 턱, 돌 포장, 격자무늬 포장 위를 한 발씩 들며 걷는다. 출처: arXiv:2406.08858</a:t>
            </a:r>
          </a:p>
        </p:txBody>
      </p:sp>
    </p:spTree>
  </p:cSld>
  <p:clrMapOvr>
    <a:masterClrMapping/>
  </p:clrMapOvr>
</p:sld>
</file>

<file path=ppt/slides/slide43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15/20</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439 / 516</a:t>
            </a:r>
          </a:p>
        </p:txBody>
      </p:sp>
      <p:sp>
        <p:nvSpPr>
          <p:cNvPr id="5" name="TextBox 4"/>
          <p:cNvSpPr txBox="1"/>
          <p:nvPr/>
        </p:nvSpPr>
        <p:spPr>
          <a:xfrm>
            <a:off x="609600" y="1244600"/>
            <a:ext cx="10972800" cy="151546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HumanPlus — RGB 카메라 한 대로 사람을 그림자처럼 따라 하는 하위 정책을 만들고, 그 위에서 시연 40개 이하로 자율 기술을 배웠다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arXiv:2406.10454</a:t>
            </a:r>
            <a:r>
              <a:rPr sz="1050" b="0" i="0">
                <a:solidFill>
                  <a:srgbClr val="16213A"/>
                </a:solidFill>
                <a:latin typeface="Arial"/>
                <a:ea typeface="Malgun Gothic"/>
                <a:cs typeface="Malgun Gothic"/>
              </a:rPr>
              <a:t>, Fu·Zhao·Wu·Wetzstein·Finn, CoRL 2024(PMLR 270), </a:t>
            </a:r>
            <a:r>
              <a:rPr sz="1050" b="0" i="0">
                <a:solidFill>
                  <a:srgbClr val="1D4ED8"/>
                </a:solidFill>
                <a:latin typeface="Arial"/>
                <a:ea typeface="Malgun Gothic"/>
                <a:cs typeface="Malgun Gothic"/>
                <a:hlinkClick r:id="rId4"/>
              </a:rPr>
              <a:t>프로젝트</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5"/>
              </a:rPr>
              <a:t>코드</a:t>
            </a:r>
            <a:r>
              <a:rPr sz="1050" b="0" i="0">
                <a:solidFill>
                  <a:srgbClr val="16213A"/>
                </a:solidFill>
                <a:latin typeface="Arial"/>
                <a:ea typeface="Malgun Gothic"/>
                <a:cs typeface="Malgun Gothic"/>
              </a:rPr>
              <a:t> 라이선스 표기 없음). Stanford의 연구로, 프로젝트 페이지는 CoRL 2024 최우수 논문상 최종 후보(상위 6편)였다고 적는다. Unitree H1에 6자유도 손 둘과 손목을 더해 33자유도 로봇을 만들었다. 하위 정책(Humanoid Shadowing Transformer)은 decoder-only transformer다. AMASS(40시간, 11,000개 넘는 동작)에서 거른 동작으로 시뮬레이션에서 PPO로 학습했다. 고유감각과 목표 자세 8스텝을 보고 50 Hz로 몸 관절 19개의 목표를 낸다. 실물에서는 RGB 카메라 한 대로 사람의 몸과 손을 추정해 목표 자세로 넣는다. 상위 정책(Humanoid Imitation Transformer)은 이렇게 원격조종하며 모은 머리 카메라 두 대의 영상으로 행동 복제를 한다. 25 Hz로 목표 자세 50개를 한 번에 내고, 50스텝 뒤의 영상 특징도 함께 예측하게 해 고유감각에만 기대는 과적합을 막았다. 신발 신고 일어나 걷기, 창고 선반 물건 옮기기 같은 작업을 시연 40개 이하로 60–100% 성공했다. 하위 정책은 제조사 기본 제어기보다 미는 힘에 강했다(앞 32 대 24 N, 오른쪽 100 대 40 N). 회복 시간도 짧았다(1.2 s 대 15 s).</a:t>
            </a:r>
          </a:p>
        </p:txBody>
      </p:sp>
      <p:sp>
        <p:nvSpPr>
          <p:cNvPr id="6" name="TextBox 5"/>
          <p:cNvSpPr txBox="1"/>
          <p:nvPr/>
        </p:nvSpPr>
        <p:spPr>
          <a:xfrm>
            <a:off x="609600" y="2848967"/>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상위 정책이 느린 주기로 목표 덩어리(50개)를 내고 하위 정책이 빠른 주기로 따르는 분리는 Planner D(4 s 궤적)와 Controller의 관계와 같다. 상위 정책에 미래 관측 예측을 보조 과제로 붙인 장치는 같은 해 NTP의 상태–행동 동시 예측과 같은 방향이다. 저자들은 긴 거리 내비게이션은 시연이 훨씬 많이 필요하고 실물 속도 추종이 정확해야 해서 다루지 않았다고 적는다. 보도 배달처럼 이동이 주인 과제에 이 계열을 그대로 쓰기는 어렵다.</a:t>
            </a:r>
          </a:p>
        </p:txBody>
      </p:sp>
    </p:spTree>
  </p:cSld>
  <p:clrMapOvr>
    <a:masterClrMapping/>
  </p:clrMapOvr>
</p:sld>
</file>

<file path=ppt/slides/slide44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16/20</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440 / 516</a:t>
            </a:r>
          </a:p>
        </p:txBody>
      </p:sp>
      <p:pic>
        <p:nvPicPr>
          <p:cNvPr id="5" name="Picture 4" descr="image.jpg"/>
          <p:cNvPicPr>
            <a:picLocks noChangeAspect="1"/>
          </p:cNvPicPr>
          <p:nvPr/>
        </p:nvPicPr>
        <p:blipFill>
          <a:blip r:embed="rId3"/>
          <a:stretch>
            <a:fillRect/>
          </a:stretch>
        </p:blipFill>
        <p:spPr>
          <a:xfrm>
            <a:off x="1016000" y="1244600"/>
            <a:ext cx="10160000" cy="3517900"/>
          </a:xfrm>
          <a:prstGeom prst="rect">
            <a:avLst/>
          </a:prstGeom>
        </p:spPr>
      </p:pic>
      <p:sp>
        <p:nvSpPr>
          <p:cNvPr id="6" name="TextBox 5"/>
          <p:cNvSpPr txBox="1"/>
          <p:nvPr/>
        </p:nvSpPr>
        <p:spPr>
          <a:xfrm>
            <a:off x="1016000" y="4800600"/>
            <a:ext cx="101600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HumanPlus (Fig. 3): 왼쪽은 고유감각과 목표 자세 8스텝을 받아 50 Hz로 관절 목표를 내고, 1000 Hz PD가 토크로 바꾸는 하위 정책이다. 오른쪽은 두 머리 카메라 영상과 고유감각을 받아 25 Hz로 목표 자세 50개를 내고, 50스텝 뒤의 영상 특징을 함께 예측(L2 손실)하는 상위 정책이다. 출처: arXiv:2406.10454</a:t>
            </a:r>
          </a:p>
        </p:txBody>
      </p:sp>
    </p:spTree>
  </p:cSld>
  <p:clrMapOvr>
    <a:masterClrMapping/>
  </p:clrMapOvr>
</p:sld>
</file>

<file path=ppt/slides/slide44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17/20</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441 / 516</a:t>
            </a:r>
          </a:p>
        </p:txBody>
      </p:sp>
      <p:sp>
        <p:nvSpPr>
          <p:cNvPr id="5" name="TextBox 4"/>
          <p:cNvSpPr txBox="1"/>
          <p:nvPr/>
        </p:nvSpPr>
        <p:spPr>
          <a:xfrm>
            <a:off x="609600" y="1244600"/>
            <a:ext cx="10972800" cy="151546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ExBody2 — 기본 정책의 추종 오차로 학습 데이터를 거르고, 일반 정책을 동작군별로 미세 조정했다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arXiv:2412.13196</a:t>
            </a:r>
            <a:r>
              <a:rPr sz="1050" b="0" i="0">
                <a:solidFill>
                  <a:srgbClr val="16213A"/>
                </a:solidFill>
                <a:latin typeface="Arial"/>
                <a:ea typeface="Malgun Gothic"/>
                <a:cs typeface="Malgun Gothic"/>
              </a:rPr>
              <a:t>, Ji·Peng·Liu·Li·Yang·Cheng·Wang, arXiv 2024-12, </a:t>
            </a:r>
            <a:r>
              <a:rPr sz="1050" b="0" i="0">
                <a:solidFill>
                  <a:srgbClr val="1D4ED8"/>
                </a:solidFill>
                <a:latin typeface="Arial"/>
                <a:ea typeface="Malgun Gothic"/>
                <a:cs typeface="Malgun Gothic"/>
                <a:hlinkClick r:id="rId4"/>
              </a:rPr>
              <a:t>프로젝트</a:t>
            </a:r>
            <a:r>
              <a:rPr sz="1050" b="0" i="0">
                <a:solidFill>
                  <a:srgbClr val="16213A"/>
                </a:solidFill>
                <a:latin typeface="Arial"/>
                <a:ea typeface="Malgun Gothic"/>
                <a:cs typeface="Malgun Gothic"/>
              </a:rPr>
              <a:t>). ExBody의 후속이고, 로봇은 Unitree G1이다. 정식 발표처는 확인하지 못했다. 먼저 거르지 않은 데이터로 기본 정책을 학습하고, 동작마다 하체 추종 오차를 매겨 문턱 </a:t>
            </a:r>
            <a:r>
              <a:rPr sz="1050" b="0" i="1">
                <a:solidFill>
                  <a:srgbClr val="16213A"/>
                </a:solidFill>
                <a:latin typeface="Arial"/>
                <a:ea typeface="Malgun Gothic"/>
                <a:cs typeface="Malgun Gothic"/>
              </a:rPr>
              <a:t>τ</a:t>
            </a:r>
            <a:r>
              <a:rPr sz="1050" b="0" i="0">
                <a:solidFill>
                  <a:srgbClr val="16213A"/>
                </a:solidFill>
                <a:latin typeface="Arial"/>
                <a:ea typeface="Malgun Gothic"/>
                <a:cs typeface="Malgun Gothic"/>
              </a:rPr>
              <a:t> 아래만 남긴다. 문턱이 너무 낮으면 쉬운 동작만 남아 일반화가 나빠지고, 너무 높으면 불가능한 동작이 학습을 흔든다. 중간 문턱(</a:t>
            </a:r>
            <a:r>
              <a:rPr sz="1050" b="0" i="1">
                <a:solidFill>
                  <a:srgbClr val="16213A"/>
                </a:solidFill>
                <a:latin typeface="Arial"/>
                <a:ea typeface="Malgun Gothic"/>
                <a:cs typeface="Malgun Gothic"/>
              </a:rPr>
              <a:t>τ = 0.15</a:t>
            </a:r>
            <a:r>
              <a:rPr sz="1050" b="0" i="0">
                <a:solidFill>
                  <a:srgbClr val="16213A"/>
                </a:solidFill>
                <a:latin typeface="Arial"/>
                <a:ea typeface="Malgun Gothic"/>
                <a:cs typeface="Malgun Gothic"/>
              </a:rPr>
              <a:t>)으로 거른 데이터의 정책이 오차가 가장 낮았다. 그다음 일반 정책을 비슷한 패턴의 동작군에 미세 조정해 전문 정책을 만든다. 정책은 교사–학생이고, 학생은 고유감각 10스텝 이력을 보며 DAgger로 배운다. 전역 키포인트 대신 로봇 기준 키포인트와 몸통 속도를 따로 따르게 해, 전역 위치가 흘러도 추종이 무너지지 않게 했다. 실물 관절 추종 오차(MPJPE, mean per-joint position error)는 0.1074 rad였다. OmniH2O 재현은 0.1396, ExBody는 0.2178이다. 같은 연구실의 후속은 둘이다. AMO(RSS 2025, </a:t>
            </a:r>
            <a:r>
              <a:rPr sz="1050" b="0" i="0">
                <a:solidFill>
                  <a:srgbClr val="1D4ED8"/>
                </a:solidFill>
                <a:latin typeface="Arial"/>
                <a:ea typeface="Malgun Gothic"/>
                <a:cs typeface="Malgun Gothic"/>
                <a:hlinkClick r:id="rId5"/>
              </a:rPr>
              <a:t>arXiv:2505.03738</a:t>
            </a:r>
            <a:r>
              <a:rPr sz="1050" b="0" i="0">
                <a:solidFill>
                  <a:srgbClr val="16213A"/>
                </a:solidFill>
                <a:latin typeface="Arial"/>
                <a:ea typeface="Malgun Gothic"/>
                <a:cs typeface="Malgun Gothic"/>
              </a:rPr>
              <a:t>)는 sim-to-real RL과 궤적 최적화를 묶어 29자유도 G1의 전신 작업 공간을 넓혔다. GMT(</a:t>
            </a:r>
            <a:r>
              <a:rPr sz="1050" b="0" i="0">
                <a:solidFill>
                  <a:srgbClr val="1D4ED8"/>
                </a:solidFill>
                <a:latin typeface="Arial"/>
                <a:ea typeface="Malgun Gothic"/>
                <a:cs typeface="Malgun Gothic"/>
                <a:hlinkClick r:id="rId6"/>
              </a:rPr>
              <a:t>arXiv:2506.14770</a:t>
            </a:r>
            <a:r>
              <a:rPr sz="1050" b="0" i="0">
                <a:solidFill>
                  <a:srgbClr val="16213A"/>
                </a:solidFill>
                <a:latin typeface="Arial"/>
                <a:ea typeface="Malgun Gothic"/>
                <a:cs typeface="Malgun Gothic"/>
              </a:rPr>
              <a:t>)는 적응 표집과 동작 MoE(mixture of experts)로 정책 하나가 여러 동작을 따른다.</a:t>
            </a:r>
          </a:p>
        </p:txBody>
      </p:sp>
      <p:sp>
        <p:nvSpPr>
          <p:cNvPr id="6" name="TextBox 5"/>
          <p:cNvSpPr txBox="1"/>
          <p:nvPr/>
        </p:nvSpPr>
        <p:spPr>
          <a:xfrm>
            <a:off x="609600" y="2848967"/>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기본 정책으로 데이터의 난이도를 매기고 중간 문턱으로 거르는 절차는 H2O의 실행 가능성 필터보다 한 걸음 더 간 것이다. 다 버리지도, 다 쓰지도 않는다. travplan의 교사(Guidance + MPPI)는 curb_ramp 레벨 3에서도 거의 실패하지 않는다(29/30, B.15.3). 그래서 ExBody2식 거르기를 옮긴다면, 기준은 교사의 실패가 아니라 기본 Planner D가 그 시연을 얼마나 따라 하지 못하는지(예: 치명 표본 비율, TP-0074)다.</a:t>
            </a:r>
          </a:p>
        </p:txBody>
      </p:sp>
    </p:spTree>
  </p:cSld>
  <p:clrMapOvr>
    <a:masterClrMapping/>
  </p:clrMapOvr>
</p:sld>
</file>

<file path=ppt/slides/slide44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18/20</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442 / 516</a:t>
            </a:r>
          </a:p>
        </p:txBody>
      </p:sp>
      <p:pic>
        <p:nvPicPr>
          <p:cNvPr id="5" name="Picture 4" descr="image.jpg"/>
          <p:cNvPicPr>
            <a:picLocks noChangeAspect="1"/>
          </p:cNvPicPr>
          <p:nvPr/>
        </p:nvPicPr>
        <p:blipFill>
          <a:blip r:embed="rId3"/>
          <a:stretch>
            <a:fillRect/>
          </a:stretch>
        </p:blipFill>
        <p:spPr>
          <a:xfrm>
            <a:off x="3063875" y="1244600"/>
            <a:ext cx="6064250" cy="4445000"/>
          </a:xfrm>
          <a:prstGeom prst="rect">
            <a:avLst/>
          </a:prstGeom>
        </p:spPr>
      </p:pic>
      <p:sp>
        <p:nvSpPr>
          <p:cNvPr id="6" name="TextBox 5"/>
          <p:cNvSpPr txBox="1"/>
          <p:nvPr/>
        </p:nvSpPr>
        <p:spPr>
          <a:xfrm>
            <a:off x="3063875" y="5727700"/>
            <a:ext cx="606425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ExBody2 (Fig. 1): G1이 (a) 정지에서 큰 보폭으로 걷고, (b) 43초 안무를 추고, (c) 무게를 옮기며 옆걸음하고, (d) 높이를 바꿔 주먹을 뻗고, (e) 실외에서 상체 동작을 하며 균형을 지키고, (f) 몸을 틀어 훅을 친다. 출처: arXiv:2412.13196</a:t>
            </a:r>
          </a:p>
        </p:txBody>
      </p:sp>
    </p:spTree>
  </p:cSld>
  <p:clrMapOvr>
    <a:masterClrMapping/>
  </p:clrMapOvr>
</p:sld>
</file>

<file path=ppt/slides/slide44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19/20</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443 / 516</a:t>
            </a:r>
          </a:p>
        </p:txBody>
      </p:sp>
      <p:sp>
        <p:nvSpPr>
          <p:cNvPr id="5" name="TextBox 4"/>
          <p:cNvSpPr txBox="1"/>
          <p:nvPr/>
        </p:nvSpPr>
        <p:spPr>
          <a:xfrm>
            <a:off x="609600" y="1244600"/>
            <a:ext cx="10972800" cy="151546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ASAP — 실물 기록으로 '행동에 더할 보정'을 학습해 시뮬레이터를 실물에 맞추고, 그 시뮬레이터에서 정책을 다시 다듬는다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arXiv:2502.01143</a:t>
            </a:r>
            <a:r>
              <a:rPr sz="1050" b="0" i="0">
                <a:solidFill>
                  <a:srgbClr val="16213A"/>
                </a:solidFill>
                <a:latin typeface="Arial"/>
                <a:ea typeface="Malgun Gothic"/>
                <a:cs typeface="Malgun Gothic"/>
              </a:rPr>
              <a:t>, He·Gao·Xiao 외 15명, RSS 2025, </a:t>
            </a:r>
            <a:r>
              <a:rPr sz="1050" b="0" i="0">
                <a:solidFill>
                  <a:srgbClr val="1D4ED8"/>
                </a:solidFill>
                <a:latin typeface="Arial"/>
                <a:ea typeface="Malgun Gothic"/>
                <a:cs typeface="Malgun Gothic"/>
                <a:hlinkClick r:id="rId4"/>
              </a:rPr>
              <a:t>프로젝트</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5"/>
              </a:rPr>
              <a:t>코드</a:t>
            </a:r>
            <a:r>
              <a:rPr sz="1050" b="0" i="0">
                <a:solidFill>
                  <a:srgbClr val="16213A"/>
                </a:solidFill>
                <a:latin typeface="Arial"/>
                <a:ea typeface="Malgun Gothic"/>
                <a:cs typeface="Malgun Gothic"/>
              </a:rPr>
              <a:t> MIT). CMU LeCAR Lab과 NVIDIA(GEAR의 Linxi Fan, Yuke Zhu)의 공동 연구이고, 로봇은 Unitree G1이다. sim-to-real 격차를 줄이는 기존 길은 셋이다. 파라미터를 재는 시스템 식별(SysID), 넓게 흔드는 도메인 무작위화, 실물 데이터로 상태 잔차를 배우는 방법이다. ASAP은 넷째 길로, 실물 궤적을 시뮬레이터에서 재생할 때 생기는 어긋남을 '행동에 더하는 보정'으로 배운다. 1단계에서 사람 영상에서 옮긴 동작을 따라 하는 추종 정책을 시뮬레이션에서 학습한다. 2단계에서 그 정책을 실물에서 돌려 모션 캡처로 궤적을 기록하고, 기록한 행동에 더할 보정 정책을 RL로 학습한다. 보정 정책은 시뮬레이터의 다음 상태가 실물의 다음 상태와 같아질수록 보상을 받는다. 3단계에서 보정을 얼린 채 시뮬레이터에 넣고, 원래 정책을 다시 학습한다. 실물에는 보정 없이 다듬은 정책만 올린다. Isaac Gym에서 학습하고 Isaac Sim을 '실제'로 둔 시험을 했다. 1.0 s 개루프 재생의 전역 위치 오차는 보정 없이 80.8 mm, 상태 잔차(DeltaDynamics) 68.1 mm, ASAP 37.9 mm였다. 어려운 동작의 폐루프 성공률은 상태 잔차 방식이 60–67%, ASAP이 100%였다. 실물에서는 차기 동작의 오차가 61.2 mm에서 50.2 mm로, 학습 밖 동작의 오차가 159 mm에서 112 mm로 줄었다.</a:t>
            </a:r>
          </a:p>
        </p:txBody>
      </p:sp>
      <p:sp>
        <p:nvSpPr>
          <p:cNvPr id="6" name="TextBox 5"/>
          <p:cNvSpPr txBox="1"/>
          <p:nvPr/>
        </p:nvSpPr>
        <p:spPr>
          <a:xfrm>
            <a:off x="609600" y="2848967"/>
            <a:ext cx="10972800" cy="1298972"/>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ASAP은 보정을 상태에 붙일지 행동에 붙일지를 비교했고, travplan의 두 모델 보정과 같은 질문을 던진다. ASAP의 개루프 표에서 1.0 s 전역 위치 오차는 상태 잔차 68.1 mm, 행동 보정 37.9 mm였다. 저자들은 상태 잔차가 과적합해 시간이 갈수록 오차가 커진다고 설명한다. rollout에 plant의 지연을 넣은 TP-0150(</a:t>
            </a:r>
            <a:r>
              <a:rPr sz="1050" b="0" i="0">
                <a:solidFill>
                  <a:srgbClr val="16213A"/>
                </a:solidFill>
                <a:latin typeface="Consolas"/>
                <a:ea typeface="Malgun Gothic"/>
                <a:cs typeface="Malgun Gothic"/>
              </a:rPr>
              <a:t>mppi_plant_lag</a:t>
            </a:r>
            <a:r>
              <a:rPr sz="1050" b="0" i="0">
                <a:solidFill>
                  <a:srgbClr val="16213A"/>
                </a:solidFill>
                <a:latin typeface="Arial"/>
                <a:ea typeface="Malgun Gothic"/>
                <a:cs typeface="Malgun Gothic"/>
              </a:rPr>
              <a:t>)은 plant 레벨 3 치명을 55에서 4로 줄였다. 미끄럼까지 넣은 판은 치명은 같이 줄였지만 도달이 189/360으로 떨어져 선택 항목으로 남았다(MPC 문서 M.3.22). 다만 TP-0150은 학습 보정이 아니라, 명령이 실제 움직임이 되는 과정을 rollout에 넣은 물리 모델이다. 닮은 점은 '입력 쪽을 고친다'는 데까지다. 명목 모델 위 잔차를 GP로 배운 TP-0068도 있다. plant 조건의 NMPC에서 </a:t>
            </a:r>
            <a:r>
              <a:rPr sz="1050" b="0" i="0">
                <a:solidFill>
                  <a:srgbClr val="16213A"/>
                </a:solidFill>
                <a:latin typeface="Consolas"/>
                <a:ea typeface="Malgun Gothic"/>
                <a:cs typeface="Malgun Gothic"/>
              </a:rPr>
              <a:t>mpc_gp</a:t>
            </a:r>
            <a:r>
              <a:rPr sz="1050" b="0" i="0">
                <a:solidFill>
                  <a:srgbClr val="16213A"/>
                </a:solidFill>
                <a:latin typeface="Arial"/>
                <a:ea typeface="Malgun Gothic"/>
                <a:cs typeface="Malgun Gothic"/>
              </a:rPr>
              <a:t>는 </a:t>
            </a:r>
            <a:r>
              <a:rPr sz="1050" b="0" i="0">
                <a:solidFill>
                  <a:srgbClr val="16213A"/>
                </a:solidFill>
                <a:latin typeface="Consolas"/>
                <a:ea typeface="Malgun Gothic"/>
                <a:cs typeface="Malgun Gothic"/>
              </a:rPr>
              <a:t>mpc</a:t>
            </a:r>
            <a:r>
              <a:rPr sz="1050" b="0" i="0">
                <a:solidFill>
                  <a:srgbClr val="16213A"/>
                </a:solidFill>
                <a:latin typeface="Arial"/>
                <a:ea typeface="Malgun Gothic"/>
                <a:cs typeface="Malgun Gothic"/>
              </a:rPr>
              <a:t>와 비슷했다(도달 215 대 222/360, 치명 32 대 34, TP-0152). 이 차이만으로 잔차의 우열을 말할 수는 없다. 그래도 Controller 모델 계층(TP-0124)의 학습 층에 '명령에 더하는 잔차'를 후보로 넣을 근거는 된다. 검증은 ASAP처럼 plant 기록을 개루프로 재생한 오차를 먼저 재고, 그다음 폐루프 짝 비교로 간다.</a:t>
            </a:r>
          </a:p>
        </p:txBody>
      </p:sp>
    </p:spTree>
  </p:cSld>
  <p:clrMapOvr>
    <a:masterClrMapping/>
  </p:clrMapOvr>
</p:sld>
</file>

<file path=ppt/slides/slide44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20/20</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444 / 516</a:t>
            </a:r>
          </a:p>
        </p:txBody>
      </p:sp>
      <p:pic>
        <p:nvPicPr>
          <p:cNvPr id="5" name="Picture 4" descr="image.jpg"/>
          <p:cNvPicPr>
            <a:picLocks noChangeAspect="1"/>
          </p:cNvPicPr>
          <p:nvPr/>
        </p:nvPicPr>
        <p:blipFill>
          <a:blip r:embed="rId3"/>
          <a:stretch>
            <a:fillRect/>
          </a:stretch>
        </p:blipFill>
        <p:spPr>
          <a:xfrm>
            <a:off x="609600" y="1244600"/>
            <a:ext cx="3263900" cy="2667000"/>
          </a:xfrm>
          <a:prstGeom prst="rect">
            <a:avLst/>
          </a:prstGeom>
        </p:spPr>
      </p:pic>
      <p:sp>
        <p:nvSpPr>
          <p:cNvPr id="6" name="TextBox 5"/>
          <p:cNvSpPr txBox="1"/>
          <p:nvPr/>
        </p:nvSpPr>
        <p:spPr>
          <a:xfrm>
            <a:off x="609600" y="3949700"/>
            <a:ext cx="5410200" cy="42654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ASAP (Fig. 1): 실물 Unitree G1이 (a) 공중에서 180° 도는 축구 세리머니, (b) 한 발로 서는 농구 세리머니, (c) 한 발 페이드어웨이 점프, (d) 1.5 m 앞 뛰기, (e) 다리 뻗기, (f) 1.3 m 옆 뛰기를 한다. 실험은 실내에서 안전줄을 달고 했다. 출처: arXiv:2502.01143</a:t>
            </a:r>
          </a:p>
        </p:txBody>
      </p:sp>
      <p:pic>
        <p:nvPicPr>
          <p:cNvPr id="7" name="Picture 6" descr="image.jpg"/>
          <p:cNvPicPr>
            <a:picLocks noChangeAspect="1"/>
          </p:cNvPicPr>
          <p:nvPr/>
        </p:nvPicPr>
        <p:blipFill>
          <a:blip r:embed="rId4"/>
          <a:stretch>
            <a:fillRect/>
          </a:stretch>
        </p:blipFill>
        <p:spPr>
          <a:xfrm>
            <a:off x="6172200" y="1244600"/>
            <a:ext cx="5410200" cy="2343150"/>
          </a:xfrm>
          <a:prstGeom prst="rect">
            <a:avLst/>
          </a:prstGeom>
        </p:spPr>
      </p:pic>
      <p:sp>
        <p:nvSpPr>
          <p:cNvPr id="8" name="TextBox 7"/>
          <p:cNvSpPr txBox="1"/>
          <p:nvPr/>
        </p:nvSpPr>
        <p:spPr>
          <a:xfrm>
            <a:off x="6172200" y="3625850"/>
            <a:ext cx="5410200" cy="42654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ASAP (Fig. 2): (a) 사람 영상에서 옮긴 동작으로 추종 정책을 사전학습하고 실물 궤적을 모은다. (b) 실물 상태와 행동을 재생하며, 시뮬레이터 상태가 실물 다음 상태와 같아지도록 보정 행동 모델을 학습한다. (c) 보정 모델을 얼려 시뮬레이터에 넣고 정책을 다시 학습한다. (d) 실물에는 보정 모델 없이 정책만 올린다. 출처: arXiv:2502.01143</a:t>
            </a:r>
          </a:p>
        </p:txBody>
      </p:sp>
    </p:spTree>
  </p:cSld>
  <p:clrMapOvr>
    <a:masterClrMapping/>
  </p:clrMapOvr>
</p:sld>
</file>

<file path=ppt/slides/slide44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자세히: ASAP의 방법과 수식</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445 / 516</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풀려는 문제.</a:t>
            </a:r>
            <a:r>
              <a:rPr sz="1050" b="0" i="0">
                <a:solidFill>
                  <a:srgbClr val="16213A"/>
                </a:solidFill>
                <a:latin typeface="Arial"/>
                <a:ea typeface="Malgun Gothic"/>
                <a:cs typeface="Malgun Gothic"/>
              </a:rPr>
              <a:t> 휴머노이드의 민첩한 전신 동작은 시뮬레이터와 실물의 동역학 차이에 가장 약하다. 기존 세 길에는 각각 약점이 있다. SysID는 미리 정한 파라미터 공간 안에서만 맞추고, 많은 로봇에 없는 관절 토크 측정이 필요할 때가 많다. 도메인 무작위화는 정책을 지나치게 보수적으로 만든다. 실물 데이터로 동역학을 배우는 방법은 드론과 지상 차량에서는 통했지만, 휴머노이드에서는 아직 시험되지 않았다고 저자들은 적는다.</a:t>
            </a:r>
          </a:p>
        </p:txBody>
      </p:sp>
      <p:sp>
        <p:nvSpPr>
          <p:cNvPr id="6" name="TextBox 5"/>
          <p:cNvSpPr txBox="1"/>
          <p:nvPr/>
        </p:nvSpPr>
        <p:spPr>
          <a:xfrm>
            <a:off x="609600" y="1982986"/>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사전학습.</a:t>
            </a:r>
          </a:p>
        </p:txBody>
      </p:sp>
      <p:sp>
        <p:nvSpPr>
          <p:cNvPr id="7" name="TextBox 6"/>
          <p:cNvSpPr txBox="1"/>
          <p:nvPr/>
        </p:nvSpPr>
        <p:spPr>
          <a:xfrm>
            <a:off x="609600" y="2288381"/>
            <a:ext cx="10972800" cy="1591667"/>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데이터: 직접 찍은 사람 영상을 TRAM으로 3D 동작(SMPL)으로 복원한다. MaskedMimic(B.16.1)이 시뮬레이션에서 따라 할 수 있었던 동작만 남기고, H2O의 두 단계 리타기팅으로 G1에 옮긴다.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정책: 위상 </a:t>
            </a:r>
            <a:r>
              <a:rPr sz="1050" b="0" i="1">
                <a:solidFill>
                  <a:srgbClr val="16213A"/>
                </a:solidFill>
                <a:latin typeface="Arial"/>
                <a:ea typeface="Malgun Gothic"/>
                <a:cs typeface="Malgun Gothic"/>
              </a:rPr>
              <a:t>φ ∈ [0, 1]</a:t>
            </a:r>
            <a:r>
              <a:rPr sz="1050" b="0" i="0">
                <a:solidFill>
                  <a:srgbClr val="16213A"/>
                </a:solidFill>
                <a:latin typeface="Arial"/>
                <a:ea typeface="Malgun Gothic"/>
                <a:cs typeface="Malgun Gothic"/>
              </a:rPr>
              <a:t>과 5스텝 고유감각 이력(관절 23개의 위치와 속도·몸통 각속도·중력 방향·직전 행동)을 받아 관절 23개 목표를 낸다. critic만 기준 동작의 전역 위치와 몸통 선속도를 본다(비대칭 actor–critic). 그래서 배포 때 오도메트리가 필요 없다.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학습 장치: 종료 허용 오차를 1.5 m에서 0.3 m로 줄여 가는 커리큘럼이 있다. 뛰는 동작에서 착지 벌점을 피하려고 땅에 머무는 국소 최적을 이것이 깬다. RSI는 위상을 무작위로 뽑아 그 자세에서 시작하게 한다. 착지부터 익혀야 하는 동작을 병렬로 배울 수 있다.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무작위화: 마찰 </a:t>
            </a:r>
            <a:r>
              <a:rPr sz="1050" b="0" i="1">
                <a:solidFill>
                  <a:srgbClr val="16213A"/>
                </a:solidFill>
                <a:latin typeface="Arial"/>
                <a:ea typeface="Malgun Gothic"/>
                <a:cs typeface="Malgun Gothic"/>
              </a:rPr>
              <a:t>𝒰(0.2, 1.1)</a:t>
            </a:r>
            <a:r>
              <a:rPr sz="1050" b="0" i="0">
                <a:solidFill>
                  <a:srgbClr val="16213A"/>
                </a:solidFill>
                <a:latin typeface="Arial"/>
                <a:ea typeface="Malgun Gothic"/>
                <a:cs typeface="Malgun Gothic"/>
              </a:rPr>
              <a:t>, P 이득 0.925–1.05배, 제어 지연 20–40 ms, 10 s마다 0.5 m/s 밀기뿐이다.</a:t>
            </a:r>
          </a:p>
        </p:txBody>
      </p:sp>
      <p:sp>
        <p:nvSpPr>
          <p:cNvPr id="8" name="TextBox 7"/>
          <p:cNvSpPr txBox="1"/>
          <p:nvPr/>
        </p:nvSpPr>
        <p:spPr>
          <a:xfrm>
            <a:off x="609600" y="3968948"/>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보정 행동 모델.</a:t>
            </a:r>
            <a:r>
              <a:rPr sz="1050" b="0" i="0">
                <a:solidFill>
                  <a:srgbClr val="16213A"/>
                </a:solidFill>
                <a:latin typeface="Arial"/>
                <a:ea typeface="Malgun Gothic"/>
                <a:cs typeface="Malgun Gothic"/>
              </a:rPr>
              <a:t> 실물 기록 </a:t>
            </a:r>
            <a:r>
              <a:rPr sz="1050" b="0" i="1">
                <a:solidFill>
                  <a:srgbClr val="16213A"/>
                </a:solidFill>
                <a:latin typeface="Arial"/>
                <a:ea typeface="Malgun Gothic"/>
                <a:cs typeface="Malgun Gothic"/>
              </a:rPr>
              <a:t>(s^rₜ, a^rₜ)</a:t>
            </a:r>
            <a:r>
              <a:rPr sz="1050" b="0" i="0">
                <a:solidFill>
                  <a:srgbClr val="16213A"/>
                </a:solidFill>
                <a:latin typeface="Arial"/>
                <a:ea typeface="Malgun Gothic"/>
                <a:cs typeface="Malgun Gothic"/>
              </a:rPr>
              <a:t>를 시뮬레이터에서 재생한다. 보정 정책 </a:t>
            </a:r>
            <a:r>
              <a:rPr sz="1050" b="0" i="1">
                <a:solidFill>
                  <a:srgbClr val="16213A"/>
                </a:solidFill>
                <a:latin typeface="Arial"/>
                <a:ea typeface="Malgun Gothic"/>
                <a:cs typeface="Malgun Gothic"/>
              </a:rPr>
              <a:t>π^Δ_θ</a:t>
            </a:r>
            <a:r>
              <a:rPr sz="1050" b="0" i="0">
                <a:solidFill>
                  <a:srgbClr val="16213A"/>
                </a:solidFill>
                <a:latin typeface="Arial"/>
                <a:ea typeface="Malgun Gothic"/>
                <a:cs typeface="Malgun Gothic"/>
              </a:rPr>
              <a:t>의 출력을 기록한 행동에 더해 한 스텝 굴린다.</a:t>
            </a:r>
          </a:p>
        </p:txBody>
      </p:sp>
      <p:pic>
        <p:nvPicPr>
          <p:cNvPr id="9" name="Picture 8" descr="image.png"/>
          <p:cNvPicPr>
            <a:picLocks noChangeAspect="1"/>
          </p:cNvPicPr>
          <p:nvPr/>
        </p:nvPicPr>
        <p:blipFill>
          <a:blip r:embed="rId3"/>
          <a:stretch>
            <a:fillRect/>
          </a:stretch>
        </p:blipFill>
        <p:spPr>
          <a:xfrm>
            <a:off x="609600" y="4274344"/>
            <a:ext cx="2282825" cy="241300"/>
          </a:xfrm>
          <a:prstGeom prst="rect">
            <a:avLst/>
          </a:prstGeom>
        </p:spPr>
      </p:pic>
      <p:sp>
        <p:nvSpPr>
          <p:cNvPr id="10" name="TextBox 9"/>
          <p:cNvSpPr txBox="1"/>
          <p:nvPr/>
        </p:nvSpPr>
        <p:spPr>
          <a:xfrm>
            <a:off x="609600" y="4551859"/>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매 RL 스텝은 실물 상태 </a:t>
            </a:r>
            <a:r>
              <a:rPr sz="1050" b="0" i="1">
                <a:solidFill>
                  <a:srgbClr val="16213A"/>
                </a:solidFill>
                <a:latin typeface="Arial"/>
                <a:ea typeface="Malgun Gothic"/>
                <a:cs typeface="Malgun Gothic"/>
              </a:rPr>
              <a:t>s^rₜ</a:t>
            </a:r>
            <a:r>
              <a:rPr sz="1050" b="0" i="0">
                <a:solidFill>
                  <a:srgbClr val="16213A"/>
                </a:solidFill>
                <a:latin typeface="Arial"/>
                <a:ea typeface="Malgun Gothic"/>
                <a:cs typeface="Malgun Gothic"/>
              </a:rPr>
              <a:t>에서 시작한다. 보상은 </a:t>
            </a:r>
            <a:r>
              <a:rPr sz="1050" b="0" i="1">
                <a:solidFill>
                  <a:srgbClr val="16213A"/>
                </a:solidFill>
                <a:latin typeface="Arial"/>
                <a:ea typeface="Malgun Gothic"/>
                <a:cs typeface="Malgun Gothic"/>
              </a:rPr>
              <a:t>sₜ₊₁</a:t>
            </a:r>
            <a:r>
              <a:rPr sz="1050" b="0" i="0">
                <a:solidFill>
                  <a:srgbClr val="16213A"/>
                </a:solidFill>
                <a:latin typeface="Arial"/>
                <a:ea typeface="Malgun Gothic"/>
                <a:cs typeface="Malgun Gothic"/>
              </a:rPr>
              <a:t>과 </a:t>
            </a:r>
            <a:r>
              <a:rPr sz="1050" b="0" i="1">
                <a:solidFill>
                  <a:srgbClr val="16213A"/>
                </a:solidFill>
                <a:latin typeface="Arial"/>
                <a:ea typeface="Malgun Gothic"/>
                <a:cs typeface="Malgun Gothic"/>
              </a:rPr>
              <a:t>s^rₜ₊₁</a:t>
            </a:r>
            <a:r>
              <a:rPr sz="1050" b="0" i="0">
                <a:solidFill>
                  <a:srgbClr val="16213A"/>
                </a:solidFill>
                <a:latin typeface="Arial"/>
                <a:ea typeface="Malgun Gothic"/>
                <a:cs typeface="Malgun Gothic"/>
              </a:rPr>
              <a:t>의 차이를 줄이는 추종 항과 보정 크기 정규화 항이고, PPO로 학습한다. 보정을 얼리면 실물에 맞춘 시뮬레이터가 된다.</a:t>
            </a:r>
          </a:p>
        </p:txBody>
      </p:sp>
      <p:pic>
        <p:nvPicPr>
          <p:cNvPr id="11" name="Picture 10" descr="image.png"/>
          <p:cNvPicPr>
            <a:picLocks noChangeAspect="1"/>
          </p:cNvPicPr>
          <p:nvPr/>
        </p:nvPicPr>
        <p:blipFill>
          <a:blip r:embed="rId4"/>
          <a:stretch>
            <a:fillRect/>
          </a:stretch>
        </p:blipFill>
        <p:spPr>
          <a:xfrm>
            <a:off x="609600" y="4857254"/>
            <a:ext cx="2578100" cy="241300"/>
          </a:xfrm>
          <a:prstGeom prst="rect">
            <a:avLst/>
          </a:prstGeom>
        </p:spPr>
      </p:pic>
      <p:sp>
        <p:nvSpPr>
          <p:cNvPr id="12" name="TextBox 11"/>
          <p:cNvSpPr txBox="1"/>
          <p:nvPr/>
        </p:nvSpPr>
        <p:spPr>
          <a:xfrm>
            <a:off x="609600" y="5134769"/>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원래 정책은 사전학습과 같은 보상으로 이 시뮬레이터에서 다시 학습한다. 원문의 예는 이렇다. 시뮬레이터의 모터가 실물보다 세서 시뮬레이션에서만 뛸 수 있다면, 보정이 하체 행동을 약하게 만들어 실물의 한계를 시뮬레이터로 옮긴다. 비교 대상인 상태 잔차(DeltaDynamics)는 같은 실물 데이터로 </a:t>
            </a:r>
            <a:r>
              <a:rPr sz="1050" b="0" i="1">
                <a:solidFill>
                  <a:srgbClr val="16213A"/>
                </a:solidFill>
                <a:latin typeface="Arial"/>
                <a:ea typeface="Malgun Gothic"/>
                <a:cs typeface="Malgun Gothic"/>
              </a:rPr>
              <a:t>sₜ₊₁ = f^(sim)(sₜ, aₜ) + f^Δ_θ(sₜ, aₜ)</a:t>
            </a:r>
            <a:r>
              <a:rPr sz="1050" b="0" i="0">
                <a:solidFill>
                  <a:srgbClr val="16213A"/>
                </a:solidFill>
                <a:latin typeface="Arial"/>
                <a:ea typeface="Malgun Gothic"/>
                <a:cs typeface="Malgun Gothic"/>
              </a:rPr>
              <a:t>를 배운다.</a:t>
            </a:r>
          </a:p>
        </p:txBody>
      </p:sp>
      <p:sp>
        <p:nvSpPr>
          <p:cNvPr id="13" name="TextBox 12"/>
          <p:cNvSpPr txBox="1"/>
          <p:nvPr/>
        </p:nvSpPr>
        <p:spPr>
          <a:xfrm>
            <a:off x="609600" y="5656659"/>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12개(문단·식·그림)는 대시보드 리서치 탭의 "자세히: ASAP의 방법과 수식" 토글에 있다.</a:t>
            </a:r>
          </a:p>
        </p:txBody>
      </p:sp>
    </p:spTree>
  </p:cSld>
  <p:clrMapOvr>
    <a:masterClrMapping/>
  </p:clrMapOvr>
</p:sld>
</file>

<file path=ppt/slides/slide44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446 / 516</a:t>
            </a:r>
          </a:p>
        </p:txBody>
      </p:sp>
      <p:sp>
        <p:nvSpPr>
          <p:cNvPr id="5" name="TextBox 4"/>
          <p:cNvSpPr txBox="1"/>
          <p:nvPr/>
        </p:nvSpPr>
        <p:spPr>
          <a:xfrm>
            <a:off x="609600" y="1244600"/>
            <a:ext cx="10972800" cy="2164953"/>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HumanX — 휴대폰 영상 한 편에서 로봇–물체 상호작용 궤적을 물리 규칙으로 합성하고 늘려, 과제별 보상 없이 G1이 농구·축구·물건 집기·대련을 배운다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arXiv:2602.02473</a:t>
            </a:r>
            <a:r>
              <a:rPr sz="1050" b="0" i="0">
                <a:solidFill>
                  <a:srgbClr val="16213A"/>
                </a:solidFill>
                <a:latin typeface="Arial"/>
                <a:ea typeface="Malgun Gothic"/>
                <a:cs typeface="Malgun Gothic"/>
              </a:rPr>
              <a:t>, Wang·Zhao·Lau·Yu·Tsui·Chen·Wang·Pang·Tan, CoRL 2026, </a:t>
            </a:r>
            <a:r>
              <a:rPr sz="1050" b="0" i="0">
                <a:solidFill>
                  <a:srgbClr val="1D4ED8"/>
                </a:solidFill>
                <a:latin typeface="Arial"/>
                <a:ea typeface="Malgun Gothic"/>
                <a:cs typeface="Malgun Gothic"/>
                <a:hlinkClick r:id="rId4"/>
              </a:rPr>
              <a:t>프로젝트</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5"/>
              </a:rPr>
              <a:t>코드</a:t>
            </a:r>
            <a:r>
              <a:rPr sz="1050" b="0" i="0">
                <a:solidFill>
                  <a:srgbClr val="16213A"/>
                </a:solidFill>
                <a:latin typeface="Arial"/>
                <a:ea typeface="Malgun Gothic"/>
                <a:cs typeface="Malgun Gothic"/>
              </a:rPr>
              <a:t> Apache-2.0 + Commons Clause). 홍콩과기대(HKUST)와 Shanghai AI Laboratory의 연구다. 이 갈래의 앞 연구들(H2O·ExBody·ASAP)이 사람 몸만 따라 했다면, HumanX는 공·상자 같은 물체와의 상호작용까지 따라 한다. 두 부분으로 된다. XGen은 데이터를 만든다. 영상에서 사람 동작을 GVHMR로 추정하고 GMR로 G1에 옮긴다. 물체는 영상에서 복원하지 않고 합성한다. 접촉 구간에서는 두 손바닥 중점 같은 기준점과 물체의 상대 자세를 고정해 물체 궤적을 만들고, force closure 제약으로 손 자세를 다듬는다. 접촉하지 않는 구간(던진 공, 날아오는 공)은 물리 시뮬레이터로 굴린다. 날아오는 공은 접촉 순간에서 시간을 거꾸로 굴려 만든다. 물체 크기·모양·초기 속도를 바꿔 데모 한 편을 클립 50개로 늘린다. XMimic은 이 데이터를 따라 하는 RL이다. 클립마다 특권 상태를 보는 교사를 PPO로 학습하고, 교사들을 배포할 관측만 보는 학생 하나로 증류한다. 학생 손실은 PPO에 교사 행동과의 BC(behavior cloning) 손실을 더한 것이다. 보상은 몸 추종, 물체 추종, 몸–물체 상대 자세, 접촉 그래프, 정규화의 합이다. 몸 추종 항에는 AMP 항을 넣었다. 이 다섯 항을 과제마다 바꾸지 않는다. 배포는 두 방식이다. 물체를 전혀 보지 않는 NEP(no external perception) 모드는 고유감각 이력만으로 드리블·레이업·펌프 페이크 턴어라운드 페이드어웨이를 10번 중 7–10번 해냈다. MoCap 모드는 물체와 사람의 자세를 모션 캡처로 받는다. 사람과 농구공을 주고받기는 50번 중 41번, 축구공 차 돌려주기는 42번, 물건 집기는 43번, 주먹 막고 반격하기는 37번 성공했다. 기술마다 영상은 한 편이다.</a:t>
            </a:r>
          </a:p>
        </p:txBody>
      </p:sp>
      <p:sp>
        <p:nvSpPr>
          <p:cNvPr id="6" name="TextBox 5"/>
          <p:cNvSpPr txBox="1"/>
          <p:nvPr/>
        </p:nvSpPr>
        <p:spPr>
          <a:xfrm>
            <a:off x="609600" y="3498453"/>
            <a:ext cx="10972800" cy="151546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지형을 다루는 연구가 아니어서 정책을 옮길 자리는 없고, 학습 절차 셋을 옮긴다. 첫째는 상호작용 종료(interaction termination)다. 기준 프레임이 접촉 중인데 물체와 핵심 몸 부위의 상대 위치 오차가 문턱을 넘으면, 에피소드를 확률적으로 끝낸다. 더한 보상만 쓰면 정책이 몸 동작만 맞추고 물체를 놓치는 국소 최적에 빠지기 때문이다. Planner D RL 후학습(TP-0066)의 보상도 진행·cost·치명·부드러움의 합이다. 치명 셀 진입처럼 놓치면 안 되는 항을 보상 가중이 아니라 종료로 거는 판을 생각할 수 있다. 둘째는 흔든 초기화다. 몸통 자세·관절각·물체 자세를 에피소드 시작마다 흔들어 데모 밖 상태를 덮는다. 표 I에서 이것 하나로 상자 집기의 일반화 성공률이 50.9%에서 94.5%로 올랐다. Planner D의 리셋 커리큘럼(TP-0143)과 같은 자리다. 셋째는 관측 끊김을 학습에 넣는 것이다. 학습 때 모션 캡처의 프레임 손실을 흉내 내지 않으면, 실물에서 물체 신호가 잠깐 끊길 때 로봇이 쓰러졌다(그림 12). L1 belief 지도의 갱신 공백과 미관측 칸(TP-0055)도 학습 때 보여 줘야 한다는 B.16.7 1번과 같은 결론이다. '8배'의 근거는 시뮬레이션 일반화 성공률이다. 세 과제 평균이 HumanX 83.9%, HDMI 9.8%다. 데모 그대로의 성공률은 일반화를 넣으며 오히려 조금 내려갔다(농구 캐치-슛 93.4%에서 86.8%).</a:t>
            </a:r>
          </a:p>
        </p:txBody>
      </p:sp>
    </p:spTree>
  </p:cSld>
  <p:clrMapOvr>
    <a:masterClrMapping/>
  </p:clrMapOvr>
</p:sld>
</file>

<file path=ppt/slides/slide44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447 / 516</a:t>
            </a:r>
          </a:p>
        </p:txBody>
      </p:sp>
      <p:pic>
        <p:nvPicPr>
          <p:cNvPr id="5" name="Picture 4" descr="image.jpg"/>
          <p:cNvPicPr>
            <a:picLocks noChangeAspect="1"/>
          </p:cNvPicPr>
          <p:nvPr/>
        </p:nvPicPr>
        <p:blipFill>
          <a:blip r:embed="rId3"/>
          <a:stretch>
            <a:fillRect/>
          </a:stretch>
        </p:blipFill>
        <p:spPr>
          <a:xfrm>
            <a:off x="609600" y="1244600"/>
            <a:ext cx="5410200" cy="2101850"/>
          </a:xfrm>
          <a:prstGeom prst="rect">
            <a:avLst/>
          </a:prstGeom>
        </p:spPr>
      </p:pic>
      <p:sp>
        <p:nvSpPr>
          <p:cNvPr id="6" name="TextBox 5"/>
          <p:cNvSpPr txBox="1"/>
          <p:nvPr/>
        </p:nvSpPr>
        <p:spPr>
          <a:xfrm>
            <a:off x="609600" y="3384550"/>
            <a:ext cx="54102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HumanX (Fig. 1): 사람 영상(왼쪽)을 XGen이 로봇–물체 상호작용 데이터로 바꾸고(가운데), XMimic이 이를 따라 해 실물 G1의 농구·축구·물건 집기·대련 기술로 만든다(오른쪽). 출처: arXiv:2602.02473</a:t>
            </a:r>
          </a:p>
        </p:txBody>
      </p:sp>
      <p:pic>
        <p:nvPicPr>
          <p:cNvPr id="7" name="Picture 6" descr="image.jpg"/>
          <p:cNvPicPr>
            <a:picLocks noChangeAspect="1"/>
          </p:cNvPicPr>
          <p:nvPr/>
        </p:nvPicPr>
        <p:blipFill>
          <a:blip r:embed="rId4"/>
          <a:stretch>
            <a:fillRect/>
          </a:stretch>
        </p:blipFill>
        <p:spPr>
          <a:xfrm>
            <a:off x="6172200" y="1244600"/>
            <a:ext cx="5334000" cy="2667000"/>
          </a:xfrm>
          <a:prstGeom prst="rect">
            <a:avLst/>
          </a:prstGeom>
        </p:spPr>
      </p:pic>
      <p:sp>
        <p:nvSpPr>
          <p:cNvPr id="8" name="TextBox 7"/>
          <p:cNvSpPr txBox="1"/>
          <p:nvPr/>
        </p:nvSpPr>
        <p:spPr>
          <a:xfrm>
            <a:off x="6172200" y="3949700"/>
            <a:ext cx="54102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HumanX (Fig. 10): 모션 캡처로 물체와 사람을 보는 실물 실험이다. 위부터 사람과 농구공 주고받기, 축구공 차 돌려주기, 놓인 물통 집기 두 장면, 사람의 주먹을 막고 반격하기다. 출처: arXiv:2602.02473</a:t>
            </a:r>
          </a:p>
        </p:txBody>
      </p:sp>
    </p:spTree>
  </p:cSld>
  <p:clrMapOvr>
    <a:masterClrMapping/>
  </p:clrMapOvr>
</p:sld>
</file>

<file path=ppt/slides/slide44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자세히: HumanX의 방법과 수치</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448 / 516</a:t>
            </a:r>
          </a:p>
        </p:txBody>
      </p:sp>
      <p:pic>
        <p:nvPicPr>
          <p:cNvPr id="5" name="Picture 4" descr="image.jpg"/>
          <p:cNvPicPr>
            <a:picLocks noChangeAspect="1"/>
          </p:cNvPicPr>
          <p:nvPr/>
        </p:nvPicPr>
        <p:blipFill>
          <a:blip r:embed="rId3"/>
          <a:stretch>
            <a:fillRect/>
          </a:stretch>
        </p:blipFill>
        <p:spPr>
          <a:xfrm>
            <a:off x="2219325" y="1244600"/>
            <a:ext cx="7753350" cy="2984500"/>
          </a:xfrm>
          <a:prstGeom prst="rect">
            <a:avLst/>
          </a:prstGeom>
        </p:spPr>
      </p:pic>
      <p:sp>
        <p:nvSpPr>
          <p:cNvPr id="6" name="TextBox 5"/>
          <p:cNvSpPr txBox="1"/>
          <p:nvPr/>
        </p:nvSpPr>
        <p:spPr>
          <a:xfrm>
            <a:off x="2219325" y="4267200"/>
            <a:ext cx="775335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HumanX (Fig. 2): XGen의 여덟 단계다. 영상에서 사람 동작을 얻어 로봇에 옮기고(1–3), 접촉 구간은 물체 메쉬와 기준점 상대 자세로 물체 궤적을 만든 뒤 접촉을 다듬는다(4–6). 접촉하지 않는 구간은 시뮬레이터로 굴리고(7), 둘을 이어 전체 상호작용을 만든다(8). 노란 표시는 데이터를 늘리는 단계다. 출처: arXiv:2602.02473</a:t>
            </a:r>
          </a:p>
        </p:txBody>
      </p:sp>
      <p:sp>
        <p:nvSpPr>
          <p:cNvPr id="7" name="TextBox 6"/>
          <p:cNvSpPr txBox="1"/>
          <p:nvPr/>
        </p:nvSpPr>
        <p:spPr>
          <a:xfrm>
            <a:off x="609600" y="4640461"/>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XGen.</a:t>
            </a:r>
            <a:r>
              <a:rPr sz="1050" b="0" i="0">
                <a:solidFill>
                  <a:srgbClr val="16213A"/>
                </a:solidFill>
                <a:latin typeface="Arial"/>
                <a:ea typeface="Malgun Gothic"/>
                <a:cs typeface="Malgun Gothic"/>
              </a:rPr>
              <a:t> 영상의 각 프레임을 비접촉, 접촉, 비접촉 구간으로 손으로 나눈다. 접촉 시작 프레임에서 SAM 3D로 물체 메쉬와 기준점에 대한 상대 자세를 추정하거나, 손으로 정한다. 그래서 영상에 물체가 없어도 상호작용을 만들 수 있다. 기준점은 두 손으로 쥐는 동작(상자, 슛)이면 두 손바닥 중점, 한 점만 닿는 동작(셔틀콕 치기, 공 차기)이면 그 몸 부위다. 구간 경계에서는 몸 자세를 k 프레임 동안 선형 보간한다. 거꾸로 굴리는 시뮬레이션에서는 물체 감쇠 계수의 부호를 바꾼다. 늘리기는 셋이다. 물체 메쉬를 키우거나 바꾸고, 접촉 구간의 물체 궤적을 옮기거나 늘이고(예: 다른 높이의 상자 들기), 비접촉 구간의 초기 속도를 흔든다(예: 다른 거리의 슛).</a:t>
            </a:r>
          </a:p>
        </p:txBody>
      </p:sp>
      <p:sp>
        <p:nvSpPr>
          <p:cNvPr id="8" name="TextBox 7"/>
          <p:cNvSpPr txBox="1"/>
          <p:nvPr/>
        </p:nvSpPr>
        <p:spPr>
          <a:xfrm>
            <a:off x="609600" y="5595342"/>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8개(문단·식·그림)는 대시보드 리서치 탭의 "자세히: HumanX의 방법과 수치" 토글에 있다.</a:t>
            </a:r>
          </a:p>
        </p:txBody>
      </p:sp>
    </p:spTree>
  </p:cSld>
  <p:clrMapOvr>
    <a:masterClrMapping/>
  </p:clrMapOvr>
</p:sld>
</file>

<file path=ppt/slides/slide44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1/6</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449 / 516</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셋째 갈래(지형과 과제 비용).</a:t>
            </a:r>
            <a:r>
              <a:rPr sz="1050" b="0" i="0">
                <a:solidFill>
                  <a:srgbClr val="16213A"/>
                </a:solidFill>
                <a:latin typeface="Arial"/>
                <a:ea typeface="Malgun Gothic"/>
                <a:cs typeface="Malgun Gothic"/>
              </a:rPr>
              <a:t> 이 갈래의 정책은 지형을 직접 보거나, 생성 중에 과제 비용으로 끌려간다. 깊이 영상(Humanoid Parkour, PHP)과 높이 지도(VideoMimic)는 하위 정책의 입력이 된다. 비용 기울기(BeyondMimic)는 생성 모델의 출력을 바꾼다. 셋 모두 경로는 여전히 위에서 받는다. 조이스틱 방향, 목표 방향, 경유점이 그것이다.</a:t>
            </a:r>
          </a:p>
        </p:txBody>
      </p:sp>
      <p:sp>
        <p:nvSpPr>
          <p:cNvPr id="6" name="TextBox 5"/>
          <p:cNvSpPr txBox="1"/>
          <p:nvPr/>
        </p:nvSpPr>
        <p:spPr>
          <a:xfrm>
            <a:off x="609600" y="1766491"/>
            <a:ext cx="10972800" cy="1298972"/>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Humanoid Parkour Learning — 깊이 카메라 하나를 보는 전신 정책이 기술을 스스로 골라 0.42 m 단에 오르고 0.8 m 틈을 건넜다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arXiv:2406.10759</a:t>
            </a:r>
            <a:r>
              <a:rPr sz="1050" b="0" i="0">
                <a:solidFill>
                  <a:srgbClr val="16213A"/>
                </a:solidFill>
                <a:latin typeface="Arial"/>
                <a:ea typeface="Malgun Gothic"/>
                <a:cs typeface="Malgun Gothic"/>
              </a:rPr>
              <a:t>, Zhuang·Yao·Zhao, CoRL 2024(PMLR 270), </a:t>
            </a:r>
            <a:r>
              <a:rPr sz="1050" b="0" i="0">
                <a:solidFill>
                  <a:srgbClr val="1D4ED8"/>
                </a:solidFill>
                <a:latin typeface="Arial"/>
                <a:ea typeface="Malgun Gothic"/>
                <a:cs typeface="Malgun Gothic"/>
                <a:hlinkClick r:id="rId4"/>
              </a:rPr>
              <a:t>프로젝트</a:t>
            </a:r>
            <a:r>
              <a:rPr sz="1050" b="0" i="0">
                <a:solidFill>
                  <a:srgbClr val="16213A"/>
                </a:solidFill>
                <a:latin typeface="Arial"/>
                <a:ea typeface="Malgun Gothic"/>
                <a:cs typeface="Malgun Gothic"/>
              </a:rPr>
              <a:t>). Shanghai Qi Zhi Institute와 칭화대 Hang Zhao 연구실의 연구다. B.12.2 Robot Parkour Learning의 1저자가 사족 로봇에서 하던 파쿠르 학습을 Unitree H1으로 옮겼다. 학습은 세 단계다. 먼저 평지 보행 정책을 학습하는데, 발 들기를 보상으로 시키지 않고 지형 높이에 프랙탈 잡음을 섞어 발을 들게 했다. 다음으로 지형 10종 × 난이도 10단계 격자에서 높이 샘플(scandots)을 보는 교사를 학습한다. 구간의 3/4 이상을 가면 어려운 단계로, 1/2도 못 가면 쉬운 단계로 옮긴다. 마지막으로 RealSense D435i의 잡음을 흉내 낸 깊이 영상(48 × 64)을 보는 학생을 DAgger로 증류한다. 깊이 인코더는 10 Hz, 정책은 50 Hz로 돈다. 정책은 조이스틱의 방향 명령만 받고, 장애물에 맞는 기술을 스스로 고른다. 실물에서 0.42 m 단 오르기, 0.8 m 틈 건너기, 1.8 m/s 달리기를 보였다.</a:t>
            </a:r>
          </a:p>
        </p:txBody>
      </p:sp>
      <p:sp>
        <p:nvSpPr>
          <p:cNvPr id="7" name="TextBox 6"/>
          <p:cNvSpPr txBox="1"/>
          <p:nvPr/>
        </p:nvSpPr>
        <p:spPr>
          <a:xfrm>
            <a:off x="609600" y="3154362"/>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커리큘럼 규칙(3/4 진행이면 올리고 1/2 미만이면 내림)은 Rudin 2021(B.14.1)과 같은 꼴이다. travplan은 지형 레벨을 평가 스윕(TP-0039)과 고른 표집(TP-0073, TP-0066)으로만 쓴다. 저자들은 계단에서 명시적 발 디딤 안내 없이는 RL 행동이 충분히 정확하지 않다며 DTC(B.14.2)를 인용하고, 로그형 발 디딤 보상을 더했다. 실물 시험의 경사는 높이 0.2 m, 길이 0.5 m짜리 연석 경사로 제품으로 만들었다. 이 경사(0.38 rad)는 travplan 스워브의 경사 한계 0.26 rad보다 가파르다.</a:t>
            </a:r>
          </a:p>
        </p:txBody>
      </p:sp>
    </p:spTree>
  </p:cSld>
  <p:clrMapOvr>
    <a:masterClrMapping/>
  </p:clrMapOvr>
</p:sld>
</file>

<file path=ppt/slides/slide45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2/6</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450 / 516</a:t>
            </a:r>
          </a:p>
        </p:txBody>
      </p:sp>
      <p:pic>
        <p:nvPicPr>
          <p:cNvPr id="5" name="Picture 4" descr="image.jpg"/>
          <p:cNvPicPr>
            <a:picLocks noChangeAspect="1"/>
          </p:cNvPicPr>
          <p:nvPr/>
        </p:nvPicPr>
        <p:blipFill>
          <a:blip r:embed="rId3"/>
          <a:stretch>
            <a:fillRect/>
          </a:stretch>
        </p:blipFill>
        <p:spPr>
          <a:xfrm>
            <a:off x="3451225" y="1244600"/>
            <a:ext cx="5289550" cy="4445000"/>
          </a:xfrm>
          <a:prstGeom prst="rect">
            <a:avLst/>
          </a:prstGeom>
        </p:spPr>
      </p:pic>
      <p:sp>
        <p:nvSpPr>
          <p:cNvPr id="6" name="TextBox 5"/>
          <p:cNvSpPr txBox="1"/>
          <p:nvPr/>
        </p:nvSpPr>
        <p:spPr>
          <a:xfrm>
            <a:off x="3451225" y="5727700"/>
            <a:ext cx="528955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Humanoid Parkour Learning (Fig. 1): H1이 보도 걷기, 낮은 장애물 넘기, 상자 위 뛰어오르기, 계단과 경사판 오르기, 틈 건너뛰기, 운동장 트랙 달리기를 한다. 아래 줄 둘째 장면은 사람이 팔만 따로 조종하는 시험이다. 출처: arXiv:2406.10759</a:t>
            </a:r>
          </a:p>
        </p:txBody>
      </p:sp>
    </p:spTree>
  </p:cSld>
  <p:clrMapOvr>
    <a:masterClrMapping/>
  </p:clrMapOvr>
</p:sld>
</file>

<file path=ppt/slides/slide45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3/6</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451 / 516</a:t>
            </a:r>
          </a:p>
        </p:txBody>
      </p:sp>
      <p:sp>
        <p:nvSpPr>
          <p:cNvPr id="5" name="TextBox 4"/>
          <p:cNvSpPr txBox="1"/>
          <p:nvPr/>
        </p:nvSpPr>
        <p:spPr>
          <a:xfrm>
            <a:off x="609600" y="1244600"/>
            <a:ext cx="10972800" cy="1731962"/>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VideoMimic — 휴대폰 영상에서 사람과 장면을 함께 복원해, 11 × 11 높이 지도와 목표 방향만 보는 G1 정책 하나가 계단을 오르고 의자에 앉는다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arXiv:2505.03729</a:t>
            </a:r>
            <a:r>
              <a:rPr sz="1050" b="0" i="0">
                <a:solidFill>
                  <a:srgbClr val="16213A"/>
                </a:solidFill>
                <a:latin typeface="Arial"/>
                <a:ea typeface="Malgun Gothic"/>
                <a:cs typeface="Malgun Gothic"/>
              </a:rPr>
              <a:t>, Allshire·Choi·Zhang·McAllister·Zhang·Kim·Darrell·Abbeel·Malik·Kanazawa, CoRL 2025(PMLR 305), </a:t>
            </a:r>
            <a:r>
              <a:rPr sz="1050" b="0" i="0">
                <a:solidFill>
                  <a:srgbClr val="1D4ED8"/>
                </a:solidFill>
                <a:latin typeface="Arial"/>
                <a:ea typeface="Malgun Gothic"/>
                <a:cs typeface="Malgun Gothic"/>
                <a:hlinkClick r:id="rId4"/>
              </a:rPr>
              <a:t>프로젝트</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5"/>
              </a:rPr>
              <a:t>코드</a:t>
            </a:r>
            <a:r>
              <a:rPr sz="1050" b="0" i="0">
                <a:solidFill>
                  <a:srgbClr val="16213A"/>
                </a:solidFill>
                <a:latin typeface="Arial"/>
                <a:ea typeface="Malgun Gothic"/>
                <a:cs typeface="Malgun Gothic"/>
              </a:rPr>
              <a:t> MIT). UC Berkeley의 연구로, 프로젝트 페이지는 CoRL 2025 최우수 학생 논문상을 받았다고 적는다. 직접 찍은 휴대폰 영상 123개에서 사람의 4D 동작과 장면 기하를 함께 복원하고, 동작을 G1에 옮긴다. RL은 네 단계다. 모션 캡처로 사전학습하고, 복원한 장면 위에서 영상 동작을 따라 하며 높이 지도 입력을 붙인다. 그다음 목표 관절각을 빼고 세 가지만 보는 정책으로 DAgger 증류한다. 고유감각·몸통 중심 11 × 11 높이 지도(0.1 m 간격)·목표 방향(국소 좌표의 x·y 오프셋과 yaw)이다. 마지막으로 같은 관측으로 PPO 미세 조정한다. 실물 G1(23자유도)에서는 정책이 Jetson Orin NX로 50 Hz에 돈다. 높이 지도는 Fast-LIO2 오도메트리와 Fankhauser 외의 확률적 지형 지도(B.14.1의 로봇 중심 elevation mapping)로 만든다. 목표 방향은 사람이 조이스틱으로 준다. 정책 하나가 지도를 보고 계단 오르내리기, 의자와 벤치에 앉고 일어서기, 흙 비탈과 연석 넘기를 고른다. 원문은 목표 방향을 조이스틱이나 상위 제어기의 경로에서 받을 수 있다고 적는다. 배포를 다듬는 과정에서 몸통 위치를 조건으로 주는 편이 몸통 속도보다 낫다는 것도 확인했다(부록 C.1).</a:t>
            </a:r>
          </a:p>
        </p:txBody>
      </p:sp>
      <p:sp>
        <p:nvSpPr>
          <p:cNvPr id="6" name="TextBox 5"/>
          <p:cNvSpPr txBox="1"/>
          <p:nvPr/>
        </p:nvSpPr>
        <p:spPr>
          <a:xfrm>
            <a:off x="609600" y="3065462"/>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TravMap을 보는 하위 정책에 가장 가까운 휴머노이드 사례다. Playground의 학습 Controller </a:t>
            </a:r>
            <a:r>
              <a:rPr sz="1050" b="0" i="0">
                <a:solidFill>
                  <a:srgbClr val="16213A"/>
                </a:solidFill>
                <a:latin typeface="Consolas"/>
                <a:ea typeface="Malgun Gothic"/>
                <a:cs typeface="Malgun Gothic"/>
              </a:rPr>
              <a:t>TinyPolicy</a:t>
            </a:r>
            <a:r>
              <a:rPr sz="1050" b="0" i="0">
                <a:solidFill>
                  <a:srgbClr val="16213A"/>
                </a:solidFill>
                <a:latin typeface="Arial"/>
                <a:ea typeface="Malgun Gothic"/>
                <a:cs typeface="Malgun Gothic"/>
              </a:rPr>
              <a:t>(TP-0128)는 앞쪽 belief cost 7 × 5칸·경로 앞 네 점·현재 twist·자세를 보고 body twist를 낸다. VideoMimic은 몸통 둘레 높이 그대로를, </a:t>
            </a:r>
            <a:r>
              <a:rPr sz="1050" b="0" i="0">
                <a:solidFill>
                  <a:srgbClr val="16213A"/>
                </a:solidFill>
                <a:latin typeface="Consolas"/>
                <a:ea typeface="Malgun Gothic"/>
                <a:cs typeface="Malgun Gothic"/>
              </a:rPr>
              <a:t>TinyPolicy</a:t>
            </a:r>
            <a:r>
              <a:rPr sz="1050" b="0" i="0">
                <a:solidFill>
                  <a:srgbClr val="16213A"/>
                </a:solidFill>
                <a:latin typeface="Arial"/>
                <a:ea typeface="Malgun Gothic"/>
                <a:cs typeface="Malgun Gothic"/>
              </a:rPr>
              <a:t>는 앞쪽 cost를 본다. 둘 다 경로는 위에서 받는다. 같은 UC Berkeley의 HT(v1 표 III)와 HT-2(보충 표 S1)는 높이 지도 121칸을 교사나 critic의 특권 정보로만 썼다. VideoMimic에서는 같은 크기의 지도가 배포 정책의 입력이다. 저자들이 밝힌 한계에는 이 성긴 격자로는 위에 걸린 장애물을 다루지 못한다는 것이 있다. travplan TravMap의 알려진 한계(오버행 미표현)와 같다.</a:t>
            </a:r>
          </a:p>
        </p:txBody>
      </p:sp>
    </p:spTree>
  </p:cSld>
  <p:clrMapOvr>
    <a:masterClrMapping/>
  </p:clrMapOvr>
</p:sld>
</file>

<file path=ppt/slides/slide45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4/6</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452 / 516</a:t>
            </a:r>
          </a:p>
        </p:txBody>
      </p:sp>
      <p:pic>
        <p:nvPicPr>
          <p:cNvPr id="5" name="Picture 4" descr="image.jpg"/>
          <p:cNvPicPr>
            <a:picLocks noChangeAspect="1"/>
          </p:cNvPicPr>
          <p:nvPr/>
        </p:nvPicPr>
        <p:blipFill>
          <a:blip r:embed="rId3"/>
          <a:stretch>
            <a:fillRect/>
          </a:stretch>
        </p:blipFill>
        <p:spPr>
          <a:xfrm>
            <a:off x="3467100" y="1244600"/>
            <a:ext cx="5257800" cy="4445000"/>
          </a:xfrm>
          <a:prstGeom prst="rect">
            <a:avLst/>
          </a:prstGeom>
        </p:spPr>
      </p:pic>
      <p:sp>
        <p:nvSpPr>
          <p:cNvPr id="6" name="TextBox 5"/>
          <p:cNvSpPr txBox="1"/>
          <p:nvPr/>
        </p:nvSpPr>
        <p:spPr>
          <a:xfrm>
            <a:off x="3467100" y="5727700"/>
            <a:ext cx="5257800" cy="42654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VideoMimic (Fig. 5): 실물 G1이 정책 하나로 돌 벤치에서 일어서고(첫 줄), 실외 계단을 오르고(둘째 줄), 내려가고(셋째 줄), 연석을 넘어 거친 흙 비탈로 들어간다(넷째 줄). 원문은 정책이 높이 지도와 조이스틱 방향을 보고 할 일을 고른다고 적는다. 출처: arXiv:2505.03729</a:t>
            </a:r>
          </a:p>
        </p:txBody>
      </p:sp>
    </p:spTree>
  </p:cSld>
  <p:clrMapOvr>
    <a:masterClrMapping/>
  </p:clrMapOvr>
</p:sld>
</file>

<file path=ppt/slides/slide45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5/6</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453 / 516</a:t>
            </a:r>
          </a:p>
        </p:txBody>
      </p:sp>
      <p:sp>
        <p:nvSpPr>
          <p:cNvPr id="5" name="TextBox 4"/>
          <p:cNvSpPr txBox="1"/>
          <p:nvPr/>
        </p:nvSpPr>
        <p:spPr>
          <a:xfrm>
            <a:off x="609600" y="1244600"/>
            <a:ext cx="10972800" cy="151546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BeyondMimic — 한 설정으로 학습한 동작 추종 정책들을 잠재 상태–행동 diffusion 하나로 묶고, 처음 보는 과제는 생성 중 비용 기울기로 푼다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arXiv:2508.08241</a:t>
            </a:r>
            <a:r>
              <a:rPr sz="1050" b="0" i="0">
                <a:solidFill>
                  <a:srgbClr val="16213A"/>
                </a:solidFill>
                <a:latin typeface="Arial"/>
                <a:ea typeface="Malgun Gothic"/>
                <a:cs typeface="Malgun Gothic"/>
              </a:rPr>
              <a:t>, Liao·Truong·Huang·Gao·Tevet·Sreenath·Liu, Science Robotics 11(117) eadx8924, 2026, </a:t>
            </a:r>
            <a:r>
              <a:rPr sz="1050" b="0" i="0">
                <a:solidFill>
                  <a:srgbClr val="1D4ED8"/>
                </a:solidFill>
                <a:latin typeface="Arial"/>
                <a:ea typeface="Malgun Gothic"/>
                <a:cs typeface="Malgun Gothic"/>
                <a:hlinkClick r:id="rId4"/>
              </a:rPr>
              <a:t>doi:10.1126/scirobotics.adx8924</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5"/>
              </a:rPr>
              <a:t>프로젝트</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6"/>
              </a:rPr>
              <a:t>코드(동작 추종)</a:t>
            </a:r>
            <a:r>
              <a:rPr sz="1050" b="0" i="0">
                <a:solidFill>
                  <a:srgbClr val="16213A"/>
                </a:solidFill>
                <a:latin typeface="Arial"/>
                <a:ea typeface="Malgun Gothic"/>
                <a:cs typeface="Malgun Gothic"/>
              </a:rPr>
              <a:t> MIT). UC Berkeley Hybrid Robotics와 Stanford(C. Karen Liu)의 공동 연구이고, 로봇은 Unitree G1이다. 두 단계로 된다. 첫째, 사람 동작 하나하나를 따라 하는 추종 정책을 RL로 학습한다. 보상은 몸 부위 추종 항 넷과 정규화 항 셋뿐이다. 무작위화는 마찰·반발 계수, 관절 기본각, 몸통 무게중심과 속도 밀기만 쓴다. 대신 로터 관성과 감속비로 계산한 반사 관성(armature)을 시뮬레이터에 정확히 넣고, 배포 코드의 지연을 줄였다. 이 한 가지 설정으로 공중 옆돌기·회전 차기·달리기를 동작별 조정 없이 학습했다. 학습 동작은 약 2.5시간이고, 그 가운데 30개(15분)를 실물에 올렸다. 둘째, 추종 정책들을 VAE(variational autoencoder)에 증류한 뒤, 과거·현재·미래의 상태와 잠재를 함께 생성하는 diffusion 모델을 학습한다. 처음 보는 과제는 학습하지 않고, 생성 중에 과제 비용의 기울기를 더해 푼다(classifier guidance). 조이스틱 속도 추종·경유점 도달·장애물 회피·키프레임 사이 채우기를 이렇게 했다.</a:t>
            </a:r>
          </a:p>
        </p:txBody>
      </p:sp>
      <p:sp>
        <p:nvSpPr>
          <p:cNvPr id="6" name="TextBox 5"/>
          <p:cNvSpPr txBox="1"/>
          <p:nvPr/>
        </p:nvSpPr>
        <p:spPr>
          <a:xfrm>
            <a:off x="609600" y="2848967"/>
            <a:ext cx="10972800" cy="1298972"/>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구조가 Planner D와 같은 쪽을 향한다. 시연을 생성 모델로 배우고, 실행할 때 비용으로 끌어간다. travplan도 비용 기울기 유도판(</a:t>
            </a:r>
            <a:r>
              <a:rPr sz="1050" b="0" i="0">
                <a:solidFill>
                  <a:srgbClr val="16213A"/>
                </a:solidFill>
                <a:latin typeface="Consolas"/>
                <a:ea typeface="Malgun Gothic"/>
                <a:cs typeface="Malgun Gothic"/>
              </a:rPr>
              <a:t>planner_dg</a:t>
            </a:r>
            <a:r>
              <a:rPr sz="1050" b="0" i="0">
                <a:solidFill>
                  <a:srgbClr val="16213A"/>
                </a:solidFill>
                <a:latin typeface="Arial"/>
                <a:ea typeface="Malgun Gothic"/>
                <a:cs typeface="Malgun Gothic"/>
              </a:rPr>
              <a:t>)을 만들었다. 계획에 65–151 ms가 들었고, </a:t>
            </a:r>
            <a:r>
              <a:rPr sz="1050" b="0" i="0">
                <a:solidFill>
                  <a:srgbClr val="16213A"/>
                </a:solidFill>
                <a:latin typeface="Consolas"/>
                <a:ea typeface="Malgun Gothic"/>
                <a:cs typeface="Malgun Gothic"/>
              </a:rPr>
              <a:t>ReferenceCost</a:t>
            </a:r>
            <a:r>
              <a:rPr sz="1050" b="0" i="0">
                <a:solidFill>
                  <a:srgbClr val="16213A"/>
                </a:solidFill>
                <a:latin typeface="Arial"/>
                <a:ea typeface="Malgun Gothic"/>
                <a:cs typeface="Malgun Gothic"/>
              </a:rPr>
              <a:t>를 고친 뒤에는 유도 없이 12/12가 되어 쓰지 않게 됐다(B.8.3). 그 뒤 TP-0143(B.15.6)의 진단에서는 RL 1단계 체크포인트에 cost 안내 샘플링(</a:t>
            </a:r>
            <a:r>
              <a:rPr sz="1050" b="0" i="0">
                <a:solidFill>
                  <a:srgbClr val="16213A"/>
                </a:solidFill>
                <a:latin typeface="Consolas"/>
                <a:ea typeface="Malgun Gothic"/>
                <a:cs typeface="Malgun Gothic"/>
              </a:rPr>
              <a:t>planner_dg</a:t>
            </a:r>
            <a:r>
              <a:rPr sz="1050" b="0" i="0">
                <a:solidFill>
                  <a:srgbClr val="16213A"/>
                </a:solidFill>
                <a:latin typeface="Arial"/>
                <a:ea typeface="Malgun Gothic"/>
                <a:cs typeface="Malgun Gothic"/>
              </a:rPr>
              <a:t>)을 켜자 curb_ramp 레벨 3 단독이 3/30(시간 초과 27)으로 무너졌다. BeyondMimic도 큰 유도 가중이 잡음 제거를 불안정하게 만든다고 적는다. 장애물 회피에 쓴 것은 SDF(signed distance field)에 건 완화 로그 장벽이다. 이것을 travplan의 치명 셀 ESDF(Euclidean signed distance field, TP-0071)에 옮긴다면 작은 가중에서 시작해 그 curb_ramp 장면을 먼저 짝 비교로 잰다. 시연 데이터를 만드는 방법도 옮길 만하다. PDP(Truong 외, SIGGRAPH Asia 2024)를 따라 행동에 잡음을 넣어 회복할 '오차 띠'를 만들었다. 스텝마다 독립인(i.i.d.) 잡음 대신 시간 상관이 있는 OU(Ornstein–Uhlenbeck) 잡음을 썼다. Planner D의 DAgger(TP-0075)와 리셋 커리큘럼(TP-0143)이 같은 문제를 다른 방법으로 다룬다.</a:t>
            </a:r>
          </a:p>
        </p:txBody>
      </p:sp>
    </p:spTree>
  </p:cSld>
  <p:clrMapOvr>
    <a:masterClrMapping/>
  </p:clrMapOvr>
</p:sld>
</file>

<file path=ppt/slides/slide45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6/6</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454 / 516</a:t>
            </a:r>
          </a:p>
        </p:txBody>
      </p:sp>
      <p:pic>
        <p:nvPicPr>
          <p:cNvPr id="5" name="Picture 4" descr="image.jpg"/>
          <p:cNvPicPr>
            <a:picLocks noChangeAspect="1"/>
          </p:cNvPicPr>
          <p:nvPr/>
        </p:nvPicPr>
        <p:blipFill>
          <a:blip r:embed="rId3"/>
          <a:stretch>
            <a:fillRect/>
          </a:stretch>
        </p:blipFill>
        <p:spPr>
          <a:xfrm>
            <a:off x="609600" y="1244600"/>
            <a:ext cx="3003550" cy="2667000"/>
          </a:xfrm>
          <a:prstGeom prst="rect">
            <a:avLst/>
          </a:prstGeom>
        </p:spPr>
      </p:pic>
      <p:sp>
        <p:nvSpPr>
          <p:cNvPr id="6" name="TextBox 5"/>
          <p:cNvSpPr txBox="1"/>
          <p:nvPr/>
        </p:nvSpPr>
        <p:spPr>
          <a:xfrm>
            <a:off x="609600" y="3949700"/>
            <a:ext cx="5410200" cy="42654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BeyondMimic (Fig. 3): (A) 숲속 낙엽과 무른 흙 위에서 공중 옆돌기, 180° 회전 차기 두 번, 360° 플립 차기를 한 번에 잇는 G1이다. (B) 같은 구간의 몸통 자세, 선가속도, 각속도다. 원문은 공중 구간의 최대 가속도를 31 m/s², 골반 각속도를 최대 20 rad/s로 적는다. 출처: arXiv:2508.08241</a:t>
            </a:r>
          </a:p>
        </p:txBody>
      </p:sp>
      <p:pic>
        <p:nvPicPr>
          <p:cNvPr id="7" name="Picture 6" descr="image.jpg"/>
          <p:cNvPicPr>
            <a:picLocks noChangeAspect="1"/>
          </p:cNvPicPr>
          <p:nvPr/>
        </p:nvPicPr>
        <p:blipFill>
          <a:blip r:embed="rId4"/>
          <a:stretch>
            <a:fillRect/>
          </a:stretch>
        </p:blipFill>
        <p:spPr>
          <a:xfrm>
            <a:off x="6172200" y="1244600"/>
            <a:ext cx="2641600" cy="2667000"/>
          </a:xfrm>
          <a:prstGeom prst="rect">
            <a:avLst/>
          </a:prstGeom>
        </p:spPr>
      </p:pic>
      <p:sp>
        <p:nvSpPr>
          <p:cNvPr id="8" name="TextBox 7"/>
          <p:cNvSpPr txBox="1"/>
          <p:nvPr/>
        </p:nvSpPr>
        <p:spPr>
          <a:xfrm>
            <a:off x="6172200" y="3949700"/>
            <a:ext cx="5410200" cy="568722"/>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BeyondMimic (Fig. 7): (A) 기준 동작을 현재 앵커 몸체에 다시 맞춰 추종 오차를 재고, 한 가지 설정으로 동작마다 추종 정책을 학습한다. (B) 추종 정책들을 DAgger로 VAE에 증류하고, 과거·현재·미래의 상태 s와 잠재 z를 함께 잡음 제거하는 transformer를 학습한다. 배포 때는 과제 비용이 생성을 유도하고, 디코더가 현재 잠재를 행동 a로 바꾼다. (C) 조이스틱, 장애물 회피, 경유점, 동작 채우기를 같은 모델로 한다. 출처: arXiv:2508.08241</a:t>
            </a:r>
          </a:p>
        </p:txBody>
      </p:sp>
    </p:spTree>
  </p:cSld>
  <p:clrMapOvr>
    <a:masterClrMapping/>
  </p:clrMapOvr>
</p:sld>
</file>

<file path=ppt/slides/slide45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자세히: BeyondMimic의 동작 추종과 유도 diffusion</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455 / 516</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풀려는 문제.</a:t>
            </a:r>
            <a:r>
              <a:rPr sz="1050" b="0" i="0">
                <a:solidFill>
                  <a:srgbClr val="16213A"/>
                </a:solidFill>
                <a:latin typeface="Arial"/>
                <a:ea typeface="Malgun Gothic"/>
                <a:cs typeface="Malgun Gothic"/>
              </a:rPr>
              <a:t> 사람 동작을 따라 하는 RL은 그동안 동작마다 보상과 이득을 다시 맞춰야 했고, 학습한 동작만 재생했다. 추종기 위에 과제 Planner를 따로 학습해 얹는 계층형은 Planner와 추종기가 어긋난다. VAE 기반 생성 모델은 장애물 회피처럼 명시하기 어려운 목표에 약하다. BeyondMimic은 동작별 조정 없는 추종 레시피와, 실행 중 비용으로 끌어가는 생성 모델로 이 둘을 푼다.</a:t>
            </a:r>
          </a:p>
        </p:txBody>
      </p:sp>
      <p:sp>
        <p:nvSpPr>
          <p:cNvPr id="6" name="TextBox 5"/>
          <p:cNvSpPr txBox="1"/>
          <p:nvPr/>
        </p:nvSpPr>
        <p:spPr>
          <a:xfrm>
            <a:off x="609600" y="176649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동작 추종의 목표와 보상.</a:t>
            </a:r>
            <a:r>
              <a:rPr sz="1050" b="0" i="0">
                <a:solidFill>
                  <a:srgbClr val="16213A"/>
                </a:solidFill>
                <a:latin typeface="Arial"/>
                <a:ea typeface="Malgun Gothic"/>
                <a:cs typeface="Malgun Gothic"/>
              </a:rPr>
              <a:t> 앵커 몸체(몸통)는 기준을 그대로 따른다. 나머지 몸체는 앵커 중심 좌표(yaw 정렬, 높이 유지)에서 따른다. 전역 drift를 허용하면서 동작 모양을 지킨다. 보상은 위치·자세·선속도·각속도 오차의 몸체 평균 </a:t>
            </a:r>
            <a:r>
              <a:rPr sz="1050" b="0" i="1">
                <a:solidFill>
                  <a:srgbClr val="16213A"/>
                </a:solidFill>
                <a:latin typeface="Arial"/>
                <a:ea typeface="Malgun Gothic"/>
                <a:cs typeface="Malgun Gothic"/>
              </a:rPr>
              <a:t>ēₛ</a:t>
            </a:r>
            <a:r>
              <a:rPr sz="1050" b="0" i="0">
                <a:solidFill>
                  <a:srgbClr val="16213A"/>
                </a:solidFill>
                <a:latin typeface="Arial"/>
                <a:ea typeface="Malgun Gothic"/>
                <a:cs typeface="Malgun Gothic"/>
              </a:rPr>
              <a:t>를 가우시안형으로 바꿔 더한다.</a:t>
            </a:r>
          </a:p>
        </p:txBody>
      </p:sp>
      <p:pic>
        <p:nvPicPr>
          <p:cNvPr id="7" name="Picture 6" descr="image.png"/>
          <p:cNvPicPr>
            <a:picLocks noChangeAspect="1"/>
          </p:cNvPicPr>
          <p:nvPr/>
        </p:nvPicPr>
        <p:blipFill>
          <a:blip r:embed="rId3"/>
          <a:stretch>
            <a:fillRect/>
          </a:stretch>
        </p:blipFill>
        <p:spPr>
          <a:xfrm>
            <a:off x="609600" y="2288381"/>
            <a:ext cx="2263775" cy="457200"/>
          </a:xfrm>
          <a:prstGeom prst="rect">
            <a:avLst/>
          </a:prstGeom>
        </p:spPr>
      </p:pic>
      <p:sp>
        <p:nvSpPr>
          <p:cNvPr id="8" name="TextBox 7"/>
          <p:cNvSpPr txBox="1"/>
          <p:nvPr/>
        </p:nvSpPr>
        <p:spPr>
          <a:xfrm>
            <a:off x="609600" y="2753618"/>
            <a:ext cx="10972800" cy="216495"/>
          </a:xfrm>
          <a:prstGeom prst="rect">
            <a:avLst/>
          </a:prstGeom>
          <a:noFill/>
        </p:spPr>
        <p:txBody>
          <a:bodyPr wrap="square" lIns="0" rIns="0" tIns="0" bIns="0" anchor="t">
            <a:spAutoFit/>
            <a:normAutofit/>
          </a:bodyPr>
          <a:lstStyle/>
          <a:p>
            <a:r>
              <a:rPr sz="1050" b="0" i="1">
                <a:solidFill>
                  <a:srgbClr val="16213A"/>
                </a:solidFill>
                <a:latin typeface="Arial"/>
                <a:ea typeface="Malgun Gothic"/>
                <a:cs typeface="Malgun Gothic"/>
              </a:rPr>
              <a:t>σ</a:t>
            </a:r>
            <a:r>
              <a:rPr sz="1050" b="0" i="0">
                <a:solidFill>
                  <a:srgbClr val="16213A"/>
                </a:solidFill>
                <a:latin typeface="Arial"/>
                <a:ea typeface="Malgun Gothic"/>
                <a:cs typeface="Malgun Gothic"/>
              </a:rPr>
              <a:t>는 위치 0.3, 자세 0.4, 선속도 1.0, 각속도 3.14다. 정규화는 관절 한계(−10)·행동 변화율(−0.1)·자기 충돌(−0.1) 셋뿐이다.</a:t>
            </a:r>
          </a:p>
        </p:txBody>
      </p:sp>
      <p:sp>
        <p:nvSpPr>
          <p:cNvPr id="9" name="TextBox 8"/>
          <p:cNvSpPr txBox="1"/>
          <p:nvPr/>
        </p:nvSpPr>
        <p:spPr>
          <a:xfrm>
            <a:off x="609600" y="3059013"/>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동작 추종의 나머지 설정.</a:t>
            </a:r>
          </a:p>
        </p:txBody>
      </p:sp>
      <p:sp>
        <p:nvSpPr>
          <p:cNvPr id="10" name="TextBox 9"/>
          <p:cNvSpPr txBox="1"/>
          <p:nvPr/>
        </p:nvSpPr>
        <p:spPr>
          <a:xfrm>
            <a:off x="609600" y="3364409"/>
            <a:ext cx="10972800" cy="916781"/>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관측: 위상(기준 관절각과 속도)·앵커 자세 오차·IMU twist·관절 상태·직전 행동이다. 이력은 쌓지 않는다. 행동은 관절 목표이고, 관절 한계로 자르지 않는다.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이득: 반사 관성 </a:t>
            </a:r>
            <a:r>
              <a:rPr sz="1050" b="0" i="1">
                <a:solidFill>
                  <a:srgbClr val="16213A"/>
                </a:solidFill>
                <a:latin typeface="Arial"/>
                <a:ea typeface="Malgun Gothic"/>
                <a:cs typeface="Malgun Gothic"/>
              </a:rPr>
              <a:t>I_j</a:t>
            </a:r>
            <a:r>
              <a:rPr sz="1050" b="0" i="0">
                <a:solidFill>
                  <a:srgbClr val="16213A"/>
                </a:solidFill>
                <a:latin typeface="Arial"/>
                <a:ea typeface="Malgun Gothic"/>
                <a:cs typeface="Malgun Gothic"/>
              </a:rPr>
              <a:t>로 </a:t>
            </a:r>
            <a:r>
              <a:rPr sz="1050" b="0" i="1">
                <a:solidFill>
                  <a:srgbClr val="16213A"/>
                </a:solidFill>
                <a:latin typeface="Arial"/>
                <a:ea typeface="Malgun Gothic"/>
                <a:cs typeface="Malgun Gothic"/>
              </a:rPr>
              <a:t>kₚ = I_j ω²</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k_d = 2 I_j ζ ω</a:t>
            </a:r>
            <a:r>
              <a:rPr sz="1050" b="0" i="0">
                <a:solidFill>
                  <a:srgbClr val="16213A"/>
                </a:solidFill>
                <a:latin typeface="Arial"/>
                <a:ea typeface="Malgun Gothic"/>
                <a:cs typeface="Malgun Gothic"/>
              </a:rPr>
              <a:t>를 정한다. </a:t>
            </a:r>
            <a:r>
              <a:rPr sz="1050" b="0" i="1">
                <a:solidFill>
                  <a:srgbClr val="16213A"/>
                </a:solidFill>
                <a:latin typeface="Arial"/>
                <a:ea typeface="Malgun Gothic"/>
                <a:cs typeface="Malgun Gothic"/>
              </a:rPr>
              <a:t>ω</a:t>
            </a:r>
            <a:r>
              <a:rPr sz="1050" b="0" i="0">
                <a:solidFill>
                  <a:srgbClr val="16213A"/>
                </a:solidFill>
                <a:latin typeface="Arial"/>
                <a:ea typeface="Malgun Gothic"/>
                <a:cs typeface="Malgun Gothic"/>
              </a:rPr>
              <a:t>는 10 Hz, </a:t>
            </a:r>
            <a:r>
              <a:rPr sz="1050" b="0" i="1">
                <a:solidFill>
                  <a:srgbClr val="16213A"/>
                </a:solidFill>
                <a:latin typeface="Arial"/>
                <a:ea typeface="Malgun Gothic"/>
                <a:cs typeface="Malgun Gothic"/>
              </a:rPr>
              <a:t>ζ = 2</a:t>
            </a:r>
            <a:r>
              <a:rPr sz="1050" b="0" i="0">
                <a:solidFill>
                  <a:srgbClr val="16213A"/>
                </a:solidFill>
                <a:latin typeface="Arial"/>
                <a:ea typeface="Malgun Gothic"/>
                <a:cs typeface="Malgun Gothic"/>
              </a:rPr>
              <a:t>다. 보충 그림 S2는 이 값이 ASAP의 이득보다 전역 추종이 좋다고 비교한다.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적응 표집: 동작을 1 s 구간으로 나누고, 구간별 실패율의 지수 이동 평균으로 시작 위상을 뽑는다. 이것이 없으면 네 동작 가운데 셋이 30k 반복 뒤에도 어려운 구간을 풀지 못했다. 쉬운 동작은 필요한 반복이 4k에서 2k로 줄었다. 비슷한 장치로 ZEST(B.16.4)는 구간별 실패율을, GMT는 완주 정도와 추종 오차를, VideoMimic은 동작별 성공률을 쓴다.</a:t>
            </a:r>
          </a:p>
        </p:txBody>
      </p:sp>
      <p:sp>
        <p:nvSpPr>
          <p:cNvPr id="11" name="TextBox 10"/>
          <p:cNvSpPr txBox="1"/>
          <p:nvPr/>
        </p:nvSpPr>
        <p:spPr>
          <a:xfrm>
            <a:off x="609600" y="437009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잠재 상태–행동 diffusion.</a:t>
            </a:r>
          </a:p>
        </p:txBody>
      </p:sp>
      <p:sp>
        <p:nvSpPr>
          <p:cNvPr id="12" name="TextBox 11"/>
          <p:cNvSpPr txBox="1"/>
          <p:nvPr/>
        </p:nvSpPr>
        <p:spPr>
          <a:xfrm>
            <a:off x="609600" y="4675485"/>
            <a:ext cx="10972800" cy="1133277"/>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왜 잠재인가: 관절 목표 행동에는 토크 스파이크가 섞여 diffusion이 배우기 어렵다. 큰 네트워크의 추론 지연으로 행동이 최신 상태에 뒤처지기도 한다. 그래서 행동 대신 매끈한 잠재 </a:t>
            </a:r>
            <a:r>
              <a:rPr sz="1050" b="0" i="1">
                <a:solidFill>
                  <a:srgbClr val="16213A"/>
                </a:solidFill>
                <a:latin typeface="Arial"/>
                <a:ea typeface="Malgun Gothic"/>
                <a:cs typeface="Malgun Gothic"/>
              </a:rPr>
              <a:t>z</a:t>
            </a:r>
            <a:r>
              <a:rPr sz="1050" b="0" i="0">
                <a:solidFill>
                  <a:srgbClr val="16213A"/>
                </a:solidFill>
                <a:latin typeface="Arial"/>
                <a:ea typeface="Malgun Gothic"/>
                <a:cs typeface="Malgun Gothic"/>
              </a:rPr>
              <a:t>를 생성하고, 가벼운 디코더가 최신 관측으로 </a:t>
            </a:r>
            <a:r>
              <a:rPr sz="1050" b="0" i="1">
                <a:solidFill>
                  <a:srgbClr val="16213A"/>
                </a:solidFill>
                <a:latin typeface="Arial"/>
                <a:ea typeface="Malgun Gothic"/>
                <a:cs typeface="Malgun Gothic"/>
              </a:rPr>
              <a:t>z</a:t>
            </a:r>
            <a:r>
              <a:rPr sz="1050" b="0" i="0">
                <a:solidFill>
                  <a:srgbClr val="16213A"/>
                </a:solidFill>
                <a:latin typeface="Arial"/>
                <a:ea typeface="Malgun Gothic"/>
                <a:cs typeface="Malgun Gothic"/>
              </a:rPr>
              <a:t>를 행동으로 바꾼다.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데이터: VAE 정책에 OU 잡음(</a:t>
            </a:r>
            <a:r>
              <a:rPr sz="1050" b="0" i="1">
                <a:solidFill>
                  <a:srgbClr val="16213A"/>
                </a:solidFill>
                <a:latin typeface="Arial"/>
                <a:ea typeface="Malgun Gothic"/>
                <a:cs typeface="Malgun Gothic"/>
              </a:rPr>
              <a:t>θ = 0.8</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σ = 0.1</a:t>
            </a:r>
            <a:r>
              <a:rPr sz="1050" b="0" i="0">
                <a:solidFill>
                  <a:srgbClr val="16213A"/>
                </a:solidFill>
                <a:latin typeface="Arial"/>
                <a:ea typeface="Malgun Gothic"/>
                <a:cs typeface="Malgun Gothic"/>
              </a:rPr>
              <a:t>)을 넣어 굴린다. 표본 하나가 약 100번 나오게 모으고, 2.5 s 실행 뒤 5 s 안에 넘어진 에피소드는 버린다. 원문은 i.i.d. 잡음은 과감쇠 PD가 걸러 버려 상태가 넓어지지 않는다고 적는다.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생성: 궤적 </a:t>
            </a:r>
            <a:r>
              <a:rPr sz="1050" b="0" i="1">
                <a:solidFill>
                  <a:srgbClr val="16213A"/>
                </a:solidFill>
                <a:latin typeface="Arial"/>
                <a:ea typeface="Malgun Gothic"/>
                <a:cs typeface="Malgun Gothic"/>
              </a:rPr>
              <a:t>τ = [s_(t-N), z_(t-N), …, sₜ, zₜ, …, s_(t+H), z_(t+H)]</a:t>
            </a:r>
            <a:r>
              <a:rPr sz="1050" b="0" i="0">
                <a:solidFill>
                  <a:srgbClr val="16213A"/>
                </a:solidFill>
                <a:latin typeface="Arial"/>
                <a:ea typeface="Malgun Gothic"/>
                <a:cs typeface="Malgun Gothic"/>
              </a:rPr>
              <a:t>의 성분마다 잡음 단계를 따로 둔다. 그래서 과거는 관측으로 채우고 미래만 생성할 수 있다. 예측 지평은 0.64 s다.</a:t>
            </a:r>
          </a:p>
        </p:txBody>
      </p:sp>
      <p:sp>
        <p:nvSpPr>
          <p:cNvPr id="13" name="TextBox 12"/>
          <p:cNvSpPr txBox="1"/>
          <p:nvPr/>
        </p:nvSpPr>
        <p:spPr>
          <a:xfrm>
            <a:off x="609600" y="5897662"/>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16개(문단·식·그림)는 대시보드 리서치 탭의 "자세히: BeyondMimic의 동작 추종과 유도 diffusion" 토글에 있다.</a:t>
            </a:r>
          </a:p>
        </p:txBody>
      </p:sp>
    </p:spTree>
  </p:cSld>
  <p:clrMapOvr>
    <a:masterClrMapping/>
  </p:clrMapOvr>
</p:sld>
</file>

<file path=ppt/slides/slide45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456 / 516</a:t>
            </a:r>
          </a:p>
        </p:txBody>
      </p:sp>
      <p:sp>
        <p:nvSpPr>
          <p:cNvPr id="5" name="TextBox 4"/>
          <p:cNvSpPr txBox="1"/>
          <p:nvPr/>
        </p:nvSpPr>
        <p:spPr>
          <a:xfrm>
            <a:off x="609600" y="1244600"/>
            <a:ext cx="10972800" cy="1731962"/>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Perceptive Humanoid Parkour(PHP) — 사람 파쿠르 동작을 motion matching으로 이어 학습 궤적을 만들고, 깊이 영상을 보는 G1 정책 하나가 2D 속도 명령만 받아 1.25 m 벽을 오르고 장애물을 넘는다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arXiv:2602.15827</a:t>
            </a:r>
            <a:r>
              <a:rPr sz="1050" b="0" i="0">
                <a:solidFill>
                  <a:srgbClr val="16213A"/>
                </a:solidFill>
                <a:latin typeface="Arial"/>
                <a:ea typeface="Malgun Gothic"/>
                <a:cs typeface="Malgun Gothic"/>
              </a:rPr>
              <a:t>, Wu·Huang·Yang·Zhang·Chen·Abbeel·Duan·Kanazawa·Sferrazza·Shi·Liu, RSS 2026, </a:t>
            </a:r>
            <a:r>
              <a:rPr sz="1050" b="0" i="0">
                <a:solidFill>
                  <a:srgbClr val="1D4ED8"/>
                </a:solidFill>
                <a:latin typeface="Arial"/>
                <a:ea typeface="Malgun Gothic"/>
                <a:cs typeface="Malgun Gothic"/>
                <a:hlinkClick r:id="rId4"/>
              </a:rPr>
              <a:t>프로젝트</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5"/>
              </a:rPr>
              <a:t>코드</a:t>
            </a:r>
            <a:r>
              <a:rPr sz="1050" b="0" i="0">
                <a:solidFill>
                  <a:srgbClr val="16213A"/>
                </a:solidFill>
                <a:latin typeface="Arial"/>
                <a:ea typeface="Malgun Gothic"/>
                <a:cs typeface="Malgun Gothic"/>
              </a:rPr>
              <a:t> Apache-2.0). Amazon FAR(Frontier AI &amp; Robotics)와 UC Berkeley·CMU·Stanford의 연구다. 로봇은 Unitree G1(키 1.3 m, 29자유도)이다. 학습은 세 단계다. 첫째, 사람 파쿠르 동작을 OmniRetarget으로 G1에 옮기고, motion matching으로 "보행, 기술, 보행"이 이어진 긴 궤적을 합성한다. Motion matching은 게임 애니메이션의 기법이다. 동작 DB에서 지금 발 상태·몸통 속도와 명령이 만드는 앞으로 1 s의 궤적에 가장 가까운 프레임을 최근접 탐색으로 골라, 거기서부터 재생한다. 둘째, 기술마다 동작 추종 교사를 BeyondMimic의 설정으로 학습한다. 교사는 골반의 전역 위치·속도와 0.7 m × 0.7 m 높이 스캔을 특권 관측으로 본다. 셋째, 교사 여럿을 학생 하나로 증류한다. 학생은 고유감각, 깊이 영상(카메라 30 Hz), 이산 2D 속도 명령만 본다. 증류 손실은 DAgger 손실과 PPO 손실의 가중합이다. 실물 G1은 1.25 m 벽(키의 96%)을 3.63 s에 올랐고, 0.4 m 장애물을 cat vault로 0.8 s 안에 넘었다(최고 3.41 m/s). 48–60 s 동안 장애물 여럿을 이어 넘었고, 주행 중에 사람이 장애물을 약 0.5 m 옮겨도 접근을 고쳐 끝까지 갔다. 학습 데이터에는 장애물이 하나인 궤적만 있었다.</a:t>
            </a:r>
          </a:p>
        </p:txBody>
      </p:sp>
      <p:sp>
        <p:nvSpPr>
          <p:cNvPr id="6" name="TextBox 5"/>
          <p:cNvSpPr txBox="1"/>
          <p:nvPr/>
        </p:nvSpPr>
        <p:spPr>
          <a:xfrm>
            <a:off x="609600" y="3065462"/>
            <a:ext cx="10972800" cy="1948458"/>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가장 직접 옮길 것은 증류 손실의 일정이다. PHP는 DAgger 가중 </a:t>
            </a:r>
            <a:r>
              <a:rPr sz="1050" b="0" i="1">
                <a:solidFill>
                  <a:srgbClr val="16213A"/>
                </a:solidFill>
                <a:latin typeface="Arial"/>
                <a:ea typeface="Malgun Gothic"/>
                <a:cs typeface="Malgun Gothic"/>
              </a:rPr>
              <a:t>λ_D</a:t>
            </a:r>
            <a:r>
              <a:rPr sz="1050" b="0" i="0">
                <a:solidFill>
                  <a:srgbClr val="16213A"/>
                </a:solidFill>
                <a:latin typeface="Arial"/>
                <a:ea typeface="Malgun Gothic"/>
                <a:cs typeface="Malgun Gothic"/>
              </a:rPr>
              <a:t>를 학습 앞 절반 동안 1에서 0.1까지 선형으로 내리고, 그 뒤로는 0.1에 묶는다. DAgger 항을 끝까지 남겨야 한다고 적는다. 일정이 끝난 뒤 DAgger를 빼고 RL만 돌리면 떨리는 부자연스러운 행동이 생겼다. HT(이 소절)는 같은 자리의 KL 가중을 0으로 내렸다. TP-0066은 모방 가중 λ = 0.5를 고정했다(B.15.3). 그래서 B.16.7 2번의 판에 '하한 0.1로 내리는 λ'를 하나 더한다. DAgger만으로 안 되는 이유도 travplan의 기록과 맞는다. 원문은 스텝별 모방 손실이 결과를 보지 않는다고 설명한다. 기준보다 몸통이 높아지는 행동과 낮아지는 행동이 같은 손실을 받아도, 장애물을 넘는 것은 높은 쪽뿐이다. travplan에서도 경사로를 지나친 상태에서 시작한 DAgger(TP-0143)는 단독 성적을 올리지 못했고, RL 후학습(TP-0066)은 20/30을 26/30으로 올렸다. 이 해석이 curb_ramp에 맞는지는 확인하지 않았다. 둘째는 데이터의 접근 조건이다. 기술 직전 접근 거리를 최소·최대 둘로만 둔 판은 1 m/s · 76 cm에서 0.95가 0.62로 떨어졌다. 기술 클립만 따로 배운 판은 장애물 앞까지 걷고 멈췄다(2 m/s · 76 cm 0.07). Planner D의 시연(TP-0073)도 경사로와 포트홀에 들어서는 거리와 속도를 고르게 덮는지 볼 만하다. PHP는 시간이나 걸음 수로 기술 시작을 외우지 못하게 접근 시간을 0.1–3 s에서 무작위로 뽑았다. 셋째, 위 층이 넘기는 것은 이산 2D 속도 명령뿐이고, 정책이 장애물을 보고 디딜지·오를지·넘을지를 고른다. VideoMimic과 같은 꼴이다. 저자들이 적은 한계는 좁은 시야와 짧은 거리의 카메라다. 빨리 달리면 장애물이 늦게 보여, 모호한 채로 기술을 골라야 한다. travplan의 근거리 미관측 처리(</a:t>
            </a:r>
            <a:r>
              <a:rPr sz="1050" b="0" i="0">
                <a:solidFill>
                  <a:srgbClr val="16213A"/>
                </a:solidFill>
                <a:latin typeface="Consolas"/>
                <a:ea typeface="Malgun Gothic"/>
                <a:cs typeface="Malgun Gothic"/>
              </a:rPr>
              <a:t>--unknown-near</a:t>
            </a:r>
            <a:r>
              <a:rPr sz="1050" b="0" i="0">
                <a:solidFill>
                  <a:srgbClr val="16213A"/>
                </a:solidFill>
                <a:latin typeface="Arial"/>
                <a:ea typeface="Malgun Gothic"/>
                <a:cs typeface="Malgun Gothic"/>
              </a:rPr>
              <a:t>, TP-0146)와 센서 배치 문서(H)가 같은 문제를 다룬다.</a:t>
            </a:r>
          </a:p>
        </p:txBody>
      </p:sp>
    </p:spTree>
  </p:cSld>
  <p:clrMapOvr>
    <a:masterClrMapping/>
  </p:clrMapOvr>
</p:sld>
</file>

<file path=ppt/slides/slide45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457 / 516</a:t>
            </a:r>
          </a:p>
        </p:txBody>
      </p:sp>
      <p:pic>
        <p:nvPicPr>
          <p:cNvPr id="5" name="Picture 4" descr="image.jpg"/>
          <p:cNvPicPr>
            <a:picLocks noChangeAspect="1"/>
          </p:cNvPicPr>
          <p:nvPr/>
        </p:nvPicPr>
        <p:blipFill>
          <a:blip r:embed="rId3"/>
          <a:stretch>
            <a:fillRect/>
          </a:stretch>
        </p:blipFill>
        <p:spPr>
          <a:xfrm>
            <a:off x="609600" y="1244600"/>
            <a:ext cx="5410200" cy="2254250"/>
          </a:xfrm>
          <a:prstGeom prst="rect">
            <a:avLst/>
          </a:prstGeom>
        </p:spPr>
      </p:pic>
      <p:sp>
        <p:nvSpPr>
          <p:cNvPr id="6" name="TextBox 5"/>
          <p:cNvSpPr txBox="1"/>
          <p:nvPr/>
        </p:nvSpPr>
        <p:spPr>
          <a:xfrm>
            <a:off x="609600" y="3536950"/>
            <a:ext cx="54102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PHP (Fig. 1): (a) 낮은 장애물을 cat vault로, 높은 장애물을 dash vault로 약 3 m/s에 넘는다. (b) 1.25 m 벽에 올라 굴러 내려온다. (c) speed vault. (d) 기술을 스스로 고르며 60초 동안 코스를 돈다. 출처: arXiv:2602.15827</a:t>
            </a:r>
          </a:p>
        </p:txBody>
      </p:sp>
      <p:pic>
        <p:nvPicPr>
          <p:cNvPr id="7" name="Picture 6" descr="image.jpg"/>
          <p:cNvPicPr>
            <a:picLocks noChangeAspect="1"/>
          </p:cNvPicPr>
          <p:nvPr/>
        </p:nvPicPr>
        <p:blipFill>
          <a:blip r:embed="rId4"/>
          <a:stretch>
            <a:fillRect/>
          </a:stretch>
        </p:blipFill>
        <p:spPr>
          <a:xfrm>
            <a:off x="6172200" y="1244600"/>
            <a:ext cx="5410200" cy="2152650"/>
          </a:xfrm>
          <a:prstGeom prst="rect">
            <a:avLst/>
          </a:prstGeom>
        </p:spPr>
      </p:pic>
      <p:sp>
        <p:nvSpPr>
          <p:cNvPr id="8" name="TextBox 7"/>
          <p:cNvSpPr txBox="1"/>
          <p:nvPr/>
        </p:nvSpPr>
        <p:spPr>
          <a:xfrm>
            <a:off x="6172200" y="3435350"/>
            <a:ext cx="5410200" cy="42654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PHP (Fig. 2): 보행과 파쿠르 기술을 motion matching으로 이어 긴 궤적을 만들고(왼쪽), 기술마다 높이 지도를 보는 추종 교사를 학습하고(가운데 왼쪽), 깊이 영상과 속도 명령을 보는 학생 하나로 DAgger + RL 증류해(가운데 오른쪽) 실물에 바로 올린다(오른쪽). 출처: arXiv:2602.15827</a:t>
            </a:r>
          </a:p>
        </p:txBody>
      </p:sp>
    </p:spTree>
  </p:cSld>
  <p:clrMapOvr>
    <a:masterClrMapping/>
  </p:clrMapOvr>
</p:sld>
</file>

<file path=ppt/slides/slide45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자세히: PHP의 방법·수식·결과와 한계</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458 / 516</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Motion matching이란.</a:t>
            </a:r>
            <a:r>
              <a:rPr sz="1050" b="0" i="0">
                <a:solidFill>
                  <a:srgbClr val="16213A"/>
                </a:solidFill>
                <a:latin typeface="Arial"/>
                <a:ea typeface="Malgun Gothic"/>
                <a:cs typeface="Malgun Gothic"/>
              </a:rPr>
              <a:t> 게임 애니메이션의 기법이다. 동작 DB에서 지금 상태와 명령에 가장 가까운 프레임을 최근접 탐색으로 골라 그 자리부터 재생한다. Ubisoft의 Büttner·Clavet가 2015–2016년 발표로 알렸고(For Honor), Learned Motion Matching(Holden 외, SIGGRAPH 2020)이 DB와 탐색을 신경망 셋으로 대신했다. 로봇에서는 개 동작 캡처로 사족 보행 기준을 만들고 MPC로 따라간 Kang·Zimmermann·Coros(IROS 2021) 정도가 앞선 예다. PHP는 이것을 실행 중 제어기가 아니라 오프라인 데이터 생성기로 쓴다.</a:t>
            </a:r>
          </a:p>
        </p:txBody>
      </p:sp>
      <p:sp>
        <p:nvSpPr>
          <p:cNvPr id="6" name="TextBox 5"/>
          <p:cNvSpPr txBox="1"/>
          <p:nvPr/>
        </p:nvSpPr>
        <p:spPr>
          <a:xfrm>
            <a:off x="609600" y="1982986"/>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특징과 탐색.</a:t>
            </a:r>
            <a:r>
              <a:rPr sz="1050" b="0" i="0">
                <a:solidFill>
                  <a:srgbClr val="16213A"/>
                </a:solidFill>
                <a:latin typeface="Arial"/>
                <a:ea typeface="Malgun Gothic"/>
                <a:cs typeface="Malgun Gothic"/>
              </a:rPr>
              <a:t> 프레임마다 몸통 좌표계에서 27차원 특징 </a:t>
            </a:r>
            <a:r>
              <a:rPr sz="1050" b="0" i="1">
                <a:solidFill>
                  <a:srgbClr val="16213A"/>
                </a:solidFill>
                <a:latin typeface="Arial"/>
                <a:ea typeface="Malgun Gothic"/>
                <a:cs typeface="Malgun Gothic"/>
              </a:rPr>
              <a:t>xᵢ</a:t>
            </a:r>
            <a:r>
              <a:rPr sz="1050" b="0" i="0">
                <a:solidFill>
                  <a:srgbClr val="16213A"/>
                </a:solidFill>
                <a:latin typeface="Arial"/>
                <a:ea typeface="Malgun Gothic"/>
                <a:cs typeface="Malgun Gothic"/>
              </a:rPr>
              <a:t>를 미리 계산한다.</a:t>
            </a:r>
          </a:p>
        </p:txBody>
      </p:sp>
      <p:graphicFrame>
        <p:nvGraphicFramePr>
          <p:cNvPr id="7" name="Table 6"/>
          <p:cNvGraphicFramePr>
            <a:graphicFrameLocks noGrp="1"/>
          </p:cNvGraphicFramePr>
          <p:nvPr/>
        </p:nvGraphicFramePr>
        <p:xfrm>
          <a:off x="609600" y="2288381"/>
          <a:ext cx="10966451" cy="788352"/>
        </p:xfrm>
        <a:graphic>
          <a:graphicData uri="http://schemas.openxmlformats.org/drawingml/2006/table">
            <a:tbl>
              <a:tblPr firstRow="1" bandRow="1">
                <a:tableStyleId>{5C22544A-7EE6-4342-B048-85BDC9FD1C3A}</a:tableStyleId>
              </a:tblPr>
              <a:tblGrid>
                <a:gridCol w="1748334"/>
                <a:gridCol w="779959"/>
                <a:gridCol w="4178201"/>
                <a:gridCol w="4259957"/>
              </a:tblGrid>
              <a:tr h="197088">
                <a:tc>
                  <a:txBody>
                    <a:bodyPr wrap="square"/>
                    <a:lstStyle/>
                    <a:p>
                      <a:r>
                        <a:rPr sz="800" b="1" i="0">
                          <a:solidFill>
                            <a:srgbClr val="F4F1EA"/>
                          </a:solidFill>
                          <a:latin typeface="Arial"/>
                          <a:ea typeface="Malgun Gothic"/>
                          <a:cs typeface="Malgun Gothic"/>
                        </a:rPr>
                        <a:t>항목</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차원</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내용</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질의에서 얻는 곳</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미래 몸통 궤적</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0.33·0.67·1.0 s 뒤의 평면 위치와 방향</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2D 속도 명령에 임계 감쇠 스프링을 건 값</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발 상태</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두 발의 위치와 선속도</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지금 자세</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몸통 속도</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몸통 선속도</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지금 자세</a:t>
                      </a:r>
                    </a:p>
                  </a:txBody>
                  <a:tcPr marL="63500" marR="63500" marT="12700" marB="12700">
                    <a:solidFill>
                      <a:srgbClr val="FFFDF8"/>
                    </a:solidFill>
                  </a:tcPr>
                </a:tc>
              </a:tr>
            </a:tbl>
          </a:graphicData>
        </a:graphic>
      </p:graphicFrame>
      <p:sp>
        <p:nvSpPr>
          <p:cNvPr id="8" name="TextBox 7"/>
          <p:cNvSpPr txBox="1"/>
          <p:nvPr/>
        </p:nvSpPr>
        <p:spPr>
          <a:xfrm>
            <a:off x="609600" y="3369072"/>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다음 프레임은 탐색 창 </a:t>
            </a:r>
            <a:r>
              <a:rPr sz="1050" b="0" i="1">
                <a:solidFill>
                  <a:srgbClr val="16213A"/>
                </a:solidFill>
                <a:latin typeface="Arial"/>
                <a:ea typeface="Malgun Gothic"/>
                <a:cs typeface="Malgun Gothic"/>
              </a:rPr>
              <a:t>Cₜ</a:t>
            </a:r>
            <a:r>
              <a:rPr sz="1050" b="0" i="0">
                <a:solidFill>
                  <a:srgbClr val="16213A"/>
                </a:solidFill>
                <a:latin typeface="Arial"/>
                <a:ea typeface="Malgun Gothic"/>
                <a:cs typeface="Malgun Gothic"/>
              </a:rPr>
              <a:t> 안의 최근접이다. 탐색은 M 프레임마다, 또는 명령이 크게 바뀔 때 한다.</a:t>
            </a:r>
          </a:p>
        </p:txBody>
      </p:sp>
      <p:pic>
        <p:nvPicPr>
          <p:cNvPr id="9" name="Picture 8" descr="image.png"/>
          <p:cNvPicPr>
            <a:picLocks noChangeAspect="1"/>
          </p:cNvPicPr>
          <p:nvPr/>
        </p:nvPicPr>
        <p:blipFill>
          <a:blip r:embed="rId3"/>
          <a:stretch>
            <a:fillRect/>
          </a:stretch>
        </p:blipFill>
        <p:spPr>
          <a:xfrm>
            <a:off x="609600" y="3674467"/>
            <a:ext cx="1660525" cy="320675"/>
          </a:xfrm>
          <a:prstGeom prst="rect">
            <a:avLst/>
          </a:prstGeom>
        </p:spPr>
      </p:pic>
      <p:sp>
        <p:nvSpPr>
          <p:cNvPr id="10" name="TextBox 9"/>
          <p:cNvSpPr txBox="1"/>
          <p:nvPr/>
        </p:nvSpPr>
        <p:spPr>
          <a:xfrm>
            <a:off x="609600" y="4020542"/>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명령을 미래 궤적으로 바꾸는 식은 임계 감쇠 스프링의 닫힌 해다. 감쇠 </a:t>
            </a:r>
            <a:r>
              <a:rPr sz="1050" b="0" i="1">
                <a:solidFill>
                  <a:srgbClr val="16213A"/>
                </a:solidFill>
                <a:latin typeface="Arial"/>
                <a:ea typeface="Malgun Gothic"/>
                <a:cs typeface="Malgun Gothic"/>
              </a:rPr>
              <a:t>y</a:t>
            </a:r>
            <a:r>
              <a:rPr sz="1050" b="0" i="0">
                <a:solidFill>
                  <a:srgbClr val="16213A"/>
                </a:solidFill>
                <a:latin typeface="Arial"/>
                <a:ea typeface="Malgun Gothic"/>
                <a:cs typeface="Malgun Gothic"/>
              </a:rPr>
              <a:t>, 목표 </a:t>
            </a:r>
            <a:r>
              <a:rPr sz="1050" b="0" i="1">
                <a:solidFill>
                  <a:srgbClr val="16213A"/>
                </a:solidFill>
                <a:latin typeface="Arial"/>
                <a:ea typeface="Malgun Gothic"/>
                <a:cs typeface="Malgun Gothic"/>
              </a:rPr>
              <a:t>s_(goal)</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j₀ = s₀ - s_(goal)</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j₁ = ṡ₀ + y j₀</a:t>
            </a:r>
            <a:r>
              <a:rPr sz="1050" b="0" i="0">
                <a:solidFill>
                  <a:srgbClr val="16213A"/>
                </a:solidFill>
                <a:latin typeface="Arial"/>
                <a:ea typeface="Malgun Gothic"/>
                <a:cs typeface="Malgun Gothic"/>
              </a:rPr>
              <a:t>으로 둔다. 평면 위치는 스프링의 '위치'를 평면 속도로 두고 적분해 얻는다. 방향은 각도에 스프링을 바로 건다.</a:t>
            </a:r>
          </a:p>
        </p:txBody>
      </p:sp>
      <p:pic>
        <p:nvPicPr>
          <p:cNvPr id="11" name="Picture 10" descr="image.png"/>
          <p:cNvPicPr>
            <a:picLocks noChangeAspect="1"/>
          </p:cNvPicPr>
          <p:nvPr/>
        </p:nvPicPr>
        <p:blipFill>
          <a:blip r:embed="rId4"/>
          <a:stretch>
            <a:fillRect/>
          </a:stretch>
        </p:blipFill>
        <p:spPr>
          <a:xfrm>
            <a:off x="609600" y="4542433"/>
            <a:ext cx="2105025" cy="241300"/>
          </a:xfrm>
          <a:prstGeom prst="rect">
            <a:avLst/>
          </a:prstGeom>
        </p:spPr>
      </p:pic>
      <p:sp>
        <p:nvSpPr>
          <p:cNvPr id="12" name="TextBox 11"/>
          <p:cNvSpPr txBox="1"/>
          <p:nvPr/>
        </p:nvSpPr>
        <p:spPr>
          <a:xfrm>
            <a:off x="609600" y="4819948"/>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재생 프레임을 바꾸는 순간의 자세 차이는 inertialization(Gears of War, 2018)으로 지운다. 전환 순간의 차이를 출력에 더한 뒤 같은 스프링으로 0까지 줄인다.</a:t>
            </a:r>
          </a:p>
        </p:txBody>
      </p:sp>
      <p:sp>
        <p:nvSpPr>
          <p:cNvPr id="13" name="TextBox 12"/>
          <p:cNvSpPr txBox="1"/>
          <p:nvPr/>
        </p:nvSpPr>
        <p:spPr>
          <a:xfrm>
            <a:off x="609600" y="5125343"/>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기술에 들어가고 나오는 규칙.</a:t>
            </a:r>
            <a:r>
              <a:rPr sz="1050" b="0" i="0">
                <a:solidFill>
                  <a:srgbClr val="16213A"/>
                </a:solidFill>
                <a:latin typeface="Arial"/>
                <a:ea typeface="Malgun Gothic"/>
                <a:cs typeface="Malgun Gothic"/>
              </a:rPr>
              <a:t> 보행 중에는 </a:t>
            </a:r>
            <a:r>
              <a:rPr sz="1050" b="0" i="1">
                <a:solidFill>
                  <a:srgbClr val="16213A"/>
                </a:solidFill>
                <a:latin typeface="Arial"/>
                <a:ea typeface="Malgun Gothic"/>
                <a:cs typeface="Malgun Gothic"/>
              </a:rPr>
              <a:t>Cₜ</a:t>
            </a:r>
            <a:r>
              <a:rPr sz="1050" b="0" i="0">
                <a:solidFill>
                  <a:srgbClr val="16213A"/>
                </a:solidFill>
                <a:latin typeface="Arial"/>
                <a:ea typeface="Malgun Gothic"/>
                <a:cs typeface="Malgun Gothic"/>
              </a:rPr>
              <a:t>가 보행 DB 전체다. 기술 k로 들어갈 때는 </a:t>
            </a:r>
            <a:r>
              <a:rPr sz="1050" b="0" i="1">
                <a:solidFill>
                  <a:srgbClr val="16213A"/>
                </a:solidFill>
                <a:latin typeface="Arial"/>
                <a:ea typeface="Malgun Gothic"/>
                <a:cs typeface="Malgun Gothic"/>
              </a:rPr>
              <a:t>Cₜ</a:t>
            </a:r>
            <a:r>
              <a:rPr sz="1050" b="0" i="0">
                <a:solidFill>
                  <a:srgbClr val="16213A"/>
                </a:solidFill>
                <a:latin typeface="Arial"/>
                <a:ea typeface="Malgun Gothic"/>
                <a:cs typeface="Malgun Gothic"/>
              </a:rPr>
              <a:t>를 기술 직전 진입 창 </a:t>
            </a:r>
            <a:r>
              <a:rPr sz="1050" b="0" i="1">
                <a:solidFill>
                  <a:srgbClr val="16213A"/>
                </a:solidFill>
                <a:latin typeface="Arial"/>
                <a:ea typeface="Malgun Gothic"/>
                <a:cs typeface="Malgun Gothic"/>
              </a:rPr>
              <a:t>Eₖ = [sₖ - Hₖ, sₖ]</a:t>
            </a:r>
            <a:r>
              <a:rPr sz="1050" b="0" i="0">
                <a:solidFill>
                  <a:srgbClr val="16213A"/>
                </a:solidFill>
                <a:latin typeface="Arial"/>
                <a:ea typeface="Malgun Gothic"/>
                <a:cs typeface="Malgun Gothic"/>
              </a:rPr>
              <a:t>로 좁힌다. 뛰어넘기라면 도약 직전 몇 걸음이다. 진입한 뒤에는 탐색을 끄고 클립을 끝 프레임 </a:t>
            </a:r>
            <a:r>
              <a:rPr sz="1050" b="0" i="1">
                <a:solidFill>
                  <a:srgbClr val="16213A"/>
                </a:solidFill>
                <a:latin typeface="Arial"/>
                <a:ea typeface="Malgun Gothic"/>
                <a:cs typeface="Malgun Gothic"/>
              </a:rPr>
              <a:t>eₖ</a:t>
            </a:r>
            <a:r>
              <a:rPr sz="1050" b="0" i="0">
                <a:solidFill>
                  <a:srgbClr val="16213A"/>
                </a:solidFill>
                <a:latin typeface="Arial"/>
                <a:ea typeface="Malgun Gothic"/>
                <a:cs typeface="Malgun Gothic"/>
              </a:rPr>
              <a:t>까지 그대로 재생한다. 접촉이 많은 사람 동작을 망가뜨리지 않으려는 것이다. </a:t>
            </a:r>
            <a:r>
              <a:rPr sz="1050" b="0" i="1">
                <a:solidFill>
                  <a:srgbClr val="16213A"/>
                </a:solidFill>
                <a:latin typeface="Arial"/>
                <a:ea typeface="Malgun Gothic"/>
                <a:cs typeface="Malgun Gothic"/>
              </a:rPr>
              <a:t>eₖ</a:t>
            </a:r>
            <a:r>
              <a:rPr sz="1050" b="0" i="0">
                <a:solidFill>
                  <a:srgbClr val="16213A"/>
                </a:solidFill>
                <a:latin typeface="Arial"/>
                <a:ea typeface="Malgun Gothic"/>
                <a:cs typeface="Malgun Gothic"/>
              </a:rPr>
              <a:t>에서 다시 보행 DB를 탐색한다. 기술 클립마다 상자 지형을 손으로 맞춰 두고, 진입 프레임의 지형–몸통 상대 자세를 지금 몸통에 적용해 상자를 놓는다. 모든 기술이 보행을 거치므로 기술 쌍마다 전환 동작을 따로 찍을 필요가 없다.</a:t>
            </a:r>
          </a:p>
        </p:txBody>
      </p:sp>
      <p:sp>
        <p:nvSpPr>
          <p:cNvPr id="14" name="TextBox 13"/>
          <p:cNvSpPr txBox="1"/>
          <p:nvPr/>
        </p:nvSpPr>
        <p:spPr>
          <a:xfrm>
            <a:off x="609600" y="5863729"/>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20개(문단·식·그림)는 대시보드 리서치 탭의 "자세히: PHP의 방법·수식·결과와 한계" 토글에 있다.</a:t>
            </a:r>
          </a:p>
        </p:txBody>
      </p:sp>
    </p:spTree>
  </p:cSld>
  <p:clrMapOvr>
    <a:masterClrMapping/>
  </p:clrMapOvr>
</p:sld>
</file>

<file path=ppt/slides/slide45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자세히: PHP의 계보와 2026년 후속 연구(연구 25편)</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459 / 516</a:t>
            </a:r>
          </a:p>
        </p:txBody>
      </p:sp>
      <p:sp>
        <p:nvSpPr>
          <p:cNvPr id="5" name="TextBox 4"/>
          <p:cNvSpPr txBox="1"/>
          <p:nvPr/>
        </p:nvSpPr>
        <p:spPr>
          <a:xfrm>
            <a:off x="609600" y="1244600"/>
            <a:ext cx="10972800" cy="108247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PHP는 네 갈래가 만나는 자리에 있다.</a:t>
            </a:r>
            <a:r>
              <a:rPr sz="1050" b="0" i="0">
                <a:solidFill>
                  <a:srgbClr val="16213A"/>
                </a:solidFill>
                <a:latin typeface="Arial"/>
                <a:ea typeface="Malgun Gothic"/>
                <a:cs typeface="Malgun Gothic"/>
              </a:rPr>
              <a:t> 게임 애니메이션의 motion matching, 사람 동작 추종 RL, 사족 로봇의 인식 파쿠르 증류, 휴머노이드 인식 보행이다. Semantic Scholar의 PHP 인용 목록(2026-10-12)은 53편이다. 후속 연구는 PHP의 오프라인 motion matching을 둘로 대체한다. 하나는 기준 동작을 생성 모델로 실행 중에 만드는 길이고(Generate·Track·Improve, PASSAGE, ETH 생성 + 추종), 다른 하나는 기준 동작 없이 정책 하나로 가는 길이다(Hiking in the Wild, Light-Loco-Parkour, Echo in the Steps). Amazon FAR은 같은 증류 레시피(교사 여럿에서 깊이 학생 하나로, DAgger + RL)를 험지 보행(RPL)과 사다리(LadderMan)로 넓히고 있다. </a:t>
            </a:r>
            <a:r>
              <a:rPr sz="1050" b="1" i="0">
                <a:solidFill>
                  <a:srgbClr val="C2410C"/>
                </a:solidFill>
                <a:latin typeface="Arial"/>
                <a:ea typeface="Malgun Gothic"/>
                <a:cs typeface="Malgun Gothic"/>
              </a:rPr>
              <a:t>travplan에 가장 가까운 것은 Generate·Track·Improve다. 실행 중 생성기를 AWR로 미세 조정하는데, Planner D의 RL 후학습(TP-0066)과 같은 꼴이다.</a:t>
            </a:r>
          </a:p>
        </p:txBody>
      </p:sp>
      <p:sp>
        <p:nvSpPr>
          <p:cNvPr id="6" name="TextBox 5"/>
          <p:cNvSpPr txBox="1"/>
          <p:nvPr/>
        </p:nvSpPr>
        <p:spPr>
          <a:xfrm>
            <a:off x="609600" y="2415977"/>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2개(문단·식·그림)는 대시보드 리서치 탭의 "자세히: PHP의 계보와 2026년 후속 연구(연구 25편)" 토글에 있다.</a:t>
            </a:r>
          </a:p>
        </p:txBody>
      </p:sp>
    </p:spTree>
  </p:cSld>
  <p:clrMapOvr>
    <a:masterClrMapping/>
  </p:clrMapOvr>
</p:sld>
</file>

<file path=ppt/slides/slide46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1/3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460 / 516</a:t>
            </a:r>
          </a:p>
        </p:txBody>
      </p:sp>
      <p:sp>
        <p:nvSpPr>
          <p:cNvPr id="5" name="TextBox 4"/>
          <p:cNvSpPr txBox="1"/>
          <p:nvPr/>
        </p:nvSpPr>
        <p:spPr>
          <a:xfrm>
            <a:off x="609600" y="1244600"/>
            <a:ext cx="10972800" cy="1731962"/>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PASSAGE — 장면과 맞춘 사람 동작 100시간으로 flow matching 계획기를 학습하고, 지형을 보는 범용 추종기가 그것을 50 Hz로 실행해 G1이 넘고, 숙이고, 비집고 지나간다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arXiv:2609.18732</a:t>
            </a:r>
            <a:r>
              <a:rPr sz="1050" b="0" i="0">
                <a:solidFill>
                  <a:srgbClr val="16213A"/>
                </a:solidFill>
                <a:latin typeface="Arial"/>
                <a:ea typeface="Malgun Gothic"/>
                <a:cs typeface="Malgun Gothic"/>
              </a:rPr>
              <a:t>, Y. Ma·Z. Zeng·C. Peng(공동 1저자) 외, Galbot·칭화대·상하이 Qi Zhi 연구원 외, 교신 저자 Li Yi, 2026-09-16, </a:t>
            </a:r>
            <a:r>
              <a:rPr sz="1050" b="0" i="0">
                <a:solidFill>
                  <a:srgbClr val="1D4ED8"/>
                </a:solidFill>
                <a:latin typeface="Arial"/>
                <a:ea typeface="Malgun Gothic"/>
                <a:cs typeface="Malgun Gothic"/>
                <a:hlinkClick r:id="rId4"/>
              </a:rPr>
              <a:t>프로젝트 페이지</a:t>
            </a:r>
            <a:r>
              <a:rPr sz="1050" b="0" i="0">
                <a:solidFill>
                  <a:srgbClr val="16213A"/>
                </a:solidFill>
                <a:latin typeface="Arial"/>
                <a:ea typeface="Malgun Gothic"/>
                <a:cs typeface="Malgun Gothic"/>
              </a:rPr>
              <a:t>). Click-and-Traverse(B.12.3)와 같은 연구진이 같은 문제를 다른 방법으로 다시 풀었다. Click-and-Traverse는 HumanoidPF 보상으로 장면별 전문가 RL을 학습해 하나로 증류했고, 다리 관절 12개만 움직였다. PASSAGE는 보상을 손으로 짜는 대신 </a:t>
            </a:r>
            <a:r>
              <a:rPr sz="1050" b="1" i="0">
                <a:solidFill>
                  <a:srgbClr val="C2410C"/>
                </a:solidFill>
                <a:latin typeface="Arial"/>
                <a:ea typeface="Malgun Gothic"/>
                <a:cs typeface="Malgun Gothic"/>
              </a:rPr>
              <a:t>사람이 VR 안에서 장애물 장면을 직접 지나간 동작을 모은다.</a:t>
            </a:r>
            <a:r>
              <a:rPr sz="1050" b="0" i="0">
                <a:solidFill>
                  <a:srgbClr val="16213A"/>
                </a:solidFill>
                <a:latin typeface="Arial"/>
                <a:ea typeface="Malgun Gothic"/>
                <a:cs typeface="Malgun Gothic"/>
              </a:rPr>
              <a:t> 장면 1,500개, 약 100시간이고, 장애물 크기·회전을 바꿔 충돌이 없는 짝만 남기면 약 1,000시간이 된다. 층은 둘이다. flow matching 계획기가 6.25 Hz로 0.5 s(25프레임) 앞의 전신 기준 동작을 낸다. 지형을 보도록 미세 조정한 범용 추종기(ScaleBFM)가 50 Hz로 관절 29개의 잔차 목표를 낸다. 계획기는 목표 위치, 최근 동작 4프레임, 몸통 중심의 3층 높이 지도(31 × 61칸, 5 cm)만 본다. 넘기·숙이기·옆으로 비집기 같은 기술 이름표도, 기술 선택기도 없다. 시뮬레이션의 처음 보는 장면 150개(750 에피소드)에서 성공률 98.7 %, 접촉 없는 성공률 70.3 %였다. 공개된 Click-and-Traverse 정책을 그대로 돌리면 70.3 %와 14.0 %다. 실물은 Jetson AGX Orin 하나로 LiDAR 지도, 계획, 추종을 모두 돌렸고, 서로 다른 배치 50개를 한 번씩 지나 50/50 도달, 45/50 무접촉이었다.</a:t>
            </a:r>
          </a:p>
        </p:txBody>
      </p:sp>
    </p:spTree>
  </p:cSld>
  <p:clrMapOvr>
    <a:masterClrMapping/>
  </p:clrMapOvr>
</p:sld>
</file>

<file path=ppt/slides/slide46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2/3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461 / 516</a:t>
            </a:r>
          </a:p>
        </p:txBody>
      </p:sp>
      <p:pic>
        <p:nvPicPr>
          <p:cNvPr id="5" name="Picture 4" descr="image.jpg"/>
          <p:cNvPicPr>
            <a:picLocks noChangeAspect="1"/>
          </p:cNvPicPr>
          <p:nvPr/>
        </p:nvPicPr>
        <p:blipFill>
          <a:blip r:embed="rId3"/>
          <a:stretch>
            <a:fillRect/>
          </a:stretch>
        </p:blipFill>
        <p:spPr>
          <a:xfrm>
            <a:off x="2139950" y="1244600"/>
            <a:ext cx="7912100" cy="4445000"/>
          </a:xfrm>
          <a:prstGeom prst="rect">
            <a:avLst/>
          </a:prstGeom>
        </p:spPr>
      </p:pic>
      <p:sp>
        <p:nvSpPr>
          <p:cNvPr id="6" name="TextBox 5"/>
          <p:cNvSpPr txBox="1"/>
          <p:nvPr/>
        </p:nvSpPr>
        <p:spPr>
          <a:xfrm>
            <a:off x="2139950" y="5727700"/>
            <a:ext cx="7912100" cy="568722"/>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PASSAGE (Fig. 2): 01은 데이터다. 절차 생성 장면 1,500개에서 VR 모션 캡처로 100시간을 모으고, 장면 증강으로 1,000시간의 동작–장면 짝을 만들어 G1에 리타기팅한다. 02는 LiDAR 점군과 자세를 ROG-Map에 모아 3층 높이 지도를 만드는 인식이다. 03은 사전학습, RTC 미세 조정, RL 미세 조정의 세 단계로 학습하는 flow 계획기이고, 3층 지도·목표·직전 묶음을 받아 앞으로의 기준 동작을 낸다. 04는 1,000시간 동작으로 사전학습한 추종기를 3층 지도를 보도록 미세 조정한 것이다. 05는 실물의 넘기·숙이기·옆으로 지나기다. 출처: PASSAGE 프로젝트 페이지, arXiv:2609.18732</a:t>
            </a:r>
          </a:p>
        </p:txBody>
      </p:sp>
    </p:spTree>
  </p:cSld>
  <p:clrMapOvr>
    <a:masterClrMapping/>
  </p:clrMapOvr>
</p:sld>
</file>

<file path=ppt/slides/slide46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3/3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462 / 516</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Planner D와 같은 구조를 휴머노이드 규모로 키우고, 각 단계를 하나씩 뺀 결과를 냈다.</a:t>
            </a:r>
            <a:r>
              <a:rPr sz="1050" b="0" i="0">
                <a:solidFill>
                  <a:srgbClr val="16213A"/>
                </a:solidFill>
                <a:latin typeface="Arial"/>
                <a:ea typeface="Malgun Gothic"/>
                <a:cs typeface="Malgun Gothic"/>
              </a:rPr>
              <a:t> 지형을 보는 flow matching 계획기, 고정한 하위 층 아래에서의 계획기 RL 후학습, 높이 지도 입력이 모두 Planner D에 있다. 빼기 실험에서 접촉 없는 성공률이 크게 무너진 것은 셋이다. 직전 계획과 이어 붙이는 RTC를 빼면 24.5 %, RL 후학습을 빼면 26.4 %, 학습 때만 쓰는 퍼텐셜장 손실을 빼면 20.1 %였다(전체 70.3 %). Planner D는 첫째를 후보 선택의 직전 계획 유지로, 둘째를 TP-0066으로 하고 있고, 셋째는 없다. 아래 토글의 넷째 항목에 옮길 방법을 적었다.</a:t>
            </a:r>
          </a:p>
        </p:txBody>
      </p:sp>
    </p:spTree>
  </p:cSld>
  <p:clrMapOvr>
    <a:masterClrMapping/>
  </p:clrMapOvr>
</p:sld>
</file>

<file path=ppt/slides/slide46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자세히: 데이터 수집, 계획기의 손실·RTC·RL 후학습, 3층 지도, 결과, 관련 연구 비교, Planner D와 맞대 보기</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463 / 516</a:t>
            </a:r>
          </a:p>
        </p:txBody>
      </p:sp>
      <p:pic>
        <p:nvPicPr>
          <p:cNvPr id="5" name="Picture 4" descr="image.jpg"/>
          <p:cNvPicPr>
            <a:picLocks noChangeAspect="1"/>
          </p:cNvPicPr>
          <p:nvPr/>
        </p:nvPicPr>
        <p:blipFill>
          <a:blip r:embed="rId3"/>
          <a:stretch>
            <a:fillRect/>
          </a:stretch>
        </p:blipFill>
        <p:spPr>
          <a:xfrm>
            <a:off x="1209675" y="1244600"/>
            <a:ext cx="9772650" cy="2984500"/>
          </a:xfrm>
          <a:prstGeom prst="rect">
            <a:avLst/>
          </a:prstGeom>
        </p:spPr>
      </p:pic>
      <p:sp>
        <p:nvSpPr>
          <p:cNvPr id="6" name="TextBox 5"/>
          <p:cNvSpPr txBox="1"/>
          <p:nvPr/>
        </p:nvSpPr>
        <p:spPr>
          <a:xfrm>
            <a:off x="1209675" y="4267200"/>
            <a:ext cx="977265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PASSAGE (Fig. 1): 실물 G1의 네 장면이다. (a) 여러 노출을 겹친 사진으로, 나무 팔레트를 넘고, 블록 아치 밑으로 숙이고, 바퀴 달린 검은 가방 옆을 몸을 틀어 지난다. (b) 블록과 상자를 흩어 놓은 시험 장면에 지나간 자세를 겹쳤다. (c) 가구가 있는 거실에서 낮은 흰 막대를 넘는다. (d) 문 앞에 늘어진 커튼 밑으로 숙여 지난다. 모두 같은 계획기·추종기 한 쌍이고, 미리 만든 지도와 외부 계산 없이 돌았다. 출처: arXiv:2609.18732</a:t>
            </a:r>
          </a:p>
        </p:txBody>
      </p:sp>
      <p:sp>
        <p:nvSpPr>
          <p:cNvPr id="7" name="TextBox 6"/>
          <p:cNvSpPr txBox="1"/>
          <p:nvPr/>
        </p:nvSpPr>
        <p:spPr>
          <a:xfrm>
            <a:off x="609600" y="4640461"/>
            <a:ext cx="10972800" cy="108247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데이터 수집.</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장면을 먼저 만들고, 사람이 그 장면 안을 지나가게 해서 동작과 기하가 처음부터 짝을 이루게 한다.</a:t>
            </a:r>
            <a:r>
              <a:rPr sz="1050" b="0" i="0">
                <a:solidFill>
                  <a:srgbClr val="16213A"/>
                </a:solidFill>
                <a:latin typeface="Arial"/>
                <a:ea typeface="Malgun Gothic"/>
                <a:cs typeface="Malgun Gothic"/>
              </a:rPr>
              <a:t> 절차 생성기가 10 m 복도에 블록 장애물을 놓는다. 난이도 변수 여덟 개(앞뒤 단차, 옆 비켜남, 통로 길이와 폭, 천장 확률과 높이, 바닥 장애물 확률과 높이)를 섞어 바닥·옆·머리 위 제약을 만든다. 조작자는 관성 모션 캡처 옷(Noitom PN Link)과 VR 헤드셋을 쓰고, 아바타의 1인칭 시점으로 장면을 지나간다. 가상 몸이 장면에 닿으면 진동으로 알리고, 그 시연은 버린다. G1(29자유도)에 리타기팅하고 장면도 같은 비율로 키우거나 줄여, 동작과 기하의 정렬을 지킨다. 충돌과 품질로 거른 뒤 19,310개 시퀀스(1,747만 프레임, 약 100시간)가 남았다. 동작과 장면을 따로 저장하므로, 장애물을 0.5–1.5배로 키우고 ±15° 돌린 변형 열 개를 MuJoCo 운동학 재생으로 검사해 충돌 없는 짝만 남긴다. 이렇게 약 1,000시간이 된다.</a:t>
            </a:r>
          </a:p>
        </p:txBody>
      </p:sp>
      <p:sp>
        <p:nvSpPr>
          <p:cNvPr id="8" name="TextBox 7"/>
          <p:cNvSpPr txBox="1"/>
          <p:nvPr/>
        </p:nvSpPr>
        <p:spPr>
          <a:xfrm>
            <a:off x="609600" y="5811838"/>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33개(문단·식·그림)는 대시보드 리서치 탭의 "자세히: 데이터 수집, 계획기의 손실·RTC·RL 후학습, 3층 지도, 결과, 관련 연구 비교, Planner D와 맞대 보기" 토글에 있다.</a:t>
            </a:r>
          </a:p>
        </p:txBody>
      </p:sp>
    </p:spTree>
  </p:cSld>
  <p:clrMapOvr>
    <a:masterClrMapping/>
  </p:clrMapOvr>
</p:sld>
</file>

<file path=ppt/slides/slide46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464 / 516</a:t>
            </a:r>
          </a:p>
        </p:txBody>
      </p:sp>
      <p:sp>
        <p:nvSpPr>
          <p:cNvPr id="5" name="TextBox 4"/>
          <p:cNvSpPr txBox="1"/>
          <p:nvPr/>
        </p:nvSpPr>
        <p:spPr>
          <a:xfrm>
            <a:off x="609600" y="1244600"/>
            <a:ext cx="10972800" cy="1731962"/>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NEXUS — 운영자의 평지 동작을 깊이 영상 한 장으로 계단과 경사 위에 맞추는 전신 추종기</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arXiv:2609.39000</a:t>
            </a:r>
            <a:r>
              <a:rPr sz="1050" b="0" i="0">
                <a:solidFill>
                  <a:srgbClr val="16213A"/>
                </a:solidFill>
                <a:latin typeface="Arial"/>
                <a:ea typeface="Malgun Gothic"/>
                <a:cs typeface="Malgun Gothic"/>
              </a:rPr>
              <a:t>, Miao·Wu·Shi·Xie·Han·X. Wang·W. Zhang·C. Bai·X. Li, TeleAI(China Telecom)·상하이교통대·홍콩대·저장대·γ-Robotics, 2026-09-30, 학회 게재는 확인하지 못했다; </a:t>
            </a:r>
            <a:r>
              <a:rPr sz="1050" b="0" i="0">
                <a:solidFill>
                  <a:srgbClr val="1D4ED8"/>
                </a:solidFill>
                <a:latin typeface="Arial"/>
                <a:ea typeface="Malgun Gothic"/>
                <a:cs typeface="Malgun Gothic"/>
                <a:hlinkClick r:id="rId4"/>
              </a:rPr>
              <a:t>프로젝트</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5"/>
              </a:rPr>
              <a:t>코드</a:t>
            </a:r>
            <a:r>
              <a:rPr sz="1050" b="0" i="0">
                <a:solidFill>
                  <a:srgbClr val="16213A"/>
                </a:solidFill>
                <a:latin typeface="Arial"/>
                <a:ea typeface="Malgun Gothic"/>
                <a:cs typeface="Malgun Gothic"/>
              </a:rPr>
              <a:t> CC BY-NC 4.0, 2026-10-23 공개). </a:t>
            </a:r>
            <a:r>
              <a:rPr sz="1050" b="1" i="0">
                <a:solidFill>
                  <a:srgbClr val="C2410C"/>
                </a:solidFill>
                <a:latin typeface="Arial"/>
                <a:ea typeface="Malgun Gothic"/>
                <a:cs typeface="Malgun Gothic"/>
              </a:rPr>
              <a:t>원격조종하는 사람은 평지에 서 있고, 로봇은 깊이 영상 한 장을 보고 그 동작을 지형 위에 맞춘다.</a:t>
            </a:r>
            <a:r>
              <a:rPr sz="1050" b="0" i="0">
                <a:solidFill>
                  <a:srgbClr val="16213A"/>
                </a:solidFill>
                <a:latin typeface="Arial"/>
                <a:ea typeface="Malgun Gothic"/>
                <a:cs typeface="Malgun Gothic"/>
              </a:rPr>
              <a:t> 어려운 지형(15 cm 계단, 24.2° 경사)에서 성공률이 51.9 %로, 지형을 보지 않는 SONIC v1.1(31.76 %)보다 높다. 평지는 90.0 %로 SONIC v1.1(88.33 %)과 비슷하다(Fig. 4b). 데이터는 평지 동작을 지형 위 동작으로 자동 변환해 만든다. 손발 접촉을 판정하고, 하향 광선으로 구한 지형 높이로 골반을 올리거나 내린 뒤, 접촉 키프레임에서 팔다리 IK를 풀고 관통을 고친다. 고친 양은 PCHIP으로 시간 보간한다. 모든 동작과 지형에 설정 하나를 쓴다. 원천은 SEED·LaFAN1·AMASS·100STYLE이고, 적응 변형을 포함한 짝 데이터는 약 1,000시간이다. 교사는 특권 상태와 골반 기준 높이 지도(11 × 17, 코드 기준 1.6 m × 1.0 m, 0.1 m 간격)를 보고 PPO로 배운다. 학생은 평지 기준 동작 창(과거 6·현재·미래 6프레임, 120 ms 앞), 고유감각 이력 10프레임, 깊이 영상 32 × 18 한 장만 보고 DAgger로 교사를 따라 한다. 학습은 mjlab(MuJoCo)에서 H100 넷, GPU당 환경 16,384개로 했다. 실물 G1은 D435i와 Jetson Orin NX에서 50 Hz로 돌고, 미세 조정 없이 15 cm 계단, 60 cm 대 내려오기와 뛰어내리기, 약 30° 풀밭 경사를 지났다.</a:t>
            </a:r>
          </a:p>
        </p:txBody>
      </p:sp>
      <p:sp>
        <p:nvSpPr>
          <p:cNvPr id="6" name="TextBox 5"/>
          <p:cNvSpPr txBox="1"/>
          <p:nvPr/>
        </p:nvSpPr>
        <p:spPr>
          <a:xfrm>
            <a:off x="609600" y="3065462"/>
            <a:ext cx="10972800" cy="86598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절제(표 II)는 보지 않은 이동 클립 415개 × 지형 4종 × 레벨 5, 모두 8,300회 시행이다. 성공률은 91.07 %였고, 시각을 빼면 87.77 %, 교사–학생 없이 PPO 하나로 배우면 90.96 %였다. 시각의 값은 어려운 두 레벨에서 커진다(78.10 대 70.51 %). 교사–학생은 성공률보다 추종 정확도를 올렸다(뿌리 위치 오차 19.60 대 31.95 cm). 지형 조건의 몸체 위치 오차(MPKPE)는 10.15 cm로, 비교한 추종기 가운데 가장 컸다(HoloMotion 8.83 cm). 저자는 이 값이 실패 전 구간만 평균한 것이라 일찍 실패한 추종기가 유리해진다고 설명한다. 한계는 위가 덮인 지형을 다루지 않는다는 것이다. 실물에서는 60 cm 대 내려오기와 옆돌기에서 일부 넘어졌다.</a:t>
            </a:r>
          </a:p>
        </p:txBody>
      </p:sp>
      <p:sp>
        <p:nvSpPr>
          <p:cNvPr id="7" name="TextBox 6"/>
          <p:cNvSpPr txBox="1"/>
          <p:nvPr/>
        </p:nvSpPr>
        <p:spPr>
          <a:xfrm>
            <a:off x="609600" y="4020344"/>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NEXUS의 계약은 travplan의 Planner–Controller 분리와 같다. 위 층(운영자)은 지형을 모르는 명령을 내리고, 아래 층이 국소 인식으로 그 명령을 지형에 맞춘다. 가져올 것은 둘이다. 하나는 정답 지도를 보는 교사가 배포 관측만 보는 학생을 가르치는 구성이다. travplan에서는 L0의 참값 TravMap이 교사, L1 belief 지도가 학생 자리에 온다(B.16.7의 1번). 다른 하나는 실패율이 높은 50프레임 구간을 더 자주 뽑는 표집이다(B.16.7의 4번). 평가에서는 실패 전 구간만 평균한 오차가 일찍 실패한 쪽을 유리하게 만든다는 점을 기억한다. 오차는 성공률과 함께 읽는다. 가져올 수 없는 것도 있다. 다리 접촉 IK와 전신 자세 보상은 스워브 로봇에 맞지 않는다. 코드는 CC BY-NC 4.0이라 상업 배달로봇에 쓸 수 없다.</a:t>
            </a:r>
          </a:p>
        </p:txBody>
      </p:sp>
    </p:spTree>
  </p:cSld>
  <p:clrMapOvr>
    <a:masterClrMapping/>
  </p:clrMapOvr>
</p:sld>
</file>

<file path=ppt/slides/slide46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465 / 516</a:t>
            </a:r>
          </a:p>
        </p:txBody>
      </p:sp>
      <p:pic>
        <p:nvPicPr>
          <p:cNvPr id="5" name="Picture 4" descr="image.jpg"/>
          <p:cNvPicPr>
            <a:picLocks noChangeAspect="1"/>
          </p:cNvPicPr>
          <p:nvPr/>
        </p:nvPicPr>
        <p:blipFill>
          <a:blip r:embed="rId3"/>
          <a:stretch>
            <a:fillRect/>
          </a:stretch>
        </p:blipFill>
        <p:spPr>
          <a:xfrm>
            <a:off x="609600" y="1244600"/>
            <a:ext cx="4965700" cy="2667000"/>
          </a:xfrm>
          <a:prstGeom prst="rect">
            <a:avLst/>
          </a:prstGeom>
        </p:spPr>
      </p:pic>
      <p:sp>
        <p:nvSpPr>
          <p:cNvPr id="6" name="TextBox 5"/>
          <p:cNvSpPr txBox="1"/>
          <p:nvPr/>
        </p:nvSpPr>
        <p:spPr>
          <a:xfrm>
            <a:off x="609600" y="3949700"/>
            <a:ext cx="54102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NEXUS (Fig. 2): (a) 접촉 판정, 골반 조정, 관통 보정을 단 IK, 키프레임 보간으로 평지 동작의 지형 짝을 만든다. (b) 특권 PPO 교사가 DAgger로 학생을 가르친다. (c) 깊이 영상으로 원격조종을 미세 조정 없이 배포한다. 출처: arXiv:2609.39000</a:t>
            </a:r>
          </a:p>
        </p:txBody>
      </p:sp>
      <p:pic>
        <p:nvPicPr>
          <p:cNvPr id="7" name="Picture 6" descr="image.jpg"/>
          <p:cNvPicPr>
            <a:picLocks noChangeAspect="1"/>
          </p:cNvPicPr>
          <p:nvPr/>
        </p:nvPicPr>
        <p:blipFill>
          <a:blip r:embed="rId4"/>
          <a:stretch>
            <a:fillRect/>
          </a:stretch>
        </p:blipFill>
        <p:spPr>
          <a:xfrm>
            <a:off x="6172200" y="1244600"/>
            <a:ext cx="5410200" cy="1924050"/>
          </a:xfrm>
          <a:prstGeom prst="rect">
            <a:avLst/>
          </a:prstGeom>
        </p:spPr>
      </p:pic>
      <p:sp>
        <p:nvSpPr>
          <p:cNvPr id="8" name="TextBox 7"/>
          <p:cNvSpPr txBox="1"/>
          <p:nvPr/>
        </p:nvSpPr>
        <p:spPr>
          <a:xfrm>
            <a:off x="6172200" y="3206750"/>
            <a:ext cx="5410200" cy="42654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NEXUS (Fig. 4): 공개 체크포인트가 있는 추종기 넷과의 비교. (b) 지형 적응에서 어려운 지형 성공률은 NEXUS 51.9 %, SONIC v1.1 31.76 %, HoloMotion 30.46 %다. (c) 지형 조건의 MPKPE는 NEXUS가 10.15 cm로 가장 크다. 원본은 SVG라 래스터로 바꿨다. 출처: arXiv:2609.39000</a:t>
            </a:r>
          </a:p>
        </p:txBody>
      </p:sp>
    </p:spTree>
  </p:cSld>
  <p:clrMapOvr>
    <a:masterClrMapping/>
  </p:clrMapOvr>
</p:sld>
</file>

<file path=ppt/slides/slide46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자세히: NEXUS의 방법과 수식</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466 / 516</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정책.</a:t>
            </a:r>
            <a:r>
              <a:rPr sz="1050" b="0" i="0">
                <a:solidFill>
                  <a:srgbClr val="16213A"/>
                </a:solidFill>
                <a:latin typeface="Arial"/>
                <a:ea typeface="Malgun Gothic"/>
                <a:cs typeface="Malgun Gothic"/>
              </a:rPr>
              <a:t> 정책은 평지 기준 동작, 고유감각, 외부 관측을 받아 관절 PD 목표의 오프셋을 낸다(식 1, 15).</a:t>
            </a:r>
          </a:p>
        </p:txBody>
      </p:sp>
      <p:pic>
        <p:nvPicPr>
          <p:cNvPr id="6" name="Picture 5" descr="image.png"/>
          <p:cNvPicPr>
            <a:picLocks noChangeAspect="1"/>
          </p:cNvPicPr>
          <p:nvPr/>
        </p:nvPicPr>
        <p:blipFill>
          <a:blip r:embed="rId3"/>
          <a:stretch>
            <a:fillRect/>
          </a:stretch>
        </p:blipFill>
        <p:spPr>
          <a:xfrm>
            <a:off x="609600" y="1549995"/>
            <a:ext cx="3562350" cy="241300"/>
          </a:xfrm>
          <a:prstGeom prst="rect">
            <a:avLst/>
          </a:prstGeom>
        </p:spPr>
      </p:pic>
      <p:sp>
        <p:nvSpPr>
          <p:cNvPr id="7" name="TextBox 6"/>
          <p:cNvSpPr txBox="1"/>
          <p:nvPr/>
        </p:nvSpPr>
        <p:spPr>
          <a:xfrm>
            <a:off x="609600" y="182751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골반 조정.</a:t>
            </a:r>
            <a:r>
              <a:rPr sz="1050" b="0" i="0">
                <a:solidFill>
                  <a:srgbClr val="16213A"/>
                </a:solidFill>
                <a:latin typeface="Arial"/>
                <a:ea typeface="Malgun Gothic"/>
                <a:cs typeface="Malgun Gothic"/>
              </a:rPr>
              <a:t> 접촉한 손발 </a:t>
            </a:r>
            <a:r>
              <a:rPr sz="1050" b="0" i="1">
                <a:solidFill>
                  <a:srgbClr val="16213A"/>
                </a:solidFill>
                <a:latin typeface="Arial"/>
                <a:ea typeface="Malgun Gothic"/>
                <a:cs typeface="Malgun Gothic"/>
              </a:rPr>
              <a:t>i</a:t>
            </a:r>
            <a:r>
              <a:rPr sz="1050" b="0" i="0">
                <a:solidFill>
                  <a:srgbClr val="16213A"/>
                </a:solidFill>
                <a:latin typeface="Arial"/>
                <a:ea typeface="Malgun Gothic"/>
                <a:cs typeface="Malgun Gothic"/>
              </a:rPr>
              <a:t>마다 지형 높이 </a:t>
            </a:r>
            <a:r>
              <a:rPr sz="1050" b="0" i="1">
                <a:solidFill>
                  <a:srgbClr val="16213A"/>
                </a:solidFill>
                <a:latin typeface="Arial"/>
                <a:ea typeface="Malgun Gothic"/>
                <a:cs typeface="Malgun Gothic"/>
              </a:rPr>
              <a:t>d_(t,i) = h(x_(t,i), y_(t,i))</a:t>
            </a:r>
            <a:r>
              <a:rPr sz="1050" b="0" i="0">
                <a:solidFill>
                  <a:srgbClr val="16213A"/>
                </a:solidFill>
                <a:latin typeface="Arial"/>
                <a:ea typeface="Malgun Gothic"/>
                <a:cs typeface="Malgun Gothic"/>
              </a:rPr>
              <a:t>를 구하고, 절댓값이 가장 큰 것으로 골반을 옮긴다(식 3). 계단 위 한 발이 가장 큰 차이를 만들면 그 발에 맞춰 몸 전체를 올린다.</a:t>
            </a:r>
          </a:p>
        </p:txBody>
      </p:sp>
      <p:pic>
        <p:nvPicPr>
          <p:cNvPr id="8" name="Picture 7" descr="image.png"/>
          <p:cNvPicPr>
            <a:picLocks noChangeAspect="1"/>
          </p:cNvPicPr>
          <p:nvPr/>
        </p:nvPicPr>
        <p:blipFill>
          <a:blip r:embed="rId4"/>
          <a:stretch>
            <a:fillRect/>
          </a:stretch>
        </p:blipFill>
        <p:spPr>
          <a:xfrm>
            <a:off x="609600" y="2132905"/>
            <a:ext cx="2476500" cy="301625"/>
          </a:xfrm>
          <a:prstGeom prst="rect">
            <a:avLst/>
          </a:prstGeom>
        </p:spPr>
      </p:pic>
      <p:sp>
        <p:nvSpPr>
          <p:cNvPr id="9" name="TextBox 8"/>
          <p:cNvSpPr txBox="1"/>
          <p:nvPr/>
        </p:nvSpPr>
        <p:spPr>
          <a:xfrm>
            <a:off x="609600" y="2461816"/>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키프레임 IK.</a:t>
            </a:r>
            <a:r>
              <a:rPr sz="1050" b="0" i="0">
                <a:solidFill>
                  <a:srgbClr val="16213A"/>
                </a:solidFill>
                <a:latin typeface="Arial"/>
                <a:ea typeface="Malgun Gothic"/>
                <a:cs typeface="Malgun Gothic"/>
              </a:rPr>
              <a:t> 팔다리 하나의 관절 넷을 다음으로 푼다(식 4). 셋째 항이 원래 평지 자세에서 너무 멀어지지 않게 묶는다.</a:t>
            </a:r>
          </a:p>
        </p:txBody>
      </p:sp>
      <p:pic>
        <p:nvPicPr>
          <p:cNvPr id="10" name="Picture 9" descr="image.png"/>
          <p:cNvPicPr>
            <a:picLocks noChangeAspect="1"/>
          </p:cNvPicPr>
          <p:nvPr/>
        </p:nvPicPr>
        <p:blipFill>
          <a:blip r:embed="rId5"/>
          <a:stretch>
            <a:fillRect/>
          </a:stretch>
        </p:blipFill>
        <p:spPr>
          <a:xfrm>
            <a:off x="609600" y="2767211"/>
            <a:ext cx="5010150" cy="317500"/>
          </a:xfrm>
          <a:prstGeom prst="rect">
            <a:avLst/>
          </a:prstGeom>
        </p:spPr>
      </p:pic>
      <p:sp>
        <p:nvSpPr>
          <p:cNvPr id="11" name="TextBox 10"/>
          <p:cNvSpPr txBox="1"/>
          <p:nvPr/>
        </p:nvSpPr>
        <p:spPr>
          <a:xfrm>
            <a:off x="609600" y="3112095"/>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보간.</a:t>
            </a:r>
            <a:r>
              <a:rPr sz="1050" b="0" i="0">
                <a:solidFill>
                  <a:srgbClr val="16213A"/>
                </a:solidFill>
                <a:latin typeface="Arial"/>
                <a:ea typeface="Malgun Gothic"/>
                <a:cs typeface="Malgun Gothic"/>
              </a:rPr>
              <a:t> 키프레임 보정을 PCHIP으로 잇고 평지 동작에 더한다(식 5–7). 수평 위치와 방향은 원래 값을 두므로, 두 동작은 프레임 단위로 맞는다.</a:t>
            </a:r>
          </a:p>
        </p:txBody>
      </p:sp>
      <p:sp>
        <p:nvSpPr>
          <p:cNvPr id="12" name="TextBox 11"/>
          <p:cNvSpPr txBox="1"/>
          <p:nvPr/>
        </p:nvSpPr>
        <p:spPr>
          <a:xfrm>
            <a:off x="609600" y="3417491"/>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학습.</a:t>
            </a:r>
            <a:r>
              <a:rPr sz="1050" b="0" i="0">
                <a:solidFill>
                  <a:srgbClr val="16213A"/>
                </a:solidFill>
                <a:latin typeface="Arial"/>
                <a:ea typeface="Malgun Gothic"/>
                <a:cs typeface="Malgun Gothic"/>
              </a:rPr>
              <a:t> 교사 MLP는 2048-2048-1024-1024-512-512, 학생은 깊이 CNN 3층(32/32/64 채널, global max pool) 뒤 MLP 1024-1024-512-512-256이다. 보상은 추종, 접촉 시점(가중 5.0), 접촉 높이 차, 발바닥 지지(−1.0), 정규화, 생존(3.0)이다(표 IV). 지면 기준 골반 높이 오차나 골반 기준 손발 높이 오차가 0.25 m를 넘으면 에피소드를 끝낸다(식 13). 실패율이 높은 50프레임 구간을 더 자주 뽑고 균등 추출 0.1을 섞는다. 학습 지형은 평지, 경사(기울기 0.30), 계단(높이 10 cm, 디딤판 30 cm)이다.</a:t>
            </a:r>
          </a:p>
        </p:txBody>
      </p:sp>
      <p:sp>
        <p:nvSpPr>
          <p:cNvPr id="13" name="TextBox 12"/>
          <p:cNvSpPr txBox="1"/>
          <p:nvPr/>
        </p:nvSpPr>
        <p:spPr>
          <a:xfrm>
            <a:off x="609600" y="4155877"/>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적응 품질(표 I, 55동작 × 16지형).</a:t>
            </a:r>
            <a:r>
              <a:rPr sz="1050" b="0" i="0">
                <a:solidFill>
                  <a:srgbClr val="16213A"/>
                </a:solidFill>
                <a:latin typeface="Arial"/>
                <a:ea typeface="Malgun Gothic"/>
                <a:cs typeface="Malgun Gothic"/>
              </a:rPr>
              <a:t> 손 접촉이 없는 동작의 접촉 유지는 79.12 %로 TCRS(29.63 %)보다 높고, 생성은 4.88배 빠르다. 대신 관통은 0.814 cm로 TCRS(0.606 cm)보다 조금 크다.</a:t>
            </a:r>
          </a:p>
        </p:txBody>
      </p:sp>
      <p:sp>
        <p:nvSpPr>
          <p:cNvPr id="14" name="TextBox 13"/>
          <p:cNvSpPr txBox="1"/>
          <p:nvPr/>
        </p:nvSpPr>
        <p:spPr>
          <a:xfrm>
            <a:off x="609600" y="4461272"/>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코드.</a:t>
            </a:r>
            <a:r>
              <a:rPr sz="1050" b="0" i="0">
                <a:solidFill>
                  <a:srgbClr val="16213A"/>
                </a:solidFill>
                <a:latin typeface="Arial"/>
                <a:ea typeface="Malgun Gothic"/>
                <a:cs typeface="Malgun Gothic"/>
              </a:rPr>
              <a:t> 저장소에는 동작 적응 패키지, 학습 파이프라인, G1용 ONNX 체크포인트가 있다. sim-to-sim과 실물 배포 코드는 아직 없다(README의 Release Status, 2026-10-23).</a:t>
            </a:r>
          </a:p>
        </p:txBody>
      </p:sp>
    </p:spTree>
  </p:cSld>
  <p:clrMapOvr>
    <a:masterClrMapping/>
  </p:clrMapOvr>
</p:sld>
</file>

<file path=ppt/slides/slide46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1/6</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467 / 516</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Boston Dynamics·RAI Institute의 Atlas RL(ZEST)은 B.16.4에 있다.</a:t>
            </a:r>
            <a:r>
              <a:rPr sz="1050" b="0" i="0">
                <a:solidFill>
                  <a:srgbClr val="16213A"/>
                </a:solidFill>
                <a:latin typeface="Arial"/>
                <a:ea typeface="Malgun Gothic"/>
                <a:cs typeface="Malgun Gothic"/>
              </a:rPr>
              <a:t> 모션 캡처·영상·애니메이션을 RL로 따라 해 Atlas·G1·Spot에 바로 올렸고, 방법은 이 소절의 동작 추종과 같은 갈래다. 1저자 Jean-Pierre Sleiman의 이력은 B.16.3에 있다.</a:t>
            </a:r>
          </a:p>
        </p:txBody>
      </p:sp>
      <p:sp>
        <p:nvSpPr>
          <p:cNvPr id="6" name="TextBox 5"/>
          <p:cNvSpPr txBox="1"/>
          <p:nvPr/>
        </p:nvSpPr>
        <p:spPr>
          <a:xfrm>
            <a:off x="609600" y="1766491"/>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Unitree H1·G1.</a:t>
            </a:r>
            <a:r>
              <a:rPr sz="1050" b="0" i="0">
                <a:solidFill>
                  <a:srgbClr val="16213A"/>
                </a:solidFill>
                <a:latin typeface="Arial"/>
                <a:ea typeface="Malgun Gothic"/>
                <a:cs typeface="Malgun Gothic"/>
              </a:rPr>
              <a:t> 이 소절 연구 대부분의 실험 로봇이다(</a:t>
            </a:r>
            <a:r>
              <a:rPr sz="1050" b="0" i="0">
                <a:solidFill>
                  <a:srgbClr val="1D4ED8"/>
                </a:solidFill>
                <a:latin typeface="Arial"/>
                <a:ea typeface="Malgun Gothic"/>
                <a:cs typeface="Malgun Gothic"/>
                <a:hlinkClick r:id="rId3"/>
              </a:rPr>
              <a:t>G1 공식 사양</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4"/>
              </a:rPr>
              <a:t>H1 공식 사양</a:t>
            </a:r>
            <a:r>
              <a:rPr sz="1050" b="0" i="0">
                <a:solidFill>
                  <a:srgbClr val="16213A"/>
                </a:solidFill>
                <a:latin typeface="Arial"/>
                <a:ea typeface="Malgun Gothic"/>
                <a:cs typeface="Malgun Gothic"/>
              </a:rPr>
              <a:t>). H2O·OmniH2O·HumanPlus·Humanoid Parkour·ExBody는 H1을 썼다. ASAP·BeyondMimic·ExBody2·VideoMimic·AMO·GMT·PASSAGE와 ZEST의 일부 동작은 G1을 썼다. 공식 사양은 H1이 키 약 180 cm·약 47 kg, G1이 1.32 m·약 35 kg이다. 논문마다 적은 값이 조금씩 다르다(ExBody는 H1을 약 51.5 kg, ASAP은 G1을 1.35 m로 적는다). 공개 학습 코드(unitree_rl_gym, unitree_rl_lab)는 B.16.5의 Unitree 카드에, 센서와 인식은 인식 문서 A.8의 비교 표에 있다. Playground의 휴머노이드(TP-0135)도 G1급을 본뜬다.</a:t>
            </a:r>
          </a:p>
        </p:txBody>
      </p:sp>
      <p:sp>
        <p:nvSpPr>
          <p:cNvPr id="7" name="TextBox 6"/>
          <p:cNvSpPr txBox="1"/>
          <p:nvPr/>
        </p:nvSpPr>
        <p:spPr>
          <a:xfrm>
            <a:off x="609600" y="2721372"/>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위 층이 넘기는 것.</a:t>
            </a:r>
            <a:r>
              <a:rPr sz="1050" b="0" i="0">
                <a:solidFill>
                  <a:srgbClr val="16213A"/>
                </a:solidFill>
                <a:latin typeface="Arial"/>
                <a:ea typeface="Malgun Gothic"/>
                <a:cs typeface="Malgun Gothic"/>
              </a:rPr>
              <a:t> 이 소절의 정책이 위 층에서 받는 것을 나란히 두면 이렇다. 시간 순서로 보면 속도 목표에서 위치 목표와 비용으로 옮겨 간다. travplan 벤치마크의 행은 B.14.2 끝의 표에 있다.</a:t>
            </a:r>
          </a:p>
        </p:txBody>
      </p:sp>
      <p:graphicFrame>
        <p:nvGraphicFramePr>
          <p:cNvPr id="8" name="Table 7"/>
          <p:cNvGraphicFramePr>
            <a:graphicFrameLocks noGrp="1"/>
          </p:cNvGraphicFramePr>
          <p:nvPr/>
        </p:nvGraphicFramePr>
        <p:xfrm>
          <a:off x="609600" y="3026767"/>
          <a:ext cx="10966450" cy="2212656"/>
        </p:xfrm>
        <a:graphic>
          <a:graphicData uri="http://schemas.openxmlformats.org/drawingml/2006/table">
            <a:tbl>
              <a:tblPr firstRow="1" bandRow="1">
                <a:tableStyleId>{5C22544A-7EE6-4342-B048-85BDC9FD1C3A}</a:tableStyleId>
              </a:tblPr>
              <a:tblGrid>
                <a:gridCol w="1992015"/>
                <a:gridCol w="3918148"/>
                <a:gridCol w="3462139"/>
                <a:gridCol w="1594148"/>
              </a:tblGrid>
              <a:tr h="197088">
                <a:tc>
                  <a:txBody>
                    <a:bodyPr wrap="square"/>
                    <a:lstStyle/>
                    <a:p>
                      <a:r>
                        <a:rPr sz="800" b="1" i="0">
                          <a:solidFill>
                            <a:srgbClr val="F4F1EA"/>
                          </a:solidFill>
                          <a:latin typeface="Arial"/>
                          <a:ea typeface="Malgun Gothic"/>
                          <a:cs typeface="Malgun Gothic"/>
                        </a:rPr>
                        <a:t>연구(로봇)</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위 층이 넘기는 것</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갱신</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아래 층의 출력</a:t>
                      </a:r>
                    </a:p>
                  </a:txBody>
                  <a:tcPr marL="63500" marR="63500" marT="12700" marB="12700">
                    <a:solidFill>
                      <a:srgbClr val="16213A"/>
                    </a:solidFill>
                  </a:tcPr>
                </a:tc>
              </a:tr>
              <a:tr h="317976">
                <a:tc>
                  <a:txBody>
                    <a:bodyPr wrap="square"/>
                    <a:lstStyle/>
                    <a:p>
                      <a:r>
                        <a:rPr sz="800" b="0" i="0">
                          <a:solidFill>
                            <a:srgbClr val="16213A"/>
                          </a:solidFill>
                          <a:latin typeface="Arial"/>
                          <a:ea typeface="Malgun Gothic"/>
                          <a:cs typeface="Malgun Gothic"/>
                        </a:rPr>
                        <a:t>HT(Digit)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몸통 속도 명령(전진·옆·회전)</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정책 50 Hz</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관절 16개 PD 목표 + 다리 8개 PD 이득</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OmniH2O(H1)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머리와 두 손 세 점의 위치(VR·RGB·언어·GPT-4o·Diffusion Policy가 냄)</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정책 50 Hz</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관절 목표</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HumanPlus(H1)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상위 정책의 목표 자세 50개 묶음</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상위 25 Hz, 하위 50 Hz</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몸 관절 19개 목표</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Agility 전신 제어 기반 모델(Digit)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손과 몸통의 자유 공간 위치·자세</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확인하지 못했다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전신 관절 명령</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VideoMimic(G1)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목표 방향(국소 x·y 오프셋과 yaw), 몸통 둘레 11 × 11 높이 지도</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정책 50 Hz</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관절 목표</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PHP(G1)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이산 2D 속도 명령(학습은 1·2 m/s × 방향 다섯), 깊이 영상</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깊이 카메라 30 Hz. 정책 주기는 확인하지 못했다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관절 PD 목표</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HumanX(G1)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없음(NEP 모드), 또는 모션 캡처의 물체·사람 자세</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정책 100 Hz, PD 1 kHz</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관절 PD 목표</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BeyondMimic(G1)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과제 비용(조이스틱 속도·경유점·SDF 장애물)의 기울기</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diffusion 약 20 ms(비동기), 추종 25 Hz</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디코더가 잠재를 관절 목표로</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PASSAGE(G1)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flow 계획기가 낸 0.5 s 전신 기준 동작(링크 14개 자세)과 3층 높이 지도. 계획기는 목표 위치만 받는다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계획 6.25 Hz, 추종 50 Hz</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관절 29개 잔차 목표</a:t>
                      </a:r>
                    </a:p>
                  </a:txBody>
                  <a:tcPr marL="63500" marR="63500" marT="12700" marB="12700">
                    <a:solidFill>
                      <a:srgbClr val="FFFDF8"/>
                    </a:solidFill>
                  </a:tcPr>
                </a:tc>
              </a:tr>
            </a:tbl>
          </a:graphicData>
        </a:graphic>
      </p:graphicFrame>
    </p:spTree>
  </p:cSld>
  <p:clrMapOvr>
    <a:masterClrMapping/>
  </p:clrMapOvr>
</p:sld>
</file>

<file path=ppt/slides/slide46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2/6</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468 / 516</a:t>
            </a:r>
          </a:p>
        </p:txBody>
      </p:sp>
      <p:graphicFrame>
        <p:nvGraphicFramePr>
          <p:cNvPr id="5" name="Table 4"/>
          <p:cNvGraphicFramePr>
            <a:graphicFrameLocks noGrp="1"/>
          </p:cNvGraphicFramePr>
          <p:nvPr/>
        </p:nvGraphicFramePr>
        <p:xfrm>
          <a:off x="609600" y="1244600"/>
          <a:ext cx="10966450" cy="833040"/>
        </p:xfrm>
        <a:graphic>
          <a:graphicData uri="http://schemas.openxmlformats.org/drawingml/2006/table">
            <a:tbl>
              <a:tblPr firstRow="1" bandRow="1">
                <a:tableStyleId>{5C22544A-7EE6-4342-B048-85BDC9FD1C3A}</a:tableStyleId>
              </a:tblPr>
              <a:tblGrid>
                <a:gridCol w="1992015"/>
                <a:gridCol w="3918148"/>
                <a:gridCol w="3462139"/>
                <a:gridCol w="1594148"/>
              </a:tblGrid>
              <a:tr h="197088">
                <a:tc>
                  <a:txBody>
                    <a:bodyPr wrap="square"/>
                    <a:lstStyle/>
                    <a:p>
                      <a:r>
                        <a:rPr sz="800" b="1" i="0">
                          <a:solidFill>
                            <a:srgbClr val="F4F1EA"/>
                          </a:solidFill>
                          <a:latin typeface="Arial"/>
                          <a:ea typeface="Malgun Gothic"/>
                          <a:cs typeface="Malgun Gothic"/>
                        </a:rPr>
                        <a:t>연구(로봇)</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위 층이 넘기는 것</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갱신</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아래 층의 출력</a:t>
                      </a:r>
                    </a:p>
                  </a:txBody>
                  <a:tcPr marL="63500" marR="63500" marT="12700" marB="12700">
                    <a:solidFill>
                      <a:srgbClr val="16213A"/>
                    </a:solidFill>
                  </a:tcPr>
                </a:tc>
              </a:tr>
              <a:tr h="317976">
                <a:tc>
                  <a:txBody>
                    <a:bodyPr wrap="square"/>
                    <a:lstStyle/>
                    <a:p>
                      <a:r>
                        <a:rPr sz="800" b="0" i="0">
                          <a:solidFill>
                            <a:srgbClr val="16213A"/>
                          </a:solidFill>
                          <a:latin typeface="Arial"/>
                          <a:ea typeface="Malgun Gothic"/>
                          <a:cs typeface="Malgun Gothic"/>
                        </a:rPr>
                        <a:t>GR00T 분리형 WBC(G1, Controller 문서 F.8)</a:t>
                      </a:r>
                    </a:p>
                  </a:txBody>
                  <a:tcPr marL="63500" marR="63500" marT="12700" marB="12700">
                    <a:solidFill>
                      <a:srgbClr val="FFFDF8"/>
                    </a:solidFill>
                  </a:tcPr>
                </a:tc>
                <a:tc>
                  <a:txBody>
                    <a:bodyPr wrap="square"/>
                    <a:lstStyle/>
                    <a:p>
                      <a:r>
                        <a:rPr sz="800" b="0" i="0">
                          <a:solidFill>
                            <a:srgbClr val="16213A"/>
                          </a:solidFill>
                          <a:latin typeface="Consolas"/>
                          <a:ea typeface="Malgun Gothic"/>
                          <a:cs typeface="Malgun Gothic"/>
                        </a:rPr>
                        <a:t>navigate_cmd</a:t>
                      </a:r>
                      <a:r>
                        <a:rPr sz="800" b="0" i="0">
                          <a:solidFill>
                            <a:srgbClr val="16213A"/>
                          </a:solidFill>
                          <a:latin typeface="Arial"/>
                          <a:ea typeface="Malgun Gothic"/>
                          <a:cs typeface="Malgun Gothic"/>
                        </a:rPr>
                        <a:t>(vx, vy, ωz)</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50 Hz</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다리 12 + 허리 3 관절 목표</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travplan </a:t>
                      </a:r>
                      <a:r>
                        <a:rPr sz="800" b="0" i="0">
                          <a:solidFill>
                            <a:srgbClr val="16213A"/>
                          </a:solidFill>
                          <a:latin typeface="Consolas"/>
                          <a:ea typeface="Malgun Gothic"/>
                          <a:cs typeface="Malgun Gothic"/>
                        </a:rPr>
                        <a:t>TinyPolicy</a:t>
                      </a:r>
                      <a:r>
                        <a:rPr sz="800" b="0" i="0">
                          <a:solidFill>
                            <a:srgbClr val="16213A"/>
                          </a:solidFill>
                          <a:latin typeface="Arial"/>
                          <a:ea typeface="Malgun Gothic"/>
                          <a:cs typeface="Malgun Gothic"/>
                        </a:rPr>
                        <a:t>(TP-0128)</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경로 앞 네 점(0.5·1·2·3 m), 남은 경로 길이, 앞쪽 belief cost 7 × 5칸</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정책은 매 스텝(0.1 s). 경로는 학습 때 고정(B.14.2), Playground에서는 1 s마다 다시 계획</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body twist</a:t>
                      </a:r>
                    </a:p>
                  </a:txBody>
                  <a:tcPr marL="63500" marR="63500" marT="12700" marB="12700">
                    <a:solidFill>
                      <a:srgbClr val="F3F0E8"/>
                    </a:solidFill>
                  </a:tcPr>
                </a:tc>
              </a:tr>
            </a:tbl>
          </a:graphicData>
        </a:graphic>
      </p:graphicFrame>
      <p:sp>
        <p:nvSpPr>
          <p:cNvPr id="6" name="TextBox 5"/>
          <p:cNvSpPr txBox="1"/>
          <p:nvPr/>
        </p:nvSpPr>
        <p:spPr>
          <a:xfrm>
            <a:off x="609600" y="238115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사람.</a:t>
            </a:r>
            <a:r>
              <a:rPr sz="1050" b="0" i="0">
                <a:solidFill>
                  <a:srgbClr val="16213A"/>
                </a:solidFill>
                <a:latin typeface="Arial"/>
                <a:ea typeface="Malgun Gothic"/>
                <a:cs typeface="Malgun Gothic"/>
              </a:rPr>
              <a:t> 휴머노이드 계열은 몇몇 연구실의 지도교수와 박사과정이 끌었고, 여럿이 이미 회사로 옮겼다. 소속은 공식 페이지나 회사 글에 적힌 것만 적었다(2026-10-07 확인).</a:t>
            </a:r>
          </a:p>
        </p:txBody>
      </p:sp>
      <p:graphicFrame>
        <p:nvGraphicFramePr>
          <p:cNvPr id="7" name="Table 6"/>
          <p:cNvGraphicFramePr>
            <a:graphicFrameLocks noGrp="1"/>
          </p:cNvGraphicFramePr>
          <p:nvPr/>
        </p:nvGraphicFramePr>
        <p:xfrm>
          <a:off x="609600" y="2686546"/>
          <a:ext cx="10966450" cy="2772408"/>
        </p:xfrm>
        <a:graphic>
          <a:graphicData uri="http://schemas.openxmlformats.org/drawingml/2006/table">
            <a:tbl>
              <a:tblPr firstRow="1" bandRow="1">
                <a:tableStyleId>{5C22544A-7EE6-4342-B048-85BDC9FD1C3A}</a:tableStyleId>
              </a:tblPr>
              <a:tblGrid>
                <a:gridCol w="1342132"/>
                <a:gridCol w="2724944"/>
                <a:gridCol w="6899374"/>
              </a:tblGrid>
              <a:tr h="197088">
                <a:tc>
                  <a:txBody>
                    <a:bodyPr wrap="square"/>
                    <a:lstStyle/>
                    <a:p>
                      <a:r>
                        <a:rPr sz="800" b="1" i="0">
                          <a:solidFill>
                            <a:srgbClr val="F4F1EA"/>
                          </a:solidFill>
                          <a:latin typeface="Arial"/>
                          <a:ea typeface="Malgun Gothic"/>
                          <a:cs typeface="Malgun Gothic"/>
                        </a:rPr>
                        <a:t>사람</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이 소절에서 남긴 것</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지금 소속</a:t>
                      </a:r>
                    </a:p>
                  </a:txBody>
                  <a:tcPr marL="63500" marR="63500" marT="12700" marB="12700">
                    <a:solidFill>
                      <a:srgbClr val="16213A"/>
                    </a:solidFill>
                  </a:tcPr>
                </a:tc>
              </a:tr>
              <a:tr h="317976">
                <a:tc>
                  <a:txBody>
                    <a:bodyPr wrap="square"/>
                    <a:lstStyle/>
                    <a:p>
                      <a:r>
                        <a:rPr sz="800" b="0" i="0">
                          <a:solidFill>
                            <a:srgbClr val="16213A"/>
                          </a:solidFill>
                          <a:latin typeface="Arial"/>
                          <a:ea typeface="Malgun Gothic"/>
                          <a:cs typeface="Malgun Gothic"/>
                        </a:rPr>
                        <a:t>Koushil Sreenath</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HT·NTP 공저, Cassie RL·Berkeley Humanoid·BeyondMimic 지도</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UC Berkeley 기계공학과 부교수, Hybrid Robotics(연구실 페이지)</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Jitendra Malik, Trevor Darrell</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HT·NTP·HT-2·VideoMimic 공저</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논문 소속은 UC Berkeley다. 다른 겸직은 확인하지 못했다</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Ilija Radosavovic</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HT 공동 1저자(알파벳 순), NTP·HT-2 1저자</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확인하지 못했다</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Qiayuan Liao</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Berkeley Humanoid·BeyondMimic 1저자</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UC Berkeley 박사과정(Sreenath·Abbeel 지도). Boston Dynamics 인턴 때 전기 Atlas의 RL 제어를 했다고 적는다(개인 페이지)</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Guanya Shi</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H2O·OmniH2O·ASAP 지도</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CMU Robotics Institute 조교수, LeCAR Lab. Amazon의 Frontier AI &amp; Robotics(FAR) 팀 Amazon Scholar(개인 페이지)</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Tairan He</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H2O·OmniH2O·ASAP 1저자, HOVER(B.16.1) 1저자</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OpenAI Member of Technical Staff. CMU 박사이고 NVIDIA GEAR에서 2년 인턴을 했다(개인 페이지)</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Zipeng Fu</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HumanPlus 공동 1저자</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Reward AI 공동 창업자·CEO(개인 페이지)</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Hang Zhao, Ziwen Zhuang</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Humanoid Parkour 교신 저자와 1저자</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Zhao는 칭화대 교차정보연구원(IIIS) 조교수(MARS Lab)이고 Galaxea 공동 창업자다. Zhuang은 같은 곳 박사과정이다(개인 페이지)</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Xiaolong Wang, Xuxin Cheng</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ExBody·ExBody2·AMO·GMT 지도, ExBody 1저자</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Wang은 Meta Superintelligence Labs 연구 디렉터이고 UC San Diego 부교수다. Cheng은 Meta 연구원이다. 둘이 공동 창업한 ARI(Assured Robot Intelligence)는 Meta에 인수됐다(개인 페이지)</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Jonathan Hurst, Alan Fern</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Oregon State Cassie RL(Siekmann 외) 공저</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Hurst는 Agility 공동 창업자·Chief Robot Officer이고, OSU 교수이자 OSU Robotics Institute 공동 설립자다(회사 소개). Fern은 OSU Dynamic Robotics and AI Lab 공동 책임자다(Agility 2025-08 글)</a:t>
                      </a:r>
                    </a:p>
                  </a:txBody>
                  <a:tcPr marL="63500" marR="63500" marT="12700" marB="12700">
                    <a:solidFill>
                      <a:srgbClr val="F3F0E8"/>
                    </a:solidFill>
                  </a:tcPr>
                </a:tc>
              </a:tr>
            </a:tbl>
          </a:graphicData>
        </a:graphic>
      </p:graphicFrame>
    </p:spTree>
  </p:cSld>
  <p:clrMapOvr>
    <a:masterClrMapping/>
  </p:clrMapOvr>
</p:sld>
</file>

<file path=ppt/slides/slide46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3/6</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469 / 516</a:t>
            </a:r>
          </a:p>
        </p:txBody>
      </p:sp>
      <p:sp>
        <p:nvSpPr>
          <p:cNvPr id="5" name="TextBox 4"/>
          <p:cNvSpPr txBox="1"/>
          <p:nvPr/>
        </p:nvSpPr>
        <p:spPr>
          <a:xfrm>
            <a:off x="717550" y="1244600"/>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B.16.7 travplan이 가져올 순서</a:t>
            </a:r>
          </a:p>
        </p:txBody>
      </p:sp>
      <p:sp>
        <p:nvSpPr>
          <p:cNvPr id="6" name="TextBox 5"/>
          <p:cNvSpPr txBox="1"/>
          <p:nvPr/>
        </p:nvSpPr>
        <p:spPr>
          <a:xfrm>
            <a:off x="609600" y="1547812"/>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여섯 소절에서 travplan이 가져올 것을 바로 쓸 수 있는 순서로 놓으면 열이다.</a:t>
            </a:r>
            <a:r>
              <a:rPr sz="1050" b="0" i="0">
                <a:solidFill>
                  <a:srgbClr val="16213A"/>
                </a:solidFill>
                <a:latin typeface="Arial"/>
                <a:ea typeface="Malgun Gothic"/>
                <a:cs typeface="Malgun Gothic"/>
              </a:rPr>
              <a:t> 앞의 여섯은 지금 저장소의 코드와 기록으로 시작할 수 있다. 뒤의 넷은 배치 plant, 새 학습 루프, 스텝별 기록, 실물 주행 가운데 하나가 먼저 있어야 한다. 모두 travplan에서 아직 시험하지 않았고, 항목마다 적은 기대 효과는 가설이다. 판정은 seed 10개 × 난수 오프셋 3판의 짝 비교(B.15.2)로 하고, 치명이 하나라도 늘면 채택하지 않는다. curb_ramp 레벨 3에서는 학습 쪽 네 시도가 RL 후학습 1단계를 넘지 못했다(B.15.6). 그래서 학습 절차를 바꾸는 2–4번은 그 장면 하나보다 레벨 3 네 지형과 plant 조건에서 잰다.</a:t>
            </a:r>
          </a:p>
        </p:txBody>
      </p:sp>
      <p:sp>
        <p:nvSpPr>
          <p:cNvPr id="7" name="TextBox 6"/>
          <p:cNvSpPr txBox="1"/>
          <p:nvPr/>
        </p:nvSpPr>
        <p:spPr>
          <a:xfrm>
            <a:off x="609600" y="2502694"/>
            <a:ext cx="10972800" cy="3514725"/>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1. </a:t>
            </a:r>
            <a:r>
              <a:rPr sz="1050" b="1" i="0">
                <a:solidFill>
                  <a:srgbClr val="16213A"/>
                </a:solidFill>
                <a:latin typeface="Arial"/>
                <a:ea typeface="Malgun Gothic"/>
                <a:cs typeface="Malgun Gothic"/>
              </a:rPr>
              <a:t>Planner D를 배포 때의 지도로 배우게 한다(Resilient Legged Local Navigation, B.16.3; 자기 중심 깊이 보행, B.16.5; 시각 축구, B.16.2).</a:t>
            </a:r>
            <a:r>
              <a:rPr sz="1050" b="0" i="0">
                <a:solidFill>
                  <a:srgbClr val="16213A"/>
                </a:solidFill>
                <a:latin typeface="Arial"/>
                <a:ea typeface="Malgun Gothic"/>
                <a:cs typeface="Malgun Gothic"/>
              </a:rPr>
              <a:t> 지금 Planner D의 시연은 참값 높이로 만든 지도를 보고, 그 가운데 절반쯤에만 원판 모양의 미관측 구역을 1–3개 뚫는다. DAgger 라벨도 참값 지도에서 만든다. L1 매퍼가 만드는 지도 오차는 어느 학습 단계에도 없다. Resilient 논문에서 가시도 100%로 학습한 정책은 장애물이 보이지 않는 시험에서 33.3%로 무너졌다. Planner D를 L1 belief로 다시 배우는 TP-0055에서는 자기 중심 깊이 보행의 두 단계처럼 교사(Guidance + MPPI)가 참값 지도를 보고, 학생은 belief만 본다. critic을 넣는다면 참값 지도와 plant 상태는 critic에만 준다(시각 축구의 비대칭 critic). 평가에는 belief에서 포트홀 일부를 지워 가시도를 0·50·100%로 나눈 장면을 더한다. 가설은 L1 조건에서 Planner D 단독의 실패가 준다는 것이다.</a:t>
            </a:r>
          </a:p>
          <a:p>
            <a:pPr>
              <a:spcBef>
                <a:spcPts val="200"/>
              </a:spcBef>
            </a:pPr>
            <a:r>
              <a:rPr sz="1050" b="0" i="0">
                <a:solidFill>
                  <a:srgbClr val="5A6478"/>
                </a:solidFill>
                <a:latin typeface="Arial"/>
                <a:ea typeface="Malgun Gothic"/>
                <a:cs typeface="Malgun Gothic"/>
              </a:rPr>
              <a:t>2. </a:t>
            </a:r>
            <a:r>
              <a:rPr sz="1050" b="1" i="0">
                <a:solidFill>
                  <a:srgbClr val="16213A"/>
                </a:solidFill>
                <a:latin typeface="Arial"/>
                <a:ea typeface="Malgun Gothic"/>
                <a:cs typeface="Malgun Gothic"/>
              </a:rPr>
              <a:t>RL 후학습의 목적식을 바꾼다(HT·HT-2·PHP, B.16.6; OP3 축구, B.16.2; DoorMan, B.16.1; SMPC 시연 + 희소 보상 RL, B.16.4).</a:t>
            </a:r>
            <a:r>
              <a:rPr sz="1050" b="0" i="0">
                <a:solidFill>
                  <a:srgbClr val="16213A"/>
                </a:solidFill>
                <a:latin typeface="Arial"/>
                <a:ea typeface="Malgun Gothic"/>
                <a:cs typeface="Malgun Gothic"/>
              </a:rPr>
              <a:t> TP-0066은 모방 손실 가중 λ를 0.5로 고정했고 바꿔 보지 않았다(B.15.3). HT는 교사 KL 가중을 학습 절반쯤에 0으로 내렸고, OP3 축구는 예측 가치가 문턱을 넘으면 가중을 스스로 내렸다. HT-2는 모방 항 없이 사전학습 가중치에서 낮은 학습률과 작은 탐색 잡음으로 시작했다. PHP는 DAgger 가중을 학습 절반까지 내리되 0.1에서 멈췄고, 모방 항을 빼면 행동이 떨렸다고 적는다. 그래서 네 판(고정 λ, 절반에 0으로 내리는 λ, 절반에 0.1로 내리는 λ, 모방 항 없이 낮은 학습률)을 짝 비교한다. SMPC 시연 논문도 시연을 성공률 10%에서 뺐고, 오래 남기면 학습이 느려졌다. 이점도 바꿀 수 있다. 지금 이점은 한 계획 시점에서 뽑은 후보(4 s 개루프 rollout)를 그 자리에서 채점한 값이다. DoorMan은 에피소드 성공 여부의 GRPO로 학생을 50–70%에서 80.8–85.8%로 올렸다. 같은 지형과 시작 상태에서 Planner D 표본을 끝까지 굴려 치명 없는 도달로 이점을 매기는 판이다. 가설은 RL 단독(26/30, 판정 기준 27/30)이 폴백 없이 판정을 넘는 것이다.</a:t>
            </a:r>
          </a:p>
          <a:p>
            <a:pPr>
              <a:spcBef>
                <a:spcPts val="200"/>
              </a:spcBef>
            </a:pPr>
            <a:r>
              <a:rPr sz="1050" b="0" i="0">
                <a:solidFill>
                  <a:srgbClr val="5A6478"/>
                </a:solidFill>
                <a:latin typeface="Arial"/>
                <a:ea typeface="Malgun Gothic"/>
                <a:cs typeface="Malgun Gothic"/>
              </a:rPr>
              <a:t>3. </a:t>
            </a:r>
            <a:r>
              <a:rPr sz="1050" b="1" i="0">
                <a:solidFill>
                  <a:srgbClr val="16213A"/>
                </a:solidFill>
                <a:latin typeface="Arial"/>
                <a:ea typeface="Malgun Gothic"/>
                <a:cs typeface="Malgun Gothic"/>
              </a:rPr>
              <a:t>Controller가 실행해 낸 Planner D 표본을 시연에 더한다(PARC, B.16.1; H2O·ExBody2, B.16.6).</a:t>
            </a:r>
            <a:r>
              <a:rPr sz="1050" b="0" i="0">
                <a:solidFill>
                  <a:srgbClr val="16213A"/>
                </a:solidFill>
                <a:latin typeface="Arial"/>
                <a:ea typeface="Malgun Gothic"/>
                <a:cs typeface="Malgun Gothic"/>
              </a:rPr>
              <a:t> PARC는 생성기 표본 가운데 추종기가 끝까지 따라간 동작만 데이터에 더했다. 반복 1에서 4로 가며 추종 성공 비율이 27%에서 68%로 올랐다. 거르지 않은 표본을 넣은 생성기는 관절 저크가 원본 최대를 넘는 프레임이 18.7%로, 거른 쪽(4.4%)보다 많았다. travplan으로 옮기면 RL 후학습 rollout에서 치명 없이 도달한 Planner D 실행 궤적을 시연에 더하는 판이다. B.8.3이 적은 단일 모드 교사(Guidance + MPPI)의 공백을 Planner D 자신의 여러 모드로 채운다. 시연을 거르는 기준의 후보는 둘이다. H2O식으로는 plant에서 MPPI가 따라간 것만 남기고(TP-0149), ExBody2식으로는 기본 Planner D의 치명 표본 비율로 거른다(TP-0074). 가설은 시연에 없던 갈래가 들어와 단독 성적이 오르는 것이다.</a:t>
            </a:r>
          </a:p>
        </p:txBody>
      </p:sp>
    </p:spTree>
  </p:cSld>
  <p:clrMapOvr>
    <a:masterClrMapping/>
  </p:clrMapOvr>
</p:sld>
</file>

<file path=ppt/slides/slide47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4/6</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470 / 516</a:t>
            </a:r>
          </a:p>
        </p:txBody>
      </p:sp>
      <p:sp>
        <p:nvSpPr>
          <p:cNvPr id="5" name="TextBox 4"/>
          <p:cNvSpPr txBox="1"/>
          <p:nvPr/>
        </p:nvSpPr>
        <p:spPr>
          <a:xfrm>
            <a:off x="609600" y="1244600"/>
            <a:ext cx="10972800" cy="3973116"/>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1. </a:t>
            </a:r>
            <a:r>
              <a:rPr sz="1050" b="1" i="0">
                <a:solidFill>
                  <a:srgbClr val="16213A"/>
                </a:solidFill>
                <a:latin typeface="Arial"/>
                <a:ea typeface="Malgun Gothic"/>
                <a:cs typeface="Malgun Gothic"/>
              </a:rPr>
              <a:t>지형 표집을 실패율로 정한다(BeyondMimic·Humanoid Parkour·PHP, B.16.6; ZEST, B.16.4; Rapid Locomotion, B.16.5; Parkour in the Wild, B.16.3).</a:t>
            </a:r>
            <a:r>
              <a:rPr sz="1050" b="0" i="0">
                <a:solidFill>
                  <a:srgbClr val="16213A"/>
                </a:solidFill>
                <a:latin typeface="Arial"/>
                <a:ea typeface="Malgun Gothic"/>
                <a:cs typeface="Malgun Gothic"/>
              </a:rPr>
              <a:t> RL 후학습(TP-0066)과 시연 수집(TP-0073)은 레벨 0–3을 고르게 뽑는다. BeyondMimic은 1 s 구간별 실패율의 지수 이동 평균으로 시작 위상을 뽑았고, 이것이 없으면 네 동작 가운데 셋이 어려운 구간을 풀지 못했다. Rapid Locomotion의 격자 커리큘럼은 (시나리오, 레벨) 칸을 도달률 문턱으로 넓히는 규칙으로 옮길 수 있다(Controller 문서 F.6.1). 새 지형을 더할 때는 Parkour in the Wild처럼 모든 지형과 함께 다시 미세 조정한다. PHP는 실패율 표집을 교사 학습에만 쓰고 학생 증류에서는 껐다. 실패하지 않지만 떨리는 경계 표본을 덜 뽑게 되기 때문이다. Planner D를 증류하는 단계에서는 고른 표집을 남긴다. TP-0138의 두 판(curb_ramp만, 모든 지형)은 둘 다 26/30이라 이 처방을 가르지 못했다(B.15.5). 가설은 같은 rollout 예산에서 드문 실패 장면이 더 자주 학습된다는 것이다.</a:t>
            </a:r>
          </a:p>
          <a:p>
            <a:pPr>
              <a:spcBef>
                <a:spcPts val="200"/>
              </a:spcBef>
            </a:pPr>
            <a:r>
              <a:rPr sz="1050" b="0" i="0">
                <a:solidFill>
                  <a:srgbClr val="5A6478"/>
                </a:solidFill>
                <a:latin typeface="Arial"/>
                <a:ea typeface="Malgun Gothic"/>
                <a:cs typeface="Malgun Gothic"/>
              </a:rPr>
              <a:t>2. </a:t>
            </a:r>
            <a:r>
              <a:rPr sz="1050" b="1" i="0">
                <a:solidFill>
                  <a:srgbClr val="16213A"/>
                </a:solidFill>
                <a:latin typeface="Arial"/>
                <a:ea typeface="Malgun Gothic"/>
                <a:cs typeface="Malgun Gothic"/>
              </a:rPr>
              <a:t>무작위화 범위는 재고 나서 고른다(DrEureka, B.16.1; Tan 2018, B.16.2; Berkeley Humanoid, B.16.6).</a:t>
            </a:r>
            <a:r>
              <a:rPr sz="1050" b="0" i="0">
                <a:solidFill>
                  <a:srgbClr val="16213A"/>
                </a:solidFill>
                <a:latin typeface="Arial"/>
                <a:ea typeface="Malgun Gothic"/>
                <a:cs typeface="Malgun Gothic"/>
              </a:rPr>
              <a:t> DrEureka의 RAPP는 정책을 파라미터 하나만 바꾼 시뮬레이션에서 굴려, 아직 성공하는 값의 범위를 잰다. travplan에서는 </a:t>
            </a:r>
            <a:r>
              <a:rPr sz="1050" b="0" i="0">
                <a:solidFill>
                  <a:srgbClr val="16213A"/>
                </a:solidFill>
                <a:latin typeface="Consolas"/>
                <a:ea typeface="Malgun Gothic"/>
                <a:cs typeface="Malgun Gothic"/>
              </a:rPr>
              <a:t>planner_df+mppi_plant_lag</a:t>
            </a:r>
            <a:r>
              <a:rPr sz="1050" b="0" i="0">
                <a:solidFill>
                  <a:srgbClr val="16213A"/>
                </a:solidFill>
                <a:latin typeface="Arial"/>
                <a:ea typeface="Malgun Gothic"/>
                <a:cs typeface="Malgun Gothic"/>
              </a:rPr>
              <a:t>를 레벨 0에서 plant 지연이나 미끄럼비 하나만 바꿔 가며 굴린다. 치명 없이 도달하는 값의 최솟값과 최댓값이 그 범위다. RL 후학습(TP-0066)과 L0 지연·자기 위치 잡음(TP-0032)의 무작위화는 그 안에서 고르고, 범위 전체를 쓰지 않는다. RAPP 범위 전체를 쓴 DrEureka 구성은 1.43 m/s로, RAPP 안에서 고른 구성의 평균 1.66 m/s보다 느렸다. Tan 2018과 Berkeley Humanoid도 잴 수 있는 값은 실측 근처로 좁게 흔들었다. 가설은 범위를 잰 무작위화가 레벨 0 성적을 지키면서 plant 조건의 치명을 늘리지 않는 것이다.</a:t>
            </a:r>
          </a:p>
          <a:p>
            <a:pPr>
              <a:spcBef>
                <a:spcPts val="200"/>
              </a:spcBef>
            </a:pPr>
            <a:r>
              <a:rPr sz="1050" b="0" i="0">
                <a:solidFill>
                  <a:srgbClr val="5A6478"/>
                </a:solidFill>
                <a:latin typeface="Arial"/>
                <a:ea typeface="Malgun Gothic"/>
                <a:cs typeface="Malgun Gothic"/>
              </a:rPr>
              <a:t>3. </a:t>
            </a:r>
            <a:r>
              <a:rPr sz="1050" b="1" i="0">
                <a:solidFill>
                  <a:srgbClr val="16213A"/>
                </a:solidFill>
                <a:latin typeface="Arial"/>
                <a:ea typeface="Malgun Gothic"/>
                <a:cs typeface="Malgun Gothic"/>
              </a:rPr>
              <a:t>도달 수가 포화된 조건에 시간 점수를 더한다(Barkour, B.16.2; Spot RL 보행, B.16.4).</a:t>
            </a:r>
            <a:r>
              <a:rPr sz="1050" b="0" i="0">
                <a:solidFill>
                  <a:srgbClr val="16213A"/>
                </a:solidFill>
                <a:latin typeface="Arial"/>
                <a:ea typeface="Malgun Gothic"/>
                <a:cs typeface="Malgun Gothic"/>
              </a:rPr>
              <a:t> 레벨 0 벤치마크는 12/12로 포화돼 스택을 가르지 못한다. Barkour처럼 허용 시간을 Guidance 경로 길이를 보도 목표 속도로 나눈 값으로 두고, 도달하지 못하면 0점, 도달하면 초과 1초마다 깎는다. 지표 확장 TP-0038의 후보다. 치명 셀 진입은 점수와 섞지 않고 지금처럼 따로 거는 게이트로 둔다. 시간 점수의 잡음 바닥도 난수 오프셋을 바꾼 짝 비교로 잰다. Boston Dynamics가 Spot RL 정책을 출하할 때 쓴 '새 장면은 낫고 기존 수백 장면은 그대로'도 같은 판정이다. 가설은 시간 점수가 레벨 0에서도 스택의 차이를 드러낸다는 것이다.</a:t>
            </a:r>
          </a:p>
          <a:p>
            <a:pPr>
              <a:spcBef>
                <a:spcPts val="200"/>
              </a:spcBef>
            </a:pPr>
            <a:r>
              <a:rPr sz="1050" b="0" i="0">
                <a:solidFill>
                  <a:srgbClr val="5A6478"/>
                </a:solidFill>
                <a:latin typeface="Arial"/>
                <a:ea typeface="Malgun Gothic"/>
                <a:cs typeface="Malgun Gothic"/>
              </a:rPr>
              <a:t>4. </a:t>
            </a:r>
            <a:r>
              <a:rPr sz="1050" b="1" i="0">
                <a:solidFill>
                  <a:srgbClr val="16213A"/>
                </a:solidFill>
                <a:latin typeface="Arial"/>
                <a:ea typeface="Malgun Gothic"/>
                <a:cs typeface="Malgun Gothic"/>
              </a:rPr>
              <a:t>예측 모델 계층(TP-0124)을 재는 순서를 정한다(Sumo, B.16.4; ASAP, B.16.6; RWM, B.16.3).</a:t>
            </a:r>
            <a:r>
              <a:rPr sz="1050" b="0" i="0">
                <a:solidFill>
                  <a:srgbClr val="16213A"/>
                </a:solidFill>
                <a:latin typeface="Arial"/>
                <a:ea typeface="Malgun Gothic"/>
                <a:cs typeface="Malgun Gothic"/>
              </a:rPr>
              <a:t> 먼저 Sumo식 상한 한 줄을 더한다. 시뮬의 스워브 plant를 배치로 rollout에 넣고, 참값 지형과 belief 지도에서 따로 잰다. belief 위에서는 plant에 가까운 모델이 진행을 막을 수 있다(</a:t>
            </a:r>
            <a:r>
              <a:rPr sz="1050" b="0" i="0">
                <a:solidFill>
                  <a:srgbClr val="16213A"/>
                </a:solidFill>
                <a:latin typeface="Consolas"/>
                <a:ea typeface="Malgun Gothic"/>
                <a:cs typeface="Malgun Gothic"/>
              </a:rPr>
              <a:t>mppi_plant</a:t>
            </a:r>
            <a:r>
              <a:rPr sz="1050" b="0" i="0">
                <a:solidFill>
                  <a:srgbClr val="16213A"/>
                </a:solidFill>
                <a:latin typeface="Arial"/>
                <a:ea typeface="Malgun Gothic"/>
                <a:cs typeface="Malgun Gothic"/>
              </a:rPr>
              <a:t> 189/360, MPC 문서 M.3.22). 학습 층의 첫 후보는 ASAP식 명령 쪽 보정 </a:t>
            </a:r>
            <a:r>
              <a:rPr sz="1050" b="0" i="1">
                <a:solidFill>
                  <a:srgbClr val="16213A"/>
                </a:solidFill>
                <a:latin typeface="Arial"/>
                <a:ea typeface="Malgun Gothic"/>
                <a:cs typeface="Malgun Gothic"/>
              </a:rPr>
              <a:t>u' = u + Δ(x, u)</a:t>
            </a:r>
            <a:r>
              <a:rPr sz="1050" b="0" i="0">
                <a:solidFill>
                  <a:srgbClr val="16213A"/>
                </a:solidFill>
                <a:latin typeface="Arial"/>
                <a:ea typeface="Malgun Gothic"/>
                <a:cs typeface="Malgun Gothic"/>
              </a:rPr>
              <a:t>다. 후보는 폐루프 벤치마크 전에 plant 기록을 0.5·1·2·4 s 동안 개루프로 재생한 오차로 거른다. ASAP 표 III에서는 0.25 s에서 방법 차이가 작았고 1.0 s에서 갈렸다. 학습 FDM(TP-0126)은 RWM처럼 예측을 다시 넣는 여러 스텝 손실로 학습한다. 가설은 1차 지연 근사(TP-0150)와 상한 사이의 차이가 학습 층이 메울 몫을 정한다는 것이다.</a:t>
            </a:r>
          </a:p>
        </p:txBody>
      </p:sp>
    </p:spTree>
  </p:cSld>
  <p:clrMapOvr>
    <a:masterClrMapping/>
  </p:clrMapOvr>
</p:sld>
</file>

<file path=ppt/slides/slide47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5/6</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471 / 516</a:t>
            </a:r>
          </a:p>
        </p:txBody>
      </p:sp>
      <p:sp>
        <p:nvSpPr>
          <p:cNvPr id="5" name="TextBox 4"/>
          <p:cNvSpPr txBox="1"/>
          <p:nvPr/>
        </p:nvSpPr>
        <p:spPr>
          <a:xfrm>
            <a:off x="609600" y="1244600"/>
            <a:ext cx="10972800" cy="3298230"/>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5. </a:t>
            </a:r>
            <a:r>
              <a:rPr sz="1050" b="1" i="0">
                <a:solidFill>
                  <a:srgbClr val="16213A"/>
                </a:solidFill>
                <a:latin typeface="Arial"/>
                <a:ea typeface="Malgun Gothic"/>
                <a:cs typeface="Malgun Gothic"/>
              </a:rPr>
              <a:t>학습 Controller는 고정한 Planner D 위에서 키운다(동작 생성 + 동작 추종 휴머노이드·BDX, B.16.3; HOVER, B.16.1; LMPC, B.16.2).</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TinyPolicy</a:t>
            </a:r>
            <a:r>
              <a:rPr sz="1050" b="0" i="0">
                <a:solidFill>
                  <a:srgbClr val="16213A"/>
                </a:solidFill>
                <a:latin typeface="Arial"/>
                <a:ea typeface="Malgun Gothic"/>
                <a:cs typeface="Malgun Gothic"/>
              </a:rPr>
              <a:t>(TP-0128)는 지금 GT 지도의 Dijkstra 경로로 배웠다. 저장소 벤치마크에서 </a:t>
            </a:r>
            <a:r>
              <a:rPr sz="1050" b="0" i="0">
                <a:solidFill>
                  <a:srgbClr val="16213A"/>
                </a:solidFill>
                <a:latin typeface="Consolas"/>
                <a:ea typeface="Malgun Gothic"/>
                <a:cs typeface="Malgun Gothic"/>
              </a:rPr>
              <a:t>guidance+tiny</a:t>
            </a:r>
            <a:r>
              <a:rPr sz="1050" b="0" i="0">
                <a:solidFill>
                  <a:srgbClr val="16213A"/>
                </a:solidFill>
                <a:latin typeface="Arial"/>
                <a:ea typeface="Malgun Gothic"/>
                <a:cs typeface="Malgun Gothic"/>
              </a:rPr>
              <a:t>는 8/12로, </a:t>
            </a:r>
            <a:r>
              <a:rPr sz="1050" b="0" i="0">
                <a:solidFill>
                  <a:srgbClr val="16213A"/>
                </a:solidFill>
                <a:latin typeface="Consolas"/>
                <a:ea typeface="Malgun Gothic"/>
                <a:cs typeface="Malgun Gothic"/>
              </a:rPr>
              <a:t>guidance+mppi</a:t>
            </a:r>
            <a:r>
              <a:rPr sz="1050" b="0" i="0">
                <a:solidFill>
                  <a:srgbClr val="16213A"/>
                </a:solidFill>
                <a:latin typeface="Arial"/>
                <a:ea typeface="Malgun Gothic"/>
                <a:cs typeface="Malgun Gothic"/>
              </a:rPr>
              <a:t>의 12/12에 못 미친다(Controller 문서 E.12). RSL 논문처럼 Planner D를 고정하고 그 출력의 잡음과 끊김을 그대로 보여 주며 학습한다. BDX처럼 Planner D가 낼 수 있는 기준 궤적 전체를 학습 분포로 덮고, 조건이 넓으면 LMPC처럼 오프라인 회귀 대신 DAgger로 덮는다. HOVER식 마스크로 도달 시각 채널을 확률 0.5로 가리면 한 정책이 Guidance 폴백의 경로 모드와 Planner D의 시간 모드를 함께 받는다. 기본 Controller는 MPPI로 남긴다. Sumo 그림 4에서 같은 하위 정책 위의 학습 상위 정책은 상자 밖 물체에서 무너졌고, 실행 중 계획은 모델과 비용만 바꿔 넘어갔다. 가설은 이렇게 학습한 TinyPolicy가 8/12를 넘는 것이다.</a:t>
            </a:r>
          </a:p>
          <a:p>
            <a:pPr>
              <a:spcBef>
                <a:spcPts val="200"/>
              </a:spcBef>
            </a:pPr>
            <a:r>
              <a:rPr sz="1050" b="0" i="0">
                <a:solidFill>
                  <a:srgbClr val="5A6478"/>
                </a:solidFill>
                <a:latin typeface="Arial"/>
                <a:ea typeface="Malgun Gothic"/>
                <a:cs typeface="Malgun Gothic"/>
              </a:rPr>
              <a:t>6. </a:t>
            </a:r>
            <a:r>
              <a:rPr sz="1050" b="1" i="0">
                <a:solidFill>
                  <a:srgbClr val="16213A"/>
                </a:solidFill>
                <a:latin typeface="Arial"/>
                <a:ea typeface="Malgun Gothic"/>
                <a:cs typeface="Malgun Gothic"/>
              </a:rPr>
              <a:t>폴백을 학습한 감시로 켠다(ABS, B.16.5; Safe RL, B.16.2; FLD, B.16.3).</a:t>
            </a:r>
            <a:r>
              <a:rPr sz="1050" b="0" i="0">
                <a:solidFill>
                  <a:srgbClr val="16213A"/>
                </a:solidFill>
                <a:latin typeface="Arial"/>
                <a:ea typeface="Malgun Gothic"/>
                <a:cs typeface="Malgun Gothic"/>
              </a:rPr>
              <a:t> Guidance 폴백(TP-0078)은 손으로 정한 규칙이다. 새 표본의 치명 비율이 0.9 이상인 계획이 3번 이어지면 Guidance 경로를 20번 동안 후보로 넣는다. ABS처럼 벤치마크 판정(치명 셀 진입·보행자 충돌·목표 거리)을 라벨로 정책 조건 도달-회피 가치를 학습하면 켜는 기준이 학습된다. 충돌 직전 라벨을 부드럽게 다시 매기지 않으면 ABS의 시뮬레이션 충돌은 5.7%에서 14.7%로 늘었다. 그러려면 벤치마크가 스텝마다 몸통 twist·목표 상대 위치·지도 특징을 남겨야 하고, Planner D를 다시 후학습할 때마다 가치도 다시 배워야 한다. 돌려주는 조건은 Safe RL처럼 Planner D 계획을 앞으로 굴려 본 결과로 정할 수 있다. FLD처럼 입력이 학습 분포 밖이라는 신호를 하나 더 둘 수도 있다. 보행자는 지금처럼 RiskCost와 확률 제약(TP-0076)에 남긴다. 가설은 같은 도달 수에서 폴백이 이긴 계획의 비율(RL + 폴백 42%)이 준다는 것이다.</a:t>
            </a:r>
          </a:p>
          <a:p>
            <a:pPr>
              <a:spcBef>
                <a:spcPts val="200"/>
              </a:spcBef>
            </a:pPr>
            <a:r>
              <a:rPr sz="1050" b="0" i="0">
                <a:solidFill>
                  <a:srgbClr val="5A6478"/>
                </a:solidFill>
                <a:latin typeface="Arial"/>
                <a:ea typeface="Malgun Gothic"/>
                <a:cs typeface="Malgun Gothic"/>
              </a:rPr>
              <a:t>7. </a:t>
            </a:r>
            <a:r>
              <a:rPr sz="1050" b="1" i="0">
                <a:solidFill>
                  <a:srgbClr val="16213A"/>
                </a:solidFill>
                <a:latin typeface="Arial"/>
                <a:ea typeface="Malgun Gothic"/>
                <a:cs typeface="Malgun Gothic"/>
              </a:rPr>
              <a:t>실물이 생기면 plant를 측정으로 맞추고, 실행의 차이를 Planner로 돌린다(PACE, B.16.3; Spot 고속 RL·EVORA, B.16.4; VP-Nav·라이보2, B.16.5).</a:t>
            </a:r>
            <a:r>
              <a:rPr sz="1050" b="0" i="0">
                <a:solidFill>
                  <a:srgbClr val="16213A"/>
                </a:solidFill>
                <a:latin typeface="Arial"/>
                <a:ea typeface="Malgun Gothic"/>
                <a:cs typeface="Malgun Gothic"/>
              </a:rPr>
              <a:t> TP-0035가 풀리면 들어 올린 스워브의 엔코더 기록으로 명령 지연을 CMA-ES로 맞추고, plant에 항을 하나 더하면 조향 엔코더 영점도 맞춘다(PACE). 미끄럼은 지면 접촉이 있어야 맞출 수 있다. 첫 주행의 실현 twist 분포를 plant와 맞대 Wasserstein·MMD 차이를 줄인다(Spot 고속 RL). 맞춘 값은 지연 rollout(TP-0150)과 GP 잔차(TP-0068)의 명목 모델이 함께 쓴다. 주행 중에는 VP-Nav처럼 명령과 실현 twist의 차이를 belief 지도 칸이나 속도 상한으로 Planner에 돌린다. 미끄럼을 rollout에 넣는다면 EVORA처럼 분포로 배우고 비관의 정도를 짝 비교로 훑는다. 기댓값 미끄럼을 belief 지도에 건 </a:t>
            </a:r>
            <a:r>
              <a:rPr sz="1050" b="0" i="0">
                <a:solidFill>
                  <a:srgbClr val="16213A"/>
                </a:solidFill>
                <a:latin typeface="Consolas"/>
                <a:ea typeface="Malgun Gothic"/>
                <a:cs typeface="Malgun Gothic"/>
              </a:rPr>
              <a:t>mppi_plant</a:t>
            </a:r>
            <a:r>
              <a:rPr sz="1050" b="0" i="0">
                <a:solidFill>
                  <a:srgbClr val="16213A"/>
                </a:solidFill>
                <a:latin typeface="Arial"/>
                <a:ea typeface="Malgun Gothic"/>
                <a:cs typeface="Malgun Gothic"/>
              </a:rPr>
              <a:t>는 진행을 막았다(MPC 문서 M.3.22). 이 절차와 라이보2식 전력·위치 동기 기록은 sim-to-real 프로토콜(TP-0043)의 첫 주행 항목에 넣는다.</a:t>
            </a:r>
          </a:p>
        </p:txBody>
      </p:sp>
      <p:sp>
        <p:nvSpPr>
          <p:cNvPr id="6" name="TextBox 5"/>
          <p:cNvSpPr txBox="1"/>
          <p:nvPr/>
        </p:nvSpPr>
        <p:spPr>
          <a:xfrm>
            <a:off x="609600" y="4631730"/>
            <a:ext cx="10972800" cy="1082477"/>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B.14.6은 RSL 한 연구실에서 가져올 일곱 가지다. 실패 확률 머리(FDM)·진행 방향 step 비용·경로 문맥과 위치 기억·지연과 병렬화·지도 σ·P1 데이터 계획·DTC의 학습 절차다. 이 목록에는 그 일곱을 다시 넣지 않았다. </a:t>
            </a:r>
            <a:r>
              <a:rPr sz="1050" b="1" i="0">
                <a:solidFill>
                  <a:srgbClr val="C2410C"/>
                </a:solidFill>
                <a:latin typeface="Arial"/>
                <a:ea typeface="Malgun Gothic"/>
                <a:cs typeface="Malgun Gothic"/>
              </a:rPr>
              <a:t>B.14.6이 주로 Planner D와 Controller에 새 부품과 신호를 더한다면, B.16.7은 주로 두 층을 학습시키는 절차와 plant를 실물에 맞추는 절차를 고친다.</a:t>
            </a:r>
            <a:r>
              <a:rPr sz="1050" b="0" i="0">
                <a:solidFill>
                  <a:srgbClr val="16213A"/>
                </a:solidFill>
                <a:latin typeface="Arial"/>
                <a:ea typeface="Malgun Gothic"/>
                <a:cs typeface="Malgun Gothic"/>
              </a:rPr>
              <a:t> 두 목록이 만나는 곳은 넷이다. 지연은 B.14.6의 4번이 rollout에 넣고 실물 기록을 모으는 데까지이고, 이 목록의 5번과 10번이 그 범위를 재고 실측으로 맞춘다. RobotMDM의 critic(B.16.3)과 Trace and Pace의 가치 함수(B.16.1)는 B.14.6 1번의 실패 확률 머리와 같은 선택기 자리라 따로 적지 않았다. 학습 Controller는 B.14.6 7번(DTC의 사건 단위 갱신과 경로 교란)과 이 목록 8번을 함께 쓴다. AME-2의 융합 규칙(B.16.3)도 B.14.6 5번과 같은 TP-0054의 후보다.</a:t>
            </a:r>
          </a:p>
        </p:txBody>
      </p:sp>
    </p:spTree>
  </p:cSld>
  <p:clrMapOvr>
    <a:masterClrMapping/>
  </p:clrMapOvr>
</p:sld>
</file>

<file path=ppt/slides/slide47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6/6</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472 / 516</a:t>
            </a:r>
          </a:p>
        </p:txBody>
      </p:sp>
      <p:sp>
        <p:nvSpPr>
          <p:cNvPr id="5" name="TextBox 4"/>
          <p:cNvSpPr txBox="1"/>
          <p:nvPr/>
        </p:nvSpPr>
        <p:spPr>
          <a:xfrm>
            <a:off x="717550" y="1244600"/>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B.16.8 휴머노이드 주행: 몸체를 가리지 않는 내비 스택과, 학습 정책의 출력을 실행 가능한 집합으로 투영하기</a:t>
            </a:r>
          </a:p>
        </p:txBody>
      </p:sp>
      <p:sp>
        <p:nvSpPr>
          <p:cNvPr id="6" name="TextBox 5"/>
          <p:cNvSpPr txBox="1"/>
          <p:nvPr/>
        </p:nvSpPr>
        <p:spPr>
          <a:xfrm>
            <a:off x="609600" y="1547812"/>
            <a:ext cx="10972800" cy="1298972"/>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휴머노이드를 주행시키는 연구는 두 질문에 답한다. 위 층(내비)이 아래 층(보행·전신 정책)에 무엇을 넘기는가, 그리고 학습 정책이 낸 출력을 아래 층이 실제로 해낼 수 있는 집합에 어떻게 맞추는가다.</a:t>
            </a:r>
            <a:r>
              <a:rPr sz="1050" b="0" i="0">
                <a:solidFill>
                  <a:srgbClr val="16213A"/>
                </a:solidFill>
                <a:latin typeface="Arial"/>
                <a:ea typeface="Malgun Gothic"/>
                <a:cs typeface="Malgun Gothic"/>
              </a:rPr>
              <a:t> 첫째 질문에는 공개 자율 스택과 최근 내비 정책이 서로 다른 답을 낸다. CMU 스택은 몸체마다 같은 내비 층을 두고 속도와 yaw rate만 넘긴다. LP-NavOA는 진행 방향 하나만 덮어쓰고, FocusNav와 GLAD는 내비를 정책 안으로 넣는다. 둘째 질문에는 "투영"이라는 같은 답이 세 층에서 나왔다. PADP는 관절 행동을 강체 동역학과 접촉을 지키는 전신 변수로, CMP는 위험한 잠재 명령을 정책이 해낼 수 있는 구 안으로, FIBER는 따로 배운 기술 정책을 공통 잠재 명령으로 투영한다. </a:t>
            </a:r>
            <a:r>
              <a:rPr sz="1050" b="1" i="0">
                <a:solidFill>
                  <a:srgbClr val="C2410C"/>
                </a:solidFill>
                <a:latin typeface="Arial"/>
                <a:ea typeface="Malgun Gothic"/>
                <a:cs typeface="Malgun Gothic"/>
              </a:rPr>
              <a:t>travplan의 Planner→Controller 경계도 같은 질문이다. Planner D의 궤적을 스워브 plant가 해낼 수 있는 명령으로 맞추는 일이고, 남은 정면 보행자 충돌(TP-0162, 조향 한계 56.2°)이 그 투영이 모자라는 자리다.</a:t>
            </a:r>
            <a:r>
              <a:rPr sz="1050" b="0" i="0">
                <a:solidFill>
                  <a:srgbClr val="16213A"/>
                </a:solidFill>
                <a:latin typeface="Arial"/>
                <a:ea typeface="Malgun Gothic"/>
                <a:cs typeface="Malgun Gothic"/>
              </a:rPr>
              <a:t> 사람 동작 추종과 고유감각 보행은 B.16.6에, 높이 지도를 보는 보행 정책은 인식 문서 A.8에 있다. 이 소절의 연구와 공개 코드는 2026-10-21에 확인했다.</a:t>
            </a:r>
          </a:p>
        </p:txBody>
      </p:sp>
    </p:spTree>
  </p:cSld>
  <p:clrMapOvr>
    <a:masterClrMapping/>
  </p:clrMapOvr>
</p:sld>
</file>

<file path=ppt/slides/slide47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자세히: 이 소절의 연구 목록(표 12행)</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473 / 516</a:t>
            </a:r>
          </a:p>
        </p:txBody>
      </p:sp>
      <p:graphicFrame>
        <p:nvGraphicFramePr>
          <p:cNvPr id="5" name="Table 4"/>
          <p:cNvGraphicFramePr>
            <a:graphicFrameLocks noGrp="1"/>
          </p:cNvGraphicFramePr>
          <p:nvPr/>
        </p:nvGraphicFramePr>
        <p:xfrm>
          <a:off x="609600" y="1244600"/>
          <a:ext cx="10966450" cy="2562144"/>
        </p:xfrm>
        <a:graphic>
          <a:graphicData uri="http://schemas.openxmlformats.org/drawingml/2006/table">
            <a:tbl>
              <a:tblPr firstRow="1" bandRow="1">
                <a:tableStyleId>{5C22544A-7EE6-4342-B048-85BDC9FD1C3A}</a:tableStyleId>
              </a:tblPr>
              <a:tblGrid>
                <a:gridCol w="808038"/>
                <a:gridCol w="3522365"/>
                <a:gridCol w="1262062"/>
                <a:gridCol w="4242891"/>
                <a:gridCol w="1131094"/>
              </a:tblGrid>
              <a:tr h="197088">
                <a:tc>
                  <a:txBody>
                    <a:bodyPr wrap="square"/>
                    <a:lstStyle/>
                    <a:p>
                      <a:r>
                        <a:rPr sz="800" b="1" i="0">
                          <a:solidFill>
                            <a:srgbClr val="F4F1EA"/>
                          </a:solidFill>
                          <a:latin typeface="Arial"/>
                          <a:ea typeface="Malgun Gothic"/>
                          <a:cs typeface="Malgun Gothic"/>
                        </a:rPr>
                        <a:t>연도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연구</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로봇</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핵심</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다룬 곳</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2024–2026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CMU autonomy_stack_mecanum_wheel_platform</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메카넘 바퀴 T-Bot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Mid-360 + NUC, 지형 분석·경로 라이브러리 로컬 Planner·FAR·TARE, ROS 2 Jazzy</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이 소절, 인식 A.9.1</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2024–2026</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CMU autonomy_stack_go2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Unitree Go2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같은 기본 자율을 내장 L1 LiDAR만으로</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이 소절, B.12.2</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2025–2026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CMU autonomy_stack_diablo_setup</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Diablo(바퀴 다리)</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같은 기본 자율을 자세 균형 바퀴 다리 로봇에</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이 소절</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2025</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End-to-End Humanoid Safe and Comfortable Locomotion(arXiv)</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휴머노이드</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시공간 LiDAR 점군 → 관절 명령, CBF를 CMDP 비용으로</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이 소절</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2026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FocusNav(arXiv)</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G1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정책이 waypoint를 예측하고 그 둘레 BEV 특징만 본다, 불안정하면 먼 정보를 끊는다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이 소절</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2026</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GLAD(arXiv)</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G1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높이 지도 전역·국소 attention, 전진 명령만으로 좁은 길을 따라감</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이 소절</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2026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PILOT(arXiv)</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G1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지각 보행과 전신 제어를 한 RL 정책에, 동작별 MoE</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이 소절(GLAD 카드)</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2026</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LP-NavOA(arXiv)</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G1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얼린 보행 정책 위에 진행 방향만 덮어쓰는 순환 Planner</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이 소절</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2026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PADP — From Policy Actions to Whole-Body Dynamics(RA-L)</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점 발·바퀴 발 사족 + 팔</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관절 행동을 동역학·접촉을 지키는 전신 변수로 투영, 뒤에 전신 QP</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이 소절</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2026</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CMP(CoRL 2026)</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Go2 + 6자유도 팔</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잠재 명령을 안전 구 안으로 투영</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이 소절</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2026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FIBER(arXiv)</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G1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기술 정책을 얼린 행동 기반 모델의 잠재 명령으로 투영, 하나의 flow Planner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이 소절</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2025</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Whole-Body Inverse Dynamics MPC(RA-L)</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B2 + Z1 팔</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전체 역동역학으로 관절 토크를 직접 최적화, 80 Hz</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이 소절(PADP 카드)</a:t>
                      </a:r>
                    </a:p>
                  </a:txBody>
                  <a:tcPr marL="63500" marR="63500" marT="12700" marB="12700">
                    <a:solidFill>
                      <a:srgbClr val="F3F0E8"/>
                    </a:solidFill>
                  </a:tcPr>
                </a:tc>
              </a:tr>
            </a:tbl>
          </a:graphicData>
        </a:graphic>
      </p:graphicFrame>
    </p:spTree>
  </p:cSld>
  <p:clrMapOvr>
    <a:masterClrMapping/>
  </p:clrMapOvr>
</p:sld>
</file>

<file path=ppt/slides/slide47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1/8</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474 / 516</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첫째 갈래(몸체를 가리지 않는 내비 스택).</a:t>
            </a:r>
            <a:r>
              <a:rPr sz="1050" b="0" i="0">
                <a:solidFill>
                  <a:srgbClr val="16213A"/>
                </a:solidFill>
                <a:latin typeface="Arial"/>
                <a:ea typeface="Malgun Gothic"/>
                <a:cs typeface="Malgun Gothic"/>
              </a:rPr>
              <a:t> CMU의 Ji Zhang이 공개한 자율 스택은 세 몸체에 같은 층을 쓴다. 휴머노이드판은 공개되지 않았다(2026-10-21, 저장소 9개 확인).</a:t>
            </a:r>
          </a:p>
        </p:txBody>
      </p:sp>
      <p:sp>
        <p:nvSpPr>
          <p:cNvPr id="6" name="TextBox 5"/>
          <p:cNvSpPr txBox="1"/>
          <p:nvPr/>
        </p:nvSpPr>
        <p:spPr>
          <a:xfrm>
            <a:off x="609600" y="1549995"/>
            <a:ext cx="10972800" cy="151546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CMU 자율 스택 세 판 — 같은 기본 자율을 바퀴, 사족, 바퀴 다리에 올린다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mecanum</a:t>
            </a:r>
            <a:r>
              <a:rPr sz="1050" b="0" i="0">
                <a:solidFill>
                  <a:srgbClr val="16213A"/>
                </a:solidFill>
                <a:latin typeface="Arial"/>
                <a:ea typeface="Malgun Gothic"/>
                <a:cs typeface="Malgun Gothic"/>
              </a:rPr>
              <a:t> ★337, </a:t>
            </a:r>
            <a:r>
              <a:rPr sz="1050" b="0" i="0">
                <a:solidFill>
                  <a:srgbClr val="1D4ED8"/>
                </a:solidFill>
                <a:latin typeface="Arial"/>
                <a:ea typeface="Malgun Gothic"/>
                <a:cs typeface="Malgun Gothic"/>
                <a:hlinkClick r:id="rId4"/>
              </a:rPr>
              <a:t>Go2</a:t>
            </a:r>
            <a:r>
              <a:rPr sz="1050" b="0" i="0">
                <a:solidFill>
                  <a:srgbClr val="16213A"/>
                </a:solidFill>
                <a:latin typeface="Arial"/>
                <a:ea typeface="Malgun Gothic"/>
                <a:cs typeface="Malgun Gothic"/>
              </a:rPr>
              <a:t> ★555, </a:t>
            </a:r>
            <a:r>
              <a:rPr sz="1050" b="0" i="0">
                <a:solidFill>
                  <a:srgbClr val="1D4ED8"/>
                </a:solidFill>
                <a:latin typeface="Arial"/>
                <a:ea typeface="Malgun Gothic"/>
                <a:cs typeface="Malgun Gothic"/>
                <a:hlinkClick r:id="rId5"/>
              </a:rPr>
              <a:t>Diablo</a:t>
            </a:r>
            <a:r>
              <a:rPr sz="1050" b="0" i="0">
                <a:solidFill>
                  <a:srgbClr val="16213A"/>
                </a:solidFill>
                <a:latin typeface="Arial"/>
                <a:ea typeface="Malgun Gothic"/>
                <a:cs typeface="Malgun Gothic"/>
              </a:rPr>
              <a:t> ★110, 셋 다 라이선스 표기 없음). 메카넘판과 Diablo판은 SLAM, 경로 계획(FAR), 탐사(TARE), 기본 자율(지형 분석, 충돌 회피, waypoint 추종)의 네 묶음이다. Go2판은 탐사를 뺀 셋이다. 셋 다 Unity 시뮬 장면과 실물 설정을 함께 준다. 메카넘과 Diablo는 Livox Mid-360과 ROS 2 Jazzy(Ubuntu 24.04)를, Go2는 내장 L1 LiDAR와 ROS 2 Foxy·Humble을 쓴다. 운전 방식도 셋이 같다. 기본은 "똑똑한 조이스틱"으로, 사람이 준 속도와 yaw rate를 따르되 충돌은 스택이 피한다. 그 밖에 RViz에서 찍은 가까운 waypoint로 가는 모드와 수동 모드가 있다. </a:t>
            </a:r>
            <a:r>
              <a:rPr sz="1050" b="1" i="0">
                <a:solidFill>
                  <a:srgbClr val="C2410C"/>
                </a:solidFill>
                <a:latin typeface="Arial"/>
                <a:ea typeface="Malgun Gothic"/>
                <a:cs typeface="Malgun Gothic"/>
              </a:rPr>
              <a:t>몸체가 달라도 아래 층에 넘기는 것은 차체 속도와 yaw rate뿐이다.</a:t>
            </a:r>
            <a:r>
              <a:rPr sz="1050" b="0" i="0">
                <a:solidFill>
                  <a:srgbClr val="16213A"/>
                </a:solidFill>
                <a:latin typeface="Arial"/>
                <a:ea typeface="Malgun Gothic"/>
                <a:cs typeface="Malgun Gothic"/>
              </a:rPr>
              <a:t> 스택에는 걸음새 제어가 없다. Go2판은 SDK가 있는 Go2 EDU를 요구하고, 스택의 명령을 Go2 자체의 보행 제어가 실행한다. 휴머노이드에 옮긴다면 G1의 보행 정책이 같은 자리를 받는다. 몸체마다 바뀌는 것은 설정값이다. 로컬 Planner의 장애물 높이 문턱 </a:t>
            </a:r>
            <a:r>
              <a:rPr sz="1050" b="0" i="0">
                <a:solidFill>
                  <a:srgbClr val="16213A"/>
                </a:solidFill>
                <a:latin typeface="Consolas"/>
                <a:ea typeface="Malgun Gothic"/>
                <a:cs typeface="Malgun Gothic"/>
              </a:rPr>
              <a:t>obstacleHeightThre</a:t>
            </a:r>
            <a:r>
              <a:rPr sz="1050" b="0" i="0">
                <a:solidFill>
                  <a:srgbClr val="16213A"/>
                </a:solidFill>
                <a:latin typeface="Arial"/>
                <a:ea typeface="Malgun Gothic"/>
                <a:cs typeface="Malgun Gothic"/>
              </a:rPr>
              <a:t>는 기본 0.05 m이고, README는 실내 0.015–0.02 m, 실외 0.1–0.15 m를 권한다. 경로 계획의 로봇 치수 </a:t>
            </a:r>
            <a:r>
              <a:rPr sz="1050" b="0" i="0">
                <a:solidFill>
                  <a:srgbClr val="16213A"/>
                </a:solidFill>
                <a:latin typeface="Consolas"/>
                <a:ea typeface="Malgun Gothic"/>
                <a:cs typeface="Malgun Gothic"/>
              </a:rPr>
              <a:t>robot_dim</a:t>
            </a:r>
            <a:r>
              <a:rPr sz="1050" b="0" i="0">
                <a:solidFill>
                  <a:srgbClr val="16213A"/>
                </a:solidFill>
                <a:latin typeface="Arial"/>
                <a:ea typeface="Malgun Gothic"/>
                <a:cs typeface="Malgun Gothic"/>
              </a:rPr>
              <a:t>(FAR 실내 설정 기본 0.5 m)과 바퀴 종류(</a:t>
            </a:r>
            <a:r>
              <a:rPr sz="1050" b="0" i="0">
                <a:solidFill>
                  <a:srgbClr val="16213A"/>
                </a:solidFill>
                <a:latin typeface="Consolas"/>
                <a:ea typeface="Malgun Gothic"/>
                <a:cs typeface="Malgun Gothic"/>
              </a:rPr>
              <a:t>omniDir</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standard</a:t>
            </a:r>
            <a:r>
              <a:rPr sz="1050" b="0" i="0">
                <a:solidFill>
                  <a:srgbClr val="16213A"/>
                </a:solidFill>
                <a:latin typeface="Arial"/>
                <a:ea typeface="Malgun Gothic"/>
                <a:cs typeface="Malgun Gothic"/>
              </a:rPr>
              <a:t>)도 몸체에 맞춘다. 지형 분석과 로컬 Planner의 소스 읽기는 인식 문서 A.9.1에, 경로·탐사 층은 B.12.2에 있다.</a:t>
            </a:r>
          </a:p>
        </p:txBody>
      </p:sp>
    </p:spTree>
  </p:cSld>
  <p:clrMapOvr>
    <a:masterClrMapping/>
  </p:clrMapOvr>
</p:sld>
</file>

<file path=ppt/slides/slide47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2/8</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475 / 516</a:t>
            </a:r>
          </a:p>
        </p:txBody>
      </p:sp>
      <p:pic>
        <p:nvPicPr>
          <p:cNvPr id="5" name="Picture 4" descr="image.jpg"/>
          <p:cNvPicPr>
            <a:picLocks noChangeAspect="1"/>
          </p:cNvPicPr>
          <p:nvPr/>
        </p:nvPicPr>
        <p:blipFill>
          <a:blip r:embed="rId3"/>
          <a:stretch>
            <a:fillRect/>
          </a:stretch>
        </p:blipFill>
        <p:spPr>
          <a:xfrm>
            <a:off x="4457700" y="1244600"/>
            <a:ext cx="3276600" cy="4445000"/>
          </a:xfrm>
          <a:prstGeom prst="rect">
            <a:avLst/>
          </a:prstGeom>
        </p:spPr>
      </p:pic>
      <p:sp>
        <p:nvSpPr>
          <p:cNvPr id="6" name="TextBox 5"/>
          <p:cNvSpPr txBox="1"/>
          <p:nvPr/>
        </p:nvSpPr>
        <p:spPr>
          <a:xfrm>
            <a:off x="4457700" y="5727700"/>
            <a:ext cx="3276600" cy="42654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CMU 자율 스택의 Diablo판: 자세 균형 바퀴 다리 로봇에 Mid-360을 얹었다. 메카넘·Go2판과 같은 기본 자율을 쓴다. 출처: autonomy_stack_diablo_setup</a:t>
            </a:r>
          </a:p>
        </p:txBody>
      </p:sp>
    </p:spTree>
  </p:cSld>
  <p:clrMapOvr>
    <a:masterClrMapping/>
  </p:clrMapOvr>
</p:sld>
</file>

<file path=ppt/slides/slide47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3/8</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476 / 516</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CMU 스택은 "내비 층은 몸체를 몰라도 된다"는 설계의 공개 기준이다. 대신 아래 층이 명령을 얼마나 따르는지는 묻지 않는다. 보행 정책이 명령을 늦게 따르거나 못 따르면 내비 층은 그것을 모른 채 다음 명령을 낸다. travplan에서 같은 문제가 plant 지연이었고, rollout에 지연을 넣은 </a:t>
            </a:r>
            <a:r>
              <a:rPr sz="1050" b="0" i="0">
                <a:solidFill>
                  <a:srgbClr val="16213A"/>
                </a:solidFill>
                <a:latin typeface="Consolas"/>
                <a:ea typeface="Malgun Gothic"/>
                <a:cs typeface="Malgun Gothic"/>
              </a:rPr>
              <a:t>mppi_plant_lag</a:t>
            </a:r>
            <a:r>
              <a:rPr sz="1050" b="0" i="0">
                <a:solidFill>
                  <a:srgbClr val="16213A"/>
                </a:solidFill>
                <a:latin typeface="Arial"/>
                <a:ea typeface="Malgun Gothic"/>
                <a:cs typeface="Malgun Gothic"/>
              </a:rPr>
              <a:t>가 치명을 55에서 4로 줄였다(TP-0150). 그래서 휴머노이드에 이 구성을 쓰려면, 보행 정책의 명령 추종 응답을 재서 내비 층의 예측 모델에 넣는 단계가 필요하다(B.16.7의 7번).</a:t>
            </a:r>
          </a:p>
        </p:txBody>
      </p:sp>
      <p:sp>
        <p:nvSpPr>
          <p:cNvPr id="6" name="TextBox 5"/>
          <p:cNvSpPr txBox="1"/>
          <p:nvPr/>
        </p:nvSpPr>
        <p:spPr>
          <a:xfrm>
            <a:off x="609600" y="1982986"/>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둘째 갈래(내비를 보행 정책 쪽으로 옮기는 연구).</a:t>
            </a:r>
            <a:r>
              <a:rPr sz="1050" b="0" i="0">
                <a:solidFill>
                  <a:srgbClr val="16213A"/>
                </a:solidFill>
                <a:latin typeface="Arial"/>
                <a:ea typeface="Malgun Gothic"/>
                <a:cs typeface="Malgun Gothic"/>
              </a:rPr>
              <a:t> 아래 넷은 휴머노이드 Unitree G1(또는 휴머노이드 일반)에서, 내비 층과 보행 층의 경계를 CMU 스택보다 아래로 내린다.</a:t>
            </a:r>
          </a:p>
        </p:txBody>
      </p:sp>
      <p:sp>
        <p:nvSpPr>
          <p:cNvPr id="7" name="TextBox 6"/>
          <p:cNvSpPr txBox="1"/>
          <p:nvPr/>
        </p:nvSpPr>
        <p:spPr>
          <a:xfrm>
            <a:off x="609600" y="2288381"/>
            <a:ext cx="10972800" cy="108247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LP-NavOA — 얼린 보행 정책 위에 진행 방향 하나만 덮어쓰는 순환 Planner</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arXiv:2606.23249</a:t>
            </a:r>
            <a:r>
              <a:rPr sz="1050" b="0" i="0">
                <a:solidFill>
                  <a:srgbClr val="16213A"/>
                </a:solidFill>
                <a:latin typeface="Arial"/>
                <a:ea typeface="Malgun Gothic"/>
                <a:cs typeface="Malgun Gothic"/>
              </a:rPr>
              <a:t>, Luo 외 2026). 먼저 PPO로 보행 정책을 학습한다. 명령은 현재 yaw 둘레의 원형 명령(진행 방향 오차, 속도)이고, 앞쪽 광선의 정지 시간으로 전진 속도를 깎는 명령 쪽 안전 필터를 함께 둔다. 원형 명령으로 학습한 정책은 3.0 m/s까지 따랐고, 고정 순서 명령으로 학습한 정책은 1.44 m/s에 그쳤다. 보행 정책을 얼린 뒤 A*와 waypoint 교사의 rollout으로 GRU Planner를 행동 복제한다. Planner는 진행 방향 명령만 덮어쓰고, 보행 정책과 안전 필터는 그대로 둔다. 입력은 고유감각, 앞·좌·우 광선(8 × 8, 시야 45°, 4 m), 몸 기준 목표 방향뿐이고 전역 지도가 없다. MuJoCo의 벽 장면과 실내 장면에서 제시간 도달이 보행 정책만 썼을 때 38.3·40.3 %에서 85.1·88.0 %로 올랐다(주행 거리계를 쓴 판은 91.9·96.6 %). G1 실물은 반복 시험이 아닌 실행 가능성 확인이다.</a:t>
            </a:r>
          </a:p>
        </p:txBody>
      </p:sp>
    </p:spTree>
  </p:cSld>
  <p:clrMapOvr>
    <a:masterClrMapping/>
  </p:clrMapOvr>
</p:sld>
</file>

<file path=ppt/slides/slide47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4/8</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477 / 516</a:t>
            </a:r>
          </a:p>
        </p:txBody>
      </p:sp>
      <p:pic>
        <p:nvPicPr>
          <p:cNvPr id="5" name="Picture 4" descr="image.jpg"/>
          <p:cNvPicPr>
            <a:picLocks noChangeAspect="1"/>
          </p:cNvPicPr>
          <p:nvPr/>
        </p:nvPicPr>
        <p:blipFill>
          <a:blip r:embed="rId3"/>
          <a:stretch>
            <a:fillRect/>
          </a:stretch>
        </p:blipFill>
        <p:spPr>
          <a:xfrm>
            <a:off x="2139950" y="1244600"/>
            <a:ext cx="7912100" cy="4445000"/>
          </a:xfrm>
          <a:prstGeom prst="rect">
            <a:avLst/>
          </a:prstGeom>
        </p:spPr>
      </p:pic>
      <p:sp>
        <p:nvSpPr>
          <p:cNvPr id="6" name="TextBox 5"/>
          <p:cNvSpPr txBox="1"/>
          <p:nvPr/>
        </p:nvSpPr>
        <p:spPr>
          <a:xfrm>
            <a:off x="2139950" y="5727700"/>
            <a:ext cx="7912100" cy="142180"/>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LP-NavOA (Fig. 1): 순환 Planner가 얼린 보행 정책의 진행 방향 명령만 덮어쓴다. 지도나 외부 Planner 없이 광선과 목표 방향만 본다. 출처: arXiv:2606.23249</a:t>
            </a:r>
          </a:p>
        </p:txBody>
      </p:sp>
    </p:spTree>
  </p:cSld>
  <p:clrMapOvr>
    <a:masterClrMapping/>
  </p:clrMapOvr>
</p:sld>
</file>

<file path=ppt/slides/slide47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5/8</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478 / 516</a:t>
            </a:r>
          </a:p>
        </p:txBody>
      </p:sp>
      <p:sp>
        <p:nvSpPr>
          <p:cNvPr id="5" name="TextBox 4"/>
          <p:cNvSpPr txBox="1"/>
          <p:nvPr/>
        </p:nvSpPr>
        <p:spPr>
          <a:xfrm>
            <a:off x="609600" y="1244600"/>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FocusNav — 정책이 waypoint를 예측하고, 그 둘레만 본다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arXiv:2601.12790</a:t>
            </a:r>
            <a:r>
              <a:rPr sz="1050" b="0" i="0">
                <a:solidFill>
                  <a:srgbClr val="16213A"/>
                </a:solidFill>
                <a:latin typeface="Arial"/>
                <a:ea typeface="Malgun Gothic"/>
                <a:cs typeface="Malgun Gothic"/>
              </a:rPr>
              <a:t>, Zhang 외 2026). G1에 Mid-360과 RealSense D435i를 얹고, 두 점군을 합친 voxel을 BEV 특징으로 바꾼다. 정책 안의 자기회귀 transformer가 목표에서 로봇 쪽으로 거꾸로 충돌 없는 waypoint를 예측한다. 그 waypoint 토큰을 질의로, BEV 조각을 키로 cross-attention을 걸어 경로 둘레의 특징만 모은다(L.5의 attention). 자세가 불안정하면 Gumbel-Softmax 게이트가 먼 waypoint의 특징을 끊고 발 앞만 보게 한다. 학습은 Isaac Gym의 PPO 특권 교사를 행동 복제로 학생에게 옮긴다. 시뮬의 험지·동적 장애물에서 성공률 87.02 %로, LiDAR 복셀 정책 Gallant(B.12.3) 50.32 %보다 높다. 충돌률은 4.56 %로 게이트를 뺀 판(4.32 %)보다 조금 나쁘다.</a:t>
            </a:r>
          </a:p>
        </p:txBody>
      </p:sp>
      <p:sp>
        <p:nvSpPr>
          <p:cNvPr id="6" name="TextBox 5"/>
          <p:cNvSpPr txBox="1"/>
          <p:nvPr/>
        </p:nvSpPr>
        <p:spPr>
          <a:xfrm>
            <a:off x="609600" y="2199481"/>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GLAD — 명시적 Planner 없이 전진 명령만으로 좁은 길을 따라간다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4"/>
              </a:rPr>
              <a:t>arXiv:2606.00637</a:t>
            </a:r>
            <a:r>
              <a:rPr sz="1050" b="0" i="0">
                <a:solidFill>
                  <a:srgbClr val="16213A"/>
                </a:solidFill>
                <a:latin typeface="Arial"/>
                <a:ea typeface="Malgun Gothic"/>
                <a:cs typeface="Malgun Gothic"/>
              </a:rPr>
              <a:t>, Fu 외 2026). FocusNav와 마지막 저자(Yue Gao)가 같다. 로봇 중심 높이 지도를 전역 attention(주변 지형 요약)과 국소 attention(발 디딤에 필요한 세부)으로 나눠 부호화한다. 학습한 정책은 전진 속도 명령만 받아도 좁은 길을 따라가고 장애물을 피했다고 보고한다. G1의 온보드 LiDAR로 FAST-LIO와 높이 지도를 만들어 50 Hz로 돌렸다. 내비가 보행 정책 안에서 "생긴" 예이고, 어디까지 갈 수 있는지는 보고되지 않았다. 같은 해의 PILOT(</a:t>
            </a:r>
            <a:r>
              <a:rPr sz="1050" b="0" i="0">
                <a:solidFill>
                  <a:srgbClr val="1D4ED8"/>
                </a:solidFill>
                <a:latin typeface="Arial"/>
                <a:ea typeface="Malgun Gothic"/>
                <a:cs typeface="Malgun Gothic"/>
                <a:hlinkClick r:id="rId5"/>
              </a:rPr>
              <a:t>arXiv:2601.17440</a:t>
            </a:r>
            <a:r>
              <a:rPr sz="1050" b="0" i="0">
                <a:solidFill>
                  <a:srgbClr val="16213A"/>
                </a:solidFill>
                <a:latin typeface="Arial"/>
                <a:ea typeface="Malgun Gothic"/>
                <a:cs typeface="Malgun Gothic"/>
              </a:rPr>
              <a:t>, Cui 외)은 높이 지도를 보는 지각 보행과 전신 조작 제어를 한 RL 정책에 넣고, 동작별 전문가 혼합(MoE, 딥러닝 문서 L.8)으로 기술을 나눴다. 위 층이 내비든 조작이든 받을 수 있는 저수준 제어기를 목표로 한다.</a:t>
            </a:r>
          </a:p>
        </p:txBody>
      </p:sp>
      <p:sp>
        <p:nvSpPr>
          <p:cNvPr id="7" name="TextBox 6"/>
          <p:cNvSpPr txBox="1"/>
          <p:nvPr/>
        </p:nvSpPr>
        <p:spPr>
          <a:xfrm>
            <a:off x="609600" y="3154362"/>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End-to-End Humanoid Safe and Comfortable Locomotion — LiDAR 점군에서 관절 명령까지, 안전은 제약으로 따로</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6"/>
              </a:rPr>
              <a:t>arXiv:2508.07611</a:t>
            </a:r>
            <a:r>
              <a:rPr sz="1050" b="0" i="0">
                <a:solidFill>
                  <a:srgbClr val="16213A"/>
                </a:solidFill>
                <a:latin typeface="Arial"/>
                <a:ea typeface="Malgun Gothic"/>
                <a:cs typeface="Malgun Gothic"/>
              </a:rPr>
              <a:t>, Wang 외 2025). 시공간 LiDAR 점군을 바로 관절 명령으로 바꾸는 정책이다. 문제를 제약 MDP로 세우고 CBF의 원리를 비용으로 옮겨, P3O로 안전 제약을 학습 중에 지키게 했다. 사람이 덜 불편한 움직임을 위한 보상을 더했다. Isaac Sim에서 학습하고 Genesis로 sim-to-sim을 확인한 뒤 실물 휴머노이드로 옮겼다. 안전을 보상에 섞지 않고 제약으로 떼는 것은 travplan의 "치명은 따로 거는 게이트" 원칙과 같다.</a:t>
            </a:r>
          </a:p>
        </p:txBody>
      </p:sp>
      <p:sp>
        <p:nvSpPr>
          <p:cNvPr id="8" name="TextBox 7"/>
          <p:cNvSpPr txBox="1"/>
          <p:nvPr/>
        </p:nvSpPr>
        <p:spPr>
          <a:xfrm>
            <a:off x="609600" y="3892748"/>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네 연구는 경계를 내리는 정도가 다르다. CMU 스택은 속도와 yaw rate를, LP-NavOA는 진행 방향 하나를 넘긴다. FocusNav는 waypoint를 정책 안에 두고, GLAD와 End-to-End는 경계를 없앴다. travplan은 시간 인덱스 궤적(4 s, 40걸음)을 넘기는 쪽으로, 경계가 가장 위에 있다. </a:t>
            </a:r>
            <a:r>
              <a:rPr sz="1050" b="1" i="0">
                <a:solidFill>
                  <a:srgbClr val="C2410C"/>
                </a:solidFill>
                <a:latin typeface="Arial"/>
                <a:ea typeface="Malgun Gothic"/>
                <a:cs typeface="Malgun Gothic"/>
              </a:rPr>
              <a:t>LP-NavOA의 "아래 층은 얼리고 위 층은 명령의 일부만 덮어쓴다"는 Guidance 폴백(TP-0078)의 반대 방향이다.</a:t>
            </a:r>
            <a:r>
              <a:rPr sz="1050" b="0" i="0">
                <a:solidFill>
                  <a:srgbClr val="16213A"/>
                </a:solidFill>
                <a:latin typeface="Arial"/>
                <a:ea typeface="Malgun Gothic"/>
                <a:cs typeface="Malgun Gothic"/>
              </a:rPr>
              <a:t> 폴백은 Planner 전체를 바꿔 끼운다. LP-NavOA식으로는 Planner D의 궤적은 두고 진행 방향만 Guidance 쪽으로 돌리는 판이 가능하다. 아직 시험하지 않았다.</a:t>
            </a:r>
          </a:p>
        </p:txBody>
      </p:sp>
      <p:sp>
        <p:nvSpPr>
          <p:cNvPr id="9" name="TextBox 8"/>
          <p:cNvSpPr txBox="1"/>
          <p:nvPr/>
        </p:nvSpPr>
        <p:spPr>
          <a:xfrm>
            <a:off x="609600" y="4631134"/>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셋째 갈래(학습 정책의 출력을 투영한다).</a:t>
            </a:r>
            <a:r>
              <a:rPr sz="1050" b="0" i="0">
                <a:solidFill>
                  <a:srgbClr val="16213A"/>
                </a:solidFill>
                <a:latin typeface="Arial"/>
                <a:ea typeface="Malgun Gothic"/>
                <a:cs typeface="Malgun Gothic"/>
              </a:rPr>
              <a:t> 학습 정책의 출력은 그대로 실행하면 동역학, 접촉, 학습 분포 가운데 하나를 어긴다. 아래 셋은 실행 전에 출력을 맞는 집합으로 옮긴다. 옮기는 곳이 각각 동역학 변수, 정책의 숙련 영역, 공통 잠재 공간이다.</a:t>
            </a:r>
          </a:p>
        </p:txBody>
      </p:sp>
    </p:spTree>
  </p:cSld>
  <p:clrMapOvr>
    <a:masterClrMapping/>
  </p:clrMapOvr>
</p:sld>
</file>

<file path=ppt/slides/slide47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6/8</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479 / 516</a:t>
            </a:r>
          </a:p>
        </p:txBody>
      </p:sp>
      <p:sp>
        <p:nvSpPr>
          <p:cNvPr id="5" name="TextBox 4"/>
          <p:cNvSpPr txBox="1"/>
          <p:nvPr/>
        </p:nvSpPr>
        <p:spPr>
          <a:xfrm>
            <a:off x="609600" y="1244600"/>
            <a:ext cx="10972800" cy="1298972"/>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PADP — From Policy Actions to Whole-Body Dynamics: 관절 행동을 동역학이 맞는 전신 변수로 투영한다</a:t>
            </a:r>
            <a:r>
              <a:rPr sz="1050" b="0" i="0">
                <a:solidFill>
                  <a:srgbClr val="16213A"/>
                </a:solidFill>
                <a:latin typeface="Arial"/>
                <a:ea typeface="Malgun Gothic"/>
                <a:cs typeface="Malgun Gothic"/>
              </a:rPr>
              <a:t>(Chengzhen Yan·Qingchen Liu·Jiahu Qin·Yiming Jiang·Yang Shi, IEEE RA-L 11(11) 13031–13038, 2026, </a:t>
            </a:r>
            <a:r>
              <a:rPr sz="1050" b="0" i="0">
                <a:solidFill>
                  <a:srgbClr val="1D4ED8"/>
                </a:solidFill>
                <a:latin typeface="Arial"/>
                <a:ea typeface="Malgun Gothic"/>
                <a:cs typeface="Malgun Gothic"/>
                <a:hlinkClick r:id="rId3"/>
              </a:rPr>
              <a:t>doi:10.1109/LRA.2026.3734869</a:t>
            </a:r>
            <a:r>
              <a:rPr sz="1050" b="0" i="0">
                <a:solidFill>
                  <a:srgbClr val="16213A"/>
                </a:solidFill>
                <a:latin typeface="Arial"/>
                <a:ea typeface="Malgun Gothic"/>
                <a:cs typeface="Malgun Gothic"/>
              </a:rPr>
              <a:t>). 중국과학기술대(USTC)와 빅토리아대다. 본문은 공개되지 않아(2026-10-21, arXiv판 없음) 아래는 초록을 따른다. 학습 보행 정책은 관절 공간 명령을 낸다. 모델 기반 전신 최적화는 일반화 가속도, 접촉 힘, 관절 토크 같은 동역학 변수를 다룬다. 그래서 둘을 한 최적화에 넣기 어렵다. PADP(Policy Action Dynamics Projection)는 정책의 관절 출력을, 강체 동역학과 접촉 조건을 지키는 전신 변수(일반화 가속도, 접촉 렌치, 관절 토크)로 옮기는 최적화 기반 투영이다. 그 위에 두 번째 전신 QP가 조작 과제를 더한다. 일반 사전학습 보행 정책을 다시 학습하지 않고 쓰면서, 정책의 원래 명령 공간 밖의 동작(팔로 밀기·당기기와 걷기의 조합)을 낸다. 점 발 사족 조작기와 바퀴 발 사족 조작기 두 몸체에서 시뮬과 실물로, 기존 전신 제어 기준선보다 민첩하고 정밀했다고 보고한다.</a:t>
            </a:r>
          </a:p>
        </p:txBody>
      </p:sp>
      <p:pic>
        <p:nvPicPr>
          <p:cNvPr id="6" name="Picture 5" descr="image.png"/>
          <p:cNvPicPr>
            <a:picLocks noChangeAspect="1"/>
          </p:cNvPicPr>
          <p:nvPr/>
        </p:nvPicPr>
        <p:blipFill>
          <a:blip r:embed="rId4"/>
          <a:stretch>
            <a:fillRect/>
          </a:stretch>
        </p:blipFill>
        <p:spPr>
          <a:xfrm>
            <a:off x="609600" y="2632472"/>
            <a:ext cx="2505075" cy="241300"/>
          </a:xfrm>
          <a:prstGeom prst="rect">
            <a:avLst/>
          </a:prstGeom>
        </p:spPr>
      </p:pic>
      <p:sp>
        <p:nvSpPr>
          <p:cNvPr id="7" name="TextBox 6"/>
          <p:cNvSpPr txBox="1"/>
          <p:nvPr/>
        </p:nvSpPr>
        <p:spPr>
          <a:xfrm>
            <a:off x="609600" y="2909987"/>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이 식은 투영이 지키는 부유 기저 강체 동역학의 교과서 꼴이다(</a:t>
            </a:r>
            <a:r>
              <a:rPr sz="1050" b="0" i="1">
                <a:solidFill>
                  <a:srgbClr val="16213A"/>
                </a:solidFill>
                <a:latin typeface="Arial"/>
                <a:ea typeface="Malgun Gothic"/>
                <a:cs typeface="Malgun Gothic"/>
              </a:rPr>
              <a:t>M</a:t>
            </a:r>
            <a:r>
              <a:rPr sz="1050" b="0" i="0">
                <a:solidFill>
                  <a:srgbClr val="16213A"/>
                </a:solidFill>
                <a:latin typeface="Arial"/>
                <a:ea typeface="Malgun Gothic"/>
                <a:cs typeface="Malgun Gothic"/>
              </a:rPr>
              <a:t> 관성 행렬, </a:t>
            </a:r>
            <a:r>
              <a:rPr sz="1050" b="0" i="1">
                <a:solidFill>
                  <a:srgbClr val="16213A"/>
                </a:solidFill>
                <a:latin typeface="Arial"/>
                <a:ea typeface="Malgun Gothic"/>
                <a:cs typeface="Malgun Gothic"/>
              </a:rPr>
              <a:t>h</a:t>
            </a:r>
            <a:r>
              <a:rPr sz="1050" b="0" i="0">
                <a:solidFill>
                  <a:srgbClr val="16213A"/>
                </a:solidFill>
                <a:latin typeface="Arial"/>
                <a:ea typeface="Malgun Gothic"/>
                <a:cs typeface="Malgun Gothic"/>
              </a:rPr>
              <a:t> 코리올리·중력, </a:t>
            </a:r>
            <a:r>
              <a:rPr sz="1050" b="0" i="1">
                <a:solidFill>
                  <a:srgbClr val="16213A"/>
                </a:solidFill>
                <a:latin typeface="Arial"/>
                <a:ea typeface="Malgun Gothic"/>
                <a:cs typeface="Malgun Gothic"/>
              </a:rPr>
              <a:t>S</a:t>
            </a:r>
            <a:r>
              <a:rPr sz="1050" b="0" i="0">
                <a:solidFill>
                  <a:srgbClr val="16213A"/>
                </a:solidFill>
                <a:latin typeface="Arial"/>
                <a:ea typeface="Malgun Gothic"/>
                <a:cs typeface="Malgun Gothic"/>
              </a:rPr>
              <a:t> 구동 선택 행렬, </a:t>
            </a:r>
            <a:r>
              <a:rPr sz="1050" b="0" i="1">
                <a:solidFill>
                  <a:srgbClr val="16213A"/>
                </a:solidFill>
                <a:latin typeface="Arial"/>
                <a:ea typeface="Malgun Gothic"/>
                <a:cs typeface="Malgun Gothic"/>
              </a:rPr>
              <a:t>J_c</a:t>
            </a:r>
            <a:r>
              <a:rPr sz="1050" b="0" i="0">
                <a:solidFill>
                  <a:srgbClr val="16213A"/>
                </a:solidFill>
                <a:latin typeface="Arial"/>
                <a:ea typeface="Malgun Gothic"/>
                <a:cs typeface="Malgun Gothic"/>
              </a:rPr>
              <a:t> 접촉 야코비안, </a:t>
            </a:r>
            <a:r>
              <a:rPr sz="1050" b="0" i="1">
                <a:solidFill>
                  <a:srgbClr val="16213A"/>
                </a:solidFill>
                <a:latin typeface="Arial"/>
                <a:ea typeface="Malgun Gothic"/>
                <a:cs typeface="Malgun Gothic"/>
              </a:rPr>
              <a:t>λ</a:t>
            </a:r>
            <a:r>
              <a:rPr sz="1050" b="0" i="0">
                <a:solidFill>
                  <a:srgbClr val="16213A"/>
                </a:solidFill>
                <a:latin typeface="Arial"/>
                <a:ea typeface="Malgun Gothic"/>
                <a:cs typeface="Malgun Gothic"/>
              </a:rPr>
              <a:t> 접촉 렌치). PADP 목적식의 정확한 꼴과 가중은 본문을 읽고 채운다.</a:t>
            </a:r>
          </a:p>
        </p:txBody>
      </p:sp>
      <p:sp>
        <p:nvSpPr>
          <p:cNvPr id="8" name="TextBox 7"/>
          <p:cNvSpPr txBox="1"/>
          <p:nvPr/>
        </p:nvSpPr>
        <p:spPr>
          <a:xfrm>
            <a:off x="609600" y="3431877"/>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비교: Whole-Body Inverse Dynamics MPC — 투영 없이 처음부터 토크를 최적화한다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5"/>
              </a:rPr>
              <a:t>arXiv:2511.19709</a:t>
            </a:r>
            <a:r>
              <a:rPr sz="1050" b="0" i="0">
                <a:solidFill>
                  <a:srgbClr val="16213A"/>
                </a:solidFill>
                <a:latin typeface="Arial"/>
                <a:ea typeface="Malgun Gothic"/>
                <a:cs typeface="Malgun Gothic"/>
              </a:rPr>
              <a:t>, Molnar 외, ETH Zürich, RA-L). 전체 역동역학으로 관절 토크를 직접 최적화하는 MPC 하나로 움직임과 힘을 함께 계획한다. Pinocchio, CasADi, 내부점 풀이기 Fatrop으로 구현했고, Unitree B2 + Z1 팔에서 80 Hz로 돌았다. 무거운 짐 끌기, 상자 밀기, 화이트보드 닦기를 보였다. PADP가 "학습 정책 + 투영 + QP"라면 이쪽은 "모델 하나로 전부"다. travplan의 MPPI + 학습 Planner와 acados NMPC의 관계와 같은 대비다.</a:t>
            </a:r>
          </a:p>
        </p:txBody>
      </p:sp>
      <p:sp>
        <p:nvSpPr>
          <p:cNvPr id="9" name="TextBox 8"/>
          <p:cNvSpPr txBox="1"/>
          <p:nvPr/>
        </p:nvSpPr>
        <p:spPr>
          <a:xfrm>
            <a:off x="609600" y="4170263"/>
            <a:ext cx="10972800" cy="108247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CMP — 위험한 잠재 명령을 정책이 해낼 수 있는 구 안으로 투영한다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6"/>
              </a:rPr>
              <a:t>arXiv:2604.07457</a:t>
            </a:r>
            <a:r>
              <a:rPr sz="1050" b="0" i="0">
                <a:solidFill>
                  <a:srgbClr val="16213A"/>
                </a:solidFill>
                <a:latin typeface="Arial"/>
                <a:ea typeface="Malgun Gothic"/>
                <a:cs typeface="Malgun Gothic"/>
              </a:rPr>
              <a:t>, Cheng 외, CoRL 2026 spotlight, </a:t>
            </a:r>
            <a:r>
              <a:rPr sz="1050" b="0" i="0">
                <a:solidFill>
                  <a:srgbClr val="1D4ED8"/>
                </a:solidFill>
                <a:latin typeface="Arial"/>
                <a:ea typeface="Malgun Gothic"/>
                <a:cs typeface="Malgun Gothic"/>
                <a:hlinkClick r:id="rId7"/>
              </a:rPr>
              <a:t>프로젝트</a:t>
            </a:r>
            <a:r>
              <a:rPr sz="1050" b="0" i="0">
                <a:solidFill>
                  <a:srgbClr val="16213A"/>
                </a:solidFill>
                <a:latin typeface="Arial"/>
                <a:ea typeface="Malgun Gothic"/>
                <a:cs typeface="Malgun Gothic"/>
              </a:rPr>
              <a:t>). Go2에 6자유도 팔을 얹고 전역 끝단 자세를 따르는 전신 정책이다. 센서 잡음이나 해낼 수 없는 사용자 명령 같은 분포 밖 입력에서 학습 정책이 무너지는 것을 막는다. 목표 자세는 잠재 의도 </a:t>
            </a:r>
            <a:r>
              <a:rPr sz="1050" b="0" i="1">
                <a:solidFill>
                  <a:srgbClr val="16213A"/>
                </a:solidFill>
                <a:latin typeface="Arial"/>
                <a:ea typeface="Malgun Gothic"/>
                <a:cs typeface="Malgun Gothic"/>
              </a:rPr>
              <a:t>z</a:t>
            </a:r>
            <a:r>
              <a:rPr sz="1050" b="0" i="0">
                <a:solidFill>
                  <a:srgbClr val="16213A"/>
                </a:solidFill>
                <a:latin typeface="Arial"/>
                <a:ea typeface="Malgun Gothic"/>
                <a:cs typeface="Malgun Gothic"/>
              </a:rPr>
              <a:t>로 부호화된다. 안전 확률 추정기 </a:t>
            </a:r>
            <a:r>
              <a:rPr sz="1050" b="0" i="1">
                <a:solidFill>
                  <a:srgbClr val="16213A"/>
                </a:solidFill>
                <a:latin typeface="Arial"/>
                <a:ea typeface="Malgun Gothic"/>
                <a:cs typeface="Malgun Gothic"/>
              </a:rPr>
              <a:t>W</a:t>
            </a:r>
            <a:r>
              <a:rPr sz="1050" b="0" i="0">
                <a:solidFill>
                  <a:srgbClr val="16213A"/>
                </a:solidFill>
                <a:latin typeface="Arial"/>
                <a:ea typeface="Malgun Gothic"/>
                <a:cs typeface="Malgun Gothic"/>
              </a:rPr>
              <a:t>를 정책과 따로 학습하는데, 표적은 실패 0, 시간 초과 1, 그 사이는 TD(λ = 0.8)로 이어 실제 안전의 하한이 되게 한다. 잠재 공간의 사전분포 분산을 안전 확률로 조절해, 안전할수록 원점에 가깝게 만든다. 그러면 숙련 영역이 대략 반지름 </a:t>
            </a:r>
            <a:r>
              <a:rPr sz="1050" b="0" i="1">
                <a:solidFill>
                  <a:srgbClr val="16213A"/>
                </a:solidFill>
                <a:latin typeface="Arial"/>
                <a:ea typeface="Malgun Gothic"/>
                <a:cs typeface="Malgun Gothic"/>
              </a:rPr>
              <a:t>R_(safe)</a:t>
            </a:r>
            <a:r>
              <a:rPr sz="1050" b="0" i="0">
                <a:solidFill>
                  <a:srgbClr val="16213A"/>
                </a:solidFill>
                <a:latin typeface="Arial"/>
                <a:ea typeface="Malgun Gothic"/>
                <a:cs typeface="Malgun Gothic"/>
              </a:rPr>
              <a:t>인 구가 되고, 실행 때 투영은 한 줄이다. 이 투영은 과제 공간에서 가장 가까운 안전 명령을 찾는 것이 아니라, 잠재 벡터의 방향을 두고 크기만 줄인다. 그래서 목표를 버리지 않고 "할 수 있는 만큼" 다가간다. 대신 구 모양은 학습으로 유도한 근사이고 보장이 아니다(실물 45회 중 실패 3회).</a:t>
            </a:r>
          </a:p>
        </p:txBody>
      </p:sp>
      <p:pic>
        <p:nvPicPr>
          <p:cNvPr id="10" name="Picture 9" descr="image.png"/>
          <p:cNvPicPr>
            <a:picLocks noChangeAspect="1"/>
          </p:cNvPicPr>
          <p:nvPr/>
        </p:nvPicPr>
        <p:blipFill>
          <a:blip r:embed="rId8"/>
          <a:stretch>
            <a:fillRect/>
          </a:stretch>
        </p:blipFill>
        <p:spPr>
          <a:xfrm>
            <a:off x="609600" y="5341640"/>
            <a:ext cx="2301875" cy="431800"/>
          </a:xfrm>
          <a:prstGeom prst="rect">
            <a:avLst/>
          </a:prstGeom>
        </p:spPr>
      </p:pic>
      <p:sp>
        <p:nvSpPr>
          <p:cNvPr id="11" name="TextBox 10"/>
          <p:cNvSpPr txBox="1"/>
          <p:nvPr/>
        </p:nvSpPr>
        <p:spPr>
          <a:xfrm>
            <a:off x="609600" y="5782568"/>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시뮬 7,000 궤적에서 분포 안 생존율은 94.7 %로 Neural CBF(95.9 %)와 비슷했다. 기하가 분포 밖일 때는 46.9 %로 UMI-on-Legs(4.7 %)의 약 10배였다. 실물 15과제 × 3회에서 분포 안 100 %, 중간 분포 밖 93.3 %, 극단 분포 밖 86.7 %였다. Neural CBF는 80·60·40 %였고, 지연은 2.99 ms로 Neural CBF 5.36 ms보다 짧았다. 코드는 공개되지 않았다.</a:t>
            </a:r>
          </a:p>
        </p:txBody>
      </p:sp>
    </p:spTree>
  </p:cSld>
  <p:clrMapOvr>
    <a:masterClrMapping/>
  </p:clrMapOvr>
</p:sld>
</file>

<file path=ppt/slides/slide48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7/8</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480 / 516</a:t>
            </a:r>
          </a:p>
        </p:txBody>
      </p:sp>
      <p:pic>
        <p:nvPicPr>
          <p:cNvPr id="5" name="Picture 4" descr="image.jpg"/>
          <p:cNvPicPr>
            <a:picLocks noChangeAspect="1"/>
          </p:cNvPicPr>
          <p:nvPr/>
        </p:nvPicPr>
        <p:blipFill>
          <a:blip r:embed="rId3"/>
          <a:stretch>
            <a:fillRect/>
          </a:stretch>
        </p:blipFill>
        <p:spPr>
          <a:xfrm>
            <a:off x="1254125" y="1244600"/>
            <a:ext cx="9683750" cy="4445000"/>
          </a:xfrm>
          <a:prstGeom prst="rect">
            <a:avLst/>
          </a:prstGeom>
        </p:spPr>
      </p:pic>
      <p:sp>
        <p:nvSpPr>
          <p:cNvPr id="6" name="TextBox 5"/>
          <p:cNvSpPr txBox="1"/>
          <p:nvPr/>
        </p:nvSpPr>
        <p:spPr>
          <a:xfrm>
            <a:off x="1254125" y="5727700"/>
            <a:ext cx="9683750" cy="142180"/>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CMP (Fig. 3): 목표 궤적을 잠재 의도로 부호화하고, 안전 확률 추정기가 정한 숙련 구 밖이면 구 안으로 줄인 뒤 저수준 정책이 실행한다. 출처: arXiv:2604.07457</a:t>
            </a:r>
          </a:p>
        </p:txBody>
      </p:sp>
    </p:spTree>
  </p:cSld>
  <p:clrMapOvr>
    <a:masterClrMapping/>
  </p:clrMapOvr>
</p:sld>
</file>

<file path=ppt/slides/slide48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다리·바퀴 로봇과 계보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B.16 사족보행·휴머노이드 연구실별 계보: NVIDIA, Google DeepMind, 취리히, RAI Institute와 다른 연구실</a:t>
            </a:r>
            <a:r>
              <a:rPr sz="1050" b="0" i="0">
                <a:solidFill>
                  <a:srgbClr val="5A6478"/>
                </a:solidFill>
                <a:latin typeface="Arial"/>
                <a:ea typeface="Malgun Gothic"/>
                <a:cs typeface="Malgun Gothic"/>
              </a:rPr>
              <a:t>  8/8</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481 / 516</a:t>
            </a:r>
          </a:p>
        </p:txBody>
      </p:sp>
      <p:sp>
        <p:nvSpPr>
          <p:cNvPr id="5" name="TextBox 4"/>
          <p:cNvSpPr txBox="1"/>
          <p:nvPr/>
        </p:nvSpPr>
        <p:spPr>
          <a:xfrm>
            <a:off x="609600" y="1244600"/>
            <a:ext cx="10972800" cy="108247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FIBER — 따로 배운 기술 정책을 공통 잠재 명령으로 투영하고, 그 위에 flow Planner 하나를 둔다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arXiv:2610.24675</a:t>
            </a:r>
            <a:r>
              <a:rPr sz="1050" b="0" i="0">
                <a:solidFill>
                  <a:srgbClr val="16213A"/>
                </a:solidFill>
                <a:latin typeface="Arial"/>
                <a:ea typeface="Malgun Gothic"/>
                <a:cs typeface="Malgun Gothic"/>
              </a:rPr>
              <a:t>, Yutang Lin·Guanya Shi·C. Karen Liu, 2026, </a:t>
            </a:r>
            <a:r>
              <a:rPr sz="1050" b="0" i="0">
                <a:solidFill>
                  <a:srgbClr val="1D4ED8"/>
                </a:solidFill>
                <a:latin typeface="Arial"/>
                <a:ea typeface="Malgun Gothic"/>
                <a:cs typeface="Malgun Gothic"/>
                <a:hlinkClick r:id="rId4"/>
              </a:rPr>
              <a:t>프로젝트</a:t>
            </a:r>
            <a:r>
              <a:rPr sz="1050" b="0" i="0">
                <a:solidFill>
                  <a:srgbClr val="16213A"/>
                </a:solidFill>
                <a:latin typeface="Arial"/>
                <a:ea typeface="Malgun Gothic"/>
                <a:cs typeface="Malgun Gothic"/>
              </a:rPr>
              <a:t>). 위 층과 전신 제어 사이에 무엇을 둘지가 질문이다. 운동학 목표는 상호작용의 힘 응답을 담지 못하고, 저수준 행동을 바로 내면 위 층이 고주파 되먹임까지 모델링해야 한다. FIBER는 얼린 행동 기반 모델(BFM)의 잠재 공간을 공통 계획 표현으로 쓴다. 상자 들기, 문 열기, 물체 잡기를 따로 배운 정책을, 국소 제어 응답이 같아지는 잠재 명령을 찾아 그 공간으로 투영한다(latent policy projection). 투영한 rollout을 모아 지각하는 flow Planner 하나를 오프라인으로 학습한다. 시뮬의 과제당 변형 128개에서 평균 성공 42.0 %로, 투영한 잠재 재생(11.6 %)과 운동학 계획(3.5 %)보다 높았다. G1 실물에서 기술 잇기도 보였다.</a:t>
            </a:r>
          </a:p>
        </p:txBody>
      </p:sp>
      <p:sp>
        <p:nvSpPr>
          <p:cNvPr id="6" name="TextBox 5"/>
          <p:cNvSpPr txBox="1"/>
          <p:nvPr/>
        </p:nvSpPr>
        <p:spPr>
          <a:xfrm>
            <a:off x="609600" y="2415977"/>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세 투영은 travplan의 Planner→Controller 경계에 각각 대응하는 자리가 있다. 모두 가설이고 시험하지 않았다.</a:t>
            </a:r>
          </a:p>
        </p:txBody>
      </p:sp>
      <p:graphicFrame>
        <p:nvGraphicFramePr>
          <p:cNvPr id="7" name="Table 6"/>
          <p:cNvGraphicFramePr>
            <a:graphicFrameLocks noGrp="1"/>
          </p:cNvGraphicFramePr>
          <p:nvPr/>
        </p:nvGraphicFramePr>
        <p:xfrm>
          <a:off x="609600" y="2721372"/>
          <a:ext cx="10966450" cy="1030128"/>
        </p:xfrm>
        <a:graphic>
          <a:graphicData uri="http://schemas.openxmlformats.org/drawingml/2006/table">
            <a:tbl>
              <a:tblPr firstRow="1" bandRow="1">
                <a:tableStyleId>{5C22544A-7EE6-4342-B048-85BDC9FD1C3A}</a:tableStyleId>
              </a:tblPr>
              <a:tblGrid>
                <a:gridCol w="960140"/>
                <a:gridCol w="464840"/>
                <a:gridCol w="4550866"/>
                <a:gridCol w="4990604"/>
              </a:tblGrid>
              <a:tr h="197088">
                <a:tc>
                  <a:txBody>
                    <a:bodyPr wrap="square"/>
                    <a:lstStyle/>
                    <a:p>
                      <a:r>
                        <a:rPr sz="800" b="1" i="0">
                          <a:solidFill>
                            <a:srgbClr val="F4F1EA"/>
                          </a:solidFill>
                          <a:latin typeface="Arial"/>
                          <a:ea typeface="Malgun Gothic"/>
                          <a:cs typeface="Malgun Gothic"/>
                        </a:rPr>
                        <a:t>투영</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연구</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travplan의 같은 자리</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지금 상태</a:t>
                      </a:r>
                    </a:p>
                  </a:txBody>
                  <a:tcPr marL="63500" marR="63500" marT="12700" marB="12700">
                    <a:solidFill>
                      <a:srgbClr val="16213A"/>
                    </a:solidFill>
                  </a:tcPr>
                </a:tc>
              </a:tr>
              <a:tr h="317976">
                <a:tc>
                  <a:txBody>
                    <a:bodyPr wrap="square"/>
                    <a:lstStyle/>
                    <a:p>
                      <a:r>
                        <a:rPr sz="800" b="0" i="0">
                          <a:solidFill>
                            <a:srgbClr val="16213A"/>
                          </a:solidFill>
                          <a:latin typeface="Arial"/>
                          <a:ea typeface="Malgun Gothic"/>
                          <a:cs typeface="Malgun Gothic"/>
                        </a:rPr>
                        <a:t>동역학 변수로</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PADP</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Planner D의 twist를 스워브 모듈의 조향각·바퀴 속도 한계와 plant 지연 아래에서 해낼 수 있는 명령으로</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Planner D는 변화율을 </a:t>
                      </a:r>
                      <a:r>
                        <a:rPr sz="800" b="0" i="0">
                          <a:solidFill>
                            <a:srgbClr val="16213A"/>
                          </a:solidFill>
                          <a:latin typeface="Consolas"/>
                          <a:ea typeface="Malgun Gothic"/>
                          <a:cs typeface="Malgun Gothic"/>
                        </a:rPr>
                        <a:t>SwerveModel</a:t>
                      </a:r>
                      <a:r>
                        <a:rPr sz="800" b="0" i="0">
                          <a:solidFill>
                            <a:srgbClr val="16213A"/>
                          </a:solidFill>
                          <a:latin typeface="Arial"/>
                          <a:ea typeface="Malgun Gothic"/>
                          <a:cs typeface="Malgun Gothic"/>
                        </a:rPr>
                        <a:t>로 적분해 차체 한계는 지키지만 모듈 조향 한계(56.2°)는 모른다(TP-0162)</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숙련 영역으로</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CMP</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학습 분포 밖의 하위 목표·지도에서 Planner D 조건을 줄이거나 폴백</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하위 목표를 3 m로 자르는 것(</a:t>
                      </a:r>
                      <a:r>
                        <a:rPr sz="800" b="0" i="0">
                          <a:solidFill>
                            <a:srgbClr val="16213A"/>
                          </a:solidFill>
                          <a:latin typeface="Consolas"/>
                          <a:ea typeface="Malgun Gothic"/>
                          <a:cs typeface="Malgun Gothic"/>
                        </a:rPr>
                        <a:t>goal_clip_m</a:t>
                      </a:r>
                      <a:r>
                        <a:rPr sz="800" b="0" i="0">
                          <a:solidFill>
                            <a:srgbClr val="16213A"/>
                          </a:solidFill>
                          <a:latin typeface="Arial"/>
                          <a:ea typeface="Malgun Gothic"/>
                          <a:cs typeface="Malgun Gothic"/>
                        </a:rPr>
                        <a:t>)이 가장 거친 판이다. 학습한 감시는 B.16.7의 9번</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공통 잠재 공간으로</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FIBER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보행자 회피, 경사로, 목표 앞 정지를 따로 배운 Controller를 한 Planner가 고르게 하기</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Controller는 MPPI 하나에 비용 항을 더하는 구조라 아직 필요 없다</a:t>
                      </a:r>
                    </a:p>
                  </a:txBody>
                  <a:tcPr marL="63500" marR="63500" marT="12700" marB="12700">
                    <a:solidFill>
                      <a:srgbClr val="FFFDF8"/>
                    </a:solidFill>
                  </a:tcPr>
                </a:tc>
              </a:tr>
            </a:tbl>
          </a:graphicData>
        </a:graphic>
      </p:graphicFrame>
      <p:sp>
        <p:nvSpPr>
          <p:cNvPr id="8" name="TextBox 7"/>
          <p:cNvSpPr txBox="1"/>
          <p:nvPr/>
        </p:nvSpPr>
        <p:spPr>
          <a:xfrm>
            <a:off x="609600" y="4104283"/>
            <a:ext cx="10972800" cy="1082477"/>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PADP의 자리가 가장 급하다. 남은 정면 보행자 충돌 4건은 차체 twist로는 옆걸음인데 모듈 조향 한계 때문에 실행하지 못해 생긴다(TP-0162). 조향을 아는 MPPI(</a:t>
            </a:r>
            <a:r>
              <a:rPr sz="1050" b="0" i="0">
                <a:solidFill>
                  <a:srgbClr val="16213A"/>
                </a:solidFill>
                <a:latin typeface="Consolas"/>
                <a:ea typeface="Malgun Gothic"/>
                <a:cs typeface="Malgun Gothic"/>
              </a:rPr>
              <a:t>mppi_plant_steer</a:t>
            </a:r>
            <a:r>
              <a:rPr sz="1050" b="0" i="0">
                <a:solidFill>
                  <a:srgbClr val="16213A"/>
                </a:solidFill>
                <a:latin typeface="Arial"/>
                <a:ea typeface="Malgun Gothic"/>
                <a:cs typeface="Malgun Gothic"/>
              </a:rPr>
              <a:t>)는 잡음 안이었다. PADP식으로 옮기면, MPPI가 고른 twist를 모듈 수준의 실행 가능 집합으로 투영하는 작은 QP를 Controller 뒤에 두는 판이다. 안전 필터(CBF-QP, Controller 문서 C)와 같은 자리이므로 두 QP를 하나로 합칠 수 있다. 다만 스워브의 실행 가능 집합은 볼록이 아니다. 조향각은 ±180°에서 이어지고, 바퀴를 거꾸로 돌리면 같은 속도를 다른 조향각으로 낼 수 있다. 그래서 QP 하나가 아니라 현재 조향각 둘레에서 선형화한 QP를 매 주기 다시 풀어야 한다. 또 투영은 바로 다음 명령만 고친다. 옆걸음처럼 몇 걸음 앞을 내다봐야 하는 동작은 투영만으로 생기지 않으므로, 조향 한계를 rollout에 넣는 쪽(</a:t>
            </a:r>
            <a:r>
              <a:rPr sz="1050" b="0" i="0">
                <a:solidFill>
                  <a:srgbClr val="16213A"/>
                </a:solidFill>
                <a:latin typeface="Consolas"/>
                <a:ea typeface="Malgun Gothic"/>
                <a:cs typeface="Malgun Gothic"/>
              </a:rPr>
              <a:t>mppi_plant_steer</a:t>
            </a:r>
            <a:r>
              <a:rPr sz="1050" b="0" i="0">
                <a:solidFill>
                  <a:srgbClr val="16213A"/>
                </a:solidFill>
                <a:latin typeface="Arial"/>
                <a:ea typeface="Malgun Gothic"/>
                <a:cs typeface="Malgun Gothic"/>
              </a:rPr>
              <a:t>)과 함께 비교해야 한다. 실제 조향 한계(TP-0163)가 정해지기 전에는 시험할 수 없다. 판정은 짝 비교이고 치명이 하나라도 늘면 채택하지 않는다.</a:t>
            </a:r>
          </a:p>
        </p:txBody>
      </p:sp>
    </p:spTree>
  </p:cSld>
  <p:clrMapOvr>
    <a:masterClrMapping/>
  </p:clrMapOvr>
</p:sld>
</file>

<file path=ppt/slides/slide482.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F59E5B"/>
                </a:solidFill>
                <a:latin typeface="Consolas"/>
                <a:ea typeface="Malgun Gothic"/>
                <a:cs typeface="Malgun Gothic"/>
              </a:rPr>
              <a:t>Planner · 탭</a:t>
            </a:r>
          </a:p>
        </p:txBody>
      </p:sp>
      <p:sp>
        <p:nvSpPr>
          <p:cNvPr id="3" name="TextBox 2"/>
          <p:cNvSpPr txBox="1"/>
          <p:nvPr/>
        </p:nvSpPr>
        <p:spPr>
          <a:xfrm>
            <a:off x="609600" y="609600"/>
            <a:ext cx="10972800" cy="381000"/>
          </a:xfrm>
          <a:prstGeom prst="rect">
            <a:avLst/>
          </a:prstGeom>
          <a:noFill/>
        </p:spPr>
        <p:txBody>
          <a:bodyPr wrap="square" lIns="0" rIns="0" tIns="0" bIns="0" anchor="t">
            <a:spAutoFit/>
            <a:normAutofit/>
          </a:bodyPr>
          <a:lstStyle/>
          <a:p>
            <a:r>
              <a:rPr sz="2650" b="1" i="0">
                <a:solidFill>
                  <a:srgbClr val="F4F1EA"/>
                </a:solidFill>
                <a:latin typeface="Arial"/>
                <a:ea typeface="Malgun Gothic"/>
                <a:cs typeface="Malgun Gothic"/>
              </a:rPr>
              <a:t>분야별 지형</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9AA6BC"/>
                </a:solidFill>
                <a:latin typeface="Arial"/>
                <a:ea typeface="Malgun Gothic"/>
                <a:cs typeface="Malgun Gothic"/>
              </a:rPr>
              <a:t>travplan 리서치 · Planner (docs/research-planner.md)    482 / 516</a:t>
            </a:r>
          </a:p>
        </p:txBody>
      </p:sp>
      <p:sp>
        <p:nvSpPr>
          <p:cNvPr id="5" name="TextBox 4"/>
          <p:cNvSpPr txBox="1"/>
          <p:nvPr/>
        </p:nvSpPr>
        <p:spPr>
          <a:xfrm>
            <a:off x="609600" y="1244600"/>
            <a:ext cx="5283200" cy="5080000"/>
          </a:xfrm>
          <a:prstGeom prst="rect">
            <a:avLst/>
          </a:prstGeom>
          <a:noFill/>
        </p:spPr>
        <p:txBody>
          <a:bodyPr wrap="square" lIns="0" rIns="0" tIns="0" bIns="0" anchor="t">
            <a:spAutoFit/>
            <a:normAutofit/>
          </a:bodyPr>
          <a:lstStyle/>
          <a:p>
            <a:pPr>
              <a:spcAft>
                <a:spcPts val="400"/>
              </a:spcAft>
            </a:pPr>
            <a:r>
              <a:rPr sz="1000" b="0" i="0">
                <a:solidFill>
                  <a:srgbClr val="C9D1E0"/>
                </a:solidFill>
                <a:latin typeface="Arial"/>
                <a:ea typeface="Malgun Gothic"/>
                <a:cs typeface="Malgun Gothic"/>
              </a:rPr>
              <a:t>B.18 로봇 분야별 계획·제어: 레이싱카, 모바일 로봇, 도로 자율주행, 사족보행, 휴머노이드</a:t>
            </a:r>
          </a:p>
        </p:txBody>
      </p:sp>
      <p:sp>
        <p:nvSpPr>
          <p:cNvPr id="6" name="TextBox 5"/>
          <p:cNvSpPr txBox="1"/>
          <p:nvPr/>
        </p:nvSpPr>
        <p:spPr>
          <a:xfrm>
            <a:off x="6299200" y="1244600"/>
            <a:ext cx="5283200" cy="5080000"/>
          </a:xfrm>
          <a:prstGeom prst="rect">
            <a:avLst/>
          </a:prstGeom>
          <a:noFill/>
        </p:spPr>
        <p:txBody>
          <a:bodyPr wrap="square" lIns="0" rIns="0" tIns="0" bIns="0" anchor="t">
            <a:spAutoFit/>
            <a:normAutofit/>
          </a:bodyPr>
          <a:lstStyle/>
          <a:p/>
        </p:txBody>
      </p:sp>
    </p:spTree>
  </p:cSld>
  <p:clrMapOvr>
    <a:masterClrMapping/>
  </p:clrMapOvr>
</p:sld>
</file>

<file path=ppt/slides/slide48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분야별 지형</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B.18 로봇 분야별 계획·제어: 레이싱카, 모바일 로봇, 도로 자율주행, 사족보행, 휴머노이드</a:t>
            </a:r>
            <a:r>
              <a:rPr sz="1050" b="0" i="0">
                <a:solidFill>
                  <a:srgbClr val="5A6478"/>
                </a:solidFill>
                <a:latin typeface="Arial"/>
                <a:ea typeface="Malgun Gothic"/>
                <a:cs typeface="Malgun Gothic"/>
              </a:rPr>
              <a:t>  1/9</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483 / 516</a:t>
            </a:r>
          </a:p>
        </p:txBody>
      </p:sp>
      <p:sp>
        <p:nvSpPr>
          <p:cNvPr id="5" name="TextBox 4"/>
          <p:cNvSpPr txBox="1"/>
          <p:nvPr/>
        </p:nvSpPr>
        <p:spPr>
          <a:xfrm>
            <a:off x="609600" y="1244600"/>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다섯 분야에 같은 질문(무엇을 쓰고, 무엇이 대세이고, 어디로 가는가)을 던지면 답이 크게 갈린다.</a:t>
            </a:r>
            <a:r>
              <a:rPr sz="1050" b="0" i="0">
                <a:solidFill>
                  <a:srgbClr val="16213A"/>
                </a:solidFill>
                <a:latin typeface="Arial"/>
                <a:ea typeface="Malgun Gothic"/>
                <a:cs typeface="Malgun Gothic"/>
              </a:rPr>
              <a:t> 레이싱카만 아직 최적화와 MPC가 스택의 중심이다. 사족보행과 휴머노이드는 저수준 제어가 강화학습으로 넘어갔다. 모바일 로봇은 그래프 탐색과 샘플링 MPC, 도로 자율주행은 대형 학습 모델과 검증층이 중심이다. 궤적 최적화는 사라지지 않았고 자리가 바뀌었다. 스택 전체를 맡던 주 플래너에서 참조와 교사를 만드는 생성기, 안전을 확인하는 검증층, 추종 제어기로 옮겨 갔다. </a:t>
            </a:r>
            <a:r>
              <a:rPr sz="1050" b="1" i="0">
                <a:solidFill>
                  <a:srgbClr val="C2410C"/>
                </a:solidFill>
                <a:latin typeface="Arial"/>
                <a:ea typeface="Malgun Gothic"/>
                <a:cs typeface="Malgun Gothic"/>
              </a:rPr>
              <a:t>travplan의 스택은 학습 Planner를 위에, 샘플링 MPC(MPPI)와 NMPC를 아래에 두어 다리 로봇의 학습 상위층과 모바일 로봇의 대세를 겹친 모양이다.</a:t>
            </a:r>
          </a:p>
        </p:txBody>
      </p:sp>
      <p:sp>
        <p:nvSpPr>
          <p:cNvPr id="6" name="TextBox 5"/>
          <p:cNvSpPr txBox="1"/>
          <p:nvPr/>
        </p:nvSpPr>
        <p:spPr>
          <a:xfrm>
            <a:off x="609600" y="2199481"/>
            <a:ext cx="10972800" cy="1082477"/>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이 절은 Elastic-Tracker 계보 문서(ZJU FAST Lab의 MINCO 계열 다섯 저장소를 정리한 문서)의 15절 </a:t>
            </a:r>
            <a:r>
              <a:rPr sz="1050" b="0" i="0">
                <a:solidFill>
                  <a:srgbClr val="1D4ED8"/>
                </a:solidFill>
                <a:latin typeface="Arial"/>
                <a:ea typeface="Malgun Gothic"/>
                <a:cs typeface="Malgun Gothic"/>
                <a:hlinkClick r:id="rId3"/>
              </a:rPr>
              <a:t>다른 로봇 분야</a:t>
            </a:r>
            <a:r>
              <a:rPr sz="1050" b="0" i="0">
                <a:solidFill>
                  <a:srgbClr val="16213A"/>
                </a:solidFill>
                <a:latin typeface="Arial"/>
                <a:ea typeface="Malgun Gothic"/>
                <a:cs typeface="Malgun Gothic"/>
              </a:rPr>
              <a:t>를 travplan의 관점으로 옮긴 것이다. 원 문서는 드론의 궤적 최적화(MINCO)가 다른 분야에서 어디에 남는지를 물었다. 여기서는 그 결론을 travplan의 Planner와 Controller 경계에 대 본다(B.18.6). 조사 시점은 2026-09-11이고, 문헌과 공개 자료를 조사했을 뿐 코드는 실행하지 않았다. 분야마다 인용 12건 이상을 다시 열어 반증을 시도했고, 정정·확인 불가·과장 판정 86건을 반영했다고 원 문서 16절은 적는다. 분야별 깊은 읽기는 제자리에 있다. 도로 자율주행은 B.12.1·B.11·B.13, 모바일 로봇의 고전 기준선은 B.10·B.12.4, 사족보행과 휴머노이드는 B.14·B.16에 있다. 이 절의 대괄호 인용 키(예: R1, N1)는 원 문서의 번호를 그대로 쓰고, 절 끝 토글의 근거 목록을 가리킨다.</a:t>
            </a:r>
          </a:p>
        </p:txBody>
      </p:sp>
      <p:sp>
        <p:nvSpPr>
          <p:cNvPr id="7" name="TextBox 6"/>
          <p:cNvSpPr txBox="1"/>
          <p:nvPr/>
        </p:nvSpPr>
        <p:spPr>
          <a:xfrm>
            <a:off x="717550" y="3370858"/>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B.18.1 한눈에: 분야 × 방식</a:t>
            </a:r>
          </a:p>
        </p:txBody>
      </p:sp>
      <p:sp>
        <p:nvSpPr>
          <p:cNvPr id="8" name="TextBox 7"/>
          <p:cNvSpPr txBox="1"/>
          <p:nvPr/>
        </p:nvSpPr>
        <p:spPr>
          <a:xfrm>
            <a:off x="609600" y="3674070"/>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상태 낱말은 여섯이다. </a:t>
            </a:r>
            <a:r>
              <a:rPr sz="1050" b="1" i="0">
                <a:solidFill>
                  <a:srgbClr val="16213A"/>
                </a:solidFill>
                <a:latin typeface="Arial"/>
                <a:ea typeface="Malgun Gothic"/>
                <a:cs typeface="Malgun Gothic"/>
              </a:rPr>
              <a:t>대세</a:t>
            </a:r>
            <a:r>
              <a:rPr sz="1050" b="0" i="0">
                <a:solidFill>
                  <a:srgbClr val="16213A"/>
                </a:solidFill>
                <a:latin typeface="Arial"/>
                <a:ea typeface="Malgun Gothic"/>
                <a:cs typeface="Malgun Gothic"/>
              </a:rPr>
              <a:t>는 배치·우승·기본값에서 주류로 확인된 것, </a:t>
            </a:r>
            <a:r>
              <a:rPr sz="1050" b="1" i="0">
                <a:solidFill>
                  <a:srgbClr val="16213A"/>
                </a:solidFill>
                <a:latin typeface="Arial"/>
                <a:ea typeface="Malgun Gothic"/>
                <a:cs typeface="Malgun Gothic"/>
              </a:rPr>
              <a:t>정착</a:t>
            </a:r>
            <a:r>
              <a:rPr sz="1050" b="0" i="0">
                <a:solidFill>
                  <a:srgbClr val="16213A"/>
                </a:solidFill>
                <a:latin typeface="Arial"/>
                <a:ea typeface="Malgun Gothic"/>
                <a:cs typeface="Malgun Gothic"/>
              </a:rPr>
              <a:t>은 널리 쓰이지만 중심은 아닌 것, </a:t>
            </a:r>
            <a:r>
              <a:rPr sz="1050" b="1" i="0">
                <a:solidFill>
                  <a:srgbClr val="16213A"/>
                </a:solidFill>
                <a:latin typeface="Arial"/>
                <a:ea typeface="Malgun Gothic"/>
                <a:cs typeface="Malgun Gothic"/>
              </a:rPr>
              <a:t>부상</a:t>
            </a:r>
            <a:r>
              <a:rPr sz="1050" b="0" i="0">
                <a:solidFill>
                  <a:srgbClr val="16213A"/>
                </a:solidFill>
                <a:latin typeface="Arial"/>
                <a:ea typeface="Malgun Gothic"/>
                <a:cs typeface="Malgun Gothic"/>
              </a:rPr>
              <a:t>은 증거가 빠르게 늘지만 배치는 제한적인 것이다. </a:t>
            </a:r>
            <a:r>
              <a:rPr sz="1050" b="1" i="0">
                <a:solidFill>
                  <a:srgbClr val="16213A"/>
                </a:solidFill>
                <a:latin typeface="Arial"/>
                <a:ea typeface="Malgun Gothic"/>
                <a:cs typeface="Malgun Gothic"/>
              </a:rPr>
              <a:t>축소</a:t>
            </a:r>
            <a:r>
              <a:rPr sz="1050" b="0" i="0">
                <a:solidFill>
                  <a:srgbClr val="16213A"/>
                </a:solidFill>
                <a:latin typeface="Arial"/>
                <a:ea typeface="Malgun Gothic"/>
                <a:cs typeface="Malgun Gothic"/>
              </a:rPr>
              <a:t>는 자리를 내주는 중인 것, </a:t>
            </a:r>
            <a:r>
              <a:rPr sz="1050" b="1" i="0">
                <a:solidFill>
                  <a:srgbClr val="16213A"/>
                </a:solidFill>
                <a:latin typeface="Arial"/>
                <a:ea typeface="Malgun Gothic"/>
                <a:cs typeface="Malgun Gothic"/>
              </a:rPr>
              <a:t>소수</a:t>
            </a:r>
            <a:r>
              <a:rPr sz="1050" b="0" i="0">
                <a:solidFill>
                  <a:srgbClr val="16213A"/>
                </a:solidFill>
                <a:latin typeface="Arial"/>
                <a:ea typeface="Malgun Gothic"/>
                <a:cs typeface="Malgun Gothic"/>
              </a:rPr>
              <a:t>는 일부 연구나 사례뿐인 것, </a:t>
            </a:r>
            <a:r>
              <a:rPr sz="1050" b="1" i="0">
                <a:solidFill>
                  <a:srgbClr val="16213A"/>
                </a:solidFill>
                <a:latin typeface="Arial"/>
                <a:ea typeface="Malgun Gothic"/>
                <a:cs typeface="Malgun Gothic"/>
              </a:rPr>
              <a:t>없음</a:t>
            </a:r>
            <a:r>
              <a:rPr sz="1050" b="0" i="0">
                <a:solidFill>
                  <a:srgbClr val="16213A"/>
                </a:solidFill>
                <a:latin typeface="Arial"/>
                <a:ea typeface="Malgun Gothic"/>
                <a:cs typeface="Malgun Gothic"/>
              </a:rPr>
              <a:t>은 이번 조사에서 증거를 찾지 못한 것이다. 상태는 학계와 산업의 증거를 합친 판단이라, 같은 칸 안에서도 학계는 활발한데 배치가 없는 경우가 많다.</a:t>
            </a:r>
          </a:p>
        </p:txBody>
      </p:sp>
      <p:graphicFrame>
        <p:nvGraphicFramePr>
          <p:cNvPr id="9" name="Table 8"/>
          <p:cNvGraphicFramePr>
            <a:graphicFrameLocks noGrp="1"/>
          </p:cNvGraphicFramePr>
          <p:nvPr/>
        </p:nvGraphicFramePr>
        <p:xfrm>
          <a:off x="609600" y="4195961"/>
          <a:ext cx="10966449" cy="1468992"/>
        </p:xfrm>
        <a:graphic>
          <a:graphicData uri="http://schemas.openxmlformats.org/drawingml/2006/table">
            <a:tbl>
              <a:tblPr firstRow="1" bandRow="1">
                <a:tableStyleId>{5C22544A-7EE6-4342-B048-85BDC9FD1C3A}</a:tableStyleId>
              </a:tblPr>
              <a:tblGrid>
                <a:gridCol w="1911350"/>
                <a:gridCol w="1396305"/>
                <a:gridCol w="1665585"/>
                <a:gridCol w="1536700"/>
                <a:gridCol w="1330325"/>
                <a:gridCol w="1610320"/>
                <a:gridCol w="1515864"/>
              </a:tblGrid>
              <a:tr h="197088">
                <a:tc>
                  <a:txBody>
                    <a:bodyPr wrap="square"/>
                    <a:lstStyle/>
                    <a:p>
                      <a:r>
                        <a:rPr sz="800" b="1" i="0">
                          <a:solidFill>
                            <a:srgbClr val="F4F1EA"/>
                          </a:solidFill>
                          <a:latin typeface="Arial"/>
                          <a:ea typeface="Malgun Gothic"/>
                          <a:cs typeface="Malgun Gothic"/>
                        </a:rPr>
                        <a:t>방식 계열</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드론(참고)</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레이싱카</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모바일 로봇</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도로 자율주행</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사족보행</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휴머노이드</a:t>
                      </a:r>
                    </a:p>
                  </a:txBody>
                  <a:tcPr marL="63500" marR="63500" marT="12700" marB="12700">
                    <a:solidFill>
                      <a:srgbClr val="16213A"/>
                    </a:solidFill>
                  </a:tcPr>
                </a:tc>
              </a:tr>
              <a:tr h="317976">
                <a:tc>
                  <a:txBody>
                    <a:bodyPr wrap="square"/>
                    <a:lstStyle/>
                    <a:p>
                      <a:r>
                        <a:rPr sz="800" b="0" i="0">
                          <a:solidFill>
                            <a:srgbClr val="16213A"/>
                          </a:solidFill>
                          <a:latin typeface="Arial"/>
                          <a:ea typeface="Malgun Gothic"/>
                          <a:cs typeface="Malgun Gothic"/>
                        </a:rPr>
                        <a:t>모델 기반 제어(MPC·WBC·LQR·추종)</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대세</a:t>
                      </a:r>
                      <a:r>
                        <a:rPr sz="800" b="0" i="0">
                          <a:solidFill>
                            <a:srgbClr val="16213A"/>
                          </a:solidFill>
                          <a:latin typeface="Arial"/>
                          <a:ea typeface="Malgun Gothic"/>
                          <a:cs typeface="Malgun Gothic"/>
                        </a:rPr>
                        <a:t> 기하 제어·MPC 추종</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대세</a:t>
                      </a:r>
                      <a:r>
                        <a:rPr sz="800" b="0" i="0">
                          <a:solidFill>
                            <a:srgbClr val="16213A"/>
                          </a:solidFill>
                          <a:latin typeface="Arial"/>
                          <a:ea typeface="Malgun Gothic"/>
                          <a:cs typeface="Malgun Gothic"/>
                        </a:rPr>
                        <a:t> Tube·LPV-MPC·LQR·PP</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대세</a:t>
                      </a:r>
                      <a:r>
                        <a:rPr sz="800" b="0" i="0">
                          <a:solidFill>
                            <a:srgbClr val="16213A"/>
                          </a:solidFill>
                          <a:latin typeface="Arial"/>
                          <a:ea typeface="Malgun Gothic"/>
                          <a:cs typeface="Malgun Gothic"/>
                        </a:rPr>
                        <a:t> RPP·DWB·Graceful 추종</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대세</a:t>
                      </a:r>
                      <a:r>
                        <a:rPr sz="800" b="0" i="0">
                          <a:solidFill>
                            <a:srgbClr val="16213A"/>
                          </a:solidFill>
                          <a:latin typeface="Arial"/>
                          <a:ea typeface="Malgun Gothic"/>
                          <a:cs typeface="Malgun Gothic"/>
                        </a:rPr>
                        <a:t> MPC·PP 추종 + 검증층</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축소</a:t>
                      </a:r>
                      <a:r>
                        <a:rPr sz="800" b="0" i="0">
                          <a:solidFill>
                            <a:srgbClr val="16213A"/>
                          </a:solidFill>
                          <a:latin typeface="Arial"/>
                          <a:ea typeface="Malgun Gothic"/>
                          <a:cs typeface="Malgun Gothic"/>
                        </a:rPr>
                        <a:t> RL로 대체 중, Spot은 MPC + RL</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정착</a:t>
                      </a:r>
                      <a:r>
                        <a:rPr sz="800" b="0" i="0">
                          <a:solidFill>
                            <a:srgbClr val="16213A"/>
                          </a:solidFill>
                          <a:latin typeface="Arial"/>
                          <a:ea typeface="Malgun Gothic"/>
                          <a:cs typeface="Malgun Gothic"/>
                        </a:rPr>
                        <a:t> BD Atlas는 MPC 위 LBM</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궤적 최적화(TO·NMPC·다항식·MINCO)</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대세</a:t>
                      </a:r>
                      <a:r>
                        <a:rPr sz="800" b="0" i="0">
                          <a:solidFill>
                            <a:srgbClr val="16213A"/>
                          </a:solidFill>
                          <a:latin typeface="Arial"/>
                          <a:ea typeface="Malgun Gothic"/>
                          <a:cs typeface="Malgun Gothic"/>
                        </a:rPr>
                        <a:t> MINCO + L-BFGS 20 Hz</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대세</a:t>
                      </a:r>
                      <a:r>
                        <a:rPr sz="800" b="0" i="0">
                          <a:solidFill>
                            <a:srgbClr val="16213A"/>
                          </a:solidFill>
                          <a:latin typeface="Arial"/>
                          <a:ea typeface="Malgun Gothic"/>
                          <a:cs typeface="Malgun Gothic"/>
                        </a:rPr>
                        <a:t> 오프라인 최소시간·최소곡률 레이스라인</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정착</a:t>
                      </a:r>
                      <a:r>
                        <a:rPr sz="800" b="0" i="0">
                          <a:solidFill>
                            <a:srgbClr val="16213A"/>
                          </a:solidFill>
                          <a:latin typeface="Arial"/>
                          <a:ea typeface="Malgun Gothic"/>
                          <a:cs typeface="Malgun Gothic"/>
                        </a:rPr>
                        <a:t> TEB 레거시, DDR-opt는 학계</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정착</a:t>
                      </a:r>
                      <a:r>
                        <a:rPr sz="800" b="0" i="0">
                          <a:solidFill>
                            <a:srgbClr val="16213A"/>
                          </a:solidFill>
                          <a:latin typeface="Arial"/>
                          <a:ea typeface="Malgun Gothic"/>
                          <a:cs typeface="Malgun Gothic"/>
                        </a:rPr>
                        <a:t> 주 플래너에서 후처리·검증으로</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정착</a:t>
                      </a:r>
                      <a:r>
                        <a:rPr sz="800" b="0" i="0">
                          <a:solidFill>
                            <a:srgbClr val="16213A"/>
                          </a:solidFill>
                          <a:latin typeface="Arial"/>
                          <a:ea typeface="Malgun Gothic"/>
                          <a:cs typeface="Malgun Gothic"/>
                        </a:rPr>
                        <a:t> 발 디딤·참조, RL 교사 데이터</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정착</a:t>
                      </a:r>
                      <a:r>
                        <a:rPr sz="800" b="0" i="0">
                          <a:solidFill>
                            <a:srgbClr val="16213A"/>
                          </a:solidFill>
                          <a:latin typeface="Arial"/>
                          <a:ea typeface="Malgun Gothic"/>
                          <a:cs typeface="Malgun Gothic"/>
                        </a:rPr>
                        <a:t> 보상·참조·데이터 생성</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탐색·샘플링 계획(그래프·Frenet·lattice·MAPF)</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정착</a:t>
                      </a:r>
                      <a:r>
                        <a:rPr sz="800" b="0" i="0">
                          <a:solidFill>
                            <a:srgbClr val="16213A"/>
                          </a:solidFill>
                          <a:latin typeface="Arial"/>
                          <a:ea typeface="Malgun Gothic"/>
                          <a:cs typeface="Malgun Gothic"/>
                        </a:rPr>
                        <a:t> A* 전단 + 최적화 후단</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대세</a:t>
                      </a:r>
                      <a:r>
                        <a:rPr sz="800" b="0" i="0">
                          <a:solidFill>
                            <a:srgbClr val="16213A"/>
                          </a:solidFill>
                          <a:latin typeface="Arial"/>
                          <a:ea typeface="Malgun Gothic"/>
                          <a:cs typeface="Malgun Gothic"/>
                        </a:rPr>
                        <a:t> Frenet·그래프 샘플링 로컬 플래너</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대세</a:t>
                      </a:r>
                      <a:r>
                        <a:rPr sz="800" b="0" i="0">
                          <a:solidFill>
                            <a:srgbClr val="16213A"/>
                          </a:solidFill>
                          <a:latin typeface="Arial"/>
                          <a:ea typeface="Malgun Gothic"/>
                          <a:cs typeface="Malgun Gothic"/>
                        </a:rPr>
                        <a:t> NavFn·Smac 전역, 창고 MAPF</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정착</a:t>
                      </a:r>
                      <a:r>
                        <a:rPr sz="800" b="0" i="0">
                          <a:solidFill>
                            <a:srgbClr val="16213A"/>
                          </a:solidFill>
                          <a:latin typeface="Arial"/>
                          <a:ea typeface="Malgun Gothic"/>
                          <a:cs typeface="Malgun Gothic"/>
                        </a:rPr>
                        <a:t> lattice, 규칙 기반 후보</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정착</a:t>
                      </a:r>
                      <a:r>
                        <a:rPr sz="800" b="0" i="0">
                          <a:solidFill>
                            <a:srgbClr val="16213A"/>
                          </a:solidFill>
                          <a:latin typeface="Arial"/>
                          <a:ea typeface="Malgun Gothic"/>
                          <a:cs typeface="Malgun Gothic"/>
                        </a:rPr>
                        <a:t> 전역 내비, 샘플링 발 디딤</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축소</a:t>
                      </a:r>
                      <a:r>
                        <a:rPr sz="800" b="0" i="0">
                          <a:solidFill>
                            <a:srgbClr val="16213A"/>
                          </a:solidFill>
                          <a:latin typeface="Arial"/>
                          <a:ea typeface="Malgun Gothic"/>
                          <a:cs typeface="Malgun Gothic"/>
                        </a:rPr>
                        <a:t> 고전 발자국 계획</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샘플링 MPC(MPPI·DIAL-MPC)</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소수</a:t>
                      </a:r>
                      <a:r>
                        <a:rPr sz="800" b="0" i="0">
                          <a:solidFill>
                            <a:srgbClr val="16213A"/>
                          </a:solidFill>
                          <a:latin typeface="Arial"/>
                          <a:ea typeface="Malgun Gothic"/>
                          <a:cs typeface="Malgun Gothic"/>
                        </a:rPr>
                        <a:t> 배치 증거 없음</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부상</a:t>
                      </a:r>
                      <a:r>
                        <a:rPr sz="800" b="0" i="0">
                          <a:solidFill>
                            <a:srgbClr val="16213A"/>
                          </a:solidFill>
                          <a:latin typeface="Arial"/>
                          <a:ea typeface="Malgun Gothic"/>
                          <a:cs typeface="Malgun Gothic"/>
                        </a:rPr>
                        <a:t> IU 팀의 MPPI 전환</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정착</a:t>
                      </a:r>
                      <a:r>
                        <a:rPr sz="800" b="0" i="0">
                          <a:solidFill>
                            <a:srgbClr val="16213A"/>
                          </a:solidFill>
                          <a:latin typeface="Arial"/>
                          <a:ea typeface="Malgun Gothic"/>
                          <a:cs typeface="Malgun Gothic"/>
                        </a:rPr>
                        <a:t> Nav2 기본값, 양산은 비공개</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없음</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소수</a:t>
                      </a:r>
                      <a:r>
                        <a:rPr sz="800" b="0" i="0">
                          <a:solidFill>
                            <a:srgbClr val="16213A"/>
                          </a:solidFill>
                          <a:latin typeface="Arial"/>
                          <a:ea typeface="Malgun Gothic"/>
                          <a:cs typeface="Malgun Gothic"/>
                        </a:rPr>
                        <a:t> DIAL-MPC 등 신흥</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부상</a:t>
                      </a:r>
                      <a:r>
                        <a:rPr sz="800" b="0" i="0">
                          <a:solidFill>
                            <a:srgbClr val="16213A"/>
                          </a:solidFill>
                          <a:latin typeface="Arial"/>
                          <a:ea typeface="Malgun Gothic"/>
                          <a:cs typeface="Malgun Gothic"/>
                        </a:rPr>
                        <a:t> 학계 한정</a:t>
                      </a:r>
                    </a:p>
                  </a:txBody>
                  <a:tcPr marL="63500" marR="63500" marT="12700" marB="12700">
                    <a:solidFill>
                      <a:srgbClr val="F3F0E8"/>
                    </a:solidFill>
                  </a:tcPr>
                </a:tc>
              </a:tr>
            </a:tbl>
          </a:graphicData>
        </a:graphic>
      </p:graphicFrame>
    </p:spTree>
  </p:cSld>
  <p:clrMapOvr>
    <a:masterClrMapping/>
  </p:clrMapOvr>
</p:sld>
</file>

<file path=ppt/slides/slide48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분야별 지형</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B.18 로봇 분야별 계획·제어: 레이싱카, 모바일 로봇, 도로 자율주행, 사족보행, 휴머노이드</a:t>
            </a:r>
            <a:r>
              <a:rPr sz="1050" b="0" i="0">
                <a:solidFill>
                  <a:srgbClr val="5A6478"/>
                </a:solidFill>
                <a:latin typeface="Arial"/>
                <a:ea typeface="Malgun Gothic"/>
                <a:cs typeface="Malgun Gothic"/>
              </a:rPr>
              <a:t>  2/9</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484 / 516</a:t>
            </a:r>
          </a:p>
        </p:txBody>
      </p:sp>
      <p:graphicFrame>
        <p:nvGraphicFramePr>
          <p:cNvPr id="5" name="Table 4"/>
          <p:cNvGraphicFramePr>
            <a:graphicFrameLocks noGrp="1"/>
          </p:cNvGraphicFramePr>
          <p:nvPr/>
        </p:nvGraphicFramePr>
        <p:xfrm>
          <a:off x="609600" y="1244600"/>
          <a:ext cx="10966449" cy="1786968"/>
        </p:xfrm>
        <a:graphic>
          <a:graphicData uri="http://schemas.openxmlformats.org/drawingml/2006/table">
            <a:tbl>
              <a:tblPr firstRow="1" bandRow="1">
                <a:tableStyleId>{5C22544A-7EE6-4342-B048-85BDC9FD1C3A}</a:tableStyleId>
              </a:tblPr>
              <a:tblGrid>
                <a:gridCol w="1911350"/>
                <a:gridCol w="1396305"/>
                <a:gridCol w="1665585"/>
                <a:gridCol w="1536700"/>
                <a:gridCol w="1330325"/>
                <a:gridCol w="1610320"/>
                <a:gridCol w="1515864"/>
              </a:tblGrid>
              <a:tr h="197088">
                <a:tc>
                  <a:txBody>
                    <a:bodyPr wrap="square"/>
                    <a:lstStyle/>
                    <a:p>
                      <a:r>
                        <a:rPr sz="800" b="1" i="0">
                          <a:solidFill>
                            <a:srgbClr val="F4F1EA"/>
                          </a:solidFill>
                          <a:latin typeface="Arial"/>
                          <a:ea typeface="Malgun Gothic"/>
                          <a:cs typeface="Malgun Gothic"/>
                        </a:rPr>
                        <a:t>방식 계열</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드론(참고)</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레이싱카</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모바일 로봇</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도로 자율주행</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사족보행</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휴머노이드</a:t>
                      </a:r>
                    </a:p>
                  </a:txBody>
                  <a:tcPr marL="63500" marR="63500" marT="12700" marB="12700">
                    <a:solidFill>
                      <a:srgbClr val="16213A"/>
                    </a:solidFill>
                  </a:tcPr>
                </a:tc>
              </a:tr>
              <a:tr h="317976">
                <a:tc>
                  <a:txBody>
                    <a:bodyPr wrap="square"/>
                    <a:lstStyle/>
                    <a:p>
                      <a:r>
                        <a:rPr sz="800" b="0" i="0">
                          <a:solidFill>
                            <a:srgbClr val="16213A"/>
                          </a:solidFill>
                          <a:latin typeface="Arial"/>
                          <a:ea typeface="Malgun Gothic"/>
                          <a:cs typeface="Malgun Gothic"/>
                        </a:rPr>
                        <a:t>강화학습 sim-to-real(저수준 제어)</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부상</a:t>
                      </a:r>
                      <a:r>
                        <a:rPr sz="800" b="0" i="0">
                          <a:solidFill>
                            <a:srgbClr val="16213A"/>
                          </a:solidFill>
                          <a:latin typeface="Arial"/>
                          <a:ea typeface="Malgun Gothic"/>
                          <a:cs typeface="Malgun Gothic"/>
                        </a:rPr>
                        <a:t> 드론 레이싱 RL 우승</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부상</a:t>
                      </a:r>
                      <a:r>
                        <a:rPr sz="800" b="0" i="0">
                          <a:solidFill>
                            <a:srgbClr val="16213A"/>
                          </a:solidFill>
                          <a:latin typeface="Arial"/>
                          <a:ea typeface="Malgun Gothic"/>
                          <a:cs typeface="Malgun Gothic"/>
                        </a:rPr>
                        <a:t> 잔차 RL, 풀스케일 우승 없음</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부상</a:t>
                      </a:r>
                      <a:r>
                        <a:rPr sz="800" b="0" i="0">
                          <a:solidFill>
                            <a:srgbClr val="16213A"/>
                          </a:solidFill>
                          <a:latin typeface="Arial"/>
                          <a:ea typeface="Malgun Gothic"/>
                          <a:cs typeface="Malgun Gothic"/>
                        </a:rPr>
                        <a:t> 소셜·오프로드 연구</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부상</a:t>
                      </a:r>
                      <a:r>
                        <a:rPr sz="800" b="0" i="0">
                          <a:solidFill>
                            <a:srgbClr val="16213A"/>
                          </a:solidFill>
                          <a:latin typeface="Arial"/>
                          <a:ea typeface="Malgun Gothic"/>
                          <a:cs typeface="Malgun Gothic"/>
                        </a:rPr>
                        <a:t> 대규모 closed-loop RL</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대세</a:t>
                      </a:r>
                      <a:r>
                        <a:rPr sz="800" b="0" i="0">
                          <a:solidFill>
                            <a:srgbClr val="16213A"/>
                          </a:solidFill>
                          <a:latin typeface="Arial"/>
                          <a:ea typeface="Malgun Gothic"/>
                          <a:cs typeface="Malgun Gothic"/>
                        </a:rPr>
                        <a:t> ANYbotics·BD·Unitree 배치</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대세</a:t>
                      </a:r>
                      <a:r>
                        <a:rPr sz="800" b="0" i="0">
                          <a:solidFill>
                            <a:srgbClr val="16213A"/>
                          </a:solidFill>
                          <a:latin typeface="Arial"/>
                          <a:ea typeface="Malgun Gothic"/>
                          <a:cs typeface="Malgun Gothic"/>
                        </a:rPr>
                        <a:t> Figure·Agility·Unitree·BD</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모방학습·모션 트래킹</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소수</a:t>
                      </a:r>
                      <a:r>
                        <a:rPr sz="800" b="0" i="0">
                          <a:solidFill>
                            <a:srgbClr val="16213A"/>
                          </a:solidFill>
                          <a:latin typeface="Arial"/>
                          <a:ea typeface="Malgun Gothic"/>
                          <a:cs typeface="Malgun Gothic"/>
                        </a:rPr>
                        <a:t> 전문가 플래너 증류</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소수</a:t>
                      </a:r>
                      <a:r>
                        <a:rPr sz="800" b="0" i="0">
                          <a:solidFill>
                            <a:srgbClr val="16213A"/>
                          </a:solidFill>
                          <a:latin typeface="Arial"/>
                          <a:ea typeface="Malgun Gothic"/>
                          <a:cs typeface="Malgun Gothic"/>
                        </a:rPr>
                        <a:t> 보조적 사용</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부상</a:t>
                      </a:r>
                      <a:r>
                        <a:rPr sz="800" b="0" i="0">
                          <a:solidFill>
                            <a:srgbClr val="16213A"/>
                          </a:solidFill>
                          <a:latin typeface="Arial"/>
                          <a:ea typeface="Malgun Gothic"/>
                          <a:cs typeface="Malgun Gothic"/>
                        </a:rPr>
                        <a:t> BARN 2024 행동복제 우승</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대세</a:t>
                      </a:r>
                      <a:r>
                        <a:rPr sz="800" b="0" i="0">
                          <a:solidFill>
                            <a:srgbClr val="16213A"/>
                          </a:solidFill>
                          <a:latin typeface="Arial"/>
                          <a:ea typeface="Malgun Gothic"/>
                          <a:cs typeface="Malgun Gothic"/>
                        </a:rPr>
                        <a:t> 종단간 학습의 기본</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소수</a:t>
                      </a:r>
                      <a:r>
                        <a:rPr sz="800" b="0" i="0">
                          <a:solidFill>
                            <a:srgbClr val="16213A"/>
                          </a:solidFill>
                          <a:latin typeface="Arial"/>
                          <a:ea typeface="Malgun Gothic"/>
                          <a:cs typeface="Malgun Gothic"/>
                        </a:rPr>
                        <a:t> 확산 정책 등</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대세</a:t>
                      </a:r>
                      <a:r>
                        <a:rPr sz="800" b="0" i="0">
                          <a:solidFill>
                            <a:srgbClr val="16213A"/>
                          </a:solidFill>
                          <a:latin typeface="Arial"/>
                          <a:ea typeface="Malgun Gothic"/>
                          <a:cs typeface="Malgun Gothic"/>
                        </a:rPr>
                        <a:t> 모캡 기반 전신 제어</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종단간·학습형 플래너(계획 계층을 대체)</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부상</a:t>
                      </a:r>
                      <a:r>
                        <a:rPr sz="800" b="0" i="0">
                          <a:solidFill>
                            <a:srgbClr val="16213A"/>
                          </a:solidFill>
                          <a:latin typeface="Arial"/>
                          <a:ea typeface="Malgun Gothic"/>
                          <a:cs typeface="Malgun Gothic"/>
                        </a:rPr>
                        <a:t> YOPO·DiffPhysDrone</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소수</a:t>
                      </a:r>
                      <a:r>
                        <a:rPr sz="800" b="0" i="0">
                          <a:solidFill>
                            <a:srgbClr val="16213A"/>
                          </a:solidFill>
                          <a:latin typeface="Arial"/>
                          <a:ea typeface="Malgun Gothic"/>
                          <a:cs typeface="Malgun Gothic"/>
                        </a:rPr>
                        <a:t> GT Sophy는 심 레이싱</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부상</a:t>
                      </a:r>
                      <a:r>
                        <a:rPr sz="800" b="0" i="0">
                          <a:solidFill>
                            <a:srgbClr val="16213A"/>
                          </a:solidFill>
                          <a:latin typeface="Arial"/>
                          <a:ea typeface="Malgun Gothic"/>
                          <a:cs typeface="Malgun Gothic"/>
                        </a:rPr>
                        <a:t> NoMaD·NavDP, 연구 단계</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대세</a:t>
                      </a:r>
                      <a:r>
                        <a:rPr sz="800" b="0" i="0">
                          <a:solidFill>
                            <a:srgbClr val="16213A"/>
                          </a:solidFill>
                          <a:latin typeface="Arial"/>
                          <a:ea typeface="Malgun Gothic"/>
                          <a:cs typeface="Malgun Gothic"/>
                        </a:rPr>
                        <a:t> 양산 ADAS 종단간·스코어링</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부상</a:t>
                      </a:r>
                      <a:r>
                        <a:rPr sz="800" b="0" i="0">
                          <a:solidFill>
                            <a:srgbClr val="16213A"/>
                          </a:solidFill>
                          <a:latin typeface="Arial"/>
                          <a:ea typeface="Malgun Gothic"/>
                          <a:cs typeface="Malgun Gothic"/>
                        </a:rPr>
                        <a:t> 계층형 RL 내비</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부상</a:t>
                      </a:r>
                      <a:r>
                        <a:rPr sz="800" b="0" i="0">
                          <a:solidFill>
                            <a:srgbClr val="16213A"/>
                          </a:solidFill>
                          <a:latin typeface="Arial"/>
                          <a:ea typeface="Malgun Gothic"/>
                          <a:cs typeface="Malgun Gothic"/>
                        </a:rPr>
                        <a:t> 학습형 내비</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파운데이션 모델·VLA</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소수</a:t>
                      </a:r>
                      <a:r>
                        <a:rPr sz="800" b="0" i="0">
                          <a:solidFill>
                            <a:srgbClr val="16213A"/>
                          </a:solidFill>
                          <a:latin typeface="Arial"/>
                          <a:ea typeface="Malgun Gothic"/>
                          <a:cs typeface="Malgun Gothic"/>
                        </a:rPr>
                        <a:t> 교차 embodiment 연구</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없음</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부상</a:t>
                      </a:r>
                      <a:r>
                        <a:rPr sz="800" b="0" i="0">
                          <a:solidFill>
                            <a:srgbClr val="16213A"/>
                          </a:solidFill>
                          <a:latin typeface="Arial"/>
                          <a:ea typeface="Malgun Gothic"/>
                          <a:cs typeface="Malgun Gothic"/>
                        </a:rPr>
                        <a:t> NaVILA·OmniVLA</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부상</a:t>
                      </a:r>
                      <a:r>
                        <a:rPr sz="800" b="0" i="0">
                          <a:solidFill>
                            <a:srgbClr val="16213A"/>
                          </a:solidFill>
                          <a:latin typeface="Arial"/>
                          <a:ea typeface="Malgun Gothic"/>
                          <a:cs typeface="Malgun Gothic"/>
                        </a:rPr>
                        <a:t> 교사 FM·VLA 양산</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부상</a:t>
                      </a:r>
                      <a:r>
                        <a:rPr sz="800" b="0" i="0">
                          <a:solidFill>
                            <a:srgbClr val="16213A"/>
                          </a:solidFill>
                          <a:latin typeface="Arial"/>
                          <a:ea typeface="Malgun Gothic"/>
                          <a:cs typeface="Malgun Gothic"/>
                        </a:rPr>
                        <a:t> 상위 내비·점검에서</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부상</a:t>
                      </a:r>
                      <a:r>
                        <a:rPr sz="800" b="0" i="0">
                          <a:solidFill>
                            <a:srgbClr val="16213A"/>
                          </a:solidFill>
                          <a:latin typeface="Arial"/>
                          <a:ea typeface="Malgun Gothic"/>
                          <a:cs typeface="Malgun Gothic"/>
                        </a:rPr>
                        <a:t> Helix 02·GR00T·LBM</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월드 모델·생성 모델(시뮬레이터·평가·데이터)</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소수</a:t>
                      </a:r>
                      <a:r>
                        <a:rPr sz="800" b="0" i="0">
                          <a:solidFill>
                            <a:srgbClr val="16213A"/>
                          </a:solidFill>
                          <a:latin typeface="Arial"/>
                          <a:ea typeface="Malgun Gothic"/>
                          <a:cs typeface="Malgun Gothic"/>
                        </a:rPr>
                        <a:t> 모델 기반 RL 연구</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소수</a:t>
                      </a:r>
                      <a:r>
                        <a:rPr sz="800" b="0" i="0">
                          <a:solidFill>
                            <a:srgbClr val="16213A"/>
                          </a:solidFill>
                          <a:latin typeface="Arial"/>
                          <a:ea typeface="Malgun Gothic"/>
                          <a:cs typeface="Malgun Gothic"/>
                        </a:rPr>
                        <a:t> 월드 모델 에이전트 실차 시험</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소수</a:t>
                      </a:r>
                      <a:r>
                        <a:rPr sz="800" b="0" i="0">
                          <a:solidFill>
                            <a:srgbClr val="16213A"/>
                          </a:solidFill>
                          <a:latin typeface="Arial"/>
                          <a:ea typeface="Malgun Gothic"/>
                          <a:cs typeface="Malgun Gothic"/>
                        </a:rPr>
                        <a:t> NWM, 초기</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부상</a:t>
                      </a:r>
                      <a:r>
                        <a:rPr sz="800" b="0" i="0">
                          <a:solidFill>
                            <a:srgbClr val="16213A"/>
                          </a:solidFill>
                          <a:latin typeface="Arial"/>
                          <a:ea typeface="Malgun Gothic"/>
                          <a:cs typeface="Malgun Gothic"/>
                        </a:rPr>
                        <a:t> 학습된 시뮬레이터</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소수</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부상</a:t>
                      </a:r>
                      <a:r>
                        <a:rPr sz="800" b="0" i="0">
                          <a:solidFill>
                            <a:srgbClr val="16213A"/>
                          </a:solidFill>
                          <a:latin typeface="Arial"/>
                          <a:ea typeface="Malgun Gothic"/>
                          <a:cs typeface="Malgun Gothic"/>
                        </a:rPr>
                        <a:t> 행동 FM·정책 평가</a:t>
                      </a:r>
                    </a:p>
                  </a:txBody>
                  <a:tcPr marL="63500" marR="63500" marT="12700" marB="12700">
                    <a:solidFill>
                      <a:srgbClr val="FFFDF8"/>
                    </a:solidFill>
                  </a:tcPr>
                </a:tc>
              </a:tr>
            </a:tbl>
          </a:graphicData>
        </a:graphic>
      </p:graphicFrame>
      <p:sp>
        <p:nvSpPr>
          <p:cNvPr id="6" name="TextBox 5"/>
          <p:cNvSpPr txBox="1"/>
          <p:nvPr/>
        </p:nvSpPr>
        <p:spPr>
          <a:xfrm>
            <a:off x="609600" y="3573562"/>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궤적 최적화 행에서 대세는 드론과 레이싱카 두 칸뿐이다. 나머지 넷은 정착이라, 쓰이지만 스택의 중심은 아니다. 반대로 강화학습 행의 대세는 다리 달린 두 분야다. 모방학습과 종단간 플래너는 각각 학습 신호와 계획 계층이라는 다른 관점이라, 도로 자율주행처럼 둘 다 대세일 수 있다.</a:t>
            </a:r>
          </a:p>
        </p:txBody>
      </p:sp>
      <p:sp>
        <p:nvSpPr>
          <p:cNvPr id="7" name="TextBox 6"/>
          <p:cNvSpPr txBox="1"/>
          <p:nvPr/>
        </p:nvSpPr>
        <p:spPr>
          <a:xfrm>
            <a:off x="717550" y="4095452"/>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B.18.2 분야별: 쓰는 방식, 대세, 다음</a:t>
            </a:r>
          </a:p>
        </p:txBody>
      </p:sp>
      <p:sp>
        <p:nvSpPr>
          <p:cNvPr id="8" name="TextBox 7"/>
          <p:cNvSpPr txBox="1"/>
          <p:nvPr/>
        </p:nvSpPr>
        <p:spPr>
          <a:xfrm>
            <a:off x="609600" y="4398665"/>
            <a:ext cx="10972800" cy="151546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자율주행 레이싱카 — 궤적 최적화가 아직 스택의 중심이다</a:t>
            </a:r>
            <a:r>
              <a:rPr sz="1050" b="0" i="0">
                <a:solidFill>
                  <a:srgbClr val="16213A"/>
                </a:solidFill>
                <a:latin typeface="Arial"/>
                <a:ea typeface="Malgun Gothic"/>
                <a:cs typeface="Malgun Gothic"/>
              </a:rPr>
              <a:t>(IAC, A2RL, F1TENTH, Formula Student). 쓰는 방식. 트랙을 미리 알기 때문에 가장 무거운 최적화를 오프라인으로 뺀다. 최소곡률 QP나 최소시간 최적 제어(직접 콜로케이션과 IPOPT)로 레이스라인을 만든다. 주행 중에는 Frenet 좌표에서 다항식 후보를 샘플링해 타당성 검사로 고르고, Tube·LPV-MPC, LQR, Pure Pursuit로 따라간다. 상태 추정은 다중 센서 EKF다 </a:t>
            </a:r>
            <a:r>
              <a:rPr sz="1050" b="0" i="0">
                <a:solidFill>
                  <a:srgbClr val="1D4ED8"/>
                </a:solidFill>
                <a:latin typeface="Arial"/>
                <a:ea typeface="Malgun Gothic"/>
                <a:cs typeface="Malgun Gothic"/>
                <a:hlinkClick r:id="rId3"/>
              </a:rPr>
              <a:t>R12</a:t>
            </a:r>
            <a:r>
              <a:rPr sz="1050" b="0" i="0">
                <a:solidFill>
                  <a:srgbClr val="16213A"/>
                </a:solidFill>
                <a:latin typeface="Arial"/>
                <a:ea typeface="Malgun Gothic"/>
                <a:cs typeface="Malgun Gothic"/>
              </a:rPr>
              <a:t>. 대세와 근거. 스택을 공개한 상위 팀은 모두 같은 모듈형이다. TUM(A2RL 2024 우승 스택) </a:t>
            </a:r>
            <a:r>
              <a:rPr sz="1050" b="0" i="0">
                <a:solidFill>
                  <a:srgbClr val="1D4ED8"/>
                </a:solidFill>
                <a:latin typeface="Arial"/>
                <a:ea typeface="Malgun Gothic"/>
                <a:cs typeface="Malgun Gothic"/>
                <a:hlinkClick r:id="rId4"/>
              </a:rPr>
              <a:t>R1</a:t>
            </a:r>
            <a:r>
              <a:rPr sz="1050" b="0" i="0">
                <a:solidFill>
                  <a:srgbClr val="16213A"/>
                </a:solidFill>
                <a:latin typeface="Arial"/>
                <a:ea typeface="Malgun Gothic"/>
                <a:cs typeface="Malgun Gothic"/>
              </a:rPr>
              <a:t>, TII Unimore </a:t>
            </a:r>
            <a:r>
              <a:rPr sz="1050" b="0" i="0">
                <a:solidFill>
                  <a:srgbClr val="1D4ED8"/>
                </a:solidFill>
                <a:latin typeface="Arial"/>
                <a:ea typeface="Malgun Gothic"/>
                <a:cs typeface="Malgun Gothic"/>
                <a:hlinkClick r:id="rId5"/>
              </a:rPr>
              <a:t>R2</a:t>
            </a:r>
            <a:r>
              <a:rPr sz="1050" b="0" i="0">
                <a:solidFill>
                  <a:srgbClr val="16213A"/>
                </a:solidFill>
                <a:latin typeface="Arial"/>
                <a:ea typeface="Malgun Gothic"/>
                <a:cs typeface="Malgun Gothic"/>
              </a:rPr>
              <a:t>, KAIST </a:t>
            </a:r>
            <a:r>
              <a:rPr sz="1050" b="0" i="0">
                <a:solidFill>
                  <a:srgbClr val="1D4ED8"/>
                </a:solidFill>
                <a:latin typeface="Arial"/>
                <a:ea typeface="Malgun Gothic"/>
                <a:cs typeface="Malgun Gothic"/>
                <a:hlinkClick r:id="rId6"/>
              </a:rPr>
              <a:t>R10</a:t>
            </a:r>
            <a:r>
              <a:rPr sz="1050" b="0" i="0">
                <a:solidFill>
                  <a:srgbClr val="16213A"/>
                </a:solidFill>
                <a:latin typeface="Arial"/>
                <a:ea typeface="Malgun Gothic"/>
                <a:cs typeface="Malgun Gothic"/>
              </a:rPr>
              <a:t>, ForzaETH(F1TENTH 우승) </a:t>
            </a:r>
            <a:r>
              <a:rPr sz="1050" b="0" i="0">
                <a:solidFill>
                  <a:srgbClr val="1D4ED8"/>
                </a:solidFill>
                <a:latin typeface="Arial"/>
                <a:ea typeface="Malgun Gothic"/>
                <a:cs typeface="Malgun Gothic"/>
                <a:hlinkClick r:id="rId7"/>
              </a:rPr>
              <a:t>R4</a:t>
            </a:r>
            <a:r>
              <a:rPr sz="1050" b="0" i="0">
                <a:solidFill>
                  <a:srgbClr val="16213A"/>
                </a:solidFill>
                <a:latin typeface="Arial"/>
                <a:ea typeface="Malgun Gothic"/>
                <a:cs typeface="Malgun Gothic"/>
              </a:rPr>
              <a:t>가 그렇다. F1TENTH 벤치마크도 최적화와 추종이 가장 빠르다고 정리한다 </a:t>
            </a:r>
            <a:r>
              <a:rPr sz="1050" b="0" i="0">
                <a:solidFill>
                  <a:srgbClr val="1D4ED8"/>
                </a:solidFill>
                <a:latin typeface="Arial"/>
                <a:ea typeface="Malgun Gothic"/>
                <a:cs typeface="Malgun Gothic"/>
                <a:hlinkClick r:id="rId8"/>
              </a:rPr>
              <a:t>R5</a:t>
            </a:r>
            <a:r>
              <a:rPr sz="1050" b="0" i="0">
                <a:solidFill>
                  <a:srgbClr val="16213A"/>
                </a:solidFill>
                <a:latin typeface="Arial"/>
                <a:ea typeface="Malgun Gothic"/>
                <a:cs typeface="Malgun Gothic"/>
              </a:rPr>
              <a:t>. 다만 IAC 최다 우승 팀 PoliMOVE와 Cavalier는 스택을 공개하지 않아서, 이길수록 MPC라고는 말할 수 없다. RL이 제품에 들어간 공개 사례로는 심 레이싱의 GT Sophy(GT7, 2023)가 대표적이다 </a:t>
            </a:r>
            <a:r>
              <a:rPr sz="1050" b="0" i="0">
                <a:solidFill>
                  <a:srgbClr val="1D4ED8"/>
                </a:solidFill>
                <a:latin typeface="Arial"/>
                <a:ea typeface="Malgun Gothic"/>
                <a:cs typeface="Malgun Gothic"/>
                <a:hlinkClick r:id="rId9"/>
              </a:rPr>
              <a:t>R7</a:t>
            </a:r>
            <a:r>
              <a:rPr sz="1050" b="0" i="0">
                <a:solidFill>
                  <a:srgbClr val="16213A"/>
                </a:solidFill>
                <a:latin typeface="Arial"/>
                <a:ea typeface="Malgun Gothic"/>
                <a:cs typeface="Malgun Gothic"/>
              </a:rPr>
              <a:t>. 다음. 단독 주행에서 4대(CES 2025), 6대 동시 결승(A2RL 2025) </a:t>
            </a:r>
            <a:r>
              <a:rPr sz="1050" b="0" i="0">
                <a:solidFill>
                  <a:srgbClr val="1D4ED8"/>
                </a:solidFill>
                <a:latin typeface="Arial"/>
                <a:ea typeface="Malgun Gothic"/>
                <a:cs typeface="Malgun Gothic"/>
                <a:hlinkClick r:id="rId10"/>
              </a:rPr>
              <a:t>R11</a:t>
            </a:r>
            <a:r>
              <a:rPr sz="1050" b="0" i="0">
                <a:solidFill>
                  <a:srgbClr val="16213A"/>
                </a:solidFill>
                <a:latin typeface="Arial"/>
                <a:ea typeface="Malgun Gothic"/>
                <a:cs typeface="Malgun Gothic"/>
              </a:rPr>
              <a:t>으로 바뀌면서 게임이론 요소가 샘플링 플래너의 비용과 가이던스로 들어오고 있다. 아직 시뮬레이션 단계다 </a:t>
            </a:r>
            <a:r>
              <a:rPr sz="1050" b="0" i="0">
                <a:solidFill>
                  <a:srgbClr val="1D4ED8"/>
                </a:solidFill>
                <a:latin typeface="Arial"/>
                <a:ea typeface="Malgun Gothic"/>
                <a:cs typeface="Malgun Gothic"/>
                <a:hlinkClick r:id="rId11"/>
              </a:rPr>
              <a:t>R8</a:t>
            </a:r>
            <a:r>
              <a:rPr sz="1050" b="0" i="0">
                <a:solidFill>
                  <a:srgbClr val="16213A"/>
                </a:solidFill>
                <a:latin typeface="Arial"/>
                <a:ea typeface="Malgun Gothic"/>
                <a:cs typeface="Malgun Gothic"/>
              </a:rPr>
              <a:t>. 잔차 RL </a:t>
            </a:r>
            <a:r>
              <a:rPr sz="1050" b="0" i="0">
                <a:solidFill>
                  <a:srgbClr val="1D4ED8"/>
                </a:solidFill>
                <a:latin typeface="Arial"/>
                <a:ea typeface="Malgun Gothic"/>
                <a:cs typeface="Malgun Gothic"/>
                <a:hlinkClick r:id="rId12"/>
              </a:rPr>
              <a:t>R6</a:t>
            </a:r>
            <a:r>
              <a:rPr sz="1050" b="0" i="0">
                <a:solidFill>
                  <a:srgbClr val="16213A"/>
                </a:solidFill>
                <a:latin typeface="Arial"/>
                <a:ea typeface="Malgun Gothic"/>
                <a:cs typeface="Malgun Gothic"/>
              </a:rPr>
              <a:t>과 학습 동역학은 MPC를 보정하는 형태다. 월드 모델 에이전트는 실차 256 km/h 시험까지 나왔지만 대회에서 쓴 것은 확인되지 않았다 </a:t>
            </a:r>
            <a:r>
              <a:rPr sz="1050" b="0" i="0">
                <a:solidFill>
                  <a:srgbClr val="1D4ED8"/>
                </a:solidFill>
                <a:latin typeface="Arial"/>
                <a:ea typeface="Malgun Gothic"/>
                <a:cs typeface="Malgun Gothic"/>
                <a:hlinkClick r:id="rId13"/>
              </a:rPr>
              <a:t>R9</a:t>
            </a:r>
            <a:r>
              <a:rPr sz="1050" b="0" i="0">
                <a:solidFill>
                  <a:srgbClr val="16213A"/>
                </a:solidFill>
                <a:latin typeface="Arial"/>
                <a:ea typeface="Malgun Gothic"/>
                <a:cs typeface="Malgun Gothic"/>
              </a:rPr>
              <a:t>. IU 팀은 제어기를 PP, 선형 MPC, MPPI 순으로 바꿔 왔다 </a:t>
            </a:r>
            <a:r>
              <a:rPr sz="1050" b="0" i="0">
                <a:solidFill>
                  <a:srgbClr val="1D4ED8"/>
                </a:solidFill>
                <a:latin typeface="Arial"/>
                <a:ea typeface="Malgun Gothic"/>
                <a:cs typeface="Malgun Gothic"/>
                <a:hlinkClick r:id="rId14"/>
              </a:rPr>
              <a:t>R3</a:t>
            </a:r>
            <a:r>
              <a:rPr sz="1050" b="0" i="0">
                <a:solidFill>
                  <a:srgbClr val="16213A"/>
                </a:solidFill>
                <a:latin typeface="Arial"/>
                <a:ea typeface="Malgun Gothic"/>
                <a:cs typeface="Malgun Gothic"/>
              </a:rPr>
              <a:t>.</a:t>
            </a:r>
          </a:p>
        </p:txBody>
      </p:sp>
    </p:spTree>
  </p:cSld>
  <p:clrMapOvr>
    <a:masterClrMapping/>
  </p:clrMapOvr>
</p:sld>
</file>

<file path=ppt/slides/slide48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분야별 지형</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B.18 로봇 분야별 계획·제어: 레이싱카, 모바일 로봇, 도로 자율주행, 사족보행, 휴머노이드</a:t>
            </a:r>
            <a:r>
              <a:rPr sz="1050" b="0" i="0">
                <a:solidFill>
                  <a:srgbClr val="5A6478"/>
                </a:solidFill>
                <a:latin typeface="Arial"/>
                <a:ea typeface="Malgun Gothic"/>
                <a:cs typeface="Malgun Gothic"/>
              </a:rPr>
              <a:t>  3/9</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485 / 516</a:t>
            </a:r>
          </a:p>
        </p:txBody>
      </p:sp>
      <p:sp>
        <p:nvSpPr>
          <p:cNvPr id="5" name="TextBox 4"/>
          <p:cNvSpPr txBox="1"/>
          <p:nvPr/>
        </p:nvSpPr>
        <p:spPr>
          <a:xfrm>
            <a:off x="609600" y="1244600"/>
            <a:ext cx="10972800" cy="1731962"/>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모바일 로봇 — 궤적 최적화는 학계에 머물고, 산업의 상대는 샘플링 MPC다</a:t>
            </a:r>
            <a:r>
              <a:rPr sz="1050" b="0" i="0">
                <a:solidFill>
                  <a:srgbClr val="16213A"/>
                </a:solidFill>
                <a:latin typeface="Arial"/>
                <a:ea typeface="Malgun Gothic"/>
                <a:cs typeface="Malgun Gothic"/>
              </a:rPr>
              <a:t>(Nav2, 창고 AMR, BARN, 오프로드). 쓰는 방식. 위치 추정(SLAM·AMCL, 창고는 바닥 마커를 섞는다), 레이어드 코스트맵, 그래프 탐색 전역 계획(NavFn, Smac Hybrid-A*·State Lattice </a:t>
            </a:r>
            <a:r>
              <a:rPr sz="1050" b="0" i="0">
                <a:solidFill>
                  <a:srgbClr val="1D4ED8"/>
                </a:solidFill>
                <a:latin typeface="Arial"/>
                <a:ea typeface="Malgun Gothic"/>
                <a:cs typeface="Malgun Gothic"/>
                <a:hlinkClick r:id="rId3"/>
              </a:rPr>
              <a:t>N2</a:t>
            </a:r>
            <a:r>
              <a:rPr sz="1050" b="0" i="0">
                <a:solidFill>
                  <a:srgbClr val="16213A"/>
                </a:solidFill>
                <a:latin typeface="Arial"/>
                <a:ea typeface="Malgun Gothic"/>
                <a:cs typeface="Malgun Gothic"/>
              </a:rPr>
              <a:t>), 20–50 Hz 로컬 컨트롤러(MPPI, RPP, DWB, Graceful) 순으로 쌓는다. 창고에서는 로봇 한 대보다 플릿 교통 관리(Lifelong MAPF와 중앙 배차)가 처리량을 좌우한다. 대세와 근거. ROS 2 Nav2의 기본 로컬 컨트롤러가 Humble의 DWB에서 Jazzy 이후 MPPI로 바뀌었다 </a:t>
            </a:r>
            <a:r>
              <a:rPr sz="1050" b="0" i="0">
                <a:solidFill>
                  <a:srgbClr val="1D4ED8"/>
                </a:solidFill>
                <a:latin typeface="Arial"/>
                <a:ea typeface="Malgun Gothic"/>
                <a:cs typeface="Malgun Gothic"/>
                <a:hlinkClick r:id="rId4"/>
              </a:rPr>
              <a:t>N1</a:t>
            </a:r>
            <a:r>
              <a:rPr sz="1050" b="0" i="0">
                <a:solidFill>
                  <a:srgbClr val="16213A"/>
                </a:solidFill>
                <a:latin typeface="Arial"/>
                <a:ea typeface="Malgun Gothic"/>
                <a:cs typeface="Malgun Gothic"/>
              </a:rPr>
              <a:t>. 예제 기본값이 곧 양산 채택은 아니고, 벤더 알고리즘은 대부분 비공개다. 창고 MAPF 대회의 우승 해법과 기본 계획기는 모두 탐색 기반(PIBT·LNS 계열)이다 </a:t>
            </a:r>
            <a:r>
              <a:rPr sz="1050" b="0" i="0">
                <a:solidFill>
                  <a:srgbClr val="1D4ED8"/>
                </a:solidFill>
                <a:latin typeface="Arial"/>
                <a:ea typeface="Malgun Gothic"/>
                <a:cs typeface="Malgun Gothic"/>
                <a:hlinkClick r:id="rId5"/>
              </a:rPr>
              <a:t>N8</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6"/>
              </a:rPr>
              <a:t>N9</a:t>
            </a:r>
            <a:r>
              <a:rPr sz="1050" b="0" i="0">
                <a:solidFill>
                  <a:srgbClr val="16213A"/>
                </a:solidFill>
                <a:latin typeface="Arial"/>
                <a:ea typeface="Malgun Gothic"/>
                <a:cs typeface="Malgun Gothic"/>
              </a:rPr>
              <a:t>. BARN에서는 2024년 행동복제 팀이 처음 실물 우승했지만, 상위 팀 모두 규칙 기반 상태 기계를 섞었다 </a:t>
            </a:r>
            <a:r>
              <a:rPr sz="1050" b="0" i="0">
                <a:solidFill>
                  <a:srgbClr val="1D4ED8"/>
                </a:solidFill>
                <a:latin typeface="Arial"/>
                <a:ea typeface="Malgun Gothic"/>
                <a:cs typeface="Malgun Gothic"/>
                <a:hlinkClick r:id="rId7"/>
              </a:rPr>
              <a:t>N3</a:t>
            </a:r>
            <a:r>
              <a:rPr sz="1050" b="0" i="0">
                <a:solidFill>
                  <a:srgbClr val="16213A"/>
                </a:solidFill>
                <a:latin typeface="Arial"/>
                <a:ea typeface="Malgun Gothic"/>
                <a:cs typeface="Malgun Gothic"/>
              </a:rPr>
              <a:t>. 2025년에는 학습형 팀이 결선 우승을 잇지 못했다 </a:t>
            </a:r>
            <a:r>
              <a:rPr sz="1050" b="0" i="0">
                <a:solidFill>
                  <a:srgbClr val="1D4ED8"/>
                </a:solidFill>
                <a:latin typeface="Arial"/>
                <a:ea typeface="Malgun Gothic"/>
                <a:cs typeface="Malgun Gothic"/>
                <a:hlinkClick r:id="rId8"/>
              </a:rPr>
              <a:t>N13</a:t>
            </a:r>
            <a:r>
              <a:rPr sz="1050" b="0" i="0">
                <a:solidFill>
                  <a:srgbClr val="16213A"/>
                </a:solidFill>
                <a:latin typeface="Arial"/>
                <a:ea typeface="Malgun Gothic"/>
                <a:cs typeface="Malgun Gothic"/>
              </a:rPr>
              <a:t>. 다음. 계층형 스택은 유지되고 MPPI의 궤적 검증·운동 모델 같은 기능이 강해질 것이다. 학습·VLM 모듈은 코스트맵 층이나 critic으로 흡수될 가능성이 크다. 플릿은 탐색 코어에 학습 유도와 할당을 얹는 그림(1만 대 규모 </a:t>
            </a:r>
            <a:r>
              <a:rPr sz="1050" b="0" i="0">
                <a:solidFill>
                  <a:srgbClr val="1D4ED8"/>
                </a:solidFill>
                <a:latin typeface="Arial"/>
                <a:ea typeface="Malgun Gothic"/>
                <a:cs typeface="Malgun Gothic"/>
                <a:hlinkClick r:id="rId9"/>
              </a:rPr>
              <a:t>N7</a:t>
            </a:r>
            <a:r>
              <a:rPr sz="1050" b="0" i="0">
                <a:solidFill>
                  <a:srgbClr val="16213A"/>
                </a:solidFill>
                <a:latin typeface="Arial"/>
                <a:ea typeface="Malgun Gothic"/>
                <a:cs typeface="Malgun Gothic"/>
              </a:rPr>
              <a:t>)이 가장 방어하기 쉽다. 내비 파운데이션 모델(NoMaD </a:t>
            </a:r>
            <a:r>
              <a:rPr sz="1050" b="0" i="0">
                <a:solidFill>
                  <a:srgbClr val="1D4ED8"/>
                </a:solidFill>
                <a:latin typeface="Arial"/>
                <a:ea typeface="Malgun Gothic"/>
                <a:cs typeface="Malgun Gothic"/>
                <a:hlinkClick r:id="rId10"/>
              </a:rPr>
              <a:t>N5</a:t>
            </a:r>
            <a:r>
              <a:rPr sz="1050" b="0" i="0">
                <a:solidFill>
                  <a:srgbClr val="16213A"/>
                </a:solidFill>
                <a:latin typeface="Arial"/>
                <a:ea typeface="Malgun Gothic"/>
                <a:cs typeface="Malgun Gothic"/>
              </a:rPr>
              <a:t>, NavDP </a:t>
            </a:r>
            <a:r>
              <a:rPr sz="1050" b="0" i="0">
                <a:solidFill>
                  <a:srgbClr val="1D4ED8"/>
                </a:solidFill>
                <a:latin typeface="Arial"/>
                <a:ea typeface="Malgun Gothic"/>
                <a:cs typeface="Malgun Gothic"/>
                <a:hlinkClick r:id="rId11"/>
              </a:rPr>
              <a:t>N4</a:t>
            </a:r>
            <a:r>
              <a:rPr sz="1050" b="0" i="0">
                <a:solidFill>
                  <a:srgbClr val="16213A"/>
                </a:solidFill>
                <a:latin typeface="Arial"/>
                <a:ea typeface="Malgun Gothic"/>
                <a:cs typeface="Malgun Gothic"/>
              </a:rPr>
              <a:t>, NaVILA </a:t>
            </a:r>
            <a:r>
              <a:rPr sz="1050" b="0" i="0">
                <a:solidFill>
                  <a:srgbClr val="1D4ED8"/>
                </a:solidFill>
                <a:latin typeface="Arial"/>
                <a:ea typeface="Malgun Gothic"/>
                <a:cs typeface="Malgun Gothic"/>
                <a:hlinkClick r:id="rId12"/>
              </a:rPr>
              <a:t>N6</a:t>
            </a:r>
            <a:r>
              <a:rPr sz="1050" b="0" i="0">
                <a:solidFill>
                  <a:srgbClr val="16213A"/>
                </a:solidFill>
                <a:latin typeface="Arial"/>
                <a:ea typeface="Malgun Gothic"/>
                <a:cs typeface="Malgun Gothic"/>
              </a:rPr>
              <a:t>)은 대부분 프리프린트와 시뮬레이션 평가다. Amazon DeepFleet의 이동 시간 10% 개선은 회사 주장이다 </a:t>
            </a:r>
            <a:r>
              <a:rPr sz="1050" b="0" i="0">
                <a:solidFill>
                  <a:srgbClr val="1D4ED8"/>
                </a:solidFill>
                <a:latin typeface="Arial"/>
                <a:ea typeface="Malgun Gothic"/>
                <a:cs typeface="Malgun Gothic"/>
                <a:hlinkClick r:id="rId13"/>
              </a:rPr>
              <a:t>N10</a:t>
            </a:r>
            <a:r>
              <a:rPr sz="1050" b="0" i="0">
                <a:solidFill>
                  <a:srgbClr val="16213A"/>
                </a:solidFill>
                <a:latin typeface="Arial"/>
                <a:ea typeface="Malgun Gothic"/>
                <a:cs typeface="Malgun Gothic"/>
              </a:rPr>
              <a:t>. 오프로드(DARPA RACER)는 스핀오프로 상용화 중이지만 계획·제어 층을 공개하지 않았다 </a:t>
            </a:r>
            <a:r>
              <a:rPr sz="1050" b="0" i="0">
                <a:solidFill>
                  <a:srgbClr val="1D4ED8"/>
                </a:solidFill>
                <a:latin typeface="Arial"/>
                <a:ea typeface="Malgun Gothic"/>
                <a:cs typeface="Malgun Gothic"/>
                <a:hlinkClick r:id="rId14"/>
              </a:rPr>
              <a:t>N11</a:t>
            </a:r>
            <a:r>
              <a:rPr sz="1050" b="0" i="0">
                <a:solidFill>
                  <a:srgbClr val="16213A"/>
                </a:solidFill>
                <a:latin typeface="Arial"/>
                <a:ea typeface="Malgun Gothic"/>
                <a:cs typeface="Malgun Gothic"/>
              </a:rPr>
              <a:t>.</a:t>
            </a:r>
          </a:p>
        </p:txBody>
      </p:sp>
      <p:sp>
        <p:nvSpPr>
          <p:cNvPr id="6" name="TextBox 5"/>
          <p:cNvSpPr txBox="1"/>
          <p:nvPr/>
        </p:nvSpPr>
        <p:spPr>
          <a:xfrm>
            <a:off x="609600" y="3065462"/>
            <a:ext cx="10972800" cy="1731962"/>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도로 자율주행 — 궤적 최적화는 검증과 후처리로 물러났다</a:t>
            </a:r>
            <a:r>
              <a:rPr sz="1050" b="0" i="0">
                <a:solidFill>
                  <a:srgbClr val="16213A"/>
                </a:solidFill>
                <a:latin typeface="Arial"/>
                <a:ea typeface="Malgun Gothic"/>
                <a:cs typeface="Malgun Gothic"/>
              </a:rPr>
              <a:t>(로보택시, 양산 ADAS, NAVSIM, Autoware). 쓰는 방식. 오픈소스 기준선은 규칙 기반 결정에 Frenet DP·QP(Apollo)나 MPT(Autoware)를 붙이고 MPC·PP로 추종한다. 학계는 nuPlan에서 규칙 기반 PDM-Closed가 우승한 뒤(2023) </a:t>
            </a:r>
            <a:r>
              <a:rPr sz="1050" b="0" i="0">
                <a:solidFill>
                  <a:srgbClr val="1D4ED8"/>
                </a:solidFill>
                <a:latin typeface="Arial"/>
                <a:ea typeface="Malgun Gothic"/>
                <a:cs typeface="Malgun Gothic"/>
                <a:hlinkClick r:id="rId15"/>
              </a:rPr>
              <a:t>A1</a:t>
            </a:r>
            <a:r>
              <a:rPr sz="1050" b="0" i="0">
                <a:solidFill>
                  <a:srgbClr val="16213A"/>
                </a:solidFill>
                <a:latin typeface="Arial"/>
                <a:ea typeface="Malgun Gothic"/>
                <a:cs typeface="Malgun Gothic"/>
              </a:rPr>
              <a:t> 학습 플래너, 쿼리 기반 종단간(UniAD·VAD·SparseDrive), 여러 후보를 만들어 점수로 고르는 구조(DiffusionDrive </a:t>
            </a:r>
            <a:r>
              <a:rPr sz="1050" b="0" i="0">
                <a:solidFill>
                  <a:srgbClr val="1D4ED8"/>
                </a:solidFill>
                <a:latin typeface="Arial"/>
                <a:ea typeface="Malgun Gothic"/>
                <a:cs typeface="Malgun Gothic"/>
                <a:hlinkClick r:id="rId16"/>
              </a:rPr>
              <a:t>A3</a:t>
            </a:r>
            <a:r>
              <a:rPr sz="1050" b="0" i="0">
                <a:solidFill>
                  <a:srgbClr val="16213A"/>
                </a:solidFill>
                <a:latin typeface="Arial"/>
                <a:ea typeface="Malgun Gothic"/>
                <a:cs typeface="Malgun Gothic"/>
              </a:rPr>
              <a:t>, GTRS </a:t>
            </a:r>
            <a:r>
              <a:rPr sz="1050" b="0" i="0">
                <a:solidFill>
                  <a:srgbClr val="1D4ED8"/>
                </a:solidFill>
                <a:latin typeface="Arial"/>
                <a:ea typeface="Malgun Gothic"/>
                <a:cs typeface="Malgun Gothic"/>
                <a:hlinkClick r:id="rId17"/>
              </a:rPr>
              <a:t>A2</a:t>
            </a:r>
            <a:r>
              <a:rPr sz="1050" b="0" i="0">
                <a:solidFill>
                  <a:srgbClr val="16213A"/>
                </a:solidFill>
                <a:latin typeface="Arial"/>
                <a:ea typeface="Malgun Gothic"/>
                <a:cs typeface="Malgun Gothic"/>
              </a:rPr>
              <a:t>) 순으로 옮겨 갔다. B.12.1이 이 흐름을 깊게 다룬다. 대세와 근거. 학계에서는 NAVSIM 공식 챌린지 3회가 모두 후보 생성과 스코어링 계열의 우승이었다. 양산 ADAS는 단일 종단간 네트워크를 내세운다(Tesla FSD v12, XPeng VLA 2.0 </a:t>
            </a:r>
            <a:r>
              <a:rPr sz="1050" b="0" i="0">
                <a:solidFill>
                  <a:srgbClr val="1D4ED8"/>
                </a:solidFill>
                <a:latin typeface="Arial"/>
                <a:ea typeface="Malgun Gothic"/>
                <a:cs typeface="Malgun Gothic"/>
                <a:hlinkClick r:id="rId18"/>
              </a:rPr>
              <a:t>A13</a:t>
            </a:r>
            <a:r>
              <a:rPr sz="1050" b="0" i="0">
                <a:solidFill>
                  <a:srgbClr val="16213A"/>
                </a:solidFill>
                <a:latin typeface="Arial"/>
                <a:ea typeface="Malgun Gothic"/>
                <a:cs typeface="Malgun Gothic"/>
              </a:rPr>
              <a:t>). 로보택시는 대형 학습 모델에 명시적 검증층을 붙인다. Waymo는 교사 파운데이션 모델을 증류한 온보드 모델의 궤적을 독립 검증층이 물리 hard 제약과 교통 법규로 점검한다고 밝혔다 </a:t>
            </a:r>
            <a:r>
              <a:rPr sz="1050" b="0" i="0">
                <a:solidFill>
                  <a:srgbClr val="1D4ED8"/>
                </a:solidFill>
                <a:latin typeface="Arial"/>
                <a:ea typeface="Malgun Gothic"/>
                <a:cs typeface="Malgun Gothic"/>
                <a:hlinkClick r:id="rId19"/>
              </a:rPr>
              <a:t>A6</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20"/>
              </a:rPr>
              <a:t>A7</a:t>
            </a:r>
            <a:r>
              <a:rPr sz="1050" b="0" i="0">
                <a:solidFill>
                  <a:srgbClr val="16213A"/>
                </a:solidFill>
                <a:latin typeface="Arial"/>
                <a:ea typeface="Malgun Gothic"/>
                <a:cs typeface="Malgun Gothic"/>
              </a:rPr>
              <a:t>. Mercedes CLA의 NVIDIA DRIVE AV는 종단간 모델과 병렬 고전 안전 스택의 조합이다 </a:t>
            </a:r>
            <a:r>
              <a:rPr sz="1050" b="0" i="0">
                <a:solidFill>
                  <a:srgbClr val="1D4ED8"/>
                </a:solidFill>
                <a:latin typeface="Arial"/>
                <a:ea typeface="Malgun Gothic"/>
                <a:cs typeface="Malgun Gothic"/>
                <a:hlinkClick r:id="rId21"/>
              </a:rPr>
              <a:t>A8</a:t>
            </a:r>
            <a:r>
              <a:rPr sz="1050" b="0" i="0">
                <a:solidFill>
                  <a:srgbClr val="16213A"/>
                </a:solidFill>
                <a:latin typeface="Arial"/>
                <a:ea typeface="Malgun Gothic"/>
                <a:cs typeface="Malgun Gothic"/>
              </a:rPr>
              <a:t>. Autoware도 Diffusion Planner 노드를 규칙 기반 구성 요소와 나란히 둔다 </a:t>
            </a:r>
            <a:r>
              <a:rPr sz="1050" b="0" i="0">
                <a:solidFill>
                  <a:srgbClr val="1D4ED8"/>
                </a:solidFill>
                <a:latin typeface="Arial"/>
                <a:ea typeface="Malgun Gothic"/>
                <a:cs typeface="Malgun Gothic"/>
                <a:hlinkClick r:id="rId22"/>
              </a:rPr>
              <a:t>A9</a:t>
            </a:r>
            <a:r>
              <a:rPr sz="1050" b="0" i="0">
                <a:solidFill>
                  <a:srgbClr val="16213A"/>
                </a:solidFill>
                <a:latin typeface="Arial"/>
                <a:ea typeface="Malgun Gothic"/>
                <a:cs typeface="Malgun Gothic"/>
              </a:rPr>
              <a:t>. 다음. VLM·VLA와 RL 후학습(2025 Waymo 종단간 챌린지 1위 </a:t>
            </a:r>
            <a:r>
              <a:rPr sz="1050" b="0" i="0">
                <a:solidFill>
                  <a:srgbClr val="1D4ED8"/>
                </a:solidFill>
                <a:latin typeface="Arial"/>
                <a:ea typeface="Malgun Gothic"/>
                <a:cs typeface="Malgun Gothic"/>
                <a:hlinkClick r:id="rId23"/>
              </a:rPr>
              <a:t>A4</a:t>
            </a:r>
            <a:r>
              <a:rPr sz="1050" b="0" i="0">
                <a:solidFill>
                  <a:srgbClr val="16213A"/>
                </a:solidFill>
                <a:latin typeface="Arial"/>
                <a:ea typeface="Malgun Gothic"/>
                <a:cs typeface="Malgun Gothic"/>
              </a:rPr>
              <a:t>), 대규모 closed-loop RL </a:t>
            </a:r>
            <a:r>
              <a:rPr sz="1050" b="0" i="0">
                <a:solidFill>
                  <a:srgbClr val="1D4ED8"/>
                </a:solidFill>
                <a:latin typeface="Arial"/>
                <a:ea typeface="Malgun Gothic"/>
                <a:cs typeface="Malgun Gothic"/>
                <a:hlinkClick r:id="rId24"/>
              </a:rPr>
              <a:t>A5</a:t>
            </a:r>
            <a:r>
              <a:rPr sz="1050" b="0" i="0">
                <a:solidFill>
                  <a:srgbClr val="16213A"/>
                </a:solidFill>
                <a:latin typeface="Arial"/>
                <a:ea typeface="Malgun Gothic"/>
                <a:cs typeface="Malgun Gothic"/>
              </a:rPr>
              <a:t>이 넓어진다. 추론 시점의 언어 단계를 없애는 흐름도 있다 </a:t>
            </a:r>
            <a:r>
              <a:rPr sz="1050" b="0" i="0">
                <a:solidFill>
                  <a:srgbClr val="1D4ED8"/>
                </a:solidFill>
                <a:latin typeface="Arial"/>
                <a:ea typeface="Malgun Gothic"/>
                <a:cs typeface="Malgun Gothic"/>
                <a:hlinkClick r:id="rId18"/>
              </a:rPr>
              <a:t>A13</a:t>
            </a:r>
            <a:r>
              <a:rPr sz="1050" b="0" i="0">
                <a:solidFill>
                  <a:srgbClr val="16213A"/>
                </a:solidFill>
                <a:latin typeface="Arial"/>
                <a:ea typeface="Malgun Gothic"/>
                <a:cs typeface="Malgun Gothic"/>
              </a:rPr>
              <a:t>. 평가 자체가 쟁점이다. NAVSIM 점수 산정 결함과 closed-loop 순위 역전이 보고됐다 </a:t>
            </a:r>
            <a:r>
              <a:rPr sz="1050" b="0" i="0">
                <a:solidFill>
                  <a:srgbClr val="1D4ED8"/>
                </a:solidFill>
                <a:latin typeface="Arial"/>
                <a:ea typeface="Malgun Gothic"/>
                <a:cs typeface="Malgun Gothic"/>
                <a:hlinkClick r:id="rId25"/>
              </a:rPr>
              <a:t>A10</a:t>
            </a:r>
            <a:r>
              <a:rPr sz="1050" b="0" i="0">
                <a:solidFill>
                  <a:srgbClr val="16213A"/>
                </a:solidFill>
                <a:latin typeface="Arial"/>
                <a:ea typeface="Malgun Gothic"/>
                <a:cs typeface="Malgun Gothic"/>
              </a:rPr>
              <a:t>. 궤적 최적화와 MPC는 주 플래너보다 실현 가능성 투영, 제약 검증, 추종으로 남을 가능성이 크다.</a:t>
            </a:r>
          </a:p>
        </p:txBody>
      </p:sp>
    </p:spTree>
  </p:cSld>
  <p:clrMapOvr>
    <a:masterClrMapping/>
  </p:clrMapOvr>
</p:sld>
</file>

<file path=ppt/slides/slide48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분야별 지형</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B.18 로봇 분야별 계획·제어: 레이싱카, 모바일 로봇, 도로 자율주행, 사족보행, 휴머노이드</a:t>
            </a:r>
            <a:r>
              <a:rPr sz="1050" b="0" i="0">
                <a:solidFill>
                  <a:srgbClr val="5A6478"/>
                </a:solidFill>
                <a:latin typeface="Arial"/>
                <a:ea typeface="Malgun Gothic"/>
                <a:cs typeface="Malgun Gothic"/>
              </a:rPr>
              <a:t>  4/9</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486 / 516</a:t>
            </a:r>
          </a:p>
        </p:txBody>
      </p:sp>
      <p:sp>
        <p:nvSpPr>
          <p:cNvPr id="5" name="TextBox 4"/>
          <p:cNvSpPr txBox="1"/>
          <p:nvPr/>
        </p:nvSpPr>
        <p:spPr>
          <a:xfrm>
            <a:off x="609600" y="1244600"/>
            <a:ext cx="10972800" cy="151546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사족보행 — 궤적 최적화는 발 디딤, 참조, 교사 데이터로 남았다</a:t>
            </a:r>
            <a:r>
              <a:rPr sz="1050" b="0" i="0">
                <a:solidFill>
                  <a:srgbClr val="16213A"/>
                </a:solidFill>
                <a:latin typeface="Arial"/>
                <a:ea typeface="Malgun Gothic"/>
                <a:cs typeface="Malgun Gothic"/>
              </a:rPr>
              <a:t>(ANYmal, Spot, Unitree, Raibo, HOUND). 쓰는 방식. 2018–2022년에는 단일 강체 모델 convex MPC와 전신 제어(MIT Cheetah), 지각 NMPC </a:t>
            </a:r>
            <a:r>
              <a:rPr sz="1050" b="0" i="0">
                <a:solidFill>
                  <a:srgbClr val="1D4ED8"/>
                </a:solidFill>
                <a:latin typeface="Arial"/>
                <a:ea typeface="Malgun Gothic"/>
                <a:cs typeface="Malgun Gothic"/>
                <a:hlinkClick r:id="rId3"/>
              </a:rPr>
              <a:t>Q8</a:t>
            </a:r>
            <a:r>
              <a:rPr sz="1050" b="0" i="0">
                <a:solidFill>
                  <a:srgbClr val="16213A"/>
                </a:solidFill>
                <a:latin typeface="Arial"/>
                <a:ea typeface="Malgun Gothic"/>
                <a:cs typeface="Malgun Gothic"/>
              </a:rPr>
              <a:t>, TAMOLS 같은 모델 기반 최적 제어가 보행 제어기 그 자체였다. 2019년 이후에는 GPU 병렬 시뮬레이션에서 PPO, 도메인 무작위화, 교사–학생 증류로 학습한 sim-to-real RL이 표준이 됐다 </a:t>
            </a:r>
            <a:r>
              <a:rPr sz="1050" b="0" i="0">
                <a:solidFill>
                  <a:srgbClr val="1D4ED8"/>
                </a:solidFill>
                <a:latin typeface="Arial"/>
                <a:ea typeface="Malgun Gothic"/>
                <a:cs typeface="Malgun Gothic"/>
                <a:hlinkClick r:id="rId4"/>
              </a:rPr>
              <a:t>Q1</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5"/>
              </a:rPr>
              <a:t>Q2</a:t>
            </a:r>
            <a:r>
              <a:rPr sz="1050" b="0" i="0">
                <a:solidFill>
                  <a:srgbClr val="16213A"/>
                </a:solidFill>
                <a:latin typeface="Arial"/>
                <a:ea typeface="Malgun Gothic"/>
                <a:cs typeface="Malgun Gothic"/>
              </a:rPr>
              <a:t>. B.14.1이 이 전환을 RSL 계보로 읽는다. 대세와 근거. ANYbotics는 2023년 RL 보행을 운용 중인 로봇 전부에 배포했다고 밝혔다(자사 발표) </a:t>
            </a:r>
            <a:r>
              <a:rPr sz="1050" b="0" i="0">
                <a:solidFill>
                  <a:srgbClr val="1D4ED8"/>
                </a:solidFill>
                <a:latin typeface="Arial"/>
                <a:ea typeface="Malgun Gothic"/>
                <a:cs typeface="Malgun Gothic"/>
                <a:hlinkClick r:id="rId6"/>
              </a:rPr>
              <a:t>Q3</a:t>
            </a:r>
            <a:r>
              <a:rPr sz="1050" b="0" i="0">
                <a:solidFill>
                  <a:srgbClr val="16213A"/>
                </a:solidFill>
                <a:latin typeface="Arial"/>
                <a:ea typeface="Malgun Gothic"/>
                <a:cs typeface="Malgun Gothic"/>
              </a:rPr>
              <a:t>. Boston Dynamics는 Spot에서 여러 MPC 예측 지평을 병렬로 평가하던 부분을 RL 정책으로 대신하고 MPC는 유지하는 업데이트를 배포했다 </a:t>
            </a:r>
            <a:r>
              <a:rPr sz="1050" b="0" i="0">
                <a:solidFill>
                  <a:srgbClr val="1D4ED8"/>
                </a:solidFill>
                <a:latin typeface="Arial"/>
                <a:ea typeface="Malgun Gothic"/>
                <a:cs typeface="Malgun Gothic"/>
                <a:hlinkClick r:id="rId7"/>
              </a:rPr>
              <a:t>Q4</a:t>
            </a:r>
            <a:r>
              <a:rPr sz="1050" b="0" i="0">
                <a:solidFill>
                  <a:srgbClr val="16213A"/>
                </a:solidFill>
                <a:latin typeface="Arial"/>
                <a:ea typeface="Malgun Gothic"/>
                <a:cs typeface="Malgun Gothic"/>
              </a:rPr>
              <a:t>. 이 구조는 B.16.4가 다룬다. DARPA SubT 우승 팀의 ANYmal도 학습 기반 보행이었다. 공개된 산업 구조는 RL 보행, 선택적인 모델 기반 층, 기하·의미 내비게이션을 쌓은 것이다. 다음. 하이브리드가 가장 근거가 강하다. TO가 발 디딤 참조를 만들고 RL이 추종하는 DTC </a:t>
            </a:r>
            <a:r>
              <a:rPr sz="1050" b="0" i="0">
                <a:solidFill>
                  <a:srgbClr val="16213A"/>
                </a:solidFill>
                <a:latin typeface="Arial"/>
                <a:ea typeface="Malgun Gothic"/>
                <a:cs typeface="Malgun Gothic"/>
              </a:rPr>
              <a:t>Q5</a:t>
            </a:r>
            <a:r>
              <a:rPr sz="1050" b="0" i="0">
                <a:solidFill>
                  <a:srgbClr val="16213A"/>
                </a:solidFill>
                <a:latin typeface="Arial"/>
                <a:ea typeface="Malgun Gothic"/>
                <a:cs typeface="Malgun Gothic"/>
              </a:rPr>
              <a:t>, 샘플링 발 디딤 플래너와 RL 추종기의 KAIST Raibo </a:t>
            </a:r>
            <a:r>
              <a:rPr sz="1050" b="0" i="0">
                <a:solidFill>
                  <a:srgbClr val="16213A"/>
                </a:solidFill>
                <a:latin typeface="Arial"/>
                <a:ea typeface="Malgun Gothic"/>
                <a:cs typeface="Malgun Gothic"/>
              </a:rPr>
              <a:t>Q6</a:t>
            </a:r>
            <a:r>
              <a:rPr sz="1050" b="0" i="0">
                <a:solidFill>
                  <a:srgbClr val="16213A"/>
                </a:solidFill>
                <a:latin typeface="Arial"/>
                <a:ea typeface="Malgun Gothic"/>
                <a:cs typeface="Malgun Gothic"/>
              </a:rPr>
              <a:t>가 그렇다. TO 궤적 18만 개로 사전 학습한 뒤 RL로 다듬은 KAIST APT-RL </a:t>
            </a:r>
            <a:r>
              <a:rPr sz="1050" b="0" i="0">
                <a:solidFill>
                  <a:srgbClr val="1D4ED8"/>
                </a:solidFill>
                <a:latin typeface="Arial"/>
                <a:ea typeface="Malgun Gothic"/>
                <a:cs typeface="Malgun Gothic"/>
                <a:hlinkClick r:id="rId8"/>
              </a:rPr>
              <a:t>K4</a:t>
            </a:r>
            <a:r>
              <a:rPr sz="1050" b="0" i="0">
                <a:solidFill>
                  <a:srgbClr val="16213A"/>
                </a:solidFill>
                <a:latin typeface="Arial"/>
                <a:ea typeface="Malgun Gothic"/>
                <a:cs typeface="Malgun Gothic"/>
              </a:rPr>
              <a:t>, 바퀴·다리 로봇의 계층형 RL 내비 </a:t>
            </a:r>
            <a:r>
              <a:rPr sz="1050" b="0" i="0">
                <a:solidFill>
                  <a:srgbClr val="16213A"/>
                </a:solidFill>
                <a:latin typeface="Arial"/>
                <a:ea typeface="Malgun Gothic"/>
                <a:cs typeface="Malgun Gothic"/>
              </a:rPr>
              <a:t>Q9</a:t>
            </a:r>
            <a:r>
              <a:rPr sz="1050" b="0" i="0">
                <a:solidFill>
                  <a:srgbClr val="16213A"/>
                </a:solidFill>
                <a:latin typeface="Arial"/>
                <a:ea typeface="Malgun Gothic"/>
                <a:cs typeface="Malgun Gothic"/>
              </a:rPr>
              <a:t>도 같은 흐름이다. 시뮬레이터 rollout 기반 샘플링 MPC(DIAL-MPC </a:t>
            </a:r>
            <a:r>
              <a:rPr sz="1050" b="0" i="0">
                <a:solidFill>
                  <a:srgbClr val="1D4ED8"/>
                </a:solidFill>
                <a:latin typeface="Arial"/>
                <a:ea typeface="Malgun Gothic"/>
                <a:cs typeface="Malgun Gothic"/>
                <a:hlinkClick r:id="rId9"/>
              </a:rPr>
              <a:t>Q7</a:t>
            </a:r>
            <a:r>
              <a:rPr sz="1050" b="0" i="0">
                <a:solidFill>
                  <a:srgbClr val="16213A"/>
                </a:solidFill>
                <a:latin typeface="Arial"/>
                <a:ea typeface="Malgun Gothic"/>
                <a:cs typeface="Malgun Gothic"/>
              </a:rPr>
              <a:t>)는 학습 없는 대안이지만 실기 검증이 적은 신흥 단계다. 파운데이션 모델은 보행보다 상위 내비게이션과 점검에 먼저 들어왔다 </a:t>
            </a:r>
            <a:r>
              <a:rPr sz="1050" b="0" i="0">
                <a:solidFill>
                  <a:srgbClr val="1D4ED8"/>
                </a:solidFill>
                <a:latin typeface="Arial"/>
                <a:ea typeface="Malgun Gothic"/>
                <a:cs typeface="Malgun Gothic"/>
                <a:hlinkClick r:id="rId10"/>
              </a:rPr>
              <a:t>Q10</a:t>
            </a:r>
            <a:r>
              <a:rPr sz="1050" b="0" i="0">
                <a:solidFill>
                  <a:srgbClr val="16213A"/>
                </a:solidFill>
                <a:latin typeface="Arial"/>
                <a:ea typeface="Malgun Gothic"/>
                <a:cs typeface="Malgun Gothic"/>
              </a:rPr>
              <a:t>.</a:t>
            </a:r>
          </a:p>
        </p:txBody>
      </p:sp>
      <p:sp>
        <p:nvSpPr>
          <p:cNvPr id="6" name="TextBox 5"/>
          <p:cNvSpPr txBox="1"/>
          <p:nvPr/>
        </p:nvSpPr>
        <p:spPr>
          <a:xfrm>
            <a:off x="609600" y="2848967"/>
            <a:ext cx="10972800" cy="1731962"/>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휴머노이드 — 궤적 최적화는 보상, 참조, 데이터 생성기다</a:t>
            </a:r>
            <a:r>
              <a:rPr sz="1050" b="0" i="0">
                <a:solidFill>
                  <a:srgbClr val="16213A"/>
                </a:solidFill>
                <a:latin typeface="Arial"/>
                <a:ea typeface="Malgun Gothic"/>
                <a:cs typeface="Malgun Gothic"/>
              </a:rPr>
              <a:t>(Atlas, Figure, Digit, Unitree G1, GR00T). 쓰는 방식. 고전 스택은 ZMP·LIPM·DCM 발자국 계획, centroidal·전신 MPC, 1 kHz QP 전신 제어였다. 2023–24년에 GPU 병렬 PPO sim-to-real이 기본값이 됐다 </a:t>
            </a:r>
            <a:r>
              <a:rPr sz="1050" b="0" i="0">
                <a:solidFill>
                  <a:srgbClr val="1D4ED8"/>
                </a:solidFill>
                <a:latin typeface="Arial"/>
                <a:ea typeface="Malgun Gothic"/>
                <a:cs typeface="Malgun Gothic"/>
                <a:hlinkClick r:id="rId11"/>
              </a:rPr>
              <a:t>H1</a:t>
            </a:r>
            <a:r>
              <a:rPr sz="1050" b="0" i="0">
                <a:solidFill>
                  <a:srgbClr val="16213A"/>
                </a:solidFill>
                <a:latin typeface="Arial"/>
                <a:ea typeface="Malgun Gothic"/>
                <a:cs typeface="Malgun Gothic"/>
              </a:rPr>
              <a:t>. 2024–25년에는 사람 모캡을 리타기팅해 따라가는 전신 제어(ASAP </a:t>
            </a:r>
            <a:r>
              <a:rPr sz="1050" b="0" i="0">
                <a:solidFill>
                  <a:srgbClr val="1D4ED8"/>
                </a:solidFill>
                <a:latin typeface="Arial"/>
                <a:ea typeface="Malgun Gothic"/>
                <a:cs typeface="Malgun Gothic"/>
                <a:hlinkClick r:id="rId12"/>
              </a:rPr>
              <a:t>H6</a:t>
            </a:r>
            <a:r>
              <a:rPr sz="1050" b="0" i="0">
                <a:solidFill>
                  <a:srgbClr val="16213A"/>
                </a:solidFill>
                <a:latin typeface="Arial"/>
                <a:ea typeface="Malgun Gothic"/>
                <a:cs typeface="Malgun Gothic"/>
              </a:rPr>
              <a:t> 등)가 가장 활발한 주제가 됐다. 2025–26년에는 이것을 키운 행동 파운데이션 모델(SONIC </a:t>
            </a:r>
            <a:r>
              <a:rPr sz="1050" b="0" i="0">
                <a:solidFill>
                  <a:srgbClr val="1D4ED8"/>
                </a:solidFill>
                <a:latin typeface="Arial"/>
                <a:ea typeface="Malgun Gothic"/>
                <a:cs typeface="Malgun Gothic"/>
                <a:hlinkClick r:id="rId13"/>
              </a:rPr>
              <a:t>H5</a:t>
            </a:r>
            <a:r>
              <a:rPr sz="1050" b="0" i="0">
                <a:solidFill>
                  <a:srgbClr val="16213A"/>
                </a:solidFill>
                <a:latin typeface="Arial"/>
                <a:ea typeface="Malgun Gothic"/>
                <a:cs typeface="Malgun Gothic"/>
              </a:rPr>
              <a:t>), 지각 기반 전신 파쿠르 </a:t>
            </a:r>
            <a:r>
              <a:rPr sz="1050" b="0" i="0">
                <a:solidFill>
                  <a:srgbClr val="1D4ED8"/>
                </a:solidFill>
                <a:latin typeface="Arial"/>
                <a:ea typeface="Malgun Gothic"/>
                <a:cs typeface="Malgun Gothic"/>
                <a:hlinkClick r:id="rId14"/>
              </a:rPr>
              <a:t>H10</a:t>
            </a:r>
            <a:r>
              <a:rPr sz="1050" b="0" i="0">
                <a:solidFill>
                  <a:srgbClr val="16213A"/>
                </a:solidFill>
                <a:latin typeface="Arial"/>
                <a:ea typeface="Malgun Gothic"/>
                <a:cs typeface="Malgun Gothic"/>
              </a:rPr>
              <a:t>, System 2·1·0 VLA 계층이 부상했다. 모방 문서 §I와 B.16.1·B.16.6이 이 줄기를 다룬다. 대세와 근거. 공개 기술 발표가 있는 회사는 모두 보행 저수준을 시뮬레이션 RL로 옮겼다. Figure는 Helix 02의 System 0이 손으로 짠 C++ 109,504줄을 대체했다고 밝혔다 </a:t>
            </a:r>
            <a:r>
              <a:rPr sz="1050" b="0" i="0">
                <a:solidFill>
                  <a:srgbClr val="1D4ED8"/>
                </a:solidFill>
                <a:latin typeface="Arial"/>
                <a:ea typeface="Malgun Gothic"/>
                <a:cs typeface="Malgun Gothic"/>
                <a:hlinkClick r:id="rId15"/>
              </a:rPr>
              <a:t>H2</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16"/>
              </a:rPr>
              <a:t>H11</a:t>
            </a:r>
            <a:r>
              <a:rPr sz="1050" b="0" i="0">
                <a:solidFill>
                  <a:srgbClr val="16213A"/>
                </a:solidFill>
                <a:latin typeface="Arial"/>
                <a:ea typeface="Malgun Gothic"/>
                <a:cs typeface="Malgun Gothic"/>
              </a:rPr>
              <a:t>. Agility는 작은 LSTM이 IK·ID 기반 제어를 대체했고 </a:t>
            </a:r>
            <a:r>
              <a:rPr sz="1050" b="0" i="0">
                <a:solidFill>
                  <a:srgbClr val="1D4ED8"/>
                </a:solidFill>
                <a:latin typeface="Arial"/>
                <a:ea typeface="Malgun Gothic"/>
                <a:cs typeface="Malgun Gothic"/>
                <a:hlinkClick r:id="rId17"/>
              </a:rPr>
              <a:t>H3</a:t>
            </a:r>
            <a:r>
              <a:rPr sz="1050" b="0" i="0">
                <a:solidFill>
                  <a:srgbClr val="16213A"/>
                </a:solidFill>
                <a:latin typeface="Arial"/>
                <a:ea typeface="Malgun Gothic"/>
                <a:cs typeface="Malgun Gothic"/>
              </a:rPr>
              <a:t>, NVIDIA GR00T는 하체 RL과 상체 IK를 쓴다 </a:t>
            </a:r>
            <a:r>
              <a:rPr sz="1050" b="0" i="0">
                <a:solidFill>
                  <a:srgbClr val="1D4ED8"/>
                </a:solidFill>
                <a:latin typeface="Arial"/>
                <a:ea typeface="Malgun Gothic"/>
                <a:cs typeface="Malgun Gothic"/>
                <a:hlinkClick r:id="rId18"/>
              </a:rPr>
              <a:t>H12</a:t>
            </a:r>
            <a:r>
              <a:rPr sz="1050" b="0" i="0">
                <a:solidFill>
                  <a:srgbClr val="16213A"/>
                </a:solidFill>
                <a:latin typeface="Arial"/>
                <a:ea typeface="Malgun Gothic"/>
                <a:cs typeface="Malgun Gothic"/>
              </a:rPr>
              <a:t>. 예외는 BD로, 450M 파라미터 LBM이 BD의 MPC 기반 인터페이스 위에서 30 Hz로 돈다 </a:t>
            </a:r>
            <a:r>
              <a:rPr sz="1050" b="0" i="0">
                <a:solidFill>
                  <a:srgbClr val="1D4ED8"/>
                </a:solidFill>
                <a:latin typeface="Arial"/>
                <a:ea typeface="Malgun Gothic"/>
                <a:cs typeface="Malgun Gothic"/>
                <a:hlinkClick r:id="rId19"/>
              </a:rPr>
              <a:t>H4</a:t>
            </a:r>
            <a:r>
              <a:rPr sz="1050" b="0" i="0">
                <a:solidFill>
                  <a:srgbClr val="16213A"/>
                </a:solidFill>
                <a:latin typeface="Arial"/>
                <a:ea typeface="Malgun Gothic"/>
                <a:cs typeface="Malgun Gothic"/>
              </a:rPr>
              <a:t>. Tesla·1X·Apptronik·UBTech은 보행 알고리즘을 공개하지 않았고, 학계 신규 논문 대다수는 Unitree G1에서 검증한다. 다음. 모션 추적을 키운 범용 저수준 제어기가 속도 명령 보행을 흡수할 가능성이 높다. VLA와 전신 제어기 사이의 인터페이스(기저 속도, 발·손 자세, 모션 토큰)가 경쟁 지점이 된다. MPC와 TO는 온라인 루프 대신 보상·참조·데이터 생성(AMO </a:t>
            </a:r>
            <a:r>
              <a:rPr sz="1050" b="0" i="0">
                <a:solidFill>
                  <a:srgbClr val="1D4ED8"/>
                </a:solidFill>
                <a:latin typeface="Arial"/>
                <a:ea typeface="Malgun Gothic"/>
                <a:cs typeface="Malgun Gothic"/>
                <a:hlinkClick r:id="rId20"/>
              </a:rPr>
              <a:t>H8</a:t>
            </a:r>
            <a:r>
              <a:rPr sz="1050" b="0" i="0">
                <a:solidFill>
                  <a:srgbClr val="16213A"/>
                </a:solidFill>
                <a:latin typeface="Arial"/>
                <a:ea typeface="Malgun Gothic"/>
                <a:cs typeface="Malgun Gothic"/>
              </a:rPr>
              <a:t>, MPC 가이드 RL </a:t>
            </a:r>
            <a:r>
              <a:rPr sz="1050" b="0" i="0">
                <a:solidFill>
                  <a:srgbClr val="1D4ED8"/>
                </a:solidFill>
                <a:latin typeface="Arial"/>
                <a:ea typeface="Malgun Gothic"/>
                <a:cs typeface="Malgun Gothic"/>
                <a:hlinkClick r:id="rId21"/>
              </a:rPr>
              <a:t>H9</a:t>
            </a:r>
            <a:r>
              <a:rPr sz="1050" b="0" i="0">
                <a:solidFill>
                  <a:srgbClr val="16213A"/>
                </a:solidFill>
                <a:latin typeface="Arial"/>
                <a:ea typeface="Malgun Gothic"/>
                <a:cs typeface="Malgun Gothic"/>
              </a:rPr>
              <a:t>)과 상위 계획 쪽으로 가고, 저차 모델 MPC 연구도 이어진다 </a:t>
            </a:r>
            <a:r>
              <a:rPr sz="1050" b="0" i="0">
                <a:solidFill>
                  <a:srgbClr val="1D4ED8"/>
                </a:solidFill>
                <a:latin typeface="Arial"/>
                <a:ea typeface="Malgun Gothic"/>
                <a:cs typeface="Malgun Gothic"/>
                <a:hlinkClick r:id="rId22"/>
              </a:rPr>
              <a:t>H7</a:t>
            </a:r>
            <a:r>
              <a:rPr sz="1050" b="0" i="0">
                <a:solidFill>
                  <a:srgbClr val="16213A"/>
                </a:solidFill>
                <a:latin typeface="Arial"/>
                <a:ea typeface="Malgun Gothic"/>
                <a:cs typeface="Malgun Gothic"/>
              </a:rPr>
              <a:t>. 대회는 원격 조종에 감점을 주고 완전 자율을 요구하는 쪽으로 바뀌고 있다 </a:t>
            </a:r>
            <a:r>
              <a:rPr sz="1050" b="0" i="0">
                <a:solidFill>
                  <a:srgbClr val="1D4ED8"/>
                </a:solidFill>
                <a:latin typeface="Arial"/>
                <a:ea typeface="Malgun Gothic"/>
                <a:cs typeface="Malgun Gothic"/>
                <a:hlinkClick r:id="rId23"/>
              </a:rPr>
              <a:t>H13</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24"/>
              </a:rPr>
              <a:t>H14</a:t>
            </a:r>
            <a:r>
              <a:rPr sz="1050" b="0" i="0">
                <a:solidFill>
                  <a:srgbClr val="16213A"/>
                </a:solidFill>
                <a:latin typeface="Arial"/>
                <a:ea typeface="Malgun Gothic"/>
                <a:cs typeface="Malgun Gothic"/>
              </a:rPr>
              <a:t>.</a:t>
            </a:r>
          </a:p>
        </p:txBody>
      </p:sp>
      <p:sp>
        <p:nvSpPr>
          <p:cNvPr id="7" name="TextBox 6"/>
          <p:cNvSpPr txBox="1"/>
          <p:nvPr/>
        </p:nvSpPr>
        <p:spPr>
          <a:xfrm>
            <a:off x="717550" y="4669830"/>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B.18.3 분야를 가로지르는 흐름</a:t>
            </a:r>
          </a:p>
        </p:txBody>
      </p:sp>
      <p:sp>
        <p:nvSpPr>
          <p:cNvPr id="8" name="TextBox 7"/>
          <p:cNvSpPr txBox="1"/>
          <p:nvPr/>
        </p:nvSpPr>
        <p:spPr>
          <a:xfrm>
            <a:off x="609600" y="4973042"/>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일곱 흐름이 여러 분야에 함께 나타난다.</a:t>
            </a:r>
            <a:r>
              <a:rPr sz="1050" b="0" i="0">
                <a:solidFill>
                  <a:srgbClr val="16213A"/>
                </a:solidFill>
                <a:latin typeface="Arial"/>
                <a:ea typeface="Malgun Gothic"/>
                <a:cs typeface="Malgun Gothic"/>
              </a:rPr>
              <a:t> 가장 큰 둘은 저수준 제어의 RL 전환과 궤적 최적화의 자리 이동이다.</a:t>
            </a:r>
          </a:p>
        </p:txBody>
      </p:sp>
      <p:graphicFrame>
        <p:nvGraphicFramePr>
          <p:cNvPr id="9" name="Table 8"/>
          <p:cNvGraphicFramePr>
            <a:graphicFrameLocks noGrp="1"/>
          </p:cNvGraphicFramePr>
          <p:nvPr/>
        </p:nvGraphicFramePr>
        <p:xfrm>
          <a:off x="609600" y="5278438"/>
          <a:ext cx="10966449" cy="712152"/>
        </p:xfrm>
        <a:graphic>
          <a:graphicData uri="http://schemas.openxmlformats.org/drawingml/2006/table">
            <a:tbl>
              <a:tblPr firstRow="1" bandRow="1">
                <a:tableStyleId>{5C22544A-7EE6-4342-B048-85BDC9FD1C3A}</a:tableStyleId>
              </a:tblPr>
              <a:tblGrid>
                <a:gridCol w="1362670"/>
                <a:gridCol w="8644830"/>
                <a:gridCol w="958949"/>
              </a:tblGrid>
              <a:tr h="197088">
                <a:tc>
                  <a:txBody>
                    <a:bodyPr wrap="square"/>
                    <a:lstStyle/>
                    <a:p>
                      <a:r>
                        <a:rPr sz="800" b="1" i="0">
                          <a:solidFill>
                            <a:srgbClr val="F4F1EA"/>
                          </a:solidFill>
                          <a:latin typeface="Arial"/>
                          <a:ea typeface="Malgun Gothic"/>
                          <a:cs typeface="Malgun Gothic"/>
                        </a:rPr>
                        <a:t>흐름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무슨 일이 일어나나</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분야</a:t>
                      </a:r>
                    </a:p>
                  </a:txBody>
                  <a:tcPr marL="63500" marR="63500" marT="12700" marB="12700">
                    <a:solidFill>
                      <a:srgbClr val="16213A"/>
                    </a:solidFill>
                  </a:tcPr>
                </a:tc>
              </a:tr>
              <a:tr h="317976">
                <a:tc>
                  <a:txBody>
                    <a:bodyPr wrap="square"/>
                    <a:lstStyle/>
                    <a:p>
                      <a:r>
                        <a:rPr sz="800" b="0" i="0">
                          <a:solidFill>
                            <a:srgbClr val="16213A"/>
                          </a:solidFill>
                          <a:latin typeface="Arial"/>
                          <a:ea typeface="Malgun Gothic"/>
                          <a:cs typeface="Malgun Gothic"/>
                        </a:rPr>
                        <a:t>저수준 제어는 RL로</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GPU 병렬 시뮬레이션(Isaac Lab </a:t>
                      </a:r>
                      <a:r>
                        <a:rPr sz="800" b="0" i="0">
                          <a:solidFill>
                            <a:srgbClr val="1D4ED8"/>
                          </a:solidFill>
                          <a:latin typeface="Arial"/>
                          <a:ea typeface="Malgun Gothic"/>
                          <a:cs typeface="Malgun Gothic"/>
                          <a:hlinkClick r:id="rId25"/>
                        </a:rPr>
                        <a:t>C1</a:t>
                      </a:r>
                      <a:r>
                        <a:rPr sz="800" b="0" i="0">
                          <a:solidFill>
                            <a:srgbClr val="16213A"/>
                          </a:solidFill>
                          <a:latin typeface="Arial"/>
                          <a:ea typeface="Malgun Gothic"/>
                          <a:cs typeface="Malgun Gothic"/>
                        </a:rPr>
                        <a:t>, MuJoCo Playground </a:t>
                      </a:r>
                      <a:r>
                        <a:rPr sz="800" b="0" i="0">
                          <a:solidFill>
                            <a:srgbClr val="1D4ED8"/>
                          </a:solidFill>
                          <a:latin typeface="Arial"/>
                          <a:ea typeface="Malgun Gothic"/>
                          <a:cs typeface="Malgun Gothic"/>
                          <a:hlinkClick r:id="rId26"/>
                        </a:rPr>
                        <a:t>C2</a:t>
                      </a:r>
                      <a:r>
                        <a:rPr sz="800" b="0" i="0">
                          <a:solidFill>
                            <a:srgbClr val="16213A"/>
                          </a:solidFill>
                          <a:latin typeface="Arial"/>
                          <a:ea typeface="Malgun Gothic"/>
                          <a:cs typeface="Malgun Gothic"/>
                        </a:rPr>
                        <a:t>)과 PPO, 증류가 다리 로봇 보행과 드론 레이싱의 기본값이 됐다. 드론 레이싱에서는 RL이 더 나은 목적 함수를 최적화한다는 분석이 나왔다 </a:t>
                      </a:r>
                      <a:r>
                        <a:rPr sz="800" b="0" i="0">
                          <a:solidFill>
                            <a:srgbClr val="1D4ED8"/>
                          </a:solidFill>
                          <a:latin typeface="Arial"/>
                          <a:ea typeface="Malgun Gothic"/>
                          <a:cs typeface="Malgun Gothic"/>
                          <a:hlinkClick r:id="rId27"/>
                        </a:rPr>
                        <a:t>C3</a:t>
                      </a:r>
                      <a:r>
                        <a:rPr sz="800" b="0" i="0">
                          <a:solidFill>
                            <a:srgbClr val="16213A"/>
                          </a:solidFill>
                          <a:latin typeface="Arial"/>
                          <a:ea typeface="Malgun Gothic"/>
                          <a:cs typeface="Malgun Gothic"/>
                        </a:rPr>
                        <a:t>. 인프라는 Newton·MuJoCo Warp로 모이는 중이지만 단일 표준은 아니다 </a:t>
                      </a:r>
                      <a:r>
                        <a:rPr sz="800" b="0" i="0">
                          <a:solidFill>
                            <a:srgbClr val="1D4ED8"/>
                          </a:solidFill>
                          <a:latin typeface="Arial"/>
                          <a:ea typeface="Malgun Gothic"/>
                          <a:cs typeface="Malgun Gothic"/>
                          <a:hlinkClick r:id="rId28"/>
                        </a:rPr>
                        <a:t>C8</a:t>
                      </a:r>
                      <a:r>
                        <a:rPr sz="800" b="0" i="0">
                          <a:solidFill>
                            <a:srgbClr val="16213A"/>
                          </a:solidFill>
                          <a:latin typeface="Arial"/>
                          <a:ea typeface="Malgun Gothic"/>
                          <a:cs typeface="Malgun Gothic"/>
                        </a:rPr>
                        <a:t> </a:t>
                      </a:r>
                      <a:r>
                        <a:rPr sz="800" b="0" i="0">
                          <a:solidFill>
                            <a:srgbClr val="1D4ED8"/>
                          </a:solidFill>
                          <a:latin typeface="Arial"/>
                          <a:ea typeface="Malgun Gothic"/>
                          <a:cs typeface="Malgun Gothic"/>
                          <a:hlinkClick r:id="rId29"/>
                        </a:rPr>
                        <a:t>C13</a:t>
                      </a:r>
                      <a:r>
                        <a:rPr sz="800" b="0" i="0">
                          <a:solidFill>
                            <a:srgbClr val="16213A"/>
                          </a:solidFill>
                          <a:latin typeface="Arial"/>
                          <a:ea typeface="Malgun Gothic"/>
                          <a:cs typeface="Malgun Gothic"/>
                        </a:rPr>
                        <a:t>. 풀스케일 레이싱카와 도로는 예외로, 저수준은 여전히 MPC·LQR·PP다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사족, 휴머노이드, 드론</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궤적 최적화의 자리 이동</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스택 전체를 맡던 주 플래너에서 참조·교사 생성기(DTC </a:t>
                      </a:r>
                      <a:r>
                        <a:rPr sz="800" b="0" i="0">
                          <a:solidFill>
                            <a:srgbClr val="1D4ED8"/>
                          </a:solidFill>
                          <a:latin typeface="Arial"/>
                          <a:ea typeface="Malgun Gothic"/>
                          <a:cs typeface="Malgun Gothic"/>
                          <a:hlinkClick r:id="rId30"/>
                        </a:rPr>
                        <a:t>Q5</a:t>
                      </a:r>
                      <a:r>
                        <a:rPr sz="800" b="0" i="0">
                          <a:solidFill>
                            <a:srgbClr val="16213A"/>
                          </a:solidFill>
                          <a:latin typeface="Arial"/>
                          <a:ea typeface="Malgun Gothic"/>
                          <a:cs typeface="Malgun Gothic"/>
                        </a:rPr>
                        <a:t>), 안전·검증층(Waymo </a:t>
                      </a:r>
                      <a:r>
                        <a:rPr sz="800" b="0" i="0">
                          <a:solidFill>
                            <a:srgbClr val="1D4ED8"/>
                          </a:solidFill>
                          <a:latin typeface="Arial"/>
                          <a:ea typeface="Malgun Gothic"/>
                          <a:cs typeface="Malgun Gothic"/>
                          <a:hlinkClick r:id="rId31"/>
                        </a:rPr>
                        <a:t>A7</a:t>
                      </a:r>
                      <a:r>
                        <a:rPr sz="800" b="0" i="0">
                          <a:solidFill>
                            <a:srgbClr val="16213A"/>
                          </a:solidFill>
                          <a:latin typeface="Arial"/>
                          <a:ea typeface="Malgun Gothic"/>
                          <a:cs typeface="Malgun Gothic"/>
                        </a:rPr>
                        <a:t>, SUPER의 MINCO 백업 궤적 </a:t>
                      </a:r>
                      <a:r>
                        <a:rPr sz="800" b="0" i="0">
                          <a:solidFill>
                            <a:srgbClr val="1D4ED8"/>
                          </a:solidFill>
                          <a:latin typeface="Arial"/>
                          <a:ea typeface="Malgun Gothic"/>
                          <a:cs typeface="Malgun Gothic"/>
                          <a:hlinkClick r:id="rId32"/>
                        </a:rPr>
                        <a:t>G1</a:t>
                      </a:r>
                      <a:r>
                        <a:rPr sz="800" b="0" i="0">
                          <a:solidFill>
                            <a:srgbClr val="16213A"/>
                          </a:solidFill>
                          <a:latin typeface="Arial"/>
                          <a:ea typeface="Malgun Gothic"/>
                          <a:cs typeface="Malgun Gothic"/>
                        </a:rPr>
                        <a:t>), 추종 제어기(BD Atlas </a:t>
                      </a:r>
                      <a:r>
                        <a:rPr sz="800" b="0" i="0">
                          <a:solidFill>
                            <a:srgbClr val="1D4ED8"/>
                          </a:solidFill>
                          <a:latin typeface="Arial"/>
                          <a:ea typeface="Malgun Gothic"/>
                          <a:cs typeface="Malgun Gothic"/>
                          <a:hlinkClick r:id="rId19"/>
                        </a:rPr>
                        <a:t>H4</a:t>
                      </a:r>
                      <a:r>
                        <a:rPr sz="800" b="0" i="0">
                          <a:solidFill>
                            <a:srgbClr val="16213A"/>
                          </a:solidFill>
                          <a:latin typeface="Arial"/>
                          <a:ea typeface="Malgun Gothic"/>
                          <a:cs typeface="Malgun Gothic"/>
                        </a:rPr>
                        <a:t>)로 옮겨 갔다. 레이싱카만 예외다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전 분야</a:t>
                      </a:r>
                    </a:p>
                  </a:txBody>
                  <a:tcPr marL="63500" marR="63500" marT="12700" marB="12700">
                    <a:solidFill>
                      <a:srgbClr val="F3F0E8"/>
                    </a:solidFill>
                  </a:tcPr>
                </a:tc>
              </a:tr>
            </a:tbl>
          </a:graphicData>
        </a:graphic>
      </p:graphicFrame>
    </p:spTree>
  </p:cSld>
  <p:clrMapOvr>
    <a:masterClrMapping/>
  </p:clrMapOvr>
</p:sld>
</file>

<file path=ppt/slides/slide48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분야별 지형</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B.18 로봇 분야별 계획·제어: 레이싱카, 모바일 로봇, 도로 자율주행, 사족보행, 휴머노이드</a:t>
            </a:r>
            <a:r>
              <a:rPr sz="1050" b="0" i="0">
                <a:solidFill>
                  <a:srgbClr val="5A6478"/>
                </a:solidFill>
                <a:latin typeface="Arial"/>
                <a:ea typeface="Malgun Gothic"/>
                <a:cs typeface="Malgun Gothic"/>
              </a:rPr>
              <a:t>  5/9</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487 / 516</a:t>
            </a:r>
          </a:p>
        </p:txBody>
      </p:sp>
      <p:graphicFrame>
        <p:nvGraphicFramePr>
          <p:cNvPr id="5" name="Table 4"/>
          <p:cNvGraphicFramePr>
            <a:graphicFrameLocks noGrp="1"/>
          </p:cNvGraphicFramePr>
          <p:nvPr/>
        </p:nvGraphicFramePr>
        <p:xfrm>
          <a:off x="609600" y="1244600"/>
          <a:ext cx="10966449" cy="2104944"/>
        </p:xfrm>
        <a:graphic>
          <a:graphicData uri="http://schemas.openxmlformats.org/drawingml/2006/table">
            <a:tbl>
              <a:tblPr firstRow="1" bandRow="1">
                <a:tableStyleId>{5C22544A-7EE6-4342-B048-85BDC9FD1C3A}</a:tableStyleId>
              </a:tblPr>
              <a:tblGrid>
                <a:gridCol w="1362670"/>
                <a:gridCol w="8644830"/>
                <a:gridCol w="958949"/>
              </a:tblGrid>
              <a:tr h="197088">
                <a:tc>
                  <a:txBody>
                    <a:bodyPr wrap="square"/>
                    <a:lstStyle/>
                    <a:p>
                      <a:r>
                        <a:rPr sz="800" b="1" i="0">
                          <a:solidFill>
                            <a:srgbClr val="F4F1EA"/>
                          </a:solidFill>
                          <a:latin typeface="Arial"/>
                          <a:ea typeface="Malgun Gothic"/>
                          <a:cs typeface="Malgun Gothic"/>
                        </a:rPr>
                        <a:t>흐름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무슨 일이 일어나나</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분야</a:t>
                      </a:r>
                    </a:p>
                  </a:txBody>
                  <a:tcPr marL="63500" marR="63500" marT="12700" marB="12700">
                    <a:solidFill>
                      <a:srgbClr val="16213A"/>
                    </a:solidFill>
                  </a:tcPr>
                </a:tc>
              </a:tr>
              <a:tr h="317976">
                <a:tc>
                  <a:txBody>
                    <a:bodyPr wrap="square"/>
                    <a:lstStyle/>
                    <a:p>
                      <a:r>
                        <a:rPr sz="800" b="0" i="0">
                          <a:solidFill>
                            <a:srgbClr val="16213A"/>
                          </a:solidFill>
                          <a:latin typeface="Arial"/>
                          <a:ea typeface="Malgun Gothic"/>
                          <a:cs typeface="Malgun Gothic"/>
                        </a:rPr>
                        <a:t>해 하나에서 병렬 후보와 평가로</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Frenet 다항식 샘플링, MPPI의 critic rollout </a:t>
                      </a:r>
                      <a:r>
                        <a:rPr sz="800" b="0" i="0">
                          <a:solidFill>
                            <a:srgbClr val="1D4ED8"/>
                          </a:solidFill>
                          <a:latin typeface="Arial"/>
                          <a:ea typeface="Malgun Gothic"/>
                          <a:cs typeface="Malgun Gothic"/>
                          <a:hlinkClick r:id="rId3"/>
                        </a:rPr>
                        <a:t>N12</a:t>
                      </a:r>
                      <a:r>
                        <a:rPr sz="800" b="0" i="0">
                          <a:solidFill>
                            <a:srgbClr val="16213A"/>
                          </a:solidFill>
                          <a:latin typeface="Arial"/>
                          <a:ea typeface="Malgun Gothic"/>
                          <a:cs typeface="Malgun Gothic"/>
                        </a:rPr>
                        <a:t>, 샘플링 발 디딤, DIAL-MPC </a:t>
                      </a:r>
                      <a:r>
                        <a:rPr sz="800" b="0" i="0">
                          <a:solidFill>
                            <a:srgbClr val="1D4ED8"/>
                          </a:solidFill>
                          <a:latin typeface="Arial"/>
                          <a:ea typeface="Malgun Gothic"/>
                          <a:cs typeface="Malgun Gothic"/>
                          <a:hlinkClick r:id="rId4"/>
                        </a:rPr>
                        <a:t>Q7</a:t>
                      </a:r>
                      <a:r>
                        <a:rPr sz="800" b="0" i="0">
                          <a:solidFill>
                            <a:srgbClr val="16213A"/>
                          </a:solidFill>
                          <a:latin typeface="Arial"/>
                          <a:ea typeface="Malgun Gothic"/>
                          <a:cs typeface="Malgun Gothic"/>
                        </a:rPr>
                        <a:t>, NAVSIM 우승 스코어러 </a:t>
                      </a:r>
                      <a:r>
                        <a:rPr sz="800" b="0" i="0">
                          <a:solidFill>
                            <a:srgbClr val="1D4ED8"/>
                          </a:solidFill>
                          <a:latin typeface="Arial"/>
                          <a:ea typeface="Malgun Gothic"/>
                          <a:cs typeface="Malgun Gothic"/>
                          <a:hlinkClick r:id="rId5"/>
                        </a:rPr>
                        <a:t>A2</a:t>
                      </a:r>
                      <a:r>
                        <a:rPr sz="800" b="0" i="0">
                          <a:solidFill>
                            <a:srgbClr val="16213A"/>
                          </a:solidFill>
                          <a:latin typeface="Arial"/>
                          <a:ea typeface="Malgun Gothic"/>
                          <a:cs typeface="Malgun Gothic"/>
                        </a:rPr>
                        <a:t>가 같은 패턴이다. 공통 동인은 GPU 병렬성, 그리고 코스트맵·학습 traversability·규칙 지표 같은 비미분 비용을 그대로 쓸 수 있다는 점이다. 확산과 MPPI의 이론적 연결이 둘을 잇는다 </a:t>
                      </a:r>
                      <a:r>
                        <a:rPr sz="800" b="0" i="0">
                          <a:solidFill>
                            <a:srgbClr val="1D4ED8"/>
                          </a:solidFill>
                          <a:latin typeface="Arial"/>
                          <a:ea typeface="Malgun Gothic"/>
                          <a:cs typeface="Malgun Gothic"/>
                          <a:hlinkClick r:id="rId6"/>
                        </a:rPr>
                        <a:t>C10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도로, 모바일, 레이싱, 다리</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파운데이션 모델은 위층으로</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확산·flow 행동 헤드(Diffusion Policy </a:t>
                      </a:r>
                      <a:r>
                        <a:rPr sz="800" b="0" i="0">
                          <a:solidFill>
                            <a:srgbClr val="1D4ED8"/>
                          </a:solidFill>
                          <a:latin typeface="Arial"/>
                          <a:ea typeface="Malgun Gothic"/>
                          <a:cs typeface="Malgun Gothic"/>
                          <a:hlinkClick r:id="rId7"/>
                        </a:rPr>
                        <a:t>C4</a:t>
                      </a:r>
                      <a:r>
                        <a:rPr sz="800" b="0" i="0">
                          <a:solidFill>
                            <a:srgbClr val="16213A"/>
                          </a:solidFill>
                          <a:latin typeface="Arial"/>
                          <a:ea typeface="Malgun Gothic"/>
                          <a:cs typeface="Malgun Gothic"/>
                        </a:rPr>
                        <a:t>, π0 </a:t>
                      </a:r>
                      <a:r>
                        <a:rPr sz="800" b="0" i="0">
                          <a:solidFill>
                            <a:srgbClr val="1D4ED8"/>
                          </a:solidFill>
                          <a:latin typeface="Arial"/>
                          <a:ea typeface="Malgun Gothic"/>
                          <a:cs typeface="Malgun Gothic"/>
                          <a:hlinkClick r:id="rId8"/>
                        </a:rPr>
                        <a:t>C5</a:t>
                      </a:r>
                      <a:r>
                        <a:rPr sz="800" b="0" i="0">
                          <a:solidFill>
                            <a:srgbClr val="16213A"/>
                          </a:solidFill>
                          <a:latin typeface="Arial"/>
                          <a:ea typeface="Malgun Gothic"/>
                          <a:cs typeface="Malgun Gothic"/>
                        </a:rPr>
                        <a:t>)를 단 VLM·VLA가 장면 추론과 서브골·중간 명령을 맡고, 실시간 균형과 충돌 회피는 빠른 학습형 전신 제어기나 MPC에 맡긴다(Helix 02 </a:t>
                      </a:r>
                      <a:r>
                        <a:rPr sz="800" b="0" i="0">
                          <a:solidFill>
                            <a:srgbClr val="1D4ED8"/>
                          </a:solidFill>
                          <a:latin typeface="Arial"/>
                          <a:ea typeface="Malgun Gothic"/>
                          <a:cs typeface="Malgun Gothic"/>
                          <a:hlinkClick r:id="rId9"/>
                        </a:rPr>
                        <a:t>H2</a:t>
                      </a:r>
                      <a:r>
                        <a:rPr sz="800" b="0" i="0">
                          <a:solidFill>
                            <a:srgbClr val="16213A"/>
                          </a:solidFill>
                          <a:latin typeface="Arial"/>
                          <a:ea typeface="Malgun Gothic"/>
                          <a:cs typeface="Malgun Gothic"/>
                        </a:rPr>
                        <a:t>, GR00T N1.6 </a:t>
                      </a:r>
                      <a:r>
                        <a:rPr sz="800" b="0" i="0">
                          <a:solidFill>
                            <a:srgbClr val="1D4ED8"/>
                          </a:solidFill>
                          <a:latin typeface="Arial"/>
                          <a:ea typeface="Malgun Gothic"/>
                          <a:cs typeface="Malgun Gothic"/>
                          <a:hlinkClick r:id="rId10"/>
                        </a:rPr>
                        <a:t>H12</a:t>
                      </a:r>
                      <a:r>
                        <a:rPr sz="800" b="0" i="0">
                          <a:solidFill>
                            <a:srgbClr val="16213A"/>
                          </a:solidFill>
                          <a:latin typeface="Arial"/>
                          <a:ea typeface="Malgun Gothic"/>
                          <a:cs typeface="Malgun Gothic"/>
                        </a:rPr>
                        <a:t>, BD–TRI LBM </a:t>
                      </a:r>
                      <a:r>
                        <a:rPr sz="800" b="0" i="0">
                          <a:solidFill>
                            <a:srgbClr val="1D4ED8"/>
                          </a:solidFill>
                          <a:latin typeface="Arial"/>
                          <a:ea typeface="Malgun Gothic"/>
                          <a:cs typeface="Malgun Gothic"/>
                          <a:hlinkClick r:id="rId11"/>
                        </a:rPr>
                        <a:t>H4</a:t>
                      </a:r>
                      <a:r>
                        <a:rPr sz="800" b="0" i="0">
                          <a:solidFill>
                            <a:srgbClr val="16213A"/>
                          </a:solidFill>
                          <a:latin typeface="Arial"/>
                          <a:ea typeface="Malgun Gothic"/>
                          <a:cs typeface="Malgun Gothic"/>
                        </a:rPr>
                        <a:t>, NaVILA </a:t>
                      </a:r>
                      <a:r>
                        <a:rPr sz="800" b="0" i="0">
                          <a:solidFill>
                            <a:srgbClr val="1D4ED8"/>
                          </a:solidFill>
                          <a:latin typeface="Arial"/>
                          <a:ea typeface="Malgun Gothic"/>
                          <a:cs typeface="Malgun Gothic"/>
                          <a:hlinkClick r:id="rId12"/>
                        </a:rPr>
                        <a:t>N6</a:t>
                      </a:r>
                      <a:r>
                        <a:rPr sz="800" b="0" i="0">
                          <a:solidFill>
                            <a:srgbClr val="16213A"/>
                          </a:solidFill>
                          <a:latin typeface="Arial"/>
                          <a:ea typeface="Malgun Gothic"/>
                          <a:cs typeface="Malgun Gothic"/>
                        </a:rPr>
                        <a:t>, DriveVLM </a:t>
                      </a:r>
                      <a:r>
                        <a:rPr sz="800" b="0" i="0">
                          <a:solidFill>
                            <a:srgbClr val="1D4ED8"/>
                          </a:solidFill>
                          <a:latin typeface="Arial"/>
                          <a:ea typeface="Malgun Gothic"/>
                          <a:cs typeface="Malgun Gothic"/>
                          <a:hlinkClick r:id="rId13"/>
                        </a:rPr>
                        <a:t>A12</a:t>
                      </a:r>
                      <a:r>
                        <a:rPr sz="800" b="0" i="0">
                          <a:solidFill>
                            <a:srgbClr val="16213A"/>
                          </a:solidFill>
                          <a:latin typeface="Arial"/>
                          <a:ea typeface="Malgun Gothic"/>
                          <a:cs typeface="Malgun Gothic"/>
                        </a:rPr>
                        <a:t>). 선도 기업이 수렴하는 단계이지 산업 표준은 아니다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휴머노이드, 모바일, 사족, 도로</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월드 모델은 시뮬레이터와 평가기로 먼저</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도로에서 가장 먼저 산업화됐고(Waymo World Model </a:t>
                      </a:r>
                      <a:r>
                        <a:rPr sz="800" b="0" i="0">
                          <a:solidFill>
                            <a:srgbClr val="1D4ED8"/>
                          </a:solidFill>
                          <a:latin typeface="Arial"/>
                          <a:ea typeface="Malgun Gothic"/>
                          <a:cs typeface="Malgun Gothic"/>
                          <a:hlinkClick r:id="rId14"/>
                        </a:rPr>
                        <a:t>A11</a:t>
                      </a:r>
                      <a:r>
                        <a:rPr sz="800" b="0" i="0">
                          <a:solidFill>
                            <a:srgbClr val="16213A"/>
                          </a:solidFill>
                          <a:latin typeface="Arial"/>
                          <a:ea typeface="Malgun Gothic"/>
                          <a:cs typeface="Malgun Gothic"/>
                        </a:rPr>
                        <a:t>, Cosmos </a:t>
                      </a:r>
                      <a:r>
                        <a:rPr sz="800" b="0" i="0">
                          <a:solidFill>
                            <a:srgbClr val="1D4ED8"/>
                          </a:solidFill>
                          <a:latin typeface="Arial"/>
                          <a:ea typeface="Malgun Gothic"/>
                          <a:cs typeface="Malgun Gothic"/>
                          <a:hlinkClick r:id="rId15"/>
                        </a:rPr>
                        <a:t>C7</a:t>
                      </a:r>
                      <a:r>
                        <a:rPr sz="800" b="0" i="0">
                          <a:solidFill>
                            <a:srgbClr val="16213A"/>
                          </a:solidFill>
                          <a:latin typeface="Arial"/>
                          <a:ea typeface="Malgun Gothic"/>
                          <a:cs typeface="Malgun Gothic"/>
                        </a:rPr>
                        <a:t>), 로봇에서는 정책 평가(Veo 시뮬레이터 </a:t>
                      </a:r>
                      <a:r>
                        <a:rPr sz="800" b="0" i="0">
                          <a:solidFill>
                            <a:srgbClr val="1D4ED8"/>
                          </a:solidFill>
                          <a:latin typeface="Arial"/>
                          <a:ea typeface="Malgun Gothic"/>
                          <a:cs typeface="Malgun Gothic"/>
                          <a:hlinkClick r:id="rId16"/>
                        </a:rPr>
                        <a:t>C6</a:t>
                      </a:r>
                      <a:r>
                        <a:rPr sz="800" b="0" i="0">
                          <a:solidFill>
                            <a:srgbClr val="16213A"/>
                          </a:solidFill>
                          <a:latin typeface="Arial"/>
                          <a:ea typeface="Malgun Gothic"/>
                          <a:cs typeface="Malgun Gothic"/>
                        </a:rPr>
                        <a:t>)에 쓰인다. 계획에 직접 쓰는 연구(DreamerV3 </a:t>
                      </a:r>
                      <a:r>
                        <a:rPr sz="800" b="0" i="0">
                          <a:solidFill>
                            <a:srgbClr val="1D4ED8"/>
                          </a:solidFill>
                          <a:latin typeface="Arial"/>
                          <a:ea typeface="Malgun Gothic"/>
                          <a:cs typeface="Malgun Gothic"/>
                          <a:hlinkClick r:id="rId17"/>
                        </a:rPr>
                        <a:t>C12</a:t>
                      </a:r>
                      <a:r>
                        <a:rPr sz="800" b="0" i="0">
                          <a:solidFill>
                            <a:srgbClr val="16213A"/>
                          </a:solidFill>
                          <a:latin typeface="Arial"/>
                          <a:ea typeface="Malgun Gothic"/>
                          <a:cs typeface="Malgun Gothic"/>
                        </a:rPr>
                        <a:t>, NWM </a:t>
                      </a:r>
                      <a:r>
                        <a:rPr sz="800" b="0" i="0">
                          <a:solidFill>
                            <a:srgbClr val="1D4ED8"/>
                          </a:solidFill>
                          <a:latin typeface="Arial"/>
                          <a:ea typeface="Malgun Gothic"/>
                          <a:cs typeface="Malgun Gothic"/>
                          <a:hlinkClick r:id="rId18"/>
                        </a:rPr>
                        <a:t>N15</a:t>
                      </a:r>
                      <a:r>
                        <a:rPr sz="800" b="0" i="0">
                          <a:solidFill>
                            <a:srgbClr val="16213A"/>
                          </a:solidFill>
                          <a:latin typeface="Arial"/>
                          <a:ea typeface="Malgun Gothic"/>
                          <a:cs typeface="Malgun Gothic"/>
                        </a:rPr>
                        <a:t>)는 늘지만, 실시간 제어 루프 안에서 월드 모델을 MPC 모델로 쓴 배치 사례는 없다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도로, 휴머노이드, 모바일</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데이터와 embodiment 스케일링</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휴머노이드는 모캡 수천 시간을 전신 제어 prior로 </a:t>
                      </a:r>
                      <a:r>
                        <a:rPr sz="800" b="0" i="0">
                          <a:solidFill>
                            <a:srgbClr val="1D4ED8"/>
                          </a:solidFill>
                          <a:latin typeface="Arial"/>
                          <a:ea typeface="Malgun Gothic"/>
                          <a:cs typeface="Malgun Gothic"/>
                          <a:hlinkClick r:id="rId19"/>
                        </a:rPr>
                        <a:t>H5</a:t>
                      </a:r>
                      <a:r>
                        <a:rPr sz="800" b="0" i="0">
                          <a:solidFill>
                            <a:srgbClr val="16213A"/>
                          </a:solidFill>
                          <a:latin typeface="Arial"/>
                          <a:ea typeface="Malgun Gothic"/>
                          <a:cs typeface="Malgun Gothic"/>
                        </a:rPr>
                        <a:t>, 사족은 절차 생성 embodiment 수백 개로 정책 하나를 </a:t>
                      </a:r>
                      <a:r>
                        <a:rPr sz="800" b="0" i="0">
                          <a:solidFill>
                            <a:srgbClr val="1D4ED8"/>
                          </a:solidFill>
                          <a:latin typeface="Arial"/>
                          <a:ea typeface="Malgun Gothic"/>
                          <a:cs typeface="Malgun Gothic"/>
                          <a:hlinkClick r:id="rId20"/>
                        </a:rPr>
                        <a:t>C11</a:t>
                      </a:r>
                      <a:r>
                        <a:rPr sz="800" b="0" i="0">
                          <a:solidFill>
                            <a:srgbClr val="16213A"/>
                          </a:solidFill>
                          <a:latin typeface="Arial"/>
                          <a:ea typeface="Malgun Gothic"/>
                          <a:cs typeface="Malgun Gothic"/>
                        </a:rPr>
                        <a:t>, 모바일은 여러 플랫폼의 데이터로 내비 모델을 학습하고 </a:t>
                      </a:r>
                      <a:r>
                        <a:rPr sz="800" b="0" i="0">
                          <a:solidFill>
                            <a:srgbClr val="1D4ED8"/>
                          </a:solidFill>
                          <a:latin typeface="Arial"/>
                          <a:ea typeface="Malgun Gothic"/>
                          <a:cs typeface="Malgun Gothic"/>
                          <a:hlinkClick r:id="rId21"/>
                        </a:rPr>
                        <a:t>N14</a:t>
                      </a:r>
                      <a:r>
                        <a:rPr sz="800" b="0" i="0">
                          <a:solidFill>
                            <a:srgbClr val="16213A"/>
                          </a:solidFill>
                          <a:latin typeface="Arial"/>
                          <a:ea typeface="Malgun Gothic"/>
                          <a:cs typeface="Malgun Gothic"/>
                        </a:rPr>
                        <a:t>, 도로는 계획 모델의 멱법칙 스케일링을 보고했다 </a:t>
                      </a:r>
                      <a:r>
                        <a:rPr sz="800" b="0" i="0">
                          <a:solidFill>
                            <a:srgbClr val="1D4ED8"/>
                          </a:solidFill>
                          <a:latin typeface="Arial"/>
                          <a:ea typeface="Malgun Gothic"/>
                          <a:cs typeface="Malgun Gothic"/>
                          <a:hlinkClick r:id="rId22"/>
                        </a:rPr>
                        <a:t>A14</a:t>
                      </a:r>
                      <a:r>
                        <a:rPr sz="800" b="0" i="0">
                          <a:solidFill>
                            <a:srgbClr val="16213A"/>
                          </a:solidFill>
                          <a:latin typeface="Arial"/>
                          <a:ea typeface="Malgun Gothic"/>
                          <a:cs typeface="Malgun Gothic"/>
                        </a:rPr>
                        <a:t>. 교차 embodiment 모델의 산업 배치 증거는 아직 없다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휴머노이드, 사족, 모바일, 도로</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인증이 층을 가른다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학습이 안전 기능을 맡으면 제3자 인증과 고장률 논증의 비용이 급증한다. 그래서 학습은 성능층, 결정론 로직은 안전층으로 나뉜다(B.18.4) </a:t>
                      </a:r>
                      <a:r>
                        <a:rPr sz="800" b="0" i="0">
                          <a:solidFill>
                            <a:srgbClr val="1D4ED8"/>
                          </a:solidFill>
                          <a:latin typeface="Arial"/>
                          <a:ea typeface="Malgun Gothic"/>
                          <a:cs typeface="Malgun Gothic"/>
                          <a:hlinkClick r:id="rId23"/>
                        </a:rPr>
                        <a:t>P1</a:t>
                      </a:r>
                      <a:r>
                        <a:rPr sz="800" b="0" i="0">
                          <a:solidFill>
                            <a:srgbClr val="16213A"/>
                          </a:solidFill>
                          <a:latin typeface="Arial"/>
                          <a:ea typeface="Malgun Gothic"/>
                          <a:cs typeface="Malgun Gothic"/>
                        </a:rPr>
                        <a:t> </a:t>
                      </a:r>
                      <a:r>
                        <a:rPr sz="800" b="0" i="0">
                          <a:solidFill>
                            <a:srgbClr val="1D4ED8"/>
                          </a:solidFill>
                          <a:latin typeface="Arial"/>
                          <a:ea typeface="Malgun Gothic"/>
                          <a:cs typeface="Malgun Gothic"/>
                          <a:hlinkClick r:id="rId24"/>
                        </a:rPr>
                        <a:t>P3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모바일, 휴머노이드, 도로</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평가의 현실화</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open-loop에서 closed-loop로(도로, 점수 신뢰성 논란 </a:t>
                      </a:r>
                      <a:r>
                        <a:rPr sz="800" b="0" i="0">
                          <a:solidFill>
                            <a:srgbClr val="1D4ED8"/>
                          </a:solidFill>
                          <a:latin typeface="Arial"/>
                          <a:ea typeface="Malgun Gothic"/>
                          <a:cs typeface="Malgun Gothic"/>
                          <a:hlinkClick r:id="rId25"/>
                        </a:rPr>
                        <a:t>A10</a:t>
                      </a:r>
                      <a:r>
                        <a:rPr sz="800" b="0" i="0">
                          <a:solidFill>
                            <a:srgbClr val="16213A"/>
                          </a:solidFill>
                          <a:latin typeface="Arial"/>
                          <a:ea typeface="Malgun Gothic"/>
                          <a:cs typeface="Malgun Gothic"/>
                        </a:rPr>
                        <a:t>), 단독에서 6대 동시 결승으로(레이싱 </a:t>
                      </a:r>
                      <a:r>
                        <a:rPr sz="800" b="0" i="0">
                          <a:solidFill>
                            <a:srgbClr val="1D4ED8"/>
                          </a:solidFill>
                          <a:latin typeface="Arial"/>
                          <a:ea typeface="Malgun Gothic"/>
                          <a:cs typeface="Malgun Gothic"/>
                          <a:hlinkClick r:id="rId26"/>
                        </a:rPr>
                        <a:t>R11</a:t>
                      </a:r>
                      <a:r>
                        <a:rPr sz="800" b="0" i="0">
                          <a:solidFill>
                            <a:srgbClr val="16213A"/>
                          </a:solidFill>
                          <a:latin typeface="Arial"/>
                          <a:ea typeface="Malgun Gothic"/>
                          <a:cs typeface="Malgun Gothic"/>
                        </a:rPr>
                        <a:t>), 처리량에서 실행 지연·풋프린트로(창고 MAPF </a:t>
                      </a:r>
                      <a:r>
                        <a:rPr sz="800" b="0" i="0">
                          <a:solidFill>
                            <a:srgbClr val="1D4ED8"/>
                          </a:solidFill>
                          <a:latin typeface="Arial"/>
                          <a:ea typeface="Malgun Gothic"/>
                          <a:cs typeface="Malgun Gothic"/>
                          <a:hlinkClick r:id="rId27"/>
                        </a:rPr>
                        <a:t>N9</a:t>
                      </a:r>
                      <a:r>
                        <a:rPr sz="800" b="0" i="0">
                          <a:solidFill>
                            <a:srgbClr val="16213A"/>
                          </a:solidFill>
                          <a:latin typeface="Arial"/>
                          <a:ea typeface="Malgun Gothic"/>
                          <a:cs typeface="Malgun Gothic"/>
                        </a:rPr>
                        <a:t>), 원격 조종에서 완전 자율 의무로(휴머노이드 대회 </a:t>
                      </a:r>
                      <a:r>
                        <a:rPr sz="800" b="0" i="0">
                          <a:solidFill>
                            <a:srgbClr val="1D4ED8"/>
                          </a:solidFill>
                          <a:latin typeface="Arial"/>
                          <a:ea typeface="Malgun Gothic"/>
                          <a:cs typeface="Malgun Gothic"/>
                          <a:hlinkClick r:id="rId28"/>
                        </a:rPr>
                        <a:t>H14</a:t>
                      </a:r>
                      <a:r>
                        <a:rPr sz="800" b="0" i="0">
                          <a:solidFill>
                            <a:srgbClr val="16213A"/>
                          </a:solidFill>
                          <a:latin typeface="Arial"/>
                          <a:ea typeface="Malgun Gothic"/>
                          <a:cs typeface="Malgun Gothic"/>
                        </a:rPr>
                        <a:t>). 다중 에이전트 계획이 공통 과제로 떠올랐지만 대부분 시뮬레이션 단계다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도로, 레이싱, 모바일, 휴머노이드</a:t>
                      </a:r>
                    </a:p>
                  </a:txBody>
                  <a:tcPr marL="63500" marR="63500" marT="12700" marB="12700">
                    <a:solidFill>
                      <a:srgbClr val="F3F0E8"/>
                    </a:solidFill>
                  </a:tcPr>
                </a:tc>
              </a:tr>
            </a:tbl>
          </a:graphicData>
        </a:graphic>
      </p:graphicFrame>
      <p:sp>
        <p:nvSpPr>
          <p:cNvPr id="6" name="TextBox 5"/>
          <p:cNvSpPr txBox="1"/>
          <p:nvPr/>
        </p:nvSpPr>
        <p:spPr>
          <a:xfrm>
            <a:off x="717550" y="3971032"/>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B.18.4 보이지 않던 층: 인증, 원격 지원, 산업 현장</a:t>
            </a:r>
          </a:p>
        </p:txBody>
      </p:sp>
      <p:sp>
        <p:nvSpPr>
          <p:cNvPr id="7" name="TextBox 6"/>
          <p:cNvSpPr txBox="1"/>
          <p:nvPr/>
        </p:nvSpPr>
        <p:spPr>
          <a:xfrm>
            <a:off x="609600" y="4274245"/>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로봇 한 대의 계획기만 비교하면 놓치는 것이 셋 있다.</a:t>
            </a:r>
            <a:r>
              <a:rPr sz="1050" b="0" i="0">
                <a:solidFill>
                  <a:srgbClr val="16213A"/>
                </a:solidFill>
                <a:latin typeface="Arial"/>
                <a:ea typeface="Malgun Gothic"/>
                <a:cs typeface="Malgun Gothic"/>
              </a:rPr>
              <a:t> 실제 배치는 제도(인증·규제), 운용(원격 지원), 규모(산업 현장)가 감싼 채로 돈다.</a:t>
            </a:r>
          </a:p>
        </p:txBody>
      </p:sp>
      <p:sp>
        <p:nvSpPr>
          <p:cNvPr id="8" name="TextBox 7"/>
          <p:cNvSpPr txBox="1"/>
          <p:nvPr/>
        </p:nvSpPr>
        <p:spPr>
          <a:xfrm>
            <a:off x="609600" y="4579640"/>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인증과 규제.</a:t>
            </a:r>
            <a:r>
              <a:rPr sz="1050" b="0" i="0">
                <a:solidFill>
                  <a:srgbClr val="16213A"/>
                </a:solidFill>
                <a:latin typeface="Arial"/>
                <a:ea typeface="Malgun Gothic"/>
                <a:cs typeface="Malgun Gothic"/>
              </a:rPr>
              <a:t> 학습 정책이 안전 기능을 맡는 순간 제3자 인증과 고장률 논증이 필요해져 비용이 급증한다. 그래서 산업은 학습을 성능층에 두고, 등급을 받은 결정론 안전층(안전 스캐너 보호 필드, 안전 PLC, 속도·분리 감시)을 경계로 세운다. EU 기계류 규정 2023/1230(2027-01-20 적용)은 AI 기반 안전 기능을 가진 기계를 새로 규율한다 </a:t>
            </a:r>
            <a:r>
              <a:rPr sz="1050" b="0" i="0">
                <a:solidFill>
                  <a:srgbClr val="1D4ED8"/>
                </a:solidFill>
                <a:latin typeface="Arial"/>
                <a:ea typeface="Malgun Gothic"/>
                <a:cs typeface="Malgun Gothic"/>
                <a:hlinkClick r:id="rId23"/>
              </a:rPr>
              <a:t>P1</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29"/>
              </a:rPr>
              <a:t>P2</a:t>
            </a:r>
            <a:r>
              <a:rPr sz="1050" b="0" i="0">
                <a:solidFill>
                  <a:srgbClr val="16213A"/>
                </a:solidFill>
                <a:latin typeface="Arial"/>
                <a:ea typeface="Malgun Gothic"/>
                <a:cs typeface="Malgun Gothic"/>
              </a:rPr>
              <a:t>. 자율주행은 UL 4600 safety case로 학습 요소를 논증해 받아들인다 </a:t>
            </a:r>
            <a:r>
              <a:rPr sz="1050" b="0" i="0">
                <a:solidFill>
                  <a:srgbClr val="1D4ED8"/>
                </a:solidFill>
                <a:latin typeface="Arial"/>
                <a:ea typeface="Malgun Gothic"/>
                <a:cs typeface="Malgun Gothic"/>
                <a:hlinkClick r:id="rId24"/>
              </a:rPr>
              <a:t>P3</a:t>
            </a:r>
            <a:r>
              <a:rPr sz="1050" b="0" i="0">
                <a:solidFill>
                  <a:srgbClr val="16213A"/>
                </a:solidFill>
                <a:latin typeface="Arial"/>
                <a:ea typeface="Malgun Gothic"/>
                <a:cs typeface="Malgun Gothic"/>
              </a:rPr>
              <a:t>. 학계의 안전 필터 </a:t>
            </a:r>
            <a:r>
              <a:rPr sz="1050" b="0" i="0">
                <a:solidFill>
                  <a:srgbClr val="1D4ED8"/>
                </a:solidFill>
                <a:latin typeface="Arial"/>
                <a:ea typeface="Malgun Gothic"/>
                <a:cs typeface="Malgun Gothic"/>
                <a:hlinkClick r:id="rId30"/>
              </a:rPr>
              <a:t>C9</a:t>
            </a:r>
            <a:r>
              <a:rPr sz="1050" b="0" i="0">
                <a:solidFill>
                  <a:srgbClr val="16213A"/>
                </a:solidFill>
                <a:latin typeface="Arial"/>
                <a:ea typeface="Malgun Gothic"/>
                <a:cs typeface="Malgun Gothic"/>
              </a:rPr>
              <a:t>도 소프트웨어 자체가 인증을 받기 전에는 안전층이 아니다. 이족 휴머노이드는 동력을 끊으면 넘어지는 fail-passive 공백 때문에 인증 경로가 아직 열려 있다 </a:t>
            </a:r>
            <a:r>
              <a:rPr sz="1050" b="0" i="0">
                <a:solidFill>
                  <a:srgbClr val="1D4ED8"/>
                </a:solidFill>
                <a:latin typeface="Arial"/>
                <a:ea typeface="Malgun Gothic"/>
                <a:cs typeface="Malgun Gothic"/>
                <a:hlinkClick r:id="rId31"/>
              </a:rPr>
              <a:t>P4</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32"/>
              </a:rPr>
              <a:t>P5</a:t>
            </a:r>
            <a:r>
              <a:rPr sz="1050" b="0" i="0">
                <a:solidFill>
                  <a:srgbClr val="16213A"/>
                </a:solidFill>
                <a:latin typeface="Arial"/>
                <a:ea typeface="Malgun Gothic"/>
                <a:cs typeface="Malgun Gothic"/>
              </a:rPr>
              <a:t>. 계획기에 주는 뜻은 결정론 안전층 안쪽에서 움직이는 성능층이라는 것이다. 보장이 없는 페널티 기반 최적화는 인증 논증에서 약점이다(원 문서의 추론).</a:t>
            </a:r>
          </a:p>
        </p:txBody>
      </p:sp>
    </p:spTree>
  </p:cSld>
  <p:clrMapOvr>
    <a:masterClrMapping/>
  </p:clrMapOvr>
</p:sld>
</file>

<file path=ppt/slides/slide48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분야별 지형</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B.18 로봇 분야별 계획·제어: 레이싱카, 모바일 로봇, 도로 자율주행, 사족보행, 휴머노이드</a:t>
            </a:r>
            <a:r>
              <a:rPr sz="1050" b="0" i="0">
                <a:solidFill>
                  <a:srgbClr val="5A6478"/>
                </a:solidFill>
                <a:latin typeface="Arial"/>
                <a:ea typeface="Malgun Gothic"/>
                <a:cs typeface="Malgun Gothic"/>
              </a:rPr>
              <a:t>  6/9</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488 / 516</a:t>
            </a:r>
          </a:p>
        </p:txBody>
      </p:sp>
      <p:sp>
        <p:nvSpPr>
          <p:cNvPr id="5" name="TextBox 4"/>
          <p:cNvSpPr txBox="1"/>
          <p:nvPr/>
        </p:nvSpPr>
        <p:spPr>
          <a:xfrm>
            <a:off x="609600" y="1244600"/>
            <a:ext cx="10972800" cy="1298972"/>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원격 지원과 오프보드 계획.</a:t>
            </a:r>
            <a:r>
              <a:rPr sz="1050" b="0" i="0">
                <a:solidFill>
                  <a:srgbClr val="16213A"/>
                </a:solidFill>
                <a:latin typeface="Arial"/>
                <a:ea typeface="Malgun Gothic"/>
                <a:cs typeface="Malgun Gothic"/>
              </a:rPr>
              <a:t> Waymo는 동시 근무하는 원격 지원 요원 약 70명이 차량 3,000대에 조언만 한다. 조향과 제동은 하지 않고, 차량은 조언을 거부할 수 있다. 편도 지연 중앙값은 약 150 ms(미국)다 </a:t>
            </a:r>
            <a:r>
              <a:rPr sz="1050" b="0" i="0">
                <a:solidFill>
                  <a:srgbClr val="1D4ED8"/>
                </a:solidFill>
                <a:latin typeface="Arial"/>
                <a:ea typeface="Malgun Gothic"/>
                <a:cs typeface="Malgun Gothic"/>
                <a:hlinkClick r:id="rId3"/>
              </a:rPr>
              <a:t>P6</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4"/>
              </a:rPr>
              <a:t>P7</a:t>
            </a:r>
            <a:r>
              <a:rPr sz="1050" b="0" i="0">
                <a:solidFill>
                  <a:srgbClr val="16213A"/>
                </a:solidFill>
                <a:latin typeface="Arial"/>
                <a:ea typeface="Malgun Gothic"/>
                <a:cs typeface="Malgun Gothic"/>
              </a:rPr>
              <a:t>. 로보택시 7개 회사 모두 원격 지원 빈도를 공개하지 않았고, 원격 운전을 허용하는 곳은 Tesla뿐이다 </a:t>
            </a:r>
            <a:r>
              <a:rPr sz="1050" b="0" i="0">
                <a:solidFill>
                  <a:srgbClr val="1D4ED8"/>
                </a:solidFill>
                <a:latin typeface="Arial"/>
                <a:ea typeface="Malgun Gothic"/>
                <a:cs typeface="Malgun Gothic"/>
                <a:hlinkClick r:id="rId5"/>
              </a:rPr>
              <a:t>P9</a:t>
            </a:r>
            <a:r>
              <a:rPr sz="1050" b="0" i="0">
                <a:solidFill>
                  <a:srgbClr val="16213A"/>
                </a:solidFill>
                <a:latin typeface="Arial"/>
                <a:ea typeface="Malgun Gothic"/>
                <a:cs typeface="Malgun Gothic"/>
              </a:rPr>
              <a:t>. 캘리포니아는 2026-04 원격 운전자·보조원의 면허·교육 기준을 도입했다 </a:t>
            </a:r>
            <a:r>
              <a:rPr sz="1050" b="0" i="0">
                <a:solidFill>
                  <a:srgbClr val="1D4ED8"/>
                </a:solidFill>
                <a:latin typeface="Arial"/>
                <a:ea typeface="Malgun Gothic"/>
                <a:cs typeface="Malgun Gothic"/>
                <a:hlinkClick r:id="rId6"/>
              </a:rPr>
              <a:t>P18</a:t>
            </a:r>
            <a:r>
              <a:rPr sz="1050" b="0" i="0">
                <a:solidFill>
                  <a:srgbClr val="16213A"/>
                </a:solidFill>
                <a:latin typeface="Arial"/>
                <a:ea typeface="Malgun Gothic"/>
                <a:cs typeface="Malgun Gothic"/>
              </a:rPr>
              <a:t>. NTSB가 조사 중인 2026-01 사건에서는 원격 요원의 답이 계획기 판단에 들어가 차량이 정지 신호를 켠 스쿨버스를 지나쳤다. 원인은 아직 판정 전이다 </a:t>
            </a:r>
            <a:r>
              <a:rPr sz="1050" b="0" i="0">
                <a:solidFill>
                  <a:srgbClr val="1D4ED8"/>
                </a:solidFill>
                <a:latin typeface="Arial"/>
                <a:ea typeface="Malgun Gothic"/>
                <a:cs typeface="Malgun Gothic"/>
                <a:hlinkClick r:id="rId7"/>
              </a:rPr>
              <a:t>P8</a:t>
            </a:r>
            <a:r>
              <a:rPr sz="1050" b="0" i="0">
                <a:solidFill>
                  <a:srgbClr val="16213A"/>
                </a:solidFill>
                <a:latin typeface="Arial"/>
                <a:ea typeface="Malgun Gothic"/>
                <a:cs typeface="Malgun Gothic"/>
              </a:rPr>
              <a:t>. 퍼서비어런스는 주행의 90% 이상을 온보드 ENav로 달린다 </a:t>
            </a:r>
            <a:r>
              <a:rPr sz="1050" b="0" i="0">
                <a:solidFill>
                  <a:srgbClr val="1D4ED8"/>
                </a:solidFill>
                <a:latin typeface="Arial"/>
                <a:ea typeface="Malgun Gothic"/>
                <a:cs typeface="Malgun Gothic"/>
                <a:hlinkClick r:id="rId8"/>
              </a:rPr>
              <a:t>P12</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9"/>
              </a:rPr>
              <a:t>P13</a:t>
            </a:r>
            <a:r>
              <a:rPr sz="1050" b="0" i="0">
                <a:solidFill>
                  <a:srgbClr val="16213A"/>
                </a:solidFill>
                <a:latin typeface="Arial"/>
                <a:ea typeface="Malgun Gothic"/>
                <a:cs typeface="Malgun Gothic"/>
              </a:rPr>
              <a:t>. 2025-12에는 Claude가 궤도 영상과 경사 자료로 경유점을 만들고, 디지털 트윈에서 변수 50만 개 이상을 검증한 뒤 210 m와 246 m를 달렸다. 경유점 사이는 여전히 온보드 AutoNav가 맡았다 </a:t>
            </a:r>
            <a:r>
              <a:rPr sz="1050" b="0" i="0">
                <a:solidFill>
                  <a:srgbClr val="1D4ED8"/>
                </a:solidFill>
                <a:latin typeface="Arial"/>
                <a:ea typeface="Malgun Gothic"/>
                <a:cs typeface="Malgun Gothic"/>
                <a:hlinkClick r:id="rId10"/>
              </a:rPr>
              <a:t>P10</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11"/>
              </a:rPr>
              <a:t>P11</a:t>
            </a:r>
            <a:r>
              <a:rPr sz="1050" b="0" i="0">
                <a:solidFill>
                  <a:srgbClr val="16213A"/>
                </a:solidFill>
                <a:latin typeface="Arial"/>
                <a:ea typeface="Malgun Gothic"/>
                <a:cs typeface="Malgun Gothic"/>
              </a:rPr>
              <a:t>. 계획기에 주는 뜻은, 파운데이션 모델은 전략적 경유점을 넘기고 실시간 루프는 보수적인 온보드 실행기가 쥔다는 것이다. 대형 모델을 검증 없이 루프에 넣은 공개 사례는 없다.</a:t>
            </a:r>
          </a:p>
        </p:txBody>
      </p:sp>
      <p:sp>
        <p:nvSpPr>
          <p:cNvPr id="6" name="TextBox 5"/>
          <p:cNvSpPr txBox="1"/>
          <p:nvPr/>
        </p:nvSpPr>
        <p:spPr>
          <a:xfrm>
            <a:off x="609600" y="2632472"/>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산업 현장.</a:t>
            </a:r>
            <a:r>
              <a:rPr sz="1050" b="0" i="0">
                <a:solidFill>
                  <a:srgbClr val="16213A"/>
                </a:solidFill>
                <a:latin typeface="Arial"/>
                <a:ea typeface="Malgun Gothic"/>
                <a:cs typeface="Malgun Gothic"/>
              </a:rPr>
              <a:t> 광산 무인 운반에서는 Komatsu가 초대형 자율 트럭 누적 1,000대를 커미셔닝했고(2026-04) </a:t>
            </a:r>
            <a:r>
              <a:rPr sz="1050" b="0" i="0">
                <a:solidFill>
                  <a:srgbClr val="1D4ED8"/>
                </a:solidFill>
                <a:latin typeface="Arial"/>
                <a:ea typeface="Malgun Gothic"/>
                <a:cs typeface="Malgun Gothic"/>
                <a:hlinkClick r:id="rId12"/>
              </a:rPr>
              <a:t>P14</a:t>
            </a:r>
            <a:r>
              <a:rPr sz="1050" b="0" i="0">
                <a:solidFill>
                  <a:srgbClr val="16213A"/>
                </a:solidFill>
                <a:latin typeface="Arial"/>
                <a:ea typeface="Malgun Gothic"/>
                <a:cs typeface="Malgun Gothic"/>
              </a:rPr>
              <a:t>, 중국 EACON은 3,500대 이상이라고 밝힌다(2026-08, 자사 발표, 톤급이 다르다) </a:t>
            </a:r>
            <a:r>
              <a:rPr sz="1050" b="0" i="0">
                <a:solidFill>
                  <a:srgbClr val="1D4ED8"/>
                </a:solidFill>
                <a:latin typeface="Arial"/>
                <a:ea typeface="Malgun Gothic"/>
                <a:cs typeface="Malgun Gothic"/>
                <a:hlinkClick r:id="rId13"/>
              </a:rPr>
              <a:t>P15</a:t>
            </a:r>
            <a:r>
              <a:rPr sz="1050" b="0" i="0">
                <a:solidFill>
                  <a:srgbClr val="16213A"/>
                </a:solidFill>
                <a:latin typeface="Arial"/>
                <a:ea typeface="Malgun Gothic"/>
                <a:cs typeface="Malgun Gothic"/>
              </a:rPr>
              <a:t>. 경로 계획 알고리즘은 공개하지 않는다. 무인 화물 트럭은 Aurora가 무인 노선을 10개로 늘렸다(2026-02) </a:t>
            </a:r>
            <a:r>
              <a:rPr sz="1050" b="0" i="0">
                <a:solidFill>
                  <a:srgbClr val="1D4ED8"/>
                </a:solidFill>
                <a:latin typeface="Arial"/>
                <a:ea typeface="Malgun Gothic"/>
                <a:cs typeface="Malgun Gothic"/>
                <a:hlinkClick r:id="rId14"/>
              </a:rPr>
              <a:t>P16</a:t>
            </a:r>
            <a:r>
              <a:rPr sz="1050" b="0" i="0">
                <a:solidFill>
                  <a:srgbClr val="16213A"/>
                </a:solidFill>
                <a:latin typeface="Arial"/>
                <a:ea typeface="Malgun Gothic"/>
                <a:cs typeface="Malgun Gothic"/>
              </a:rPr>
              <a:t>. 농업에서는 Deere 자율 트랙터가 카메라 16대와 신경망으로 약 100 ms에 주행 가능 여부를 판정한다 </a:t>
            </a:r>
            <a:r>
              <a:rPr sz="1050" b="0" i="0">
                <a:solidFill>
                  <a:srgbClr val="1D4ED8"/>
                </a:solidFill>
                <a:latin typeface="Arial"/>
                <a:ea typeface="Malgun Gothic"/>
                <a:cs typeface="Malgun Gothic"/>
                <a:hlinkClick r:id="rId15"/>
              </a:rPr>
              <a:t>P17</a:t>
            </a:r>
            <a:r>
              <a:rPr sz="1050" b="0" i="0">
                <a:solidFill>
                  <a:srgbClr val="16213A"/>
                </a:solidFill>
                <a:latin typeface="Arial"/>
                <a:ea typeface="Malgun Gothic"/>
                <a:cs typeface="Malgun Gothic"/>
              </a:rPr>
              <a:t>. 창고 대회는 탐색 기반이 이기고, 학습은 탐색과 결합한 하이브리드로 들어온다 </a:t>
            </a:r>
            <a:r>
              <a:rPr sz="1050" b="0" i="0">
                <a:solidFill>
                  <a:srgbClr val="1D4ED8"/>
                </a:solidFill>
                <a:latin typeface="Arial"/>
                <a:ea typeface="Malgun Gothic"/>
                <a:cs typeface="Malgun Gothic"/>
                <a:hlinkClick r:id="rId16"/>
              </a:rPr>
              <a:t>N7</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17"/>
              </a:rPr>
              <a:t>N9</a:t>
            </a:r>
            <a:r>
              <a:rPr sz="1050" b="0" i="0">
                <a:solidFill>
                  <a:srgbClr val="16213A"/>
                </a:solidFill>
                <a:latin typeface="Arial"/>
                <a:ea typeface="Malgun Gothic"/>
                <a:cs typeface="Malgun Gothic"/>
              </a:rPr>
              <a:t>. 공통점은 제한된 운행 영역, 중앙 관제·원격 지원, 중복 설계, 외부 감사를 받은 safety case다. 산업은 규칙, 학계는 학습이라는 구도가 아니라, 학습을 가드레일 안에 가둔 하이브리드다.</a:t>
            </a:r>
          </a:p>
        </p:txBody>
      </p:sp>
      <p:sp>
        <p:nvSpPr>
          <p:cNvPr id="7" name="TextBox 6"/>
          <p:cNvSpPr txBox="1"/>
          <p:nvPr/>
        </p:nvSpPr>
        <p:spPr>
          <a:xfrm>
            <a:off x="717550" y="3587353"/>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B.18.5 한국에서는</a:t>
            </a:r>
          </a:p>
        </p:txBody>
      </p:sp>
      <p:sp>
        <p:nvSpPr>
          <p:cNvPr id="8" name="TextBox 7"/>
          <p:cNvSpPr txBox="1"/>
          <p:nvPr/>
        </p:nvSpPr>
        <p:spPr>
          <a:xfrm>
            <a:off x="609600" y="3890566"/>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한국은 세계 흐름과 같으면서 두 가지가 두드러진다.</a:t>
            </a:r>
            <a:r>
              <a:rPr sz="1050" b="0" i="0">
                <a:solidFill>
                  <a:srgbClr val="16213A"/>
                </a:solidFill>
                <a:latin typeface="Arial"/>
                <a:ea typeface="Malgun Gothic"/>
                <a:cs typeface="Malgun Gothic"/>
              </a:rPr>
              <a:t> 다리 로봇 연구는 하이브리드 성향이 강하고, 실외 배송 로봇은 인증이 설계를 이끈다.</a:t>
            </a:r>
          </a:p>
        </p:txBody>
      </p:sp>
      <p:graphicFrame>
        <p:nvGraphicFramePr>
          <p:cNvPr id="9" name="Table 8"/>
          <p:cNvGraphicFramePr>
            <a:graphicFrameLocks noGrp="1"/>
          </p:cNvGraphicFramePr>
          <p:nvPr/>
        </p:nvGraphicFramePr>
        <p:xfrm>
          <a:off x="609600" y="4195961"/>
          <a:ext cx="10966450" cy="985440"/>
        </p:xfrm>
        <a:graphic>
          <a:graphicData uri="http://schemas.openxmlformats.org/drawingml/2006/table">
            <a:tbl>
              <a:tblPr firstRow="1" bandRow="1">
                <a:tableStyleId>{5C22544A-7EE6-4342-B048-85BDC9FD1C3A}</a:tableStyleId>
              </a:tblPr>
              <a:tblGrid>
                <a:gridCol w="2068810"/>
                <a:gridCol w="4886821"/>
                <a:gridCol w="4010819"/>
              </a:tblGrid>
              <a:tr h="197088">
                <a:tc>
                  <a:txBody>
                    <a:bodyPr wrap="square"/>
                    <a:lstStyle/>
                    <a:p>
                      <a:r>
                        <a:rPr sz="800" b="1" i="0">
                          <a:solidFill>
                            <a:srgbClr val="F4F1EA"/>
                          </a:solidFill>
                          <a:latin typeface="Arial"/>
                          <a:ea typeface="Malgun Gothic"/>
                          <a:cs typeface="Malgun Gothic"/>
                        </a:rPr>
                        <a:t>연구실</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대표 성과</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방식</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KAIST 황보제민(RaiSim, Raibo)</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변형 지형 보행 </a:t>
                      </a:r>
                      <a:r>
                        <a:rPr sz="800" b="0" i="0">
                          <a:solidFill>
                            <a:srgbClr val="1D4ED8"/>
                          </a:solidFill>
                          <a:latin typeface="Arial"/>
                          <a:ea typeface="Malgun Gothic"/>
                          <a:cs typeface="Malgun Gothic"/>
                          <a:hlinkClick r:id="rId18"/>
                        </a:rPr>
                        <a:t>K1</a:t>
                      </a:r>
                      <a:r>
                        <a:rPr sz="800" b="0" i="0">
                          <a:solidFill>
                            <a:srgbClr val="16213A"/>
                          </a:solidFill>
                          <a:latin typeface="Arial"/>
                          <a:ea typeface="Malgun Gothic"/>
                          <a:cs typeface="Malgun Gothic"/>
                        </a:rPr>
                        <a:t>, 이산 지형 고속 주행 </a:t>
                      </a:r>
                      <a:r>
                        <a:rPr sz="800" b="0" i="0">
                          <a:solidFill>
                            <a:srgbClr val="1D4ED8"/>
                          </a:solidFill>
                          <a:latin typeface="Arial"/>
                          <a:ea typeface="Malgun Gothic"/>
                          <a:cs typeface="Malgun Gothic"/>
                          <a:hlinkClick r:id="rId19"/>
                        </a:rPr>
                        <a:t>Q6</a:t>
                      </a:r>
                      <a:r>
                        <a:rPr sz="800" b="0" i="0">
                          <a:solidFill>
                            <a:srgbClr val="16213A"/>
                          </a:solidFill>
                          <a:latin typeface="Arial"/>
                          <a:ea typeface="Malgun Gothic"/>
                          <a:cs typeface="Malgun Gothic"/>
                        </a:rPr>
                        <a:t>, RAIBO2 풀코스 마라톤 완주(2024-11) </a:t>
                      </a:r>
                      <a:r>
                        <a:rPr sz="800" b="0" i="0">
                          <a:solidFill>
                            <a:srgbClr val="1D4ED8"/>
                          </a:solidFill>
                          <a:latin typeface="Arial"/>
                          <a:ea typeface="Malgun Gothic"/>
                          <a:cs typeface="Malgun Gothic"/>
                          <a:hlinkClick r:id="rId20"/>
                        </a:rPr>
                        <a:t>K7</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RL. 구동기·지형 모델을 학습에 넣고, 샘플링 발 디딤과 RL 추종을 묶는다</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KAIST 박해원(HOUND, MARVEL)</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자석 발 벽 등반 </a:t>
                      </a:r>
                      <a:r>
                        <a:rPr sz="800" b="0" i="0">
                          <a:solidFill>
                            <a:srgbClr val="1D4ED8"/>
                          </a:solidFill>
                          <a:latin typeface="Arial"/>
                          <a:ea typeface="Malgun Gothic"/>
                          <a:cs typeface="Malgun Gothic"/>
                          <a:hlinkClick r:id="rId21"/>
                        </a:rPr>
                        <a:t>K2</a:t>
                      </a:r>
                      <a:r>
                        <a:rPr sz="800" b="0" i="0">
                          <a:solidFill>
                            <a:srgbClr val="16213A"/>
                          </a:solidFill>
                          <a:latin typeface="Arial"/>
                          <a:ea typeface="Malgun Gothic"/>
                          <a:cs typeface="Malgun Gothic"/>
                        </a:rPr>
                        <a:t>, Contact-Implicit MPC </a:t>
                      </a:r>
                      <a:r>
                        <a:rPr sz="800" b="0" i="0">
                          <a:solidFill>
                            <a:srgbClr val="1D4ED8"/>
                          </a:solidFill>
                          <a:latin typeface="Arial"/>
                          <a:ea typeface="Malgun Gothic"/>
                          <a:cs typeface="Malgun Gothic"/>
                          <a:hlinkClick r:id="rId22"/>
                        </a:rPr>
                        <a:t>K3</a:t>
                      </a:r>
                      <a:r>
                        <a:rPr sz="800" b="0" i="0">
                          <a:solidFill>
                            <a:srgbClr val="16213A"/>
                          </a:solidFill>
                          <a:latin typeface="Arial"/>
                          <a:ea typeface="Malgun Gothic"/>
                          <a:cs typeface="Malgun Gothic"/>
                        </a:rPr>
                        <a:t>, APT-RL </a:t>
                      </a:r>
                      <a:r>
                        <a:rPr sz="800" b="0" i="0">
                          <a:solidFill>
                            <a:srgbClr val="1D4ED8"/>
                          </a:solidFill>
                          <a:latin typeface="Arial"/>
                          <a:ea typeface="Malgun Gothic"/>
                          <a:cs typeface="Malgun Gothic"/>
                          <a:hlinkClick r:id="rId23"/>
                        </a:rPr>
                        <a:t>K4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MPC와 RL 병행. 최근에는 궤적 최적화를 RL의 교사로 쓴다</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KAIST 명현</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DreamWaQ </a:t>
                      </a:r>
                      <a:r>
                        <a:rPr sz="800" b="0" i="0">
                          <a:solidFill>
                            <a:srgbClr val="1D4ED8"/>
                          </a:solidFill>
                          <a:latin typeface="Arial"/>
                          <a:ea typeface="Malgun Gothic"/>
                          <a:cs typeface="Malgun Gothic"/>
                          <a:hlinkClick r:id="rId24"/>
                        </a:rPr>
                        <a:t>K5</a:t>
                      </a:r>
                      <a:r>
                        <a:rPr sz="800" b="0" i="0">
                          <a:solidFill>
                            <a:srgbClr val="16213A"/>
                          </a:solidFill>
                          <a:latin typeface="Arial"/>
                          <a:ea typeface="Malgun Gothic"/>
                          <a:cs typeface="Malgun Gothic"/>
                        </a:rPr>
                        <a:t>, DreamWaQ++ </a:t>
                      </a:r>
                      <a:r>
                        <a:rPr sz="800" b="0" i="0">
                          <a:solidFill>
                            <a:srgbClr val="1D4ED8"/>
                          </a:solidFill>
                          <a:latin typeface="Arial"/>
                          <a:ea typeface="Malgun Gothic"/>
                          <a:cs typeface="Malgun Gothic"/>
                          <a:hlinkClick r:id="rId25"/>
                        </a:rPr>
                        <a:t>K6</a:t>
                      </a:r>
                      <a:r>
                        <a:rPr sz="800" b="0" i="0">
                          <a:solidFill>
                            <a:srgbClr val="16213A"/>
                          </a:solidFill>
                          <a:latin typeface="Arial"/>
                          <a:ea typeface="Malgun Gothic"/>
                          <a:cs typeface="Malgun Gothic"/>
                        </a:rPr>
                        <a:t>, ICRA 2023 사족 로봇 대회 우승</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고유감각과 외부 감각을 융합하는 RL</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서울대 박재흥(TOCABI)</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토크 기반 이족 RL </a:t>
                      </a:r>
                      <a:r>
                        <a:rPr sz="800" b="0" i="0">
                          <a:solidFill>
                            <a:srgbClr val="1D4ED8"/>
                          </a:solidFill>
                          <a:latin typeface="Arial"/>
                          <a:ea typeface="Malgun Gothic"/>
                          <a:cs typeface="Malgun Gothic"/>
                          <a:hlinkClick r:id="rId26"/>
                        </a:rPr>
                        <a:t>K8</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토크 제어 전통 위의 RL</a:t>
                      </a:r>
                    </a:p>
                  </a:txBody>
                  <a:tcPr marL="63500" marR="63500" marT="12700" marB="12700">
                    <a:solidFill>
                      <a:srgbClr val="F3F0E8"/>
                    </a:solidFill>
                  </a:tcPr>
                </a:tc>
              </a:tr>
            </a:tbl>
          </a:graphicData>
        </a:graphic>
      </p:graphicFrame>
      <p:sp>
        <p:nvSpPr>
          <p:cNvPr id="10" name="TextBox 9"/>
          <p:cNvSpPr txBox="1"/>
          <p:nvPr/>
        </p:nvSpPr>
        <p:spPr>
          <a:xfrm>
            <a:off x="609600" y="5523012"/>
            <a:ext cx="10972800" cy="649486"/>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RAIBO2 마라톤은 자율 내비게이션이 아니라 보행 내구성 실증이다. 자율 주행은 후속 과제로 명시됐다. 레인보우로보틱스 RBQ는 동역학 기반 보행과 AI 보행을 결합하고 전환한다고 밝힌다 </a:t>
            </a:r>
            <a:r>
              <a:rPr sz="1050" b="0" i="0">
                <a:solidFill>
                  <a:srgbClr val="1D4ED8"/>
                </a:solidFill>
                <a:latin typeface="Arial"/>
                <a:ea typeface="Malgun Gothic"/>
                <a:cs typeface="Malgun Gothic"/>
                <a:hlinkClick r:id="rId27"/>
              </a:rPr>
              <a:t>K23</a:t>
            </a:r>
            <a:r>
              <a:rPr sz="1050" b="0" i="0">
                <a:solidFill>
                  <a:srgbClr val="16213A"/>
                </a:solidFill>
                <a:latin typeface="Arial"/>
                <a:ea typeface="Malgun Gothic"/>
                <a:cs typeface="Malgun Gothic"/>
              </a:rPr>
              <a:t>. 상용 다리 로봇 제어의 대표 레퍼런스인 Boston Dynamics는 현대차그룹 소유이고, Spot은 MPC와 RL, Atlas는 MPC 위의 LBM이다 </a:t>
            </a:r>
            <a:r>
              <a:rPr sz="1050" b="0" i="0">
                <a:solidFill>
                  <a:srgbClr val="1D4ED8"/>
                </a:solidFill>
                <a:latin typeface="Arial"/>
                <a:ea typeface="Malgun Gothic"/>
                <a:cs typeface="Malgun Gothic"/>
                <a:hlinkClick r:id="rId28"/>
              </a:rPr>
              <a:t>Q4</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29"/>
              </a:rPr>
              <a:t>H4</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30"/>
              </a:rPr>
              <a:t>K22</a:t>
            </a:r>
            <a:r>
              <a:rPr sz="1050" b="0" i="0">
                <a:solidFill>
                  <a:srgbClr val="16213A"/>
                </a:solidFill>
                <a:latin typeface="Arial"/>
                <a:ea typeface="Malgun Gothic"/>
                <a:cs typeface="Malgun Gothic"/>
              </a:rPr>
              <a:t>. 휴머노이드 산업은 대부분 발표·실증 단계이고, 현장 투입이 보도된 사례는 바퀴형이다. 정부는 K-휴머노이드 연합(2025-04, 2030년까지 민관 1조 원 이상) </a:t>
            </a:r>
            <a:r>
              <a:rPr sz="1050" b="0" i="0">
                <a:solidFill>
                  <a:srgbClr val="1D4ED8"/>
                </a:solidFill>
                <a:latin typeface="Arial"/>
                <a:ea typeface="Malgun Gothic"/>
                <a:cs typeface="Malgun Gothic"/>
                <a:hlinkClick r:id="rId31"/>
              </a:rPr>
              <a:t>K9</a:t>
            </a:r>
            <a:r>
              <a:rPr sz="1050" b="0" i="0">
                <a:solidFill>
                  <a:srgbClr val="16213A"/>
                </a:solidFill>
                <a:latin typeface="Arial"/>
                <a:ea typeface="Malgun Gothic"/>
                <a:cs typeface="Malgun Gothic"/>
              </a:rPr>
              <a:t>과 KIST 주관 504억 원 과제(2026–2030, KAPEX 기반) </a:t>
            </a:r>
            <a:r>
              <a:rPr sz="1050" b="0" i="0">
                <a:solidFill>
                  <a:srgbClr val="1D4ED8"/>
                </a:solidFill>
                <a:latin typeface="Arial"/>
                <a:ea typeface="Malgun Gothic"/>
                <a:cs typeface="Malgun Gothic"/>
                <a:hlinkClick r:id="rId32"/>
              </a:rPr>
              <a:t>K10</a:t>
            </a:r>
            <a:r>
              <a:rPr sz="1050" b="0" i="0">
                <a:solidFill>
                  <a:srgbClr val="16213A"/>
                </a:solidFill>
                <a:latin typeface="Arial"/>
                <a:ea typeface="Malgun Gothic"/>
                <a:cs typeface="Malgun Gothic"/>
              </a:rPr>
              <a:t>를 진행한다.</a:t>
            </a:r>
          </a:p>
        </p:txBody>
      </p:sp>
    </p:spTree>
  </p:cSld>
  <p:clrMapOvr>
    <a:masterClrMapping/>
  </p:clrMapOvr>
</p:sld>
</file>

<file path=ppt/slides/slide48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분야별 지형</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B.18 로봇 분야별 계획·제어: 레이싱카, 모바일 로봇, 도로 자율주행, 사족보행, 휴머노이드</a:t>
            </a:r>
            <a:r>
              <a:rPr sz="1050" b="0" i="0">
                <a:solidFill>
                  <a:srgbClr val="5A6478"/>
                </a:solidFill>
                <a:latin typeface="Arial"/>
                <a:ea typeface="Malgun Gothic"/>
                <a:cs typeface="Malgun Gothic"/>
              </a:rPr>
              <a:t>  7/9</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489 / 516</a:t>
            </a:r>
          </a:p>
        </p:txBody>
      </p:sp>
      <p:sp>
        <p:nvSpPr>
          <p:cNvPr id="5" name="TextBox 4"/>
          <p:cNvSpPr txBox="1"/>
          <p:nvPr/>
        </p:nvSpPr>
        <p:spPr>
          <a:xfrm>
            <a:off x="609600" y="1244600"/>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실외 배송 로봇은 2023-11 지능형로봇법·도로교통법 개정으로 시작됐다.</a:t>
            </a:r>
            <a:r>
              <a:rPr sz="1050" b="0" i="0">
                <a:solidFill>
                  <a:srgbClr val="16213A"/>
                </a:solidFill>
                <a:latin typeface="Arial"/>
                <a:ea typeface="Malgun Gothic"/>
                <a:cs typeface="Malgun Gothic"/>
              </a:rPr>
              <a:t> 운행안전인증을 받고 보험에 든 실외이동로봇이 보도를 다닐 수 있게 됐다 </a:t>
            </a:r>
            <a:r>
              <a:rPr sz="1050" b="0" i="0">
                <a:solidFill>
                  <a:srgbClr val="1D4ED8"/>
                </a:solidFill>
                <a:latin typeface="Arial"/>
                <a:ea typeface="Malgun Gothic"/>
                <a:cs typeface="Malgun Gothic"/>
                <a:hlinkClick r:id="rId3"/>
              </a:rPr>
              <a:t>K11</a:t>
            </a:r>
            <a:r>
              <a:rPr sz="1050" b="0" i="0">
                <a:solidFill>
                  <a:srgbClr val="16213A"/>
                </a:solidFill>
                <a:latin typeface="Arial"/>
                <a:ea typeface="Malgun Gothic"/>
                <a:cs typeface="Malgun Gothic"/>
              </a:rPr>
              <a:t>. 인증 단위는 로봇과 관제 장치 한 묶음이다. 심사 항목은 규격·운행 속도, 겉모양, 동적 특성, 주변 인식, 비상 정지, 방수, 횡단보도 통행, 관제 장치의 8개다. 2025-11 고시 개정으로 항목이 16개에서 8개로, 심사 기간이 60일에서 30일로 줄었다 </a:t>
            </a:r>
            <a:r>
              <a:rPr sz="1050" b="0" i="0">
                <a:solidFill>
                  <a:srgbClr val="1D4ED8"/>
                </a:solidFill>
                <a:latin typeface="Arial"/>
                <a:ea typeface="Malgun Gothic"/>
                <a:cs typeface="Malgun Gothic"/>
                <a:hlinkClick r:id="rId4"/>
              </a:rPr>
              <a:t>K13</a:t>
            </a:r>
            <a:r>
              <a:rPr sz="1050" b="0" i="0">
                <a:solidFill>
                  <a:srgbClr val="16213A"/>
                </a:solidFill>
                <a:latin typeface="Arial"/>
                <a:ea typeface="Malgun Gothic"/>
                <a:cs typeface="Malgun Gothic"/>
              </a:rPr>
              <a:t>. 개정 전 기준으로는 최고 속도가 질량에 연동돼 100 kg 이하 15 km/h, 100–230 kg 10 km/h, 230 kg 초과 5 km/h였다 </a:t>
            </a:r>
            <a:r>
              <a:rPr sz="1050" b="0" i="0">
                <a:solidFill>
                  <a:srgbClr val="1D4ED8"/>
                </a:solidFill>
                <a:latin typeface="Arial"/>
                <a:ea typeface="Malgun Gothic"/>
                <a:cs typeface="Malgun Gothic"/>
                <a:hlinkClick r:id="rId5"/>
              </a:rPr>
              <a:t>K14</a:t>
            </a:r>
            <a:r>
              <a:rPr sz="1050" b="0" i="0">
                <a:solidFill>
                  <a:srgbClr val="16213A"/>
                </a:solidFill>
                <a:latin typeface="Arial"/>
                <a:ea typeface="Malgun Gothic"/>
                <a:cs typeface="Malgun Gothic"/>
              </a:rPr>
              <a:t>. 한국로봇산업진흥원(KIRIA)에는 2026-09-11 기준 22개 모델, 10개 회사가 등록돼 있다 </a:t>
            </a:r>
            <a:r>
              <a:rPr sz="1050" b="0" i="0">
                <a:solidFill>
                  <a:srgbClr val="1D4ED8"/>
                </a:solidFill>
                <a:latin typeface="Arial"/>
                <a:ea typeface="Malgun Gothic"/>
                <a:cs typeface="Malgun Gothic"/>
                <a:hlinkClick r:id="rId6"/>
              </a:rPr>
              <a:t>K12</a:t>
            </a:r>
            <a:r>
              <a:rPr sz="1050" b="0" i="0">
                <a:solidFill>
                  <a:srgbClr val="16213A"/>
                </a:solidFill>
                <a:latin typeface="Arial"/>
                <a:ea typeface="Malgun Gothic"/>
                <a:cs typeface="Malgun Gothic"/>
              </a:rPr>
              <a:t>.</a:t>
            </a:r>
          </a:p>
        </p:txBody>
      </p:sp>
      <p:graphicFrame>
        <p:nvGraphicFramePr>
          <p:cNvPr id="6" name="Table 5"/>
          <p:cNvGraphicFramePr>
            <a:graphicFrameLocks noGrp="1"/>
          </p:cNvGraphicFramePr>
          <p:nvPr/>
        </p:nvGraphicFramePr>
        <p:xfrm>
          <a:off x="609600" y="2199481"/>
          <a:ext cx="10966450" cy="1182528"/>
        </p:xfrm>
        <a:graphic>
          <a:graphicData uri="http://schemas.openxmlformats.org/drawingml/2006/table">
            <a:tbl>
              <a:tblPr firstRow="1" bandRow="1">
                <a:tableStyleId>{5C22544A-7EE6-4342-B048-85BDC9FD1C3A}</a:tableStyleId>
              </a:tblPr>
              <a:tblGrid>
                <a:gridCol w="1263848"/>
                <a:gridCol w="718641"/>
                <a:gridCol w="6273602"/>
                <a:gridCol w="2710359"/>
              </a:tblGrid>
              <a:tr h="197088">
                <a:tc>
                  <a:txBody>
                    <a:bodyPr wrap="square"/>
                    <a:lstStyle/>
                    <a:p>
                      <a:r>
                        <a:rPr sz="800" b="1" i="0">
                          <a:solidFill>
                            <a:srgbClr val="F4F1EA"/>
                          </a:solidFill>
                          <a:latin typeface="Arial"/>
                          <a:ea typeface="Malgun Gothic"/>
                          <a:cs typeface="Malgun Gothic"/>
                        </a:rPr>
                        <a:t>회사</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인증 모델</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공개된 스택</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규모</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뉴빌리티</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카메라 5대, 라이다 없음, 딥러닝 3D 인지 </a:t>
                      </a:r>
                      <a:r>
                        <a:rPr sz="800" b="0" i="0">
                          <a:solidFill>
                            <a:srgbClr val="1D4ED8"/>
                          </a:solidFill>
                          <a:latin typeface="Arial"/>
                          <a:ea typeface="Malgun Gothic"/>
                          <a:cs typeface="Malgun Gothic"/>
                          <a:hlinkClick r:id="rId7"/>
                        </a:rPr>
                        <a:t>K25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2025년 말 305대(실내외) </a:t>
                      </a:r>
                      <a:r>
                        <a:rPr sz="800" b="0" i="0">
                          <a:solidFill>
                            <a:srgbClr val="1D4ED8"/>
                          </a:solidFill>
                          <a:latin typeface="Arial"/>
                          <a:ea typeface="Malgun Gothic"/>
                          <a:cs typeface="Malgun Gothic"/>
                          <a:hlinkClick r:id="rId8"/>
                        </a:rPr>
                        <a:t>K17</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로보티즈</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5</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1호 인증, 5세대에 3D 라이다 첫 탑재(2026 하반기 출시 예정) </a:t>
                      </a:r>
                      <a:r>
                        <a:rPr sz="800" b="0" i="0">
                          <a:solidFill>
                            <a:srgbClr val="1D4ED8"/>
                          </a:solidFill>
                          <a:latin typeface="Arial"/>
                          <a:ea typeface="Malgun Gothic"/>
                          <a:cs typeface="Malgun Gothic"/>
                          <a:hlinkClick r:id="rId9"/>
                        </a:rPr>
                        <a:t>K18</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약 200대, 2026년까지 약 2,000대 목표 </a:t>
                      </a:r>
                      <a:r>
                        <a:rPr sz="800" b="0" i="0">
                          <a:solidFill>
                            <a:srgbClr val="1D4ED8"/>
                          </a:solidFill>
                          <a:latin typeface="Arial"/>
                          <a:ea typeface="Malgun Gothic"/>
                          <a:cs typeface="Malgun Gothic"/>
                          <a:hlinkClick r:id="rId10"/>
                        </a:rPr>
                        <a:t>K24</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우아한형제들(딜리)</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3D 점군 지도 SLAM, 모션 플래닝은 최적화 기반과 학습 기반(종류 비공개) </a:t>
                      </a:r>
                      <a:r>
                        <a:rPr sz="800" b="0" i="0">
                          <a:solidFill>
                            <a:srgbClr val="1D4ED8"/>
                          </a:solidFill>
                          <a:latin typeface="Arial"/>
                          <a:ea typeface="Malgun Gothic"/>
                          <a:cs typeface="Malgun Gothic"/>
                          <a:hlinkClick r:id="rId11"/>
                        </a:rPr>
                        <a:t>K16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주행 거리 99% 이상 무개입(회사 발표)</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현대자동차</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MobED Pro 조건부 인증(횡단보도 통행 불가, 가시거리 내 운행) </a:t>
                      </a:r>
                      <a:r>
                        <a:rPr sz="800" b="0" i="0">
                          <a:solidFill>
                            <a:srgbClr val="1D4ED8"/>
                          </a:solidFill>
                          <a:latin typeface="Arial"/>
                          <a:ea typeface="Malgun Gothic"/>
                          <a:cs typeface="Malgun Gothic"/>
                          <a:hlinkClick r:id="rId12"/>
                        </a:rPr>
                        <a:t>K20</a:t>
                      </a:r>
                      <a:r>
                        <a:rPr sz="800" b="0" i="0">
                          <a:solidFill>
                            <a:srgbClr val="16213A"/>
                          </a:solidFill>
                          <a:latin typeface="Arial"/>
                          <a:ea typeface="Malgun Gothic"/>
                          <a:cs typeface="Malgun Gothic"/>
                        </a:rPr>
                        <a:t>, 신호 정보 연계 횡단 실증(2024-08) </a:t>
                      </a:r>
                      <a:r>
                        <a:rPr sz="800" b="0" i="0">
                          <a:solidFill>
                            <a:srgbClr val="1D4ED8"/>
                          </a:solidFill>
                          <a:latin typeface="Arial"/>
                          <a:ea typeface="Malgun Gothic"/>
                          <a:cs typeface="Malgun Gothic"/>
                          <a:hlinkClick r:id="rId13"/>
                        </a:rPr>
                        <a:t>K19</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제한 구역 운용 전제</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네이버랩스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실외 인증 Lungo, 1784 클라우드 로봇 인프라 </a:t>
                      </a:r>
                      <a:r>
                        <a:rPr sz="800" b="0" i="0">
                          <a:solidFill>
                            <a:srgbClr val="1D4ED8"/>
                          </a:solidFill>
                          <a:latin typeface="Arial"/>
                          <a:ea typeface="Malgun Gothic"/>
                          <a:cs typeface="Malgun Gothic"/>
                          <a:hlinkClick r:id="rId14"/>
                        </a:rPr>
                        <a:t>K26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비공개</a:t>
                      </a:r>
                    </a:p>
                  </a:txBody>
                  <a:tcPr marL="63500" marR="63500" marT="12700" marB="12700">
                    <a:solidFill>
                      <a:srgbClr val="FFFDF8"/>
                    </a:solidFill>
                  </a:tcPr>
                </a:tc>
              </a:tr>
            </a:tbl>
          </a:graphicData>
        </a:graphic>
      </p:graphicFrame>
      <p:sp>
        <p:nvSpPr>
          <p:cNvPr id="7" name="TextBox 6"/>
          <p:cNvSpPr txBox="1"/>
          <p:nvPr/>
        </p:nvSpPr>
        <p:spPr>
          <a:xfrm>
            <a:off x="609600" y="3772892"/>
            <a:ext cx="10972800" cy="649486"/>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로컬 플래너 알고리즘은 어느 회사도 공개하지 않았다. 인증 조건을 보면 계획 문제의 핵심은 민첩성이 아니다. 규칙을 지키기 위한 이산 결정, 보행자에 가까워지면 줄이거나 멈추는 속도, 신호 시간 창, 원격 개입이 핵심이다(원 문서의 분석). 규모는 국내 최대 운영사가 수백 대, 미국 Serve Robotics가 2,000대 이상이다 </a:t>
            </a:r>
            <a:r>
              <a:rPr sz="1050" b="0" i="0">
                <a:solidFill>
                  <a:srgbClr val="1D4ED8"/>
                </a:solidFill>
                <a:latin typeface="Arial"/>
                <a:ea typeface="Malgun Gothic"/>
                <a:cs typeface="Malgun Gothic"/>
                <a:hlinkClick r:id="rId15"/>
              </a:rPr>
              <a:t>K21</a:t>
            </a:r>
            <a:r>
              <a:rPr sz="1050" b="0" i="0">
                <a:solidFill>
                  <a:srgbClr val="16213A"/>
                </a:solidFill>
                <a:latin typeface="Arial"/>
                <a:ea typeface="Malgun Gothic"/>
                <a:cs typeface="Malgun Gothic"/>
              </a:rPr>
              <a:t>. 연구 쪽에서는 KAIST LiCS가 BARN 2024를 행동복제로 우승했다 </a:t>
            </a:r>
            <a:r>
              <a:rPr sz="1050" b="0" i="0">
                <a:solidFill>
                  <a:srgbClr val="1D4ED8"/>
                </a:solidFill>
                <a:latin typeface="Arial"/>
                <a:ea typeface="Malgun Gothic"/>
                <a:cs typeface="Malgun Gothic"/>
                <a:hlinkClick r:id="rId16"/>
              </a:rPr>
              <a:t>K15</a:t>
            </a:r>
            <a:r>
              <a:rPr sz="1050" b="0" i="0">
                <a:solidFill>
                  <a:srgbClr val="16213A"/>
                </a:solidFill>
                <a:latin typeface="Arial"/>
                <a:ea typeface="Malgun Gothic"/>
                <a:cs typeface="Malgun Gothic"/>
              </a:rPr>
              <a:t>. 규모 수치와 스택 서술 가운데 뉴스로만 확인한 것은 근거 목록에 '헤드라인'으로 표시했다.</a:t>
            </a:r>
          </a:p>
        </p:txBody>
      </p:sp>
      <p:sp>
        <p:nvSpPr>
          <p:cNvPr id="8" name="TextBox 7"/>
          <p:cNvSpPr txBox="1"/>
          <p:nvPr/>
        </p:nvSpPr>
        <p:spPr>
          <a:xfrm>
            <a:off x="717550" y="4511278"/>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B.18.6 travplan에 주는 의미</a:t>
            </a:r>
          </a:p>
        </p:txBody>
      </p:sp>
      <p:sp>
        <p:nvSpPr>
          <p:cNvPr id="9" name="TextBox 8"/>
          <p:cNvSpPr txBox="1"/>
          <p:nvPr/>
        </p:nvSpPr>
        <p:spPr>
          <a:xfrm>
            <a:off x="609600" y="481449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travplan의 두 층은 이 지형에서 서로 다른 분야의 대세를 따른다.</a:t>
            </a:r>
            <a:r>
              <a:rPr sz="1050" b="0" i="0">
                <a:solidFill>
                  <a:srgbClr val="16213A"/>
                </a:solidFill>
                <a:latin typeface="Arial"/>
                <a:ea typeface="Malgun Gothic"/>
                <a:cs typeface="Malgun Gothic"/>
              </a:rPr>
              <a:t> 아래 층(MPPI)은 모바일 로봇의 대세이고, 위 층(학습 Planner)은 다리 로봇과 도로의 부상 흐름이다. 원 문서는 궤적 최적화가 학습과 결합하는 자리를 세 구조로 나눴다. 분류와 예시 배치는 원 문서의 해석이다.</a:t>
            </a:r>
          </a:p>
        </p:txBody>
      </p:sp>
      <p:graphicFrame>
        <p:nvGraphicFramePr>
          <p:cNvPr id="10" name="Table 9"/>
          <p:cNvGraphicFramePr>
            <a:graphicFrameLocks noGrp="1"/>
          </p:cNvGraphicFramePr>
          <p:nvPr/>
        </p:nvGraphicFramePr>
        <p:xfrm>
          <a:off x="609600" y="5336381"/>
          <a:ext cx="10966450" cy="591264"/>
        </p:xfrm>
        <a:graphic>
          <a:graphicData uri="http://schemas.openxmlformats.org/drawingml/2006/table">
            <a:tbl>
              <a:tblPr firstRow="1" bandRow="1">
                <a:tableStyleId>{5C22544A-7EE6-4342-B048-85BDC9FD1C3A}</a:tableStyleId>
              </a:tblPr>
              <a:tblGrid>
                <a:gridCol w="1423591"/>
                <a:gridCol w="3156545"/>
                <a:gridCol w="2236391"/>
                <a:gridCol w="1530945"/>
                <a:gridCol w="2618978"/>
              </a:tblGrid>
              <a:tr h="197088">
                <a:tc>
                  <a:txBody>
                    <a:bodyPr wrap="square"/>
                    <a:lstStyle/>
                    <a:p>
                      <a:r>
                        <a:rPr sz="800" b="1" i="0">
                          <a:solidFill>
                            <a:srgbClr val="F4F1EA"/>
                          </a:solidFill>
                          <a:latin typeface="Arial"/>
                          <a:ea typeface="Malgun Gothic"/>
                          <a:cs typeface="Malgun Gothic"/>
                        </a:rPr>
                        <a:t>구조</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가운데</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아래</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예</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① 생성 + 최적화 보증</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학습 생성기(확산·VLA·RL 정책)가 후보·참조를 낸다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최적화가 투영·백업 궤적·검증으로 보증한다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MPC·기하 제어</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SUPER의 백업 궤적 </a:t>
                      </a:r>
                      <a:r>
                        <a:rPr sz="800" b="0" i="0">
                          <a:solidFill>
                            <a:srgbClr val="1D4ED8"/>
                          </a:solidFill>
                          <a:latin typeface="Arial"/>
                          <a:ea typeface="Malgun Gothic"/>
                          <a:cs typeface="Malgun Gothic"/>
                          <a:hlinkClick r:id="rId17"/>
                        </a:rPr>
                        <a:t>G1</a:t>
                      </a:r>
                      <a:r>
                        <a:rPr sz="800" b="0" i="0">
                          <a:solidFill>
                            <a:srgbClr val="16213A"/>
                          </a:solidFill>
                          <a:latin typeface="Arial"/>
                          <a:ea typeface="Malgun Gothic"/>
                          <a:cs typeface="Malgun Gothic"/>
                        </a:rPr>
                        <a:t>, Waymo 검증층 </a:t>
                      </a:r>
                      <a:r>
                        <a:rPr sz="800" b="0" i="0">
                          <a:solidFill>
                            <a:srgbClr val="1D4ED8"/>
                          </a:solidFill>
                          <a:latin typeface="Arial"/>
                          <a:ea typeface="Malgun Gothic"/>
                          <a:cs typeface="Malgun Gothic"/>
                          <a:hlinkClick r:id="rId18"/>
                        </a:rPr>
                        <a:t>A6</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② 최적화 교사 + 학습 실행</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최적화가 참조·교사·대량 궤적을 만든다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증류·모방·RL 미세 조정</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학습 정책이 보행·비행을 실행</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DTC </a:t>
                      </a:r>
                      <a:r>
                        <a:rPr sz="800" b="0" i="0">
                          <a:solidFill>
                            <a:srgbClr val="1D4ED8"/>
                          </a:solidFill>
                          <a:latin typeface="Arial"/>
                          <a:ea typeface="Malgun Gothic"/>
                          <a:cs typeface="Malgun Gothic"/>
                          <a:hlinkClick r:id="rId19"/>
                        </a:rPr>
                        <a:t>Q5</a:t>
                      </a:r>
                      <a:r>
                        <a:rPr sz="800" b="0" i="0">
                          <a:solidFill>
                            <a:srgbClr val="16213A"/>
                          </a:solidFill>
                          <a:latin typeface="Arial"/>
                          <a:ea typeface="Malgun Gothic"/>
                          <a:cs typeface="Malgun Gothic"/>
                        </a:rPr>
                        <a:t>, APT-RL </a:t>
                      </a:r>
                      <a:r>
                        <a:rPr sz="800" b="0" i="0">
                          <a:solidFill>
                            <a:srgbClr val="1D4ED8"/>
                          </a:solidFill>
                          <a:latin typeface="Arial"/>
                          <a:ea typeface="Malgun Gothic"/>
                          <a:cs typeface="Malgun Gothic"/>
                          <a:hlinkClick r:id="rId20"/>
                        </a:rPr>
                        <a:t>K4</a:t>
                      </a:r>
                    </a:p>
                  </a:txBody>
                  <a:tcPr marL="63500" marR="63500" marT="12700" marB="12700">
                    <a:solidFill>
                      <a:srgbClr val="F3F0E8"/>
                    </a:solidFill>
                  </a:tcPr>
                </a:tc>
              </a:tr>
            </a:tbl>
          </a:graphicData>
        </a:graphic>
      </p:graphicFrame>
    </p:spTree>
  </p:cSld>
  <p:clrMapOvr>
    <a:masterClrMapping/>
  </p:clrMapOvr>
</p:sld>
</file>

<file path=ppt/slides/slide49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분야별 지형</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B.18 로봇 분야별 계획·제어: 레이싱카, 모바일 로봇, 도로 자율주행, 사족보행, 휴머노이드</a:t>
            </a:r>
            <a:r>
              <a:rPr sz="1050" b="0" i="0">
                <a:solidFill>
                  <a:srgbClr val="5A6478"/>
                </a:solidFill>
                <a:latin typeface="Arial"/>
                <a:ea typeface="Malgun Gothic"/>
                <a:cs typeface="Malgun Gothic"/>
              </a:rPr>
              <a:t>  8/9</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490 / 516</a:t>
            </a:r>
          </a:p>
        </p:txBody>
      </p:sp>
      <p:graphicFrame>
        <p:nvGraphicFramePr>
          <p:cNvPr id="5" name="Table 4"/>
          <p:cNvGraphicFramePr>
            <a:graphicFrameLocks noGrp="1"/>
          </p:cNvGraphicFramePr>
          <p:nvPr/>
        </p:nvGraphicFramePr>
        <p:xfrm>
          <a:off x="609600" y="1244600"/>
          <a:ext cx="10966450" cy="394176"/>
        </p:xfrm>
        <a:graphic>
          <a:graphicData uri="http://schemas.openxmlformats.org/drawingml/2006/table">
            <a:tbl>
              <a:tblPr firstRow="1" bandRow="1">
                <a:tableStyleId>{5C22544A-7EE6-4342-B048-85BDC9FD1C3A}</a:tableStyleId>
              </a:tblPr>
              <a:tblGrid>
                <a:gridCol w="1423591"/>
                <a:gridCol w="3156545"/>
                <a:gridCol w="2236391"/>
                <a:gridCol w="1530945"/>
                <a:gridCol w="2618978"/>
              </a:tblGrid>
              <a:tr h="197088">
                <a:tc>
                  <a:txBody>
                    <a:bodyPr wrap="square"/>
                    <a:lstStyle/>
                    <a:p>
                      <a:r>
                        <a:rPr sz="800" b="1" i="0">
                          <a:solidFill>
                            <a:srgbClr val="F4F1EA"/>
                          </a:solidFill>
                          <a:latin typeface="Arial"/>
                          <a:ea typeface="Malgun Gothic"/>
                          <a:cs typeface="Malgun Gothic"/>
                        </a:rPr>
                        <a:t>구조</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가운데</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아래</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예</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③ 3층</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학습 상위층이 예측·모드·경유점을 낸다(150 ms에서 수 초 늦게)</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최적화가 20 Hz로 재계획하고 사후 검증한다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MPC·RL 추종기</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YOPO 개선판의 MINCO 표현 </a:t>
                      </a:r>
                      <a:r>
                        <a:rPr sz="800" b="0" i="0">
                          <a:solidFill>
                            <a:srgbClr val="1D4ED8"/>
                          </a:solidFill>
                          <a:latin typeface="Arial"/>
                          <a:ea typeface="Malgun Gothic"/>
                          <a:cs typeface="Malgun Gothic"/>
                          <a:hlinkClick r:id="rId3"/>
                        </a:rPr>
                        <a:t>L3</a:t>
                      </a:r>
                      <a:r>
                        <a:rPr sz="800" b="0" i="0">
                          <a:solidFill>
                            <a:srgbClr val="16213A"/>
                          </a:solidFill>
                          <a:latin typeface="Arial"/>
                          <a:ea typeface="Malgun Gothic"/>
                          <a:cs typeface="Malgun Gothic"/>
                        </a:rPr>
                        <a:t>, 퍼서비어런스 </a:t>
                      </a:r>
                      <a:r>
                        <a:rPr sz="800" b="0" i="0">
                          <a:solidFill>
                            <a:srgbClr val="1D4ED8"/>
                          </a:solidFill>
                          <a:latin typeface="Arial"/>
                          <a:ea typeface="Malgun Gothic"/>
                          <a:cs typeface="Malgun Gothic"/>
                          <a:hlinkClick r:id="rId4"/>
                        </a:rPr>
                        <a:t>P10</a:t>
                      </a:r>
                    </a:p>
                  </a:txBody>
                  <a:tcPr marL="63500" marR="63500" marT="12700" marB="12700">
                    <a:solidFill>
                      <a:srgbClr val="FFFDF8"/>
                    </a:solidFill>
                  </a:tcPr>
                </a:tc>
              </a:tr>
            </a:tbl>
          </a:graphicData>
        </a:graphic>
      </p:graphicFrame>
      <p:sp>
        <p:nvSpPr>
          <p:cNvPr id="6" name="TextBox 5"/>
          <p:cNvSpPr txBox="1"/>
          <p:nvPr/>
        </p:nvSpPr>
        <p:spPr>
          <a:xfrm>
            <a:off x="609600" y="1832570"/>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travplan을 이 표에 놓으면 ③에 가깝고 가운데 층이 얇다. Planner D(flow matching)가 위에서 경로를 내고, MPPI·NMPC가 그것을 따라가며 지형과 보행자를 로컬로 피한다. 가운데의 검증 역할은 지금 Guidance 폴백(</a:t>
            </a:r>
            <a:r>
              <a:rPr sz="1050" b="0" i="0">
                <a:solidFill>
                  <a:srgbClr val="16213A"/>
                </a:solidFill>
                <a:latin typeface="Consolas"/>
                <a:ea typeface="Malgun Gothic"/>
                <a:cs typeface="Malgun Gothic"/>
              </a:rPr>
              <a:t>planner_df</a:t>
            </a:r>
            <a:r>
              <a:rPr sz="1050" b="0" i="0">
                <a:solidFill>
                  <a:srgbClr val="16213A"/>
                </a:solidFill>
                <a:latin typeface="Arial"/>
                <a:ea typeface="Malgun Gothic"/>
                <a:cs typeface="Malgun Gothic"/>
              </a:rPr>
              <a:t>)과 치명 셀 규칙이 나눠 맡는다. 폴백은 SUPER의 백업 궤적과 같은 자리이고, 둘 다 학습 출력이 실패할 때 비학습 경로로 물러난다.</a:t>
            </a:r>
          </a:p>
        </p:txBody>
      </p:sp>
      <p:graphicFrame>
        <p:nvGraphicFramePr>
          <p:cNvPr id="7" name="Table 6"/>
          <p:cNvGraphicFramePr>
            <a:graphicFrameLocks noGrp="1"/>
          </p:cNvGraphicFramePr>
          <p:nvPr/>
        </p:nvGraphicFramePr>
        <p:xfrm>
          <a:off x="609600" y="2354461"/>
          <a:ext cx="10966450" cy="1863168"/>
        </p:xfrm>
        <a:graphic>
          <a:graphicData uri="http://schemas.openxmlformats.org/drawingml/2006/table">
            <a:tbl>
              <a:tblPr firstRow="1" bandRow="1">
                <a:tableStyleId>{5C22544A-7EE6-4342-B048-85BDC9FD1C3A}</a:tableStyleId>
              </a:tblPr>
              <a:tblGrid>
                <a:gridCol w="1288455"/>
                <a:gridCol w="2568277"/>
                <a:gridCol w="7109718"/>
              </a:tblGrid>
              <a:tr h="197088">
                <a:tc>
                  <a:txBody>
                    <a:bodyPr wrap="square"/>
                    <a:lstStyle/>
                    <a:p>
                      <a:r>
                        <a:rPr sz="800" b="1" i="0">
                          <a:solidFill>
                            <a:srgbClr val="F4F1EA"/>
                          </a:solidFill>
                          <a:latin typeface="Arial"/>
                          <a:ea typeface="Malgun Gothic"/>
                          <a:cs typeface="Malgun Gothic"/>
                        </a:rPr>
                        <a:t>B.18.1의 방식 계열</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travplan의 해당 부품</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이 절이 말하는 것</a:t>
                      </a:r>
                    </a:p>
                  </a:txBody>
                  <a:tcPr marL="63500" marR="63500" marT="12700" marB="12700">
                    <a:solidFill>
                      <a:srgbClr val="16213A"/>
                    </a:solidFill>
                  </a:tcPr>
                </a:tc>
              </a:tr>
              <a:tr h="317976">
                <a:tc>
                  <a:txBody>
                    <a:bodyPr wrap="square"/>
                    <a:lstStyle/>
                    <a:p>
                      <a:r>
                        <a:rPr sz="800" b="0" i="0">
                          <a:solidFill>
                            <a:srgbClr val="16213A"/>
                          </a:solidFill>
                          <a:latin typeface="Arial"/>
                          <a:ea typeface="Malgun Gothic"/>
                          <a:cs typeface="Malgun Gothic"/>
                        </a:rPr>
                        <a:t>샘플링 MPC</a:t>
                      </a:r>
                    </a:p>
                  </a:txBody>
                  <a:tcPr marL="63500" marR="63500" marT="12700" marB="12700">
                    <a:solidFill>
                      <a:srgbClr val="FFFDF8"/>
                    </a:solidFill>
                  </a:tcPr>
                </a:tc>
                <a:tc>
                  <a:txBody>
                    <a:bodyPr wrap="square"/>
                    <a:lstStyle/>
                    <a:p>
                      <a:r>
                        <a:rPr sz="800" b="0" i="0">
                          <a:solidFill>
                            <a:srgbClr val="16213A"/>
                          </a:solidFill>
                          <a:latin typeface="Consolas"/>
                          <a:ea typeface="Malgun Gothic"/>
                          <a:cs typeface="Malgun Gothic"/>
                        </a:rPr>
                        <a:t>MPPIController</a:t>
                      </a:r>
                      <a:r>
                        <a:rPr sz="800" b="0" i="0">
                          <a:solidFill>
                            <a:srgbClr val="16213A"/>
                          </a:solidFill>
                          <a:latin typeface="Arial"/>
                          <a:ea typeface="Malgun Gothic"/>
                          <a:cs typeface="Malgun Gothic"/>
                        </a:rPr>
                        <a:t>·</a:t>
                      </a:r>
                      <a:r>
                        <a:rPr sz="800" b="0" i="0">
                          <a:solidFill>
                            <a:srgbClr val="16213A"/>
                          </a:solidFill>
                          <a:latin typeface="Consolas"/>
                          <a:ea typeface="Malgun Gothic"/>
                          <a:cs typeface="Malgun Gothic"/>
                        </a:rPr>
                        <a:t>mppi_plant_lag</a:t>
                      </a:r>
                      <a:r>
                        <a:rPr sz="800" b="0" i="0">
                          <a:solidFill>
                            <a:srgbClr val="16213A"/>
                          </a:solidFill>
                          <a:latin typeface="Arial"/>
                          <a:ea typeface="Malgun Gothic"/>
                          <a:cs typeface="Malgun Gothic"/>
                        </a:rPr>
                        <a:t>(주력 Controller)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모바일 로봇에서 Nav2 기본값이 된 선택과 같다. 비미분 비용(치명 셀, 이진 충돌)을 그대로 쓸 수 있다는 동인이 travplan이 MPPI를 남긴 이유(2026-09-30의 두 갈래 결정, Controller 문서 E.10)와 같다</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모델 기반 제어·궤적 최적화</a:t>
                      </a:r>
                    </a:p>
                  </a:txBody>
                  <a:tcPr marL="63500" marR="63500" marT="12700" marB="12700">
                    <a:solidFill>
                      <a:srgbClr val="F3F0E8"/>
                    </a:solidFill>
                  </a:tcPr>
                </a:tc>
                <a:tc>
                  <a:txBody>
                    <a:bodyPr wrap="square"/>
                    <a:lstStyle/>
                    <a:p>
                      <a:r>
                        <a:rPr sz="800" b="0" i="0">
                          <a:solidFill>
                            <a:srgbClr val="16213A"/>
                          </a:solidFill>
                          <a:latin typeface="Consolas"/>
                          <a:ea typeface="Malgun Gothic"/>
                          <a:cs typeface="Malgun Gothic"/>
                        </a:rPr>
                        <a:t>MPCController</a:t>
                      </a:r>
                      <a:r>
                        <a:rPr sz="800" b="0" i="0">
                          <a:solidFill>
                            <a:srgbClr val="16213A"/>
                          </a:solidFill>
                          <a:latin typeface="Arial"/>
                          <a:ea typeface="Malgun Gothic"/>
                          <a:cs typeface="Malgun Gothic"/>
                        </a:rPr>
                        <a:t>(acados NMPC), 잔차 GP</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hard 제약과 튜브를 품는 쪽이다. 레이싱카처럼 모델이 맞을 때 강하고, plant 지연 아래에서는 MPPI보다 나빴다(TP-0152)</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탐색·샘플링 계획</a:t>
                      </a:r>
                    </a:p>
                  </a:txBody>
                  <a:tcPr marL="63500" marR="63500" marT="12700" marB="12700">
                    <a:solidFill>
                      <a:srgbClr val="FFFDF8"/>
                    </a:solidFill>
                  </a:tcPr>
                </a:tc>
                <a:tc>
                  <a:txBody>
                    <a:bodyPr wrap="square"/>
                    <a:lstStyle/>
                    <a:p>
                      <a:r>
                        <a:rPr sz="800" b="0" i="0">
                          <a:solidFill>
                            <a:srgbClr val="16213A"/>
                          </a:solidFill>
                          <a:latin typeface="Consolas"/>
                          <a:ea typeface="Malgun Gothic"/>
                          <a:cs typeface="Malgun Gothic"/>
                        </a:rPr>
                        <a:t>GuidancePlanner</a:t>
                      </a:r>
                      <a:r>
                        <a:rPr sz="800" b="0" i="0">
                          <a:solidFill>
                            <a:srgbClr val="16213A"/>
                          </a:solidFill>
                          <a:latin typeface="Arial"/>
                          <a:ea typeface="Malgun Gothic"/>
                          <a:cs typeface="Malgun Gothic"/>
                        </a:rPr>
                        <a:t>(Dijkstra), Guidance 폴백</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모바일 로봇의 전역 계획(NavFn·Smac)과 같은 자리다. travplan에서는 기준선이자 안전 폴백이다</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종단간·학습형 플래너, 모방학습</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Planner D(flow matching, DAgger, RL 후학습 TP-0066)</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모바일 로봇에서 NoMaD·NavDP처럼 아직 연구 단계로 분류된 칸이다. 배치 근거는 폴백을 켠 스택(</a:t>
                      </a:r>
                      <a:r>
                        <a:rPr sz="800" b="0" i="0">
                          <a:solidFill>
                            <a:srgbClr val="16213A"/>
                          </a:solidFill>
                          <a:latin typeface="Consolas"/>
                          <a:ea typeface="Malgun Gothic"/>
                          <a:cs typeface="Malgun Gothic"/>
                        </a:rPr>
                        <a:t>planner_df+mppi</a:t>
                      </a:r>
                      <a:r>
                        <a:rPr sz="800" b="0" i="0">
                          <a:solidFill>
                            <a:srgbClr val="16213A"/>
                          </a:solidFill>
                          <a:latin typeface="Arial"/>
                          <a:ea typeface="Malgun Gothic"/>
                          <a:cs typeface="Malgun Gothic"/>
                        </a:rPr>
                        <a:t>)으로 쌓는다</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강화학습 sim-to-real</a:t>
                      </a:r>
                    </a:p>
                  </a:txBody>
                  <a:tcPr marL="63500" marR="63500" marT="12700" marB="12700">
                    <a:solidFill>
                      <a:srgbClr val="FFFDF8"/>
                    </a:solidFill>
                  </a:tcPr>
                </a:tc>
                <a:tc>
                  <a:txBody>
                    <a:bodyPr wrap="square"/>
                    <a:lstStyle/>
                    <a:p>
                      <a:r>
                        <a:rPr sz="800" b="0" i="0">
                          <a:solidFill>
                            <a:srgbClr val="16213A"/>
                          </a:solidFill>
                          <a:latin typeface="Consolas"/>
                          <a:ea typeface="Malgun Gothic"/>
                          <a:cs typeface="Malgun Gothic"/>
                        </a:rPr>
                        <a:t>TinyPolicy</a:t>
                      </a:r>
                      <a:r>
                        <a:rPr sz="800" b="0" i="0">
                          <a:solidFill>
                            <a:srgbClr val="16213A"/>
                          </a:solidFill>
                          <a:latin typeface="Arial"/>
                          <a:ea typeface="Malgun Gothic"/>
                          <a:cs typeface="Malgun Gothic"/>
                        </a:rPr>
                        <a:t>(TP-0128, 진화 전략)</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다리 로봇에서 대세인 칸이다. travplan의 학습 Controller는 Playground 시연에서 시작했고, 벤치마크 스택에는 아직 들어가지 않았다</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파운데이션 모델·월드 모델</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없음</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위층(경유점·서브골)으로 들어오는 흐름이라, 들어온다면 Planner 위에 얹힌다</a:t>
                      </a:r>
                    </a:p>
                  </a:txBody>
                  <a:tcPr marL="63500" marR="63500" marT="12700" marB="12700">
                    <a:solidFill>
                      <a:srgbClr val="F3F0E8"/>
                    </a:solidFill>
                  </a:tcPr>
                </a:tc>
              </a:tr>
            </a:tbl>
          </a:graphicData>
        </a:graphic>
      </p:graphicFrame>
      <p:sp>
        <p:nvSpPr>
          <p:cNvPr id="8" name="TextBox 7"/>
          <p:cNvSpPr txBox="1"/>
          <p:nvPr/>
        </p:nvSpPr>
        <p:spPr>
          <a:xfrm>
            <a:off x="609600" y="4778673"/>
            <a:ext cx="10972800" cy="1082477"/>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여기서 travplan의 빈 곳 셋이 보인다. 첫째, 결정론 안전층이 없다. MPPI의 치명 셀 비용과 Guidance 폴백은 성능층 안의 장치이고, 인증을 받을 수 있는 독립 감시(속도·분리 감시, 비상 정지)는 아직 설계하지 않았다. CBF-QP류 안전 필터(Controller 문서 C)는 라이선스 문제로 보류 중이고(ARCHITECTURE.md), 그것도 인증을 받기 전에는 안전층이 아니다. 둘째, 한국 실외이동로봇 인증의 심사 항목 가운데 횡단보도 통행과 관제 장치는 travplan 벤치마크가 다루지 않는다. 신호 시간 창과 규칙 이산 결정은 지금의 Planner 출력(경로·시간 인덱스 궤적)에 들어갈 자리가 없다. 셋째, 원격 지원 인터페이스가 없다. Waymo와 퍼서비어런스의 예는 늦게 도착하는 조언(150 ms에서 수 초)을 경유점으로 받고 실시간 루프는 온보드가 쥐는 구조다. travplan에 들인다면 Planner의 목표·서브골 입력이 그 자리다.</a:t>
            </a:r>
          </a:p>
        </p:txBody>
      </p:sp>
    </p:spTree>
  </p:cSld>
  <p:clrMapOvr>
    <a:masterClrMapping/>
  </p:clrMapOvr>
</p:sld>
</file>

<file path=ppt/slides/slide49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분야별 지형</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B.18 로봇 분야별 계획·제어: 레이싱카, 모바일 로봇, 도로 자율주행, 사족보행, 휴머노이드</a:t>
            </a:r>
            <a:r>
              <a:rPr sz="1050" b="0" i="0">
                <a:solidFill>
                  <a:srgbClr val="5A6478"/>
                </a:solidFill>
                <a:latin typeface="Arial"/>
                <a:ea typeface="Malgun Gothic"/>
                <a:cs typeface="Malgun Gothic"/>
              </a:rPr>
              <a:t>  9/9</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491 / 516</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읽을 때 주의.</a:t>
            </a:r>
            <a:r>
              <a:rPr sz="1050" b="0" i="0">
                <a:solidFill>
                  <a:srgbClr val="16213A"/>
                </a:solidFill>
                <a:latin typeface="Arial"/>
                <a:ea typeface="Malgun Gothic"/>
                <a:cs typeface="Malgun Gothic"/>
              </a:rPr>
              <a:t> 대세는 공개된 사례에 한정한 판단이다. PoliMOVE·Cavalier, Tesla Optimus·1X, 광산 OEM, 중국 사족 OEM, 국내 배송 로봇 회사는 계획·제어 알고리즘을 공개하지 않았다. Figure·BD·NVIDIA·Waymo·Amazon·EACON의 수치는 회사 발표이고, 2026년 arXiv 논문 다수는 심사 전 프리프린트이자 시뮬레이션 검증이다. 근거의 수준은 원 문서 16절을 따른다.</a:t>
            </a:r>
          </a:p>
        </p:txBody>
      </p:sp>
    </p:spTree>
  </p:cSld>
  <p:clrMapOvr>
    <a:masterClrMapping/>
  </p:clrMapOvr>
</p:sld>
</file>

<file path=ppt/slides/slide49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분야별 지형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B.18 로봇 분야별 계획·제어: 레이싱카, 모바일 로봇, 도로 자율주행, 사족보행, 휴머노이드</a:t>
            </a:r>
            <a:r>
              <a:rPr sz="1050" b="0" i="0">
                <a:solidFill>
                  <a:srgbClr val="5A6478"/>
                </a:solidFill>
                <a:latin typeface="Arial"/>
                <a:ea typeface="Malgun Gothic"/>
                <a:cs typeface="Malgun Gothic"/>
              </a:rPr>
              <a:t>  자세히: B.18의 근거 123건(원 문서 17절)</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492 / 516</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원 문서 17절의 목록을 번호 그대로 옮겼다. 기업 수치는 회사 발표이고 독립 검증이 아니다. (헤드라인)은 뉴스 보도로만 확인한 항목이다.</a:t>
            </a:r>
          </a:p>
        </p:txBody>
      </p:sp>
      <p:sp>
        <p:nvSpPr>
          <p:cNvPr id="6" name="TextBox 5"/>
          <p:cNvSpPr txBox="1"/>
          <p:nvPr/>
        </p:nvSpPr>
        <p:spPr>
          <a:xfrm>
            <a:off x="609600" y="1549995"/>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자율주행 레이싱카</a:t>
            </a:r>
          </a:p>
        </p:txBody>
      </p:sp>
      <p:sp>
        <p:nvSpPr>
          <p:cNvPr id="7" name="TextBox 6"/>
          <p:cNvSpPr txBox="1"/>
          <p:nvPr/>
        </p:nvSpPr>
        <p:spPr>
          <a:xfrm>
            <a:off x="609600" y="1855391"/>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17개(문단·식·그림)는 대시보드 리서치 탭의 "자세히: B.18의 근거 123건(원 문서 17절)" 토글에 있다.</a:t>
            </a:r>
          </a:p>
        </p:txBody>
      </p:sp>
    </p:spTree>
  </p:cSld>
  <p:clrMapOvr>
    <a:masterClrMapping/>
  </p:clrMapOvr>
</p:sld>
</file>

<file path=ppt/slides/slide493.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F59E5B"/>
                </a:solidFill>
                <a:latin typeface="Consolas"/>
                <a:ea typeface="Malgun Gothic"/>
                <a:cs typeface="Malgun Gothic"/>
              </a:rPr>
              <a:t>Planner · 탭</a:t>
            </a:r>
          </a:p>
        </p:txBody>
      </p:sp>
      <p:sp>
        <p:nvSpPr>
          <p:cNvPr id="3" name="TextBox 2"/>
          <p:cNvSpPr txBox="1"/>
          <p:nvPr/>
        </p:nvSpPr>
        <p:spPr>
          <a:xfrm>
            <a:off x="609600" y="609600"/>
            <a:ext cx="10972800" cy="381000"/>
          </a:xfrm>
          <a:prstGeom prst="rect">
            <a:avLst/>
          </a:prstGeom>
          <a:noFill/>
        </p:spPr>
        <p:txBody>
          <a:bodyPr wrap="square" lIns="0" rIns="0" tIns="0" bIns="0" anchor="t">
            <a:spAutoFit/>
            <a:normAutofit/>
          </a:bodyPr>
          <a:lstStyle/>
          <a:p>
            <a:r>
              <a:rPr sz="2650" b="1" i="0">
                <a:solidFill>
                  <a:srgbClr val="F4F1EA"/>
                </a:solidFill>
                <a:latin typeface="Arial"/>
                <a:ea typeface="Malgun Gothic"/>
                <a:cs typeface="Malgun Gothic"/>
              </a:rPr>
              <a:t>최근 연구 비교</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9AA6BC"/>
                </a:solidFill>
                <a:latin typeface="Arial"/>
                <a:ea typeface="Malgun Gothic"/>
                <a:cs typeface="Malgun Gothic"/>
              </a:rPr>
              <a:t>travplan 리서치 · Planner (docs/research-planner.md)    493 / 516</a:t>
            </a:r>
          </a:p>
        </p:txBody>
      </p:sp>
      <p:sp>
        <p:nvSpPr>
          <p:cNvPr id="5" name="TextBox 4"/>
          <p:cNvSpPr txBox="1"/>
          <p:nvPr/>
        </p:nvSpPr>
        <p:spPr>
          <a:xfrm>
            <a:off x="609600" y="1244600"/>
            <a:ext cx="5283200" cy="5080000"/>
          </a:xfrm>
          <a:prstGeom prst="rect">
            <a:avLst/>
          </a:prstGeom>
          <a:noFill/>
        </p:spPr>
        <p:txBody>
          <a:bodyPr wrap="square" lIns="0" rIns="0" tIns="0" bIns="0" anchor="t">
            <a:spAutoFit/>
            <a:normAutofit/>
          </a:bodyPr>
          <a:lstStyle/>
          <a:p>
            <a:pPr>
              <a:spcAft>
                <a:spcPts val="400"/>
              </a:spcAft>
            </a:pPr>
            <a:r>
              <a:rPr sz="1000" b="1" i="0">
                <a:solidFill>
                  <a:srgbClr val="F59E5B"/>
                </a:solidFill>
                <a:latin typeface="Arial"/>
                <a:ea typeface="Malgun Gothic"/>
                <a:cs typeface="Malgun Gothic"/>
              </a:rPr>
              <a:t>B.17 최근 연구 비교 (2025–2026)</a:t>
            </a:r>
          </a:p>
        </p:txBody>
      </p:sp>
      <p:sp>
        <p:nvSpPr>
          <p:cNvPr id="6" name="TextBox 5"/>
          <p:cNvSpPr txBox="1"/>
          <p:nvPr/>
        </p:nvSpPr>
        <p:spPr>
          <a:xfrm>
            <a:off x="6299200" y="1244600"/>
            <a:ext cx="5283200" cy="5080000"/>
          </a:xfrm>
          <a:prstGeom prst="rect">
            <a:avLst/>
          </a:prstGeom>
          <a:noFill/>
        </p:spPr>
        <p:txBody>
          <a:bodyPr wrap="square" lIns="0" rIns="0" tIns="0" bIns="0" anchor="t">
            <a:spAutoFit/>
            <a:normAutofit/>
          </a:bodyPr>
          <a:lstStyle/>
          <a:p/>
        </p:txBody>
      </p:sp>
    </p:spTree>
  </p:cSld>
  <p:clrMapOvr>
    <a:masterClrMapping/>
  </p:clrMapOvr>
</p:sld>
</file>

<file path=ppt/slides/slide49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최근 연구 비교</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B.17 최근 연구 비교 (2025–2026)</a:t>
            </a:r>
            <a:r>
              <a:rPr sz="1050" b="0" i="0">
                <a:solidFill>
                  <a:srgbClr val="5A6478"/>
                </a:solidFill>
                <a:latin typeface="Arial"/>
                <a:ea typeface="Malgun Gothic"/>
                <a:cs typeface="Malgun Gothic"/>
              </a:rPr>
              <a:t>  1/4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494 / 516</a:t>
            </a:r>
          </a:p>
        </p:txBody>
      </p:sp>
      <p:sp>
        <p:nvSpPr>
          <p:cNvPr id="5" name="TextBox 4"/>
          <p:cNvSpPr txBox="1"/>
          <p:nvPr/>
        </p:nvSpPr>
        <p:spPr>
          <a:xfrm>
            <a:off x="609600" y="1244600"/>
            <a:ext cx="10972800" cy="1082477"/>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2025–2026의 학습 로컬 Planner는 거의 모두 "사전학습한 생성 Planner가 후보 여럿을 내고, 다른 무엇이 고르거나 다듬는다"로 수렴했다. 갈리는 곳은 그 "다른 무엇"이다. 학습한 critic, 폐루프 RL, 느린 VLM, 로봇별 실행 가능성 모델, 비학습 안전 층이 그 자리에 들어간다. </a:t>
            </a:r>
            <a:r>
              <a:rPr sz="1050" b="1" i="0">
                <a:solidFill>
                  <a:srgbClr val="C2410C"/>
                </a:solidFill>
                <a:latin typeface="Arial"/>
                <a:ea typeface="Malgun Gothic"/>
                <a:cs typeface="Malgun Gothic"/>
              </a:rPr>
              <a:t>Planner 트랙을 다시 연다면, 먼저 바꿀 것은 새 구조가 아니라 RL 후학습의 신호다. 개루프 후보 채점을 폐루프 전이로 배운 Q로 바꾸는 것이 첫 시도다(X-NavDP).</a:t>
            </a:r>
            <a:r>
              <a:rPr sz="1050" b="0" i="0">
                <a:solidFill>
                  <a:srgbClr val="16213A"/>
                </a:solidFill>
                <a:latin typeface="Arial"/>
                <a:ea typeface="Malgun Gothic"/>
                <a:cs typeface="Malgun Gothic"/>
              </a:rPr>
              <a:t> 학습 쪽 네 시도(TP-0138 둘, TP-0143 둘)는 모두 TP-0066 1단계를 넘지 못했다. TP-0138은 그 원인을 보상이 몇 초짜리 재탐색을 보지 못하는 데서 찾았다(해석이다. TP-0143은 보상이 없는 DAgger였다). NavDP에서 출발한 X-NavDP는 RL 후학습으로 시뮬 성공률을 23점 올렸다. 그중 9점(71.57%에서 80.48%)은 Q critic이 아니라 같은 상태 그룹 정규화가 더했다. 지금 Planner 트랙은 쉬고 있다. 사용자 결정 1(2026-10-03, B)로 학습 Planner 단독은 26/30에 두고, 다음 병목인 L1 인식과 보행자로 넘어갔다.</a:t>
            </a:r>
          </a:p>
        </p:txBody>
      </p:sp>
      <p:graphicFrame>
        <p:nvGraphicFramePr>
          <p:cNvPr id="6" name="Table 5"/>
          <p:cNvGraphicFramePr>
            <a:graphicFrameLocks noGrp="1"/>
          </p:cNvGraphicFramePr>
          <p:nvPr/>
        </p:nvGraphicFramePr>
        <p:xfrm>
          <a:off x="609600" y="2415977"/>
          <a:ext cx="10966449" cy="2817096"/>
        </p:xfrm>
        <a:graphic>
          <a:graphicData uri="http://schemas.openxmlformats.org/drawingml/2006/table">
            <a:tbl>
              <a:tblPr firstRow="1" bandRow="1">
                <a:tableStyleId>{5C22544A-7EE6-4342-B048-85BDC9FD1C3A}</a:tableStyleId>
              </a:tblPr>
              <a:tblGrid>
                <a:gridCol w="2347516"/>
                <a:gridCol w="1014016"/>
                <a:gridCol w="2061170"/>
                <a:gridCol w="1250255"/>
                <a:gridCol w="1592560"/>
                <a:gridCol w="1959570"/>
                <a:gridCol w="741362"/>
              </a:tblGrid>
              <a:tr h="197088">
                <a:tc>
                  <a:txBody>
                    <a:bodyPr wrap="square"/>
                    <a:lstStyle/>
                    <a:p>
                      <a:r>
                        <a:rPr sz="800" b="1" i="0">
                          <a:solidFill>
                            <a:srgbClr val="F4F1EA"/>
                          </a:solidFill>
                          <a:latin typeface="Arial"/>
                          <a:ea typeface="Malgun Gothic"/>
                          <a:cs typeface="Malgun Gothic"/>
                        </a:rPr>
                        <a:t>이름 (연·발표)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입력·표현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방법의 핵심</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학습 신호·최적화</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로봇·실험</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코드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절</a:t>
                      </a:r>
                    </a:p>
                  </a:txBody>
                  <a:tcPr marL="63500" marR="63500" marT="12700" marB="12700">
                    <a:solidFill>
                      <a:srgbClr val="16213A"/>
                    </a:solidFill>
                  </a:tcPr>
                </a:tc>
              </a:tr>
              <a:tr h="317976">
                <a:tc>
                  <a:txBody>
                    <a:bodyPr wrap="square"/>
                    <a:lstStyle/>
                    <a:p>
                      <a:r>
                        <a:rPr sz="800" b="0" i="0">
                          <a:solidFill>
                            <a:srgbClr val="16213A"/>
                          </a:solidFill>
                          <a:latin typeface="Arial"/>
                          <a:ea typeface="Malgun Gothic"/>
                          <a:cs typeface="Malgun Gothic"/>
                        </a:rPr>
                        <a:t>NavDP (2025, ICRA 2026)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RGB-D 이력</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확산 궤적 후보 + 특권 정보 critic</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시뮬 시연 모방, ESDF로 critic 라벨</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Turtlebot·Go2·G1 실물</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공개</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B.3</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X-NavDP (2026-07, 프리프린트)</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RGB-D 이력</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NavDP + 그룹 안 Q 정규화 재가중 score matching, 몸체 임베딩</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폐루프 RL(twin critic, 3초 전이)</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Dingo·Go2·G1 실물, 시뮬 SR 61→84%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NavDP 저장소 </a:t>
                      </a:r>
                      <a:r>
                        <a:rPr sz="800" b="0" i="0">
                          <a:solidFill>
                            <a:srgbClr val="16213A"/>
                          </a:solidFill>
                          <a:latin typeface="Consolas"/>
                          <a:ea typeface="Malgun Gothic"/>
                          <a:cs typeface="Malgun Gothic"/>
                        </a:rPr>
                        <a:t>baselines/x-navdp</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B.3</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Beyond Imitation (2026-03, 프리프린트)</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RGB-D 이력</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NavDP 뒤쪽 DiT 층만 미세 조정</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에피소드 보상 GRPO</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Go2 실물 20회 10→14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미확인</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B.3</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ReinFlow (2025-05, NeurIPS 2025)</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상태·영상</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flow 경로에 학습 잡음, 정확한 가능도</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온라인 정책 기울기</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시뮬 보행·조작</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미확인</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B.3, R.13</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LoGoPlanner (2025-12, 프리프린트)</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RGB-D 영상</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미터 스케일 기하 백본 + 확산 행동 머리, 위치 추정 내장</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시뮬 시연 모방</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TurtleBot·Go2·G1 실물</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NavDP 저장소 </a:t>
                      </a:r>
                      <a:r>
                        <a:rPr sz="800" b="0" i="0">
                          <a:solidFill>
                            <a:srgbClr val="16213A"/>
                          </a:solidFill>
                          <a:latin typeface="Consolas"/>
                          <a:ea typeface="Malgun Gothic"/>
                          <a:cs typeface="Malgun Gothic"/>
                        </a:rPr>
                        <a:t>baselines/logoplanner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B.3</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S2E (2025-07, ICLR 2026(저자 저장소 표기))</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RGB + 목표점</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K-means 앵커 GMM + 0 초기화 잔차 attention</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영상 약 100시간 모방 뒤 PPO</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바퀴 로봇·Go2 실물, NavBench-GS (v2)</a:t>
                      </a:r>
                    </a:p>
                  </a:txBody>
                  <a:tcPr marL="63500" marR="63500" marT="12700" marB="12700">
                    <a:solidFill>
                      <a:srgbClr val="F3F0E8"/>
                    </a:solidFill>
                  </a:tcPr>
                </a:tc>
                <a:tc>
                  <a:txBody>
                    <a:bodyPr wrap="square"/>
                    <a:lstStyle/>
                    <a:p>
                      <a:r>
                        <a:rPr sz="800" b="0" i="0">
                          <a:solidFill>
                            <a:srgbClr val="1D4ED8"/>
                          </a:solidFill>
                          <a:latin typeface="Arial"/>
                          <a:ea typeface="Malgun Gothic"/>
                          <a:cs typeface="Malgun Gothic"/>
                          <a:hlinkClick r:id="rId3"/>
                        </a:rPr>
                        <a:t>VAIL-UCLA/S2E</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B.6d</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MIMIC (2026-03)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어안 RGB + GPS 목표</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다중 지평 앵커 + 교정 행동 확장</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배달로봇 원격조종 로그 모방</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배달로봇 실물 400 m</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미확인</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B.6d</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LogoNav (2025-05, RA-L 2025)</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영상 + 영상 목표 또는 GPS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모델 전문가로 행동 라벨을 다시 매김(MBRA)</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재라벨한 수동 수집 자료 모방</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3개 대륙 6개 도시, 300 m 이상</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미확인</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B.6d</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Slow Brain, Fast Planner (2026-06, 프리프린트)</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RGB + 목표</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앵커 Planner 후보 + 지연 VLM 선택을 점수에 융합</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학습 Planner + zero-shot VLM</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4륜 배달로봇 보도 5경로</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미확인</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B.6d</a:t>
                      </a:r>
                    </a:p>
                  </a:txBody>
                  <a:tcPr marL="63500" marR="63500" marT="12700" marB="12700">
                    <a:solidFill>
                      <a:srgbClr val="FFFDF8"/>
                    </a:solidFill>
                  </a:tcPr>
                </a:tc>
              </a:tr>
            </a:tbl>
          </a:graphicData>
        </a:graphic>
      </p:graphicFrame>
    </p:spTree>
  </p:cSld>
  <p:clrMapOvr>
    <a:masterClrMapping/>
  </p:clrMapOvr>
</p:sld>
</file>

<file path=ppt/slides/slide49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최근 연구 비교</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B.17 최근 연구 비교 (2025–2026)</a:t>
            </a:r>
            <a:r>
              <a:rPr sz="1050" b="0" i="0">
                <a:solidFill>
                  <a:srgbClr val="5A6478"/>
                </a:solidFill>
                <a:latin typeface="Arial"/>
                <a:ea typeface="Malgun Gothic"/>
                <a:cs typeface="Malgun Gothic"/>
              </a:rPr>
              <a:t>  2/4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495 / 516</a:t>
            </a:r>
          </a:p>
        </p:txBody>
      </p:sp>
      <p:graphicFrame>
        <p:nvGraphicFramePr>
          <p:cNvPr id="5" name="Table 4"/>
          <p:cNvGraphicFramePr>
            <a:graphicFrameLocks noGrp="1"/>
          </p:cNvGraphicFramePr>
          <p:nvPr/>
        </p:nvGraphicFramePr>
        <p:xfrm>
          <a:off x="609600" y="1244600"/>
          <a:ext cx="10966449" cy="2302032"/>
        </p:xfrm>
        <a:graphic>
          <a:graphicData uri="http://schemas.openxmlformats.org/drawingml/2006/table">
            <a:tbl>
              <a:tblPr firstRow="1" bandRow="1">
                <a:tableStyleId>{5C22544A-7EE6-4342-B048-85BDC9FD1C3A}</a:tableStyleId>
              </a:tblPr>
              <a:tblGrid>
                <a:gridCol w="2347516"/>
                <a:gridCol w="1014016"/>
                <a:gridCol w="2061170"/>
                <a:gridCol w="1250255"/>
                <a:gridCol w="1592560"/>
                <a:gridCol w="1959570"/>
                <a:gridCol w="741362"/>
              </a:tblGrid>
              <a:tr h="197088">
                <a:tc>
                  <a:txBody>
                    <a:bodyPr wrap="square"/>
                    <a:lstStyle/>
                    <a:p>
                      <a:r>
                        <a:rPr sz="800" b="1" i="0">
                          <a:solidFill>
                            <a:srgbClr val="F4F1EA"/>
                          </a:solidFill>
                          <a:latin typeface="Arial"/>
                          <a:ea typeface="Malgun Gothic"/>
                          <a:cs typeface="Malgun Gothic"/>
                        </a:rPr>
                        <a:t>이름 (연·발표)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입력·표현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방법의 핵심</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학습 신호·최적화</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로봇·실험</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코드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절</a:t>
                      </a:r>
                    </a:p>
                  </a:txBody>
                  <a:tcPr marL="63500" marR="63500" marT="12700" marB="12700">
                    <a:solidFill>
                      <a:srgbClr val="16213A"/>
                    </a:solidFill>
                  </a:tcPr>
                </a:tc>
              </a:tr>
              <a:tr h="317976">
                <a:tc>
                  <a:txBody>
                    <a:bodyPr wrap="square"/>
                    <a:lstStyle/>
                    <a:p>
                      <a:r>
                        <a:rPr sz="800" b="0" i="0">
                          <a:solidFill>
                            <a:srgbClr val="16213A"/>
                          </a:solidFill>
                          <a:latin typeface="Arial"/>
                          <a:ea typeface="Malgun Gothic"/>
                          <a:cs typeface="Malgun Gothic"/>
                        </a:rPr>
                        <a:t>UrbanVLA (2025-10, ICRA 2026(저자 저장소 표기))</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카메라 4대 + 지도 경로점</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NavFoM 기반 VLA, 어긋난 경로점을 영상과 정렬</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지도 학습 뒤 오프라인 RL(IQL)</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Go2 실물 500 m 이상</a:t>
                      </a:r>
                    </a:p>
                  </a:txBody>
                  <a:tcPr marL="63500" marR="63500" marT="12700" marB="12700">
                    <a:solidFill>
                      <a:srgbClr val="FFFDF8"/>
                    </a:solidFill>
                  </a:tcPr>
                </a:tc>
                <a:tc>
                  <a:txBody>
                    <a:bodyPr wrap="square"/>
                    <a:lstStyle/>
                    <a:p>
                      <a:r>
                        <a:rPr sz="800" b="0" i="0">
                          <a:solidFill>
                            <a:srgbClr val="1D4ED8"/>
                          </a:solidFill>
                          <a:latin typeface="Arial"/>
                          <a:ea typeface="Malgun Gothic"/>
                          <a:cs typeface="Malgun Gothic"/>
                          <a:hlinkClick r:id="rId3"/>
                        </a:rPr>
                        <a:t>GalaxyGeneralRobotics/UrbanVLA</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B.6b</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VAMOS (2025-10)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RGB + 목표 문장, 높이 지도</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VLM 후보 + 로봇별 affordance 선택</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모방 + 시뮬 성공 라벨</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Spot·Hound 실물 코스 6곳 90%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공개</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B.6b</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JPPD (2026-06)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상태·보행자 이력·지도</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예측·계획 공동 flow matching + 안전 포텐셜 guidance</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모방 + 추론 guidance</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메카넘 실물, Isaac Sim</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게재 후 공개 예정</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B.8.2</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DreamFlow (2026-03, ICRA 2026)</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높이 지도 잠재</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센서 밖 지형 잠재를 flow matching으로 상상</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PPO 내비 정책</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Go2 실물</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프로젝트 페이지</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B.9</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Feasibility-Guided Planning (2026-02, ICRA 2026(arXiv 주석))</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높이 지도 조각 + 속도 명령</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정책별 실행 가능성 8방향 텐서 → Dijkstra</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rollout 추종 보상 회귀</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A1 실물 혼합 지형 70%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미확인</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B.9</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Occlusion-Aware Stability-Oriented Planning (2026-09, 프리프린트)</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LiDAR·깊이 → 푸리에 지형</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맞춤 불확실성을 자세·접촉으로 전파, CEM</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비학습 최적화</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Gazebo, Husky·Jackal 실외 6곳</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미확인</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B.9, 인식 A.2b.7</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CARE (2025-06, CoRL 2025)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RGB → 추정 깊이</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사전학습 정책 궤적을 척력장으로 밀어냄</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비학습 부착 층</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여러 실물 로봇</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프로젝트 페이지</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B.9</a:t>
                      </a:r>
                    </a:p>
                  </a:txBody>
                  <a:tcPr marL="63500" marR="63500" marT="12700" marB="12700">
                    <a:solidFill>
                      <a:srgbClr val="FFFDF8"/>
                    </a:solidFill>
                  </a:tcPr>
                </a:tc>
              </a:tr>
            </a:tbl>
          </a:graphicData>
        </a:graphic>
      </p:graphicFrame>
      <p:sp>
        <p:nvSpPr>
          <p:cNvPr id="6" name="TextBox 5"/>
          <p:cNvSpPr txBox="1"/>
          <p:nvPr/>
        </p:nvSpPr>
        <p:spPr>
          <a:xfrm>
            <a:off x="609600" y="4217392"/>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공통점.</a:t>
            </a:r>
          </a:p>
        </p:txBody>
      </p:sp>
      <p:sp>
        <p:nvSpPr>
          <p:cNvPr id="7" name="TextBox 6"/>
          <p:cNvSpPr txBox="1"/>
          <p:nvPr/>
        </p:nvSpPr>
        <p:spPr>
          <a:xfrm>
            <a:off x="609600" y="4522788"/>
            <a:ext cx="10972800" cy="1133277"/>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후보를 여럿 내고 따로 고른다.</a:t>
            </a:r>
            <a:r>
              <a:rPr sz="1050" b="0" i="0">
                <a:solidFill>
                  <a:srgbClr val="16213A"/>
                </a:solidFill>
                <a:latin typeface="Arial"/>
                <a:ea typeface="Malgun Gothic"/>
                <a:cs typeface="Malgun Gothic"/>
              </a:rPr>
              <a:t> NavDP는 critic이, Slow Brain은 VLM이, VAMOS는 affordance 함수가, JPPD는 규칙 점수가 고른다. S2E와 MIMIC은 앵커마다 점수를 함께 배운다. travplan Planner D도 같은 꼴이다(후보 16개 + 규칙 선택기).</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모방으로 시작하고 RL로 다듬는다.</a:t>
            </a:r>
            <a:r>
              <a:rPr sz="1050" b="0" i="0">
                <a:solidFill>
                  <a:srgbClr val="16213A"/>
                </a:solidFill>
                <a:latin typeface="Arial"/>
                <a:ea typeface="Malgun Gothic"/>
                <a:cs typeface="Malgun Gothic"/>
              </a:rPr>
              <a:t> X-NavDP, Beyond Imitation, S2E, UrbanVLA가 이 순서다. 시연은 분포를, RL은 시연에 없던 회복과 우회를 준다. RL만으로 시작한 연구는 DreamFlow처럼 작은 높이 지도 입력을 쓴 경우다.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시연의 질을 고친다.</a:t>
            </a:r>
            <a:r>
              <a:rPr sz="1050" b="0" i="0">
                <a:solidFill>
                  <a:srgbClr val="16213A"/>
                </a:solidFill>
                <a:latin typeface="Arial"/>
                <a:ea typeface="Malgun Gothic"/>
                <a:cs typeface="Malgun Gothic"/>
              </a:rPr>
              <a:t> MIMIC은 이탈 상태를 합성하고, LogoNav는 행동 라벨을 모델로 다시 매기고, UrbanVLA는 경로 지시에 잡음을 넣는다. 셋 다 실물 로그의 분포 이동을 다룬다.</a:t>
            </a:r>
          </a:p>
        </p:txBody>
      </p:sp>
    </p:spTree>
  </p:cSld>
  <p:clrMapOvr>
    <a:masterClrMapping/>
  </p:clrMapOvr>
</p:sld>
</file>

<file path=ppt/slides/slide49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최근 연구 비교</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B.17 최근 연구 비교 (2025–2026)</a:t>
            </a:r>
            <a:r>
              <a:rPr sz="1050" b="0" i="0">
                <a:solidFill>
                  <a:srgbClr val="5A6478"/>
                </a:solidFill>
                <a:latin typeface="Arial"/>
                <a:ea typeface="Malgun Gothic"/>
                <a:cs typeface="Malgun Gothic"/>
              </a:rPr>
              <a:t>  3/4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496 / 516</a:t>
            </a:r>
          </a:p>
        </p:txBody>
      </p:sp>
      <p:sp>
        <p:nvSpPr>
          <p:cNvPr id="5" name="TextBox 4"/>
          <p:cNvSpPr txBox="1"/>
          <p:nvPr/>
        </p:nvSpPr>
        <p:spPr>
          <a:xfrm>
            <a:off x="609600" y="1244600"/>
            <a:ext cx="10972800" cy="891381"/>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앵커나 모드로 다양성을 지킨다.</a:t>
            </a:r>
            <a:r>
              <a:rPr sz="1050" b="0" i="0">
                <a:solidFill>
                  <a:srgbClr val="16213A"/>
                </a:solidFill>
                <a:latin typeface="Arial"/>
                <a:ea typeface="Malgun Gothic"/>
                <a:cs typeface="Malgun Gothic"/>
              </a:rPr>
              <a:t> S2E(K-means 앵커), Slow Brain(앵커 64), MIMIC(지평별 앵커)이 앵커를 쓰고, 확산 계열은 표본 수로 같은 일을 한다. 급회전 같은 드문 모드를 놓치지 않으려는 것이다.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추종은 별도 Controller가 한다.</a:t>
            </a:r>
            <a:r>
              <a:rPr sz="1050" b="0" i="0">
                <a:solidFill>
                  <a:srgbClr val="16213A"/>
                </a:solidFill>
                <a:latin typeface="Arial"/>
                <a:ea typeface="Malgun Gothic"/>
                <a:cs typeface="Malgun Gothic"/>
              </a:rPr>
              <a:t> X-NavDP는 MPC, Slow Brain은 pure pursuit, Occlusion-Aware Stability-Oriented Planning은 π-MPPI로 추종한다. UrbanVLA는 기존 로컬 Planner에 맡긴다. Planner가 제어를 내지 않는 travplan 구조와 같다.</a:t>
            </a:r>
          </a:p>
        </p:txBody>
      </p:sp>
      <p:sp>
        <p:nvSpPr>
          <p:cNvPr id="6" name="TextBox 5"/>
          <p:cNvSpPr txBox="1"/>
          <p:nvPr/>
        </p:nvSpPr>
        <p:spPr>
          <a:xfrm>
            <a:off x="609600" y="222488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차이점.</a:t>
            </a:r>
          </a:p>
        </p:txBody>
      </p:sp>
      <p:sp>
        <p:nvSpPr>
          <p:cNvPr id="7" name="TextBox 6"/>
          <p:cNvSpPr txBox="1"/>
          <p:nvPr/>
        </p:nvSpPr>
        <p:spPr>
          <a:xfrm>
            <a:off x="609600" y="2530277"/>
            <a:ext cx="10972800" cy="2916039"/>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표현.</a:t>
            </a:r>
            <a:r>
              <a:rPr sz="1050" b="0" i="0">
                <a:solidFill>
                  <a:srgbClr val="16213A"/>
                </a:solidFill>
                <a:latin typeface="Arial"/>
                <a:ea typeface="Malgun Gothic"/>
                <a:cs typeface="Malgun Gothic"/>
              </a:rPr>
              <a:t> RGB·RGB-D를 바로 쓰는 쪽(NavDP 계열, LoGoPlanner, S2E, MIMIC, UrbanVLA, CARE)과 높이 지도를 쓰는 쪽(DreamFlow, Feasibility-Guided Planning, VAMOS의 아래층, Occlusion-Aware Stability-Oriented Planning)으로 나뉜다. 영상 쪽은 자료를 싸게 늘리고 의미를 얻지만, 연석 높이와 구덩이 깊이를 명시하지 않는다. 지도 쪽은 기하가 검사 가능하고 시뮬과 실물의 차이가 작지만, 지도 품질에 묶인다.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RL 신호.</a:t>
            </a:r>
            <a:r>
              <a:rPr sz="1050" b="0" i="0">
                <a:solidFill>
                  <a:srgbClr val="16213A"/>
                </a:solidFill>
                <a:latin typeface="Arial"/>
                <a:ea typeface="Malgun Gothic"/>
                <a:cs typeface="Malgun Gothic"/>
              </a:rPr>
              <a:t> 에피소드 결과 보상(Beyond Imitation, S2E의 PPO), 학습한 Q(X-NavDP), 오프라인 Q(UrbanVLA의 IQL), 정확한 가능도의 정책 기울기(ReinFlow), 개루프 후보 채점(travplan TP-0066)이 있다. 에피소드 보상은 간단하지만 신호가 드물다. Q는 다단계 결과를 후보 하나에 돌려주지만 critic을 따로 배워야 하고 과대평가 위험이 있다. 개루프 채점은 가장 싸지만 몇 초 뒤에 드러나는 결과를 보지 못한다.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불확실성 처리.</a:t>
            </a:r>
            <a:r>
              <a:rPr sz="1050" b="0" i="0">
                <a:solidFill>
                  <a:srgbClr val="16213A"/>
                </a:solidFill>
                <a:latin typeface="Arial"/>
                <a:ea typeface="Malgun Gothic"/>
                <a:cs typeface="Malgun Gothic"/>
              </a:rPr>
              <a:t> 분포 밖 가중(Feasibility-Guided Planning의 VAE), 맞춤 분산의 자세 전파(Occlusion-Aware Stability-Oriented Planning), 센서 밖 상상(DreamFlow), 예측 흩어짐으로 보수성 조절(JPPD)이 있다. NavDP 계열과 영상 VLA는 불확실성을 따로 다루지 않는다. 불확실성을 칸 cost 대신 차체 자세나 Controller 추종 정도로 옮긴 연구가 늘었다. 칸 cost와 직접 비교한 연구는 없다.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실시간성과 층.</a:t>
            </a:r>
            <a:r>
              <a:rPr sz="1050" b="0" i="0">
                <a:solidFill>
                  <a:srgbClr val="16213A"/>
                </a:solidFill>
                <a:latin typeface="Arial"/>
                <a:ea typeface="Malgun Gothic"/>
                <a:cs typeface="Malgun Gothic"/>
              </a:rPr>
              <a:t> 학습 Planner는 5 Hz 안팎(S2E, Slow Brain)이고, VLA는 2 Hz(UrbanVLA)이며, 클라우드 VLM은 2–3초 늦다(Slow Brain). 느린 모델일수록 위층에 두고, 늦은 답을 현재 좌표로 보정하는 규칙이 따로 필요하다.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몸체 판단과 안전의 자리.</a:t>
            </a:r>
            <a:r>
              <a:rPr sz="1050" b="0" i="0">
                <a:solidFill>
                  <a:srgbClr val="16213A"/>
                </a:solidFill>
                <a:latin typeface="Arial"/>
                <a:ea typeface="Malgun Gothic"/>
                <a:cs typeface="Malgun Gothic"/>
              </a:rPr>
              <a:t> 몸체 정보를 Planner 입력에 넣는 쪽(X-NavDP의 임베딩, LoGoPlanner의 높이 무작위화)과 Planner 밖의 선택 비용이나 안전 층으로 두는 쪽(VAMOS, Feasibility-Guided Planning, CARE)이 있다. 밖에 두면 Controller가 바뀔 때 비용이나 안전 층만 다시 맞추면 된다.</a:t>
            </a:r>
          </a:p>
        </p:txBody>
      </p:sp>
    </p:spTree>
  </p:cSld>
  <p:clrMapOvr>
    <a:masterClrMapping/>
  </p:clrMapOvr>
</p:sld>
</file>

<file path=ppt/slides/slide49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최근 연구 비교</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B.17 최근 연구 비교 (2025–2026)</a:t>
            </a:r>
            <a:r>
              <a:rPr sz="1050" b="0" i="0">
                <a:solidFill>
                  <a:srgbClr val="5A6478"/>
                </a:solidFill>
                <a:latin typeface="Arial"/>
                <a:ea typeface="Malgun Gothic"/>
                <a:cs typeface="Malgun Gothic"/>
              </a:rPr>
              <a:t>  4/4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497 / 516</a:t>
            </a:r>
          </a:p>
        </p:txBody>
      </p:sp>
      <p:sp>
        <p:nvSpPr>
          <p:cNvPr id="5" name="TextBox 4"/>
          <p:cNvSpPr txBox="1"/>
          <p:nvPr/>
        </p:nvSpPr>
        <p:spPr>
          <a:xfrm>
            <a:off x="609600" y="1244600"/>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가져올 것은 RL 신호, 잔차 학습 구조, Controller 실행 가능성 비용, 경로 잡음 증강의 넷이다. 영상 입력 VLA와 위치 추정 내장 백본은 가져오지 않는다. TravMap을 명시적 표현으로 두는 것이 치명 셀 검사, Guidance 폴백, 잡음 바닥 비교를 가능하게 하기 때문이다. 아래는 </a:t>
            </a:r>
            <a:r>
              <a:rPr sz="1050" b="1" i="0">
                <a:solidFill>
                  <a:srgbClr val="16213A"/>
                </a:solidFill>
                <a:latin typeface="Arial"/>
                <a:ea typeface="Malgun Gothic"/>
                <a:cs typeface="Malgun Gothic"/>
              </a:rPr>
              <a:t>Planner 트랙을 다시 열 때의 순서</a:t>
            </a:r>
            <a:r>
              <a:rPr sz="1050" b="0" i="0">
                <a:solidFill>
                  <a:srgbClr val="16213A"/>
                </a:solidFill>
                <a:latin typeface="Arial"/>
                <a:ea typeface="Malgun Gothic"/>
                <a:cs typeface="Malgun Gothic"/>
              </a:rPr>
              <a:t>다. 지금은 사용자 결정 1(B)대로 L1 인식과 보행자가 먼저다. 현재 병목과 잇는 길도 있다. 1번의 Q critic은 재탐색뿐 아니라 치명 결과와 보행자 충돌도 할인 보상으로 채점할 수 있다. 그러면 L1 레벨 3의 남은 치명 에피소드와 보행자 5명 충돌(720 중 8건)을 같은 critic으로 볼 수 있다.</a:t>
            </a:r>
          </a:p>
        </p:txBody>
      </p:sp>
      <p:sp>
        <p:nvSpPr>
          <p:cNvPr id="6" name="TextBox 5"/>
          <p:cNvSpPr txBox="1"/>
          <p:nvPr/>
        </p:nvSpPr>
        <p:spPr>
          <a:xfrm>
            <a:off x="609600" y="2199481"/>
            <a:ext cx="10972800" cy="2674144"/>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1. </a:t>
            </a:r>
            <a:r>
              <a:rPr sz="1050" b="1" i="0">
                <a:solidFill>
                  <a:srgbClr val="16213A"/>
                </a:solidFill>
                <a:latin typeface="Arial"/>
                <a:ea typeface="Malgun Gothic"/>
                <a:cs typeface="Malgun Gothic"/>
              </a:rPr>
              <a:t>Q critic으로 RL 후학습(X-NavDP, ReinFlow).</a:t>
            </a:r>
            <a:r>
              <a:rPr sz="1050" b="0" i="0">
                <a:solidFill>
                  <a:srgbClr val="16213A"/>
                </a:solidFill>
                <a:latin typeface="Arial"/>
                <a:ea typeface="Malgun Gothic"/>
                <a:cs typeface="Malgun Gothic"/>
              </a:rPr>
              <a:t> TP-0066의 개루프 GT 채점 대신, 폐루프 3–4초 전이로 배운 Q를 후보 가중치로 쓴다. 판정은 curb_ramp 레벨 3 단독 26/30을 짝 비교로 넘는지다. 대가와 위험이 있다. 후보 16개에서는 최댓값 쪽 Q가 과대평가되기 쉬워 twin critic의 최솟값이 필요하다. critic 학습 자료를 따로 모아야 한다. plant 지연을 켜면 같은 후보라도 전이가 달라져 critic을 다시 배워야 할 수 있다. 학습 시간은 재지 않았다. X-NavDP의 12시간은 IsaacLab 448개 환경의 값이라 옮겨 쓸 수 없다. TP 후보: "Planner D RL 후학습의 후보 점수를 폐루프 전이로 학습한 Q critic으로 바꾼다(TP-0138 후속, 치명·보행자 충돌 항 포함)".</a:t>
            </a:r>
          </a:p>
          <a:p>
            <a:pPr>
              <a:spcBef>
                <a:spcPts val="200"/>
              </a:spcBef>
            </a:pPr>
            <a:r>
              <a:rPr sz="1050" b="0" i="0">
                <a:solidFill>
                  <a:srgbClr val="5A6478"/>
                </a:solidFill>
                <a:latin typeface="Arial"/>
                <a:ea typeface="Malgun Gothic"/>
                <a:cs typeface="Malgun Gothic"/>
              </a:rPr>
              <a:t>2. </a:t>
            </a:r>
            <a:r>
              <a:rPr sz="1050" b="1" i="0">
                <a:solidFill>
                  <a:srgbClr val="16213A"/>
                </a:solidFill>
                <a:latin typeface="Arial"/>
                <a:ea typeface="Malgun Gothic"/>
                <a:cs typeface="Malgun Gothic"/>
              </a:rPr>
              <a:t>잔차 경로만 RL로 학습(S2E RAM).</a:t>
            </a:r>
            <a:r>
              <a:rPr sz="1050" b="0" i="0">
                <a:solidFill>
                  <a:srgbClr val="16213A"/>
                </a:solidFill>
                <a:latin typeface="Arial"/>
                <a:ea typeface="Malgun Gothic"/>
                <a:cs typeface="Malgun Gothic"/>
              </a:rPr>
              <a:t> 1번과 함께 쓴다. 0으로 초기화한 잔차 층만 학습하면 학습을 시작할 때의 출력은 모방 정책과 같다. 그래서 레벨 0 스모크 게이트는 학습을 마친 뒤에 돌려야 의미가 있고, 그때 바뀐 수는 모두 잔차가 만든 것이다. TP 후보: "Planner D에 0 초기화 잔차 블록을 두고 RL은 그 블록만 학습한다".</a:t>
            </a:r>
          </a:p>
          <a:p>
            <a:pPr>
              <a:spcBef>
                <a:spcPts val="200"/>
              </a:spcBef>
            </a:pPr>
            <a:r>
              <a:rPr sz="1050" b="0" i="0">
                <a:solidFill>
                  <a:srgbClr val="5A6478"/>
                </a:solidFill>
                <a:latin typeface="Arial"/>
                <a:ea typeface="Malgun Gothic"/>
                <a:cs typeface="Malgun Gothic"/>
              </a:rPr>
              <a:t>3. </a:t>
            </a:r>
            <a:r>
              <a:rPr sz="1050" b="1" i="0">
                <a:solidFill>
                  <a:srgbClr val="16213A"/>
                </a:solidFill>
                <a:latin typeface="Arial"/>
                <a:ea typeface="Malgun Gothic"/>
                <a:cs typeface="Malgun Gothic"/>
              </a:rPr>
              <a:t>Controller 실행 가능성 간선 비용(Feasibility-Guided Planning). TP-0151을 다시 열 경우에만.</a:t>
            </a:r>
            <a:r>
              <a:rPr sz="1050" b="0" i="0">
                <a:solidFill>
                  <a:srgbClr val="16213A"/>
                </a:solidFill>
                <a:latin typeface="Arial"/>
                <a:ea typeface="Malgun Gothic"/>
                <a:cs typeface="Malgun Gothic"/>
              </a:rPr>
              <a:t> TP-0151은 2026-10-04 사용자 결정으로 레벨 3 경사로를 plant 로봇의 설계 한계로 보고 닫았다. 다시 연다면, 추종 오차로 칸·방향별 실행 가능성을 배워 </a:t>
            </a:r>
            <a:r>
              <a:rPr sz="1050" b="0" i="0">
                <a:solidFill>
                  <a:srgbClr val="16213A"/>
                </a:solidFill>
                <a:latin typeface="Consolas"/>
                <a:ea typeface="Malgun Gothic"/>
                <a:cs typeface="Malgun Gothic"/>
              </a:rPr>
              <a:t>GuidancePlanner</a:t>
            </a:r>
            <a:r>
              <a:rPr sz="1050" b="0" i="0">
                <a:solidFill>
                  <a:srgbClr val="16213A"/>
                </a:solidFill>
                <a:latin typeface="Arial"/>
                <a:ea typeface="Malgun Gothic"/>
                <a:cs typeface="Malgun Gothic"/>
              </a:rPr>
              <a:t> 간선에 곱한다. 라벨이 Planner의 경로에 따라 달라지는 순환을 피하려고, 정해진 명령 속도를 따라가게 하는 rollout으로 라벨을 모으고 명령 속도를 입력으로 둔다. TP 후보: "(TP-0151 재개 시) plant + </a:t>
            </a:r>
            <a:r>
              <a:rPr sz="1050" b="0" i="0">
                <a:solidFill>
                  <a:srgbClr val="16213A"/>
                </a:solidFill>
                <a:latin typeface="Consolas"/>
                <a:ea typeface="Malgun Gothic"/>
                <a:cs typeface="Malgun Gothic"/>
              </a:rPr>
              <a:t>mppi_plant_lag</a:t>
            </a:r>
            <a:r>
              <a:rPr sz="1050" b="0" i="0">
                <a:solidFill>
                  <a:srgbClr val="16213A"/>
                </a:solidFill>
                <a:latin typeface="Arial"/>
                <a:ea typeface="Malgun Gothic"/>
                <a:cs typeface="Malgun Gothic"/>
              </a:rPr>
              <a:t>의 명령 속도별 추종 오차로 8방향 실행 가능성 지도를 배워 Guidance 간선 비용에 넣는다".</a:t>
            </a:r>
          </a:p>
          <a:p>
            <a:pPr>
              <a:spcBef>
                <a:spcPts val="200"/>
              </a:spcBef>
            </a:pPr>
            <a:r>
              <a:rPr sz="1050" b="0" i="0">
                <a:solidFill>
                  <a:srgbClr val="5A6478"/>
                </a:solidFill>
                <a:latin typeface="Arial"/>
                <a:ea typeface="Malgun Gothic"/>
                <a:cs typeface="Malgun Gothic"/>
              </a:rPr>
              <a:t>4. </a:t>
            </a:r>
            <a:r>
              <a:rPr sz="1050" b="1" i="0">
                <a:solidFill>
                  <a:srgbClr val="16213A"/>
                </a:solidFill>
                <a:latin typeface="Arial"/>
                <a:ea typeface="Malgun Gothic"/>
                <a:cs typeface="Malgun Gothic"/>
              </a:rPr>
              <a:t>경로 잡음 증강(UrbanVLA HTL, B.9 Path-conditioned RL).</a:t>
            </a:r>
            <a:r>
              <a:rPr sz="1050" b="0" i="0">
                <a:solidFill>
                  <a:srgbClr val="16213A"/>
                </a:solidFill>
                <a:latin typeface="Arial"/>
                <a:ea typeface="Malgun Gothic"/>
                <a:cs typeface="Malgun Gothic"/>
              </a:rPr>
              <a:t> Planner D 학습 때 route subgoal에 잡음과 재표집을 넣는다. 실물의 소비자 지도 경로를 대비하는 일이라 Isaac 폐루프(P1) 전에 한다. TP 후보: "Planner D route 조건에 경로 잡음·재표집 증강을 넣고 어긋난 경로 시나리오로 잰다".</a:t>
            </a:r>
          </a:p>
        </p:txBody>
      </p:sp>
    </p:spTree>
  </p:cSld>
  <p:clrMapOvr>
    <a:masterClrMapping/>
  </p:clrMapOvr>
</p:sld>
</file>

<file path=ppt/slides/slide498.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F59E5B"/>
                </a:solidFill>
                <a:latin typeface="Consolas"/>
                <a:ea typeface="Malgun Gothic"/>
                <a:cs typeface="Malgun Gothic"/>
              </a:rPr>
              <a:t>Planner · 탭</a:t>
            </a:r>
          </a:p>
        </p:txBody>
      </p:sp>
      <p:sp>
        <p:nvSpPr>
          <p:cNvPr id="3" name="TextBox 2"/>
          <p:cNvSpPr txBox="1"/>
          <p:nvPr/>
        </p:nvSpPr>
        <p:spPr>
          <a:xfrm>
            <a:off x="609600" y="609600"/>
            <a:ext cx="10972800" cy="381000"/>
          </a:xfrm>
          <a:prstGeom prst="rect">
            <a:avLst/>
          </a:prstGeom>
          <a:noFill/>
        </p:spPr>
        <p:txBody>
          <a:bodyPr wrap="square" lIns="0" rIns="0" tIns="0" bIns="0" anchor="t">
            <a:spAutoFit/>
            <a:normAutofit/>
          </a:bodyPr>
          <a:lstStyle/>
          <a:p>
            <a:r>
              <a:rPr sz="2650" b="1" i="0">
                <a:solidFill>
                  <a:srgbClr val="F4F1EA"/>
                </a:solidFill>
                <a:latin typeface="Arial"/>
                <a:ea typeface="Malgun Gothic"/>
                <a:cs typeface="Malgun Gothic"/>
              </a:rPr>
              <a:t>작업 기록</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9AA6BC"/>
                </a:solidFill>
                <a:latin typeface="Arial"/>
                <a:ea typeface="Malgun Gothic"/>
                <a:cs typeface="Malgun Gothic"/>
              </a:rPr>
              <a:t>travplan 리서치 · Planner (docs/research-planner.md)    498 / 516</a:t>
            </a:r>
          </a:p>
        </p:txBody>
      </p:sp>
      <p:sp>
        <p:nvSpPr>
          <p:cNvPr id="5" name="TextBox 4"/>
          <p:cNvSpPr txBox="1"/>
          <p:nvPr/>
        </p:nvSpPr>
        <p:spPr>
          <a:xfrm>
            <a:off x="609600" y="1244600"/>
            <a:ext cx="5283200" cy="5080000"/>
          </a:xfrm>
          <a:prstGeom prst="rect">
            <a:avLst/>
          </a:prstGeom>
          <a:noFill/>
        </p:spPr>
        <p:txBody>
          <a:bodyPr wrap="square" lIns="0" rIns="0" tIns="0" bIns="0" anchor="t">
            <a:spAutoFit/>
            <a:normAutofit/>
          </a:bodyPr>
          <a:lstStyle/>
          <a:p>
            <a:pPr>
              <a:spcAft>
                <a:spcPts val="400"/>
              </a:spcAft>
            </a:pPr>
            <a:r>
              <a:rPr sz="1000" b="1" i="0">
                <a:solidFill>
                  <a:srgbClr val="F59E5B"/>
                </a:solidFill>
                <a:latin typeface="Arial"/>
                <a:ea typeface="Malgun Gothic"/>
                <a:cs typeface="Malgun Gothic"/>
              </a:rPr>
              <a:t>B.15 작업 기록</a:t>
            </a:r>
          </a:p>
          <a:p>
            <a:pPr>
              <a:spcAft>
                <a:spcPts val="400"/>
              </a:spcAft>
            </a:pPr>
            <a:r>
              <a:rPr sz="1000" b="0" i="0">
                <a:solidFill>
                  <a:srgbClr val="C9D1E0"/>
                </a:solidFill>
                <a:latin typeface="Arial"/>
                <a:ea typeface="Malgun Gothic"/>
                <a:cs typeface="Malgun Gothic"/>
              </a:rPr>
              <a:t>B.15.1 Planner D를 브라우저에서, 같은 망의 diffusion 샘플러 (TP-0137)</a:t>
            </a:r>
          </a:p>
          <a:p>
            <a:pPr>
              <a:spcAft>
                <a:spcPts val="400"/>
              </a:spcAft>
            </a:pPr>
            <a:r>
              <a:rPr sz="1000" b="0" i="0">
                <a:solidFill>
                  <a:srgbClr val="C9D1E0"/>
                </a:solidFill>
                <a:latin typeface="Arial"/>
                <a:ea typeface="Malgun Gothic"/>
                <a:cs typeface="Malgun Gothic"/>
              </a:rPr>
              <a:t>B.15.2 경사로를 지나친 Planner D를 Guidance 경로로 되돌린다 (TP-0078)</a:t>
            </a:r>
          </a:p>
          <a:p>
            <a:pPr>
              <a:spcAft>
                <a:spcPts val="400"/>
              </a:spcAft>
            </a:pPr>
            <a:r>
              <a:rPr sz="1000" b="0" i="0">
                <a:solidFill>
                  <a:srgbClr val="C9D1E0"/>
                </a:solidFill>
                <a:latin typeface="Arial"/>
                <a:ea typeface="Malgun Gothic"/>
                <a:cs typeface="Malgun Gothic"/>
              </a:rPr>
              <a:t>B.15.3 Planner D 폐루프 RL 후학습: 본 학습과 평가 (TP-0066)</a:t>
            </a:r>
          </a:p>
        </p:txBody>
      </p:sp>
      <p:sp>
        <p:nvSpPr>
          <p:cNvPr id="6" name="TextBox 5"/>
          <p:cNvSpPr txBox="1"/>
          <p:nvPr/>
        </p:nvSpPr>
        <p:spPr>
          <a:xfrm>
            <a:off x="6299200" y="1244600"/>
            <a:ext cx="5283200" cy="5080000"/>
          </a:xfrm>
          <a:prstGeom prst="rect">
            <a:avLst/>
          </a:prstGeom>
          <a:noFill/>
        </p:spPr>
        <p:txBody>
          <a:bodyPr wrap="square" lIns="0" rIns="0" tIns="0" bIns="0" anchor="t">
            <a:spAutoFit/>
            <a:normAutofit/>
          </a:bodyPr>
          <a:lstStyle/>
          <a:p>
            <a:pPr>
              <a:spcAft>
                <a:spcPts val="400"/>
              </a:spcAft>
            </a:pPr>
            <a:r>
              <a:rPr sz="1000" b="0" i="0">
                <a:solidFill>
                  <a:srgbClr val="C9D1E0"/>
                </a:solidFill>
                <a:latin typeface="Arial"/>
                <a:ea typeface="Malgun Gothic"/>
                <a:cs typeface="Malgun Gothic"/>
              </a:rPr>
              <a:t>B.15.4 지형 난이도 레벨 0–3 스윕과 Planner D 진단 (TP-0039·TP-0074)</a:t>
            </a:r>
          </a:p>
          <a:p>
            <a:pPr>
              <a:spcAft>
                <a:spcPts val="400"/>
              </a:spcAft>
            </a:pPr>
            <a:r>
              <a:rPr sz="1000" b="0" i="0">
                <a:solidFill>
                  <a:srgbClr val="C9D1E0"/>
                </a:solidFill>
                <a:latin typeface="Arial"/>
                <a:ea typeface="Malgun Gothic"/>
                <a:cs typeface="Malgun Gothic"/>
              </a:rPr>
              <a:t>B.15.5 RL 후학습을 더 돌려도 curb_ramp 레벨 3은 늘지 않는다 (TP-0138)</a:t>
            </a:r>
          </a:p>
          <a:p>
            <a:pPr>
              <a:spcAft>
                <a:spcPts val="400"/>
              </a:spcAft>
            </a:pPr>
            <a:r>
              <a:rPr sz="1000" b="0" i="0">
                <a:solidFill>
                  <a:srgbClr val="C9D1E0"/>
                </a:solidFill>
                <a:latin typeface="Arial"/>
                <a:ea typeface="Malgun Gothic"/>
                <a:cs typeface="Malgun Gothic"/>
              </a:rPr>
              <a:t>B.15.6 경사로를 지나친 상태에서 시작하는 DAgger도 단독 성적을 올리지 못했다 (TP-0143)</a:t>
            </a:r>
          </a:p>
        </p:txBody>
      </p:sp>
    </p:spTree>
  </p:cSld>
  <p:clrMapOvr>
    <a:masterClrMapping/>
  </p:clrMapOvr>
</p:sld>
</file>

<file path=ppt/slides/slide49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작업 기록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B.15 작업 기록</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499 / 516</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연구 절(B.1–B.14, B.16)은 "남이 무엇을 했나"이고, 이 탭은 travplan이 고치고 잰 결과다(CLAUDE.md의 분리 규칙).</a:t>
            </a:r>
          </a:p>
        </p:txBody>
      </p:sp>
    </p:spTree>
  </p:cSld>
  <p:clrMapOvr>
    <a:masterClrMapping/>
  </p:clrMapOvr>
</p:sld>
</file>

<file path=ppt/slides/slide50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작업 기록 · B.15 작업 기록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B.15.1 Planner D를 브라우저에서, 같은 망의 diffusion 샘플러 (TP-0137)</a:t>
            </a:r>
            <a:r>
              <a:rPr sz="1050" b="0" i="0">
                <a:solidFill>
                  <a:srgbClr val="5A6478"/>
                </a:solidFill>
                <a:latin typeface="Arial"/>
                <a:ea typeface="Malgun Gothic"/>
                <a:cs typeface="Malgun Gothic"/>
              </a:rPr>
              <a:t>  1/3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500 / 516</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한 줄로.</a:t>
            </a:r>
            <a:r>
              <a:rPr sz="1050" b="0" i="0">
                <a:solidFill>
                  <a:srgbClr val="16213A"/>
                </a:solidFill>
                <a:latin typeface="Arial"/>
                <a:ea typeface="Malgun Gothic"/>
                <a:cs typeface="Malgun Gothic"/>
              </a:rPr>
              <a:t> Planner D(flow matching, </a:t>
            </a:r>
            <a:r>
              <a:rPr sz="1050" b="0" i="0">
                <a:solidFill>
                  <a:srgbClr val="16213A"/>
                </a:solidFill>
                <a:latin typeface="Consolas"/>
                <a:ea typeface="Malgun Gothic"/>
                <a:cs typeface="Malgun Gothic"/>
              </a:rPr>
              <a:t>planner_d_L0123_dagger.pt</a:t>
            </a:r>
            <a:r>
              <a:rPr sz="1050" b="0" i="0">
                <a:solidFill>
                  <a:srgbClr val="16213A"/>
                </a:solidFill>
                <a:latin typeface="Arial"/>
                <a:ea typeface="Malgun Gothic"/>
                <a:cs typeface="Malgun Gothic"/>
              </a:rPr>
              <a:t>, 파라미터 1,486,488개)를 float16으로 내보내 Playground에서 돌렸다. 파이썬과 황금 벡터로 최대 7×10⁻⁶ 안에서 같다(crop, 조건 320, 속도 120 × t 셋). 같은 속도망을 </a:t>
            </a:r>
            <a:r>
              <a:rPr sz="1050" b="1" i="0">
                <a:solidFill>
                  <a:srgbClr val="16213A"/>
                </a:solidFill>
                <a:latin typeface="Arial"/>
                <a:ea typeface="Malgun Gothic"/>
                <a:cs typeface="Malgun Gothic"/>
              </a:rPr>
              <a:t>diffusion</a:t>
            </a:r>
            <a:r>
              <a:rPr sz="1050" b="0" i="0">
                <a:solidFill>
                  <a:srgbClr val="16213A"/>
                </a:solidFill>
                <a:latin typeface="Arial"/>
                <a:ea typeface="Malgun Gothic"/>
                <a:cs typeface="Malgun Gothic"/>
              </a:rPr>
              <a:t>으로도 샘플한다(선형 일정의 DDPM 조상 샘플링). 두 샘플러 모두 4 지형 × 3 seed에서 12/12다. 그리고 </a:t>
            </a:r>
            <a:r>
              <a:rPr sz="1050" b="1" i="0">
                <a:solidFill>
                  <a:srgbClr val="C2410C"/>
                </a:solidFill>
                <a:latin typeface="Arial"/>
                <a:ea typeface="Malgun Gothic"/>
                <a:cs typeface="Malgun Gothic"/>
              </a:rPr>
              <a:t>배경 0.7b의 "1스텝은 반드시 조건부 평균"은 학습된 망에서 83%만 맞는다.</a:t>
            </a:r>
            <a:r>
              <a:rPr sz="1050" b="0" i="0">
                <a:solidFill>
                  <a:srgbClr val="16213A"/>
                </a:solidFill>
                <a:latin typeface="Arial"/>
                <a:ea typeface="Malgun Gothic"/>
                <a:cs typeface="Malgun Gothic"/>
              </a:rPr>
              <a:t> 남은 잡음은 변화율이라 두 번 적분돼 끝점이 약 1 m 흩어진다.</a:t>
            </a:r>
          </a:p>
        </p:txBody>
      </p:sp>
      <p:pic>
        <p:nvPicPr>
          <p:cNvPr id="6" name="Picture 5" descr="image.jpg"/>
          <p:cNvPicPr>
            <a:picLocks noChangeAspect="1"/>
          </p:cNvPicPr>
          <p:nvPr/>
        </p:nvPicPr>
        <p:blipFill>
          <a:blip r:embed="rId3"/>
          <a:stretch>
            <a:fillRect/>
          </a:stretch>
        </p:blipFill>
        <p:spPr>
          <a:xfrm>
            <a:off x="609600" y="1982986"/>
            <a:ext cx="10972800" cy="2692400"/>
          </a:xfrm>
          <a:prstGeom prst="rect">
            <a:avLst/>
          </a:prstGeom>
        </p:spPr>
      </p:pic>
      <p:sp>
        <p:nvSpPr>
          <p:cNvPr id="7" name="TextBox 6"/>
          <p:cNvSpPr txBox="1"/>
          <p:nvPr/>
        </p:nvSpPr>
        <p:spPr>
          <a:xfrm>
            <a:off x="609600" y="4764286"/>
            <a:ext cx="10972800" cy="432991"/>
          </a:xfrm>
          <a:prstGeom prst="rect">
            <a:avLst/>
          </a:prstGeom>
          <a:noFill/>
        </p:spPr>
        <p:txBody>
          <a:bodyPr wrap="square" lIns="0" rIns="0" tIns="0" bIns="0" anchor="t">
            <a:spAutoFit/>
            <a:normAutofit/>
          </a:bodyPr>
          <a:lstStyle/>
          <a:p>
            <a:r>
              <a:rPr sz="1050" b="0" i="1">
                <a:solidFill>
                  <a:srgbClr val="16213A"/>
                </a:solidFill>
                <a:latin typeface="Arial"/>
                <a:ea typeface="Malgun Gothic"/>
                <a:cs typeface="Malgun Gothic"/>
              </a:rPr>
              <a:t>그림 — TP-0137 (Fig. 1): curb_ramp seed 1 첫 계획의 후보 16개(연보라, 빨강 = 치명)와 고른 궤적(청록). 왼쪽부터 flow 10스텝, diffusion 10스텝, flow 1스텝. 출처: </a:t>
            </a:r>
            <a:r>
              <a:rPr sz="1050" b="0" i="1">
                <a:solidFill>
                  <a:srgbClr val="16213A"/>
                </a:solidFill>
                <a:latin typeface="Consolas"/>
                <a:ea typeface="Malgun Gothic"/>
                <a:cs typeface="Malgun Gothic"/>
              </a:rPr>
              <a:t>docs/playground/plannerd_fig.html</a:t>
            </a:r>
          </a:p>
        </p:txBody>
      </p:sp>
    </p:spTree>
  </p:cSld>
  <p:clrMapOvr>
    <a:masterClrMapping/>
  </p:clrMapOvr>
</p:sld>
</file>

<file path=ppt/slides/slide50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작업 기록 · B.15 작업 기록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B.15.1 Planner D를 브라우저에서, 같은 망의 diffusion 샘플러 (TP-0137)</a:t>
            </a:r>
            <a:r>
              <a:rPr sz="1050" b="0" i="0">
                <a:solidFill>
                  <a:srgbClr val="5A6478"/>
                </a:solidFill>
                <a:latin typeface="Arial"/>
                <a:ea typeface="Malgun Gothic"/>
                <a:cs typeface="Malgun Gothic"/>
              </a:rPr>
              <a:t>  2/3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501 / 516</a:t>
            </a:r>
          </a:p>
        </p:txBody>
      </p:sp>
      <p:sp>
        <p:nvSpPr>
          <p:cNvPr id="5" name="TextBox 4"/>
          <p:cNvSpPr txBox="1"/>
          <p:nvPr/>
        </p:nvSpPr>
        <p:spPr>
          <a:xfrm>
            <a:off x="717550" y="1244600"/>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무엇을 만들었나</a:t>
            </a:r>
          </a:p>
        </p:txBody>
      </p:sp>
      <p:sp>
        <p:nvSpPr>
          <p:cNvPr id="6" name="TextBox 5"/>
          <p:cNvSpPr txBox="1"/>
          <p:nvPr/>
        </p:nvSpPr>
        <p:spPr>
          <a:xfrm>
            <a:off x="609600" y="1547812"/>
            <a:ext cx="10972800" cy="2584648"/>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내보내기(</a:t>
            </a:r>
            <a:r>
              <a:rPr sz="1050" b="1" i="0">
                <a:solidFill>
                  <a:srgbClr val="16213A"/>
                </a:solidFill>
                <a:latin typeface="Consolas"/>
                <a:ea typeface="Malgun Gothic"/>
                <a:cs typeface="Malgun Gothic"/>
              </a:rPr>
              <a:t>scripts/export_playground_planner_d.py</a:t>
            </a:r>
            <a:r>
              <a:rPr sz="1050" b="1" i="0">
                <a:solidFill>
                  <a:srgbClr val="16213A"/>
                </a:solidFill>
                <a:latin typeface="Arial"/>
                <a:ea typeface="Malgun Gothic"/>
                <a:cs typeface="Malgun Gothic"/>
              </a:rPr>
              <a:t>).</a:t>
            </a:r>
            <a:r>
              <a:rPr sz="1050" b="0" i="0">
                <a:solidFill>
                  <a:srgbClr val="16213A"/>
                </a:solidFill>
                <a:latin typeface="Arial"/>
                <a:ea typeface="Malgun Gothic"/>
                <a:cs typeface="Malgun Gothic"/>
              </a:rPr>
              <a:t> 가중치를 float16 base64 JS 모듈(</a:t>
            </a:r>
            <a:r>
              <a:rPr sz="1050" b="0" i="0">
                <a:solidFill>
                  <a:srgbClr val="16213A"/>
                </a:solidFill>
                <a:latin typeface="Consolas"/>
                <a:ea typeface="Malgun Gothic"/>
                <a:cs typeface="Malgun Gothic"/>
              </a:rPr>
              <a:t>js/plannerd_weights.js</a:t>
            </a:r>
            <a:r>
              <a:rPr sz="1050" b="0" i="0">
                <a:solidFill>
                  <a:srgbClr val="16213A"/>
                </a:solidFill>
                <a:latin typeface="Arial"/>
                <a:ea typeface="Malgun Gothic"/>
                <a:cs typeface="Malgun Gothic"/>
              </a:rPr>
              <a:t>, 3.97 MB)로 쓴다. 정수 공식으로 만든 합성 TravMap 위에서 같은 float16 가중치로 낸 값을 </a:t>
            </a:r>
            <a:r>
              <a:rPr sz="1050" b="0" i="0">
                <a:solidFill>
                  <a:srgbClr val="16213A"/>
                </a:solidFill>
                <a:latin typeface="Consolas"/>
                <a:ea typeface="Malgun Gothic"/>
                <a:cs typeface="Malgun Gothic"/>
              </a:rPr>
              <a:t>plannerd_golden.json</a:t>
            </a:r>
            <a:r>
              <a:rPr sz="1050" b="0" i="0">
                <a:solidFill>
                  <a:srgbClr val="16213A"/>
                </a:solidFill>
                <a:latin typeface="Arial"/>
                <a:ea typeface="Malgun Gothic"/>
                <a:cs typeface="Malgun Gothic"/>
              </a:rPr>
              <a:t>에 남긴다. 페이지는 Planner D를 고를 때만 모듈을 불러온다.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추론(</a:t>
            </a:r>
            <a:r>
              <a:rPr sz="1050" b="1" i="0">
                <a:solidFill>
                  <a:srgbClr val="16213A"/>
                </a:solidFill>
                <a:latin typeface="Consolas"/>
                <a:ea typeface="Malgun Gothic"/>
                <a:cs typeface="Malgun Gothic"/>
              </a:rPr>
              <a:t>js/plannerd.js</a:t>
            </a:r>
            <a:r>
              <a:rPr sz="1050" b="1" i="0">
                <a:solidFill>
                  <a:srgbClr val="16213A"/>
                </a:solidFill>
                <a:latin typeface="Arial"/>
                <a:ea typeface="Malgun Gothic"/>
                <a:cs typeface="Malgun Gothic"/>
              </a:rPr>
              <a:t>).</a:t>
            </a:r>
            <a:r>
              <a:rPr sz="1050" b="0" i="0">
                <a:solidFill>
                  <a:srgbClr val="16213A"/>
                </a:solidFill>
                <a:latin typeface="Arial"/>
                <a:ea typeface="Malgun Gothic"/>
                <a:cs typeface="Malgun Gothic"/>
              </a:rPr>
              <a:t> 원본의 다섯 부분을 그대로 옮겼다.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자기중심 crop: </a:t>
            </a:r>
            <a:r>
              <a:rPr sz="1050" b="0" i="0">
                <a:solidFill>
                  <a:srgbClr val="16213A"/>
                </a:solidFill>
                <a:latin typeface="Consolas"/>
                <a:ea typeface="Malgun Gothic"/>
                <a:cs typeface="Malgun Gothic"/>
              </a:rPr>
              <a:t>grid_sample</a:t>
            </a:r>
            <a:r>
              <a:rPr sz="1050" b="0" i="0">
                <a:solidFill>
                  <a:srgbClr val="16213A"/>
                </a:solidFill>
                <a:latin typeface="Arial"/>
                <a:ea typeface="Malgun Gothic"/>
                <a:cs typeface="Malgun Gothic"/>
              </a:rPr>
              <a:t>(bilinear, zeros, </a:t>
            </a:r>
            <a:r>
              <a:rPr sz="1050" b="0" i="0">
                <a:solidFill>
                  <a:srgbClr val="16213A"/>
                </a:solidFill>
                <a:latin typeface="Consolas"/>
                <a:ea typeface="Malgun Gothic"/>
                <a:cs typeface="Malgun Gothic"/>
              </a:rPr>
              <a:t>align_corners=True</a:t>
            </a:r>
            <a:r>
              <a:rPr sz="1050" b="0" i="0">
                <a:solidFill>
                  <a:srgbClr val="16213A"/>
                </a:solidFill>
                <a:latin typeface="Arial"/>
                <a:ea typeface="Malgun Gothic"/>
                <a:cs typeface="Malgun Gothic"/>
              </a:rPr>
              <a:t>), 지도 밖은 1.</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conv 인코더 4층 + 정확한 GELU(erf, 상대 오차 &lt; 1.2×10⁻⁷).</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속도 MLP(472 → 512 × 3 → 120). 첫 층의 조건 몫은 계획마다 한 번만 계산한다.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변화율 적분 → 스워브 rollout.</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선택기(지도 cost × 6 + 치명 10³ + Guidance cost-to-go × 4)와 이전 계획 유지.</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diffusion 샘플러.</a:t>
            </a:r>
            <a:r>
              <a:rPr sz="1050" b="0" i="0">
                <a:solidFill>
                  <a:srgbClr val="16213A"/>
                </a:solidFill>
                <a:latin typeface="Arial"/>
                <a:ea typeface="Malgun Gothic"/>
                <a:cs typeface="Malgun Gothic"/>
              </a:rPr>
              <a:t> 배경 0.6b의 환율 </a:t>
            </a:r>
            <a:r>
              <a:rPr sz="1050" b="0" i="1">
                <a:solidFill>
                  <a:srgbClr val="16213A"/>
                </a:solidFill>
                <a:latin typeface="Arial"/>
                <a:ea typeface="Malgun Gothic"/>
                <a:cs typeface="Malgun Gothic"/>
              </a:rPr>
              <a:t>x̂₁ = x + (1-t) v</a:t>
            </a:r>
            <a:r>
              <a:rPr sz="1050" b="0" i="0">
                <a:solidFill>
                  <a:srgbClr val="16213A"/>
                </a:solidFill>
                <a:latin typeface="Arial"/>
                <a:ea typeface="Malgun Gothic"/>
                <a:cs typeface="Malgun Gothic"/>
              </a:rPr>
              <a:t>로 데이터 예측을 얻는다. 선형 일정 </a:t>
            </a:r>
            <a:r>
              <a:rPr sz="1050" b="0" i="1">
                <a:solidFill>
                  <a:srgbClr val="16213A"/>
                </a:solidFill>
                <a:latin typeface="Arial"/>
                <a:ea typeface="Malgun Gothic"/>
                <a:cs typeface="Malgun Gothic"/>
              </a:rPr>
              <a:t>xₜ = t x₁ + (1-t) ε</a:t>
            </a:r>
            <a:r>
              <a:rPr sz="1050" b="0" i="0">
                <a:solidFill>
                  <a:srgbClr val="16213A"/>
                </a:solidFill>
                <a:latin typeface="Arial"/>
                <a:ea typeface="Malgun Gothic"/>
                <a:cs typeface="Malgun Gothic"/>
              </a:rPr>
              <a:t>의 사후 </a:t>
            </a:r>
            <a:r>
              <a:rPr sz="1050" b="0" i="1">
                <a:solidFill>
                  <a:srgbClr val="16213A"/>
                </a:solidFill>
                <a:latin typeface="Arial"/>
                <a:ea typeface="Malgun Gothic"/>
                <a:cs typeface="Malgun Gothic"/>
              </a:rPr>
              <a:t>q(xₛ | xₜ, x̂₁)</a:t>
            </a:r>
            <a:r>
              <a:rPr sz="1050" b="0" i="0">
                <a:solidFill>
                  <a:srgbClr val="16213A"/>
                </a:solidFill>
                <a:latin typeface="Arial"/>
                <a:ea typeface="Malgun Gothic"/>
                <a:cs typeface="Malgun Gothic"/>
              </a:rPr>
              <a:t> 평균과 분산(VDM 식, </a:t>
            </a:r>
            <a:r>
              <a:rPr sz="1050" b="0" i="1">
                <a:solidFill>
                  <a:srgbClr val="16213A"/>
                </a:solidFill>
                <a:latin typeface="Arial"/>
                <a:ea typeface="Malgun Gothic"/>
                <a:cs typeface="Malgun Gothic"/>
              </a:rPr>
              <a:t>αₜ = t</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σₜ = 1-t</a:t>
            </a:r>
            <a:r>
              <a:rPr sz="1050" b="0" i="0">
                <a:solidFill>
                  <a:srgbClr val="16213A"/>
                </a:solidFill>
                <a:latin typeface="Arial"/>
                <a:ea typeface="Malgun Gothic"/>
                <a:cs typeface="Malgun Gothic"/>
              </a:rPr>
              <a:t>)으로 한 걸음씩 노이즈를 다시 섞는다. 마지막 걸음은 </a:t>
            </a:r>
            <a:r>
              <a:rPr sz="1050" b="0" i="1">
                <a:solidFill>
                  <a:srgbClr val="16213A"/>
                </a:solidFill>
                <a:latin typeface="Arial"/>
                <a:ea typeface="Malgun Gothic"/>
                <a:cs typeface="Malgun Gothic"/>
              </a:rPr>
              <a:t>x̂₁</a:t>
            </a:r>
            <a:r>
              <a:rPr sz="1050" b="0" i="0">
                <a:solidFill>
                  <a:srgbClr val="16213A"/>
                </a:solidFill>
                <a:latin typeface="Arial"/>
                <a:ea typeface="Malgun Gothic"/>
                <a:cs typeface="Malgun Gothic"/>
              </a:rPr>
              <a:t> 그대로다.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검사.</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check.html</a:t>
            </a:r>
            <a:r>
              <a:rPr sz="1050" b="0" i="0">
                <a:solidFill>
                  <a:srgbClr val="16213A"/>
                </a:solidFill>
                <a:latin typeface="Arial"/>
                <a:ea typeface="Malgun Gothic"/>
                <a:cs typeface="Malgun Gothic"/>
              </a:rPr>
              <a:t>의 'Planner D 황금 벡터' 행과 Planner D 주행 둘, 시연 넷이 있다(</a:t>
            </a:r>
            <a:r>
              <a:rPr sz="1050" b="0" i="0">
                <a:solidFill>
                  <a:srgbClr val="16213A"/>
                </a:solidFill>
                <a:latin typeface="Consolas"/>
                <a:ea typeface="Malgun Gothic"/>
                <a:cs typeface="Malgun Gothic"/>
              </a:rPr>
              <a:t>check_playground.sh</a:t>
            </a:r>
            <a:r>
              <a:rPr sz="1050" b="0" i="0">
                <a:solidFill>
                  <a:srgbClr val="16213A"/>
                </a:solidFill>
                <a:latin typeface="Arial"/>
                <a:ea typeface="Malgun Gothic"/>
                <a:cs typeface="Malgun Gothic"/>
              </a:rPr>
              <a:t> PASS 89/89). 파이썬은 </a:t>
            </a:r>
            <a:r>
              <a:rPr sz="1050" b="0" i="0">
                <a:solidFill>
                  <a:srgbClr val="16213A"/>
                </a:solidFill>
                <a:latin typeface="Consolas"/>
                <a:ea typeface="Malgun Gothic"/>
                <a:cs typeface="Malgun Gothic"/>
              </a:rPr>
              <a:t>tests/test_planner_d_export.py</a:t>
            </a:r>
            <a:r>
              <a:rPr sz="1050" b="0" i="0">
                <a:solidFill>
                  <a:srgbClr val="16213A"/>
                </a:solidFill>
                <a:latin typeface="Arial"/>
                <a:ea typeface="Malgun Gothic"/>
                <a:cs typeface="Malgun Gothic"/>
              </a:rPr>
              <a:t>다.</a:t>
            </a:r>
          </a:p>
        </p:txBody>
      </p:sp>
      <p:sp>
        <p:nvSpPr>
          <p:cNvPr id="7" name="TextBox 6"/>
          <p:cNvSpPr txBox="1"/>
          <p:nvPr/>
        </p:nvSpPr>
        <p:spPr>
          <a:xfrm>
            <a:off x="717550" y="4221361"/>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결과</a:t>
            </a:r>
          </a:p>
        </p:txBody>
      </p:sp>
      <p:sp>
        <p:nvSpPr>
          <p:cNvPr id="8" name="TextBox 7"/>
          <p:cNvSpPr txBox="1"/>
          <p:nvPr/>
        </p:nvSpPr>
        <p:spPr>
          <a:xfrm>
            <a:off x="609600" y="4524573"/>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도달은 같고 시간이 조금 길다</a:t>
            </a:r>
            <a:r>
              <a:rPr sz="1050" b="0" i="0">
                <a:solidFill>
                  <a:srgbClr val="16213A"/>
                </a:solidFill>
                <a:latin typeface="Arial"/>
                <a:ea typeface="Malgun Gothic"/>
                <a:cs typeface="Malgun Gothic"/>
              </a:rPr>
              <a:t>(스워브 + MPPI, 4 지형 × seed 0–2).</a:t>
            </a:r>
          </a:p>
        </p:txBody>
      </p:sp>
      <p:graphicFrame>
        <p:nvGraphicFramePr>
          <p:cNvPr id="9" name="Table 8"/>
          <p:cNvGraphicFramePr>
            <a:graphicFrameLocks noGrp="1"/>
          </p:cNvGraphicFramePr>
          <p:nvPr/>
        </p:nvGraphicFramePr>
        <p:xfrm>
          <a:off x="609600" y="4829969"/>
          <a:ext cx="10966451" cy="788352"/>
        </p:xfrm>
        <a:graphic>
          <a:graphicData uri="http://schemas.openxmlformats.org/drawingml/2006/table">
            <a:tbl>
              <a:tblPr firstRow="1" bandRow="1">
                <a:tableStyleId>{5C22544A-7EE6-4342-B048-85BDC9FD1C3A}</a:tableStyleId>
              </a:tblPr>
              <a:tblGrid>
                <a:gridCol w="4913412"/>
                <a:gridCol w="2696270"/>
                <a:gridCol w="3356769"/>
              </a:tblGrid>
              <a:tr h="197088">
                <a:tc>
                  <a:txBody>
                    <a:bodyPr wrap="square"/>
                    <a:lstStyle/>
                    <a:p>
                      <a:r>
                        <a:rPr sz="800" b="1" i="0">
                          <a:solidFill>
                            <a:srgbClr val="F4F1EA"/>
                          </a:solidFill>
                          <a:latin typeface="Arial"/>
                          <a:ea typeface="Malgun Gothic"/>
                          <a:cs typeface="Malgun Gothic"/>
                        </a:rPr>
                        <a:t>Planner</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원형 시야</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가림 + 상한 + prior</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Guidance(Dijkstra)</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12/12, 16.8 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12/12, 16.4 s</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Planner D · flow 10스텝</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12/12, 18.8 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12/12, 21.1 s</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Planner D · diffusion 10스텝</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12/12, 19.5 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12/12, 19.7 s</a:t>
                      </a:r>
                    </a:p>
                  </a:txBody>
                  <a:tcPr marL="63500" marR="63500" marT="12700" marB="12700">
                    <a:solidFill>
                      <a:srgbClr val="FFFDF8"/>
                    </a:solidFill>
                  </a:tcPr>
                </a:tc>
              </a:tr>
            </a:tbl>
          </a:graphicData>
        </a:graphic>
      </p:graphicFrame>
      <p:sp>
        <p:nvSpPr>
          <p:cNvPr id="10" name="TextBox 9"/>
          <p:cNvSpPr txBox="1"/>
          <p:nvPr/>
        </p:nvSpPr>
        <p:spPr>
          <a:xfrm>
            <a:off x="609600" y="5910659"/>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계획 시간(데스크톱 브라우저, 표본 16개)은 1스텝 32 ms, 10스텝 112 ms, 20스텝 200 ms다. 파이썬(torch)은 10스텝 3.4–4.1 ms다. 1 Hz 재계획이라 페이지에서는 감당한다.</a:t>
            </a:r>
          </a:p>
        </p:txBody>
      </p:sp>
    </p:spTree>
  </p:cSld>
  <p:clrMapOvr>
    <a:masterClrMapping/>
  </p:clrMapOvr>
</p:sld>
</file>

<file path=ppt/slides/slide50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작업 기록 · B.15 작업 기록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B.15.1 Planner D를 브라우저에서, 같은 망의 diffusion 샘플러 (TP-0137)</a:t>
            </a:r>
            <a:r>
              <a:rPr sz="1050" b="0" i="0">
                <a:solidFill>
                  <a:srgbClr val="5A6478"/>
                </a:solidFill>
                <a:latin typeface="Arial"/>
                <a:ea typeface="Malgun Gothic"/>
                <a:cs typeface="Malgun Gothic"/>
              </a:rPr>
              <a:t>  3/3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502 / 516</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스텝 수와 후보의 퍼짐</a:t>
            </a:r>
            <a:r>
              <a:rPr sz="1050" b="0" i="0">
                <a:solidFill>
                  <a:srgbClr val="16213A"/>
                </a:solidFill>
                <a:latin typeface="Arial"/>
                <a:ea typeface="Malgun Gothic"/>
                <a:cs typeface="Malgun Gothic"/>
              </a:rPr>
              <a:t>(curb_ramp·bumps_potholes·random_mix × seed 0–2 첫 계획, 끝점 16개의 표준편차; 가림 기본값 4 지형 × 3 seed 도달).</a:t>
            </a:r>
          </a:p>
        </p:txBody>
      </p:sp>
      <p:graphicFrame>
        <p:nvGraphicFramePr>
          <p:cNvPr id="6" name="Table 5"/>
          <p:cNvGraphicFramePr>
            <a:graphicFrameLocks noGrp="1"/>
          </p:cNvGraphicFramePr>
          <p:nvPr/>
        </p:nvGraphicFramePr>
        <p:xfrm>
          <a:off x="609600" y="1549995"/>
          <a:ext cx="10966450" cy="1182528"/>
        </p:xfrm>
        <a:graphic>
          <a:graphicData uri="http://schemas.openxmlformats.org/drawingml/2006/table">
            <a:tbl>
              <a:tblPr firstRow="1" bandRow="1">
                <a:tableStyleId>{5C22544A-7EE6-4342-B048-85BDC9FD1C3A}</a:tableStyleId>
              </a:tblPr>
              <a:tblGrid>
                <a:gridCol w="1307604"/>
                <a:gridCol w="2213074"/>
                <a:gridCol w="3047008"/>
                <a:gridCol w="4398764"/>
              </a:tblGrid>
              <a:tr h="197088">
                <a:tc>
                  <a:txBody>
                    <a:bodyPr wrap="square"/>
                    <a:lstStyle/>
                    <a:p>
                      <a:r>
                        <a:rPr sz="800" b="1" i="0">
                          <a:solidFill>
                            <a:srgbClr val="F4F1EA"/>
                          </a:solidFill>
                          <a:latin typeface="Arial"/>
                          <a:ea typeface="Malgun Gothic"/>
                          <a:cs typeface="Malgun Gothic"/>
                        </a:rPr>
                        <a:t>스텝</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flow 퍼짐</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diffusion 퍼짐</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도달(flow / diffusion)</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0.996 m</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0.996 m</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12/12 · 12/12</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0.356 m</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0.336 m</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12/12 · 12/12</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0.238 m</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0.220 m</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12/12 · 12/12</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10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0.484 m</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0.453 m</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12/12 · 12/12</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20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0.554 m</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0.564 m</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12/12 · 12/12</a:t>
                      </a:r>
                    </a:p>
                  </a:txBody>
                  <a:tcPr marL="63500" marR="63500" marT="12700" marB="12700">
                    <a:solidFill>
                      <a:srgbClr val="FFFDF8"/>
                    </a:solidFill>
                  </a:tcPr>
                </a:tc>
              </a:tr>
            </a:tbl>
          </a:graphicData>
        </a:graphic>
      </p:graphicFrame>
      <p:sp>
        <p:nvSpPr>
          <p:cNvPr id="7" name="TextBox 6"/>
          <p:cNvSpPr txBox="1"/>
          <p:nvPr/>
        </p:nvSpPr>
        <p:spPr>
          <a:xfrm>
            <a:off x="609600" y="3123406"/>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1스텝에서 두 샘플러는 같은 식이 된다(</a:t>
            </a:r>
            <a:r>
              <a:rPr sz="1050" b="0" i="1">
                <a:solidFill>
                  <a:srgbClr val="16213A"/>
                </a:solidFill>
                <a:latin typeface="Arial"/>
                <a:ea typeface="Malgun Gothic"/>
                <a:cs typeface="Malgun Gothic"/>
              </a:rPr>
              <a:t>x + v(x, 0)</a:t>
            </a:r>
            <a:r>
              <a:rPr sz="1050" b="0" i="0">
                <a:solidFill>
                  <a:srgbClr val="16213A"/>
                </a:solidFill>
                <a:latin typeface="Arial"/>
                <a:ea typeface="Malgun Gothic"/>
                <a:cs typeface="Malgun Gothic"/>
              </a:rPr>
              <a:t>). 2–4스텝에서는 표본이 목표 크기에 못 미친 채 평균 쪽으로 오그라든다(0.7b의 "모드 도달"). 10–20스텝에서 퍼짐이 돌아온다. 도달이 모두 12/12인 것은 선택기와 MPPI가 받쳐 주기 때문이다. 이 지형에서는 후보 다양성의 차이가 도달로 드러나지 않는다.</a:t>
            </a:r>
          </a:p>
        </p:txBody>
      </p:sp>
      <p:sp>
        <p:nvSpPr>
          <p:cNvPr id="8" name="TextBox 7"/>
          <p:cNvSpPr txBox="1"/>
          <p:nvPr/>
        </p:nvSpPr>
        <p:spPr>
          <a:xfrm>
            <a:off x="609600" y="3645297"/>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1스텝은 평균으로 무너지지 않는다 — 83%만 무너진다.</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v(x₀, 0)</a:t>
            </a:r>
            <a:r>
              <a:rPr sz="1050" b="0" i="0">
                <a:solidFill>
                  <a:srgbClr val="16213A"/>
                </a:solidFill>
                <a:latin typeface="Arial"/>
                <a:ea typeface="Malgun Gothic"/>
                <a:cs typeface="Malgun Gothic"/>
              </a:rPr>
              <a:t>를 </a:t>
            </a:r>
            <a:r>
              <a:rPr sz="1050" b="0" i="1">
                <a:solidFill>
                  <a:srgbClr val="16213A"/>
                </a:solidFill>
                <a:latin typeface="Arial"/>
                <a:ea typeface="Malgun Gothic"/>
                <a:cs typeface="Malgun Gothic"/>
              </a:rPr>
              <a:t>x₀</a:t>
            </a:r>
            <a:r>
              <a:rPr sz="1050" b="0" i="0">
                <a:solidFill>
                  <a:srgbClr val="16213A"/>
                </a:solidFill>
                <a:latin typeface="Arial"/>
                <a:ea typeface="Malgun Gothic"/>
                <a:cs typeface="Malgun Gothic"/>
              </a:rPr>
              <a:t>에 회귀하면(</a:t>
            </a:r>
            <a:r>
              <a:rPr sz="1050" b="0" i="1">
                <a:solidFill>
                  <a:srgbClr val="16213A"/>
                </a:solidFill>
                <a:latin typeface="Arial"/>
                <a:ea typeface="Malgun Gothic"/>
                <a:cs typeface="Malgun Gothic"/>
              </a:rPr>
              <a:t>v ≈ m - a x₀</a:t>
            </a:r>
            <a:r>
              <a:rPr sz="1050" b="0" i="0">
                <a:solidFill>
                  <a:srgbClr val="16213A"/>
                </a:solidFill>
                <a:latin typeface="Arial"/>
                <a:ea typeface="Malgun Gothic"/>
                <a:cs typeface="Malgun Gothic"/>
              </a:rPr>
              <a:t>) 세 장면 모두 기울기 </a:t>
            </a:r>
            <a:r>
              <a:rPr sz="1050" b="0" i="1">
                <a:solidFill>
                  <a:srgbClr val="16213A"/>
                </a:solidFill>
                <a:latin typeface="Arial"/>
                <a:ea typeface="Malgun Gothic"/>
                <a:cs typeface="Malgun Gothic"/>
              </a:rPr>
              <a:t>a</a:t>
            </a:r>
            <a:r>
              <a:rPr sz="1050" b="0" i="0">
                <a:solidFill>
                  <a:srgbClr val="16213A"/>
                </a:solidFill>
                <a:latin typeface="Arial"/>
                <a:ea typeface="Malgun Gothic"/>
                <a:cs typeface="Malgun Gothic"/>
              </a:rPr>
              <a:t> = 0.95–0.99다. 그래서 </a:t>
            </a:r>
            <a:r>
              <a:rPr sz="1050" b="0" i="1">
                <a:solidFill>
                  <a:srgbClr val="16213A"/>
                </a:solidFill>
                <a:latin typeface="Arial"/>
                <a:ea typeface="Malgun Gothic"/>
                <a:cs typeface="Malgun Gothic"/>
              </a:rPr>
              <a:t>x̂₁ = x₀ + v</a:t>
            </a:r>
            <a:r>
              <a:rPr sz="1050" b="0" i="0">
                <a:solidFill>
                  <a:srgbClr val="16213A"/>
                </a:solidFill>
                <a:latin typeface="Arial"/>
                <a:ea typeface="Malgun Gothic"/>
                <a:cs typeface="Malgun Gothic"/>
              </a:rPr>
              <a:t>의 표본 표준편차가 0.17이다(노이즈 1). 항등식 </a:t>
            </a:r>
            <a:r>
              <a:rPr sz="1050" b="0" i="1">
                <a:solidFill>
                  <a:srgbClr val="16213A"/>
                </a:solidFill>
                <a:latin typeface="Arial"/>
                <a:ea typeface="Malgun Gothic"/>
                <a:cs typeface="Malgun Gothic"/>
              </a:rPr>
              <a:t>v^⋆(x, 0) = 𝔼[x₁ | c] - x</a:t>
            </a:r>
            <a:r>
              <a:rPr sz="1050" b="0" i="0">
                <a:solidFill>
                  <a:srgbClr val="16213A"/>
                </a:solidFill>
                <a:latin typeface="Arial"/>
                <a:ea typeface="Malgun Gothic"/>
                <a:cs typeface="Malgun Gothic"/>
              </a:rPr>
              <a:t>는 최적 속도장에서만 정확하다. 학습된 망은 </a:t>
            </a:r>
            <a:r>
              <a:rPr sz="1050" b="0" i="1">
                <a:solidFill>
                  <a:srgbClr val="16213A"/>
                </a:solidFill>
                <a:latin typeface="Arial"/>
                <a:ea typeface="Malgun Gothic"/>
                <a:cs typeface="Malgun Gothic"/>
              </a:rPr>
              <a:t>-x</a:t>
            </a:r>
            <a:r>
              <a:rPr sz="1050" b="0" i="0">
                <a:solidFill>
                  <a:srgbClr val="16213A"/>
                </a:solidFill>
                <a:latin typeface="Arial"/>
                <a:ea typeface="Malgun Gothic"/>
                <a:cs typeface="Malgun Gothic"/>
              </a:rPr>
              <a:t>를 95–99%만 갚는다. 그 0.17이 Planner D에서 커지는 까닭은 출력이 </a:t>
            </a:r>
            <a:r>
              <a:rPr sz="1050" b="1" i="0">
                <a:solidFill>
                  <a:srgbClr val="16213A"/>
                </a:solidFill>
                <a:latin typeface="Arial"/>
                <a:ea typeface="Malgun Gothic"/>
                <a:cs typeface="Malgun Gothic"/>
              </a:rPr>
              <a:t>변화율</a:t>
            </a:r>
            <a:r>
              <a:rPr sz="1050" b="0" i="0">
                <a:solidFill>
                  <a:srgbClr val="16213A"/>
                </a:solidFill>
                <a:latin typeface="Arial"/>
                <a:ea typeface="Malgun Gothic"/>
                <a:cs typeface="Malgun Gothic"/>
              </a:rPr>
              <a:t>이기 때문이다. 시간축으로 상관없는 잡음이 twist·자세로 두 번 적분돼 끝점이 약 1 m 흩어진다. </a:t>
            </a:r>
            <a:r>
              <a:rPr sz="1050" b="1" i="0">
                <a:solidFill>
                  <a:srgbClr val="C2410C"/>
                </a:solidFill>
                <a:latin typeface="Arial"/>
                <a:ea typeface="Malgun Gothic"/>
                <a:cs typeface="Malgun Gothic"/>
              </a:rPr>
              <a:t>1스텝 후보의 '퍼짐'은 모드의 다양성이 아니라 적분된 잡음이다.</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t = 0.5</a:t>
            </a:r>
            <a:r>
              <a:rPr sz="1050" b="0" i="0">
                <a:solidFill>
                  <a:srgbClr val="16213A"/>
                </a:solidFill>
                <a:latin typeface="Arial"/>
                <a:ea typeface="Malgun Gothic"/>
                <a:cs typeface="Malgun Gothic"/>
              </a:rPr>
              <a:t>에서는 </a:t>
            </a:r>
            <a:r>
              <a:rPr sz="1050" b="0" i="1">
                <a:solidFill>
                  <a:srgbClr val="16213A"/>
                </a:solidFill>
                <a:latin typeface="Arial"/>
                <a:ea typeface="Malgun Gothic"/>
                <a:cs typeface="Malgun Gothic"/>
              </a:rPr>
              <a:t>a</a:t>
            </a:r>
            <a:r>
              <a:rPr sz="1050" b="0" i="0">
                <a:solidFill>
                  <a:srgbClr val="16213A"/>
                </a:solidFill>
                <a:latin typeface="Arial"/>
                <a:ea typeface="Malgun Gothic"/>
                <a:cs typeface="Malgun Gothic"/>
              </a:rPr>
              <a:t> = 1.29(과보정), </a:t>
            </a:r>
            <a:r>
              <a:rPr sz="1050" b="0" i="1">
                <a:solidFill>
                  <a:srgbClr val="16213A"/>
                </a:solidFill>
                <a:latin typeface="Arial"/>
                <a:ea typeface="Malgun Gothic"/>
                <a:cs typeface="Malgun Gothic"/>
              </a:rPr>
              <a:t>t = 0.9</a:t>
            </a:r>
            <a:r>
              <a:rPr sz="1050" b="0" i="0">
                <a:solidFill>
                  <a:srgbClr val="16213A"/>
                </a:solidFill>
                <a:latin typeface="Arial"/>
                <a:ea typeface="Malgun Gothic"/>
                <a:cs typeface="Malgun Gothic"/>
              </a:rPr>
              <a:t>에서는 0.70이다.</a:t>
            </a:r>
          </a:p>
        </p:txBody>
      </p:sp>
      <p:sp>
        <p:nvSpPr>
          <p:cNvPr id="9" name="TextBox 8"/>
          <p:cNvSpPr txBox="1"/>
          <p:nvPr/>
        </p:nvSpPr>
        <p:spPr>
          <a:xfrm>
            <a:off x="609600" y="4383683"/>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병목이 브라우저에서도 재현된다.</a:t>
            </a:r>
            <a:r>
              <a:rPr sz="1050" b="0" i="0">
                <a:solidFill>
                  <a:srgbClr val="16213A"/>
                </a:solidFill>
                <a:latin typeface="Arial"/>
                <a:ea typeface="Malgun Gothic"/>
                <a:cs typeface="Malgun Gothic"/>
              </a:rPr>
              <a:t> curb_ramp 레벨 3 seed 0에서 flow·diffusion 모두 60 s 시간 초과이고, Guidance는 27.6 s에 도달한다. 좁은 경사로를 지나친 뒤 되돌아 찾지 못하는, STATE의 현재 병목(TP-0077)과 같은 모습이다. 시연 </a:t>
            </a:r>
            <a:r>
              <a:rPr sz="1050" b="0" i="0">
                <a:solidFill>
                  <a:srgbClr val="16213A"/>
                </a:solidFill>
                <a:latin typeface="Consolas"/>
                <a:ea typeface="Malgun Gothic"/>
                <a:cs typeface="Malgun Gothic"/>
              </a:rPr>
              <a:t>TP-0137-l3</a:t>
            </a:r>
            <a:r>
              <a:rPr sz="1050" b="0" i="0">
                <a:solidFill>
                  <a:srgbClr val="16213A"/>
                </a:solidFill>
                <a:latin typeface="Arial"/>
                <a:ea typeface="Malgun Gothic"/>
                <a:cs typeface="Malgun Gothic"/>
              </a:rPr>
              <a:t>로 연다.</a:t>
            </a:r>
          </a:p>
        </p:txBody>
      </p:sp>
      <p:sp>
        <p:nvSpPr>
          <p:cNvPr id="10" name="TextBox 9"/>
          <p:cNvSpPr txBox="1"/>
          <p:nvPr/>
        </p:nvSpPr>
        <p:spPr>
          <a:xfrm>
            <a:off x="717550" y="4905573"/>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정직하게 적어 둘 것</a:t>
            </a:r>
          </a:p>
        </p:txBody>
      </p:sp>
      <p:sp>
        <p:nvSpPr>
          <p:cNvPr id="11" name="TextBox 10"/>
          <p:cNvSpPr txBox="1"/>
          <p:nvPr/>
        </p:nvSpPr>
        <p:spPr>
          <a:xfrm>
            <a:off x="609600" y="5208786"/>
            <a:ext cx="10972800" cy="700286"/>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지형은 JS 재구성이라 파이썬 벤치마크와 seed별로 같지 않다. 비교는 방향만 같다.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diffusion은 </a:t>
            </a:r>
            <a:r>
              <a:rPr sz="1050" b="1" i="0">
                <a:solidFill>
                  <a:srgbClr val="16213A"/>
                </a:solidFill>
                <a:latin typeface="Arial"/>
                <a:ea typeface="Malgun Gothic"/>
                <a:cs typeface="Malgun Gothic"/>
              </a:rPr>
              <a:t>같은 망</a:t>
            </a:r>
            <a:r>
              <a:rPr sz="1050" b="0" i="0">
                <a:solidFill>
                  <a:srgbClr val="16213A"/>
                </a:solidFill>
                <a:latin typeface="Arial"/>
                <a:ea typeface="Malgun Gothic"/>
                <a:cs typeface="Malgun Gothic"/>
              </a:rPr>
              <a:t>의 다른 샘플러다. ε-목적으로 따로 학습한 diffusion 모델이 아니다(배경 0.6b의 동치에 기대는 선택).</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Planner D는 스워브로 학습했다. 다른 로봇을 고르면 변화율 정규화(a_max)가 달라져 분포 밖이다.</a:t>
            </a:r>
          </a:p>
        </p:txBody>
      </p:sp>
    </p:spTree>
  </p:cSld>
  <p:clrMapOvr>
    <a:masterClrMapping/>
  </p:clrMapOvr>
</p:sld>
</file>

<file path=ppt/slides/slide50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작업 기록 · B.15 작업 기록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B.15.2 경사로를 지나친 Planner D를 Guidance 경로로 되돌린다 (TP-0078)</a:t>
            </a:r>
            <a:r>
              <a:rPr sz="1050" b="0" i="0">
                <a:solidFill>
                  <a:srgbClr val="5A6478"/>
                </a:solidFill>
                <a:latin typeface="Arial"/>
                <a:ea typeface="Malgun Gothic"/>
                <a:cs typeface="Malgun Gothic"/>
              </a:rPr>
              <a:t>  1/4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503 / 516</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한 줄로.</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새 표본이 3번 연속 90% 넘게 치명이면 Guidance 경로를 후보로 넣고, 이기면 그 경로를 그대로 넘긴다.</a:t>
            </a:r>
            <a:r>
              <a:rPr sz="1050" b="0" i="0">
                <a:solidFill>
                  <a:srgbClr val="16213A"/>
                </a:solidFill>
                <a:latin typeface="Arial"/>
                <a:ea typeface="Malgun Gothic"/>
                <a:cs typeface="Malgun Gothic"/>
              </a:rPr>
              <a:t> curb_ramp 레벨 3에서 seed 0–9를 난수 오프셋 셋으로 돌린 30 에피소드의 도달이 20/30에서 29/30이 된다(짝 비교 1:10, p = 0.012). Guidance도 29/30이다. </a:t>
            </a:r>
            <a:r>
              <a:rPr sz="1050" b="1" i="0">
                <a:solidFill>
                  <a:srgbClr val="C2410C"/>
                </a:solidFill>
                <a:latin typeface="Arial"/>
                <a:ea typeface="Malgun Gothic"/>
                <a:cs typeface="Malgun Gothic"/>
              </a:rPr>
              <a:t>대가는 학습 Planner의 몫이다. 레벨 3 curb_ramp에서는 계획의 51%를 Guidance 경로가 이긴다.</a:t>
            </a:r>
            <a:r>
              <a:rPr sz="1050" b="0" i="0">
                <a:solidFill>
                  <a:srgbClr val="16213A"/>
                </a:solidFill>
                <a:latin typeface="Arial"/>
                <a:ea typeface="Malgun Gothic"/>
                <a:cs typeface="Malgun Gothic"/>
              </a:rPr>
              <a:t> 개선은 학습 표본이 좋아져서 생긴 것이 아니다.</a:t>
            </a:r>
          </a:p>
        </p:txBody>
      </p:sp>
      <p:pic>
        <p:nvPicPr>
          <p:cNvPr id="6" name="Picture 5" descr="image.jpg"/>
          <p:cNvPicPr>
            <a:picLocks noChangeAspect="1"/>
          </p:cNvPicPr>
          <p:nvPr/>
        </p:nvPicPr>
        <p:blipFill>
          <a:blip r:embed="rId3"/>
          <a:stretch>
            <a:fillRect/>
          </a:stretch>
        </p:blipFill>
        <p:spPr>
          <a:xfrm>
            <a:off x="1016000" y="1982986"/>
            <a:ext cx="10160000" cy="4013200"/>
          </a:xfrm>
          <a:prstGeom prst="rect">
            <a:avLst/>
          </a:prstGeom>
        </p:spPr>
      </p:pic>
    </p:spTree>
  </p:cSld>
  <p:clrMapOvr>
    <a:masterClrMapping/>
  </p:clrMapOvr>
</p:sld>
</file>

<file path=ppt/slides/slide50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작업 기록 · B.15 작업 기록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B.15.2 경사로를 지나친 Planner D를 Guidance 경로로 되돌린다 (TP-0078)</a:t>
            </a:r>
            <a:r>
              <a:rPr sz="1050" b="0" i="0">
                <a:solidFill>
                  <a:srgbClr val="5A6478"/>
                </a:solidFill>
                <a:latin typeface="Arial"/>
                <a:ea typeface="Malgun Gothic"/>
                <a:cs typeface="Malgun Gothic"/>
              </a:rPr>
              <a:t>  2/4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504 / 516</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0" i="1">
                <a:solidFill>
                  <a:srgbClr val="16213A"/>
                </a:solidFill>
                <a:latin typeface="Arial"/>
                <a:ea typeface="Malgun Gothic"/>
                <a:cs typeface="Malgun Gothic"/>
              </a:rPr>
              <a:t>그림 — TP-0078 (Fig. 1): 왼쪽은 curb_ramp 레벨 3 seed 7(오프셋 0)이다. Planner D 혼자(주황)는 경사로를 지나친 뒤 도로에서 맴돌다 60 s를 넘긴다. 폴백(초록, 연한 띠가 Guidance 경로가 이긴 구간)은 돌아가 오른다. 오른쪽은 30 에피소드의 도달 수이고, 점은 오프셋별 도달 수를 3배 한 값이다. 출처: scripts/make_evidence_figures.py --only tp0078</a:t>
            </a:r>
          </a:p>
        </p:txBody>
      </p:sp>
      <p:sp>
        <p:nvSpPr>
          <p:cNvPr id="6" name="TextBox 5"/>
          <p:cNvSpPr txBox="1"/>
          <p:nvPr/>
        </p:nvSpPr>
        <p:spPr>
          <a:xfrm>
            <a:off x="717550" y="1766491"/>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잡음 바닥부터 잰다</a:t>
            </a:r>
          </a:p>
        </p:txBody>
      </p:sp>
      <p:sp>
        <p:nvSpPr>
          <p:cNvPr id="7" name="TextBox 6"/>
          <p:cNvSpPr txBox="1"/>
          <p:nvPr/>
        </p:nvSpPr>
        <p:spPr>
          <a:xfrm>
            <a:off x="609600" y="2069703"/>
            <a:ext cx="10972800" cy="1158677"/>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STATE의 "seed 0–9에서 8/10"은 한 번 돌린 값이다. Planner·Controller 난수만 바꿔 같은 지형을 다시 돌리면 8, 6, 6/10이 나온다.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두 번 돌리면 10 에피소드 가운데 평균 6개의 결과가 바뀐다. 실패한 s6·s7은 특별한 지형이 아니다. 어느 seed가 실패할지는 난수가 정한다.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그래서 판정은 30 에피소드(seed 10개 × 난수 오프셋 3개)로 한다. 같은 (seed, 오프셋)끼리 짝지어 한쪽만 도달한 에피소드로 부호 검정을 한다.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도구는 둘이다. </a:t>
            </a:r>
            <a:r>
              <a:rPr sz="1050" b="0" i="0">
                <a:solidFill>
                  <a:srgbClr val="16213A"/>
                </a:solidFill>
                <a:latin typeface="Consolas"/>
                <a:ea typeface="Malgun Gothic"/>
                <a:cs typeface="Malgun Gothic"/>
              </a:rPr>
              <a:t>run_benchmark.py --rng-offset N</a:t>
            </a:r>
            <a:r>
              <a:rPr sz="1050" b="0" i="0">
                <a:solidFill>
                  <a:srgbClr val="16213A"/>
                </a:solidFill>
                <a:latin typeface="Arial"/>
                <a:ea typeface="Malgun Gothic"/>
                <a:cs typeface="Malgun Gothic"/>
              </a:rPr>
              <a:t>은 지형·시뮬은 그대로 두고 Planner·Controller 난수만 seed + N으로 바꾼다. </a:t>
            </a:r>
            <a:r>
              <a:rPr sz="1050" b="0" i="0">
                <a:solidFill>
                  <a:srgbClr val="16213A"/>
                </a:solidFill>
                <a:latin typeface="Consolas"/>
                <a:ea typeface="Malgun Gothic"/>
                <a:cs typeface="Malgun Gothic"/>
              </a:rPr>
              <a:t>scripts/paired_success.py</a:t>
            </a:r>
            <a:r>
              <a:rPr sz="1050" b="0" i="0">
                <a:solidFill>
                  <a:srgbClr val="16213A"/>
                </a:solidFill>
                <a:latin typeface="Arial"/>
                <a:ea typeface="Malgun Gothic"/>
                <a:cs typeface="Malgun Gothic"/>
              </a:rPr>
              <a:t>가 짝 비교와 재실행 간 뒤집힘을 센다.</a:t>
            </a:r>
          </a:p>
        </p:txBody>
      </p:sp>
      <p:sp>
        <p:nvSpPr>
          <p:cNvPr id="8" name="TextBox 7"/>
          <p:cNvSpPr txBox="1"/>
          <p:nvPr/>
        </p:nvSpPr>
        <p:spPr>
          <a:xfrm>
            <a:off x="717550" y="3317280"/>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무엇을 만들었나</a:t>
            </a:r>
          </a:p>
        </p:txBody>
      </p:sp>
      <p:sp>
        <p:nvSpPr>
          <p:cNvPr id="9" name="TextBox 8"/>
          <p:cNvSpPr txBox="1"/>
          <p:nvPr/>
        </p:nvSpPr>
        <p:spPr>
          <a:xfrm>
            <a:off x="609600" y="3620492"/>
            <a:ext cx="10972800" cy="1833562"/>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트리거.</a:t>
            </a:r>
            <a:r>
              <a:rPr sz="1050" b="0" i="0">
                <a:solidFill>
                  <a:srgbClr val="16213A"/>
                </a:solidFill>
                <a:latin typeface="Arial"/>
                <a:ea typeface="Malgun Gothic"/>
                <a:cs typeface="Malgun Gothic"/>
              </a:rPr>
              <a:t> 새 표본 16개 가운데 치명 비율이 0.9 이상인 계획이 3번 이어지면 켠다. 계획은 10 Hz라 0.3 s다. 켜지면 다음 20번(2 s) 동안 폴백 후보를 낸다. 값은 </a:t>
            </a:r>
            <a:r>
              <a:rPr sz="1050" b="0" i="0">
                <a:solidFill>
                  <a:srgbClr val="16213A"/>
                </a:solidFill>
                <a:latin typeface="Consolas"/>
                <a:ea typeface="Malgun Gothic"/>
                <a:cs typeface="Malgun Gothic"/>
              </a:rPr>
              <a:t>SelectorConfig(fallback_share=0.9, fallback_after=3, fallback_hold=20)</a:t>
            </a:r>
            <a:r>
              <a:rPr sz="1050" b="0" i="0">
                <a:solidFill>
                  <a:srgbClr val="16213A"/>
                </a:solidFill>
                <a:latin typeface="Arial"/>
                <a:ea typeface="Malgun Gothic"/>
                <a:cs typeface="Malgun Gothic"/>
              </a:rPr>
              <a:t>이고, 미리 정한 이 한 벌만 돌렸다.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후보.</a:t>
            </a:r>
            <a:r>
              <a:rPr sz="1050" b="0" i="0">
                <a:solidFill>
                  <a:srgbClr val="16213A"/>
                </a:solidFill>
                <a:latin typeface="Arial"/>
                <a:ea typeface="Malgun Gothic"/>
                <a:cs typeface="Malgun Gothic"/>
              </a:rPr>
              <a:t> Guidance 경로를 로봇에 가장 가까운 점부터 1 m/s로 4 s 따라간 점열이다. 가장 가까운 점은 경로의 처음 2 m 안에서만 찾는다. 경사로를 돌아 로봇 바로 위 보도로 되돌아오는 구간에 붙지 않게 하려는 것이다.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채점.</a:t>
            </a:r>
            <a:r>
              <a:rPr sz="1050" b="0" i="0">
                <a:solidFill>
                  <a:srgbClr val="16213A"/>
                </a:solidFill>
                <a:latin typeface="Arial"/>
                <a:ea typeface="Malgun Gothic"/>
                <a:cs typeface="Malgun Gothic"/>
              </a:rPr>
              <a:t> 학습 표본과 같은 선택기 식(지도 cost × 6 + 치명 10³ + 끝점 cost-to-go × 4)으로 채점한다. 학습 표본이 더 좋으면 평소처럼 시간 인덱스 궤적을 낸다.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출력.</a:t>
            </a:r>
            <a:r>
              <a:rPr sz="1050" b="0" i="0">
                <a:solidFill>
                  <a:srgbClr val="16213A"/>
                </a:solidFill>
                <a:latin typeface="Arial"/>
                <a:ea typeface="Malgun Gothic"/>
                <a:cs typeface="Malgun Gothic"/>
              </a:rPr>
              <a:t> 후보가 이기면 계획이 Guidance 경로 자체가 된다(</a:t>
            </a:r>
            <a:r>
              <a:rPr sz="1050" b="0" i="0">
                <a:solidFill>
                  <a:srgbClr val="16213A"/>
                </a:solidFill>
                <a:latin typeface="Consolas"/>
                <a:ea typeface="Malgun Gothic"/>
                <a:cs typeface="Malgun Gothic"/>
              </a:rPr>
              <a:t>times</a:t>
            </a:r>
            <a:r>
              <a:rPr sz="1050" b="0" i="0">
                <a:solidFill>
                  <a:srgbClr val="16213A"/>
                </a:solidFill>
                <a:latin typeface="Arial"/>
                <a:ea typeface="Malgun Gothic"/>
                <a:cs typeface="Malgun Gothic"/>
              </a:rPr>
              <a:t> 없음). MPPI는 그것을 </a:t>
            </a:r>
            <a:r>
              <a:rPr sz="1050" b="0" i="0">
                <a:solidFill>
                  <a:srgbClr val="16213A"/>
                </a:solidFill>
                <a:latin typeface="Consolas"/>
                <a:ea typeface="Malgun Gothic"/>
                <a:cs typeface="Malgun Gothic"/>
              </a:rPr>
              <a:t>GuidancePlanner</a:t>
            </a:r>
            <a:r>
              <a:rPr sz="1050" b="0" i="0">
                <a:solidFill>
                  <a:srgbClr val="16213A"/>
                </a:solidFill>
                <a:latin typeface="Arial"/>
                <a:ea typeface="Malgun Gothic"/>
                <a:cs typeface="Malgun Gothic"/>
              </a:rPr>
              <a:t>의 경로처럼 경로 모드로 따른다.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스택.</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planner_df</a:t>
            </a:r>
            <a:r>
              <a:rPr sz="1050" b="0" i="0">
                <a:solidFill>
                  <a:srgbClr val="16213A"/>
                </a:solidFill>
                <a:latin typeface="Arial"/>
                <a:ea typeface="Malgun Gothic"/>
                <a:cs typeface="Malgun Gothic"/>
              </a:rPr>
              <a:t>가 Planner D + 폴백이다. 폴백을 끄면 main과 궤적이 비트 단위로 같다(seed 0·6에서 확인). </a:t>
            </a:r>
            <a:r>
              <a:rPr sz="1050" b="0" i="0">
                <a:solidFill>
                  <a:srgbClr val="16213A"/>
                </a:solidFill>
                <a:latin typeface="Consolas"/>
                <a:ea typeface="Malgun Gothic"/>
                <a:cs typeface="Malgun Gothic"/>
              </a:rPr>
              <a:t>--plan-cfg fallback_commit=1</a:t>
            </a:r>
            <a:r>
              <a:rPr sz="1050" b="0" i="0">
                <a:solidFill>
                  <a:srgbClr val="16213A"/>
                </a:solidFill>
                <a:latin typeface="Arial"/>
                <a:ea typeface="Malgun Gothic"/>
                <a:cs typeface="Malgun Gothic"/>
              </a:rPr>
              <a:t>은 트리거가 켜진 동안 경쟁 없이 경로를 내는 고정 변형이다.</a:t>
            </a:r>
          </a:p>
        </p:txBody>
      </p:sp>
    </p:spTree>
  </p:cSld>
  <p:clrMapOvr>
    <a:masterClrMapping/>
  </p:clrMapOvr>
</p:sld>
</file>

<file path=ppt/slides/slide50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작업 기록 · B.15 작업 기록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B.15.2 경사로를 지나친 Planner D를 Guidance 경로로 되돌린다 (TP-0078)</a:t>
            </a:r>
            <a:r>
              <a:rPr sz="1050" b="0" i="0">
                <a:solidFill>
                  <a:srgbClr val="5A6478"/>
                </a:solidFill>
                <a:latin typeface="Arial"/>
                <a:ea typeface="Malgun Gothic"/>
                <a:cs typeface="Malgun Gothic"/>
              </a:rPr>
              <a:t>  3/4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505 / 516</a:t>
            </a:r>
          </a:p>
        </p:txBody>
      </p:sp>
      <p:sp>
        <p:nvSpPr>
          <p:cNvPr id="5" name="TextBox 4"/>
          <p:cNvSpPr txBox="1"/>
          <p:nvPr/>
        </p:nvSpPr>
        <p:spPr>
          <a:xfrm>
            <a:off x="717550" y="1244600"/>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첫 설계는 왜 실패했나</a:t>
            </a:r>
          </a:p>
        </p:txBody>
      </p:sp>
      <p:sp>
        <p:nvSpPr>
          <p:cNvPr id="6" name="TextBox 5"/>
          <p:cNvSpPr txBox="1"/>
          <p:nvPr/>
        </p:nvSpPr>
        <p:spPr>
          <a:xfrm>
            <a:off x="609600" y="1547812"/>
            <a:ext cx="10972800" cy="1158677"/>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처음에는 Guidance 경로를 pure pursuit로 따라가는 rollout을 후보로 넣고, 시간 인덱스 궤적으로 넘겼다.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s7에서 이 후보가 제안 502번 가운데 376번 뽑혔다. 그런데도 로봇은 경사로 아래(x 9.3 m, y 1.3 m)에서 30 s 머물다 시간 초과됐다.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팽창한 cost 지도에서 레벨 3 경사로(폭 1.1 m)의 자유 통로는 한 칸(5 cm) 폭이다. MPPI의 시간 참조 모드는 매 시각 목표점과의 거리를 벌한다. 그 통로로 꺾어 드는 표본이 이 항에서 이기지 못한 것으로 보인다(추정, 항별로 재지는 않았다).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같은 MPPI가 경로 모드(경로와의 거리 + 남은 호 길이)에서는 guidance+mppi처럼 통로를 지난다. 그래서 폴백은 궤적을 만들지 않고 경로를 넘긴다.</a:t>
            </a:r>
          </a:p>
        </p:txBody>
      </p:sp>
      <p:sp>
        <p:nvSpPr>
          <p:cNvPr id="7" name="TextBox 6"/>
          <p:cNvSpPr txBox="1"/>
          <p:nvPr/>
        </p:nvSpPr>
        <p:spPr>
          <a:xfrm>
            <a:off x="717550" y="2795389"/>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결과</a:t>
            </a:r>
          </a:p>
        </p:txBody>
      </p:sp>
      <p:sp>
        <p:nvSpPr>
          <p:cNvPr id="8" name="TextBox 7"/>
          <p:cNvSpPr txBox="1"/>
          <p:nvPr/>
        </p:nvSpPr>
        <p:spPr>
          <a:xfrm>
            <a:off x="609600" y="3098602"/>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curb_ramp 레벨 3, seed 0–9 × 난수 오프셋 0·1000·2000.</a:t>
            </a:r>
            <a:r>
              <a:rPr sz="1050" b="0" i="0">
                <a:solidFill>
                  <a:srgbClr val="16213A"/>
                </a:solidFill>
                <a:latin typeface="Arial"/>
                <a:ea typeface="Malgun Gothic"/>
                <a:cs typeface="Malgun Gothic"/>
              </a:rPr>
              <a:t> 짝 비교는 Planner D 단독과의 비교다. 뒤집힘은 같은 스택을 두 번 돌렸을 때 결과가 바뀐 에피소드 수(10개 중)다.</a:t>
            </a:r>
          </a:p>
        </p:txBody>
      </p:sp>
      <p:graphicFrame>
        <p:nvGraphicFramePr>
          <p:cNvPr id="9" name="Table 8"/>
          <p:cNvGraphicFramePr>
            <a:graphicFrameLocks noGrp="1"/>
          </p:cNvGraphicFramePr>
          <p:nvPr/>
        </p:nvGraphicFramePr>
        <p:xfrm>
          <a:off x="609600" y="3403997"/>
          <a:ext cx="10966450" cy="985440"/>
        </p:xfrm>
        <a:graphic>
          <a:graphicData uri="http://schemas.openxmlformats.org/drawingml/2006/table">
            <a:tbl>
              <a:tblPr firstRow="1" bandRow="1">
                <a:tableStyleId>{5C22544A-7EE6-4342-B048-85BDC9FD1C3A}</a:tableStyleId>
              </a:tblPr>
              <a:tblGrid>
                <a:gridCol w="2542381"/>
                <a:gridCol w="1197074"/>
                <a:gridCol w="730548"/>
                <a:gridCol w="1939429"/>
                <a:gridCol w="1036439"/>
                <a:gridCol w="1388368"/>
                <a:gridCol w="1237159"/>
                <a:gridCol w="895052"/>
              </a:tblGrid>
              <a:tr h="197088">
                <a:tc>
                  <a:txBody>
                    <a:bodyPr wrap="square"/>
                    <a:lstStyle/>
                    <a:p>
                      <a:r>
                        <a:rPr sz="800" b="1" i="0">
                          <a:solidFill>
                            <a:srgbClr val="F4F1EA"/>
                          </a:solidFill>
                          <a:latin typeface="Arial"/>
                          <a:ea typeface="Malgun Gothic"/>
                          <a:cs typeface="Malgun Gothic"/>
                        </a:rPr>
                        <a:t>스택</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오프셋별 도달</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합</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짝 비교 (단독만 : 이쪽만)</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부호 검정 p</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재실행 간 뒤집힘</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도달 시간 평균</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계획 시간</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planner_d+mppi (DAgger 단독)</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8 · 6 · 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20/30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6.0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36.4 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6.8 ms</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planner_df+mppi (폴백, 후보)</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10 · 10 · 9</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29/30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 : 10</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0.012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0.7</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36.3 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6.9 ms</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planner_df+mppi (폴백, 고정)</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10 · 9 · 8</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27/30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 : 9</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0.065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30.8 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6.9 ms</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guidance+mppi</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9 · 10 · 10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29/30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 : 10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0.012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0.7</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28.0 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3F0E8"/>
                    </a:solidFill>
                  </a:tcPr>
                </a:tc>
              </a:tr>
            </a:tbl>
          </a:graphicData>
        </a:graphic>
      </p:graphicFrame>
      <p:sp>
        <p:nvSpPr>
          <p:cNvPr id="10" name="TextBox 9"/>
          <p:cNvSpPr txBox="1"/>
          <p:nvPr/>
        </p:nvSpPr>
        <p:spPr>
          <a:xfrm>
            <a:off x="609600" y="4731048"/>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지키는 기준.</a:t>
            </a:r>
            <a:r>
              <a:rPr sz="1050" b="0" i="0">
                <a:solidFill>
                  <a:srgbClr val="16213A"/>
                </a:solidFill>
                <a:latin typeface="Arial"/>
                <a:ea typeface="Malgun Gothic"/>
                <a:cs typeface="Malgun Gothic"/>
              </a:rPr>
              <a:t> 벤치마크는 4 지형 × seed 0–2, 보행자는 3명 × 4 지형 × seed 0–5다. 폴백이 이긴 계획은 그 스택의 전체 계획 가운데 비율이다.</a:t>
            </a:r>
          </a:p>
        </p:txBody>
      </p:sp>
      <p:graphicFrame>
        <p:nvGraphicFramePr>
          <p:cNvPr id="11" name="Table 10"/>
          <p:cNvGraphicFramePr>
            <a:graphicFrameLocks noGrp="1"/>
          </p:cNvGraphicFramePr>
          <p:nvPr/>
        </p:nvGraphicFramePr>
        <p:xfrm>
          <a:off x="609600" y="5036443"/>
          <a:ext cx="10966450" cy="788352"/>
        </p:xfrm>
        <a:graphic>
          <a:graphicData uri="http://schemas.openxmlformats.org/drawingml/2006/table">
            <a:tbl>
              <a:tblPr firstRow="1" bandRow="1">
                <a:tableStyleId>{5C22544A-7EE6-4342-B048-85BDC9FD1C3A}</a:tableStyleId>
              </a:tblPr>
              <a:tblGrid>
                <a:gridCol w="3148905"/>
                <a:gridCol w="893465"/>
                <a:gridCol w="893465"/>
                <a:gridCol w="2759869"/>
                <a:gridCol w="1550690"/>
                <a:gridCol w="1720056"/>
              </a:tblGrid>
              <a:tr h="197088">
                <a:tc>
                  <a:txBody>
                    <a:bodyPr wrap="square"/>
                    <a:lstStyle/>
                    <a:p>
                      <a:r>
                        <a:rPr sz="800" b="1" i="0">
                          <a:solidFill>
                            <a:srgbClr val="F4F1EA"/>
                          </a:solidFill>
                          <a:latin typeface="Arial"/>
                          <a:ea typeface="Malgun Gothic"/>
                          <a:cs typeface="Malgun Gothic"/>
                        </a:rPr>
                        <a:t>스택</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레벨 0</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레벨 3</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폴백이 이긴 계획 (레벨 0 · 3)</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보행자 3명</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보행자 최소 여유</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planner_d+mppi (DAgger 단독)</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12/12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12/12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24/24, 충돌 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0.14 m</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planner_df+mppi (폴백, 후보)</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12/12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12/12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13% · 33%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24/24, 충돌 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0.20 m</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planner_df+mppi (폴백, 고정)</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12/12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12/12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26% · 47%</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24/24, 충돌 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0.20 m</a:t>
                      </a:r>
                    </a:p>
                  </a:txBody>
                  <a:tcPr marL="63500" marR="63500" marT="12700" marB="12700">
                    <a:solidFill>
                      <a:srgbClr val="FFFDF8"/>
                    </a:solidFill>
                  </a:tcPr>
                </a:tc>
              </a:tr>
            </a:tbl>
          </a:graphicData>
        </a:graphic>
      </p:graphicFrame>
    </p:spTree>
  </p:cSld>
  <p:clrMapOvr>
    <a:masterClrMapping/>
  </p:clrMapOvr>
</p:sld>
</file>

<file path=ppt/slides/slide50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작업 기록 · B.15 작업 기록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B.15.2 경사로를 지나친 Planner D를 Guidance 경로로 되돌린다 (TP-0078)</a:t>
            </a:r>
            <a:r>
              <a:rPr sz="1050" b="0" i="0">
                <a:solidFill>
                  <a:srgbClr val="5A6478"/>
                </a:solidFill>
                <a:latin typeface="Arial"/>
                <a:ea typeface="Malgun Gothic"/>
                <a:cs typeface="Malgun Gothic"/>
              </a:rPr>
              <a:t>  4/4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506 / 516</a:t>
            </a:r>
          </a:p>
        </p:txBody>
      </p:sp>
      <p:sp>
        <p:nvSpPr>
          <p:cNvPr id="5" name="TextBox 4"/>
          <p:cNvSpPr txBox="1"/>
          <p:nvPr/>
        </p:nvSpPr>
        <p:spPr>
          <a:xfrm>
            <a:off x="609600" y="1244600"/>
            <a:ext cx="10972800" cy="1400572"/>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폴백은 30 에피소드 가운데 10개를 살리고 1개를 잃는다. Guidance와 짝지으면 1:1이다.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후보 변형과 고정 변형의 차이는 잡음 안이다(2:0, p = 0.5). 도달 수가 많은 후보 변형을 </a:t>
            </a:r>
            <a:r>
              <a:rPr sz="1050" b="0" i="0">
                <a:solidFill>
                  <a:srgbClr val="16213A"/>
                </a:solidFill>
                <a:latin typeface="Consolas"/>
                <a:ea typeface="Malgun Gothic"/>
                <a:cs typeface="Malgun Gothic"/>
              </a:rPr>
              <a:t>planner_df</a:t>
            </a:r>
            <a:r>
              <a:rPr sz="1050" b="0" i="0">
                <a:solidFill>
                  <a:srgbClr val="16213A"/>
                </a:solidFill>
                <a:latin typeface="Arial"/>
                <a:ea typeface="Malgun Gothic"/>
                <a:cs typeface="Malgun Gothic"/>
              </a:rPr>
              <a:t>의 기본으로 둔다.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도달 시간은 Guidance보다 8 s 길다. 경사로 앞에서 MPPI가 접힌 경로를 오가는 시간이다. s6에서는 폴백이 t = 14–44 s 내내 이겼는데, 로봇은 경사로 오른쪽 1 m에서 맴돌았다. Guidance 경로가 경사로를 돌아 보도로 되돌아오면, MPPI 진행 항이 rollout 끝점을 되돌아오는 구간에 투영한다(TP-0131, MPC 문서 M.3.20).</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폴백은 레벨 0에서도 켜진다. 연석과 포트홀 근처에서 계획의 13%를 Guidance 경로가 이긴다. 도달 수와 도달 시간(15.7 s 대 16.4 s)은 그대로다.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보행자 최소 여유는 0.14 m에서 0.20 m가 됐다. 24 에피소드의 최솟값 하나라 잡음이 크다. 폴백이 보행자 회피를 고친 것으로 읽지 않는다.</a:t>
            </a:r>
          </a:p>
        </p:txBody>
      </p:sp>
      <p:sp>
        <p:nvSpPr>
          <p:cNvPr id="6" name="TextBox 5"/>
          <p:cNvSpPr txBox="1"/>
          <p:nvPr/>
        </p:nvSpPr>
        <p:spPr>
          <a:xfrm>
            <a:off x="717550" y="2734072"/>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정직하게 적어 둘 것</a:t>
            </a:r>
          </a:p>
        </p:txBody>
      </p:sp>
      <p:sp>
        <p:nvSpPr>
          <p:cNvPr id="7" name="TextBox 6"/>
          <p:cNvSpPr txBox="1"/>
          <p:nvPr/>
        </p:nvSpPr>
        <p:spPr>
          <a:xfrm>
            <a:off x="609600" y="3037284"/>
            <a:ext cx="10972800" cy="700286"/>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레벨 3 curb_ramp에서 이 스택은 계획의 절반을 비학습 경로로 낸다. 성적이 오른 것은 Guidance 덕이다. 학습 표본 자체의 개선은 RL 후학습(TP-0066)이 맡는다.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트리거 값은 한 벌만 돌렸다. 0.9·3·20이 최선인지는 모른다.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10 에피소드 한 번의 차이로는 아무것도 판정할 수 없다. 8/10과 9/10의 차이는 같은 스택의 재실행 차이보다 작다.</a:t>
            </a:r>
          </a:p>
        </p:txBody>
      </p:sp>
      <p:sp>
        <p:nvSpPr>
          <p:cNvPr id="8" name="TextBox 7"/>
          <p:cNvSpPr txBox="1"/>
          <p:nvPr/>
        </p:nvSpPr>
        <p:spPr>
          <a:xfrm>
            <a:off x="609600" y="382647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Playground에서(TP-0139).</a:t>
            </a:r>
            <a:r>
              <a:rPr sz="1050" b="0" i="0">
                <a:solidFill>
                  <a:srgbClr val="16213A"/>
                </a:solidFill>
                <a:latin typeface="Arial"/>
                <a:ea typeface="Malgun Gothic"/>
                <a:cs typeface="Malgun Gothic"/>
              </a:rPr>
              <a:t> 'Guidance 폴백'(URL </a:t>
            </a:r>
            <a:r>
              <a:rPr sz="1050" b="0" i="0">
                <a:solidFill>
                  <a:srgbClr val="16213A"/>
                </a:solidFill>
                <a:latin typeface="Consolas"/>
                <a:ea typeface="Malgun Gothic"/>
                <a:cs typeface="Malgun Gothic"/>
              </a:rPr>
              <a:t>pf=1</a:t>
            </a:r>
            <a:r>
              <a:rPr sz="1050" b="0" i="0">
                <a:solidFill>
                  <a:srgbClr val="16213A"/>
                </a:solidFill>
                <a:latin typeface="Arial"/>
                <a:ea typeface="Malgun Gothic"/>
                <a:cs typeface="Malgun Gothic"/>
              </a:rPr>
              <a:t>)을 켜면 같은 규칙이 브라우저 Planner D에서 돈다. 레벨 3 curb_ramp seed 0(시연 </a:t>
            </a:r>
            <a:r>
              <a:rPr sz="1050" b="0" i="0">
                <a:solidFill>
                  <a:srgbClr val="16213A"/>
                </a:solidFill>
                <a:latin typeface="Consolas"/>
                <a:ea typeface="Malgun Gothic"/>
                <a:cs typeface="Malgun Gothic"/>
              </a:rPr>
              <a:t>TP-0078</a:t>
            </a:r>
            <a:r>
              <a:rPr sz="1050" b="0" i="0">
                <a:solidFill>
                  <a:srgbClr val="16213A"/>
                </a:solidFill>
                <a:latin typeface="Arial"/>
                <a:ea typeface="Malgun Gothic"/>
                <a:cs typeface="Malgun Gothic"/>
              </a:rPr>
              <a:t>)이 60 s 시간 초과에서 30.5 s 도달이 된다(Guidance 27.6 s). 텔레메트리의 '폴백 %'가 Guidance 경로가 이긴 계획의 비율이다.</a:t>
            </a:r>
          </a:p>
        </p:txBody>
      </p:sp>
    </p:spTree>
  </p:cSld>
  <p:clrMapOvr>
    <a:masterClrMapping/>
  </p:clrMapOvr>
</p:sld>
</file>

<file path=ppt/slides/slide50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작업 기록 · B.15 작업 기록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B.15.3 Planner D 폐루프 RL 후학습: 본 학습과 평가 (TP-0066)</a:t>
            </a:r>
            <a:r>
              <a:rPr sz="1050" b="0" i="0">
                <a:solidFill>
                  <a:srgbClr val="5A6478"/>
                </a:solidFill>
                <a:latin typeface="Arial"/>
                <a:ea typeface="Malgun Gothic"/>
                <a:cs typeface="Malgun Gothic"/>
              </a:rPr>
              <a:t>  1/3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507 / 516</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한 줄로.</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폐루프 RL 후학습(3 라운드, 12분)으로 Planner D 단독의 curb_ramp 레벨 3 도달이 20/30에서 26/30이 됐다(짝 비교 1:7, p = 0.07). 판정 기준 27/30에는 못 미친다.</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Guidance 폴백(TP-0078)과 함께 쓰면 30/30이다.</a:t>
            </a:r>
            <a:r>
              <a:rPr sz="1050" b="0" i="0">
                <a:solidFill>
                  <a:srgbClr val="16213A"/>
                </a:solidFill>
                <a:latin typeface="Arial"/>
                <a:ea typeface="Malgun Gothic"/>
                <a:cs typeface="Malgun Gothic"/>
              </a:rPr>
              <a:t> 폴백이 이긴 계획이 51%에서 42%로 줄고, 도달 시간은 36.3 s에서 28.9 s로 Guidance(28.0 s)와 같아진다.</a:t>
            </a:r>
          </a:p>
        </p:txBody>
      </p:sp>
      <p:pic>
        <p:nvPicPr>
          <p:cNvPr id="6" name="Picture 5" descr="image.jpg"/>
          <p:cNvPicPr>
            <a:picLocks noChangeAspect="1"/>
          </p:cNvPicPr>
          <p:nvPr/>
        </p:nvPicPr>
        <p:blipFill>
          <a:blip r:embed="rId3"/>
          <a:stretch>
            <a:fillRect/>
          </a:stretch>
        </p:blipFill>
        <p:spPr>
          <a:xfrm>
            <a:off x="1016000" y="1766491"/>
            <a:ext cx="10160000" cy="3352800"/>
          </a:xfrm>
          <a:prstGeom prst="rect">
            <a:avLst/>
          </a:prstGeom>
        </p:spPr>
      </p:pic>
      <p:sp>
        <p:nvSpPr>
          <p:cNvPr id="7" name="TextBox 6"/>
          <p:cNvSpPr txBox="1"/>
          <p:nvPr/>
        </p:nvSpPr>
        <p:spPr>
          <a:xfrm>
            <a:off x="609600" y="5208191"/>
            <a:ext cx="10972800" cy="432991"/>
          </a:xfrm>
          <a:prstGeom prst="rect">
            <a:avLst/>
          </a:prstGeom>
          <a:noFill/>
        </p:spPr>
        <p:txBody>
          <a:bodyPr wrap="square" lIns="0" rIns="0" tIns="0" bIns="0" anchor="t">
            <a:spAutoFit/>
            <a:normAutofit/>
          </a:bodyPr>
          <a:lstStyle/>
          <a:p>
            <a:r>
              <a:rPr sz="1050" b="0" i="1">
                <a:solidFill>
                  <a:srgbClr val="16213A"/>
                </a:solidFill>
                <a:latin typeface="Arial"/>
                <a:ea typeface="Malgun Gothic"/>
                <a:cs typeface="Malgun Gothic"/>
              </a:rPr>
              <a:t>그림 — TP-0066 (Fig. 1): 왼쪽은 curb_ramp 레벨 3의 30 에피소드(seed 0–9 × 난수 오프셋 3) 도달 수다. 점은 오프셋별 도달 수를 3배 한 값이다. 오른쪽은 폴백을 켠 두 체크포인트에서 Guidance 경로가 이긴 계획의 비율과 도달 시간이다. 출처: scripts/make_evidence_figures.py --only tp0066</a:t>
            </a:r>
          </a:p>
        </p:txBody>
      </p:sp>
    </p:spTree>
  </p:cSld>
  <p:clrMapOvr>
    <a:masterClrMapping/>
  </p:clrMapOvr>
</p:sld>
</file>

<file path=ppt/slides/slide50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작업 기록 · B.15 작업 기록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B.15.3 Planner D 폐루프 RL 후학습: 본 학습과 평가 (TP-0066)</a:t>
            </a:r>
            <a:r>
              <a:rPr sz="1050" b="0" i="0">
                <a:solidFill>
                  <a:srgbClr val="5A6478"/>
                </a:solidFill>
                <a:latin typeface="Arial"/>
                <a:ea typeface="Malgun Gothic"/>
                <a:cs typeface="Malgun Gothic"/>
              </a:rPr>
              <a:t>  2/3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508 / 516</a:t>
            </a:r>
          </a:p>
        </p:txBody>
      </p:sp>
      <p:sp>
        <p:nvSpPr>
          <p:cNvPr id="5" name="TextBox 4"/>
          <p:cNvSpPr txBox="1"/>
          <p:nvPr/>
        </p:nvSpPr>
        <p:spPr>
          <a:xfrm>
            <a:off x="717550" y="1244600"/>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무엇을 돌렸나</a:t>
            </a:r>
          </a:p>
        </p:txBody>
      </p:sp>
      <p:sp>
        <p:nvSpPr>
          <p:cNvPr id="6" name="TextBox 5"/>
          <p:cNvSpPr txBox="1"/>
          <p:nvPr/>
        </p:nvSpPr>
        <p:spPr>
          <a:xfrm>
            <a:off x="609600" y="1547812"/>
            <a:ext cx="10972800" cy="1591667"/>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명령은 </a:t>
            </a:r>
            <a:r>
              <a:rPr sz="1050" b="0" i="0">
                <a:solidFill>
                  <a:srgbClr val="16213A"/>
                </a:solidFill>
                <a:latin typeface="Consolas"/>
                <a:ea typeface="Malgun Gothic"/>
                <a:cs typeface="Malgun Gothic"/>
              </a:rPr>
              <a:t>scripts/rl_finetune_planner_d.py --rounds 3 --maps 64 --levels 0 1 2 3 --workers 10</a:t>
            </a:r>
            <a:r>
              <a:rPr sz="1050" b="0" i="0">
                <a:solidFill>
                  <a:srgbClr val="16213A"/>
                </a:solidFill>
                <a:latin typeface="Arial"/>
                <a:ea typeface="Malgun Gothic"/>
                <a:cs typeface="Malgun Gothic"/>
              </a:rPr>
              <a:t>이다. 출발점은 </a:t>
            </a:r>
            <a:r>
              <a:rPr sz="1050" b="0" i="0">
                <a:solidFill>
                  <a:srgbClr val="16213A"/>
                </a:solidFill>
                <a:latin typeface="Consolas"/>
                <a:ea typeface="Malgun Gothic"/>
                <a:cs typeface="Malgun Gothic"/>
              </a:rPr>
              <a:t>planner_d_L0123_dagger.pt</a:t>
            </a:r>
            <a:r>
              <a:rPr sz="1050" b="0" i="0">
                <a:solidFill>
                  <a:srgbClr val="16213A"/>
                </a:solidFill>
                <a:latin typeface="Arial"/>
                <a:ea typeface="Malgun Gothic"/>
                <a:cs typeface="Malgun Gothic"/>
              </a:rPr>
              <a:t>, 모방 데이터는 </a:t>
            </a:r>
            <a:r>
              <a:rPr sz="1050" b="0" i="0">
                <a:solidFill>
                  <a:srgbClr val="16213A"/>
                </a:solidFill>
                <a:latin typeface="Consolas"/>
                <a:ea typeface="Malgun Gothic"/>
                <a:cs typeface="Malgun Gothic"/>
              </a:rPr>
              <a:t>planner_d_data_L0123.pt</a:t>
            </a:r>
            <a:r>
              <a:rPr sz="1050" b="0" i="0">
                <a:solidFill>
                  <a:srgbClr val="16213A"/>
                </a:solidFill>
                <a:latin typeface="Arial"/>
                <a:ea typeface="Malgun Gothic"/>
                <a:cs typeface="Malgun Gothic"/>
              </a:rPr>
              <a:t>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한 라운드는 세 단계다. 학습용 지형 64개를 폐루프로 달린다. 지형은 seed 10 이상(벤치마크 seed 0–9와 겹치지 않음)이고 레벨 0–3을 고르게 뽑는다. Controller는 MPPI와 pure pursuit 둘이다.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그다음 5스텝마다 belief에서 후보 16개를 뽑아 GT 지도에서 채점한다(진행, cost, 치명, 부드러움). 마지막으로 그룹 상대 이점(GRPO식)을 AWR 가중치로 바꿔 flow matching을 2000번 반복한다. 모방 손실 가중치는 λ = 0.5다.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데스크톱 한 대(16코어, RTX 5080)에서 rollout이 라운드당 208–245 s, 미세 조정이 5–6 s 걸렸다. 전체 12분이다.</a:t>
            </a:r>
          </a:p>
        </p:txBody>
      </p:sp>
      <p:graphicFrame>
        <p:nvGraphicFramePr>
          <p:cNvPr id="7" name="Table 6"/>
          <p:cNvGraphicFramePr>
            <a:graphicFrameLocks noGrp="1"/>
          </p:cNvGraphicFramePr>
          <p:nvPr/>
        </p:nvGraphicFramePr>
        <p:xfrm>
          <a:off x="609600" y="3228380"/>
          <a:ext cx="10966450" cy="788352"/>
        </p:xfrm>
        <a:graphic>
          <a:graphicData uri="http://schemas.openxmlformats.org/drawingml/2006/table">
            <a:tbl>
              <a:tblPr firstRow="1" bandRow="1">
                <a:tableStyleId>{5C22544A-7EE6-4342-B048-85BDC9FD1C3A}</a:tableStyleId>
              </a:tblPr>
              <a:tblGrid>
                <a:gridCol w="1076920"/>
                <a:gridCol w="4281984"/>
                <a:gridCol w="2343150"/>
                <a:gridCol w="1369814"/>
                <a:gridCol w="1894582"/>
              </a:tblGrid>
              <a:tr h="197088">
                <a:tc>
                  <a:txBody>
                    <a:bodyPr wrap="square"/>
                    <a:lstStyle/>
                    <a:p>
                      <a:r>
                        <a:rPr sz="800" b="1" i="0">
                          <a:solidFill>
                            <a:srgbClr val="F4F1EA"/>
                          </a:solidFill>
                          <a:latin typeface="Arial"/>
                          <a:ea typeface="Malgun Gothic"/>
                          <a:cs typeface="Malgun Gothic"/>
                        </a:rPr>
                        <a:t>라운드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rollout 도달 (MPPI · pure pursuit)</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채점한 상태 × 후보</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평균 보상</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치명 후보 비율</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62/64 · 27/64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4,368 × 16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−2.585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0.412</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60/64 · 27/64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4,390 × 16</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−2.652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0.417</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62/64 · 25/64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4,073 × 16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−2.271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0.377</a:t>
                      </a:r>
                    </a:p>
                  </a:txBody>
                  <a:tcPr marL="63500" marR="63500" marT="12700" marB="12700">
                    <a:solidFill>
                      <a:srgbClr val="FFFDF8"/>
                    </a:solidFill>
                  </a:tcPr>
                </a:tc>
              </a:tr>
            </a:tbl>
          </a:graphicData>
        </a:graphic>
      </p:graphicFrame>
      <p:sp>
        <p:nvSpPr>
          <p:cNvPr id="8" name="TextBox 7"/>
          <p:cNvSpPr txBox="1"/>
          <p:nvPr/>
        </p:nvSpPr>
        <p:spPr>
          <a:xfrm>
            <a:off x="609600" y="4309070"/>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라운드마다 새 지형을 뽑는다. 그래서 이 표는 학습 곡선이 아니라 라운드별 데이터의 크기다.</a:t>
            </a:r>
          </a:p>
        </p:txBody>
      </p:sp>
      <p:sp>
        <p:nvSpPr>
          <p:cNvPr id="9" name="TextBox 8"/>
          <p:cNvSpPr txBox="1"/>
          <p:nvPr/>
        </p:nvSpPr>
        <p:spPr>
          <a:xfrm>
            <a:off x="717550" y="4614466"/>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결과</a:t>
            </a:r>
          </a:p>
        </p:txBody>
      </p:sp>
      <p:sp>
        <p:nvSpPr>
          <p:cNvPr id="10" name="TextBox 9"/>
          <p:cNvSpPr txBox="1"/>
          <p:nvPr/>
        </p:nvSpPr>
        <p:spPr>
          <a:xfrm>
            <a:off x="609600" y="4917678"/>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평가 지형은 학습에 쓰지 않은 seed 0–9다. 비교는 TP-0078의 잡음 바닥 절차(같은 seed와 난수 오프셋끼리 짝)를 따른다.</a:t>
            </a:r>
          </a:p>
        </p:txBody>
      </p:sp>
      <p:graphicFrame>
        <p:nvGraphicFramePr>
          <p:cNvPr id="11" name="Table 10"/>
          <p:cNvGraphicFramePr>
            <a:graphicFrameLocks noGrp="1"/>
          </p:cNvGraphicFramePr>
          <p:nvPr/>
        </p:nvGraphicFramePr>
        <p:xfrm>
          <a:off x="609600" y="5223073"/>
          <a:ext cx="10966450" cy="788352"/>
        </p:xfrm>
        <a:graphic>
          <a:graphicData uri="http://schemas.openxmlformats.org/drawingml/2006/table">
            <a:tbl>
              <a:tblPr firstRow="1" bandRow="1">
                <a:tableStyleId>{5C22544A-7EE6-4342-B048-85BDC9FD1C3A}</a:tableStyleId>
              </a:tblPr>
              <a:tblGrid>
                <a:gridCol w="3129260"/>
                <a:gridCol w="2679700"/>
                <a:gridCol w="2157710"/>
                <a:gridCol w="1586210"/>
                <a:gridCol w="1413570"/>
              </a:tblGrid>
              <a:tr h="197088">
                <a:tc>
                  <a:txBody>
                    <a:bodyPr wrap="square"/>
                    <a:lstStyle/>
                    <a:p>
                      <a:r>
                        <a:rPr sz="800" b="1" i="0">
                          <a:solidFill>
                            <a:srgbClr val="F4F1EA"/>
                          </a:solidFill>
                          <a:latin typeface="Arial"/>
                          <a:ea typeface="Malgun Gothic"/>
                          <a:cs typeface="Malgun Gothic"/>
                        </a:rPr>
                        <a:t>스택</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curb_ramp 레벨 3 (오프셋별)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짝 비교 대 DAgger 단독</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폴백이 이긴 계획</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도달 시간 평균</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planner_d+mppi (DAgger 단독)</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20/30 (8 · 6 · 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36.4 s</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planner_d+mppi (RL 단독)</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26/30 (10 · 9 · 7)</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 : 7, p = 0.070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34.4 s</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planner_df+mppi (DAgger + 폴백)</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29/30 (10 · 10 · 9)</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 : 10, p = 0.012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51%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36.3 s</a:t>
                      </a:r>
                    </a:p>
                  </a:txBody>
                  <a:tcPr marL="63500" marR="63500" marT="12700" marB="12700">
                    <a:solidFill>
                      <a:srgbClr val="FFFDF8"/>
                    </a:solidFill>
                  </a:tcPr>
                </a:tc>
              </a:tr>
            </a:tbl>
          </a:graphicData>
        </a:graphic>
      </p:graphicFrame>
    </p:spTree>
  </p:cSld>
  <p:clrMapOvr>
    <a:masterClrMapping/>
  </p:clrMapOvr>
</p:sld>
</file>

<file path=ppt/slides/slide50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작업 기록 · B.15 작업 기록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B.15.3 Planner D 폐루프 RL 후학습: 본 학습과 평가 (TP-0066)</a:t>
            </a:r>
            <a:r>
              <a:rPr sz="1050" b="0" i="0">
                <a:solidFill>
                  <a:srgbClr val="5A6478"/>
                </a:solidFill>
                <a:latin typeface="Arial"/>
                <a:ea typeface="Malgun Gothic"/>
                <a:cs typeface="Malgun Gothic"/>
              </a:rPr>
              <a:t>  3/3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509 / 516</a:t>
            </a:r>
          </a:p>
        </p:txBody>
      </p:sp>
      <p:graphicFrame>
        <p:nvGraphicFramePr>
          <p:cNvPr id="5" name="Table 4"/>
          <p:cNvGraphicFramePr>
            <a:graphicFrameLocks noGrp="1"/>
          </p:cNvGraphicFramePr>
          <p:nvPr/>
        </p:nvGraphicFramePr>
        <p:xfrm>
          <a:off x="609600" y="1244600"/>
          <a:ext cx="10966450" cy="591264"/>
        </p:xfrm>
        <a:graphic>
          <a:graphicData uri="http://schemas.openxmlformats.org/drawingml/2006/table">
            <a:tbl>
              <a:tblPr firstRow="1" bandRow="1">
                <a:tableStyleId>{5C22544A-7EE6-4342-B048-85BDC9FD1C3A}</a:tableStyleId>
              </a:tblPr>
              <a:tblGrid>
                <a:gridCol w="3129260"/>
                <a:gridCol w="2679700"/>
                <a:gridCol w="2157710"/>
                <a:gridCol w="1586210"/>
                <a:gridCol w="1413570"/>
              </a:tblGrid>
              <a:tr h="197088">
                <a:tc>
                  <a:txBody>
                    <a:bodyPr wrap="square"/>
                    <a:lstStyle/>
                    <a:p>
                      <a:r>
                        <a:rPr sz="800" b="1" i="0">
                          <a:solidFill>
                            <a:srgbClr val="F4F1EA"/>
                          </a:solidFill>
                          <a:latin typeface="Arial"/>
                          <a:ea typeface="Malgun Gothic"/>
                          <a:cs typeface="Malgun Gothic"/>
                        </a:rPr>
                        <a:t>스택</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curb_ramp 레벨 3 (오프셋별)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짝 비교 대 DAgger 단독</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폴백이 이긴 계획</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도달 시간 평균</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planner_df+mppi (RL + 폴백)</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30/30</a:t>
                      </a:r>
                      <a:r>
                        <a:rPr sz="800" b="0" i="0">
                          <a:solidFill>
                            <a:srgbClr val="16213A"/>
                          </a:solidFill>
                          <a:latin typeface="Arial"/>
                          <a:ea typeface="Malgun Gothic"/>
                          <a:cs typeface="Malgun Gothic"/>
                        </a:rPr>
                        <a:t> (10 · 10 · 10)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 : 10, p = 0.002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42%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28.9 s</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guidance+mppi</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29/30 (9 · 10 · 10)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 : 10, p = 0.012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28.0 s</a:t>
                      </a:r>
                    </a:p>
                  </a:txBody>
                  <a:tcPr marL="63500" marR="63500" marT="12700" marB="12700">
                    <a:solidFill>
                      <a:srgbClr val="F3F0E8"/>
                    </a:solidFill>
                  </a:tcPr>
                </a:tc>
              </a:tr>
            </a:tbl>
          </a:graphicData>
        </a:graphic>
      </p:graphicFrame>
      <p:graphicFrame>
        <p:nvGraphicFramePr>
          <p:cNvPr id="6" name="Table 5"/>
          <p:cNvGraphicFramePr>
            <a:graphicFrameLocks noGrp="1"/>
          </p:cNvGraphicFramePr>
          <p:nvPr/>
        </p:nvGraphicFramePr>
        <p:xfrm>
          <a:off x="609600" y="2078930"/>
          <a:ext cx="10966449" cy="788352"/>
        </p:xfrm>
        <a:graphic>
          <a:graphicData uri="http://schemas.openxmlformats.org/drawingml/2006/table">
            <a:tbl>
              <a:tblPr firstRow="1" bandRow="1">
                <a:tableStyleId>{5C22544A-7EE6-4342-B048-85BDC9FD1C3A}</a:tableStyleId>
              </a:tblPr>
              <a:tblGrid>
                <a:gridCol w="1774924"/>
                <a:gridCol w="2073275"/>
                <a:gridCol w="2073275"/>
                <a:gridCol w="2894905"/>
                <a:gridCol w="2150070"/>
              </a:tblGrid>
              <a:tr h="197088">
                <a:tc>
                  <a:txBody>
                    <a:bodyPr wrap="square"/>
                    <a:lstStyle/>
                    <a:p>
                      <a:r>
                        <a:rPr sz="800" b="1" i="0">
                          <a:solidFill>
                            <a:srgbClr val="F4F1EA"/>
                          </a:solidFill>
                          <a:latin typeface="Arial"/>
                          <a:ea typeface="Malgun Gothic"/>
                          <a:cs typeface="Malgun Gothic"/>
                        </a:rPr>
                        <a:t>스택</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벤치마크 레벨 0</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벤치마크 레벨 3</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보행자 3명 (seed 0–5)</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보행자 최소 여유</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DAgger 단독</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12/12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12/12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24/24, 충돌 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0.14 m</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RL 단독</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12/12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12/12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24/24, 충돌 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0.18 m</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RL + 폴백</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12/12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12/12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24/24, 충돌 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0.24 m</a:t>
                      </a:r>
                    </a:p>
                  </a:txBody>
                  <a:tcPr marL="63500" marR="63500" marT="12700" marB="12700">
                    <a:solidFill>
                      <a:srgbClr val="FFFDF8"/>
                    </a:solidFill>
                  </a:tcPr>
                </a:tc>
              </a:tr>
            </a:tbl>
          </a:graphicData>
        </a:graphic>
      </p:graphicFrame>
      <p:sp>
        <p:nvSpPr>
          <p:cNvPr id="7" name="TextBox 6"/>
          <p:cNvSpPr txBox="1"/>
          <p:nvPr/>
        </p:nvSpPr>
        <p:spPr>
          <a:xfrm>
            <a:off x="609600" y="3159621"/>
            <a:ext cx="10972800" cy="916781"/>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RL 후학습은 학습 표본을 낫게 만든다. 단독 도달이 늘고, 폴백과 함께 쓸 때 Guidance 경로에 기대는 계획이 준다. 도달도 7 s 빨라진다.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단독 26/30은 판정 기준(27/30)에 못 미치고, 짝 비교도 p = 0.07이다. 보행자 최소 여유 0.18 m도 기준(0.2 m)에 조금 못 미친다.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지금 가장 좋은 학습 스택은 RL 체크포인트에 폴백을 켠 것이다. 30 에피소드를 모두 도달하고 Guidance만큼 빠르다. 보행자 최소 여유도 0.24 m로 기준(0.2 m)을 넘는다. 레벨 0 벤치마크에서 폴백이 이긴 계획은 14%다(DAgger + 폴백 13%).</a:t>
            </a:r>
          </a:p>
        </p:txBody>
      </p:sp>
      <p:sp>
        <p:nvSpPr>
          <p:cNvPr id="8" name="TextBox 7"/>
          <p:cNvSpPr txBox="1"/>
          <p:nvPr/>
        </p:nvSpPr>
        <p:spPr>
          <a:xfrm>
            <a:off x="717550" y="4165302"/>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정직하게 적어 둘 것</a:t>
            </a:r>
          </a:p>
        </p:txBody>
      </p:sp>
      <p:sp>
        <p:nvSpPr>
          <p:cNvPr id="9" name="TextBox 8"/>
          <p:cNvSpPr txBox="1"/>
          <p:nvPr/>
        </p:nvSpPr>
        <p:spPr>
          <a:xfrm>
            <a:off x="609600" y="4468515"/>
            <a:ext cx="10972800" cy="700286"/>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학습은 한 번만 돌렸다(seed 2000). 라운드 수, 지도 수, λ, 보상 가중치는 바꾸지 않았다.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RL 단독의 개선이 잡음 바닥 밖이라고 말할 수는 없다(p = 0.07). 같은 30 에피소드에서 폴백과 함께 재면 Guidance 의존이 줄어드는 것으로 보인다.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체크포인트 </a:t>
            </a:r>
            <a:r>
              <a:rPr sz="1050" b="0" i="0">
                <a:solidFill>
                  <a:srgbClr val="16213A"/>
                </a:solidFill>
                <a:latin typeface="Consolas"/>
                <a:ea typeface="Malgun Gothic"/>
                <a:cs typeface="Malgun Gothic"/>
              </a:rPr>
              <a:t>planner_d_L0123_rl.pt</a:t>
            </a:r>
            <a:r>
              <a:rPr sz="1050" b="0" i="0">
                <a:solidFill>
                  <a:srgbClr val="16213A"/>
                </a:solidFill>
                <a:latin typeface="Arial"/>
                <a:ea typeface="Malgun Gothic"/>
                <a:cs typeface="Malgun Gothic"/>
              </a:rPr>
              <a:t>는 릴리스 </a:t>
            </a:r>
            <a:r>
              <a:rPr sz="1050" b="0" i="0">
                <a:solidFill>
                  <a:srgbClr val="16213A"/>
                </a:solidFill>
                <a:latin typeface="Consolas"/>
                <a:ea typeface="Malgun Gothic"/>
                <a:cs typeface="Malgun Gothic"/>
              </a:rPr>
              <a:t>ckpt-2026-10-03</a:t>
            </a:r>
            <a:r>
              <a:rPr sz="1050" b="0" i="0">
                <a:solidFill>
                  <a:srgbClr val="16213A"/>
                </a:solidFill>
                <a:latin typeface="Arial"/>
                <a:ea typeface="Malgun Gothic"/>
                <a:cs typeface="Malgun Gothic"/>
              </a:rPr>
              <a:t>에 올렸다(sha256 585eb577…). 다시 학습해도 12분이지만, 병렬 rollout이라 같은 가중치가 나온다는 보장은 없다.</a:t>
            </a:r>
          </a:p>
        </p:txBody>
      </p:sp>
    </p:spTree>
  </p:cSld>
  <p:clrMapOvr>
    <a:masterClrMapping/>
  </p:clrMapOvr>
</p:sld>
</file>

<file path=ppt/slides/slide51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작업 기록 · B.15 작업 기록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B.15.4 지형 난이도 레벨 0–3 스윕과 Planner D 진단 (TP-0039·TP-0074)</a:t>
            </a:r>
            <a:r>
              <a:rPr sz="1050" b="0" i="0">
                <a:solidFill>
                  <a:srgbClr val="5A6478"/>
                </a:solidFill>
                <a:latin typeface="Arial"/>
                <a:ea typeface="Malgun Gothic"/>
                <a:cs typeface="Malgun Gothic"/>
              </a:rPr>
              <a:t>  1/3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510 / 516</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한 줄로.</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레벨이 오를수록 세 스택 모두 1–4개씩 잃고, 실패는 모두 시간 초과다. 실패는 세 스택이 같은 몇 지형에 모인다.</a:t>
            </a:r>
            <a:r>
              <a:rPr sz="1050" b="0" i="0">
                <a:solidFill>
                  <a:srgbClr val="16213A"/>
                </a:solidFill>
                <a:latin typeface="Arial"/>
                <a:ea typeface="Malgun Gothic"/>
                <a:cs typeface="Malgun Gothic"/>
              </a:rPr>
              <a:t> 4 지형 × seed 0–9를 한 번씩 돌렸다. 레벨 3에서 RL + 폴백이 39/40, Guidance가 37/40, Planner D 단독이 36/40이다. 이 차이는 TP-0078의 잡음 바닥보다 작다. Planner D 진단(TP-0074)은 TP-0050의 관계가 레벨 0–3과 네 지형 모두에서 유지된다는 것을 보였다. 실패한 에피소드의 평균 치명 표본 비율은 0.75–0.99이고, 성공은 0.10–0.57이다.</a:t>
            </a:r>
          </a:p>
        </p:txBody>
      </p:sp>
      <p:pic>
        <p:nvPicPr>
          <p:cNvPr id="6" name="Picture 5" descr="image.jpg"/>
          <p:cNvPicPr>
            <a:picLocks noChangeAspect="1"/>
          </p:cNvPicPr>
          <p:nvPr/>
        </p:nvPicPr>
        <p:blipFill>
          <a:blip r:embed="rId3"/>
          <a:stretch>
            <a:fillRect/>
          </a:stretch>
        </p:blipFill>
        <p:spPr>
          <a:xfrm>
            <a:off x="1016000" y="1982986"/>
            <a:ext cx="10160000" cy="3238500"/>
          </a:xfrm>
          <a:prstGeom prst="rect">
            <a:avLst/>
          </a:prstGeom>
        </p:spPr>
      </p:pic>
      <p:sp>
        <p:nvSpPr>
          <p:cNvPr id="7" name="TextBox 6"/>
          <p:cNvSpPr txBox="1"/>
          <p:nvPr/>
        </p:nvSpPr>
        <p:spPr>
          <a:xfrm>
            <a:off x="609600" y="5310386"/>
            <a:ext cx="10972800" cy="432991"/>
          </a:xfrm>
          <a:prstGeom prst="rect">
            <a:avLst/>
          </a:prstGeom>
          <a:noFill/>
        </p:spPr>
        <p:txBody>
          <a:bodyPr wrap="square" lIns="0" rIns="0" tIns="0" bIns="0" anchor="t">
            <a:spAutoFit/>
            <a:normAutofit/>
          </a:bodyPr>
          <a:lstStyle/>
          <a:p>
            <a:r>
              <a:rPr sz="1050" b="0" i="1">
                <a:solidFill>
                  <a:srgbClr val="16213A"/>
                </a:solidFill>
                <a:latin typeface="Arial"/>
                <a:ea typeface="Malgun Gothic"/>
                <a:cs typeface="Malgun Gothic"/>
              </a:rPr>
              <a:t>그림 — TP-0039 (Fig. 1): 왼쪽은 스택별 레벨 0–3 도달 수다(4 지형 × seed 0–9, 40 중). 오른쪽은 Planner D 단독의 에피소드별 평균 치명 표본 비율이다. 큰 X가 시간 초과다. 출처: scripts/make_evidence_figures.py --only tp0039</a:t>
            </a:r>
          </a:p>
        </p:txBody>
      </p:sp>
      <p:sp>
        <p:nvSpPr>
          <p:cNvPr id="8" name="TextBox 7"/>
          <p:cNvSpPr txBox="1"/>
          <p:nvPr/>
        </p:nvSpPr>
        <p:spPr>
          <a:xfrm>
            <a:off x="609600" y="5832277"/>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스택 × 레벨</a:t>
            </a:r>
            <a:r>
              <a:rPr sz="1050" b="0" i="0">
                <a:solidFill>
                  <a:srgbClr val="16213A"/>
                </a:solidFill>
                <a:latin typeface="Arial"/>
                <a:ea typeface="Malgun Gothic"/>
                <a:cs typeface="Malgun Gothic"/>
              </a:rPr>
              <a:t> (실패는 모두 시간 초과, 괄호는 실패한 seed)</a:t>
            </a:r>
          </a:p>
        </p:txBody>
      </p:sp>
    </p:spTree>
  </p:cSld>
  <p:clrMapOvr>
    <a:masterClrMapping/>
  </p:clrMapOvr>
</p:sld>
</file>

<file path=ppt/slides/slide51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작업 기록 · B.15 작업 기록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B.15.4 지형 난이도 레벨 0–3 스윕과 Planner D 진단 (TP-0039·TP-0074)</a:t>
            </a:r>
            <a:r>
              <a:rPr sz="1050" b="0" i="0">
                <a:solidFill>
                  <a:srgbClr val="5A6478"/>
                </a:solidFill>
                <a:latin typeface="Arial"/>
                <a:ea typeface="Malgun Gothic"/>
                <a:cs typeface="Malgun Gothic"/>
              </a:rPr>
              <a:t>  2/3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511 / 516</a:t>
            </a:r>
          </a:p>
        </p:txBody>
      </p:sp>
      <p:graphicFrame>
        <p:nvGraphicFramePr>
          <p:cNvPr id="5" name="Table 4"/>
          <p:cNvGraphicFramePr>
            <a:graphicFrameLocks noGrp="1"/>
          </p:cNvGraphicFramePr>
          <p:nvPr/>
        </p:nvGraphicFramePr>
        <p:xfrm>
          <a:off x="609600" y="1244600"/>
          <a:ext cx="10966450" cy="1182528"/>
        </p:xfrm>
        <a:graphic>
          <a:graphicData uri="http://schemas.openxmlformats.org/drawingml/2006/table">
            <a:tbl>
              <a:tblPr firstRow="1" bandRow="1">
                <a:tableStyleId>{5C22544A-7EE6-4342-B048-85BDC9FD1C3A}</a:tableStyleId>
              </a:tblPr>
              <a:tblGrid>
                <a:gridCol w="2065437"/>
                <a:gridCol w="2981424"/>
                <a:gridCol w="2981424"/>
                <a:gridCol w="2938165"/>
              </a:tblGrid>
              <a:tr h="197088">
                <a:tc>
                  <a:txBody>
                    <a:bodyPr wrap="square"/>
                    <a:lstStyle/>
                    <a:p>
                      <a:r>
                        <a:rPr sz="800" b="1" i="0">
                          <a:solidFill>
                            <a:srgbClr val="F4F1EA"/>
                          </a:solidFill>
                          <a:latin typeface="Arial"/>
                          <a:ea typeface="Malgun Gothic"/>
                          <a:cs typeface="Malgun Gothic"/>
                        </a:rPr>
                        <a:t>지형</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guidance+mppi</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planner_d+mppi (DAgger)</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planner_df+mppi (RL + 폴백)</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curb_ramp</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10 · 10 · 10 · 9 (L3 s8)</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10 · 10 · 10 · 8 (L3 s6·s7)</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10 · 10 · 10 · 10</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bumps_potholes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10 · 9 · 9 · 9 (L1 s6, L2·L3 s4)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10 · 9 · 9 · 9 (L1·L2 s1, L3 s4)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9 · 10 · 9 · 10 (L0 s6, L2 s4)</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slope_crossfall</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10 · 10 · 10 · 10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10 · 10 · 10 · 10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10 · 10 · 10 · 10</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random_mix</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10 · 10 · 9 · 9 (L2·L3 s3)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10 · 10 · 9 · 9 (L2·L3 s3)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10 · 10 · 9 · 9 (L2·L3 s3)</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합 (레벨 0 · 1 · 2 · 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40 · 39 · 38 · 37</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40 · 39 · 38 · 36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39 · 40 · 38 · 39</a:t>
                      </a:r>
                    </a:p>
                  </a:txBody>
                  <a:tcPr marL="63500" marR="63500" marT="12700" marB="12700">
                    <a:solidFill>
                      <a:srgbClr val="FFFDF8"/>
                    </a:solidFill>
                  </a:tcPr>
                </a:tc>
              </a:tr>
            </a:tbl>
          </a:graphicData>
        </a:graphic>
      </p:graphicFrame>
      <p:sp>
        <p:nvSpPr>
          <p:cNvPr id="6" name="TextBox 5"/>
          <p:cNvSpPr txBox="1"/>
          <p:nvPr/>
        </p:nvSpPr>
        <p:spPr>
          <a:xfrm>
            <a:off x="609600" y="281801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Guidance의 실패를 다시 돌렸다.</a:t>
            </a:r>
            <a:r>
              <a:rPr sz="1050" b="0" i="0">
                <a:solidFill>
                  <a:srgbClr val="16213A"/>
                </a:solidFill>
                <a:latin typeface="Arial"/>
                <a:ea typeface="Malgun Gothic"/>
                <a:cs typeface="Malgun Gothic"/>
              </a:rPr>
              <a:t> 같은 에피소드를 Controller 난수만 바꿔 두 번(</a:t>
            </a:r>
            <a:r>
              <a:rPr sz="1050" b="0" i="0">
                <a:solidFill>
                  <a:srgbClr val="16213A"/>
                </a:solidFill>
                <a:latin typeface="Consolas"/>
                <a:ea typeface="Malgun Gothic"/>
                <a:cs typeface="Malgun Gothic"/>
              </a:rPr>
              <a:t>--rng-offset</a:t>
            </a:r>
            <a:r>
              <a:rPr sz="1050" b="0" i="0">
                <a:solidFill>
                  <a:srgbClr val="16213A"/>
                </a:solidFill>
                <a:latin typeface="Arial"/>
                <a:ea typeface="Malgun Gothic"/>
                <a:cs typeface="Malgun Gothic"/>
              </a:rPr>
              <a:t> 1000·2000), 진행 항 끝점 제한을 켜고 한 번(TP-0131) 돌렸다.</a:t>
            </a:r>
          </a:p>
        </p:txBody>
      </p:sp>
      <p:graphicFrame>
        <p:nvGraphicFramePr>
          <p:cNvPr id="7" name="Table 6"/>
          <p:cNvGraphicFramePr>
            <a:graphicFrameLocks noGrp="1"/>
          </p:cNvGraphicFramePr>
          <p:nvPr/>
        </p:nvGraphicFramePr>
        <p:xfrm>
          <a:off x="609600" y="3123406"/>
          <a:ext cx="10966450" cy="1379616"/>
        </p:xfrm>
        <a:graphic>
          <a:graphicData uri="http://schemas.openxmlformats.org/drawingml/2006/table">
            <a:tbl>
              <a:tblPr firstRow="1" bandRow="1">
                <a:tableStyleId>{5C22544A-7EE6-4342-B048-85BDC9FD1C3A}</a:tableStyleId>
              </a:tblPr>
              <a:tblGrid>
                <a:gridCol w="3257054"/>
                <a:gridCol w="1639590"/>
                <a:gridCol w="1639590"/>
                <a:gridCol w="1468239"/>
                <a:gridCol w="2961977"/>
              </a:tblGrid>
              <a:tr h="197088">
                <a:tc>
                  <a:txBody>
                    <a:bodyPr wrap="square"/>
                    <a:lstStyle/>
                    <a:p>
                      <a:r>
                        <a:rPr sz="800" b="1" i="0">
                          <a:solidFill>
                            <a:srgbClr val="F4F1EA"/>
                          </a:solidFill>
                          <a:latin typeface="Arial"/>
                          <a:ea typeface="Malgun Gothic"/>
                          <a:cs typeface="Malgun Gothic"/>
                        </a:rPr>
                        <a:t>Guidance 실패</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난수 1000</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난수 2000</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끝점 제한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읽기</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curb_ramp L3 s8</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도달</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도달</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도달</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잡음(경사로 앞 맴돌기)</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bumps_potholes L1 s6</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도달</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도달</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시간 초과</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잡음</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bumps_potholes L2 s4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시간 초과</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도달</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시간 초과</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대체로 실패</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bumps_potholes L3 s4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시간 초과</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시간 초과</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도달</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대체로 실패</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random_mix L2 s3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시간 초과</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시간 초과</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시간 초과</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결정적</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random_mix L3 s3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시간 초과</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시간 초과</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시간 초과</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결정적</a:t>
                      </a:r>
                    </a:p>
                  </a:txBody>
                  <a:tcPr marL="63500" marR="63500" marT="12700" marB="12700">
                    <a:solidFill>
                      <a:srgbClr val="F3F0E8"/>
                    </a:solidFill>
                  </a:tcPr>
                </a:tc>
              </a:tr>
            </a:tbl>
          </a:graphicData>
        </a:graphic>
      </p:graphicFrame>
      <p:sp>
        <p:nvSpPr>
          <p:cNvPr id="8" name="TextBox 7"/>
          <p:cNvSpPr txBox="1"/>
          <p:nvPr/>
        </p:nvSpPr>
        <p:spPr>
          <a:xfrm>
            <a:off x="609600" y="4943177"/>
            <a:ext cx="10972800" cy="1133277"/>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여섯 장면 모두 GT 지도에서는 목표에 닿는 Dijkstra 경로가 있다. 그래서 실패는 지형이 막혀서가 아니라 인식이나 Controller 쪽이다.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random_mix s3의 레벨 2·3은 세 스택이 모두, 난수를 바꿔도 같은 자리(x 4.5 m, y 5.2 m)에서 멈춘다. 레벨 2부터 더해지는 상자(x 5 m 이상, y 4–6 m)의 왼쪽 면 앞이다. GT 경로는 상자 아래(y 3.6 m)로 지나간다. 원인은 따로 가른다(TP-0141).</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bumps_potholes와 random_mix의 실패도 Planner D 진단에서는 치명 표본 비율이 0.95–0.99다. Guidance 폴백(TP-0078)이 켜지는 조건이고, RL + 폴백이 bumps L1 s1·L3 s4를 살렸다.</a:t>
            </a:r>
          </a:p>
        </p:txBody>
      </p:sp>
    </p:spTree>
  </p:cSld>
  <p:clrMapOvr>
    <a:masterClrMapping/>
  </p:clrMapOvr>
</p:sld>
</file>

<file path=ppt/slides/slide51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작업 기록 · B.15 작업 기록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B.15.4 지형 난이도 레벨 0–3 스윕과 Planner D 진단 (TP-0039·TP-0074)</a:t>
            </a:r>
            <a:r>
              <a:rPr sz="1050" b="0" i="0">
                <a:solidFill>
                  <a:srgbClr val="5A6478"/>
                </a:solidFill>
                <a:latin typeface="Arial"/>
                <a:ea typeface="Malgun Gothic"/>
                <a:cs typeface="Malgun Gothic"/>
              </a:rPr>
              <a:t>  3/3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512 / 516</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정직하게 적어 둘 것.</a:t>
            </a:r>
            <a:r>
              <a:rPr sz="1050" b="0" i="0">
                <a:solidFill>
                  <a:srgbClr val="16213A"/>
                </a:solidFill>
                <a:latin typeface="Arial"/>
                <a:ea typeface="Malgun Gothic"/>
                <a:cs typeface="Malgun Gothic"/>
              </a:rPr>
              <a:t> 스윕은 지형마다 한 번씩만 돌렸다. 스택 사이의 1–3개 차이는 같은 스택을 다시 돌릴 때 생기는 차이와 구별되지 않는다. 경계를 말할 수 있는 것은 "레벨 3까지 급격한 붕괴가 없다"는 것뿐이다.</a:t>
            </a:r>
          </a:p>
        </p:txBody>
      </p:sp>
      <p:sp>
        <p:nvSpPr>
          <p:cNvPr id="6" name="TextBox 5"/>
          <p:cNvSpPr txBox="1"/>
          <p:nvPr/>
        </p:nvSpPr>
        <p:spPr>
          <a:xfrm>
            <a:off x="609600" y="1766491"/>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TP-0050의 관계는 curb_ramp 레벨 3 seed 0에서 처음 보였다(2026-09-29).</a:t>
            </a:r>
            <a:r>
              <a:rPr sz="1050" b="0" i="0">
                <a:solidFill>
                  <a:srgbClr val="16213A"/>
                </a:solidFill>
                <a:latin typeface="Arial"/>
                <a:ea typeface="Malgun Gothic"/>
                <a:cs typeface="Malgun Gothic"/>
              </a:rPr>
              <a:t> 레벨 0 시연만 배운 Planner D는 경사로를 찾지 못하고 연석 앞을 오가다 60 s에 시간 초과했다. MPPI가 시간 참조 대신 경로 참조로 따라가도 seed 0–2의 성공 수는 같았다(각 2/3). 그래서 원인은 추종이 아니라 생성기였다. 실패한 에피소드는 모두 치명 표본 비율이 0.8을 넘었다. 레벨 0–3 시연과 레벨 무작위 DAgger로 다시 배운 Planner D(TP-0073·TP-0075)는 같은 seed에서 24.9 s에 도달했다. curb_ramp 레벨 3 seed 0–9로는 7/10에서 8/10이 됐다. 남은 실패는 Guidance 폴백(B.15.2)과 RL 후학습(B.15.3)이 이어받았다.</a:t>
            </a:r>
          </a:p>
        </p:txBody>
      </p:sp>
      <p:pic>
        <p:nvPicPr>
          <p:cNvPr id="7" name="Picture 6" descr="image.png"/>
          <p:cNvPicPr>
            <a:picLocks noChangeAspect="1"/>
          </p:cNvPicPr>
          <p:nvPr/>
        </p:nvPicPr>
        <p:blipFill>
          <a:blip r:embed="rId3"/>
          <a:stretch>
            <a:fillRect/>
          </a:stretch>
        </p:blipFill>
        <p:spPr>
          <a:xfrm>
            <a:off x="609600" y="2721372"/>
            <a:ext cx="5410200" cy="1733550"/>
          </a:xfrm>
          <a:prstGeom prst="rect">
            <a:avLst/>
          </a:prstGeom>
        </p:spPr>
      </p:pic>
      <p:sp>
        <p:nvSpPr>
          <p:cNvPr id="8" name="TextBox 7"/>
          <p:cNvSpPr txBox="1"/>
          <p:nvPr/>
        </p:nvSpPr>
        <p:spPr>
          <a:xfrm>
            <a:off x="609600" y="4493022"/>
            <a:ext cx="5410200" cy="568722"/>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TP-0050 (Fig. 1): curb_ramp 레벨 3 seed 0이다. 2026-09-29에는 이 장면이 병목이었다. 왼쪽 guidance+mppi는 25.9 s에 도달했다. 오른쪽 planner_d+mppi(레벨 0 시연만 배운 Planner D)는 경사로를 찾지 못하고 연석 앞을 오가다 60 s에 시간 초과했다. 흰 선이 지나온 길, 노란 선이 그 순간의 계획, 빨간 칸이 치명 셀이다. 출처: scripts/make_evidence_figures.py --only tp0050</a:t>
            </a:r>
          </a:p>
        </p:txBody>
      </p:sp>
      <p:pic>
        <p:nvPicPr>
          <p:cNvPr id="9" name="Picture 8" descr="image.png"/>
          <p:cNvPicPr>
            <a:picLocks noChangeAspect="1"/>
          </p:cNvPicPr>
          <p:nvPr/>
        </p:nvPicPr>
        <p:blipFill>
          <a:blip r:embed="rId4"/>
          <a:stretch>
            <a:fillRect/>
          </a:stretch>
        </p:blipFill>
        <p:spPr>
          <a:xfrm>
            <a:off x="6172200" y="2721372"/>
            <a:ext cx="5410200" cy="1733550"/>
          </a:xfrm>
          <a:prstGeom prst="rect">
            <a:avLst/>
          </a:prstGeom>
        </p:spPr>
      </p:pic>
      <p:sp>
        <p:nvSpPr>
          <p:cNvPr id="10" name="TextBox 9"/>
          <p:cNvSpPr txBox="1"/>
          <p:nvPr/>
        </p:nvSpPr>
        <p:spPr>
          <a:xfrm>
            <a:off x="6172200" y="4493022"/>
            <a:ext cx="5410200" cy="42654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TP-0073 (Fig. 1): 같은 장면의 planner_d+mppi다. 왼쪽은 레벨 0 시연만 배운 Planner D로, 60 s에 시간 초과했다. 오른쪽은 레벨 0–3 시연과 레벨 무작위 DAgger로 다시 배운 Planner D(TP-0075)로, 24.9 s에 도달했다. 출처: scripts/make_evidence_figures.py --only tp0073</a:t>
            </a:r>
          </a:p>
        </p:txBody>
      </p:sp>
    </p:spTree>
  </p:cSld>
  <p:clrMapOvr>
    <a:masterClrMapping/>
  </p:clrMapOvr>
</p:sld>
</file>

<file path=ppt/slides/slide51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작업 기록 · B.15 작업 기록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B.15.5 RL 후학습을 더 돌려도 curb_ramp 레벨 3은 늘지 않는다 (TP-0138)</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513 / 516</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한 줄로.</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1단계(TP-0066)의 처방을 두 방식으로 더 돌렸지만 단독 도달은 26/30 그대로다. 폴백에 기대는 계획은 오히려 42%에서 46–48%로 늘었다.</a:t>
            </a:r>
            <a:r>
              <a:rPr sz="1050" b="0" i="0">
                <a:solidFill>
                  <a:srgbClr val="16213A"/>
                </a:solidFill>
                <a:latin typeface="Arial"/>
                <a:ea typeface="Malgun Gothic"/>
                <a:cs typeface="Malgun Gothic"/>
              </a:rPr>
              <a:t> 판정 기준(단독 27/30 이상, 또는 폴백이 이긴 계획 비율 절반)을 둘 다 넘지 못했다. 1단계 체크포인트(</a:t>
            </a:r>
            <a:r>
              <a:rPr sz="1050" b="0" i="0">
                <a:solidFill>
                  <a:srgbClr val="16213A"/>
                </a:solidFill>
                <a:latin typeface="Consolas"/>
                <a:ea typeface="Malgun Gothic"/>
                <a:cs typeface="Malgun Gothic"/>
              </a:rPr>
              <a:t>planner_d_L0123_rl.pt</a:t>
            </a:r>
            <a:r>
              <a:rPr sz="1050" b="0" i="0">
                <a:solidFill>
                  <a:srgbClr val="16213A"/>
                </a:solidFill>
                <a:latin typeface="Arial"/>
                <a:ea typeface="Malgun Gothic"/>
                <a:cs typeface="Malgun Gothic"/>
              </a:rPr>
              <a:t>)를 그대로 쓴다.</a:t>
            </a:r>
          </a:p>
        </p:txBody>
      </p:sp>
      <p:pic>
        <p:nvPicPr>
          <p:cNvPr id="6" name="Picture 5" descr="image.jpg"/>
          <p:cNvPicPr>
            <a:picLocks noChangeAspect="1"/>
          </p:cNvPicPr>
          <p:nvPr/>
        </p:nvPicPr>
        <p:blipFill>
          <a:blip r:embed="rId3"/>
          <a:stretch>
            <a:fillRect/>
          </a:stretch>
        </p:blipFill>
        <p:spPr>
          <a:xfrm>
            <a:off x="1016000" y="1766491"/>
            <a:ext cx="10160000" cy="3060700"/>
          </a:xfrm>
          <a:prstGeom prst="rect">
            <a:avLst/>
          </a:prstGeom>
        </p:spPr>
      </p:pic>
      <p:sp>
        <p:nvSpPr>
          <p:cNvPr id="7" name="TextBox 6"/>
          <p:cNvSpPr txBox="1"/>
          <p:nvPr/>
        </p:nvSpPr>
        <p:spPr>
          <a:xfrm>
            <a:off x="609600" y="4916091"/>
            <a:ext cx="10972800" cy="432991"/>
          </a:xfrm>
          <a:prstGeom prst="rect">
            <a:avLst/>
          </a:prstGeom>
          <a:noFill/>
        </p:spPr>
        <p:txBody>
          <a:bodyPr wrap="square" lIns="0" rIns="0" tIns="0" bIns="0" anchor="t">
            <a:spAutoFit/>
            <a:normAutofit/>
          </a:bodyPr>
          <a:lstStyle/>
          <a:p>
            <a:r>
              <a:rPr sz="1050" b="0" i="1">
                <a:solidFill>
                  <a:srgbClr val="16213A"/>
                </a:solidFill>
                <a:latin typeface="Arial"/>
                <a:ea typeface="Malgun Gothic"/>
                <a:cs typeface="Malgun Gothic"/>
              </a:rPr>
              <a:t>그림 — TP-0138 (Fig. 1): 1단계와 두 후속 시도의 curb_ramp 레벨 3 도달(30 에피소드, 단독과 폴백), 폴백이 이긴 계획의 비율, 보행자 최소 여유다. 출처: scripts/make_evidence_figures.py --only tp0138</a:t>
            </a:r>
          </a:p>
        </p:txBody>
      </p:sp>
      <p:graphicFrame>
        <p:nvGraphicFramePr>
          <p:cNvPr id="8" name="Table 7"/>
          <p:cNvGraphicFramePr>
            <a:graphicFrameLocks noGrp="1"/>
          </p:cNvGraphicFramePr>
          <p:nvPr/>
        </p:nvGraphicFramePr>
        <p:xfrm>
          <a:off x="609600" y="5437981"/>
          <a:ext cx="10966450" cy="591264"/>
        </p:xfrm>
        <a:graphic>
          <a:graphicData uri="http://schemas.openxmlformats.org/drawingml/2006/table">
            <a:tbl>
              <a:tblPr firstRow="1" bandRow="1">
                <a:tableStyleId>{5C22544A-7EE6-4342-B048-85BDC9FD1C3A}</a:tableStyleId>
              </a:tblPr>
              <a:tblGrid>
                <a:gridCol w="1488480"/>
                <a:gridCol w="2145109"/>
                <a:gridCol w="1499890"/>
                <a:gridCol w="724495"/>
                <a:gridCol w="1394520"/>
                <a:gridCol w="1799034"/>
                <a:gridCol w="1914922"/>
              </a:tblGrid>
              <a:tr h="197088">
                <a:tc>
                  <a:txBody>
                    <a:bodyPr wrap="square"/>
                    <a:lstStyle/>
                    <a:p>
                      <a:r>
                        <a:rPr sz="800" b="1" i="0">
                          <a:solidFill>
                            <a:srgbClr val="F4F1EA"/>
                          </a:solidFill>
                          <a:latin typeface="Arial"/>
                          <a:ea typeface="Malgun Gothic"/>
                          <a:cs typeface="Malgun Gothic"/>
                        </a:rPr>
                        <a:t>시도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학습</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단독 (짝 대 1단계)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 폴백</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폴백이 이긴 계획</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벤치마크 L0·L3 (단독)</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보행자 (단독)</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1단계 (TP-0066)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모든 지형 L0–3, 3 라운드</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26/30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30/30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42%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24/24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24/24, 0.18 m</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2단계</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curb_ramp L3만, 6 라운드</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26/30 (4 : 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28/30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48%</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22/24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24/24, 0.11 m</a:t>
                      </a:r>
                    </a:p>
                  </a:txBody>
                  <a:tcPr marL="63500" marR="63500" marT="12700" marB="12700">
                    <a:solidFill>
                      <a:srgbClr val="F3F0E8"/>
                    </a:solidFill>
                  </a:tcPr>
                </a:tc>
              </a:tr>
            </a:tbl>
          </a:graphicData>
        </a:graphic>
      </p:graphicFrame>
    </p:spTree>
  </p:cSld>
  <p:clrMapOvr>
    <a:masterClrMapping/>
  </p:clrMapOvr>
</p:sld>
</file>

<file path=ppt/slides/slide51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작업 기록 · B.15 작업 기록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B.15.5 RL 후학습을 더 돌려도 curb_ramp 레벨 3은 늘지 않는다 (TP-0138)</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514 / 516</a:t>
            </a:r>
          </a:p>
        </p:txBody>
      </p:sp>
      <p:graphicFrame>
        <p:nvGraphicFramePr>
          <p:cNvPr id="5" name="Table 4"/>
          <p:cNvGraphicFramePr>
            <a:graphicFrameLocks noGrp="1"/>
          </p:cNvGraphicFramePr>
          <p:nvPr/>
        </p:nvGraphicFramePr>
        <p:xfrm>
          <a:off x="609600" y="1244600"/>
          <a:ext cx="10966450" cy="394176"/>
        </p:xfrm>
        <a:graphic>
          <a:graphicData uri="http://schemas.openxmlformats.org/drawingml/2006/table">
            <a:tbl>
              <a:tblPr firstRow="1" bandRow="1">
                <a:tableStyleId>{5C22544A-7EE6-4342-B048-85BDC9FD1C3A}</a:tableStyleId>
              </a:tblPr>
              <a:tblGrid>
                <a:gridCol w="1488480"/>
                <a:gridCol w="2145109"/>
                <a:gridCol w="1499890"/>
                <a:gridCol w="724495"/>
                <a:gridCol w="1394520"/>
                <a:gridCol w="1799034"/>
                <a:gridCol w="1914922"/>
              </a:tblGrid>
              <a:tr h="197088">
                <a:tc>
                  <a:txBody>
                    <a:bodyPr wrap="square"/>
                    <a:lstStyle/>
                    <a:p>
                      <a:r>
                        <a:rPr sz="800" b="1" i="0">
                          <a:solidFill>
                            <a:srgbClr val="F4F1EA"/>
                          </a:solidFill>
                          <a:latin typeface="Arial"/>
                          <a:ea typeface="Malgun Gothic"/>
                          <a:cs typeface="Malgun Gothic"/>
                        </a:rPr>
                        <a:t>시도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학습</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단독 (짝 대 1단계)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 폴백</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폴백이 이긴 계획</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벤치마크 L0·L3 (단독)</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보행자 (단독)</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재시도</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모든 지형 L2–3, 3 라운드</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26/30 (3 : 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27/30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46%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24/24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23/24(치명 1), 0.15 m</a:t>
                      </a:r>
                    </a:p>
                  </a:txBody>
                  <a:tcPr marL="63500" marR="63500" marT="12700" marB="12700">
                    <a:solidFill>
                      <a:srgbClr val="FFFDF8"/>
                    </a:solidFill>
                  </a:tcPr>
                </a:tc>
              </a:tr>
            </a:tbl>
          </a:graphicData>
        </a:graphic>
      </p:graphicFrame>
      <p:sp>
        <p:nvSpPr>
          <p:cNvPr id="6" name="TextBox 5"/>
          <p:cNvSpPr txBox="1"/>
          <p:nvPr/>
        </p:nvSpPr>
        <p:spPr>
          <a:xfrm>
            <a:off x="609600" y="1832570"/>
            <a:ext cx="10972800" cy="1375172"/>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2단계는 curb_ramp 레벨 3 지형만으로 학습했다. 학습 rollout의 MPPI 도달이 라운드마다 55에서 47/64로 줄었고, 평균 보상은 −3.30에서 −2.84로 올랐다. 후보의 치명 비율이 줄어도(0.55 → 0.50) 폐루프 도달은 늘지 않았다. 벤치마크 22/24의 실패 둘은 같은 curb_ramp L3 seed라 다른 지형을 잊은 것은 아니다.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재시도는 지형을 넓히고 레벨을 2–3으로 올렸다. 벤치마크는 24/24로 돌아왔지만 curb_ramp L3는 그대로다.</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해석. 이 보상은 한 계획 시점에서 belief로 뽑은 후보(4 s 개루프 rollout)를 GT 지도로 한 번 채점한다. 경사로를 지나친 뒤 되돌아가는 몇 초짜리 재탐색을 직접 보상하지 못한다. 재탐색 상황 자체를 학습 데이터로 만드는 쪽이 다음 수다. 예를 들어 경사로를 지나친 상태에서 rollout을 시작하는 리셋 커리큘럼이다(TP-0143).</a:t>
            </a:r>
          </a:p>
          <a:p>
            <a:pPr>
              <a:spcBef>
                <a:spcPts val="200"/>
              </a:spcBef>
            </a:pPr>
            <a:r>
              <a:rPr sz="1050" b="0" i="0">
                <a:solidFill>
                  <a:srgbClr val="5A6478"/>
                </a:solidFill>
                <a:latin typeface="Arial"/>
                <a:ea typeface="Malgun Gothic"/>
                <a:cs typeface="Malgun Gothic"/>
              </a:rPr>
              <a:t>• </a:t>
            </a:r>
            <a:r>
              <a:rPr sz="1050" b="0" i="0">
                <a:solidFill>
                  <a:srgbClr val="16213A"/>
                </a:solidFill>
                <a:latin typeface="Arial"/>
                <a:ea typeface="Malgun Gothic"/>
                <a:cs typeface="Malgun Gothic"/>
              </a:rPr>
              <a:t>두 체크포인트(</a:t>
            </a:r>
            <a:r>
              <a:rPr sz="1050" b="0" i="0">
                <a:solidFill>
                  <a:srgbClr val="16213A"/>
                </a:solidFill>
                <a:latin typeface="Consolas"/>
                <a:ea typeface="Malgun Gothic"/>
                <a:cs typeface="Malgun Gothic"/>
              </a:rPr>
              <a:t>planner_d_L0123_rl2.pt</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_rl2b.pt</a:t>
            </a:r>
            <a:r>
              <a:rPr sz="1050" b="0" i="0">
                <a:solidFill>
                  <a:srgbClr val="16213A"/>
                </a:solidFill>
                <a:latin typeface="Arial"/>
                <a:ea typeface="Malgun Gothic"/>
                <a:cs typeface="Malgun Gothic"/>
              </a:rPr>
              <a:t>)는 릴리스에 올리지 않는다.</a:t>
            </a:r>
          </a:p>
        </p:txBody>
      </p:sp>
    </p:spTree>
  </p:cSld>
  <p:clrMapOvr>
    <a:masterClrMapping/>
  </p:clrMapOvr>
</p:sld>
</file>

<file path=ppt/slides/slide51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작업 기록 · B.15 작업 기록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B.15.6 경사로를 지나친 상태에서 시작하는 DAgger도 단독 성적을 올리지 못했다 (TP-0143)</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515 / 516</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한 줄로.</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사용자 결정 1A(재탐색 상태 DAgger)를 두 방식으로 돌렸지만 curb_ramp 레벨 3 단독은 둘 다 23/30이다(RL 1단계 26/30, 차이는 잡음 안).</a:t>
            </a:r>
            <a:r>
              <a:rPr sz="1050" b="0" i="0">
                <a:solidFill>
                  <a:srgbClr val="16213A"/>
                </a:solidFill>
                <a:latin typeface="Arial"/>
                <a:ea typeface="Malgun Gothic"/>
                <a:cs typeface="Malgun Gothic"/>
              </a:rPr>
              <a:t> 표본을 늘려도(K 16 → 64: 24/30) 나아지지 않고, cost 안내 샘플링(</a:t>
            </a:r>
            <a:r>
              <a:rPr sz="1050" b="0" i="0">
                <a:solidFill>
                  <a:srgbClr val="16213A"/>
                </a:solidFill>
                <a:latin typeface="Consolas"/>
                <a:ea typeface="Malgun Gothic"/>
                <a:cs typeface="Malgun Gothic"/>
              </a:rPr>
              <a:t>planner_dg</a:t>
            </a:r>
            <a:r>
              <a:rPr sz="1050" b="0" i="0">
                <a:solidFill>
                  <a:srgbClr val="16213A"/>
                </a:solidFill>
                <a:latin typeface="Arial"/>
                <a:ea typeface="Malgun Gothic"/>
                <a:cs typeface="Malgun Gothic"/>
              </a:rPr>
              <a:t>)은 3/30으로 무너진다. 학습 쪽 네 시도(TP-0138 둘, TP-0143 둘)가 모두 1단계를 넘지 못했다.</a:t>
            </a:r>
          </a:p>
        </p:txBody>
      </p:sp>
      <p:pic>
        <p:nvPicPr>
          <p:cNvPr id="6" name="Picture 5" descr="image.jpg"/>
          <p:cNvPicPr>
            <a:picLocks noChangeAspect="1"/>
          </p:cNvPicPr>
          <p:nvPr/>
        </p:nvPicPr>
        <p:blipFill>
          <a:blip r:embed="rId3"/>
          <a:stretch>
            <a:fillRect/>
          </a:stretch>
        </p:blipFill>
        <p:spPr>
          <a:xfrm>
            <a:off x="1016000" y="1766491"/>
            <a:ext cx="10160000" cy="3390900"/>
          </a:xfrm>
          <a:prstGeom prst="rect">
            <a:avLst/>
          </a:prstGeom>
        </p:spPr>
      </p:pic>
      <p:sp>
        <p:nvSpPr>
          <p:cNvPr id="7" name="TextBox 6"/>
          <p:cNvSpPr txBox="1"/>
          <p:nvPr/>
        </p:nvSpPr>
        <p:spPr>
          <a:xfrm>
            <a:off x="609600" y="5246291"/>
            <a:ext cx="10972800" cy="432991"/>
          </a:xfrm>
          <a:prstGeom prst="rect">
            <a:avLst/>
          </a:prstGeom>
          <a:noFill/>
        </p:spPr>
        <p:txBody>
          <a:bodyPr wrap="square" lIns="0" rIns="0" tIns="0" bIns="0" anchor="t">
            <a:spAutoFit/>
            <a:normAutofit/>
          </a:bodyPr>
          <a:lstStyle/>
          <a:p>
            <a:r>
              <a:rPr sz="1050" b="0" i="1">
                <a:solidFill>
                  <a:srgbClr val="16213A"/>
                </a:solidFill>
                <a:latin typeface="Arial"/>
                <a:ea typeface="Malgun Gothic"/>
                <a:cs typeface="Malgun Gothic"/>
              </a:rPr>
              <a:t>그림 — TP-0143 (Fig. 1): RL 1단계와 리셋 DAgger 두 시도의 curb_ramp 레벨 3 도달(30 에피소드, 단독과 폴백)과 폴백이 이긴 계획의 비율이다. 출처: scripts/make_evidence_figures.py --only tp0143</a:t>
            </a:r>
          </a:p>
        </p:txBody>
      </p:sp>
    </p:spTree>
  </p:cSld>
  <p:clrMapOvr>
    <a:masterClrMapping/>
  </p:clrMapOvr>
</p:sld>
</file>

<file path=ppt/slides/slide51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Planner · 작업 기록 · B.15 작업 기록</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B.15.6 경사로를 지나친 상태에서 시작하는 DAgger도 단독 성적을 올리지 못했다 (TP-0143)</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Planner (docs/research-planner.md)    516 / 516</a:t>
            </a:r>
          </a:p>
        </p:txBody>
      </p:sp>
      <p:sp>
        <p:nvSpPr>
          <p:cNvPr id="5" name="TextBox 4"/>
          <p:cNvSpPr txBox="1"/>
          <p:nvPr/>
        </p:nvSpPr>
        <p:spPr>
          <a:xfrm>
            <a:off x="609600" y="1244600"/>
            <a:ext cx="10972800" cy="1133277"/>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무엇을 했나.</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dagger_planner_d.py --reset-share 0.5</a:t>
            </a:r>
            <a:r>
              <a:rPr sz="1050" b="0" i="0">
                <a:solidFill>
                  <a:srgbClr val="16213A"/>
                </a:solidFill>
                <a:latin typeface="Arial"/>
                <a:ea typeface="Malgun Gothic"/>
                <a:cs typeface="Malgun Gothic"/>
              </a:rPr>
              <a:t>로 지형의 절반을 curb_ramp(레벨 2·3)의 경사로 너머 도로에서 시작하게 했다. 70%는 경사로를 지나 앞을 보고, 30%는 한 번 돌아와 다시 지나쳐 뒤를 본다. 나머지 절반은 모든 지형 레벨 0–3의 보통 rollout이다. 출발은 RL 1단계, 3 라운드다. 전문가(Guidance + MPPI)가 지나간 상태에 이름표를 붙인다.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첫 시도(멈춘 채 시작).</a:t>
            </a:r>
            <a:r>
              <a:rPr sz="1050" b="0" i="0">
                <a:solidFill>
                  <a:srgbClr val="16213A"/>
                </a:solidFill>
                <a:latin typeface="Arial"/>
                <a:ea typeface="Malgun Gothic"/>
                <a:cs typeface="Malgun Gothic"/>
              </a:rPr>
              <a:t> 학습 중 리셋 rollout의 82%가 혼자 돌아가 올랐다. 평가에서 실패 7건은 모두 7–8 s에 경사로를 지나 그 너머에서 맴돌았다(경사로 위에 있은 시간 0%). 리셋 상태가 실제와 달랐다. 실제로는 약 1 m/s로 달리다 지나친다.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재시도(움직이며 시작).</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OvershootSim</a:t>
            </a:r>
            <a:r>
              <a:rPr sz="1050" b="0" i="0">
                <a:solidFill>
                  <a:srgbClr val="16213A"/>
                </a:solidFill>
                <a:latin typeface="Arial"/>
                <a:ea typeface="Malgun Gothic"/>
                <a:cs typeface="Malgun Gothic"/>
              </a:rPr>
              <a:t>으로 0.3–1.2 m/s로 달리는 중에, 오는 길의 관측을 쌓은 belief로 시작했다(</a:t>
            </a:r>
            <a:r>
              <a:rPr sz="1050" b="0" i="0">
                <a:solidFill>
                  <a:srgbClr val="16213A"/>
                </a:solidFill>
                <a:latin typeface="Consolas"/>
                <a:ea typeface="Malgun Gothic"/>
                <a:cs typeface="Malgun Gothic"/>
              </a:rPr>
              <a:t>--reset-moving</a:t>
            </a:r>
            <a:r>
              <a:rPr sz="1050" b="0" i="0">
                <a:solidFill>
                  <a:srgbClr val="16213A"/>
                </a:solidFill>
                <a:latin typeface="Arial"/>
                <a:ea typeface="Malgun Gothic"/>
                <a:cs typeface="Malgun Gothic"/>
              </a:rPr>
              <a:t>). 결과는 같은 23/30이다.</a:t>
            </a:r>
          </a:p>
        </p:txBody>
      </p:sp>
      <p:graphicFrame>
        <p:nvGraphicFramePr>
          <p:cNvPr id="6" name="Table 5"/>
          <p:cNvGraphicFramePr>
            <a:graphicFrameLocks noGrp="1"/>
          </p:cNvGraphicFramePr>
          <p:nvPr/>
        </p:nvGraphicFramePr>
        <p:xfrm>
          <a:off x="609600" y="2466777"/>
          <a:ext cx="10966451" cy="1182528"/>
        </p:xfrm>
        <a:graphic>
          <a:graphicData uri="http://schemas.openxmlformats.org/drawingml/2006/table">
            <a:tbl>
              <a:tblPr firstRow="1" bandRow="1">
                <a:tableStyleId>{5C22544A-7EE6-4342-B048-85BDC9FD1C3A}</a:tableStyleId>
              </a:tblPr>
              <a:tblGrid>
                <a:gridCol w="2840732"/>
                <a:gridCol w="2870002"/>
                <a:gridCol w="791270"/>
                <a:gridCol w="1523008"/>
                <a:gridCol w="1463477"/>
                <a:gridCol w="1477962"/>
              </a:tblGrid>
              <a:tr h="197088">
                <a:tc>
                  <a:txBody>
                    <a:bodyPr wrap="square"/>
                    <a:lstStyle/>
                    <a:p>
                      <a:r>
                        <a:rPr sz="800" b="1" i="0">
                          <a:solidFill>
                            <a:srgbClr val="F4F1EA"/>
                          </a:solidFill>
                          <a:latin typeface="Arial"/>
                          <a:ea typeface="Malgun Gothic"/>
                          <a:cs typeface="Malgun Gothic"/>
                        </a:rPr>
                        <a:t>시도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curb_ramp L3 단독 (짝 대 1단계)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 폴백</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폴백이 이긴 계획</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벤치마크 L0·L3</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보행자 (단독)</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RL 1단계 (TP-0066)</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26/30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30/30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42%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24/24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24/24, 0.18 m</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리셋 DAgger, 멈춘 채</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23/30 (7 : 4, p = 0.55)</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29/30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45%</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24/24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24/24, 0.18 m</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리셋 DAgger, 움직이며</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23/30 (6 : 3, p = 0.51)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28/30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43%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23/24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24/24, 0.18 m</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진단: 표본 64개 (RL 1단계)</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24/30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진단: cost 안내 샘플링 (RL 1단계)</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3/30 (시간 초과 27)</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r>
            </a:tbl>
          </a:graphicData>
        </a:graphic>
      </p:graphicFrame>
      <p:sp>
        <p:nvSpPr>
          <p:cNvPr id="7" name="TextBox 6"/>
          <p:cNvSpPr txBox="1"/>
          <p:nvPr/>
        </p:nvSpPr>
        <p:spPr>
          <a:xfrm>
            <a:off x="609600" y="4040188"/>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해석.</a:t>
            </a:r>
            <a:r>
              <a:rPr sz="1050" b="0" i="0">
                <a:solidFill>
                  <a:srgbClr val="16213A"/>
                </a:solidFill>
                <a:latin typeface="Arial"/>
                <a:ea typeface="Malgun Gothic"/>
                <a:cs typeface="Malgun Gothic"/>
              </a:rPr>
              <a:t> 학습 데이터(재탐색 상태의 전문가 이름표)와 표본 수가 병목이 아니다. 남은 가설은 모델의 구조다. 관측은 로봇 중심 6.4 m × 6.4 m(±3.2 m)이고 소목표는 3 m로 잘리며, 계획 지평은 4 s다. 실패한 주행은 경사로 끝에서 0.5–4 m 지나 있어 경사로가 관측 가장자리나 밖에 있다. 관측을 넓히거나 지평을 늘리면 처음부터 다시 학습해야 한다(시연 수집 + 학습 + DAgger). 비평가 재시도 규칙에 따라 두 번째 실패에서 멈추고 사용자에게 다음 방향을 묻는다.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travplan 리서치 — Planner</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