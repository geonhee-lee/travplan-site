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 · 토글 '자세히: 절 번호로 탭 찾기(표 14행)'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ros-navigation/navigation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OpenDriveLab/UniAD"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hustvl/DiffusionDrive" TargetMode="External"/><Relationship Id="rId6" Type="http://schemas.openxmlformats.org/officeDocument/2006/relationships/hyperlink" Target="https://github.com/hustvl/VAD" TargetMode="External"/><Relationship Id="rId7" Type="http://schemas.openxmlformats.org/officeDocument/2006/relationships/hyperlink" Target="https://github.com/rst-tu-dortmund/teb_local_planner" TargetMode="External"/><Relationship Id="rId8" Type="http://schemas.openxmlformats.org/officeDocument/2006/relationships/hyperlink" Target="https://github.com/robodhruv/visualnav-transformer" TargetMode="External"/><Relationship Id="rId9" Type="http://schemas.openxmlformats.org/officeDocument/2006/relationships/hyperlink" Target="https://github.com/jannerm/diffuser" TargetMode="External"/><Relationship Id="rId10" Type="http://schemas.openxmlformats.org/officeDocument/2006/relationships/hyperlink" Target="https://github.com/InternRobotics/InternNav" TargetMode="External"/><Relationship Id="rId11" Type="http://schemas.openxmlformats.org/officeDocument/2006/relationships/hyperlink" Target="https://github.com/autonomousvision/navsim" TargetMode="External"/><Relationship Id="rId12" Type="http://schemas.openxmlformats.org/officeDocument/2006/relationships/hyperlink" Target="https://github.com/ZhengYinan-AIR/Diffusion-Planner" TargetMode="External"/><Relationship Id="rId13" Type="http://schemas.openxmlformats.org/officeDocument/2006/relationships/hyperlink" Target="https://github.com/swc-17/SparseDrive" TargetMode="External"/><Relationship Id="rId14" Type="http://schemas.openxmlformats.org/officeDocument/2006/relationships/hyperlink" Target="https://github.com/AnjieCheng/NaVILA" TargetMode="External"/><Relationship Id="rId15" Type="http://schemas.openxmlformats.org/officeDocument/2006/relationships/hyperlink" Target="https://github.com/leggedrobotics/viplanner" TargetMode="External"/><Relationship Id="rId16" Type="http://schemas.openxmlformats.org/officeDocument/2006/relationships/hyperlink" Target="https://github.com/YvanYin/GoalFlow" TargetMode="External"/><Relationship Id="rId17" Type="http://schemas.openxmlformats.org/officeDocument/2006/relationships/hyperlink" Target="https://github.com/NVlabs/Hydra-MDP" TargetMode="External"/><Relationship Id="rId18" Type="http://schemas.openxmlformats.org/officeDocument/2006/relationships/hyperlink" Target="https://github.com/leggedrobotics/iPlanner" TargetMode="External"/><Relationship Id="rId19" Type="http://schemas.openxmlformats.org/officeDocument/2006/relationships/hyperlink" Target="https://github.com/jzhzhang/Uni-NaVid" TargetMode="External"/><Relationship Id="rId20" Type="http://schemas.openxmlformats.org/officeDocument/2006/relationships/hyperlink" Target="https://github.com/joaoamcarvalho/mpd-publi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ai4ce/CityWalk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506.21853"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jpg"/><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3.1286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2.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3.pn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8.jpg"/><Relationship Id="rId4" Type="http://schemas.openxmlformats.org/officeDocument/2006/relationships/image" Target="../media/image49.jpg"/><Relationship Id="rId5" Type="http://schemas.openxmlformats.org/officeDocument/2006/relationships/image" Target="../media/image50.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1.jpg"/><Relationship Id="rId4" Type="http://schemas.openxmlformats.org/officeDocument/2006/relationships/image" Target="../media/image52.jpg"/><Relationship Id="rId5" Type="http://schemas.openxmlformats.org/officeDocument/2006/relationships/image" Target="../media/image5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4.png"/><Relationship Id="rId4" Type="http://schemas.openxmlformats.org/officeDocument/2006/relationships/image" Target="../media/image5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4.png"/><Relationship Id="rId4" Type="http://schemas.openxmlformats.org/officeDocument/2006/relationships/image" Target="../media/image6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6.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8.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79.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0.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2.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83.jpg"/><Relationship Id="rId4" Type="http://schemas.openxmlformats.org/officeDocument/2006/relationships/image" Target="../media/image84.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603.25937"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7.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407.07775"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88.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603.22527"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89.jpg"/><Relationship Id="rId4" Type="http://schemas.openxmlformats.org/officeDocument/2006/relationships/hyperlink" Target="https://arxiv.org/abs/2606.20458"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90.jpg"/><Relationship Id="rId4" Type="http://schemas.openxmlformats.org/officeDocument/2006/relationships/image" Target="../media/image91.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5.05592"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92.jp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93.png"/><Relationship Id="rId4" Type="http://schemas.openxmlformats.org/officeDocument/2006/relationships/image" Target="../media/image9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5.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6.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 Id="rId4" Type="http://schemas.openxmlformats.org/officeDocument/2006/relationships/image" Target="../media/image9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100.jpg"/><Relationship Id="rId4" Type="http://schemas.openxmlformats.org/officeDocument/2006/relationships/hyperlink" Target="https://www.youtube.com/watch?v=l_YT4iP0W8Q"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01.png"/><Relationship Id="rId4" Type="http://schemas.openxmlformats.org/officeDocument/2006/relationships/image" Target="../media/image10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3.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608.11175"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08.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602.0793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2.jpg"/><Relationship Id="rId4" Type="http://schemas.openxmlformats.org/officeDocument/2006/relationships/image" Target="../media/image113.jpg"/><Relationship Id="rId5" Type="http://schemas.openxmlformats.org/officeDocument/2006/relationships/hyperlink" Target="https://arxiv.org/abs/2609.39105"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4.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1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image" Target="../media/image116.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17.png"/><Relationship Id="rId4" Type="http://schemas.openxmlformats.org/officeDocument/2006/relationships/image" Target="../media/image11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9.jpg"/><Relationship Id="rId8" Type="http://schemas.openxmlformats.org/officeDocument/2006/relationships/image" Target="../media/image120.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hyperlink" Target="https://github.com/autonomousvision/plant" TargetMode="Externa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21.png"/><Relationship Id="rId4" Type="http://schemas.openxmlformats.org/officeDocument/2006/relationships/hyperlink" Target="https://github.com/jchengai/planTF"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2.jpg"/><Relationship Id="rId4" Type="http://schemas.openxmlformats.org/officeDocument/2006/relationships/hyperlink" Target="https://github.com/jchengai/pluto"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123.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2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hyperlink" Target="https://github.com/autonomousvision/CaRL" TargetMode="External"/><Relationship Id="rId4" Type="http://schemas.openxmlformats.org/officeDocument/2006/relationships/image" Target="../media/image12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26.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image" Target="../media/image127.jp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28.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9.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130.jp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4.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hyperlink" Target="https://arxiv.org/abs/1812.03079"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image" Target="../media/image135.jp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36.png"/><Relationship Id="rId4" Type="http://schemas.openxmlformats.org/officeDocument/2006/relationships/image" Target="../media/image137.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38.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42.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3.png"/><Relationship Id="rId4" Type="http://schemas.openxmlformats.org/officeDocument/2006/relationships/image" Target="../media/image144.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5.jp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github.com/dfl-rlab/dddmr_navigation"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image" Target="../media/image146.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47.png"/><Relationship Id="rId4" Type="http://schemas.openxmlformats.org/officeDocument/2006/relationships/image" Target="../media/image148.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49.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4.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image" Target="../media/image155.png"/><Relationship Id="rId4" Type="http://schemas.openxmlformats.org/officeDocument/2006/relationships/image" Target="../media/image156.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57.jp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58.png"/><Relationship Id="rId4" Type="http://schemas.openxmlformats.org/officeDocument/2006/relationships/image" Target="../media/image159.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60.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image" Target="../media/image161.jp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2.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image" Target="../media/image163.png"/><Relationship Id="rId4" Type="http://schemas.openxmlformats.org/officeDocument/2006/relationships/image" Target="../media/image164.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arxiv.org/abs/1901.08652"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65.jpg"/><Relationship Id="rId4" Type="http://schemas.openxmlformats.org/officeDocument/2006/relationships/image" Target="../media/image166.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67.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68.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69.jpg"/><Relationship Id="rId4" Type="http://schemas.openxmlformats.org/officeDocument/2006/relationships/image" Target="../media/image170.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image" Target="../media/image171.png"/><Relationship Id="rId4" Type="http://schemas.openxmlformats.org/officeDocument/2006/relationships/image" Target="../media/image17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201.08117"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3.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74.jpg"/><Relationship Id="rId4" Type="http://schemas.openxmlformats.org/officeDocument/2006/relationships/image" Target="../media/image17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arxiv.org/abs/2206.14049"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76.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77.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78.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9.jp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182.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83.jpg"/><Relationship Id="rId4" Type="http://schemas.openxmlformats.org/officeDocument/2006/relationships/image" Target="../media/image184.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85.png"/><Relationship Id="rId4" Type="http://schemas.openxmlformats.org/officeDocument/2006/relationships/image" Target="../media/image186.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87.jpg"/><Relationship Id="rId4" Type="http://schemas.openxmlformats.org/officeDocument/2006/relationships/image" Target="../media/image188.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89.png"/><Relationship Id="rId4" Type="http://schemas.openxmlformats.org/officeDocument/2006/relationships/image" Target="../media/image190.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1.jp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92.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193.jpg"/><Relationship Id="rId4" Type="http://schemas.openxmlformats.org/officeDocument/2006/relationships/image" Target="../media/image194.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image" Target="../media/image197.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8.jpg"/><Relationship Id="rId4" Type="http://schemas.openxmlformats.org/officeDocument/2006/relationships/image" Target="../media/image199.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200.png"/><Relationship Id="rId4" Type="http://schemas.openxmlformats.org/officeDocument/2006/relationships/image" Target="../media/image201.png"/><Relationship Id="rId5" Type="http://schemas.openxmlformats.org/officeDocument/2006/relationships/image" Target="../media/image20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3.jpg"/><Relationship Id="rId4" Type="http://schemas.openxmlformats.org/officeDocument/2006/relationships/image" Target="../media/image204.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205.png"/><Relationship Id="rId4" Type="http://schemas.openxmlformats.org/officeDocument/2006/relationships/image" Target="../media/image206.png"/><Relationship Id="rId5" Type="http://schemas.openxmlformats.org/officeDocument/2006/relationships/image" Target="../media/image207.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208.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09.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 Id="rId3" Type="http://schemas.openxmlformats.org/officeDocument/2006/relationships/image" Target="../media/image210.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1.jpg"/><Relationship Id="rId4" Type="http://schemas.openxmlformats.org/officeDocument/2006/relationships/image" Target="../media/image212.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213.jp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14.jpg"/><Relationship Id="rId4" Type="http://schemas.openxmlformats.org/officeDocument/2006/relationships/image" Target="../media/image215.jp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image" Target="../media/image216.jp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217.jp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image" Target="../media/image218.jpg"/><Relationship Id="rId4" Type="http://schemas.openxmlformats.org/officeDocument/2006/relationships/image" Target="../media/image219.jp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20.png"/><Relationship Id="rId4" Type="http://schemas.openxmlformats.org/officeDocument/2006/relationships/image" Target="../media/image221.png"/><Relationship Id="rId5" Type="http://schemas.openxmlformats.org/officeDocument/2006/relationships/image" Target="../media/image2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23.jp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image" Target="../media/image224.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25.jp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26.jpg"/><Relationship Id="rId4" Type="http://schemas.openxmlformats.org/officeDocument/2006/relationships/image" Target="../media/image227.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28.png"/><Relationship Id="rId4" Type="http://schemas.openxmlformats.org/officeDocument/2006/relationships/image" Target="../media/image229.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30.jp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31.jp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32.jp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33.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34.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35.jpg"/><Relationship Id="rId4" Type="http://schemas.openxmlformats.org/officeDocument/2006/relationships/image" Target="../media/image236.jp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40.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hyperlink" Target="https://arxiv.org/abs/1907.03613" TargetMode="Externa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41.jp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002.08550"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42.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43.jpg"/><Relationship Id="rId4" Type="http://schemas.openxmlformats.org/officeDocument/2006/relationships/image" Target="../media/image244.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5.png"/><Relationship Id="rId4" Type="http://schemas.openxmlformats.org/officeDocument/2006/relationships/image" Target="../media/image246.png"/><Relationship Id="rId5" Type="http://schemas.openxmlformats.org/officeDocument/2006/relationships/image" Target="../media/image247.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8.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49.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50.jpg"/><Relationship Id="rId4" Type="http://schemas.openxmlformats.org/officeDocument/2006/relationships/hyperlink" Target="https://arxiv.org/abs/2206.13631" TargetMode="Externa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51.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 Id="rId4" Type="http://schemas.openxmlformats.org/officeDocument/2006/relationships/image" Target="../media/image253.jp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4.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5.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56.jpg"/><Relationship Id="rId4" Type="http://schemas.openxmlformats.org/officeDocument/2006/relationships/image" Target="../media/image257.jp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8.pn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9.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0.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1.jp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62.jp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hyperlink" Target="https://flexion.ai/news/flexion-reflect-v1.0" TargetMode="Externa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www.wired.com/story/this-robot-is-going-to-replace-your-interns-flexion/"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65.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66.jpg"/><Relationship Id="rId4" Type="http://schemas.openxmlformats.org/officeDocument/2006/relationships/image" Target="../media/image267.jp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68.png"/><Relationship Id="rId4" Type="http://schemas.openxmlformats.org/officeDocument/2006/relationships/image" Target="../media/image269.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0.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71.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72.jp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3.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4.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image" Target="../media/image275.jp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76.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image" Target="../media/image277.jp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78.png"/><Relationship Id="rId4" Type="http://schemas.openxmlformats.org/officeDocument/2006/relationships/image" Target="../media/image279.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80.jpg"/><Relationship Id="rId4" Type="http://schemas.openxmlformats.org/officeDocument/2006/relationships/image" Target="../media/image281.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2.png"/><Relationship Id="rId4" Type="http://schemas.openxmlformats.org/officeDocument/2006/relationships/image" Target="../media/image283.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4.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image" Target="../media/image285.jp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image" Target="../media/image286.jp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image" Target="../media/image287.jp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hyperlink" Target="https://arxiv.org/abs/2402.13820" TargetMode="External"/><Relationship Id="rId4" Type="http://schemas.openxmlformats.org/officeDocument/2006/relationships/image" Target="../media/image288.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image" Target="../media/image289.jp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0.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image" Target="../media/image291.jp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image" Target="../media/image292.jp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image" Target="../media/image293.jpg"/><Relationship Id="rId4" Type="http://schemas.openxmlformats.org/officeDocument/2006/relationships/image" Target="../media/image294.jp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image" Target="../media/image295.jp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6.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image" Target="../media/image297.jp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98.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image" Target="../media/image300.jp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hyperlink" Target="https://bostondynamics.com/blog/large-behavior-models-atlas-find-new-footing/" TargetMode="Externa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image" Target="../media/image301.jp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image" Target="../media/image302.jp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 Id="rId3" Type="http://schemas.openxmlformats.org/officeDocument/2006/relationships/image" Target="../media/image303.jpg"/><Relationship Id="rId4" Type="http://schemas.openxmlformats.org/officeDocument/2006/relationships/image" Target="../media/image304.jp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5.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image" Target="../media/image306.jp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7.jpg"/><Relationship Id="rId7" Type="http://schemas.openxmlformats.org/officeDocument/2006/relationships/image" Target="../media/image308.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2.jpg"/><Relationship Id="rId4" Type="http://schemas.openxmlformats.org/officeDocument/2006/relationships/image" Target="../media/image313.jp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arxiv.org/abs/2605.01516" TargetMode="Externa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 Id="rId3" Type="http://schemas.openxmlformats.org/officeDocument/2006/relationships/image" Target="../media/image314.jp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15.jp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16.jp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image" Target="../media/image317.jpg"/><Relationship Id="rId4" Type="http://schemas.openxmlformats.org/officeDocument/2006/relationships/image" Target="../media/image318.jp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hyperlink" Target="https://arxiv.org/abs/2608.19955" TargetMode="Externa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19.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image" Target="../media/image320.jpg"/><Relationship Id="rId4" Type="http://schemas.openxmlformats.org/officeDocument/2006/relationships/image" Target="../media/image321.jp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 Id="rId3" Type="http://schemas.openxmlformats.org/officeDocument/2006/relationships/image" Target="../media/image325.jp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image" Target="../media/image326.jpg"/><Relationship Id="rId4" Type="http://schemas.openxmlformats.org/officeDocument/2006/relationships/image" Target="../media/image327.jp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image" Target="../media/image328.pn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29.jp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0.jp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image" Target="../media/image331.jp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image" Target="../media/image332.jp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image" Target="../media/image333.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4.jpg"/><Relationship Id="rId4" Type="http://schemas.openxmlformats.org/officeDocument/2006/relationships/image" Target="../media/image335.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 Id="rId3" Type="http://schemas.openxmlformats.org/officeDocument/2006/relationships/image" Target="../media/image336.png"/><Relationship Id="rId4" Type="http://schemas.openxmlformats.org/officeDocument/2006/relationships/image" Target="../media/image337.png"/><Relationship Id="rId5" Type="http://schemas.openxmlformats.org/officeDocument/2006/relationships/image" Target="../media/image338.png"/><Relationship Id="rId6" Type="http://schemas.openxmlformats.org/officeDocument/2006/relationships/image" Target="../media/image339.png"/><Relationship Id="rId7" Type="http://schemas.openxmlformats.org/officeDocument/2006/relationships/image" Target="../media/image340.png"/></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41.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image" Target="../media/image342.jpg"/></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3.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image" Target="../media/image344.jp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45.jp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image" Target="../media/image346.jpg"/><Relationship Id="rId4" Type="http://schemas.openxmlformats.org/officeDocument/2006/relationships/image" Target="../media/image347.jp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48.png"/><Relationship Id="rId4" Type="http://schemas.openxmlformats.org/officeDocument/2006/relationships/image" Target="../media/image349.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50.jpg"/><Relationship Id="rId4" Type="http://schemas.openxmlformats.org/officeDocument/2006/relationships/image" Target="../media/image351.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image" Target="../media/image352.jp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53.jp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 Id="rId3" Type="http://schemas.openxmlformats.org/officeDocument/2006/relationships/image" Target="../media/image354.jpg"/></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 Id="rId3" Type="http://schemas.openxmlformats.org/officeDocument/2006/relationships/image" Target="../media/image355.jpg"/><Relationship Id="rId4" Type="http://schemas.openxmlformats.org/officeDocument/2006/relationships/image" Target="../media/image356.jpg"/></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 Id="rId3" Type="http://schemas.openxmlformats.org/officeDocument/2006/relationships/image" Target="../media/image357.pn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 Id="rId3" Type="http://schemas.openxmlformats.org/officeDocument/2006/relationships/image" Target="../media/image358.jpg"/><Relationship Id="rId4" Type="http://schemas.openxmlformats.org/officeDocument/2006/relationships/image" Target="../media/image359.jp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image" Target="../media/image360.png"/><Relationship Id="rId4" Type="http://schemas.openxmlformats.org/officeDocument/2006/relationships/image" Target="../media/image361.png"/></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62.jp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image" Target="../media/image363.jp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 Id="rId3" Type="http://schemas.openxmlformats.org/officeDocument/2006/relationships/image" Target="../media/image364.jpg"/><Relationship Id="rId4" Type="http://schemas.openxmlformats.org/officeDocument/2006/relationships/image" Target="../media/image365.jpg"/></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66.png"/><Relationship Id="rId4" Type="http://schemas.openxmlformats.org/officeDocument/2006/relationships/image" Target="../media/image367.png"/><Relationship Id="rId5" Type="http://schemas.openxmlformats.org/officeDocument/2006/relationships/image" Target="../media/image368.pn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 Id="rId3" Type="http://schemas.openxmlformats.org/officeDocument/2006/relationships/image" Target="../media/image369.jp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 Id="rId3" Type="http://schemas.openxmlformats.org/officeDocument/2006/relationships/hyperlink" Target="https://arxiv.org/abs/2606.23249" TargetMode="Externa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 Id="rId3" Type="http://schemas.openxmlformats.org/officeDocument/2006/relationships/image" Target="../media/image370.jp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image" Target="../media/image371.jpg"/></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hyperlink" Target="https://doi.org/10.1109/LRA.2026.3734869" TargetMode="External"/><Relationship Id="rId4" Type="http://schemas.openxmlformats.org/officeDocument/2006/relationships/image" Target="../media/image372.png"/><Relationship Id="rId5" Type="http://schemas.openxmlformats.org/officeDocument/2006/relationships/hyperlink" Target="https://arxiv.org/abs/2511.19709" TargetMode="Externa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3.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 Id="rId3" Type="http://schemas.openxmlformats.org/officeDocument/2006/relationships/image" Target="../media/image374.jp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hyperlink" Target="https://geonhee-lee.github.io/Elastic-Tracker/lineage.html#domains" TargetMode="Externa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 Id="rId3" Type="http://schemas.openxmlformats.org/officeDocument/2006/relationships/hyperlink" Target="https://arxiv.org/abs/2202.07008" TargetMode="External"/><Relationship Id="rId4" Type="http://schemas.openxmlformats.org/officeDocument/2006/relationships/hyperlink" Target="https://arxiv.org/abs/2602.08571" TargetMode="External"/><Relationship Id="rId5" Type="http://schemas.openxmlformats.org/officeDocument/2006/relationships/hyperlink" Target="https://arxiv.org/abs/2310.18112" TargetMode="External"/><Relationship Id="rId6" Type="http://schemas.openxmlformats.org/officeDocument/2006/relationships/hyperlink" Target="https://arxiv.org/abs/2303.09463" TargetMode="External"/><Relationship Id="rId7" Type="http://schemas.openxmlformats.org/officeDocument/2006/relationships/hyperlink" Target="https://arxiv.org/abs/2403.11784" TargetMode="External"/><Relationship Id="rId8" Type="http://schemas.openxmlformats.org/officeDocument/2006/relationships/hyperlink" Target="https://arxiv.org/abs/2402.18558"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www.tii.ae/news/world-first-autonomous-racing-leaps-forward-abu-dhabi-a2rl-season-2-showcases-record-speed" TargetMode="External"/><Relationship Id="rId11" Type="http://schemas.openxmlformats.org/officeDocument/2006/relationships/hyperlink" Target="https://arxiv.org/abs/2607.25388" TargetMode="External"/><Relationship Id="rId12" Type="http://schemas.openxmlformats.org/officeDocument/2006/relationships/hyperlink" Target="https://arxiv.org/abs/2501.17311" TargetMode="External"/><Relationship Id="rId13" Type="http://schemas.openxmlformats.org/officeDocument/2006/relationships/hyperlink" Target="https://arxiv.org/abs/2608.10618" TargetMode="External"/><Relationship Id="rId14" Type="http://schemas.openxmlformats.org/officeDocument/2006/relationships/hyperlink" Target="https://arxiv.org/abs/2512.06892" TargetMode="Externa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 Id="rId3" Type="http://schemas.openxmlformats.org/officeDocument/2006/relationships/hyperlink" Target="https://arxiv.org/abs/2401.13078" TargetMode="External"/><Relationship Id="rId4" Type="http://schemas.openxmlformats.org/officeDocument/2006/relationships/hyperlink" Target="https://github.com/ros-navigation/navigation2/blob/main/nav2_bringup/params/nav2_params.yaml" TargetMode="External"/><Relationship Id="rId5" Type="http://schemas.openxmlformats.org/officeDocument/2006/relationships/hyperlink" Target="https://arxiv.org/abs/2404.16162" TargetMode="External"/><Relationship Id="rId6" Type="http://schemas.openxmlformats.org/officeDocument/2006/relationships/hyperlink" Target="https://github.com/MAPF-Competition/Start-Kit" TargetMode="External"/><Relationship Id="rId7" Type="http://schemas.openxmlformats.org/officeDocument/2006/relationships/hyperlink" Target="https://arxiv.org/abs/2407.01862" TargetMode="External"/><Relationship Id="rId8" Type="http://schemas.openxmlformats.org/officeDocument/2006/relationships/hyperlink" Target="https://people.cs.gmu.edu/~xiao/Research/BARN_Challenge/BARN_Challenge25.html" TargetMode="External"/><Relationship Id="rId9" Type="http://schemas.openxmlformats.org/officeDocument/2006/relationships/hyperlink" Target="https://arxiv.org/abs/2410.21415" TargetMode="External"/><Relationship Id="rId10" Type="http://schemas.openxmlformats.org/officeDocument/2006/relationships/hyperlink" Target="https://arxiv.org/abs/2310.07896" TargetMode="External"/><Relationship Id="rId11" Type="http://schemas.openxmlformats.org/officeDocument/2006/relationships/hyperlink" Target="https://arxiv.org/abs/2505.08712"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508.08574" TargetMode="External"/><Relationship Id="rId14" Type="http://schemas.openxmlformats.org/officeDocument/2006/relationships/hyperlink" Target="https://www.darpa.mil/news/2026/racer-finish-line" TargetMode="External"/><Relationship Id="rId15" Type="http://schemas.openxmlformats.org/officeDocument/2006/relationships/hyperlink" Target="https://arxiv.org/abs/2306.07962" TargetMode="External"/><Relationship Id="rId16" Type="http://schemas.openxmlformats.org/officeDocument/2006/relationships/hyperlink" Target="https://arxiv.org/abs/2411.15139" TargetMode="External"/><Relationship Id="rId17" Type="http://schemas.openxmlformats.org/officeDocument/2006/relationships/hyperlink" Target="https://arxiv.org/abs/2506.06664" TargetMode="External"/><Relationship Id="rId18" Type="http://schemas.openxmlformats.org/officeDocument/2006/relationships/hyperlink" Target="https://www.xpeng.com/news/019a56f54fe99a2a0a8d8a0282e402b7" TargetMode="External"/><Relationship Id="rId19" Type="http://schemas.openxmlformats.org/officeDocument/2006/relationships/hyperlink" Target="https://waymo.com/blog/2025/12/demonstrably-safe-ai-for-autonomous-driving/" TargetMode="External"/><Relationship Id="rId20" Type="http://schemas.openxmlformats.org/officeDocument/2006/relationships/hyperlink" Target="https://waymo.com/blog/2026/08/10ailessons" TargetMode="External"/><Relationship Id="rId21" Type="http://schemas.openxmlformats.org/officeDocument/2006/relationships/hyperlink" Target="https://blogs.nvidia.com/blog/drive-av-mercedes-benz-cla/" TargetMode="External"/><Relationship Id="rId22" Type="http://schemas.openxmlformats.org/officeDocument/2006/relationships/hyperlink" Target="https://github.com/autowarefoundation/autoware_universe/tree/main/planning/autoware_diffusion_planner" TargetMode="External"/><Relationship Id="rId23" Type="http://schemas.openxmlformats.org/officeDocument/2006/relationships/hyperlink" Target="https://arxiv.org/abs/2506.11234" TargetMode="External"/><Relationship Id="rId24" Type="http://schemas.openxmlformats.org/officeDocument/2006/relationships/hyperlink" Target="https://proceedings.mlr.press/v305/jaeger25a.html" TargetMode="External"/><Relationship Id="rId25" Type="http://schemas.openxmlformats.org/officeDocument/2006/relationships/hyperlink" Target="https://arxiv.org/abs/2608.04896" TargetMode="Externa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 Id="rId6" Type="http://schemas.openxmlformats.org/officeDocument/2006/relationships/hyperlink" Target="https://www.anybotics.com/news/superior-robot-mobility-where-ai-meets-the-real-world/" TargetMode="External"/><Relationship Id="rId7" Type="http://schemas.openxmlformats.org/officeDocument/2006/relationships/hyperlink" Target="https://bostondynamics.com/blog/starting-on-the-right-foot-with-reinforcement-learning/" TargetMode="External"/><Relationship Id="rId8" Type="http://schemas.openxmlformats.org/officeDocument/2006/relationships/hyperlink" Target="https://arxiv.org/abs/2607.13579" TargetMode="External"/><Relationship Id="rId9" Type="http://schemas.openxmlformats.org/officeDocument/2006/relationships/hyperlink" Target="https://arxiv.org/abs/2409.15610" TargetMode="External"/><Relationship Id="rId10" Type="http://schemas.openxmlformats.org/officeDocument/2006/relationships/hyperlink" Target="https://bostondynamics.com/blog/put-it-in-context-with-visual-foundation-models/" TargetMode="External"/><Relationship Id="rId11" Type="http://schemas.openxmlformats.org/officeDocument/2006/relationships/hyperlink" Target="https://arxiv.org/abs/2303.03381" TargetMode="External"/><Relationship Id="rId12" Type="http://schemas.openxmlformats.org/officeDocument/2006/relationships/hyperlink" Target="https://arxiv.org/abs/2502.01143" TargetMode="External"/><Relationship Id="rId13" Type="http://schemas.openxmlformats.org/officeDocument/2006/relationships/hyperlink" Target="https://arxiv.org/abs/2511.07820" TargetMode="External"/><Relationship Id="rId14" Type="http://schemas.openxmlformats.org/officeDocument/2006/relationships/hyperlink" Target="https://arxiv.org/abs/2601.07718" TargetMode="External"/><Relationship Id="rId15" Type="http://schemas.openxmlformats.org/officeDocument/2006/relationships/hyperlink" Target="https://www.figure.ai/news/helix-02" TargetMode="External"/><Relationship Id="rId16" Type="http://schemas.openxmlformats.org/officeDocument/2006/relationships/hyperlink" Target="https://www.figure.ai/news/reinforcement-learning-walking" TargetMode="External"/><Relationship Id="rId17" Type="http://schemas.openxmlformats.org/officeDocument/2006/relationships/hyperlink" Target="https://www.agilityrobotics.com/content/training-a-whole-body-control-foundation-model" TargetMode="External"/><Relationship Id="rId18" Type="http://schemas.openxmlformats.org/officeDocument/2006/relationships/hyperlink" Target="https://developer.nvidia.com/blog/building-generalist-humanoid-capabilities-with-nvidia-isaac-gr00t-n1-6-using-a-sim-to-real-workflow/"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05.03738" TargetMode="External"/><Relationship Id="rId21" Type="http://schemas.openxmlformats.org/officeDocument/2006/relationships/hyperlink" Target="https://arxiv.org/abs/2606.05687" TargetMode="External"/><Relationship Id="rId22" Type="http://schemas.openxmlformats.org/officeDocument/2006/relationships/hyperlink" Target="https://arxiv.org/abs/2509.04722" TargetMode="External"/><Relationship Id="rId23" Type="http://schemas.openxmlformats.org/officeDocument/2006/relationships/hyperlink" Target="https://en.wikipedia.org/wiki/Beijing_E-Town_Half-Marathon" TargetMode="External"/><Relationship Id="rId24" Type="http://schemas.openxmlformats.org/officeDocument/2006/relationships/hyperlink" Target="https://en.wikipedia.org/wiki/World_Humanoid_Robot_Games" TargetMode="External"/><Relationship Id="rId25" Type="http://schemas.openxmlformats.org/officeDocument/2006/relationships/hyperlink" Target="https://arxiv.org/abs/2511.04831" TargetMode="External"/><Relationship Id="rId26" Type="http://schemas.openxmlformats.org/officeDocument/2006/relationships/hyperlink" Target="https://arxiv.org/abs/2502.08844" TargetMode="External"/><Relationship Id="rId27" Type="http://schemas.openxmlformats.org/officeDocument/2006/relationships/hyperlink" Target="https://arxiv.org/abs/2310.10943" TargetMode="External"/><Relationship Id="rId28" Type="http://schemas.openxmlformats.org/officeDocument/2006/relationships/hyperlink" Target="https://developer.nvidia.com/blog/newton-adds-contact-rich-manipulation-and-locomotion-capabilities-for-industrial-robotics/" TargetMode="External"/><Relationship Id="rId29" Type="http://schemas.openxmlformats.org/officeDocument/2006/relationships/hyperlink" Target="https://github.com/unitreerobotics/unitree_rl_mjlab" TargetMode="External"/><Relationship Id="rId30" Type="http://schemas.openxmlformats.org/officeDocument/2006/relationships/hyperlink" Target="https://arxiv.org/abs/2309.15462" TargetMode="External"/><Relationship Id="rId31" Type="http://schemas.openxmlformats.org/officeDocument/2006/relationships/hyperlink" Target="https://waymo.com/blog/2026/08/10ailessons" TargetMode="External"/><Relationship Id="rId32" Type="http://schemas.openxmlformats.org/officeDocument/2006/relationships/hyperlink" Target="https://www.science.org/doi/10.1126/scirobotics.ado6187" TargetMode="Externa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 Id="rId3" Type="http://schemas.openxmlformats.org/officeDocument/2006/relationships/hyperlink" Target="https://github.com/ros-navigation/navigation2/tree/main/nav2_mppi_controller" TargetMode="External"/><Relationship Id="rId4" Type="http://schemas.openxmlformats.org/officeDocument/2006/relationships/hyperlink" Target="https://arxiv.org/abs/2409.15610" TargetMode="External"/><Relationship Id="rId5" Type="http://schemas.openxmlformats.org/officeDocument/2006/relationships/hyperlink" Target="https://arxiv.org/abs/2506.06664" TargetMode="External"/><Relationship Id="rId6" Type="http://schemas.openxmlformats.org/officeDocument/2006/relationships/hyperlink" Target="https://arxiv.org/abs/2407.01573" TargetMode="External"/><Relationship Id="rId7" Type="http://schemas.openxmlformats.org/officeDocument/2006/relationships/hyperlink" Target="https://arxiv.org/abs/2303.04137" TargetMode="External"/><Relationship Id="rId8" Type="http://schemas.openxmlformats.org/officeDocument/2006/relationships/hyperlink" Target="https://arxiv.org/abs/2410.24164" TargetMode="External"/><Relationship Id="rId9" Type="http://schemas.openxmlformats.org/officeDocument/2006/relationships/hyperlink" Target="https://www.figure.ai/news/helix-02" TargetMode="External"/><Relationship Id="rId10" Type="http://schemas.openxmlformats.org/officeDocument/2006/relationships/hyperlink" Target="https://developer.nvidia.com/blog/building-generalist-humanoid-capabilities-with-nvidia-isaac-gr00t-n1-6-using-a-sim-to-real-workflow/"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402.12289" TargetMode="External"/><Relationship Id="rId14" Type="http://schemas.openxmlformats.org/officeDocument/2006/relationships/hyperlink" Target="https://waymo.com/blog/2026/02/the-waymo-world-model-a-new-frontier-for-autonomous-driving-simulation/" TargetMode="External"/><Relationship Id="rId15" Type="http://schemas.openxmlformats.org/officeDocument/2006/relationships/hyperlink" Target="https://arxiv.org/abs/2501.03575" TargetMode="External"/><Relationship Id="rId16" Type="http://schemas.openxmlformats.org/officeDocument/2006/relationships/hyperlink" Target="https://arxiv.org/abs/2512.10675" TargetMode="External"/><Relationship Id="rId17" Type="http://schemas.openxmlformats.org/officeDocument/2006/relationships/hyperlink" Target="https://www.nature.com/articles/s41586-025-08744-2" TargetMode="External"/><Relationship Id="rId18" Type="http://schemas.openxmlformats.org/officeDocument/2006/relationships/hyperlink" Target="https://arxiv.org/abs/2412.03572" TargetMode="External"/><Relationship Id="rId19" Type="http://schemas.openxmlformats.org/officeDocument/2006/relationships/hyperlink" Target="https://arxiv.org/abs/2511.07820" TargetMode="External"/><Relationship Id="rId20" Type="http://schemas.openxmlformats.org/officeDocument/2006/relationships/hyperlink" Target="https://arxiv.org/abs/2505.05753" TargetMode="External"/><Relationship Id="rId21" Type="http://schemas.openxmlformats.org/officeDocument/2006/relationships/hyperlink" Target="https://arxiv.org/abs/2509.19480" TargetMode="External"/><Relationship Id="rId22" Type="http://schemas.openxmlformats.org/officeDocument/2006/relationships/hyperlink" Target="https://arxiv.org/abs/2506.08228" TargetMode="External"/><Relationship Id="rId23" Type="http://schemas.openxmlformats.org/officeDocument/2006/relationships/hyperlink" Target="https://single-market-economy.ec.europa.eu/sectors/mechanical-engineering/machinery_en" TargetMode="External"/><Relationship Id="rId24" Type="http://schemas.openxmlformats.org/officeDocument/2006/relationships/hyperlink" Target="https://downloads.ctfassets.net/9i0s3p5vkth9/Gx5t3M6aWWUk8yEsXIZ8N/bf9767dfeb33360114438df17739d8be/Aurora_Driverless_Safety_Report_2025_with_Addendum.pdf" TargetMode="External"/><Relationship Id="rId25" Type="http://schemas.openxmlformats.org/officeDocument/2006/relationships/hyperlink" Target="https://arxiv.org/abs/2608.04896" TargetMode="External"/><Relationship Id="rId26" Type="http://schemas.openxmlformats.org/officeDocument/2006/relationships/hyperlink" Target="https://www.tii.ae/news/world-first-autonomous-racing-leaps-forward-abu-dhabi-a2rl-season-2-showcases-record-speed" TargetMode="External"/><Relationship Id="rId27" Type="http://schemas.openxmlformats.org/officeDocument/2006/relationships/hyperlink" Target="https://github.com/MAPF-Competition/Start-Kit" TargetMode="External"/><Relationship Id="rId28" Type="http://schemas.openxmlformats.org/officeDocument/2006/relationships/hyperlink" Target="https://en.wikipedia.org/wiki/World_Humanoid_Robot_Games" TargetMode="External"/><Relationship Id="rId29" Type="http://schemas.openxmlformats.org/officeDocument/2006/relationships/hyperlink" Target="https://artificialintelligenceact.eu/article/6/" TargetMode="External"/><Relationship Id="rId30" Type="http://schemas.openxmlformats.org/officeDocument/2006/relationships/hyperlink" Target="https://arxiv.org/abs/2309.05837" TargetMode="External"/><Relationship Id="rId31" Type="http://schemas.openxmlformats.org/officeDocument/2006/relationships/hyperlink" Target="https://arxiv.org/abs/2608.02809" TargetMode="External"/><Relationship Id="rId32" Type="http://schemas.openxmlformats.org/officeDocument/2006/relationships/hyperlink" Target="https://nvidianews.nvidia.com/news/nvidia-announces-halos-for-robotics-the-industrys-first-full-stack-safety-system-for-physical-ai" TargetMode="Externa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hyperlink" Target="https://waymo.com/blog/2024/05/fleet-response/" TargetMode="External"/><Relationship Id="rId4" Type="http://schemas.openxmlformats.org/officeDocument/2006/relationships/hyperlink" Target="https://waymo.com/blog/shorts/advice-not-control-the-role-of-remote-assistance/" TargetMode="External"/><Relationship Id="rId5" Type="http://schemas.openxmlformats.org/officeDocument/2006/relationships/hyperlink" Target="https://techcrunch.com/2026/03/31/robotaxi-companies-refuse-to-say-how-often-their-avs-need-remote-help/" TargetMode="External"/><Relationship Id="rId6" Type="http://schemas.openxmlformats.org/officeDocument/2006/relationships/hyperlink" Target="https://www.dmv.ca.gov/portal/news-and-media/new-autonomous-vehicle-regulations-strengthen-oversight-and-enforcement-authorize-trucks-and-transit/" TargetMode="External"/><Relationship Id="rId7" Type="http://schemas.openxmlformats.org/officeDocument/2006/relationships/hyperlink" Target="https://www.ntsb.gov/investigations/Pages/HWY26FH007.aspx" TargetMode="External"/><Relationship Id="rId8" Type="http://schemas.openxmlformats.org/officeDocument/2006/relationships/hyperlink" Target="https://www.jpl.nasa.gov/news/nasas-perseverance-mars-rover-ready-to-roll-for-miles-in-years-ahead/" TargetMode="External"/><Relationship Id="rId9" Type="http://schemas.openxmlformats.org/officeDocument/2006/relationships/hyperlink" Target="https://ieeexplore.ieee.org/document/11265757" TargetMode="External"/><Relationship Id="rId10" Type="http://schemas.openxmlformats.org/officeDocument/2006/relationships/hyperlink" Target="https://www.jpl.nasa.gov/news/nasas-perseverance-rover-completes-first-ai-planned-drive-on-mars/" TargetMode="External"/><Relationship Id="rId11" Type="http://schemas.openxmlformats.org/officeDocument/2006/relationships/hyperlink" Target="https://www.anthropic.com/features/claude-on-mars" TargetMode="External"/><Relationship Id="rId12" Type="http://schemas.openxmlformats.org/officeDocument/2006/relationships/hyperlink" Target="https://www.komatsu.jp/en/newsroom/2026/20260422" TargetMode="External"/><Relationship Id="rId13" Type="http://schemas.openxmlformats.org/officeDocument/2006/relationships/hyperlink" Target="https://www.eacon.com/news/827.html" TargetMode="External"/><Relationship Id="rId14" Type="http://schemas.openxmlformats.org/officeDocument/2006/relationships/hyperlink" Target="https://ir.aurora.tech/news-events/press-releases/detail/132" TargetMode="External"/><Relationship Id="rId15" Type="http://schemas.openxmlformats.org/officeDocument/2006/relationships/hyperlink" Target="https://www.deere.com/en-us/products-solutions/tractors/autonomous-tractor/" TargetMode="External"/><Relationship Id="rId16" Type="http://schemas.openxmlformats.org/officeDocument/2006/relationships/hyperlink" Target="https://arxiv.org/abs/2410.21415" TargetMode="External"/><Relationship Id="rId17" Type="http://schemas.openxmlformats.org/officeDocument/2006/relationships/hyperlink" Target="https://github.com/MAPF-Competition/Start-Kit" TargetMode="External"/><Relationship Id="rId18" Type="http://schemas.openxmlformats.org/officeDocument/2006/relationships/hyperlink" Target="https://www.science.org/doi/10.1126/scirobotics.ade2256" TargetMode="External"/><Relationship Id="rId19" Type="http://schemas.openxmlformats.org/officeDocument/2006/relationships/hyperlink" Target="https://arxiv.org/abs/2506.02835" TargetMode="External"/><Relationship Id="rId20" Type="http://schemas.openxmlformats.org/officeDocument/2006/relationships/hyperlink" Target="https://news.kaist.ac.kr/newsen/html/news/?mode=V&amp;mng_no=41590" TargetMode="External"/><Relationship Id="rId21" Type="http://schemas.openxmlformats.org/officeDocument/2006/relationships/hyperlink" Target="https://www.science.org/doi/10.1126/scirobotics.add1017" TargetMode="External"/><Relationship Id="rId22" Type="http://schemas.openxmlformats.org/officeDocument/2006/relationships/hyperlink" Target="https://arxiv.org/abs/2312.08961" TargetMode="External"/><Relationship Id="rId23" Type="http://schemas.openxmlformats.org/officeDocument/2006/relationships/hyperlink" Target="https://arxiv.org/abs/2607.13579" TargetMode="External"/><Relationship Id="rId24" Type="http://schemas.openxmlformats.org/officeDocument/2006/relationships/hyperlink" Target="https://arxiv.org/abs/2301.10602" TargetMode="External"/><Relationship Id="rId25" Type="http://schemas.openxmlformats.org/officeDocument/2006/relationships/hyperlink" Target="https://arxiv.org/abs/2409.19709" TargetMode="External"/><Relationship Id="rId26" Type="http://schemas.openxmlformats.org/officeDocument/2006/relationships/hyperlink" Target="https://researchwith.njit.edu/en/publications/torque-based-deep-reinforcement-learning-for-task-and-robot-agnos" TargetMode="External"/><Relationship Id="rId27" Type="http://schemas.openxmlformats.org/officeDocument/2006/relationships/hyperlink" Target="https://rainbow-robotics.com/%EC%A0%9C%ED%92%88%EC%86%94%EB%A3%A8%EC%85%98/%EC%82%AC%EC%A1%B1%EB%B3%B4%ED%96%89-%EB%A1%9C%EB%B4%87/rbq-series" TargetMode="External"/><Relationship Id="rId28" Type="http://schemas.openxmlformats.org/officeDocument/2006/relationships/hyperlink" Target="https://bostondynamics.com/blog/starting-on-the-right-foot-with-reinforcement-learning/" TargetMode="External"/><Relationship Id="rId29" Type="http://schemas.openxmlformats.org/officeDocument/2006/relationships/hyperlink" Target="https://bostondynamics.com/blog/large-behavior-models-atlas-find-new-footing/" TargetMode="External"/><Relationship Id="rId30" Type="http://schemas.openxmlformats.org/officeDocument/2006/relationships/hyperlink" Target="https://bostondynamics.com/blog/boston-dynamics-unveils-new-atlas-robot-to-revolutionize-industry/" TargetMode="External"/><Relationship Id="rId31"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32" Type="http://schemas.openxmlformats.org/officeDocument/2006/relationships/hyperlink" Target="https://www.korea.kr/news/policyNewsView.do?newsId=148964548" TargetMode="Externa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 Id="rId3" Type="http://schemas.openxmlformats.org/officeDocument/2006/relationships/hyperlink" Target="https://www.korea.kr/news/policyNewsView.do?newsId=148922726" TargetMode="External"/><Relationship Id="rId4" Type="http://schemas.openxmlformats.org/officeDocument/2006/relationships/hyperlink" Target="https://www.kmcc.go.kr/download.do?fileSeq=62128" TargetMode="External"/><Relationship Id="rId5" Type="http://schemas.openxmlformats.org/officeDocument/2006/relationships/hyperlink" Target="https://zdnet.co.kr/view/?no=20230728173101" TargetMode="External"/><Relationship Id="rId6" Type="http://schemas.openxmlformats.org/officeDocument/2006/relationships/hyperlink" Target="https://www.kiria.org/portal/cert/portalCertEstiStats.do" TargetMode="External"/><Relationship Id="rId7" Type="http://schemas.openxmlformats.org/officeDocument/2006/relationships/hyperlink" Target="https://www.hellot.net/news/article.html?no=111539" TargetMode="External"/><Relationship Id="rId8" Type="http://schemas.openxmlformats.org/officeDocument/2006/relationships/hyperlink" Target="https://zdnet.co.kr/view/?no=20251223101843" TargetMode="External"/><Relationship Id="rId9" Type="http://schemas.openxmlformats.org/officeDocument/2006/relationships/hyperlink" Target="https://zdnet.co.kr/view/?no=20260529134003" TargetMode="External"/><Relationship Id="rId10" Type="http://schemas.openxmlformats.org/officeDocument/2006/relationships/hyperlink" Target="https://zdnet.co.kr/view/?no=20251218101741" TargetMode="External"/><Relationship Id="rId11" Type="http://schemas.openxmlformats.org/officeDocument/2006/relationships/hyperlink" Target="https://www.newstomato.com/ReadNews.aspx?no=1243901" TargetMode="External"/><Relationship Id="rId12" Type="http://schemas.openxmlformats.org/officeDocument/2006/relationships/hyperlink" Target="https://edaily.co.kr/News/Read?mediaCodeNo=257&amp;newsId=03978646645485328" TargetMode="External"/><Relationship Id="rId13" Type="http://schemas.openxmlformats.org/officeDocument/2006/relationships/hyperlink" Target="https://www.hyundaimotorgroup.com/ko/news/CONT0000000000158712" TargetMode="External"/><Relationship Id="rId14" Type="http://schemas.openxmlformats.org/officeDocument/2006/relationships/hyperlink" Target="https://1784.navercorp.com/" TargetMode="External"/><Relationship Id="rId15" Type="http://schemas.openxmlformats.org/officeDocument/2006/relationships/hyperlink" Target="https://www.globenewswire.com/news-release/2025/12/12/3204583/0/en/Serve-Robotics-Builds-2-000-Autonomous-Delivery-Robots-Creating-Largest-Sidewalk-Delivery-Fleet-in-the-U-S.html" TargetMode="External"/><Relationship Id="rId16" Type="http://schemas.openxmlformats.org/officeDocument/2006/relationships/hyperlink" Target="https://arxiv.org/abs/2406.14947" TargetMode="External"/><Relationship Id="rId17" Type="http://schemas.openxmlformats.org/officeDocument/2006/relationships/hyperlink" Target="https://www.science.org/doi/10.1126/scirobotics.ado6187" TargetMode="External"/><Relationship Id="rId18" Type="http://schemas.openxmlformats.org/officeDocument/2006/relationships/hyperlink" Target="https://waymo.com/blog/2025/12/demonstrably-safe-ai-for-autonomous-driving/" TargetMode="External"/><Relationship Id="rId19" Type="http://schemas.openxmlformats.org/officeDocument/2006/relationships/hyperlink" Target="https://arxiv.org/abs/2309.15462" TargetMode="External"/><Relationship Id="rId20" Type="http://schemas.openxmlformats.org/officeDocument/2006/relationships/hyperlink" Target="https://arxiv.org/abs/2607.13579" TargetMode="Externa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hyperlink" Target="https://arxiv.org/abs/2608.15741" TargetMode="External"/><Relationship Id="rId4" Type="http://schemas.openxmlformats.org/officeDocument/2006/relationships/hyperlink" Target="https://www.jpl.nasa.gov/news/nasas-perseverance-rover-completes-first-ai-planned-drive-on-mars/" TargetMode="Externa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hyperlink" Target="https://github.com/VAIL-UCLA/S2E" TargetMode="Externa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hyperlink" Target="https://github.com/GalaxyGeneralRobotics/UrbanVLA" TargetMode="Externa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 Id="rId3" Type="http://schemas.openxmlformats.org/officeDocument/2006/relationships/image" Target="../media/image375.jp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 Id="rId3" Type="http://schemas.openxmlformats.org/officeDocument/2006/relationships/image" Target="../media/image376.jpg"/></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 Id="rId3" Type="http://schemas.openxmlformats.org/officeDocument/2006/relationships/image" Target="../media/image377.jpg"/></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 Id="rId3" Type="http://schemas.openxmlformats.org/officeDocument/2006/relationships/image" Target="../media/image378.jpg"/></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 Id="rId3" Type="http://schemas.openxmlformats.org/officeDocument/2006/relationships/image" Target="../media/image379.png"/><Relationship Id="rId4" Type="http://schemas.openxmlformats.org/officeDocument/2006/relationships/image" Target="../media/image380.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 Id="rId3" Type="http://schemas.openxmlformats.org/officeDocument/2006/relationships/image" Target="../media/image381.jp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 Id="rId3" Type="http://schemas.openxmlformats.org/officeDocument/2006/relationships/image" Target="../media/image382.jpg"/></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14개</a:t>
            </a:r>
          </a:p>
          <a:p>
            <a:r>
              <a:rPr sz="1250" b="0" i="0">
                <a:solidFill>
                  <a:srgbClr val="C9D1E0"/>
                </a:solidFill>
                <a:latin typeface="Arial"/>
                <a:ea typeface="Malgun Gothic"/>
                <a:cs typeface="Malgun Gothic"/>
              </a:rPr>
              <a:t>개요 · travplan과 고전 기준선 · 학습 로컬 Planner · 생성형 궤적 · Foundation·VLA·언어 · 위험 인지·로컬 내비 · 자율주행 자동차 · 로봇별 공개 스택 · ETH RSL 계보 · NVIDIA·DeepMind·취리히·RAI · 다른 연구실·휴머노이드 주행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네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방법(어떻게 계획하나) 다섯, 현황(누가 무엇을 내놨나) 다섯, 종합 둘, 작업 기록 하나다.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2026-10-01에 방법과 현황으로 처음 묶었다. 그 전에는 방법·도메인·관심사·계보 네 축이 섞여 있어서 자율주행 내용만 세 탭(E2E 주행 · 역사·상용화 · 로봇별 오픈소스)에 흩어져 있었다. 2026-10-26에는 문서의 약 70 %가 몰려 있던 「다리·바퀴 로봇과 계보」 탭을 넷으로 나누고, 분야 비교와 최근 연구 비교를 종합으로 묶었다. 절 번호는 그대로다.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탭마다 맨 위에 </a:t>
            </a:r>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(한눈에 볼 표, travplan에 주는 의미가 있는 곳)을 둔다. 첫 절의 첫 문장이 탭 전체의 결론이 아니면, 그 앞에 탭의 결론을 한 문장으로 둔다. 표의 '출처 확인일'은 본문에 적힌 확인 날짜다. '표기 없음'인 탭은 출처를 다시 확인할 차례가 먼저 온다.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9" name="Table 8"/>
          <p:cNvGraphicFramePr>
            <a:graphicFrameLocks noGrp="1"/>
          </p:cNvGraphicFramePr>
          <p:nvPr/>
        </p:nvGraphicFramePr>
        <p:xfrm>
          <a:off x="609600" y="3115667"/>
          <a:ext cx="10966450" cy="1545192"/>
        </p:xfrm>
        <a:graphic>
          <a:graphicData uri="http://schemas.openxmlformats.org/drawingml/2006/table">
            <a:tbl>
              <a:tblPr firstRow="1" bandRow="1">
                <a:tableStyleId>{5C22544A-7EE6-4342-B048-85BDC9FD1C3A}</a:tableStyleId>
              </a:tblPr>
              <a:tblGrid>
                <a:gridCol w="1168797"/>
                <a:gridCol w="4712990"/>
                <a:gridCol w="999133"/>
                <a:gridCol w="2721173"/>
                <a:gridCol w="1364357"/>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TAME-Nav만(2026-10-13)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bl>
          </a:graphicData>
        </a:graphic>
      </p:graphicFrame>
      <p:sp>
        <p:nvSpPr>
          <p:cNvPr id="10" name="TextBox 9"/>
          <p:cNvSpPr txBox="1"/>
          <p:nvPr/>
        </p:nvSpPr>
        <p:spPr>
          <a:xfrm>
            <a:off x="609600" y="51424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11" name="Table 10"/>
          <p:cNvGraphicFramePr>
            <a:graphicFrameLocks noGrp="1"/>
          </p:cNvGraphicFramePr>
          <p:nvPr/>
        </p:nvGraphicFramePr>
        <p:xfrm>
          <a:off x="609600" y="5447804"/>
          <a:ext cx="10966450" cy="515064"/>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상용화만(2026-09)</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540</a:t>
            </a:r>
          </a:p>
        </p:txBody>
      </p:sp>
      <p:graphicFrame>
        <p:nvGraphicFramePr>
          <p:cNvPr id="5" name="Table 4"/>
          <p:cNvGraphicFramePr>
            <a:graphicFrameLocks noGrp="1"/>
          </p:cNvGraphicFramePr>
          <p:nvPr/>
        </p:nvGraphicFramePr>
        <p:xfrm>
          <a:off x="609600" y="1244600"/>
          <a:ext cx="10966450" cy="1468992"/>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사족·휴머노이드·바퀴 로봇의 공개 Planner와, 네 로봇에서 가져올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 ROS 2 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별 수·라이선스(2026-09)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지도에서 계단을 오르는 배달로봇(RIVR)까지, 한 연구실을 travplan의 층별로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도구의 출처, Planner D 선택기의 실패 확률 머리, 진행 방향 step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머리말(조직 표, 계보 그림, 연표)과 네 조직의 사족·휴머노이드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 plant 보정, 두 층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2026-10-07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연구실의 사족·휴머노이드, B.16 전체에서 가져올 순서, 휴머노이드 주행(내비 층이 넘기는 것, 출력의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 Planner→Controller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2026-10-07, B.16.8은 2026-10-21–26</a:t>
                      </a:r>
                    </a:p>
                  </a:txBody>
                  <a:tcPr marL="63500" marR="63500" marT="12700" marB="12700">
                    <a:solidFill>
                      <a:srgbClr val="F3F0E8"/>
                    </a:solidFill>
                  </a:tcPr>
                </a:tc>
              </a:tr>
            </a:tbl>
          </a:graphicData>
        </a:graphic>
      </p:graphicFrame>
      <p:sp>
        <p:nvSpPr>
          <p:cNvPr id="6" name="TextBox 5"/>
          <p:cNvSpPr txBox="1"/>
          <p:nvPr/>
        </p:nvSpPr>
        <p:spPr>
          <a:xfrm>
            <a:off x="609600" y="31760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종합과 작업 기록</a:t>
            </a:r>
          </a:p>
        </p:txBody>
      </p:sp>
      <p:graphicFrame>
        <p:nvGraphicFramePr>
          <p:cNvPr id="7" name="Table 6"/>
          <p:cNvGraphicFramePr>
            <a:graphicFrameLocks noGrp="1"/>
          </p:cNvGraphicFramePr>
          <p:nvPr/>
        </p:nvGraphicFramePr>
        <p:xfrm>
          <a:off x="609600" y="3481487"/>
          <a:ext cx="10966450" cy="788352"/>
        </p:xfrm>
        <a:graphic>
          <a:graphicData uri="http://schemas.openxmlformats.org/drawingml/2006/table">
            <a:tbl>
              <a:tblPr firstRow="1" bandRow="1">
                <a:tableStyleId>{5C22544A-7EE6-4342-B048-85BDC9FD1C3A}</a:tableStyleId>
              </a:tblPr>
              <a:tblGrid>
                <a:gridCol w="1034653"/>
                <a:gridCol w="5718969"/>
                <a:gridCol w="507901"/>
                <a:gridCol w="2830016"/>
                <a:gridCol w="87491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레이싱카·모바일 로봇·도로 자율주행·사족·휴머노이드에서 쓰는 방식과 대세, 인증·원격 지원, 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travplan의 두 층이 어느 분야의 대세를 따르나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travplan이 고치고 잰 Planner 결과(TP-0137, 0078, 0066, 0039·0074, 0138, 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자세히: 절 번호로 탭 찾기(표 14행)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 번호는 탭 순서와 다르다. 다른 문서가 번호로 가리키므로 번호는 바꾸지 않는다(WRITING.md §4).</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4587974"/>
                <a:gridCol w="6378476"/>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Controller·안전 문서의 MPPI 탭</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B.8.0–B.8.3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B.11, B.12.1,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3F0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6" name="Table 5"/>
          <p:cNvGraphicFramePr>
            <a:graphicFrameLocks noGrp="1"/>
          </p:cNvGraphicFramePr>
          <p:nvPr/>
        </p:nvGraphicFramePr>
        <p:xfrm>
          <a:off x="609600" y="1549995"/>
          <a:ext cx="10966451" cy="2422920"/>
        </p:xfrm>
        <a:graphic>
          <a:graphicData uri="http://schemas.openxmlformats.org/drawingml/2006/table">
            <a:tbl>
              <a:tblPr firstRow="1" bandRow="1">
                <a:tableStyleId>{5C22544A-7EE6-4342-B048-85BDC9FD1C3A}</a:tableStyleId>
              </a:tblPr>
              <a:tblGrid>
                <a:gridCol w="592634"/>
                <a:gridCol w="1381026"/>
                <a:gridCol w="2085876"/>
                <a:gridCol w="2282726"/>
                <a:gridCol w="1633240"/>
                <a:gridCol w="1403747"/>
                <a:gridCol w="158720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 TAME-Nav, FocusNav, 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 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673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순이다(2026-10-26). HF 다운로드는 대표 가중치의 최근 30일 값이다(2026-10-26).</a:t>
            </a:r>
          </a:p>
        </p:txBody>
      </p:sp>
      <p:graphicFrame>
        <p:nvGraphicFramePr>
          <p:cNvPr id="8" name="Table 7"/>
          <p:cNvGraphicFramePr>
            <a:graphicFrameLocks noGrp="1"/>
          </p:cNvGraphicFramePr>
          <p:nvPr/>
        </p:nvGraphicFramePr>
        <p:xfrm>
          <a:off x="609600" y="4979293"/>
          <a:ext cx="10966449" cy="78835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540</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540</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B.12(「로봇별 공개 스택」 탭, 2026-09 기준)에 따로 모았다.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travplan Planner의 지금 구조(B.1)와, 학습 Planner를 잴 고전 기준선(B.10)이다.</a:t>
            </a:r>
            <a:r>
              <a:rPr sz="1050" b="0" i="0">
                <a:solidFill>
                  <a:srgbClr val="16213A"/>
                </a:solidFill>
                <a:latin typeface="Arial"/>
                <a:ea typeface="Malgun Gothic"/>
                <a:cs typeface="Malgun Gothic"/>
              </a:rPr>
              <a:t> 기준선의 중심은 GuidancePlanner(TravMap 위 Dijkstra)다.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고전 계획 일곱 가지는 B.10 첫 표에 있다. 궤적 다발 최적화 MPOT를 Planner D의 교사로 쓰는 판은 B.10.1이다.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540</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17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로봇 주변만 보고 가까운 경로를 내는 학습 Planner의 네 계열이다.</a:t>
            </a:r>
            <a:r>
              <a:rPr sz="1050" b="0" i="0">
                <a:solidFill>
                  <a:srgbClr val="16213A"/>
                </a:solidFill>
                <a:latin typeface="Arial"/>
                <a:ea typeface="Malgun Gothic"/>
                <a:cs typeface="Malgun Gothic"/>
              </a:rPr>
              <a:t> travplan에 바로 이어지는 것은 비용 지도 자기지도(LearnedPlanner 손실의 원형)와, diffusion 궤적과 그 폐루프 RL 후학습(Planner D와 TP-0066)이다.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B.2는 waypoint 회귀, B.3은 diffusion 궤적과 RL 후학습, B.4는 인식에서 속도 명령까지 가는 RL, B.4b는 비용 지도 자기지도다. B.7은 이 계열들과 Controller 쪽 참고 연구를 한 표(12행)로 비교하고, 마지막 열에 travplan에서의 위치를 적었다.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540</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540</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540</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540</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540</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540</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540</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궤적 전체를 생성 모델에서 샘플하는 계열이고, travplan의 Planner D(B.8.3)가 여기에 속한다.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B.8.0은 Diffuser에서 GoalFlow까지의 계보이고, 첫 표(8행)에 한눈에 있다. B.8–B.8.2는 Diffusion Planner와, 기구학·안전·속도를 보강한 후속 연구(B.8.2 표, 11행)다. travplan에 주는 의미는 B.8.3에 모았다.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540</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540</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540</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540</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540</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540</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2275"/>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87350"/>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540</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540</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73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Planner 위에서 목표와 중간 행동을 정하는 층이다.</a:t>
            </a:r>
            <a:r>
              <a:rPr sz="1050" b="0" i="0">
                <a:solidFill>
                  <a:srgbClr val="16213A"/>
                </a:solidFill>
                <a:latin typeface="Arial"/>
                <a:ea typeface="Malgun Gothic"/>
                <a:cs typeface="Malgun Gothic"/>
              </a:rPr>
              <a:t> 시각 내비 기반 모델과 VLA는 Planner를 대체하지 않고 그 위에 얹는다(B.6b).</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B.6은 시각 내비 기반 모델(ViNT·NoMaD·GNM), B.6b는 VLA와 도시 보행 내비, B.6c는 시연 투어와 위상 그래프다. B.6d는 보도 원격조종 로그로 배우는 MIMIC과, 그 뒤에 더한 카드 셋(S2E, Slow Brain Fast Planner, LogoNav)이다. VLA 여덟 편은 B.6b 첫 표에 있다. 문제 설정이 travplan과 가장 가까운 것은 B.6d의 MIMIC이다.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540</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540</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540</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540</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540</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540</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42900"/>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540</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540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540</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103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학습 Planner를 키울 때 비교 기준으로 삼거나 기법을 빌려 올 위험 인지 계획이다.</a:t>
            </a:r>
            <a:r>
              <a:rPr sz="1050" b="0" i="0">
                <a:solidFill>
                  <a:srgbClr val="16213A"/>
                </a:solidFill>
                <a:latin typeface="Arial"/>
                <a:ea typeface="Malgun Gothic"/>
                <a:cs typeface="Malgun Gothic"/>
              </a:rPr>
              <a:t> 전역 그래프, 보이지 않는 지형 상상, 정책 전환 감시, CVaR 위험처럼 층위가 서로 다르다.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B.9 첫 도식이 연구의 층위를 잡는다. 열한 편의 층위와 travplan 적용은 B.9 끝 표에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38125"/>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540</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540</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3225"/>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540</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540</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540</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540</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126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Planner는 규칙 풀스택에서 "후보 생성, 검증, 선택"으로 모였다.</a:t>
            </a:r>
            <a:r>
              <a:rPr sz="1050" b="0" i="0">
                <a:solidFill>
                  <a:srgbClr val="16213A"/>
                </a:solidFill>
                <a:latin typeface="Arial"/>
                <a:ea typeface="Malgun Gothic"/>
                <a:cs typeface="Malgun Gothic"/>
              </a:rPr>
              <a:t> travplan의 Planner D가 후보를 내고 점수가 고르는 구조와 같은 방향이다.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B.12.1은 공개 스택, B.11은 E2E 주행, B.13은 연구 역사와 2026 상용화다. 한눈에 볼 표는 B.12.1 첫 표(공개 스택 14개), B.11 표(E2E 7편), B.13.1 표(연구 역사)다. B.12.1은 번호로는 B.12(「로봇별 공개 스택」 탭)에 속하지만, 자동차 내용을 한자리에 모으려고 이 탭에 둔다.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540</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「로봇별 공개 스택」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540</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540</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540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540</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540</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540</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540</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540</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540</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540</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540</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540</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159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네 로봇을 층별로 비교한 표는 B.12 머리말에 있다. 자동차(B.12.1)는 「자율주행 자동차」 탭에 있다. 사족(B.12.2), 휴머노이드(B.12.3), 바퀴 로봇(B.12.4)은 첫머리마다 공개 스택 표가 있다. 스워브 보도 로봇인 travplan과 가장 가까운 것은 B.12.4이고, travplan이 가져올 것은 B.12.5 표(10행)에 모았다.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540</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540</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540</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540</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38125"/>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540</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540</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540</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540</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540</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38125"/>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540</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540</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38125"/>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540</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194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RSL 연구를 travplan의 층(인식·Planner·Controller·시뮬레이션)에 맞춘 표(17행)는 B.14 머리말에, 연표는 그 아래 토글에 있다. travplan이 가져올 순서 일곱은 B.14.6이다. RSL 밖의 사족·휴머노이드 계보(B.16)는 다음 두 탭에 있다.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540</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540</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540</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540</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540</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540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540</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540</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540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540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540</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540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540</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540</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540</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540</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540</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540</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540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5450"/>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540</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540</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540</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540</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540</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540</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540</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540</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540</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263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B.16은 두 탭에 걸친다. 이 탭은 B.16 머리말(조직 표, 계보 그림 두 장, 연표, 자주 나오는 TP 표)과 네 조직(B.16.1 NVIDIA, B.16.2 Google DeepMind, B.16.3 취리히, B.16.4 RAI Institute와 Boston Dynamics)이다. 그 밖 연구실의 사족·휴머노이드, B.16 전체에서 travplan이 가져올 순서(B.16.7), 휴머노이드 주행(B.16.8)은 다음 탭 「다른 연구실·휴머노이드 주행」에 있다. 소절마다 첫 문단 아래 토글에 그 소절의 연구 목록 표가 있다.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휴머노이드다(B.16.5부터는 다음 탭).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540</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540</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540</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540</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540</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540</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540</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540</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540</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540</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540</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540</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540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540</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540</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540</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540</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540</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540</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68300"/>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540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540</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540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540</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31800"/>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540</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540</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540</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38125"/>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540</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540</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5450"/>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540</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540</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540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540</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540</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540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540</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540</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540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540</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540</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540</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540</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540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540</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540</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540</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540</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540</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540</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540</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540</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540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540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540</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540</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540</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540</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540</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540</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540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540</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400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B.16의 뒤쪽이다. B.16 머리말(조직 표, 계보 그림, 연표, 자주 나오는 TP 표)은 앞 탭 「NVIDIA·DeepMind·취리히·RAI」에 있다. B.16.5는 다른 연구실의 사족보행, B.16.6은 휴머노이드다. B.16.7은 B.16 전체에서 travplan이 가져올 순서 열이고, B.16.8은 휴머노이드 주행(내비 층이 넘기는 것, 학습 정책 출력의 투영)이다. 소절마다 첫 문단 아래 토글에 그 소절의 연구 목록 표가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7" name="TextBox 6"/>
          <p:cNvSpPr txBox="1"/>
          <p:nvPr/>
        </p:nvSpPr>
        <p:spPr>
          <a:xfrm>
            <a:off x="609600" y="228619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540</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540</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540</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7650"/>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540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540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540</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540</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540</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540</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540</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47650"/>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540</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540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540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540</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540</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540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540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540</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540</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540</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9100"/>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540</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540</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540</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540</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540</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38125"/>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540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540</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540</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540</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540</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540</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540</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41300"/>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540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540</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540</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298450"/>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540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540</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540</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540</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540</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540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540</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41300"/>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28625"/>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540</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504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분야 × 방식 표는 B.18.1에, 분야를 가로지르는 일곱 흐름은 B.18.3에 있다. travplan의 두 층이 어느 분야의 대세를 따르는지는 B.18.6이고, 근거 123건은 B.18 끝 토글에 있다.</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507 / 540</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 쓰는 방식.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 대세와 근거. 스택을 공개한 상위 팀은 모두 같은 모듈형이다. TUM(A2RL 2024 우승 스택) </a:t>
            </a:r>
            <a:r>
              <a:rPr sz="1050" b="0" i="0">
                <a:solidFill>
                  <a:srgbClr val="1D4ED8"/>
                </a:solidFill>
                <a:latin typeface="Arial"/>
                <a:ea typeface="Malgun Gothic"/>
                <a:cs typeface="Malgun Gothic"/>
                <a:hlinkClick r:id="rId4"/>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5"/>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6"/>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7"/>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8"/>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9"/>
              </a:rPr>
              <a:t>R7</a:t>
            </a:r>
            <a:r>
              <a:rPr sz="1050" b="0" i="0">
                <a:solidFill>
                  <a:srgbClr val="16213A"/>
                </a:solidFill>
                <a:latin typeface="Arial"/>
                <a:ea typeface="Malgun Gothic"/>
                <a:cs typeface="Malgun Gothic"/>
              </a:rPr>
              <a:t>. 다음. 단독 주행에서 4대(CES 2025), 6대 동시 결승(A2RL 2025) </a:t>
            </a:r>
            <a:r>
              <a:rPr sz="1050" b="0" i="0">
                <a:solidFill>
                  <a:srgbClr val="1D4ED8"/>
                </a:solidFill>
                <a:latin typeface="Arial"/>
                <a:ea typeface="Malgun Gothic"/>
                <a:cs typeface="Malgun Gothic"/>
                <a:hlinkClick r:id="rId10"/>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11"/>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12"/>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13"/>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14"/>
              </a:rPr>
              <a:t>R3</a:t>
            </a:r>
            <a:r>
              <a:rPr sz="1050" b="0" i="0">
                <a:solidFill>
                  <a:srgbClr val="16213A"/>
                </a:solidFill>
                <a:latin typeface="Arial"/>
                <a:ea typeface="Malgun Gothic"/>
                <a:cs typeface="Malgun Gothic"/>
              </a:rPr>
              <a:t>.</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540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 쓰는 방식.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 대세와 근거. ROS 2 Nav2의 기본 로컬 컨트롤러가 Humble의 DWB에서 Jazzy 이후 MPPI로 바뀌었다 </a:t>
            </a:r>
            <a:r>
              <a:rPr sz="1050" b="0" i="0">
                <a:solidFill>
                  <a:srgbClr val="1D4ED8"/>
                </a:solidFill>
                <a:latin typeface="Arial"/>
                <a:ea typeface="Malgun Gothic"/>
                <a:cs typeface="Malgun Gothic"/>
                <a:hlinkClick r:id="rId4"/>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5"/>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7"/>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8"/>
              </a:rPr>
              <a:t>N13</a:t>
            </a:r>
            <a:r>
              <a:rPr sz="1050" b="0" i="0">
                <a:solidFill>
                  <a:srgbClr val="16213A"/>
                </a:solidFill>
                <a:latin typeface="Arial"/>
                <a:ea typeface="Malgun Gothic"/>
                <a:cs typeface="Malgun Gothic"/>
              </a:rPr>
              <a:t>. 다음.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9"/>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0"/>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1"/>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2"/>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3"/>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4"/>
              </a:rPr>
              <a:t>N11</a:t>
            </a:r>
            <a:r>
              <a:rPr sz="1050" b="0" i="0">
                <a:solidFill>
                  <a:srgbClr val="16213A"/>
                </a:solidFill>
                <a:latin typeface="Arial"/>
                <a:ea typeface="Malgun Gothic"/>
                <a:cs typeface="Malgun Gothic"/>
              </a:rPr>
              <a:t>.</a:t>
            </a:r>
          </a:p>
        </p:txBody>
      </p:sp>
      <p:sp>
        <p:nvSpPr>
          <p:cNvPr id="6" name="TextBox 5"/>
          <p:cNvSpPr txBox="1"/>
          <p:nvPr/>
        </p:nvSpPr>
        <p:spPr>
          <a:xfrm>
            <a:off x="609600" y="306546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 쓰는 방식.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1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1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17"/>
              </a:rPr>
              <a:t>A2</a:t>
            </a:r>
            <a:r>
              <a:rPr sz="1050" b="0" i="0">
                <a:solidFill>
                  <a:srgbClr val="16213A"/>
                </a:solidFill>
                <a:latin typeface="Arial"/>
                <a:ea typeface="Malgun Gothic"/>
                <a:cs typeface="Malgun Gothic"/>
              </a:rPr>
              <a:t>) 순으로 옮겨 갔다. B.12.1이 이 흐름을 깊게 다룬다. 대세와 근거.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19"/>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0"/>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21"/>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22"/>
              </a:rPr>
              <a:t>A9</a:t>
            </a:r>
            <a:r>
              <a:rPr sz="1050" b="0" i="0">
                <a:solidFill>
                  <a:srgbClr val="16213A"/>
                </a:solidFill>
                <a:latin typeface="Arial"/>
                <a:ea typeface="Malgun Gothic"/>
                <a:cs typeface="Malgun Gothic"/>
              </a:rPr>
              <a:t>. 다음. VLM·VLA와 RL 후학습(2025 Waymo 종단간 챌린지 1위 </a:t>
            </a:r>
            <a:r>
              <a:rPr sz="1050" b="0" i="0">
                <a:solidFill>
                  <a:srgbClr val="1D4ED8"/>
                </a:solidFill>
                <a:latin typeface="Arial"/>
                <a:ea typeface="Malgun Gothic"/>
                <a:cs typeface="Malgun Gothic"/>
                <a:hlinkClick r:id="rId23"/>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24"/>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25"/>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540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 쓰는 방식.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 대세와 근거. ANYbotics는 2023년 RL 보행을 운용 중인 로봇 전부에 배포했다고 밝혔다(자사 발표) </a:t>
            </a:r>
            <a:r>
              <a:rPr sz="1050" b="0" i="0">
                <a:solidFill>
                  <a:srgbClr val="1D4ED8"/>
                </a:solidFill>
                <a:latin typeface="Arial"/>
                <a:ea typeface="Malgun Gothic"/>
                <a:cs typeface="Malgun Gothic"/>
                <a:hlinkClick r:id="rId6"/>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7"/>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 다음.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8"/>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9"/>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10"/>
              </a:rPr>
              <a:t>Q10</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 쓰는 방식.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11"/>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12"/>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13"/>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14"/>
              </a:rPr>
              <a:t>H10</a:t>
            </a:r>
            <a:r>
              <a:rPr sz="1050" b="0" i="0">
                <a:solidFill>
                  <a:srgbClr val="16213A"/>
                </a:solidFill>
                <a:latin typeface="Arial"/>
                <a:ea typeface="Malgun Gothic"/>
                <a:cs typeface="Malgun Gothic"/>
              </a:rPr>
              <a:t>, System 2·1·0 VLA 계층이 부상했다. 모방 문서 §I와 B.16.1·B.16.6이 이 줄기를 다룬다. 대세와 근거.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1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1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1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1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 다음.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20"/>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21"/>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22"/>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23"/>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4"/>
              </a:rPr>
              <a:t>H14</a:t>
            </a:r>
            <a:r>
              <a:rPr sz="1050" b="0" i="0">
                <a:solidFill>
                  <a:srgbClr val="16213A"/>
                </a:solidFill>
                <a:latin typeface="Arial"/>
                <a:ea typeface="Malgun Gothic"/>
                <a:cs typeface="Malgun Gothic"/>
              </a:rPr>
              <a:t>.</a:t>
            </a:r>
          </a:p>
        </p:txBody>
      </p:sp>
      <p:sp>
        <p:nvSpPr>
          <p:cNvPr id="7" name="TextBox 6"/>
          <p:cNvSpPr txBox="1"/>
          <p:nvPr/>
        </p:nvSpPr>
        <p:spPr>
          <a:xfrm>
            <a:off x="717550" y="4669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8" name="TextBox 7"/>
          <p:cNvSpPr txBox="1"/>
          <p:nvPr/>
        </p:nvSpPr>
        <p:spPr>
          <a:xfrm>
            <a:off x="609600" y="49730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일곱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9" name="Table 8"/>
          <p:cNvGraphicFramePr>
            <a:graphicFrameLocks noGrp="1"/>
          </p:cNvGraphicFramePr>
          <p:nvPr/>
        </p:nvGraphicFramePr>
        <p:xfrm>
          <a:off x="609600" y="5278438"/>
          <a:ext cx="10966449" cy="712152"/>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25"/>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26"/>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27"/>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28"/>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9"/>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30"/>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31"/>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32"/>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9"/>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540</a:t>
            </a:r>
          </a:p>
        </p:txBody>
      </p:sp>
      <p:graphicFrame>
        <p:nvGraphicFramePr>
          <p:cNvPr id="5" name="Table 4"/>
          <p:cNvGraphicFramePr>
            <a:graphicFrameLocks noGrp="1"/>
          </p:cNvGraphicFramePr>
          <p:nvPr/>
        </p:nvGraphicFramePr>
        <p:xfrm>
          <a:off x="609600" y="1244600"/>
          <a:ext cx="10966449" cy="2104944"/>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3"/>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4"/>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5"/>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6"/>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7"/>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8"/>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9"/>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0"/>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12"/>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13"/>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14"/>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15"/>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16"/>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17"/>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18"/>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19"/>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0"/>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1"/>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22"/>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23"/>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4"/>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25"/>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26"/>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27"/>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28"/>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6" name="TextBox 5"/>
          <p:cNvSpPr txBox="1"/>
          <p:nvPr/>
        </p:nvSpPr>
        <p:spPr>
          <a:xfrm>
            <a:off x="717550" y="397103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7" name="TextBox 6"/>
          <p:cNvSpPr txBox="1"/>
          <p:nvPr/>
        </p:nvSpPr>
        <p:spPr>
          <a:xfrm>
            <a:off x="609600" y="42742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
        <p:nvSpPr>
          <p:cNvPr id="8" name="TextBox 7"/>
          <p:cNvSpPr txBox="1"/>
          <p:nvPr/>
        </p:nvSpPr>
        <p:spPr>
          <a:xfrm>
            <a:off x="609600" y="457964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2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24"/>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30"/>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31"/>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2"/>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540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3"/>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5"/>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6"/>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7"/>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8"/>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0"/>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1"/>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2"/>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3"/>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14"/>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15"/>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16"/>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7" name="TextBox 6"/>
          <p:cNvSpPr txBox="1"/>
          <p:nvPr/>
        </p:nvSpPr>
        <p:spPr>
          <a:xfrm>
            <a:off x="717550" y="358735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8" name="TextBox 7"/>
          <p:cNvSpPr txBox="1"/>
          <p:nvPr/>
        </p:nvSpPr>
        <p:spPr>
          <a:xfrm>
            <a:off x="609600" y="38905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9" name="Table 8"/>
          <p:cNvGraphicFramePr>
            <a:graphicFrameLocks noGrp="1"/>
          </p:cNvGraphicFramePr>
          <p:nvPr/>
        </p:nvGraphicFramePr>
        <p:xfrm>
          <a:off x="609600" y="4195961"/>
          <a:ext cx="10966450" cy="985440"/>
        </p:xfrm>
        <a:graphic>
          <a:graphicData uri="http://schemas.openxmlformats.org/drawingml/2006/table">
            <a:tbl>
              <a:tblPr firstRow="1" bandRow="1">
                <a:tableStyleId>{5C22544A-7EE6-4342-B048-85BDC9FD1C3A}</a:tableStyleId>
              </a:tblPr>
              <a:tblGrid>
                <a:gridCol w="2068810"/>
                <a:gridCol w="4886821"/>
                <a:gridCol w="4010819"/>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18"/>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19"/>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0"/>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1"/>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2"/>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3"/>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24"/>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25"/>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26"/>
                        </a:rPr>
                        <a:t>K8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3F0E8"/>
                    </a:solidFill>
                  </a:tcPr>
                </a:tc>
              </a:tr>
            </a:tbl>
          </a:graphicData>
        </a:graphic>
      </p:graphicFrame>
      <p:sp>
        <p:nvSpPr>
          <p:cNvPr id="10" name="TextBox 9"/>
          <p:cNvSpPr txBox="1"/>
          <p:nvPr/>
        </p:nvSpPr>
        <p:spPr>
          <a:xfrm>
            <a:off x="609600" y="552301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27"/>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28"/>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0"/>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31"/>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32"/>
              </a:rPr>
              <a:t>K10</a:t>
            </a:r>
            <a:r>
              <a:rPr sz="1050" b="0" i="0">
                <a:solidFill>
                  <a:srgbClr val="16213A"/>
                </a:solidFill>
                <a:latin typeface="Arial"/>
                <a:ea typeface="Malgun Gothic"/>
                <a:cs typeface="Malgun Gothic"/>
              </a:rPr>
              <a:t>를 진행한다.</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3"/>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4"/>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5"/>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6"/>
              </a:rPr>
              <a:t>K12</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2199481"/>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7"/>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8"/>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9"/>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0"/>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1"/>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2"/>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13"/>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14"/>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7" name="TextBox 6"/>
          <p:cNvSpPr txBox="1"/>
          <p:nvPr/>
        </p:nvSpPr>
        <p:spPr>
          <a:xfrm>
            <a:off x="609600" y="37728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15"/>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16"/>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
        <p:nvSpPr>
          <p:cNvPr id="8" name="TextBox 7"/>
          <p:cNvSpPr txBox="1"/>
          <p:nvPr/>
        </p:nvSpPr>
        <p:spPr>
          <a:xfrm>
            <a:off x="717550" y="45112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9" name="TextBox 8"/>
          <p:cNvSpPr txBox="1"/>
          <p:nvPr/>
        </p:nvSpPr>
        <p:spPr>
          <a:xfrm>
            <a:off x="609600" y="4814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10" name="Table 9"/>
          <p:cNvGraphicFramePr>
            <a:graphicFrameLocks noGrp="1"/>
          </p:cNvGraphicFramePr>
          <p:nvPr/>
        </p:nvGraphicFramePr>
        <p:xfrm>
          <a:off x="609600" y="5336381"/>
          <a:ext cx="10966450" cy="591264"/>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17"/>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18"/>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19"/>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0"/>
                        </a:rPr>
                        <a:t>K4</a:t>
                      </a:r>
                    </a:p>
                  </a:txBody>
                  <a:tcPr marL="63500" marR="63500" marT="12700" marB="12700">
                    <a:solidFill>
                      <a:srgbClr val="F3F0E8"/>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540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3"/>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4"/>
                        </a:rPr>
                        <a:t>P10</a:t>
                      </a:r>
                    </a:p>
                  </a:txBody>
                  <a:tcPr marL="63500" marR="63500" marT="12700" marB="12700">
                    <a:solidFill>
                      <a:srgbClr val="FFFDF8"/>
                    </a:solidFill>
                  </a:tcPr>
                </a:tc>
              </a:tr>
            </a:tbl>
          </a:graphicData>
        </a:graphic>
      </p:graphicFrame>
      <p:sp>
        <p:nvSpPr>
          <p:cNvPr id="6" name="TextBox 5"/>
          <p:cNvSpPr txBox="1"/>
          <p:nvPr/>
        </p:nvSpPr>
        <p:spPr>
          <a:xfrm>
            <a:off x="609600" y="18325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7" name="Table 6"/>
          <p:cNvGraphicFramePr>
            <a:graphicFrameLocks noGrp="1"/>
          </p:cNvGraphicFramePr>
          <p:nvPr/>
        </p:nvGraphicFramePr>
        <p:xfrm>
          <a:off x="609600" y="2354461"/>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
        <p:nvSpPr>
          <p:cNvPr id="8" name="TextBox 7"/>
          <p:cNvSpPr txBox="1"/>
          <p:nvPr/>
        </p:nvSpPr>
        <p:spPr>
          <a:xfrm>
            <a:off x="609600" y="47786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516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2025–2026의 학습 로컬 Planner·생성형 궤적·위험 인지 계획 열여섯 편을 한 표로 비교하고, 그 아래에 공통점, 차이점, travplan에 주는 의미를 둔다. 사족·휴머노이드 쪽에서 가져올 순서는 B.16.7에, 분야 단위 비교는 B.18에 있다.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540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540</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540</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540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522 / 540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523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B.16–B.18)은 "남이 무엇을 했나"이고, 이 탭은 travplan이 고치고 잰 결과다(CLAUDE.md의 분리 규칙).</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판정 절차(잡음 바닥, 짝 비교)는 B.15.2에 처음 나온다. RL 후학습 1단계(B.15.3)를 넘으려던 학습 시도 넷은 B.15.5와 B.15.6이다.</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525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526 / 540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527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528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529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530 / 540</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531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532 / 540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533 / 540</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534 / 540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535 / 540</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536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537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538 / 540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539 / 540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540 / 540</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