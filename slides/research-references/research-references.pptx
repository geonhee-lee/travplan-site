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docs/research-references.md. 대시보드 리서치 탭의 '참고문헌'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'개요'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 참고문헌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'인식'</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 인식 — 지형·traversability·중간 표현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D.2 인식 — Occupancy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D.3 인식 — 예측: occupancy flow·world model·행위자</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D.3b 인식 — 마일스톤, 시각 기반 모델, 동적 장애물</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D.3b 인식 — 마일스톤, 시각 기반 모델, 동적 장애물</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D.3b 인식 — 마일스톤, 시각 기반 모델, 동적 장애물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D.3b 인식 — 마일스톤, 시각 기반 모델, 동적 장애물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'Planner'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D.0 E2E 연구 분해 — 인식 부분 / 플래너 부분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D.0 E2E 연구 분해 — 인식 부분 / 플래너 부분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D.4 Planner — 학습 기반 (waypoint·RL·foundation)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D.4 Planner — 학습 기반 (waypoint·RL·foundation)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D.4 Planner — 학습 기반 (waypoint·RL·foundation)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D.4b Planner — 비학습 위험 인지 경로 계획 (비교 기준)</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 Planner — 생성형 궤적 (diffusion·flow) — Planner D 직접 참고</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D.5b Planner — 고전 기준선, 마일스톤, VLA, E2E 주행</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D.5b Planner — 고전 기준선, 마일스톤, VLA, E2E 주행</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D.5b Planner — 고전 기준선, 마일스톤, VLA, E2E 주행</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D.5b Planner — 고전 기준선, 마일스톤, VLA, E2E 주행</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D.5b Planner — 고전 기준선, 마일스톤, VLA, E2E 주행</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D.5c Planner — 로봇별 오픈소스 스택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D.5c Planner — 로봇별 오픈소스 스택</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D.5c Planner — 로봇별 오픈소스 스택</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D.5c Planner — 로봇별 오픈소스 스택</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D.5c Planner — 로봇별 오픈소스 스택</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D.5d Planner — 로봇 분야별 계획·제어 지형</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D.5d Planner — 로봇 분야별 계획·제어 지형</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'Controller·안전'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D.6 Controller — MPPI·학습 동역학 계열 (참고, 2026-09-25 개발 계획 제외)</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D.6 Controller — MPPI·학습 동역학 계열 (참고, 2026-09-25 개발 계획 제외)</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D.6 Controller — MPPI·학습 동역학 계열 (참고, 2026-09-25 개발 계획 제외)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D.6 Controller — MPPI·학습 동역학 계열 (참고, 2026-09-25 개발 계획 제외)</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D.6 Controller — MPPI·학습 동역학 계열 (참고, 2026-09-25 개발 계획 제외)</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D.7 동적 장애물 안전 필터</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D.7b Controller·안전 — 마일스톤과 공개 코드</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D.7b Controller·안전 — 마일스톤과 공개 코드</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'강화학습'</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D.14 강화학습 (§R)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D.15 딥러닝 (§L)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D.15 딥러닝 (§L)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D.15 딥러닝 (§L)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D.15 딥러닝 (§L)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'모방'</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D.16 모방 (§I)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'연구 그룹'</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 · 토글 '⚠️ 먼저: 흔히 잘못 알려진 소속 14건 (전부 1차 출처로 확인)'</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D.13 연구 그룹과 사람 — 누구를 따라갈 것인가</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물리 엔진</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보도·도시·보행자</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센서·렌더링·world model</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로봇 리그 (S.9)</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지형·바퀴·sim-to-real</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탭 '로코모션·데이터·산업'</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D.8 로코모션·시스템 스택 (4족·휴머노이드)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D.9 데이터셋·벤치마크</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D.10 벤더·산업 자료 (PR 색채 주의)</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D.10 벤더·산업 자료 (PR 색채 주의)</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D.12 IROS 2026 수확 (개요 문서 "학회 수확")</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docs/research-references.md · D.11 기타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arxiv.org/abs/2503.02412" TargetMode="External"/><Relationship Id="rId4" Type="http://schemas.openxmlformats.org/officeDocument/2006/relationships/hyperlink" Target="https://github.com/ZJU-FAST-Lab/seb_naver" TargetMode="External"/><Relationship Id="rId5" Type="http://schemas.openxmlformats.org/officeDocument/2006/relationships/hyperlink" Target="https://arxiv.org/abs/2008.08835" TargetMode="External"/><Relationship Id="rId6" Type="http://schemas.openxmlformats.org/officeDocument/2006/relationships/hyperlink" Target="https://github.com/ZJU-FAST-Lab/ego-planner" TargetMode="External"/><Relationship Id="rId7" Type="http://schemas.openxmlformats.org/officeDocument/2006/relationships/hyperlink" Target="https://arxiv.org/abs/1903.02144" TargetMode="External"/><Relationship Id="rId8" Type="http://schemas.openxmlformats.org/officeDocument/2006/relationships/hyperlink" Target="https://github.com/HKUST-Aerial-Robotics/FIESTA" TargetMode="External"/><Relationship Id="rId9" Type="http://schemas.openxmlformats.org/officeDocument/2006/relationships/hyperlink" Target="https://arxiv.org/abs/1907.01531" TargetMode="External"/><Relationship Id="rId10" Type="http://schemas.openxmlformats.org/officeDocument/2006/relationships/hyperlink" Target="https://github.com/HKUST-Aerial-Robotics/Fast-Planner" TargetMode="External"/><Relationship Id="rId11" Type="http://schemas.openxmlformats.org/officeDocument/2006/relationships/hyperlink" Target="https://arxiv.org/abs/2306.16046" TargetMode="External"/><Relationship Id="rId12" Type="http://schemas.openxmlformats.org/officeDocument/2006/relationships/hyperlink" Target="https://arxiv.org/abs/2302.14819" TargetMode="External"/><Relationship Id="rId13" Type="http://schemas.openxmlformats.org/officeDocument/2006/relationships/hyperlink" Target="https://github.com/hku-mars/ROG-Map" TargetMode="External"/><Relationship Id="rId14" Type="http://schemas.openxmlformats.org/officeDocument/2006/relationships/hyperlink" Target="https://arxiv.org/abs/2003.05395" TargetMode="External"/><Relationship Id="rId15" Type="http://schemas.openxmlformats.org/officeDocument/2006/relationships/hyperlink" Target="https://doi.org/10.1109/LRA.2020.2996593" TargetMode="External"/><Relationship Id="rId16" Type="http://schemas.openxmlformats.org/officeDocument/2006/relationships/hyperlink" Target="https://arxiv.org/abs/2403.01537" TargetMode="External"/><Relationship Id="rId17" Type="http://schemas.openxmlformats.org/officeDocument/2006/relationships/hyperlink" Target="https://arxiv.org/abs/2310.10982" TargetMode="External"/><Relationship Id="rId18" Type="http://schemas.openxmlformats.org/officeDocument/2006/relationships/hyperlink" Target="https://arxiv.org/abs/2306.01874" TargetMode="External"/><Relationship Id="rId19" Type="http://schemas.openxmlformats.org/officeDocument/2006/relationships/hyperlink" Target="https://www.flsenate.gov/Laws/Statutes/2023/316.2071" TargetMode="External"/><Relationship Id="rId20" Type="http://schemas.openxmlformats.org/officeDocument/2006/relationships/hyperlink" Target="https://statutes.capitol.texas.gov/Docs/TN/htm/TN.552A.htm" TargetMode="External"/><Relationship Id="rId21" Type="http://schemas.openxmlformats.org/officeDocument/2006/relationships/hyperlink" Target="https://data.epo.org/publication-server/rest/v1.0/publication-dates/20230628/patents/EP3679441NWB1/document.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arxiv.org/abs/1703.08862" TargetMode="External"/><Relationship Id="rId4" Type="http://schemas.openxmlformats.org/officeDocument/2006/relationships/hyperlink" Target="https://doi.org/10.1177/0278364918781016" TargetMode="External"/><Relationship Id="rId5" Type="http://schemas.openxmlformats.org/officeDocument/2006/relationships/hyperlink" Target="https://arxiv.org/abs/2106.12113" TargetMode="External"/><Relationship Id="rId6" Type="http://schemas.openxmlformats.org/officeDocument/2006/relationships/hyperlink" Target="https://doi.org/10.1145/3647983" TargetMode="External"/><Relationship Id="rId7" Type="http://schemas.openxmlformats.org/officeDocument/2006/relationships/hyperlink" Target="https://doi.org/10.1016/j.trip.2023.100789" TargetMode="External"/><Relationship Id="rId8" Type="http://schemas.openxmlformats.org/officeDocument/2006/relationships/hyperlink" Target="https://doi.org/10.3390/mti7050053" TargetMode="External"/><Relationship Id="rId9" Type="http://schemas.openxmlformats.org/officeDocument/2006/relationships/hyperlink" Target="https://doi.org/10.1145/3461778.3462065" TargetMode="External"/><Relationship Id="rId10" Type="http://schemas.openxmlformats.org/officeDocument/2006/relationships/hyperlink" Target="https://github.com/autowarefoundation/autoware_core/tree/main/planning/autoware_velocity_smoother" TargetMode="External"/><Relationship Id="rId11" Type="http://schemas.openxmlformats.org/officeDocument/2006/relationships/hyperlink" Target="https://github.com/commaai/openpilot/blob/master/openpilot/selfdrive/controls/lib/longitudinal_mpc_lib/long_mpc.py" TargetMode="External"/><Relationship Id="rId12" Type="http://schemas.openxmlformats.org/officeDocument/2006/relationships/hyperlink" Target="https://arxiv.org/abs/2112.09988" TargetMode="External"/><Relationship Id="rId13" Type="http://schemas.openxmlformats.org/officeDocument/2006/relationships/hyperlink" Target="https://doi.org/10.1109/LRA.2022.3192800" TargetMode="External"/><Relationship Id="rId14" Type="http://schemas.openxmlformats.org/officeDocument/2006/relationships/hyperlink" Target="https://doi.org/10.3390/s18072185" TargetMode="External"/><Relationship Id="rId15" Type="http://schemas.openxmlformats.org/officeDocument/2006/relationships/hyperlink" Target="https://arxiv.org/abs/1609.06408" TargetMode="External"/><Relationship Id="rId16" Type="http://schemas.openxmlformats.org/officeDocument/2006/relationships/hyperlink" Target="https://doi.org/10.1109/TAC.2016.263896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arxiv.org/abs/2608.08323" TargetMode="External"/><Relationship Id="rId4" Type="http://schemas.openxmlformats.org/officeDocument/2006/relationships/hyperlink" Target="https://github.com/ChinmayMundane/PGIF_MPPI" TargetMode="External"/><Relationship Id="rId5" Type="http://schemas.openxmlformats.org/officeDocument/2006/relationships/hyperlink" Target="https://arxiv.org/abs/2506.21205" TargetMode="External"/><Relationship Id="rId6" Type="http://schemas.openxmlformats.org/officeDocument/2006/relationships/hyperlink" Target="https://doi.org/10.1109/IROS60139.2025.11246822" TargetMode="External"/><Relationship Id="rId7" Type="http://schemas.openxmlformats.org/officeDocument/2006/relationships/hyperlink" Target="https://arxiv.org/abs/2501.08520" TargetMode="External"/><Relationship Id="rId8" Type="http://schemas.openxmlformats.org/officeDocument/2006/relationships/hyperlink" Target="https://doi.org/10.1109/LRA.2025.3576071" TargetMode="External"/><Relationship Id="rId9" Type="http://schemas.openxmlformats.org/officeDocument/2006/relationships/hyperlink" Target="https://arxiv.org/abs/2307.08227" TargetMode="External"/><Relationship Id="rId10" Type="http://schemas.openxmlformats.org/officeDocument/2006/relationships/hyperlink" Target="https://doi.org/10.1109/IECON51785.2023.10312269" TargetMode="External"/><Relationship Id="rId11" Type="http://schemas.openxmlformats.org/officeDocument/2006/relationships/hyperlink" Target="https://arxiv.org/abs/2206.01781" TargetMode="External"/><Relationship Id="rId12" Type="http://schemas.openxmlformats.org/officeDocument/2006/relationships/hyperlink" Target="https://arxiv.org/abs/2104.14895" TargetMode="External"/><Relationship Id="rId13" Type="http://schemas.openxmlformats.org/officeDocument/2006/relationships/hyperlink" Target="https://doi.org/10.1016/j.automatica.2023.111359" TargetMode="External"/><Relationship Id="rId14" Type="http://schemas.openxmlformats.org/officeDocument/2006/relationships/hyperlink" Target="https://arxiv.org/abs/2007.11718" TargetMode="External"/><Relationship Id="rId15" Type="http://schemas.openxmlformats.org/officeDocument/2006/relationships/hyperlink" Target="https://doi.org/10.23919/ACC50511.2021.9483029" TargetMode="External"/><Relationship Id="rId16" Type="http://schemas.openxmlformats.org/officeDocument/2006/relationships/hyperlink" Target="https://arxiv.org/abs/1903.11199" TargetMode="External"/><Relationship Id="rId17" Type="http://schemas.openxmlformats.org/officeDocument/2006/relationships/hyperlink" Target="https://doi.org/10.23919/ECC.2019.8796030" TargetMode="External"/><Relationship Id="rId18" Type="http://schemas.openxmlformats.org/officeDocument/2006/relationships/hyperlink" Target="https://arxiv.org/abs/1903.04706" TargetMode="External"/><Relationship Id="rId19" Type="http://schemas.openxmlformats.org/officeDocument/2006/relationships/hyperlink" Target="https://doi.org/10.1109/CDC40024.2019.9029455" TargetMode="External"/><Relationship Id="rId20" Type="http://schemas.openxmlformats.org/officeDocument/2006/relationships/hyperlink" Target="https://doi.org/10.1109/IROS.2010.5654369" TargetMode="External"/><Relationship Id="rId21" Type="http://schemas.openxmlformats.org/officeDocument/2006/relationships/hyperlink" Target="https://doi.org/10.1177/0278364914557874" TargetMode="External"/><Relationship Id="rId22" Type="http://schemas.openxmlformats.org/officeDocument/2006/relationships/hyperlink" Target="https://arxiv.org/abs/2103.05668" TargetMode="External"/><Relationship Id="rId23" Type="http://schemas.openxmlformats.org/officeDocument/2006/relationships/hyperlink" Target="https://doi.org/10.1145/358374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arxiv.org/abs/2306.16740" TargetMode="External"/><Relationship Id="rId4" Type="http://schemas.openxmlformats.org/officeDocument/2006/relationships/hyperlink" Target="https://doi.org/10.1145/3700599" TargetMode="External"/><Relationship Id="rId5" Type="http://schemas.openxmlformats.org/officeDocument/2006/relationships/hyperlink" Target="https://github.com/ApolloAuto/apollo/tree/master/modules/planning/tasks" TargetMode="External"/><Relationship Id="rId6" Type="http://schemas.openxmlformats.org/officeDocument/2006/relationships/hyperlink" Target="https://doi.org/10.1007/978-3-642-19457-3_1" TargetMode="External"/><Relationship Id="rId7" Type="http://schemas.openxmlformats.org/officeDocument/2006/relationships/hyperlink" Target="https://github.com/snape/RVO2" TargetMode="External"/><Relationship Id="rId8" Type="http://schemas.openxmlformats.org/officeDocument/2006/relationships/hyperlink" Target="https://doi.org/10.1103/PhysRevE.51.4282" TargetMode="External"/><Relationship Id="rId9" Type="http://schemas.openxmlformats.org/officeDocument/2006/relationships/hyperlink" Target="https://doi.org/10.1109/LCSYS.2020.3004797" TargetMode="External"/><Relationship Id="rId10" Type="http://schemas.openxmlformats.org/officeDocument/2006/relationships/hyperlink" Target="https://doi.org/10.1016/j.ifacol.2020.12.2644" TargetMode="External"/><Relationship Id="rId11" Type="http://schemas.openxmlformats.org/officeDocument/2006/relationships/hyperlink" Target="https://doi.org/10.1109/LRA.2023.3316072" TargetMode="External"/><Relationship Id="rId12" Type="http://schemas.openxmlformats.org/officeDocument/2006/relationships/hyperlink" Target="https://github.com/robotics-upo/hunav_sim" TargetMode="External"/><Relationship Id="rId13" Type="http://schemas.openxmlformats.org/officeDocument/2006/relationships/hyperlink" Target="https://github.com/Ikhyeon-Cho/FastDEM" TargetMode="External"/><Relationship Id="rId14" Type="http://schemas.openxmlformats.org/officeDocument/2006/relationships/hyperlink" Target="https://arxiv.org/abs/2206.06079" TargetMode="External"/><Relationship Id="rId15" Type="http://schemas.openxmlformats.org/officeDocument/2006/relationships/hyperlink" Target="https://github.com/csiro-robotics/ohm" TargetMode="External"/><Relationship Id="rId16" Type="http://schemas.openxmlformats.org/officeDocument/2006/relationships/hyperlink" Target="https://arxiv.org/abs/2010.16018" TargetMode="External"/><Relationship Id="rId17" Type="http://schemas.openxmlformats.org/officeDocument/2006/relationships/hyperlink" Target="https://arxiv.org/abs/2303.01420" TargetMode="External"/><Relationship Id="rId18" Type="http://schemas.openxmlformats.org/officeDocument/2006/relationships/hyperlink" Target="https://github.com/leggedrobotics/art_plann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arxiv.org/abs/2403.13431" TargetMode="External"/><Relationship Id="rId4" Type="http://schemas.openxmlformats.org/officeDocument/2006/relationships/hyperlink" Target="https://arxiv.org/abs/2109.07150" TargetMode="External"/><Relationship Id="rId5" Type="http://schemas.openxmlformats.org/officeDocument/2006/relationships/hyperlink" Target="https://github.com/mstoelzle/solving-occlusion" TargetMode="External"/><Relationship Id="rId6" Type="http://schemas.openxmlformats.org/officeDocument/2006/relationships/hyperlink" Target="https://arxiv.org/abs/2407.08720" TargetMode="External"/><Relationship Id="rId7" Type="http://schemas.openxmlformats.org/officeDocument/2006/relationships/hyperlink" Target="https://doi.org/10.3390/app16168262" TargetMode="External"/><Relationship Id="rId8" Type="http://schemas.openxmlformats.org/officeDocument/2006/relationships/hyperlink" Target="https://arxiv.org/abs/2606.19555" TargetMode="External"/><Relationship Id="rId9" Type="http://schemas.openxmlformats.org/officeDocument/2006/relationships/hyperlink" Target="https://github.com/wuyi2121/SCAN-Planner" TargetMode="External"/><Relationship Id="rId10" Type="http://schemas.openxmlformats.org/officeDocument/2006/relationships/hyperlink" Target="https://joss.theoj.org/papers/10.21105/joss.09410" TargetMode="External"/><Relationship Id="rId11" Type="http://schemas.openxmlformats.org/officeDocument/2006/relationships/hyperlink" Target="https://github.com/dfki-ric/traversability_generator3d" TargetMode="External"/><Relationship Id="rId12" Type="http://schemas.openxmlformats.org/officeDocument/2006/relationships/hyperlink" Target="https://arxiv.org/abs/2109.13176" TargetMode="External"/><Relationship Id="rId13" Type="http://schemas.openxmlformats.org/officeDocument/2006/relationships/hyperlink" Target="https://github.com/unmannedlab/G-VOM" TargetMode="External"/><Relationship Id="rId14" Type="http://schemas.openxmlformats.org/officeDocument/2006/relationships/hyperlink" Target="https://github.com/leggedrobotics/G-VOM" TargetMode="External"/><Relationship Id="rId15" Type="http://schemas.openxmlformats.org/officeDocument/2006/relationships/hyperlink" Target="https://arxiv.org/abs/2405.15664" TargetMode="External"/><Relationship Id="rId16" Type="http://schemas.openxmlformats.org/officeDocument/2006/relationships/hyperlink" Target="https://github.com/dcmlr/groundgrid" TargetMode="External"/><Relationship Id="rId17" Type="http://schemas.openxmlformats.org/officeDocument/2006/relationships/hyperlink" Target="https://doi.org/10.3390/s22010194" TargetMode="External"/><Relationship Id="rId18" Type="http://schemas.openxmlformats.org/officeDocument/2006/relationships/hyperlink" Target="https://github.com/jkk-research/urban_road_filter" TargetMode="External"/><Relationship Id="rId19" Type="http://schemas.openxmlformats.org/officeDocument/2006/relationships/hyperlink" Target="https://github.com/mdrwiega/depth_nav_tools" TargetMode="External"/><Relationship Id="rId20" Type="http://schemas.openxmlformats.org/officeDocument/2006/relationships/hyperlink" Target="https://arxiv.org/abs/2503.11409" TargetMode="External"/><Relationship Id="rId21" Type="http://schemas.openxmlformats.org/officeDocument/2006/relationships/hyperlink" Target="https://github.com/nubot-nudt/LuSe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arxiv.org/abs/2108.05560" TargetMode="External"/><Relationship Id="rId4" Type="http://schemas.openxmlformats.org/officeDocument/2006/relationships/hyperlink" Target="https://github.com/LimHyungTae/patchwork" TargetMode="External"/><Relationship Id="rId5" Type="http://schemas.openxmlformats.org/officeDocument/2006/relationships/hyperlink" Target="https://arxiv.org/abs/2207.11919" TargetMode="External"/><Relationship Id="rId6" Type="http://schemas.openxmlformats.org/officeDocument/2006/relationships/hyperlink" Target="https://github.com/url-kaist/patchwork-plusplus" TargetMode="External"/><Relationship Id="rId7" Type="http://schemas.openxmlformats.org/officeDocument/2006/relationships/hyperlink" Target="https://arxiv.org/abs/2206.03190" TargetMode="External"/><Relationship Id="rId8" Type="http://schemas.openxmlformats.org/officeDocument/2006/relationships/hyperlink" Target="https://github.com/url-kaist/TRAVEL" TargetMode="External"/><Relationship Id="rId9" Type="http://schemas.openxmlformats.org/officeDocument/2006/relationships/hyperlink" Target="https://arxiv.org/abs/2406.18138" TargetMode="External"/><Relationship Id="rId10" Type="http://schemas.openxmlformats.org/officeDocument/2006/relationships/hyperlink" Target="https://arxiv.org/abs/2312.16839" TargetMode="External"/><Relationship Id="rId11" Type="http://schemas.openxmlformats.org/officeDocument/2006/relationships/hyperlink" Target="https://github.com/iit-DLSLab/elevation_mapping_gpu_ros2" TargetMode="External"/><Relationship Id="rId12" Type="http://schemas.openxmlformats.org/officeDocument/2006/relationships/hyperlink" Target="https://arxiv.org/abs/2204.12876" TargetMode="External"/><Relationship Id="rId13" Type="http://schemas.openxmlformats.org/officeDocument/2006/relationships/hyperlink" Target="https://github.com/leggedrobotics/elevation_mapping_cupy" TargetMode="External"/><Relationship Id="rId14" Type="http://schemas.openxmlformats.org/officeDocument/2006/relationships/hyperlink" Target="https://github.com/leggedrobotics/traversability_estimation" TargetMode="External"/><Relationship Id="rId15" Type="http://schemas.openxmlformats.org/officeDocument/2006/relationships/hyperlink" Target="https://arxiv.org/abs/2404.07110" TargetMode="External"/><Relationship Id="rId16" Type="http://schemas.openxmlformats.org/officeDocument/2006/relationships/hyperlink" Target="https://link.springer.com/article/10.1007/s10514-025-10202-x" TargetMode="External"/><Relationship Id="rId17" Type="http://schemas.openxmlformats.org/officeDocument/2006/relationships/hyperlink" Target="https://arxiv.org/abs/2305.08510" TargetMode="External"/><Relationship Id="rId18" Type="http://schemas.openxmlformats.org/officeDocument/2006/relationships/hyperlink" Target="https://github.com/leggedrobotics/wild_visual_navigation" TargetMode="External"/><Relationship Id="rId19" Type="http://schemas.openxmlformats.org/officeDocument/2006/relationships/hyperlink" Target="https://arxiv.org/abs/2312.16016" TargetMode="External"/><Relationship Id="rId20" Type="http://schemas.openxmlformats.org/officeDocument/2006/relationships/hyperlink" Target="https://github.com/shjung13/V-Strong" TargetMode="External"/><Relationship Id="rId21" Type="http://schemas.openxmlformats.org/officeDocument/2006/relationships/hyperlink" Target="https://arxiv.org/abs/2209.06522" TargetMode="External"/><Relationship Id="rId22" Type="http://schemas.openxmlformats.org/officeDocument/2006/relationships/hyperlink" Target="https://www.taekyung.me/research/scat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arxiv.org/abs/2305.18896" TargetMode="External"/><Relationship Id="rId4" Type="http://schemas.openxmlformats.org/officeDocument/2006/relationships/hyperlink" Target="https://arxiv.org/abs/2307.13991" TargetMode="External"/><Relationship Id="rId5" Type="http://schemas.openxmlformats.org/officeDocument/2006/relationships/hyperlink" Target="https://arxiv.org/abs/2403.14138" TargetMode="External"/><Relationship Id="rId6" Type="http://schemas.openxmlformats.org/officeDocument/2006/relationships/hyperlink" Target="https://arxiv.org/abs/2405.06265" TargetMode="External"/><Relationship Id="rId7" Type="http://schemas.openxmlformats.org/officeDocument/2006/relationships/hyperlink" Target="https://arxiv.org/abs/2509.11964" TargetMode="External"/><Relationship Id="rId8" Type="http://schemas.openxmlformats.org/officeDocument/2006/relationships/hyperlink" Target="https://www.youtube.com/watch?v=xJEXuIprkSg" TargetMode="External"/><Relationship Id="rId9" Type="http://schemas.openxmlformats.org/officeDocument/2006/relationships/hyperlink" Target="https://arxiv.org/abs/2412.07826" TargetMode="External"/><Relationship Id="rId10" Type="http://schemas.openxmlformats.org/officeDocument/2006/relationships/hyperlink" Target="https://arxiv.org/abs/2309.15302" TargetMode="External"/><Relationship Id="rId11" Type="http://schemas.openxmlformats.org/officeDocument/2006/relationships/hyperlink" Target="https://arxiv.org/abs/2609.20747" TargetMode="External"/><Relationship Id="rId12" Type="http://schemas.openxmlformats.org/officeDocument/2006/relationships/hyperlink" Target="https://arxiv.org/abs/2411.17134" TargetMode="External"/><Relationship Id="rId13" Type="http://schemas.openxmlformats.org/officeDocument/2006/relationships/hyperlink" Target="https://arxiv.org/abs/2609.19272" TargetMode="External"/><Relationship Id="rId14" Type="http://schemas.openxmlformats.org/officeDocument/2006/relationships/hyperlink" Target="https://wdc3iii.github.io/rom-nav/" TargetMode="External"/><Relationship Id="rId15" Type="http://schemas.openxmlformats.org/officeDocument/2006/relationships/hyperlink" Target="https://github.com/wdc3iii/rom-nav" TargetMode="External"/><Relationship Id="rId16" Type="http://schemas.openxmlformats.org/officeDocument/2006/relationships/hyperlink" Target="https://www.youtube.com/watch?v=l_YT4iP0W8Q" TargetMode="External"/><Relationship Id="rId17" Type="http://schemas.openxmlformats.org/officeDocument/2006/relationships/hyperlink" Target="https://github.com/wdc3iii/height_mapping" TargetMode="External"/><Relationship Id="rId18" Type="http://schemas.openxmlformats.org/officeDocument/2006/relationships/hyperlink" Target="https://arxiv.org/abs/2603.02976" TargetMode="External"/><Relationship Id="rId19" Type="http://schemas.openxmlformats.org/officeDocument/2006/relationships/hyperlink" Target="https://dreamflow-icra.github.io" TargetMode="External"/><Relationship Id="rId20" Type="http://schemas.openxmlformats.org/officeDocument/2006/relationships/hyperlink" Target="https://arxiv.org/abs/2201.08117" TargetMode="External"/><Relationship Id="rId21" Type="http://schemas.openxmlformats.org/officeDocument/2006/relationships/hyperlink" Target="https://arxiv.org/abs/2505.08712" TargetMode="External"/><Relationship Id="rId22" Type="http://schemas.openxmlformats.org/officeDocument/2006/relationships/hyperlink" Target="https://github.com/InternRobotics/NavD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arxiv.org/abs/2602.00814" TargetMode="External"/><Relationship Id="rId4" Type="http://schemas.openxmlformats.org/officeDocument/2006/relationships/hyperlink" Target="https://arxiv.org/abs/2603.07480" TargetMode="External"/><Relationship Id="rId5" Type="http://schemas.openxmlformats.org/officeDocument/2006/relationships/hyperlink" Target="https://sparolab.github.io/research/gsat/" TargetMode="External"/><Relationship Id="rId6" Type="http://schemas.openxmlformats.org/officeDocument/2006/relationships/hyperlink" Target="https://arxiv.org/abs/2607.23743" TargetMode="External"/><Relationship Id="rId7" Type="http://schemas.openxmlformats.org/officeDocument/2006/relationships/hyperlink" Target="https://unmannedlab.org/research/long-horizon-traversability" TargetMode="External"/><Relationship Id="rId8" Type="http://schemas.openxmlformats.org/officeDocument/2006/relationships/hyperlink" Target="https://arxiv.org/abs/2609.39755" TargetMode="External"/><Relationship Id="rId9" Type="http://schemas.openxmlformats.org/officeDocument/2006/relationships/hyperlink" Target="https://arxiv.org/abs/2605.00261" TargetMode="External"/><Relationship Id="rId10" Type="http://schemas.openxmlformats.org/officeDocument/2006/relationships/hyperlink" Target="https://arxiv.org/abs/2510.19364" TargetMode="External"/><Relationship Id="rId11" Type="http://schemas.openxmlformats.org/officeDocument/2006/relationships/hyperlink" Target="https://arxiv.org/abs/2609.39105" TargetMode="External"/><Relationship Id="rId12" Type="http://schemas.openxmlformats.org/officeDocument/2006/relationships/hyperlink" Target="https://arxiv.org/abs/2506.20049" TargetMode="External"/><Relationship Id="rId13" Type="http://schemas.openxmlformats.org/officeDocument/2006/relationships/hyperlink" Target="https://arxiv.org/abs/2503.10296"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rxiv.org/abs/2606.19122" TargetMode="External"/><Relationship Id="rId4" Type="http://schemas.openxmlformats.org/officeDocument/2006/relationships/hyperlink" Target="https://arxiv.org/abs/2511.03571" TargetMode="External"/><Relationship Id="rId5" Type="http://schemas.openxmlformats.org/officeDocument/2006/relationships/hyperlink" Target="https://github.com/MasterHow/OneOcc" TargetMode="External"/><Relationship Id="rId6" Type="http://schemas.openxmlformats.org/officeDocument/2006/relationships/hyperlink" Target="https://arxiv.org/abs/2603.12144" TargetMode="External"/><Relationship Id="rId7" Type="http://schemas.openxmlformats.org/officeDocument/2006/relationships/hyperlink" Target="https://arxiv.org/abs/2603.13108" TargetMode="External"/><Relationship Id="rId8" Type="http://schemas.openxmlformats.org/officeDocument/2006/relationships/hyperlink" Target="https://arxiv.org/abs/2311.12058" TargetMode="External"/><Relationship Id="rId9" Type="http://schemas.openxmlformats.org/officeDocument/2006/relationships/hyperlink" Target="https://github.com/Yzichen/FlashOCC" TargetMode="External"/><Relationship Id="rId10" Type="http://schemas.openxmlformats.org/officeDocument/2006/relationships/hyperlink" Target="https://arxiv.org/abs/2606.10903" TargetMode="External"/><Relationship Id="rId11" Type="http://schemas.openxmlformats.org/officeDocument/2006/relationships/hyperlink" Target="https://arxiv.org/abs/2507.20217" TargetMode="External"/><Relationship Id="rId12" Type="http://schemas.openxmlformats.org/officeDocument/2006/relationships/hyperlink" Target="https://humanoid-occupancy.github.io/" TargetMode="External"/><Relationship Id="rId13" Type="http://schemas.openxmlformats.org/officeDocument/2006/relationships/hyperlink" Target="https://arxiv.org/abs/2606.22971" TargetMode="External"/><Relationship Id="rId14" Type="http://schemas.openxmlformats.org/officeDocument/2006/relationships/hyperlink" Target="https://arxiv.org/abs/2112.00726" TargetMode="External"/><Relationship Id="rId15" Type="http://schemas.openxmlformats.org/officeDocument/2006/relationships/hyperlink" Target="https://arxiv.org/abs/2302.07817" TargetMode="External"/><Relationship Id="rId16" Type="http://schemas.openxmlformats.org/officeDocument/2006/relationships/hyperlink" Target="https://arxiv.org/abs/2303.0955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arxiv.org/abs/2408.14197" TargetMode="External"/><Relationship Id="rId4" Type="http://schemas.openxmlformats.org/officeDocument/2006/relationships/hyperlink" Target="https://arxiv.org/abs/2311.16038" TargetMode="External"/><Relationship Id="rId5" Type="http://schemas.openxmlformats.org/officeDocument/2006/relationships/hyperlink" Target="https://github.com/wzzheng/OccWorld" TargetMode="External"/><Relationship Id="rId6" Type="http://schemas.openxmlformats.org/officeDocument/2006/relationships/hyperlink" Target="https://arxiv.org/abs/2609.18442" TargetMode="External"/><Relationship Id="rId7" Type="http://schemas.openxmlformats.org/officeDocument/2006/relationships/hyperlink" Target="https://arxiv.org/abs/2606.20686" TargetMode="External"/><Relationship Id="rId8" Type="http://schemas.openxmlformats.org/officeDocument/2006/relationships/hyperlink" Target="https://arxiv.org/abs/2409.03272" TargetMode="External"/><Relationship Id="rId9" Type="http://schemas.openxmlformats.org/officeDocument/2006/relationships/hyperlink" Target="https://arxiv.org/abs/2412.13772" TargetMode="External"/><Relationship Id="rId10" Type="http://schemas.openxmlformats.org/officeDocument/2006/relationships/hyperlink" Target="https://arxiv.org/abs/2410.10429" TargetMode="External"/><Relationship Id="rId11" Type="http://schemas.openxmlformats.org/officeDocument/2006/relationships/hyperlink" Target="https://github.com/gusongen/DOME" TargetMode="External"/><Relationship Id="rId12" Type="http://schemas.openxmlformats.org/officeDocument/2006/relationships/hyperlink" Target="https://arxiv.org/abs/2605.17682" TargetMode="External"/><Relationship Id="rId13" Type="http://schemas.openxmlformats.org/officeDocument/2006/relationships/hyperlink" Target="https://arxiv.org/abs/2407.07587" TargetMode="External"/><Relationship Id="rId14" Type="http://schemas.openxmlformats.org/officeDocument/2006/relationships/hyperlink" Target="https://arxiv.org/abs/2404.02263" TargetMode="External"/><Relationship Id="rId15" Type="http://schemas.openxmlformats.org/officeDocument/2006/relationships/hyperlink" Target="https://arxiv.org/abs/2206.10118" TargetMode="External"/><Relationship Id="rId16" Type="http://schemas.openxmlformats.org/officeDocument/2006/relationships/hyperlink" Target="https://arxiv.org/abs/2001.0309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arxiv.org/abs/2008.05711" TargetMode="External"/><Relationship Id="rId4" Type="http://schemas.openxmlformats.org/officeDocument/2006/relationships/hyperlink" Target="https://github.com/nv-tlabs/lift-splat-shoot" TargetMode="External"/><Relationship Id="rId5" Type="http://schemas.openxmlformats.org/officeDocument/2006/relationships/hyperlink" Target="https://arxiv.org/abs/2203.17270" TargetMode="External"/><Relationship Id="rId6" Type="http://schemas.openxmlformats.org/officeDocument/2006/relationships/hyperlink" Target="https://github.com/fundamentalvision/BEVFormer" TargetMode="External"/><Relationship Id="rId7" Type="http://schemas.openxmlformats.org/officeDocument/2006/relationships/hyperlink" Target="https://arxiv.org/abs/2205.13542" TargetMode="External"/><Relationship Id="rId8" Type="http://schemas.openxmlformats.org/officeDocument/2006/relationships/hyperlink" Target="https://github.com/mit-han-lab/bevfusion" TargetMode="External"/><Relationship Id="rId9" Type="http://schemas.openxmlformats.org/officeDocument/2006/relationships/hyperlink" Target="https://arxiv.org/abs/2304.14365" TargetMode="External"/><Relationship Id="rId10" Type="http://schemas.openxmlformats.org/officeDocument/2006/relationships/hyperlink" Target="https://github.com/Tsinghua-MARS-Lab/Occ3D" TargetMode="External"/><Relationship Id="rId11" Type="http://schemas.openxmlformats.org/officeDocument/2006/relationships/hyperlink" Target="https://arxiv.org/abs/2312.17118" TargetMode="External"/><Relationship Id="rId12" Type="http://schemas.openxmlformats.org/officeDocument/2006/relationships/hyperlink" Target="https://github.com/MCG-NJU/SparseOcc" TargetMode="External"/><Relationship Id="rId13" Type="http://schemas.openxmlformats.org/officeDocument/2006/relationships/hyperlink" Target="https://arxiv.org/abs/2405.17429" TargetMode="External"/><Relationship Id="rId14" Type="http://schemas.openxmlformats.org/officeDocument/2006/relationships/hyperlink" Target="https://github.com/huang-yh/GaussianFormer" TargetMode="External"/><Relationship Id="rId15" Type="http://schemas.openxmlformats.org/officeDocument/2006/relationships/hyperlink" Target="https://arxiv.org/abs/2412.04384" TargetMode="External"/><Relationship Id="rId16" Type="http://schemas.openxmlformats.org/officeDocument/2006/relationships/hyperlink" Target="https://doi.org/10.3929/ethz-b-000272110" TargetMode="External"/><Relationship Id="rId17" Type="http://schemas.openxmlformats.org/officeDocument/2006/relationships/hyperlink" Target="https://doi.org/10.3929/ethz-a-010173654" TargetMode="External"/><Relationship Id="rId18" Type="http://schemas.openxmlformats.org/officeDocument/2006/relationships/hyperlink" Target="https://github.com/ANYbotics/elevation_mapping" TargetMode="External"/><Relationship Id="rId19" Type="http://schemas.openxmlformats.org/officeDocument/2006/relationships/hyperlink" Target="https://arxiv.org/abs/2011.12954" TargetMode="External"/><Relationship Id="rId20" Type="http://schemas.openxmlformats.org/officeDocument/2006/relationships/hyperlink" Target="https://github.com/unmannedlab/RELLIS-3D" TargetMode="External"/><Relationship Id="rId21" Type="http://schemas.openxmlformats.org/officeDocument/2006/relationships/hyperlink" Target="https://arxiv.org/abs/2002.05700" TargetMode="External"/><Relationship Id="rId22" Type="http://schemas.openxmlformats.org/officeDocument/2006/relationships/hyperlink" Target="https://github.com/gkahn13/badgr" TargetMode="External"/><Relationship Id="rId23" Type="http://schemas.openxmlformats.org/officeDocument/2006/relationships/hyperlink" Target="https://arxiv.org/abs/2202.12873" TargetMode="External"/><Relationship Id="rId24" Type="http://schemas.openxmlformats.org/officeDocument/2006/relationships/hyperlink" Target="https://arxiv.org/abs/2209.10788" TargetMode="External"/><Relationship Id="rId25" Type="http://schemas.openxmlformats.org/officeDocument/2006/relationships/hyperlink" Target="https://arxiv.org/abs/2402.19341" TargetMode="External"/><Relationship Id="rId26" Type="http://schemas.openxmlformats.org/officeDocument/2006/relationships/hyperlink" Target="https://arxiv.org/abs/2605.29565" TargetMode="External"/><Relationship Id="rId27" Type="http://schemas.openxmlformats.org/officeDocument/2006/relationships/hyperlink" Target="https://arxiv.org/abs/2603.2280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arxiv.org/abs/2609.20983" TargetMode="External"/><Relationship Id="rId4" Type="http://schemas.openxmlformats.org/officeDocument/2006/relationships/hyperlink" Target="https://arxiv.org/abs/2304.07193" TargetMode="External"/><Relationship Id="rId5" Type="http://schemas.openxmlformats.org/officeDocument/2006/relationships/hyperlink" Target="https://github.com/facebookresearch/dinov2" TargetMode="External"/><Relationship Id="rId6" Type="http://schemas.openxmlformats.org/officeDocument/2006/relationships/hyperlink" Target="https://arxiv.org/abs/2508.10104" TargetMode="External"/><Relationship Id="rId7" Type="http://schemas.openxmlformats.org/officeDocument/2006/relationships/hyperlink" Target="https://github.com/facebookresearch/dinov3" TargetMode="External"/><Relationship Id="rId8" Type="http://schemas.openxmlformats.org/officeDocument/2006/relationships/hyperlink" Target="https://arxiv.org/abs/2406.09414" TargetMode="External"/><Relationship Id="rId9" Type="http://schemas.openxmlformats.org/officeDocument/2006/relationships/hyperlink" Target="https://github.com/DepthAnything/Depth-Anything-V2" TargetMode="External"/><Relationship Id="rId10" Type="http://schemas.openxmlformats.org/officeDocument/2006/relationships/hyperlink" Target="https://arxiv.org/abs/2511.10647" TargetMode="External"/><Relationship Id="rId11" Type="http://schemas.openxmlformats.org/officeDocument/2006/relationships/hyperlink" Target="https://github.com/ByteDance-Seed/Depth-Anything-3" TargetMode="External"/><Relationship Id="rId12" Type="http://schemas.openxmlformats.org/officeDocument/2006/relationships/hyperlink" Target="https://arxiv.org/abs/2408.00714" TargetMode="External"/><Relationship Id="rId13" Type="http://schemas.openxmlformats.org/officeDocument/2006/relationships/hyperlink" Target="https://github.com/facebookresearch/sam2" TargetMode="External"/><Relationship Id="rId14" Type="http://schemas.openxmlformats.org/officeDocument/2006/relationships/hyperlink" Target="https://arxiv.org/abs/2511.16719" TargetMode="External"/><Relationship Id="rId15" Type="http://schemas.openxmlformats.org/officeDocument/2006/relationships/hyperlink" Target="https://github.com/facebookresearch/sam3" TargetMode="External"/><Relationship Id="rId16" Type="http://schemas.openxmlformats.org/officeDocument/2006/relationships/hyperlink" Target="https://arxiv.org/abs/2303.05499" TargetMode="External"/><Relationship Id="rId17" Type="http://schemas.openxmlformats.org/officeDocument/2006/relationships/hyperlink" Target="https://github.com/IDEA-Research/GroundingDINO" TargetMode="External"/><Relationship Id="rId18" Type="http://schemas.openxmlformats.org/officeDocument/2006/relationships/hyperlink" Target="https://github.com/ultralytics/ultralytics" TargetMode="External"/><Relationship Id="rId19" Type="http://schemas.openxmlformats.org/officeDocument/2006/relationships/hyperlink" Target="https://arxiv.org/abs/2304.08069" TargetMode="External"/><Relationship Id="rId20" Type="http://schemas.openxmlformats.org/officeDocument/2006/relationships/hyperlink" Target="https://github.com/lyuwenyu/RT-DETR" TargetMode="External"/><Relationship Id="rId21" Type="http://schemas.openxmlformats.org/officeDocument/2006/relationships/hyperlink" Target="https://arxiv.org/abs/2405.14458" TargetMode="External"/><Relationship Id="rId22" Type="http://schemas.openxmlformats.org/officeDocument/2006/relationships/hyperlink" Target="https://github.com/THU-MIG/yolov10" TargetMode="External"/><Relationship Id="rId23" Type="http://schemas.openxmlformats.org/officeDocument/2006/relationships/hyperlink" Target="https://arxiv.org/abs/2410.13842" TargetMode="External"/><Relationship Id="rId24" Type="http://schemas.openxmlformats.org/officeDocument/2006/relationships/hyperlink" Target="https://github.com/Peterande/D-FINE" TargetMode="External"/><Relationship Id="rId25" Type="http://schemas.openxmlformats.org/officeDocument/2006/relationships/hyperlink" Target="https://arxiv.org/abs/2511.09554" TargetMode="External"/><Relationship Id="rId26" Type="http://schemas.openxmlformats.org/officeDocument/2006/relationships/hyperlink" Target="https://github.com/roboflow/rf-detr" TargetMode="External"/><Relationship Id="rId27" Type="http://schemas.openxmlformats.org/officeDocument/2006/relationships/hyperlink" Target="https://arxiv.org/abs/2110.06864" TargetMode="External"/><Relationship Id="rId28" Type="http://schemas.openxmlformats.org/officeDocument/2006/relationships/hyperlink" Target="https://github.com/FoundationVision/ByteTrack" TargetMode="External"/><Relationship Id="rId29" Type="http://schemas.openxmlformats.org/officeDocument/2006/relationships/hyperlink" Target="https://arxiv.org/abs/2206.14651" TargetMode="External"/><Relationship Id="rId30" Type="http://schemas.openxmlformats.org/officeDocument/2006/relationships/hyperlink" Target="https://github.com/NirAharon/BoT-SORT" TargetMode="External"/><Relationship Id="rId31" Type="http://schemas.openxmlformats.org/officeDocument/2006/relationships/hyperlink" Target="https://arxiv.org/abs/1803.10892" TargetMode="External"/><Relationship Id="rId32" Type="http://schemas.openxmlformats.org/officeDocument/2006/relationships/hyperlink" Target="https://github.com/agrimgupta92/sgan" TargetMode="External"/><Relationship Id="rId33" Type="http://schemas.openxmlformats.org/officeDocument/2006/relationships/hyperlink" Target="https://arxiv.org/abs/1903.07933" TargetMode="External"/><Relationship Id="rId34" Type="http://schemas.openxmlformats.org/officeDocument/2006/relationships/hyperlink" Target="https://arxiv.org/abs/2103.14023" TargetMode="External"/><Relationship Id="rId35" Type="http://schemas.openxmlformats.org/officeDocument/2006/relationships/hyperlink" Target="https://github.com/Khrylx/AgentForm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arxiv.org/abs/2203.13777" TargetMode="External"/><Relationship Id="rId4" Type="http://schemas.openxmlformats.org/officeDocument/2006/relationships/hyperlink" Target="https://github.com/gutianpei/MID" TargetMode="External"/><Relationship Id="rId5" Type="http://schemas.openxmlformats.org/officeDocument/2006/relationships/hyperlink" Target="https://arxiv.org/abs/2303.10895" TargetMode="External"/><Relationship Id="rId6" Type="http://schemas.openxmlformats.org/officeDocument/2006/relationships/hyperlink" Target="https://github.com/MediaBrain-SJTU/LED" TargetMode="External"/><Relationship Id="rId7" Type="http://schemas.openxmlformats.org/officeDocument/2006/relationships/hyperlink" Target="https://arxiv.org/abs/2403.18452" TargetMode="External"/><Relationship Id="rId8" Type="http://schemas.openxmlformats.org/officeDocument/2006/relationships/hyperlink" Target="https://github.com/InhwanBae/SingularTrajectory" TargetMode="External"/><Relationship Id="rId9" Type="http://schemas.openxmlformats.org/officeDocument/2006/relationships/hyperlink" Target="https://arxiv.org/abs/2503.09950" TargetMode="External"/><Relationship Id="rId10" Type="http://schemas.openxmlformats.org/officeDocument/2006/relationships/hyperlink" Target="https://github.com/DSL-Lab/MoFlow" TargetMode="External"/><Relationship Id="rId11" Type="http://schemas.openxmlformats.org/officeDocument/2006/relationships/hyperlink" Target="https://arxiv.org/abs/2006.11275" TargetMode="External"/><Relationship Id="rId12" Type="http://schemas.openxmlformats.org/officeDocument/2006/relationships/hyperlink" Target="https://github.com/tianweiy/CenterPoint" TargetMode="External"/><Relationship Id="rId13" Type="http://schemas.openxmlformats.org/officeDocument/2006/relationships/hyperlink" Target="https://arxiv.org/abs/1907.03961" TargetMode="External"/><Relationship Id="rId14" Type="http://schemas.openxmlformats.org/officeDocument/2006/relationships/hyperlink" Target="https://github.com/xinshuoweng/AB3DMOT" TargetMode="External"/><Relationship Id="rId15" Type="http://schemas.openxmlformats.org/officeDocument/2006/relationships/hyperlink" Target="https://arxiv.org/abs/2012.12395" TargetMode="External"/><Relationship Id="rId16" Type="http://schemas.openxmlformats.org/officeDocument/2006/relationships/hyperlink" Target="https://arxiv.org/abs/2003.06754" TargetMode="External"/><Relationship Id="rId17" Type="http://schemas.openxmlformats.org/officeDocument/2006/relationships/hyperlink" Target="https://github.com/pxiangwu/MotionNet" TargetMode="External"/><Relationship Id="rId18" Type="http://schemas.openxmlformats.org/officeDocument/2006/relationships/hyperlink" Target="https://arxiv.org/abs/2406.08691" TargetMode="External"/><Relationship Id="rId19" Type="http://schemas.openxmlformats.org/officeDocument/2006/relationships/hyperlink" Target="https://arxiv.org/abs/2004.14079" TargetMode="External"/><Relationship Id="rId20" Type="http://schemas.openxmlformats.org/officeDocument/2006/relationships/hyperlink" Target="https://github.com/VisualComputingInstitute/2D_lidar_person_detection" TargetMode="External"/><Relationship Id="rId21" Type="http://schemas.openxmlformats.org/officeDocument/2006/relationships/hyperlink" Target="https://arxiv.org/abs/2412.15000" TargetMode="External"/><Relationship Id="rId22" Type="http://schemas.openxmlformats.org/officeDocument/2006/relationships/hyperlink" Target="https://arxiv.org/abs/1910.11792" TargetMode="External"/><Relationship Id="rId23" Type="http://schemas.openxmlformats.org/officeDocument/2006/relationships/hyperlink" Target="https://jrdb.erc.monash.edu/" TargetMode="External"/><Relationship Id="rId24" Type="http://schemas.openxmlformats.org/officeDocument/2006/relationships/hyperlink" Target="https://arxiv.org/abs/2107.06780" TargetMode="External"/><Relationship Id="rId25" Type="http://schemas.openxmlformats.org/officeDocument/2006/relationships/hyperlink" Target="https://github.com/VisualComputingInstitute/Person_MinkUNet" TargetMode="External"/><Relationship Id="rId26" Type="http://schemas.openxmlformats.org/officeDocument/2006/relationships/hyperlink" Target="https://arxiv.org/abs/2106.11239" TargetMode="External"/><Relationship Id="rId27" Type="http://schemas.openxmlformats.org/officeDocument/2006/relationships/hyperlink" Target="https://arxiv.org/abs/2408.15503" TargetMode="External"/><Relationship Id="rId28" Type="http://schemas.openxmlformats.org/officeDocument/2006/relationships/hyperlink" Target="https://github.com/suhaisheng/RoboSense" TargetMode="External"/><Relationship Id="rId29" Type="http://schemas.openxmlformats.org/officeDocument/2006/relationships/hyperlink" Target="https://arxiv.org/abs/1906.06059" TargetMode="External"/><Relationship Id="rId30" Type="http://schemas.openxmlformats.org/officeDocument/2006/relationships/hyperlink" Target="https://github.com/vita-epfl/monoloco" TargetMode="External"/><Relationship Id="rId31" Type="http://schemas.openxmlformats.org/officeDocument/2006/relationships/hyperlink" Target="https://github.com/ros-navigation/navigation2_dynamic" TargetMode="External"/><Relationship Id="rId32" Type="http://schemas.openxmlformats.org/officeDocument/2006/relationships/hyperlink" Target="https://www.nature.com/articles/s41467-023-44554-8" TargetMode="External"/><Relationship Id="rId33" Type="http://schemas.openxmlformats.org/officeDocument/2006/relationships/hyperlink" Target="https://github.com/hku-mars/M-detecto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arxiv.org/abs/2304.10049" TargetMode="External"/><Relationship Id="rId4" Type="http://schemas.openxmlformats.org/officeDocument/2006/relationships/hyperlink" Target="https://github.com/ethz-asl/dynablox" TargetMode="External"/><Relationship Id="rId5" Type="http://schemas.openxmlformats.org/officeDocument/2006/relationships/hyperlink" Target="https://arxiv.org/abs/1605.02406" TargetMode="External"/><Relationship Id="rId6" Type="http://schemas.openxmlformats.org/officeDocument/2006/relationships/hyperlink" Target="https://github.com/TheCodez/dynamic-occupancy-grid-map" TargetMode="External"/><Relationship Id="rId7" Type="http://schemas.openxmlformats.org/officeDocument/2006/relationships/hyperlink" Target="https://arxiv.org/abs/2510.00405" TargetMode="External"/><Relationship Id="rId8" Type="http://schemas.openxmlformats.org/officeDocument/2006/relationships/hyperlink" Target="https://arxiv.org/abs/2602.09076" TargetMode="External"/><Relationship Id="rId9" Type="http://schemas.openxmlformats.org/officeDocument/2006/relationships/hyperlink" Target="https://arxiv.org/abs/2508.05634" TargetMode="External"/><Relationship Id="rId10" Type="http://schemas.openxmlformats.org/officeDocument/2006/relationships/hyperlink" Target="https://arxiv.org/abs/2601.09856" TargetMode="External"/><Relationship Id="rId11" Type="http://schemas.openxmlformats.org/officeDocument/2006/relationships/hyperlink" Target="https://arxiv.org/abs/2609.06195" TargetMode="External"/><Relationship Id="rId12" Type="http://schemas.openxmlformats.org/officeDocument/2006/relationships/hyperlink" Target="https://arxiv.org/abs/2603.10407" TargetMode="External"/><Relationship Id="rId13" Type="http://schemas.openxmlformats.org/officeDocument/2006/relationships/hyperlink" Target="https://github.com/fate-79/Rethinking-Gaussian-Trajectory-Predictors" TargetMode="External"/><Relationship Id="rId14" Type="http://schemas.openxmlformats.org/officeDocument/2006/relationships/hyperlink" Target="https://arxiv.org/abs/2608.0775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arxiv.org/abs/2306.14846" TargetMode="External"/><Relationship Id="rId4" Type="http://schemas.openxmlformats.org/officeDocument/2006/relationships/hyperlink" Target="https://github.com/robodhruv/visualnav-transformer" TargetMode="External"/><Relationship Id="rId5" Type="http://schemas.openxmlformats.org/officeDocument/2006/relationships/hyperlink" Target="https://arxiv.org/abs/2310.07896" TargetMode="External"/><Relationship Id="rId6" Type="http://schemas.openxmlformats.org/officeDocument/2006/relationships/hyperlink" Target="https://arxiv.org/abs/2210.03370" TargetMode="External"/><Relationship Id="rId7" Type="http://schemas.openxmlformats.org/officeDocument/2006/relationships/hyperlink" Target="https://arxiv.org/abs/2506.21853" TargetMode="External"/><Relationship Id="rId8" Type="http://schemas.openxmlformats.org/officeDocument/2006/relationships/hyperlink" Target="https://arxiv.org/abs/2609.20747" TargetMode="External"/><Relationship Id="rId9" Type="http://schemas.openxmlformats.org/officeDocument/2006/relationships/hyperlink" Target="https://arxiv.org/abs/2606.29222" TargetMode="External"/><Relationship Id="rId10" Type="http://schemas.openxmlformats.org/officeDocument/2006/relationships/hyperlink" Target="https://arxiv.org/abs/2609.09158" TargetMode="External"/><Relationship Id="rId11" Type="http://schemas.openxmlformats.org/officeDocument/2006/relationships/hyperlink" Target="https://arxiv.org/abs/2609.19272" TargetMode="External"/><Relationship Id="rId12" Type="http://schemas.openxmlformats.org/officeDocument/2006/relationships/hyperlink" Target="https://wdc3iii.github.io/rom-nav/" TargetMode="External"/><Relationship Id="rId13" Type="http://schemas.openxmlformats.org/officeDocument/2006/relationships/hyperlink" Target="https://github.com/wdc3iii/rom-nav" TargetMode="External"/><Relationship Id="rId14" Type="http://schemas.openxmlformats.org/officeDocument/2006/relationships/hyperlink" Target="https://www.youtube.com/watch?v=l_YT4iP0W8Q" TargetMode="External"/><Relationship Id="rId15" Type="http://schemas.openxmlformats.org/officeDocument/2006/relationships/hyperlink" Target="https://arxiv.org/abs/2210.14791" TargetMode="External"/><Relationship Id="rId16" Type="http://schemas.openxmlformats.org/officeDocument/2006/relationships/hyperlink" Target="https://github.com/SimarKareer/ViNL" TargetMode="External"/><Relationship Id="rId17" Type="http://schemas.openxmlformats.org/officeDocument/2006/relationships/hyperlink" Target="https://arxiv.org/abs/2603.13888" TargetMode="External"/><Relationship Id="rId18" Type="http://schemas.openxmlformats.org/officeDocument/2006/relationships/hyperlink" Target="https://github.com/leggedrobotics/sru-path-aware-rl" TargetMode="External"/><Relationship Id="rId19" Type="http://schemas.openxmlformats.org/officeDocument/2006/relationships/hyperlink" Target="https://arxiv.org/abs/2504.19322" TargetMode="External"/><Relationship Id="rId20" Type="http://schemas.openxmlformats.org/officeDocument/2006/relationships/hyperlink" Target="https://github.com/leggedrobotics/fdm" TargetMode="External"/><Relationship Id="rId21" Type="http://schemas.openxmlformats.org/officeDocument/2006/relationships/hyperlink" Target="https://arxiv.org/abs/2405.01792" TargetMode="External"/><Relationship Id="rId22" Type="http://schemas.openxmlformats.org/officeDocument/2006/relationships/hyperlink" Target="https://junja94.github.io/learning_robust_autonomous_navigation_and_locomotion_for_wheeled_legged_robots/" TargetMode="External"/><Relationship Id="rId23" Type="http://schemas.openxmlformats.org/officeDocument/2006/relationships/hyperlink" Target="https://arxiv.org/abs/2506.05997" TargetMode="External"/><Relationship Id="rId24" Type="http://schemas.openxmlformats.org/officeDocument/2006/relationships/hyperlink" Target="https://github.com/leggedrobotics/sru-pytorch-spatial-learning" TargetMode="External"/><Relationship Id="rId25" Type="http://schemas.openxmlformats.org/officeDocument/2006/relationships/hyperlink" Target="https://arxiv.org/abs/2605.19206" TargetMode="External"/><Relationship Id="rId26" Type="http://schemas.openxmlformats.org/officeDocument/2006/relationships/hyperlink" Target="https://arxiv.org/abs/2603.02976" TargetMode="External"/><Relationship Id="rId27" Type="http://schemas.openxmlformats.org/officeDocument/2006/relationships/hyperlink" Target="https://dreamflow-icra.github.io"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huggingface.co/papers/2607.20785" TargetMode="External"/><Relationship Id="rId4" Type="http://schemas.openxmlformats.org/officeDocument/2006/relationships/hyperlink" Target="https://arxiv.org/abs/2607.28560" TargetMode="External"/><Relationship Id="rId5" Type="http://schemas.openxmlformats.org/officeDocument/2006/relationships/hyperlink" Target="https://github.com/InternRobotics/NavDP/tree/main/baselines/x-navdp" TargetMode="External"/><Relationship Id="rId6" Type="http://schemas.openxmlformats.org/officeDocument/2006/relationships/hyperlink" Target="https://yty-sky.github.io/x-navdp-project-page/" TargetMode="External"/><Relationship Id="rId7" Type="http://schemas.openxmlformats.org/officeDocument/2006/relationships/hyperlink" Target="https://arxiv.org/abs/2603.12868" TargetMode="External"/><Relationship Id="rId8" Type="http://schemas.openxmlformats.org/officeDocument/2006/relationships/hyperlink" Target="https://arxiv.org/abs/2512.19629" TargetMode="External"/><Relationship Id="rId9" Type="http://schemas.openxmlformats.org/officeDocument/2006/relationships/hyperlink" Target="https://github.com/InternRobotics/NavDP/tree/main/baselines/logoplanner" TargetMode="External"/><Relationship Id="rId10" Type="http://schemas.openxmlformats.org/officeDocument/2006/relationships/hyperlink" Target="https://steinate.github.io/logoplanner.github.io/" TargetMode="External"/><Relationship Id="rId11" Type="http://schemas.openxmlformats.org/officeDocument/2006/relationships/hyperlink" Target="https://arxiv.org/abs/2510.23576" TargetMode="External"/><Relationship Id="rId12" Type="http://schemas.openxmlformats.org/officeDocument/2006/relationships/hyperlink" Target="https://github.com/GalaxyGeneralRobotics/UrbanVLA" TargetMode="External"/><Relationship Id="rId13" Type="http://schemas.openxmlformats.org/officeDocument/2006/relationships/hyperlink" Target="https://pku-epic.github.io/UrbanVLA-Web/" TargetMode="External"/><Relationship Id="rId14" Type="http://schemas.openxmlformats.org/officeDocument/2006/relationships/hyperlink" Target="https://arxiv.org/abs/2507.22028" TargetMode="External"/><Relationship Id="rId15" Type="http://schemas.openxmlformats.org/officeDocument/2006/relationships/hyperlink" Target="https://github.com/VAIL-UCLA/S2E" TargetMode="External"/><Relationship Id="rId16" Type="http://schemas.openxmlformats.org/officeDocument/2006/relationships/hyperlink" Target="https://vail-ucla.github.io/S2E" TargetMode="External"/><Relationship Id="rId17" Type="http://schemas.openxmlformats.org/officeDocument/2006/relationships/hyperlink" Target="https://arxiv.org/abs/2606.20458" TargetMode="External"/><Relationship Id="rId18" Type="http://schemas.openxmlformats.org/officeDocument/2006/relationships/hyperlink" Target="https://arxiv.org/abs/2505.05592" TargetMode="External"/><Relationship Id="rId19" Type="http://schemas.openxmlformats.org/officeDocument/2006/relationships/hyperlink" Target="https://arxiv.org/abs/2506.03834" TargetMode="External"/><Relationship Id="rId20" Type="http://schemas.openxmlformats.org/officeDocument/2006/relationships/hyperlink" Target="https://airlab-sogang.github.io/CARE/" TargetMode="External"/><Relationship Id="rId21" Type="http://schemas.openxmlformats.org/officeDocument/2006/relationships/hyperlink" Target="https://arxiv.org/abs/2610.12877" TargetMode="External"/><Relationship Id="rId22" Type="http://schemas.openxmlformats.org/officeDocument/2006/relationships/hyperlink" Target="https://tame-nav.github.io/" TargetMode="External"/><Relationship Id="rId23" Type="http://schemas.openxmlformats.org/officeDocument/2006/relationships/hyperlink" Target="https://arxiv.org/abs/2603.09460" TargetMode="External"/><Relationship Id="rId24" Type="http://schemas.openxmlformats.org/officeDocument/2006/relationships/hyperlink" Target="https://github.com/11chens/SEA-Nav-Code" TargetMode="External"/><Relationship Id="rId25" Type="http://schemas.openxmlformats.org/officeDocument/2006/relationships/hyperlink" Target="https://arxiv.org/abs/2409.15634" TargetMode="External"/><Relationship Id="rId26" Type="http://schemas.openxmlformats.org/officeDocument/2006/relationships/hyperlink" Target="https://github.com/Zhefan-Xu/NavRL" TargetMode="External"/><Relationship Id="rId27" Type="http://schemas.openxmlformats.org/officeDocument/2006/relationships/hyperlink" Target="https://arxiv.org/abs/2609.0871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arxiv.org/abs/2609.38873" TargetMode="External"/><Relationship Id="rId4" Type="http://schemas.openxmlformats.org/officeDocument/2006/relationships/hyperlink" Target="https://github.com/psh0823/dodger" TargetMode="External"/><Relationship Id="rId5" Type="http://schemas.openxmlformats.org/officeDocument/2006/relationships/hyperlink" Target="https://arxiv.org/abs/2412.09149" TargetMode="External"/><Relationship Id="rId6" Type="http://schemas.openxmlformats.org/officeDocument/2006/relationships/hyperlink" Target="https://github.com/uzh-rpg/sitt"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2501.01806" TargetMode="External"/><Relationship Id="rId4" Type="http://schemas.openxmlformats.org/officeDocument/2006/relationships/hyperlink" Target="https://trg-planner.github.io/" TargetMode="External"/><Relationship Id="rId5" Type="http://schemas.openxmlformats.org/officeDocument/2006/relationships/hyperlink" Target="https://arxiv.org/abs/2608.11175" TargetMode="External"/><Relationship Id="rId6" Type="http://schemas.openxmlformats.org/officeDocument/2006/relationships/hyperlink" Target="https://arxiv.org/abs/2602.0793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arxiv.org/abs/2501.15564" TargetMode="External"/><Relationship Id="rId4" Type="http://schemas.openxmlformats.org/officeDocument/2006/relationships/hyperlink" Target="https://github.com/ZhengYinan-AIR/Diffusion-Planner" TargetMode="External"/><Relationship Id="rId5" Type="http://schemas.openxmlformats.org/officeDocument/2006/relationships/hyperlink" Target="https://github.com/autowarefoundation/autoware_universe/pull/10957" TargetMode="External"/><Relationship Id="rId6" Type="http://schemas.openxmlformats.org/officeDocument/2006/relationships/hyperlink" Target="https://www.youtube.com/watch?v=Ug9Pv2fOdmg" TargetMode="External"/><Relationship Id="rId7" Type="http://schemas.openxmlformats.org/officeDocument/2006/relationships/hyperlink" Target="https://arxiv.org/abs/2606.20686" TargetMode="External"/><Relationship Id="rId8" Type="http://schemas.openxmlformats.org/officeDocument/2006/relationships/hyperlink" Target="https://arxiv.org/abs/2505.08712" TargetMode="External"/><Relationship Id="rId9" Type="http://schemas.openxmlformats.org/officeDocument/2006/relationships/hyperlink" Target="https://github.com/InternRobotics/NavDP" TargetMode="External"/><Relationship Id="rId10" Type="http://schemas.openxmlformats.org/officeDocument/2006/relationships/hyperlink" Target="https://arxiv.org/abs/2602.00923" TargetMode="External"/><Relationship Id="rId11" Type="http://schemas.openxmlformats.org/officeDocument/2006/relationships/hyperlink" Target="https://arxiv.org/abs/2411.15139" TargetMode="External"/><Relationship Id="rId12" Type="http://schemas.openxmlformats.org/officeDocument/2006/relationships/hyperlink" Target="https://github.com/hustvl/diffusiondrive" TargetMode="External"/><Relationship Id="rId13" Type="http://schemas.openxmlformats.org/officeDocument/2006/relationships/hyperlink" Target="https://arxiv.org/abs/2604.12656" TargetMode="External"/><Relationship Id="rId14" Type="http://schemas.openxmlformats.org/officeDocument/2006/relationships/hyperlink" Target="https://arxiv.org/abs/2511.18729" TargetMode="External"/><Relationship Id="rId15" Type="http://schemas.openxmlformats.org/officeDocument/2006/relationships/hyperlink" Target="https://arxiv.org/abs/2408.14197" TargetMode="External"/><Relationship Id="rId16" Type="http://schemas.openxmlformats.org/officeDocument/2006/relationships/hyperlink" Target="https://arxiv.org/abs/2609.18442" TargetMode="External"/><Relationship Id="rId17" Type="http://schemas.openxmlformats.org/officeDocument/2006/relationships/hyperlink" Target="https://arxiv.org/abs/2604.04166" TargetMode="External"/><Relationship Id="rId18" Type="http://schemas.openxmlformats.org/officeDocument/2006/relationships/hyperlink" Target="https://nmoma.github.io/nmoma/" TargetMode="External"/><Relationship Id="rId19" Type="http://schemas.openxmlformats.org/officeDocument/2006/relationships/hyperlink" Target="https://github.com/nmoma/nmoma" TargetMode="External"/><Relationship Id="rId20" Type="http://schemas.openxmlformats.org/officeDocument/2006/relationships/hyperlink" Target="https://arxiv.org/abs/2603.10330" TargetMode="External"/><Relationship Id="rId21" Type="http://schemas.openxmlformats.org/officeDocument/2006/relationships/hyperlink" Target="https://arxiv.org/abs/2602.10285" TargetMode="External"/><Relationship Id="rId22" Type="http://schemas.openxmlformats.org/officeDocument/2006/relationships/hyperlink" Target="https://arxiv.org/abs/2604.21489" TargetMode="External"/><Relationship Id="rId23" Type="http://schemas.openxmlformats.org/officeDocument/2006/relationships/hyperlink" Target="https://arxiv.org/abs/2607.21661" TargetMode="External"/><Relationship Id="rId24" Type="http://schemas.openxmlformats.org/officeDocument/2006/relationships/hyperlink" Target="https://arxiv.org/abs/2505.13131" TargetMode="External"/><Relationship Id="rId25" Type="http://schemas.openxmlformats.org/officeDocument/2006/relationships/hyperlink" Target="https://arxiv.org/abs/2606.24208" TargetMode="External"/><Relationship Id="rId26" Type="http://schemas.openxmlformats.org/officeDocument/2006/relationships/hyperlink" Target="https://arxiv.org/abs/2302.00482" TargetMode="External"/><Relationship Id="rId27" Type="http://schemas.openxmlformats.org/officeDocument/2006/relationships/hyperlink" Target="https://github.com/atong01/conditional-flow-matching" TargetMode="External"/><Relationship Id="rId28" Type="http://schemas.openxmlformats.org/officeDocument/2006/relationships/hyperlink" Target="https://arxiv.org/abs/2304.1477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doi.org/10.1007/BF01386390" TargetMode="External"/><Relationship Id="rId4" Type="http://schemas.openxmlformats.org/officeDocument/2006/relationships/hyperlink" Target="https://doi.org/10.1109/TSSC.1968.300136" TargetMode="External"/><Relationship Id="rId5" Type="http://schemas.openxmlformats.org/officeDocument/2006/relationships/hyperlink" Target="https://doi.org/10.1109/100.580977" TargetMode="External"/><Relationship Id="rId6" Type="http://schemas.openxmlformats.org/officeDocument/2006/relationships/hyperlink" Target="https://doi.org/10.1177/0278364909359210" TargetMode="External"/><Relationship Id="rId7" Type="http://schemas.openxmlformats.org/officeDocument/2006/relationships/hyperlink" Target="https://doi.org/10.1016/j.robot.2016.11.007" TargetMode="External"/><Relationship Id="rId8" Type="http://schemas.openxmlformats.org/officeDocument/2006/relationships/hyperlink" Target="https://github.com/rst-tu-dortmund/teb_local_planner" TargetMode="External"/><Relationship Id="rId9" Type="http://schemas.openxmlformats.org/officeDocument/2006/relationships/hyperlink" Target="https://arxiv.org/abs/2003.00368" TargetMode="External"/><Relationship Id="rId10" Type="http://schemas.openxmlformats.org/officeDocument/2006/relationships/hyperlink" Target="https://github.com/ros-navigation/navigation2" TargetMode="External"/><Relationship Id="rId11" Type="http://schemas.openxmlformats.org/officeDocument/2006/relationships/hyperlink" Target="https://arxiv.org/abs/2307.15236" TargetMode="External"/><Relationship Id="rId12" Type="http://schemas.openxmlformats.org/officeDocument/2006/relationships/hyperlink" Target="https://arxiv.org/abs/2401.13078" TargetMode="External"/><Relationship Id="rId13" Type="http://schemas.openxmlformats.org/officeDocument/2006/relationships/hyperlink" Target="https://arxiv.org/abs/2309.15970" TargetMode="External"/><Relationship Id="rId14" Type="http://schemas.openxmlformats.org/officeDocument/2006/relationships/hyperlink" Target="https://github.com/anindex/mpot" TargetMode="External"/><Relationship Id="rId15" Type="http://schemas.openxmlformats.org/officeDocument/2006/relationships/hyperlink" Target="https://github.com/anindex/ssax" TargetMode="External"/><Relationship Id="rId16" Type="http://schemas.openxmlformats.org/officeDocument/2006/relationships/hyperlink" Target="https://arxiv.org/abs/2605.01928" TargetMode="External"/><Relationship Id="rId17" Type="http://schemas.openxmlformats.org/officeDocument/2006/relationships/hyperlink" Target="https://github.com/anindex/polystep" TargetMode="External"/><Relationship Id="rId18" Type="http://schemas.openxmlformats.org/officeDocument/2006/relationships/hyperlink" Target="https://arxiv.org/abs/2508.21205"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ttps://arxiv.org/abs/2302.11434" TargetMode="External"/><Relationship Id="rId4" Type="http://schemas.openxmlformats.org/officeDocument/2006/relationships/hyperlink" Target="https://github.com/leggedrobotics/iPlanner" TargetMode="External"/><Relationship Id="rId5" Type="http://schemas.openxmlformats.org/officeDocument/2006/relationships/hyperlink" Target="https://arxiv.org/abs/2310.00982" TargetMode="External"/><Relationship Id="rId6" Type="http://schemas.openxmlformats.org/officeDocument/2006/relationships/hyperlink" Target="https://github.com/leggedrobotics/viplanner" TargetMode="External"/><Relationship Id="rId7" Type="http://schemas.openxmlformats.org/officeDocument/2006/relationships/hyperlink" Target="https://arxiv.org/abs/2406.09246" TargetMode="External"/><Relationship Id="rId8" Type="http://schemas.openxmlformats.org/officeDocument/2006/relationships/hyperlink" Target="https://github.com/openvla/openvla" TargetMode="External"/><Relationship Id="rId9" Type="http://schemas.openxmlformats.org/officeDocument/2006/relationships/hyperlink" Target="https://arxiv.org/abs/2407.07775" TargetMode="External"/><Relationship Id="rId10" Type="http://schemas.openxmlformats.org/officeDocument/2006/relationships/hyperlink" Target="https://arxiv.org/abs/2410.24164" TargetMode="External"/><Relationship Id="rId11" Type="http://schemas.openxmlformats.org/officeDocument/2006/relationships/hyperlink" Target="https://github.com/Physical-Intelligence/openpi" TargetMode="External"/><Relationship Id="rId12" Type="http://schemas.openxmlformats.org/officeDocument/2006/relationships/hyperlink" Target="https://arxiv.org/abs/2412.04453" TargetMode="External"/><Relationship Id="rId13" Type="http://schemas.openxmlformats.org/officeDocument/2006/relationships/hyperlink" Target="https://github.com/AnjieCheng/NaVILA" TargetMode="External"/><Relationship Id="rId14" Type="http://schemas.openxmlformats.org/officeDocument/2006/relationships/hyperlink" Target="https://arxiv.org/abs/2412.06224" TargetMode="External"/><Relationship Id="rId15" Type="http://schemas.openxmlformats.org/officeDocument/2006/relationships/hyperlink" Target="https://github.com/jzhzhang/Uni-NaVid" TargetMode="External"/><Relationship Id="rId16" Type="http://schemas.openxmlformats.org/officeDocument/2006/relationships/hyperlink" Target="https://arxiv.org/abs/2411.17820" TargetMode="External"/><Relationship Id="rId17" Type="http://schemas.openxmlformats.org/officeDocument/2006/relationships/hyperlink" Target="https://github.com/ai4ce/CityWalker" TargetMode="External"/><Relationship Id="rId18" Type="http://schemas.openxmlformats.org/officeDocument/2006/relationships/hyperlink" Target="https://arxiv.org/abs/2508.07917" TargetMode="External"/><Relationship Id="rId19" Type="http://schemas.openxmlformats.org/officeDocument/2006/relationships/hyperlink" Target="https://github.com/allenai/molmoact" TargetMode="External"/><Relationship Id="rId20" Type="http://schemas.openxmlformats.org/officeDocument/2006/relationships/hyperlink" Target="https://arxiv.org/abs/2510.20818" TargetMode="External"/><Relationship Id="rId21" Type="http://schemas.openxmlformats.org/officeDocument/2006/relationships/hyperlink" Target="https://github.com/vamos-vla/vamos" TargetMode="External"/><Relationship Id="rId22" Type="http://schemas.openxmlformats.org/officeDocument/2006/relationships/hyperlink" Target="https://vamos-vla.github.io/" TargetMode="External"/><Relationship Id="rId23" Type="http://schemas.openxmlformats.org/officeDocument/2006/relationships/hyperlink" Target="https://arxiv.org/abs/2603.22527" TargetMode="External"/><Relationship Id="rId24" Type="http://schemas.openxmlformats.org/officeDocument/2006/relationships/hyperlink" Target="https://arxiv.org/abs/2603.25937" TargetMode="External"/><Relationship Id="rId25" Type="http://schemas.openxmlformats.org/officeDocument/2006/relationships/hyperlink" Target="https://github.com/InternRobotics/InternNav" TargetMode="External"/><Relationship Id="rId26" Type="http://schemas.openxmlformats.org/officeDocument/2006/relationships/hyperlink" Target="https://arxiv.org/abs/2205.09991" TargetMode="External"/><Relationship Id="rId27" Type="http://schemas.openxmlformats.org/officeDocument/2006/relationships/hyperlink" Target="https://github.com/jannerm/diffuser" TargetMode="External"/><Relationship Id="rId28" Type="http://schemas.openxmlformats.org/officeDocument/2006/relationships/hyperlink" Target="https://arxiv.org/abs/2303.04137" TargetMode="External"/><Relationship Id="rId29" Type="http://schemas.openxmlformats.org/officeDocument/2006/relationships/hyperlink" Target="https://github.com/real-stanford/diffusion_policy"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arxiv.org/abs/2607.19919" TargetMode="External"/><Relationship Id="rId4" Type="http://schemas.openxmlformats.org/officeDocument/2006/relationships/hyperlink" Target="https://seonsoo-p1.github.io/DiffusionReRoll/" TargetMode="External"/><Relationship Id="rId5" Type="http://schemas.openxmlformats.org/officeDocument/2006/relationships/hyperlink" Target="https://arxiv.org/abs/2308.01557" TargetMode="External"/><Relationship Id="rId6" Type="http://schemas.openxmlformats.org/officeDocument/2006/relationships/hyperlink" Target="https://github.com/joaoamcarvalho/mpd-public" TargetMode="External"/><Relationship Id="rId7" Type="http://schemas.openxmlformats.org/officeDocument/2006/relationships/hyperlink" Target="https://arxiv.org/abs/2503.05689" TargetMode="External"/><Relationship Id="rId8" Type="http://schemas.openxmlformats.org/officeDocument/2006/relationships/hyperlink" Target="https://github.com/YvanYin/GoalFlow" TargetMode="External"/><Relationship Id="rId9" Type="http://schemas.openxmlformats.org/officeDocument/2006/relationships/hyperlink" Target="https://arxiv.org/abs/2510.11083" TargetMode="External"/><Relationship Id="rId10" Type="http://schemas.openxmlformats.org/officeDocument/2006/relationships/hyperlink" Target="https://github.com/DiffusionAD/Flow-Planner" TargetMode="External"/><Relationship Id="rId11" Type="http://schemas.openxmlformats.org/officeDocument/2006/relationships/hyperlink" Target="https://arxiv.org/abs/2210.02747" TargetMode="External"/><Relationship Id="rId12" Type="http://schemas.openxmlformats.org/officeDocument/2006/relationships/hyperlink" Target="https://arxiv.org/abs/2412.06264" TargetMode="External"/><Relationship Id="rId13" Type="http://schemas.openxmlformats.org/officeDocument/2006/relationships/hyperlink" Target="https://arxiv.org/abs/2011.13456" TargetMode="External"/><Relationship Id="rId14" Type="http://schemas.openxmlformats.org/officeDocument/2006/relationships/hyperlink" Target="https://arxiv.org/abs/2206.00364" TargetMode="External"/><Relationship Id="rId15" Type="http://schemas.openxmlformats.org/officeDocument/2006/relationships/hyperlink" Target="https://arxiv.org/abs/2303.01469" TargetMode="External"/><Relationship Id="rId16" Type="http://schemas.openxmlformats.org/officeDocument/2006/relationships/hyperlink" Target="https://arxiv.org/abs/2410.12557" TargetMode="External"/><Relationship Id="rId17" Type="http://schemas.openxmlformats.org/officeDocument/2006/relationships/hyperlink" Target="https://arxiv.org/abs/2303.08797" TargetMode="External"/><Relationship Id="rId18" Type="http://schemas.openxmlformats.org/officeDocument/2006/relationships/hyperlink" Target="https://turingpost.co.kr/p/topic-20-flow-matchin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arxiv.org/abs/2212.10156" TargetMode="External"/><Relationship Id="rId4" Type="http://schemas.openxmlformats.org/officeDocument/2006/relationships/hyperlink" Target="https://github.com/OpenDriveLab/UniAD" TargetMode="External"/><Relationship Id="rId5" Type="http://schemas.openxmlformats.org/officeDocument/2006/relationships/hyperlink" Target="https://arxiv.org/abs/2303.12077" TargetMode="External"/><Relationship Id="rId6" Type="http://schemas.openxmlformats.org/officeDocument/2006/relationships/hyperlink" Target="https://github.com/hustvl/VAD" TargetMode="External"/><Relationship Id="rId7" Type="http://schemas.openxmlformats.org/officeDocument/2006/relationships/hyperlink" Target="https://arxiv.org/abs/2405.19620" TargetMode="External"/><Relationship Id="rId8" Type="http://schemas.openxmlformats.org/officeDocument/2006/relationships/hyperlink" Target="https://github.com/swc-17/SparseDrive" TargetMode="External"/><Relationship Id="rId9" Type="http://schemas.openxmlformats.org/officeDocument/2006/relationships/hyperlink" Target="https://arxiv.org/abs/2406.15349" TargetMode="External"/><Relationship Id="rId10" Type="http://schemas.openxmlformats.org/officeDocument/2006/relationships/hyperlink" Target="https://github.com/autonomousvision/navsim" TargetMode="External"/><Relationship Id="rId11" Type="http://schemas.openxmlformats.org/officeDocument/2006/relationships/hyperlink" Target="https://arxiv.org/abs/2406.06978" TargetMode="External"/><Relationship Id="rId12" Type="http://schemas.openxmlformats.org/officeDocument/2006/relationships/hyperlink" Target="https://github.com/NVlabs/Hydra-MDP" TargetMode="External"/><Relationship Id="rId13" Type="http://schemas.openxmlformats.org/officeDocument/2006/relationships/hyperlink" Target="https://arxiv.org/abs/2402.12289" TargetMode="External"/><Relationship Id="rId14" Type="http://schemas.openxmlformats.org/officeDocument/2006/relationships/hyperlink" Target="https://arxiv.org/abs/2410.23262" TargetMode="External"/><Relationship Id="rId15" Type="http://schemas.openxmlformats.org/officeDocument/2006/relationships/hyperlink" Target="https://arxiv.org/abs/1812.03079" TargetMode="External"/><Relationship Id="rId16" Type="http://schemas.openxmlformats.org/officeDocument/2006/relationships/hyperlink" Target="https://arxiv.org/abs/2306.07962" TargetMode="External"/><Relationship Id="rId17" Type="http://schemas.openxmlformats.org/officeDocument/2006/relationships/hyperlink" Target="https://github.com/autonomousvision/tuplan_garage" TargetMode="External"/><Relationship Id="rId18" Type="http://schemas.openxmlformats.org/officeDocument/2006/relationships/hyperlink" Target="https://arxiv.org/abs/2502.13144" TargetMode="External"/><Relationship Id="rId19" Type="http://schemas.openxmlformats.org/officeDocument/2006/relationships/hyperlink" Target="https://github.com/hustvl/RAD" TargetMode="External"/><Relationship Id="rId20" Type="http://schemas.openxmlformats.org/officeDocument/2006/relationships/hyperlink" Target="https://arxiv.org/abs/2506.08228" TargetMode="External"/><Relationship Id="rId21" Type="http://schemas.openxmlformats.org/officeDocument/2006/relationships/hyperlink" Target="https://arxiv.org/abs/2511.00088" TargetMode="External"/><Relationship Id="rId22" Type="http://schemas.openxmlformats.org/officeDocument/2006/relationships/hyperlink" Target="https://github.com/NVlabs/alpamayo" TargetMode="External"/><Relationship Id="rId23" Type="http://schemas.openxmlformats.org/officeDocument/2006/relationships/hyperlink" Target="https://arxiv.org/abs/2602.21172"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arxiv.org/abs/2607.08072" TargetMode="External"/><Relationship Id="rId4" Type="http://schemas.openxmlformats.org/officeDocument/2006/relationships/hyperlink" Target="https://arxiv.org/abs/2609.06055"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github.com/autowarefoundation/autoware" TargetMode="External"/><Relationship Id="rId4" Type="http://schemas.openxmlformats.org/officeDocument/2006/relationships/hyperlink" Target="https://github.com/autowarefoundation/autoware_universe/tree/main/planning" TargetMode="External"/><Relationship Id="rId5" Type="http://schemas.openxmlformats.org/officeDocument/2006/relationships/hyperlink" Target="https://github.com/tier4/new_planning_framework" TargetMode="External"/><Relationship Id="rId6" Type="http://schemas.openxmlformats.org/officeDocument/2006/relationships/hyperlink" Target="https://arxiv.org/abs/1807.08048" TargetMode="External"/><Relationship Id="rId7" Type="http://schemas.openxmlformats.org/officeDocument/2006/relationships/hyperlink" Target="https://github.com/ApolloAuto/apollo/tree/master/modules/planning" TargetMode="External"/><Relationship Id="rId8" Type="http://schemas.openxmlformats.org/officeDocument/2006/relationships/hyperlink" Target="https://arxiv.org/abs/2009.11345" TargetMode="External"/><Relationship Id="rId9" Type="http://schemas.openxmlformats.org/officeDocument/2006/relationships/hyperlink" Target="https://arxiv.org/abs/2504.19077" TargetMode="External"/><Relationship Id="rId10" Type="http://schemas.openxmlformats.org/officeDocument/2006/relationships/hyperlink" Target="https://github.com/commaai/openpilot" TargetMode="External"/><Relationship Id="rId11" Type="http://schemas.openxmlformats.org/officeDocument/2006/relationships/hyperlink" Target="https://arxiv.org/abs/2106.11810" TargetMode="External"/><Relationship Id="rId12" Type="http://schemas.openxmlformats.org/officeDocument/2006/relationships/hyperlink" Target="https://github.com/motional/nuplan-devkit" TargetMode="External"/><Relationship Id="rId13" Type="http://schemas.openxmlformats.org/officeDocument/2006/relationships/hyperlink" Target="https://arxiv.org/abs/2306.07962" TargetMode="External"/><Relationship Id="rId14" Type="http://schemas.openxmlformats.org/officeDocument/2006/relationships/hyperlink" Target="https://github.com/autonomousvision/tuplan_garage" TargetMode="External"/><Relationship Id="rId15" Type="http://schemas.openxmlformats.org/officeDocument/2006/relationships/hyperlink" Target="https://arxiv.org/abs/2309.10443" TargetMode="External"/><Relationship Id="rId16" Type="http://schemas.openxmlformats.org/officeDocument/2006/relationships/hyperlink" Target="https://github.com/jchengai/planTF" TargetMode="External"/><Relationship Id="rId17" Type="http://schemas.openxmlformats.org/officeDocument/2006/relationships/hyperlink" Target="https://arxiv.org/abs/2404.14327" TargetMode="External"/><Relationship Id="rId18" Type="http://schemas.openxmlformats.org/officeDocument/2006/relationships/hyperlink" Target="https://github.com/jchengai/pluto" TargetMode="External"/><Relationship Id="rId19" Type="http://schemas.openxmlformats.org/officeDocument/2006/relationships/hyperlink" Target="https://arxiv.org/abs/2210.14222" TargetMode="External"/><Relationship Id="rId20" Type="http://schemas.openxmlformats.org/officeDocument/2006/relationships/hyperlink" Target="https://github.com/autonomousvision/plant" TargetMode="External"/><Relationship Id="rId21" Type="http://schemas.openxmlformats.org/officeDocument/2006/relationships/hyperlink" Target="https://arxiv.org/abs/2205.15997" TargetMode="External"/><Relationship Id="rId22" Type="http://schemas.openxmlformats.org/officeDocument/2006/relationships/hyperlink" Target="https://github.com/autonomousvision/transfuser" TargetMode="External"/><Relationship Id="rId23" Type="http://schemas.openxmlformats.org/officeDocument/2006/relationships/hyperlink" Target="https://arxiv.org/abs/2504.17838" TargetMode="External"/><Relationship Id="rId24" Type="http://schemas.openxmlformats.org/officeDocument/2006/relationships/hyperlink" Target="https://github.com/autonomousvision/CaRL" TargetMode="External"/><Relationship Id="rId25" Type="http://schemas.openxmlformats.org/officeDocument/2006/relationships/hyperlink" Target="https://arxiv.org/abs/2108.07993" TargetMode="External"/><Relationship Id="rId26" Type="http://schemas.openxmlformats.org/officeDocument/2006/relationships/hyperlink" Target="https://github.com/HKUST-Aerial-Robotics/EPSILON" TargetMode="External"/><Relationship Id="rId27" Type="http://schemas.openxmlformats.org/officeDocument/2006/relationships/hyperlink" Target="https://arxiv.org/abs/2511.00088" TargetMode="External"/><Relationship Id="rId28" Type="http://schemas.openxmlformats.org/officeDocument/2006/relationships/hyperlink" Target="https://github.com/NVlabs/alpamayo" TargetMode="External"/><Relationship Id="rId29" Type="http://schemas.openxmlformats.org/officeDocument/2006/relationships/hyperlink" Target="https://github.com/NVlabs/alpamayo1.5" TargetMode="External"/><Relationship Id="rId30" Type="http://schemas.openxmlformats.org/officeDocument/2006/relationships/hyperlink" Target="https://huggingface.co/nvidia/Alpamayo-1.5-10B" TargetMode="External"/><Relationship Id="rId31" Type="http://schemas.openxmlformats.org/officeDocument/2006/relationships/hyperlink" Target="https://arxiv.org/abs/2310.08710" TargetMode="External"/><Relationship Id="rId32" Type="http://schemas.openxmlformats.org/officeDocument/2006/relationships/hyperlink" Target="https://github.com/waymo-research/waymax" TargetMode="External"/><Relationship Id="rId33" Type="http://schemas.openxmlformats.org/officeDocument/2006/relationships/hyperlink" Target="https://arxiv.org/abs/2408.01584" TargetMode="External"/><Relationship Id="rId34" Type="http://schemas.openxmlformats.org/officeDocument/2006/relationships/hyperlink" Target="https://github.com/Emerge-Lab/gpudriv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arxiv.org/abs/2406.03877" TargetMode="External"/><Relationship Id="rId4" Type="http://schemas.openxmlformats.org/officeDocument/2006/relationships/hyperlink" Target="https://github.com/Thinklab-SJTU/Bench2Drive" TargetMode="External"/><Relationship Id="rId5" Type="http://schemas.openxmlformats.org/officeDocument/2006/relationships/hyperlink" Target="https://arxiv.org/abs/1808.10703" TargetMode="External"/><Relationship Id="rId6" Type="http://schemas.openxmlformats.org/officeDocument/2006/relationships/hyperlink" Target="https://github.com/AtsushiSakai/PythonRobotics" TargetMode="External"/><Relationship Id="rId7" Type="http://schemas.openxmlformats.org/officeDocument/2006/relationships/hyperlink" Target="https://arxiv.org/abs/2303.01420" TargetMode="External"/><Relationship Id="rId8" Type="http://schemas.openxmlformats.org/officeDocument/2006/relationships/hyperlink" Target="https://github.com/leggedrobotics/art_planner" TargetMode="External"/><Relationship Id="rId9" Type="http://schemas.openxmlformats.org/officeDocument/2006/relationships/hyperlink" Target="https://arxiv.org/abs/2207.04914" TargetMode="External"/><Relationship Id="rId10" Type="http://schemas.openxmlformats.org/officeDocument/2006/relationships/hyperlink" Target="https://doi.org/10.1126/scirobotics.abp9742" TargetMode="External"/><Relationship Id="rId11" Type="http://schemas.openxmlformats.org/officeDocument/2006/relationships/hyperlink" Target="https://doi.org/10.1002/rob.21993" TargetMode="External"/><Relationship Id="rId12" Type="http://schemas.openxmlformats.org/officeDocument/2006/relationships/hyperlink" Target="https://github.com/ntnu-arl/gbplanner_ros" TargetMode="External"/><Relationship Id="rId13" Type="http://schemas.openxmlformats.org/officeDocument/2006/relationships/hyperlink" Target="https://arxiv.org/abs/2110.09460" TargetMode="External"/><Relationship Id="rId14" Type="http://schemas.openxmlformats.org/officeDocument/2006/relationships/hyperlink" Target="https://github.com/MichaelFYang/far_planner" TargetMode="External"/><Relationship Id="rId15" Type="http://schemas.openxmlformats.org/officeDocument/2006/relationships/hyperlink" Target="https://doi.org/10.15607/RSS.2021.XVII.018" TargetMode="External"/><Relationship Id="rId16" Type="http://schemas.openxmlformats.org/officeDocument/2006/relationships/hyperlink" Target="https://github.com/caochao39/tare_planner" TargetMode="External"/><Relationship Id="rId17" Type="http://schemas.openxmlformats.org/officeDocument/2006/relationships/hyperlink" Target="https://arxiv.org/abs/2110.14573" TargetMode="External"/><Relationship Id="rId18" Type="http://schemas.openxmlformats.org/officeDocument/2006/relationships/hyperlink" Target="https://github.com/HongbiaoZ/autonomous_exploration_development_environment" TargetMode="External"/><Relationship Id="rId19" Type="http://schemas.openxmlformats.org/officeDocument/2006/relationships/hyperlink" Target="https://www.cmu-exploration.com/" TargetMode="External"/><Relationship Id="rId20" Type="http://schemas.openxmlformats.org/officeDocument/2006/relationships/hyperlink" Target="https://github.com/leggedrobotics/ocs2" TargetMode="External"/><Relationship Id="rId21" Type="http://schemas.openxmlformats.org/officeDocument/2006/relationships/hyperlink" Target="https://github.com/qiayuanl/legged_control" TargetMode="External"/><Relationship Id="rId22" Type="http://schemas.openxmlformats.org/officeDocument/2006/relationships/hyperlink" Target="https://doi.org/10.1109/LRA.2018.2798285" TargetMode="External"/><Relationship Id="rId23" Type="http://schemas.openxmlformats.org/officeDocument/2006/relationships/hyperlink" Target="https://github.com/ethz-adrl/towr" TargetMode="External"/><Relationship Id="rId24" Type="http://schemas.openxmlformats.org/officeDocument/2006/relationships/hyperlink" Target="https://github.com/chvmp/champ" TargetMode="External"/><Relationship Id="rId25" Type="http://schemas.openxmlformats.org/officeDocument/2006/relationships/hyperlink" Target="https://arxiv.org/abs/2212.03238" TargetMode="External"/><Relationship Id="rId26" Type="http://schemas.openxmlformats.org/officeDocument/2006/relationships/hyperlink" Target="https://github.com/Improbable-AI/walk-these-way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arxiv.org/abs/2309.05665" TargetMode="External"/><Relationship Id="rId4" Type="http://schemas.openxmlformats.org/officeDocument/2006/relationships/hyperlink" Target="https://github.com/ZiwenZhuang/parkour" TargetMode="External"/><Relationship Id="rId5" Type="http://schemas.openxmlformats.org/officeDocument/2006/relationships/hyperlink" Target="https://doi.org/10.1109/HUMANOIDS.2012.6651592" TargetMode="External"/><Relationship Id="rId6" Type="http://schemas.openxmlformats.org/officeDocument/2006/relationships/hyperlink" Target="https://github.com/ahornung/humanoid_navigation" TargetMode="External"/><Relationship Id="rId7" Type="http://schemas.openxmlformats.org/officeDocument/2006/relationships/hyperlink" Target="https://github.com/ihmcrobotics/ihmc-open-robotics-software" TargetMode="External"/><Relationship Id="rId8" Type="http://schemas.openxmlformats.org/officeDocument/2006/relationships/hyperlink" Target="https://github.com/isri-aist/BaselineFootstepPlanner" TargetMode="External"/><Relationship Id="rId9" Type="http://schemas.openxmlformats.org/officeDocument/2006/relationships/hyperlink" Target="https://isri-aist.github.io/BaselineFootstepPlanner/" TargetMode="External"/><Relationship Id="rId10" Type="http://schemas.openxmlformats.org/officeDocument/2006/relationships/hyperlink" Target="https://doi.org/10.1109/IROS.2016.7759083" TargetMode="External"/><Relationship Id="rId11" Type="http://schemas.openxmlformats.org/officeDocument/2006/relationships/hyperlink" Target="https://github.com/humanoid-path-planner/hpp-core" TargetMode="External"/><Relationship Id="rId12" Type="http://schemas.openxmlformats.org/officeDocument/2006/relationships/hyperlink" Target="https://arxiv.org/abs/1909.04947" TargetMode="External"/><Relationship Id="rId13" Type="http://schemas.openxmlformats.org/officeDocument/2006/relationships/hyperlink" Target="https://github.com/loco-3d/crocoddyl" TargetMode="External"/><Relationship Id="rId14" Type="http://schemas.openxmlformats.org/officeDocument/2006/relationships/hyperlink" Target="https://github.com/stack-of-tasks/pinocchio" TargetMode="External"/><Relationship Id="rId15" Type="http://schemas.openxmlformats.org/officeDocument/2006/relationships/hyperlink" Target="https://github.com/stack-of-tasks/tsid" TargetMode="External"/><Relationship Id="rId16" Type="http://schemas.openxmlformats.org/officeDocument/2006/relationships/hyperlink" Target="https://github.com/Simple-Robotics/aligator" TargetMode="External"/><Relationship Id="rId17" Type="http://schemas.openxmlformats.org/officeDocument/2006/relationships/hyperlink" Target="https://arxiv.org/abs/2212.00541" TargetMode="External"/><Relationship Id="rId18" Type="http://schemas.openxmlformats.org/officeDocument/2006/relationships/hyperlink" Target="https://github.com/google-deepmind/mujoco_mpc" TargetMode="External"/><Relationship Id="rId19" Type="http://schemas.openxmlformats.org/officeDocument/2006/relationships/hyperlink" Target="https://github.com/RobotLocomotion/drake" TargetMode="External"/><Relationship Id="rId20" Type="http://schemas.openxmlformats.org/officeDocument/2006/relationships/hyperlink" Target="https://arxiv.org/abs/2404.05695" TargetMode="External"/><Relationship Id="rId21" Type="http://schemas.openxmlformats.org/officeDocument/2006/relationships/hyperlink" Target="https://github.com/roboterax/humanoid-gym" TargetMode="External"/><Relationship Id="rId22" Type="http://schemas.openxmlformats.org/officeDocument/2006/relationships/hyperlink" Target="https://github.com/unitreerobotics/unitree_rl_gym" TargetMode="External"/><Relationship Id="rId23" Type="http://schemas.openxmlformats.org/officeDocument/2006/relationships/hyperlink" Target="https://github.com/BoosterRobotics/booster_gym" TargetMode="External"/><Relationship Id="rId24" Type="http://schemas.openxmlformats.org/officeDocument/2006/relationships/hyperlink" Target="https://arxiv.org/abs/2410.21229" TargetMode="External"/><Relationship Id="rId25" Type="http://schemas.openxmlformats.org/officeDocument/2006/relationships/hyperlink" Target="https://github.com/NVlabs/HOVER" TargetMode="External"/><Relationship Id="rId26" Type="http://schemas.openxmlformats.org/officeDocument/2006/relationships/hyperlink" Target="https://arxiv.org/abs/2502.01143" TargetMode="External"/><Relationship Id="rId27" Type="http://schemas.openxmlformats.org/officeDocument/2006/relationships/hyperlink" Target="https://github.com/LeCAR-Lab/ASAP" TargetMode="External"/><Relationship Id="rId28" Type="http://schemas.openxmlformats.org/officeDocument/2006/relationships/hyperlink" Target="https://arxiv.org/abs/2511.14625" TargetMode="External"/><Relationship Id="rId29" Type="http://schemas.openxmlformats.org/officeDocument/2006/relationships/hyperlink" Target="https://github.com/InternRobotics/Gallant" TargetMode="External"/><Relationship Id="rId30" Type="http://schemas.openxmlformats.org/officeDocument/2006/relationships/hyperlink" Target="https://gallantloco.github.io/" TargetMode="External"/><Relationship Id="rId31" Type="http://schemas.openxmlformats.org/officeDocument/2006/relationships/hyperlink" Target="https://arxiv.org/abs/2601.16035" TargetMode="External"/><Relationship Id="rId32" Type="http://schemas.openxmlformats.org/officeDocument/2006/relationships/hyperlink" Target="https://github.com/GalaxyGeneralRobotics/Click-and-Traverse" TargetMode="External"/><Relationship Id="rId33" Type="http://schemas.openxmlformats.org/officeDocument/2006/relationships/hyperlink" Target="https://axian12138.github.io/CAT/" TargetMode="External"/><Relationship Id="rId34" Type="http://schemas.openxmlformats.org/officeDocument/2006/relationships/hyperlink" Target="https://arxiv.org/abs/2508.03068" TargetMode="External"/><Relationship Id="rId35" Type="http://schemas.openxmlformats.org/officeDocument/2006/relationships/hyperlink" Target="https://github.com/Stanford-TML/HEAD_releas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arxiv.org/abs/2503.14734" TargetMode="External"/><Relationship Id="rId4" Type="http://schemas.openxmlformats.org/officeDocument/2006/relationships/hyperlink" Target="https://github.com/NVIDIA/Isaac-GR00T" TargetMode="External"/><Relationship Id="rId5" Type="http://schemas.openxmlformats.org/officeDocument/2006/relationships/hyperlink" Target="https://doi.org/10.1109/ROBOT.2010.5509725" TargetMode="External"/><Relationship Id="rId6" Type="http://schemas.openxmlformats.org/officeDocument/2006/relationships/hyperlink" Target="https://github.com/ros-planning/navigation" TargetMode="External"/><Relationship Id="rId7" Type="http://schemas.openxmlformats.org/officeDocument/2006/relationships/hyperlink" Target="https://doi.org/10.1109/IROS.2018.8593829" TargetMode="External"/><Relationship Id="rId8" Type="http://schemas.openxmlformats.org/officeDocument/2006/relationships/hyperlink" Target="https://github.com/naturerobots/move_base_flex" TargetMode="External"/><Relationship Id="rId9" Type="http://schemas.openxmlformats.org/officeDocument/2006/relationships/hyperlink" Target="https://github.com/botbotrobotics/BotBrain" TargetMode="External"/><Relationship Id="rId10" Type="http://schemas.openxmlformats.org/officeDocument/2006/relationships/hyperlink" Target="https://botbot.bot" TargetMode="External"/><Relationship Id="rId11" Type="http://schemas.openxmlformats.org/officeDocument/2006/relationships/hyperlink" Target="https://github.com/dfl-rlab/dddmr_navigation" TargetMode="External"/><Relationship Id="rId12" Type="http://schemas.openxmlformats.org/officeDocument/2006/relationships/hyperlink" Target="https://arxiv.org/abs/2305.20026" TargetMode="External"/><Relationship Id="rId13" Type="http://schemas.openxmlformats.org/officeDocument/2006/relationships/hyperlink" Target="https://github.com/ros-controls/ros2_controllers" TargetMode="External"/><Relationship Id="rId14" Type="http://schemas.openxmlformats.org/officeDocument/2006/relationships/hyperlink" Target="https://github.com/ros-controls/ros2_controllers/pull/1694" TargetMode="External"/><Relationship Id="rId15" Type="http://schemas.openxmlformats.org/officeDocument/2006/relationships/hyperlink" Target="https://github.com/ROBOTIS-GIT/ai_worker/tree/main/ffw_swerve_drive_controller" TargetMode="External"/><Relationship Id="rId16" Type="http://schemas.openxmlformats.org/officeDocument/2006/relationships/hyperlink" Target="https://doi.org/10.1109/MRA.2012.2205651" TargetMode="External"/><Relationship Id="rId17" Type="http://schemas.openxmlformats.org/officeDocument/2006/relationships/hyperlink" Target="https://github.com/ompl/ompl" TargetMode="External"/><Relationship Id="rId18" Type="http://schemas.openxmlformats.org/officeDocument/2006/relationships/hyperlink" Target="https://ompl.kavrakilab.org/" TargetMode="External"/><Relationship Id="rId19" Type="http://schemas.openxmlformats.org/officeDocument/2006/relationships/hyperlink" Target="https://github.com/sbpl/sbpl" TargetMode="External"/><Relationship Id="rId20" Type="http://schemas.openxmlformats.org/officeDocument/2006/relationships/hyperlink" Target="https://arxiv.org/abs/2203.04541" TargetMode="External"/><Relationship Id="rId21" Type="http://schemas.openxmlformats.org/officeDocument/2006/relationships/hyperlink" Target="https://github.com/jianzhuozhuTHU/putn" TargetMode="External"/><Relationship Id="rId22" Type="http://schemas.openxmlformats.org/officeDocument/2006/relationships/hyperlink" Target="https://github.com/SleipnirGroup/Choreo" TargetMode="External"/><Relationship Id="rId23" Type="http://schemas.openxmlformats.org/officeDocument/2006/relationships/hyperlink" Target="https://choreo.autos/" TargetMode="External"/><Relationship Id="rId24" Type="http://schemas.openxmlformats.org/officeDocument/2006/relationships/hyperlink" Target="https://github.com/SleipnirGroup/Sleipnir" TargetMode="External"/><Relationship Id="rId25" Type="http://schemas.openxmlformats.org/officeDocument/2006/relationships/hyperlink" Target="https://github.com/mjansen4857/pathplanner" TargetMode="External"/><Relationship Id="rId26" Type="http://schemas.openxmlformats.org/officeDocument/2006/relationships/hyperlink" Target="https://pathplanner.dev/home.html" TargetMode="External"/><Relationship Id="rId27" Type="http://schemas.openxmlformats.org/officeDocument/2006/relationships/hyperlink" Target="https://arxiv.org/abs/2412.10447" TargetMode="External"/><Relationship Id="rId28" Type="http://schemas.openxmlformats.org/officeDocument/2006/relationships/hyperlink" Target="https://github.com/jimmyyhwu/tidybot2" TargetMode="External"/><Relationship Id="rId29" Type="http://schemas.openxmlformats.org/officeDocument/2006/relationships/hyperlink" Target="https://doi.org/10.1177/02783640022067977" TargetMode="External"/><Relationship Id="rId30" Type="http://schemas.openxmlformats.org/officeDocument/2006/relationships/hyperlink" Target="https://robotics.stanford.edu/~rah/papers/ijrr-1162.pdf"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arxiv.org/abs/1809.08835" TargetMode="External"/><Relationship Id="rId4" Type="http://schemas.openxmlformats.org/officeDocument/2006/relationships/hyperlink" Target="https://github.com/vita-epfl/CrowdNav" TargetMode="External"/><Relationship Id="rId5" Type="http://schemas.openxmlformats.org/officeDocument/2006/relationships/hyperlink" Target="https://arxiv.org/abs/2301.06512" TargetMode="External"/><Relationship Id="rId6" Type="http://schemas.openxmlformats.org/officeDocument/2006/relationships/hyperlink" Target="https://github.com/TempleRAIL/drl_vo_nav" TargetMode="External"/><Relationship Id="rId7" Type="http://schemas.openxmlformats.org/officeDocument/2006/relationships/hyperlink" Target="https://doi.org/10.1007/978-3-642-19457-3_1" TargetMode="External"/><Relationship Id="rId8" Type="http://schemas.openxmlformats.org/officeDocument/2006/relationships/hyperlink" Target="https://github.com/snape/RVO2" TargetMode="External"/><Relationship Id="rId9" Type="http://schemas.openxmlformats.org/officeDocument/2006/relationships/hyperlink" Target="https://github.com/open-rmf/rmf" TargetMode="External"/><Relationship Id="rId10" Type="http://schemas.openxmlformats.org/officeDocument/2006/relationships/hyperlink" Target="https://www.open-rmf.or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arxiv.org/abs/2602.08571" TargetMode="External"/><Relationship Id="rId4" Type="http://schemas.openxmlformats.org/officeDocument/2006/relationships/hyperlink" Target="https://arxiv.org/abs/2310.18112" TargetMode="External"/><Relationship Id="rId5" Type="http://schemas.openxmlformats.org/officeDocument/2006/relationships/hyperlink" Target="https://arxiv.org/abs/2512.06892" TargetMode="External"/><Relationship Id="rId6" Type="http://schemas.openxmlformats.org/officeDocument/2006/relationships/hyperlink" Target="https://arxiv.org/abs/2403.11784" TargetMode="External"/><Relationship Id="rId7" Type="http://schemas.openxmlformats.org/officeDocument/2006/relationships/hyperlink" Target="https://arxiv.org/abs/2402.18558" TargetMode="External"/><Relationship Id="rId8" Type="http://schemas.openxmlformats.org/officeDocument/2006/relationships/hyperlink" Target="https://arxiv.org/abs/2501.17311" TargetMode="External"/><Relationship Id="rId9" Type="http://schemas.openxmlformats.org/officeDocument/2006/relationships/hyperlink" Target="https://www.nature.com/articles/s41586-021-04357-7" TargetMode="External"/><Relationship Id="rId10" Type="http://schemas.openxmlformats.org/officeDocument/2006/relationships/hyperlink" Target="https://arxiv.org/abs/2607.25388" TargetMode="External"/><Relationship Id="rId11" Type="http://schemas.openxmlformats.org/officeDocument/2006/relationships/hyperlink" Target="https://arxiv.org/abs/2608.10618" TargetMode="External"/><Relationship Id="rId12" Type="http://schemas.openxmlformats.org/officeDocument/2006/relationships/hyperlink" Target="https://arxiv.org/abs/2303.09463" TargetMode="External"/><Relationship Id="rId13" Type="http://schemas.openxmlformats.org/officeDocument/2006/relationships/hyperlink" Target="https://arxiv.org/abs/2202.07008" TargetMode="External"/><Relationship Id="rId14" Type="http://schemas.openxmlformats.org/officeDocument/2006/relationships/hyperlink" Target="https://arxiv.org/abs/2407.01862" TargetMode="External"/><Relationship Id="rId15" Type="http://schemas.openxmlformats.org/officeDocument/2006/relationships/hyperlink" Target="https://arxiv.org/abs/2410.21415" TargetMode="External"/><Relationship Id="rId16" Type="http://schemas.openxmlformats.org/officeDocument/2006/relationships/hyperlink" Target="https://arxiv.org/abs/2404.16162" TargetMode="External"/><Relationship Id="rId17" Type="http://schemas.openxmlformats.org/officeDocument/2006/relationships/hyperlink" Target="https://arxiv.org/abs/2508.08574" TargetMode="External"/><Relationship Id="rId18" Type="http://schemas.openxmlformats.org/officeDocument/2006/relationships/hyperlink" Target="https://arxiv.org/abs/2509.19480" TargetMode="External"/><Relationship Id="rId19" Type="http://schemas.openxmlformats.org/officeDocument/2006/relationships/hyperlink" Target="https://arxiv.org/abs/2506.0666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hyperlink" Target="https://arxiv.org/abs/2506.11234" TargetMode="External"/><Relationship Id="rId4" Type="http://schemas.openxmlformats.org/officeDocument/2006/relationships/hyperlink" Target="https://arxiv.org/abs/2608.04896" TargetMode="External"/><Relationship Id="rId5" Type="http://schemas.openxmlformats.org/officeDocument/2006/relationships/hyperlink" Target="https://arxiv.org/abs/2509.04722" TargetMode="External"/><Relationship Id="rId6" Type="http://schemas.openxmlformats.org/officeDocument/2006/relationships/hyperlink" Target="https://arxiv.org/abs/2606.05687" TargetMode="External"/><Relationship Id="rId7" Type="http://schemas.openxmlformats.org/officeDocument/2006/relationships/hyperlink" Target="https://arxiv.org/abs/2601.07718" TargetMode="External"/><Relationship Id="rId8" Type="http://schemas.openxmlformats.org/officeDocument/2006/relationships/hyperlink" Target="https://arxiv.org/abs/2310.10943" TargetMode="External"/><Relationship Id="rId9" Type="http://schemas.openxmlformats.org/officeDocument/2006/relationships/hyperlink" Target="https://arxiv.org/abs/2512.10675" TargetMode="External"/><Relationship Id="rId10" Type="http://schemas.openxmlformats.org/officeDocument/2006/relationships/hyperlink" Target="https://arxiv.org/abs/2407.01573" TargetMode="External"/><Relationship Id="rId11" Type="http://schemas.openxmlformats.org/officeDocument/2006/relationships/hyperlink" Target="https://arxiv.org/abs/2505.05753" TargetMode="External"/><Relationship Id="rId12" Type="http://schemas.openxmlformats.org/officeDocument/2006/relationships/hyperlink" Target="https://arxiv.org/abs/2608.02809" TargetMode="External"/><Relationship Id="rId13" Type="http://schemas.openxmlformats.org/officeDocument/2006/relationships/hyperlink" Target="https://ieeexplore.ieee.org/document/11265757" TargetMode="External"/><Relationship Id="rId14" Type="http://schemas.openxmlformats.org/officeDocument/2006/relationships/hyperlink" Target="https://www.science.org/doi/10.1126/scirobotics.ade2256" TargetMode="External"/><Relationship Id="rId15" Type="http://schemas.openxmlformats.org/officeDocument/2006/relationships/hyperlink" Target="https://www.science.org/doi/10.1126/scirobotics.add1017" TargetMode="External"/><Relationship Id="rId16" Type="http://schemas.openxmlformats.org/officeDocument/2006/relationships/hyperlink" Target="https://arxiv.org/abs/2312.08961" TargetMode="External"/><Relationship Id="rId17" Type="http://schemas.openxmlformats.org/officeDocument/2006/relationships/hyperlink" Target="https://arxiv.org/abs/2607.13579" TargetMode="External"/><Relationship Id="rId18" Type="http://schemas.openxmlformats.org/officeDocument/2006/relationships/hyperlink" Target="https://researchwith.njit.edu/en/publications/torque-based-deep-reinforcement-learning-for-task-and-robot-agnos" TargetMode="External"/><Relationship Id="rId19" Type="http://schemas.openxmlformats.org/officeDocument/2006/relationships/hyperlink" Target="https://arxiv.org/abs/2406.1494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arxiv.org/abs/2112.09988" TargetMode="External"/><Relationship Id="rId4" Type="http://schemas.openxmlformats.org/officeDocument/2006/relationships/hyperlink" Target="https://www.taekyung.me/research/smppi" TargetMode="External"/><Relationship Id="rId5" Type="http://schemas.openxmlformats.org/officeDocument/2006/relationships/hyperlink" Target="https://arxiv.org/abs/2605.02147" TargetMode="External"/><Relationship Id="rId6" Type="http://schemas.openxmlformats.org/officeDocument/2006/relationships/hyperlink" Target="https://arxiv.org/abs/2305.00676" TargetMode="External"/><Relationship Id="rId7" Type="http://schemas.openxmlformats.org/officeDocument/2006/relationships/hyperlink" Target="https://www.taekyung.me/research/off-road" TargetMode="External"/><Relationship Id="rId8" Type="http://schemas.openxmlformats.org/officeDocument/2006/relationships/hyperlink" Target="https://arxiv.org/abs/2207.07920" TargetMode="External"/><Relationship Id="rId9" Type="http://schemas.openxmlformats.org/officeDocument/2006/relationships/hyperlink" Target="https://arxiv.org/abs/2201.08321" TargetMode="External"/><Relationship Id="rId10" Type="http://schemas.openxmlformats.org/officeDocument/2006/relationships/hyperlink" Target="https://arxiv.org/abs/2504.00969" TargetMode="External"/><Relationship Id="rId11" Type="http://schemas.openxmlformats.org/officeDocument/2006/relationships/hyperlink" Target="https://github.com/uzh-rpg/hdvio2.0" TargetMode="External"/><Relationship Id="rId12" Type="http://schemas.openxmlformats.org/officeDocument/2006/relationships/hyperlink" Target="https://arxiv.org/abs/2606.27353" TargetMode="External"/><Relationship Id="rId13" Type="http://schemas.openxmlformats.org/officeDocument/2006/relationships/hyperlink" Target="https://www.annualreviews.org/content/journals/10.1146/annurev-control-090419-075625" TargetMode="External"/><Relationship Id="rId14" Type="http://schemas.openxmlformats.org/officeDocument/2006/relationships/hyperlink" Target="https://arxiv.org/abs/1705.10702" TargetMode="External"/><Relationship Id="rId15" Type="http://schemas.openxmlformats.org/officeDocument/2006/relationships/hyperlink" Target="https://arxiv.org/abs/2105.10241" TargetMode="External"/><Relationship Id="rId16" Type="http://schemas.openxmlformats.org/officeDocument/2006/relationships/hyperlink" Target="https://arxiv.org/abs/2305.12240" TargetMode="External"/><Relationship Id="rId17" Type="http://schemas.openxmlformats.org/officeDocument/2006/relationships/hyperlink" Target="https://www.taekyung.me/rss2023-bridging" TargetMode="External"/><Relationship Id="rId18" Type="http://schemas.openxmlformats.org/officeDocument/2006/relationships/hyperlink" Target="https://scholar.google.com/citations?user=olIJfeYAAAAJ&amp;hl=ko" TargetMode="External"/><Relationship Id="rId19" Type="http://schemas.openxmlformats.org/officeDocument/2006/relationships/hyperlink" Target="https://arxiv.org/abs/2609.00941" TargetMode="External"/><Relationship Id="rId20" Type="http://schemas.openxmlformats.org/officeDocument/2006/relationships/hyperlink" Target="https://arxiv.org/abs/2504.10962"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arxiv.org/abs/2408.03394" TargetMode="External"/><Relationship Id="rId4" Type="http://schemas.openxmlformats.org/officeDocument/2006/relationships/hyperlink" Target="https://arxiv.org/abs/2209.12842" TargetMode="External"/><Relationship Id="rId5" Type="http://schemas.openxmlformats.org/officeDocument/2006/relationships/hyperlink" Target="https://arxiv.org/abs/2506.21205" TargetMode="External"/><Relationship Id="rId6" Type="http://schemas.openxmlformats.org/officeDocument/2006/relationships/hyperlink" Target="https://arxiv.org/abs/2211.15522" TargetMode="External"/><Relationship Id="rId7" Type="http://schemas.openxmlformats.org/officeDocument/2006/relationships/hyperlink" Target="https://arxiv.org/abs/2411.19258" TargetMode="External"/><Relationship Id="rId8" Type="http://schemas.openxmlformats.org/officeDocument/2006/relationships/hyperlink" Target="https://github.com/IntelligentControlSystems/l4acados" TargetMode="External"/><Relationship Id="rId9" Type="http://schemas.openxmlformats.org/officeDocument/2006/relationships/hyperlink" Target="https://arxiv.org/abs/2110.02710" TargetMode="External"/><Relationship Id="rId10" Type="http://schemas.openxmlformats.org/officeDocument/2006/relationships/hyperlink" Target="https://github.com/IntelligentControlSystems/bayesopt4ros" TargetMode="External"/><Relationship Id="rId11" Type="http://schemas.openxmlformats.org/officeDocument/2006/relationships/hyperlink" Target="https://github.com/IntelligentControlSystems/ampyc" TargetMode="External"/><Relationship Id="rId12" Type="http://schemas.openxmlformats.org/officeDocument/2006/relationships/hyperlink" Target="https://arxiv.org/abs/2509.18760" TargetMode="External"/><Relationship Id="rId13" Type="http://schemas.openxmlformats.org/officeDocument/2006/relationships/hyperlink" Target="https://github.com/antoineleeman/robust-nonlinear-mpc" TargetMode="External"/><Relationship Id="rId14" Type="http://schemas.openxmlformats.org/officeDocument/2006/relationships/hyperlink" Target="https://arxiv.org/abs/2301.04943" TargetMode="External"/><Relationship Id="rId15" Type="http://schemas.openxmlformats.org/officeDocument/2006/relationships/hyperlink" Target="https://arxiv.org/abs/1906.12189" TargetMode="External"/><Relationship Id="rId16" Type="http://schemas.openxmlformats.org/officeDocument/2006/relationships/hyperlink" Target="https://arxiv.org/abs/2509.15917" TargetMode="External"/><Relationship Id="rId17" Type="http://schemas.openxmlformats.org/officeDocument/2006/relationships/hyperlink" Target="https://github.com/IntelligentControlSystems/ClutteredEnvironment" TargetMode="External"/><Relationship Id="rId18" Type="http://schemas.openxmlformats.org/officeDocument/2006/relationships/hyperlink" Target="https://arxiv.org/abs/2503.07127" TargetMode="External"/><Relationship Id="rId19" Type="http://schemas.openxmlformats.org/officeDocument/2006/relationships/hyperlink" Target="https://arxiv.org/abs/2102.11907" TargetMode="External"/><Relationship Id="rId20" Type="http://schemas.openxmlformats.org/officeDocument/2006/relationships/hyperlink" Target="https://arxiv.org/abs/2209.12048" TargetMode="External"/><Relationship Id="rId21" Type="http://schemas.openxmlformats.org/officeDocument/2006/relationships/hyperlink" Target="https://github.com/IntelligentControlSystems/crs" TargetMode="External"/><Relationship Id="rId22" Type="http://schemas.openxmlformats.org/officeDocument/2006/relationships/hyperlink" Target="https://arxiv.org/abs/2309.15462" TargetMode="External"/><Relationship Id="rId23" Type="http://schemas.openxmlformats.org/officeDocument/2006/relationships/hyperlink" Target="https://doi.org/10.5061/dryad.b5mkkwhkq"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arxiv.org/abs/2204.08647" TargetMode="External"/><Relationship Id="rId4" Type="http://schemas.openxmlformats.org/officeDocument/2006/relationships/hyperlink" Target="https://arxiv.org/abs/2502.02310" TargetMode="External"/><Relationship Id="rId5" Type="http://schemas.openxmlformats.org/officeDocument/2006/relationships/hyperlink" Target="https://proceedings.mlr.press/v5/titsias09a.html" TargetMode="External"/><Relationship Id="rId6" Type="http://schemas.openxmlformats.org/officeDocument/2006/relationships/hyperlink" Target="https://arxiv.org/abs/1606.04820" TargetMode="External"/><Relationship Id="rId7" Type="http://schemas.openxmlformats.org/officeDocument/2006/relationships/hyperlink" Target="https://arxiv.org/abs/1705.07131" TargetMode="External"/><Relationship Id="rId8" Type="http://schemas.openxmlformats.org/officeDocument/2006/relationships/hyperlink" Target="https://arxiv.org/abs/2102.05773" TargetMode="External"/><Relationship Id="rId9" Type="http://schemas.openxmlformats.org/officeDocument/2006/relationships/hyperlink" Target="https://github.com/uzh-rpg/data_driven_mpc" TargetMode="External"/><Relationship Id="rId10" Type="http://schemas.openxmlformats.org/officeDocument/2006/relationships/hyperlink" Target="https://onlinelibrary.wiley.com/doi/abs/10.1002/rob.21587" TargetMode="External"/><Relationship Id="rId11" Type="http://schemas.openxmlformats.org/officeDocument/2006/relationships/hyperlink" Target="https://arxiv.org/abs/1810.06681" TargetMode="External"/><Relationship Id="rId12" Type="http://schemas.openxmlformats.org/officeDocument/2006/relationships/hyperlink" Target="https://arxiv.org/abs/2402.18065" TargetMode="External"/><Relationship Id="rId13" Type="http://schemas.openxmlformats.org/officeDocument/2006/relationships/hyperlink" Target="https://arxiv.org/abs/2411.03289" TargetMode="External"/><Relationship Id="rId14" Type="http://schemas.openxmlformats.org/officeDocument/2006/relationships/hyperlink" Target="https://arxiv.org/abs/2204.12876" TargetMode="External"/><Relationship Id="rId15" Type="http://schemas.openxmlformats.org/officeDocument/2006/relationships/hyperlink" Target="https://github.com/leggedrobotics/elevation_mapping_cupy" TargetMode="External"/><Relationship Id="rId16" Type="http://schemas.openxmlformats.org/officeDocument/2006/relationships/hyperlink" Target="https://github.com/ros-navigation/navigation2/issues/1278" TargetMode="External"/><Relationship Id="rId17" Type="http://schemas.openxmlformats.org/officeDocument/2006/relationships/hyperlink" Target="https://arxiv.org/abs/2407.18535" TargetMode="External"/><Relationship Id="rId18" Type="http://schemas.openxmlformats.org/officeDocument/2006/relationships/hyperlink" Target="https://ieeexplore.ieee.org/document/7989646/" TargetMode="External"/><Relationship Id="rId19" Type="http://schemas.openxmlformats.org/officeDocument/2006/relationships/hyperlink" Target="https://arxiv.org/abs/2303.01169" TargetMode="External"/><Relationship Id="rId20" Type="http://schemas.openxmlformats.org/officeDocument/2006/relationships/hyperlink" Target="https://robotics.caltech.edu/wiki/images/8/8e/GPModelingTerrain.pdf" TargetMode="External"/><Relationship Id="rId21" Type="http://schemas.openxmlformats.org/officeDocument/2006/relationships/hyperlink" Target="https://arxiv.org/abs/2508.03890"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rxiv.org/abs/2204.10883" TargetMode="External"/><Relationship Id="rId4" Type="http://schemas.openxmlformats.org/officeDocument/2006/relationships/hyperlink" Target="https://arxiv.org/abs/2507.12067" TargetMode="External"/><Relationship Id="rId5" Type="http://schemas.openxmlformats.org/officeDocument/2006/relationships/hyperlink" Target="https://arxiv.org/abs/2610.21239" TargetMode="External"/><Relationship Id="rId6" Type="http://schemas.openxmlformats.org/officeDocument/2006/relationships/hyperlink" Target="https://arxiv.org/abs/2506.14855" TargetMode="External"/><Relationship Id="rId7" Type="http://schemas.openxmlformats.org/officeDocument/2006/relationships/hyperlink" Target="https://feedback-mppi.github.io" TargetMode="External"/><Relationship Id="rId8" Type="http://schemas.openxmlformats.org/officeDocument/2006/relationships/hyperlink" Target="https://arxiv.org/abs/2607.13319" TargetMode="External"/><Relationship Id="rId9" Type="http://schemas.openxmlformats.org/officeDocument/2006/relationships/hyperlink" Target="https://amrl.cs.utexas.edu/optcar/" TargetMode="External"/><Relationship Id="rId10" Type="http://schemas.openxmlformats.org/officeDocument/2006/relationships/hyperlink" Target="https://arxiv.org/abs/2509.12516" TargetMode="External"/><Relationship Id="rId11" Type="http://schemas.openxmlformats.org/officeDocument/2006/relationships/hyperlink" Target="https://arxiv.org/abs/2610.06103" TargetMode="External"/><Relationship Id="rId12" Type="http://schemas.openxmlformats.org/officeDocument/2006/relationships/hyperlink" Target="https://arxiv.org/abs/2510.19054" TargetMode="External"/><Relationship Id="rId13" Type="http://schemas.openxmlformats.org/officeDocument/2006/relationships/hyperlink" Target="https://youtu.be/8l9s2Wb_vec" TargetMode="External"/><Relationship Id="rId14" Type="http://schemas.openxmlformats.org/officeDocument/2006/relationships/hyperlink" Target="https://arxiv.org/abs/2508.13457" TargetMode="External"/><Relationship Id="rId15" Type="http://schemas.openxmlformats.org/officeDocument/2006/relationships/hyperlink" Target="https://arxiv.org/abs/2601.02873" TargetMode="External"/><Relationship Id="rId16" Type="http://schemas.openxmlformats.org/officeDocument/2006/relationships/hyperlink" Target="https://github.com/ahaffemayer/diffusion_warmstart_slot" TargetMode="External"/><Relationship Id="rId17" Type="http://schemas.openxmlformats.org/officeDocument/2006/relationships/hyperlink" Target="https://ahaffemayer.github.io/diffusion_warmstart_slot/" TargetMode="External"/><Relationship Id="rId18" Type="http://schemas.openxmlformats.org/officeDocument/2006/relationships/hyperlink" Target="https://arxiv.org/abs/2609.39854" TargetMode="External"/><Relationship Id="rId19" Type="http://schemas.openxmlformats.org/officeDocument/2006/relationships/hyperlink" Target="https://arxiv.org/abs/2507.02098" TargetMode="External"/><Relationship Id="rId20" Type="http://schemas.openxmlformats.org/officeDocument/2006/relationships/hyperlink" Target="https://doi.org/10.3929/ethz-c-000803178" TargetMode="External"/><Relationship Id="rId21" Type="http://schemas.openxmlformats.org/officeDocument/2006/relationships/hyperlink" Target="https://arxiv.org/abs/2508.07045" TargetMode="External"/><Relationship Id="rId22" Type="http://schemas.openxmlformats.org/officeDocument/2006/relationships/hyperlink" Target="https://github.com/dbenders1/rohmpc"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arxiv.org/abs/2603.20525" TargetMode="External"/><Relationship Id="rId4" Type="http://schemas.openxmlformats.org/officeDocument/2006/relationships/hyperlink" Target="https://github.com/JamesRBaxter/AllTerrainAutonomyToolbox.jl" TargetMode="External"/><Relationship Id="rId5" Type="http://schemas.openxmlformats.org/officeDocument/2006/relationships/hyperlink" Target="https://arxiv.org/abs/2602.16206" TargetMode="External"/><Relationship Id="rId6" Type="http://schemas.openxmlformats.org/officeDocument/2006/relationships/hyperlink" Target="https://github.com/mlab-upenn/NonPlanarIsaacSim" TargetMode="External"/><Relationship Id="rId7" Type="http://schemas.openxmlformats.org/officeDocument/2006/relationships/hyperlink" Target="https://arxiv.org/abs/2604.14678" TargetMode="External"/><Relationship Id="rId8" Type="http://schemas.openxmlformats.org/officeDocument/2006/relationships/hyperlink" Target="https://github.com/johanneskbl/jsk_aerial_robot/tree/develop/neural_MPC" TargetMode="External"/><Relationship Id="rId9" Type="http://schemas.openxmlformats.org/officeDocument/2006/relationships/hyperlink" Target="https://arxiv.org/abs/2208.13856" TargetMode="External"/><Relationship Id="rId10" Type="http://schemas.openxmlformats.org/officeDocument/2006/relationships/hyperlink" Target="https://arxiv.org/abs/2508.20367"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504.06513" TargetMode="External"/><Relationship Id="rId4" Type="http://schemas.openxmlformats.org/officeDocument/2006/relationships/hyperlink" Target="https://github.com/Lawliet9666/Adaptive-CVaR-Barrier-Function" TargetMode="External"/><Relationship Id="rId5" Type="http://schemas.openxmlformats.org/officeDocument/2006/relationships/hyperlink" Target="https://arxiv.org/abs/2605.21257" TargetMode="External"/><Relationship Id="rId6" Type="http://schemas.openxmlformats.org/officeDocument/2006/relationships/hyperlink" Target="https://www.taekyung.me/occlusion-cbf" TargetMode="External"/><Relationship Id="rId7" Type="http://schemas.openxmlformats.org/officeDocument/2006/relationships/hyperlink" Target="https://github.com/tkkim-robot/occlusion-cbf" TargetMode="External"/><Relationship Id="rId8" Type="http://schemas.openxmlformats.org/officeDocument/2006/relationships/hyperlink" Target="https://www.taekyung.me/3e218d5c-31e3-8088-ac70-fee275314177" TargetMode="External"/><Relationship Id="rId9" Type="http://schemas.openxmlformats.org/officeDocument/2006/relationships/hyperlink" Target="https://arxiv.org/abs/2605.28330" TargetMode="External"/><Relationship Id="rId10" Type="http://schemas.openxmlformats.org/officeDocument/2006/relationships/hyperlink" Target="https://arxiv.org/abs/2410.02154" TargetMode="External"/><Relationship Id="rId11" Type="http://schemas.openxmlformats.org/officeDocument/2006/relationships/hyperlink" Target="https://arxiv.org/abs/2610.07369" TargetMode="External"/><Relationship Id="rId12" Type="http://schemas.openxmlformats.org/officeDocument/2006/relationships/hyperlink" Target="https://github.com/lc-lab25/Exact-Safe-MPPI" TargetMode="External"/><Relationship Id="rId13" Type="http://schemas.openxmlformats.org/officeDocument/2006/relationships/hyperlink" Target="https://arxiv.org/abs/2604.22149"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arxiv.org/abs/2401.17583" TargetMode="External"/><Relationship Id="rId4" Type="http://schemas.openxmlformats.org/officeDocument/2006/relationships/hyperlink" Target="https://github.com/LeCAR-Lab/ABS" TargetMode="External"/><Relationship Id="rId5" Type="http://schemas.openxmlformats.org/officeDocument/2006/relationships/hyperlink" Target="https://agile-but-safe.github.io" TargetMode="External"/><Relationship Id="rId6" Type="http://schemas.openxmlformats.org/officeDocument/2006/relationships/hyperlink" Target="https://arxiv.org/abs/2505.06794" TargetMode="External"/><Relationship Id="rId7" Type="http://schemas.openxmlformats.org/officeDocument/2006/relationships/hyperlink" Target="https://youtu.be/fBRdkAJGixI" TargetMode="External"/><Relationship Id="rId8" Type="http://schemas.openxmlformats.org/officeDocument/2006/relationships/hyperlink" Target="https://arxiv.org/abs/2508.11129" TargetMode="External"/><Relationship Id="rId9" Type="http://schemas.openxmlformats.org/officeDocument/2006/relationships/hyperlink" Target="https://arxiv.org/abs/2510.25913" TargetMode="External"/><Relationship Id="rId10" Type="http://schemas.openxmlformats.org/officeDocument/2006/relationships/hyperlink" Target="https://arxiv.org/abs/1509.01149" TargetMode="External"/><Relationship Id="rId11" Type="http://schemas.openxmlformats.org/officeDocument/2006/relationships/hyperlink" Target="https://arxiv.org/abs/1707.02342" TargetMode="External"/><Relationship Id="rId12" Type="http://schemas.openxmlformats.org/officeDocument/2006/relationships/hyperlink" Target="https://arxiv.org/abs/2102.09027" TargetMode="External"/><Relationship Id="rId13" Type="http://schemas.openxmlformats.org/officeDocument/2006/relationships/hyperlink" Target="https://arxiv.org/abs/2203.16599" TargetMode="External"/><Relationship Id="rId14" Type="http://schemas.openxmlformats.org/officeDocument/2006/relationships/hyperlink" Target="https://arxiv.org/abs/2409.07563" TargetMode="External"/><Relationship Id="rId15" Type="http://schemas.openxmlformats.org/officeDocument/2006/relationships/hyperlink" Target="https://github.com/ACDSLab/MPPI-Generic" TargetMode="External"/><Relationship Id="rId16" Type="http://schemas.openxmlformats.org/officeDocument/2006/relationships/hyperlink" Target="https://github.com/UM-ARM-Lab/pytorch_mppi" TargetMode="External"/><Relationship Id="rId17" Type="http://schemas.openxmlformats.org/officeDocument/2006/relationships/hyperlink" Target="https://arxiv.org/abs/1805.12114" TargetMode="External"/><Relationship Id="rId18" Type="http://schemas.openxmlformats.org/officeDocument/2006/relationships/hyperlink" Target="https://arxiv.org/abs/2102.12667" TargetMode="External"/><Relationship Id="rId19" Type="http://schemas.openxmlformats.org/officeDocument/2006/relationships/hyperlink" Target="https://arxiv.org/abs/2107.04034" TargetMode="External"/><Relationship Id="rId20" Type="http://schemas.openxmlformats.org/officeDocument/2006/relationships/hyperlink" Target="https://arxiv.org/abs/2310.16828" TargetMode="External"/><Relationship Id="rId21" Type="http://schemas.openxmlformats.org/officeDocument/2006/relationships/hyperlink" Target="https://github.com/nicklashansen/tdmpc2" TargetMode="External"/><Relationship Id="rId22" Type="http://schemas.openxmlformats.org/officeDocument/2006/relationships/hyperlink" Target="https://arxiv.org/abs/1609.06408"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arxiv.org/abs/1903.11199" TargetMode="External"/><Relationship Id="rId4" Type="http://schemas.openxmlformats.org/officeDocument/2006/relationships/hyperlink" Target="https://arxiv.org/abs/1709.07523" TargetMode="External"/><Relationship Id="rId5" Type="http://schemas.openxmlformats.org/officeDocument/2006/relationships/hyperlink" Target="https://github.com/StanfordASL/hj_reachability" TargetMode="External"/><Relationship Id="rId6" Type="http://schemas.openxmlformats.org/officeDocument/2006/relationships/hyperlink" Target="https://arxiv.org/abs/1812.05506" TargetMode="External"/><Relationship Id="rId7" Type="http://schemas.openxmlformats.org/officeDocument/2006/relationships/hyperlink" Target="https://arxiv.org/abs/2007.11718" TargetMode="External"/><Relationship Id="rId8" Type="http://schemas.openxmlformats.org/officeDocument/2006/relationships/hyperlink" Target="https://github.com/HybridRobotics/NMPC-DCLF-DCBF" TargetMode="External"/><Relationship Id="rId9" Type="http://schemas.openxmlformats.org/officeDocument/2006/relationships/hyperlink" Target="https://arxiv.org/abs/2109.06325" TargetMode="External"/><Relationship Id="rId10" Type="http://schemas.openxmlformats.org/officeDocument/2006/relationships/hyperlink" Target="https://github.com/utiasDSL/safe-control-gym" TargetMode="External"/><Relationship Id="rId11" Type="http://schemas.openxmlformats.org/officeDocument/2006/relationships/hyperlink" Target="https://arxiv.org/abs/2309.05837" TargetMode="External"/><Relationship Id="rId12" Type="http://schemas.openxmlformats.org/officeDocument/2006/relationships/hyperlink" Target="https://github.com/tkkim-robot/safe_contro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rail.eecs.berkeley.edu/deeprlcourse/" TargetMode="External"/><Relationship Id="rId4" Type="http://schemas.openxmlformats.org/officeDocument/2006/relationships/hyperlink" Target="https://www.youtube.com/playlist?list=PL_iWQOsE6TfVYGEGiAOMaOzzv41Jfm_Ps" TargetMode="External"/><Relationship Id="rId5" Type="http://schemas.openxmlformats.org/officeDocument/2006/relationships/hyperlink" Target="https://www.youtube.com/playlist?list=PLkFD6_40KJIxJMR-j5A1mkxK26gh_qg37" TargetMode="External"/><Relationship Id="rId6" Type="http://schemas.openxmlformats.org/officeDocument/2006/relationships/hyperlink" Target="https://rltheorybook.github.io" TargetMode="External"/><Relationship Id="rId7" Type="http://schemas.openxmlformats.org/officeDocument/2006/relationships/hyperlink" Target="https://arxiv.org/abs/1011.0686" TargetMode="External"/><Relationship Id="rId8" Type="http://schemas.openxmlformats.org/officeDocument/2006/relationships/hyperlink" Target="https://arxiv.org/abs/1312.5602" TargetMode="External"/><Relationship Id="rId9" Type="http://schemas.openxmlformats.org/officeDocument/2006/relationships/hyperlink" Target="https://arxiv.org/abs/1502.05477" TargetMode="External"/><Relationship Id="rId10" Type="http://schemas.openxmlformats.org/officeDocument/2006/relationships/hyperlink" Target="https://arxiv.org/abs/1504.00702" TargetMode="External"/><Relationship Id="rId11" Type="http://schemas.openxmlformats.org/officeDocument/2006/relationships/hyperlink" Target="https://arxiv.org/abs/1506.02438" TargetMode="External"/><Relationship Id="rId12" Type="http://schemas.openxmlformats.org/officeDocument/2006/relationships/hyperlink" Target="https://arxiv.org/abs/1507.04888" TargetMode="External"/><Relationship Id="rId13" Type="http://schemas.openxmlformats.org/officeDocument/2006/relationships/hyperlink" Target="https://arxiv.org/abs/1509.02971" TargetMode="External"/><Relationship Id="rId14" Type="http://schemas.openxmlformats.org/officeDocument/2006/relationships/hyperlink" Target="https://arxiv.org/abs/1509.06461" TargetMode="External"/><Relationship Id="rId15" Type="http://schemas.openxmlformats.org/officeDocument/2006/relationships/hyperlink" Target="https://arxiv.org/abs/1511.06295" TargetMode="External"/><Relationship Id="rId16" Type="http://schemas.openxmlformats.org/officeDocument/2006/relationships/hyperlink" Target="https://arxiv.org/abs/1602.01783" TargetMode="External"/><Relationship Id="rId17" Type="http://schemas.openxmlformats.org/officeDocument/2006/relationships/hyperlink" Target="https://arxiv.org/abs/1602.0462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hyperlink" Target="https://arxiv.org/abs/1603.00448" TargetMode="External"/><Relationship Id="rId4" Type="http://schemas.openxmlformats.org/officeDocument/2006/relationships/hyperlink" Target="https://arxiv.org/abs/1604.07316" TargetMode="External"/><Relationship Id="rId5" Type="http://schemas.openxmlformats.org/officeDocument/2006/relationships/hyperlink" Target="https://arxiv.org/abs/1605.09674" TargetMode="External"/><Relationship Id="rId6" Type="http://schemas.openxmlformats.org/officeDocument/2006/relationships/hyperlink" Target="https://arxiv.org/abs/1606.01868" TargetMode="External"/><Relationship Id="rId7" Type="http://schemas.openxmlformats.org/officeDocument/2006/relationships/hyperlink" Target="https://arxiv.org/abs/1606.03476" TargetMode="External"/><Relationship Id="rId8" Type="http://schemas.openxmlformats.org/officeDocument/2006/relationships/hyperlink" Target="https://arxiv.org/abs/1606.05312" TargetMode="External"/><Relationship Id="rId9" Type="http://schemas.openxmlformats.org/officeDocument/2006/relationships/hyperlink" Target="https://arxiv.org/abs/1607.02329" TargetMode="External"/><Relationship Id="rId10" Type="http://schemas.openxmlformats.org/officeDocument/2006/relationships/hyperlink" Target="https://arxiv.org/abs/1609.05140" TargetMode="External"/><Relationship Id="rId11" Type="http://schemas.openxmlformats.org/officeDocument/2006/relationships/hyperlink" Target="https://arxiv.org/abs/1611.01578" TargetMode="External"/><Relationship Id="rId12" Type="http://schemas.openxmlformats.org/officeDocument/2006/relationships/hyperlink" Target="https://arxiv.org/abs/1611.02779" TargetMode="External"/><Relationship Id="rId13" Type="http://schemas.openxmlformats.org/officeDocument/2006/relationships/hyperlink" Target="https://arxiv.org/abs/1611.03852" TargetMode="External"/><Relationship Id="rId14" Type="http://schemas.openxmlformats.org/officeDocument/2006/relationships/hyperlink" Target="https://arxiv.org/abs/1611.04717" TargetMode="External"/><Relationship Id="rId15" Type="http://schemas.openxmlformats.org/officeDocument/2006/relationships/hyperlink" Target="https://arxiv.org/abs/1611.07507" TargetMode="External"/><Relationship Id="rId16" Type="http://schemas.openxmlformats.org/officeDocument/2006/relationships/hyperlink" Target="https://arxiv.org/abs/1702.08165" TargetMode="External"/><Relationship Id="rId17" Type="http://schemas.openxmlformats.org/officeDocument/2006/relationships/hyperlink" Target="https://arxiv.org/abs/1703.03864" TargetMode="External"/><Relationship Id="rId18" Type="http://schemas.openxmlformats.org/officeDocument/2006/relationships/hyperlink" Target="https://arxiv.org/abs/1703.01260" TargetMode="External"/><Relationship Id="rId19" Type="http://schemas.openxmlformats.org/officeDocument/2006/relationships/hyperlink" Target="https://arxiv.org/abs/1703.03400" TargetMode="External"/><Relationship Id="rId20" Type="http://schemas.openxmlformats.org/officeDocument/2006/relationships/hyperlink" Target="https://arxiv.org/abs/1705.05363"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arxiv.org/abs/1707.06347" TargetMode="External"/><Relationship Id="rId4" Type="http://schemas.openxmlformats.org/officeDocument/2006/relationships/hyperlink" Target="https://arxiv.org/abs/1707.01495" TargetMode="External"/><Relationship Id="rId5" Type="http://schemas.openxmlformats.org/officeDocument/2006/relationships/hyperlink" Target="https://arxiv.org/abs/1709.10489" TargetMode="External"/><Relationship Id="rId6" Type="http://schemas.openxmlformats.org/officeDocument/2006/relationships/hyperlink" Target="https://arxiv.org/abs/1801.01290" TargetMode="External"/><Relationship Id="rId7" Type="http://schemas.openxmlformats.org/officeDocument/2006/relationships/hyperlink" Target="https://arxiv.org/abs/1802.06070" TargetMode="External"/><Relationship Id="rId8" Type="http://schemas.openxmlformats.org/officeDocument/2006/relationships/hyperlink" Target="https://arxiv.org/abs/1802.09477" TargetMode="External"/><Relationship Id="rId9" Type="http://schemas.openxmlformats.org/officeDocument/2006/relationships/hyperlink" Target="https://arxiv.org/abs/1802.01561" TargetMode="External"/><Relationship Id="rId10" Type="http://schemas.openxmlformats.org/officeDocument/2006/relationships/hyperlink" Target="https://arxiv.org/abs/1803.00101" TargetMode="External"/><Relationship Id="rId11" Type="http://schemas.openxmlformats.org/officeDocument/2006/relationships/hyperlink" Target="https://arxiv.org/abs/1803.00933" TargetMode="External"/><Relationship Id="rId12" Type="http://schemas.openxmlformats.org/officeDocument/2006/relationships/hyperlink" Target="https://arxiv.org/abs/1805.00909" TargetMode="External"/><Relationship Id="rId13" Type="http://schemas.openxmlformats.org/officeDocument/2006/relationships/hyperlink" Target="https://arxiv.org/abs/1805.12114" TargetMode="External"/><Relationship Id="rId14" Type="http://schemas.openxmlformats.org/officeDocument/2006/relationships/hyperlink" Target="https://arxiv.org/abs/1805.08296" TargetMode="External"/><Relationship Id="rId15" Type="http://schemas.openxmlformats.org/officeDocument/2006/relationships/hyperlink" Target="https://arxiv.org/abs/1807.04742" TargetMode="External"/><Relationship Id="rId16" Type="http://schemas.openxmlformats.org/officeDocument/2006/relationships/hyperlink" Target="https://arxiv.org/abs/1810.02890" TargetMode="External"/><Relationship Id="rId17" Type="http://schemas.openxmlformats.org/officeDocument/2006/relationships/hyperlink" Target="https://arxiv.org/abs/1810.04303" TargetMode="External"/><Relationship Id="rId18" Type="http://schemas.openxmlformats.org/officeDocument/2006/relationships/hyperlink" Target="https://arxiv.org/abs/1810.12894" TargetMode="External"/><Relationship Id="rId19" Type="http://schemas.openxmlformats.org/officeDocument/2006/relationships/hyperlink" Target="https://arxiv.org/abs/1811.04551" TargetMode="External"/><Relationship Id="rId20" Type="http://schemas.openxmlformats.org/officeDocument/2006/relationships/hyperlink" Target="https://arxiv.org/abs/1901.10995"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hyperlink" Target="https://arxiv.org/abs/1903.03698" TargetMode="External"/><Relationship Id="rId4" Type="http://schemas.openxmlformats.org/officeDocument/2006/relationships/hyperlink" Target="https://arxiv.org/abs/1903.08254" TargetMode="External"/><Relationship Id="rId5" Type="http://schemas.openxmlformats.org/officeDocument/2006/relationships/hyperlink" Target="https://arxiv.org/abs/1904.11455" TargetMode="External"/><Relationship Id="rId6" Type="http://schemas.openxmlformats.org/officeDocument/2006/relationships/hyperlink" Target="https://arxiv.org/abs/1905.11979" TargetMode="External"/><Relationship Id="rId7" Type="http://schemas.openxmlformats.org/officeDocument/2006/relationships/hyperlink" Target="https://arxiv.org/abs/1905.12767" TargetMode="External"/><Relationship Id="rId8" Type="http://schemas.openxmlformats.org/officeDocument/2006/relationships/hyperlink" Target="https://arxiv.org/abs/1906.08253" TargetMode="External"/><Relationship Id="rId9" Type="http://schemas.openxmlformats.org/officeDocument/2006/relationships/hyperlink" Target="https://arxiv.org/abs/1906.05274" TargetMode="External"/><Relationship Id="rId10" Type="http://schemas.openxmlformats.org/officeDocument/2006/relationships/hyperlink" Target="https://arxiv.org/abs/1906.08928" TargetMode="External"/><Relationship Id="rId11" Type="http://schemas.openxmlformats.org/officeDocument/2006/relationships/hyperlink" Target="https://arxiv.org/abs/1909.11652" TargetMode="External"/><Relationship Id="rId12" Type="http://schemas.openxmlformats.org/officeDocument/2006/relationships/hyperlink" Target="https://arxiv.org/abs/1910.00177" TargetMode="External"/><Relationship Id="rId13" Type="http://schemas.openxmlformats.org/officeDocument/2006/relationships/hyperlink" Target="https://arxiv.org/abs/1911.08265" TargetMode="External"/><Relationship Id="rId14" Type="http://schemas.openxmlformats.org/officeDocument/2006/relationships/hyperlink" Target="https://arxiv.org/abs/1911.08453" TargetMode="External"/><Relationship Id="rId15" Type="http://schemas.openxmlformats.org/officeDocument/2006/relationships/hyperlink" Target="https://arxiv.org/abs/1911.11361" TargetMode="External"/><Relationship Id="rId16" Type="http://schemas.openxmlformats.org/officeDocument/2006/relationships/hyperlink" Target="https://arxiv.org/abs/1912.01603" TargetMode="External"/><Relationship Id="rId17" Type="http://schemas.openxmlformats.org/officeDocument/2006/relationships/hyperlink" Target="https://arxiv.org/abs/1912.06088" TargetMode="External"/><Relationship Id="rId18" Type="http://schemas.openxmlformats.org/officeDocument/2006/relationships/hyperlink" Target="https://arxiv.org/abs/2005.05951" TargetMode="External"/><Relationship Id="rId19" Type="http://schemas.openxmlformats.org/officeDocument/2006/relationships/hyperlink" Target="https://arxiv.org/abs/2005.13239" TargetMode="External"/><Relationship Id="rId20" Type="http://schemas.openxmlformats.org/officeDocument/2006/relationships/hyperlink" Target="https://arxiv.org/abs/2006.04779"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arxiv.org/abs/2006.09359" TargetMode="External"/><Relationship Id="rId4" Type="http://schemas.openxmlformats.org/officeDocument/2006/relationships/hyperlink" Target="https://arxiv.org/abs/2010.04689" TargetMode="External"/><Relationship Id="rId5" Type="http://schemas.openxmlformats.org/officeDocument/2006/relationships/hyperlink" Target="https://arxiv.org/abs/2011.08909" TargetMode="External"/><Relationship Id="rId6" Type="http://schemas.openxmlformats.org/officeDocument/2006/relationships/hyperlink" Target="https://arxiv.org/abs/2012.08005" TargetMode="External"/><Relationship Id="rId7" Type="http://schemas.openxmlformats.org/officeDocument/2006/relationships/hyperlink" Target="https://arxiv.org/abs/2102.08363" TargetMode="External"/><Relationship Id="rId8" Type="http://schemas.openxmlformats.org/officeDocument/2006/relationships/hyperlink" Target="https://arxiv.org/abs/2104.11203" TargetMode="External"/><Relationship Id="rId9" Type="http://schemas.openxmlformats.org/officeDocument/2006/relationships/hyperlink" Target="https://arxiv.org/abs/2106.06860" TargetMode="External"/><Relationship Id="rId10" Type="http://schemas.openxmlformats.org/officeDocument/2006/relationships/hyperlink" Target="https://arxiv.org/abs/2107.04034" TargetMode="External"/><Relationship Id="rId11" Type="http://schemas.openxmlformats.org/officeDocument/2006/relationships/hyperlink" Target="https://arxiv.org/abs/2108.10470" TargetMode="External"/><Relationship Id="rId12" Type="http://schemas.openxmlformats.org/officeDocument/2006/relationships/hyperlink" Target="https://arxiv.org/abs/2108.13264" TargetMode="External"/><Relationship Id="rId13" Type="http://schemas.openxmlformats.org/officeDocument/2006/relationships/hyperlink" Target="https://arxiv.org/abs/2110.06169" TargetMode="External"/><Relationship Id="rId14" Type="http://schemas.openxmlformats.org/officeDocument/2006/relationships/hyperlink" Target="https://arxiv.org/abs/2203.02155" TargetMode="External"/><Relationship Id="rId15" Type="http://schemas.openxmlformats.org/officeDocument/2006/relationships/hyperlink" Target="https://arxiv.org/abs/2204.01691" TargetMode="External"/><Relationship Id="rId16" Type="http://schemas.openxmlformats.org/officeDocument/2006/relationships/hyperlink" Target="https://arxiv.org/abs/2209.12827" TargetMode="External"/><Relationship Id="rId17" Type="http://schemas.openxmlformats.org/officeDocument/2006/relationships/hyperlink" Target="https://arxiv.org/abs/2210.10760" TargetMode="External"/><Relationship Id="rId18" Type="http://schemas.openxmlformats.org/officeDocument/2006/relationships/hyperlink" Target="https://arxiv.org/abs/2211.15144" TargetMode="External"/><Relationship Id="rId19" Type="http://schemas.openxmlformats.org/officeDocument/2006/relationships/hyperlink" Target="https://arxiv.org/abs/2301.04104"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arxiv.org/abs/2302.02948" TargetMode="External"/><Relationship Id="rId4" Type="http://schemas.openxmlformats.org/officeDocument/2006/relationships/hyperlink" Target="https://arxiv.org/abs/2303.05479" TargetMode="External"/><Relationship Id="rId5" Type="http://schemas.openxmlformats.org/officeDocument/2006/relationships/hyperlink" Target="https://arxiv.org/abs/2304.10573" TargetMode="External"/><Relationship Id="rId6" Type="http://schemas.openxmlformats.org/officeDocument/2006/relationships/hyperlink" Target="https://arxiv.org/abs/2304.13705" TargetMode="External"/><Relationship Id="rId7" Type="http://schemas.openxmlformats.org/officeDocument/2006/relationships/hyperlink" Target="https://arxiv.org/abs/2305.18290" TargetMode="External"/><Relationship Id="rId8" Type="http://schemas.openxmlformats.org/officeDocument/2006/relationships/hyperlink" Target="https://arxiv.org/abs/2305.13301" TargetMode="External"/><Relationship Id="rId9" Type="http://schemas.openxmlformats.org/officeDocument/2006/relationships/hyperlink" Target="https://arxiv.org/abs/2305.20050" TargetMode="External"/><Relationship Id="rId10" Type="http://schemas.openxmlformats.org/officeDocument/2006/relationships/hyperlink" Target="https://arxiv.org/abs/2310.16828" TargetMode="External"/><Relationship Id="rId11" Type="http://schemas.openxmlformats.org/officeDocument/2006/relationships/hyperlink" Target="https://arxiv.org/abs/2311.05584" TargetMode="External"/><Relationship Id="rId12" Type="http://schemas.openxmlformats.org/officeDocument/2006/relationships/hyperlink" Target="https://arxiv.org/abs/2311.12908" TargetMode="External"/><Relationship Id="rId13" Type="http://schemas.openxmlformats.org/officeDocument/2006/relationships/hyperlink" Target="https://arxiv.org/abs/2312.11752" TargetMode="External"/><Relationship Id="rId14" Type="http://schemas.openxmlformats.org/officeDocument/2006/relationships/hyperlink" Target="https://github.com/escontra/score_matching_rl" TargetMode="External"/><Relationship Id="rId15" Type="http://schemas.openxmlformats.org/officeDocument/2006/relationships/hyperlink" Target="https://arxiv.org/abs/2402.03300" TargetMode="External"/><Relationship Id="rId16" Type="http://schemas.openxmlformats.org/officeDocument/2006/relationships/hyperlink" Target="https://arxiv.org/abs/2402.19446" TargetMode="External"/><Relationship Id="rId17" Type="http://schemas.openxmlformats.org/officeDocument/2006/relationships/hyperlink" Target="https://arxiv.org/abs/2409.00588" TargetMode="External"/><Relationship Id="rId18" Type="http://schemas.openxmlformats.org/officeDocument/2006/relationships/hyperlink" Target="https://arxiv.org/abs/2502.02538" TargetMode="External"/><Relationship Id="rId19" Type="http://schemas.openxmlformats.org/officeDocument/2006/relationships/hyperlink" Target="https://arxiv.org/abs/2505.22094" TargetMode="External"/><Relationship Id="rId20" Type="http://schemas.openxmlformats.org/officeDocument/2006/relationships/hyperlink" Target="https://github.com/ReinFlow/ReinFlow" TargetMode="External"/><Relationship Id="rId21" Type="http://schemas.openxmlformats.org/officeDocument/2006/relationships/hyperlink" Target="https://arxiv.org/abs/2505.03729" TargetMode="External"/><Relationship Id="rId22" Type="http://schemas.openxmlformats.org/officeDocument/2006/relationships/hyperlink" Target="https://github.com/hongsukchoi/VideoMimic"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hyperlink" Target="https://arxiv.org/abs/2506.15799" TargetMode="External"/><Relationship Id="rId4" Type="http://schemas.openxmlformats.org/officeDocument/2006/relationships/hyperlink" Target="https://github.com/ajwagen/dsrl" TargetMode="External"/><Relationship Id="rId5" Type="http://schemas.openxmlformats.org/officeDocument/2006/relationships/hyperlink" Target="https://arxiv.org/abs/2507.21053" TargetMode="External"/><Relationship Id="rId6" Type="http://schemas.openxmlformats.org/officeDocument/2006/relationships/hyperlink" Target="https://github.com/akanazawa/fpo" TargetMode="External"/><Relationship Id="rId7" Type="http://schemas.openxmlformats.org/officeDocument/2006/relationships/hyperlink" Target="https://arxiv.org/abs/2507.07969" TargetMode="External"/><Relationship Id="rId8" Type="http://schemas.openxmlformats.org/officeDocument/2006/relationships/hyperlink" Target="https://github.com/ColinQiyangLi/qc" TargetMode="External"/><Relationship Id="rId9" Type="http://schemas.openxmlformats.org/officeDocument/2006/relationships/hyperlink" Target="https://arxiv.org/abs/2509.18648" TargetMode="External"/><Relationship Id="rId10" Type="http://schemas.openxmlformats.org/officeDocument/2006/relationships/hyperlink" Target="https://github.com/yardenas/safe-learning" TargetMode="External"/><Relationship Id="rId11" Type="http://schemas.openxmlformats.org/officeDocument/2006/relationships/hyperlink" Target="https://arxiv.org/abs/2509.24527" TargetMode="External"/><Relationship Id="rId12" Type="http://schemas.openxmlformats.org/officeDocument/2006/relationships/hyperlink" Target="https://danijar.com/project/dreamer4/" TargetMode="External"/><Relationship Id="rId13" Type="http://schemas.openxmlformats.org/officeDocument/2006/relationships/hyperlink" Target="https://arxiv.org/abs/2510.14830" TargetMode="External"/><Relationship Id="rId14" Type="http://schemas.openxmlformats.org/officeDocument/2006/relationships/hyperlink" Target="https://lei-kun.github.io/RL-100/" TargetMode="External"/><Relationship Id="rId15" Type="http://schemas.openxmlformats.org/officeDocument/2006/relationships/hyperlink" Target="https://arxiv.org/abs/2511.14759" TargetMode="External"/><Relationship Id="rId16" Type="http://schemas.openxmlformats.org/officeDocument/2006/relationships/hyperlink" Target="https://www.pi.website/blog/pistar06" TargetMode="External"/><Relationship Id="rId17" Type="http://schemas.openxmlformats.org/officeDocument/2006/relationships/hyperlink" Target="https://arxiv.org/abs/2512.01996" TargetMode="External"/><Relationship Id="rId18" Type="http://schemas.openxmlformats.org/officeDocument/2006/relationships/hyperlink" Target="https://github.com/amazon-far/holosoma" TargetMode="External"/><Relationship Id="rId19" Type="http://schemas.openxmlformats.org/officeDocument/2006/relationships/hyperlink" Target="https://arxiv.org/abs/2602.02481" TargetMode="External"/><Relationship Id="rId20" Type="http://schemas.openxmlformats.org/officeDocument/2006/relationships/hyperlink" Target="https://hongsukchoi.github.io/fpo-control" TargetMode="External"/><Relationship Id="rId21" Type="http://schemas.openxmlformats.org/officeDocument/2006/relationships/hyperlink" Target="https://arxiv.org/abs/2602.18117" TargetMode="External"/><Relationship Id="rId22" Type="http://schemas.openxmlformats.org/officeDocument/2006/relationships/hyperlink" Target="https://github.com/CTID282/FINO" TargetMode="External"/><Relationship Id="rId23" Type="http://schemas.openxmlformats.org/officeDocument/2006/relationships/hyperlink" Target="https://arxiv.org/abs/2603.15759" TargetMode="External"/><Relationship Id="rId24" Type="http://schemas.openxmlformats.org/officeDocument/2006/relationships/hyperlink" Target="https://sim-dist.github.io" TargetMode="External"/><Relationship Id="rId25" Type="http://schemas.openxmlformats.org/officeDocument/2006/relationships/hyperlink" Target="https://arxiv.org/abs/2605.14174" TargetMode="External"/><Relationship Id="rId26" Type="http://schemas.openxmlformats.org/officeDocument/2006/relationships/hyperlink" Target="https://arxiv.org/abs/2605.15559" TargetMode="External"/><Relationship Id="rId27" Type="http://schemas.openxmlformats.org/officeDocument/2006/relationships/hyperlink" Target="https://arxiv.org/abs/2609.33337" TargetMode="External"/><Relationship Id="rId28" Type="http://schemas.openxmlformats.org/officeDocument/2006/relationships/hyperlink" Target="https://github.com/byli888/safe-score-matching" TargetMode="External"/><Relationship Id="rId29" Type="http://schemas.openxmlformats.org/officeDocument/2006/relationships/hyperlink" Target="https://arxiv.org/abs/2610.08789" TargetMode="External"/><Relationship Id="rId30" Type="http://schemas.openxmlformats.org/officeDocument/2006/relationships/hyperlink" Target="https://qf3-rl.github.io/"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hyperlink" Target="https://udlbook.github.io/udlbook/" TargetMode="External"/><Relationship Id="rId4" Type="http://schemas.openxmlformats.org/officeDocument/2006/relationships/hyperlink" Target="https://github.com/udlbook/udlbook" TargetMode="External"/><Relationship Id="rId5" Type="http://schemas.openxmlformats.org/officeDocument/2006/relationships/hyperlink" Target="https://diffusion.csail.mit.edu/" TargetMode="External"/><Relationship Id="rId6" Type="http://schemas.openxmlformats.org/officeDocument/2006/relationships/hyperlink" Target="https://arxiv.org/abs/2506.02070" TargetMode="External"/><Relationship Id="rId7" Type="http://schemas.openxmlformats.org/officeDocument/2006/relationships/hyperlink" Target="https://stanford-cs336.github.io/spring2025/" TargetMode="External"/><Relationship Id="rId8" Type="http://schemas.openxmlformats.org/officeDocument/2006/relationships/hyperlink" Target="https://introtodeeplearning.com/" TargetMode="External"/><Relationship Id="rId9" Type="http://schemas.openxmlformats.org/officeDocument/2006/relationships/hyperlink" Target="https://cs231n.stanford.edu/" TargetMode="External"/><Relationship Id="rId10" Type="http://schemas.openxmlformats.org/officeDocument/2006/relationships/hyperlink" Target="https://d2l.ai/" TargetMode="External"/><Relationship Id="rId11" Type="http://schemas.openxmlformats.org/officeDocument/2006/relationships/hyperlink" Target="https://arxiv.org/abs/1412.6980" TargetMode="External"/><Relationship Id="rId12" Type="http://schemas.openxmlformats.org/officeDocument/2006/relationships/hyperlink" Target="https://arxiv.org/abs/1406.2661" TargetMode="External"/><Relationship Id="rId13" Type="http://schemas.openxmlformats.org/officeDocument/2006/relationships/hyperlink" Target="https://arxiv.org/abs/1312.6114" TargetMode="External"/><Relationship Id="rId14" Type="http://schemas.openxmlformats.org/officeDocument/2006/relationships/hyperlink" Target="https://arxiv.org/abs/1502.03167" TargetMode="External"/><Relationship Id="rId15" Type="http://schemas.openxmlformats.org/officeDocument/2006/relationships/hyperlink" Target="https://arxiv.org/abs/1503.02531" TargetMode="External"/><Relationship Id="rId16" Type="http://schemas.openxmlformats.org/officeDocument/2006/relationships/hyperlink" Target="https://arxiv.org/abs/1505.04597" TargetMode="External"/><Relationship Id="rId17" Type="http://schemas.openxmlformats.org/officeDocument/2006/relationships/hyperlink" Target="https://arxiv.org/abs/1512.03385" TargetMode="External"/><Relationship Id="rId18" Type="http://schemas.openxmlformats.org/officeDocument/2006/relationships/hyperlink" Target="https://arxiv.org/abs/1607.06450" TargetMode="External"/><Relationship Id="rId19" Type="http://schemas.openxmlformats.org/officeDocument/2006/relationships/hyperlink" Target="https://arxiv.org/abs/1611.03530" TargetMode="External"/><Relationship Id="rId20" Type="http://schemas.openxmlformats.org/officeDocument/2006/relationships/hyperlink" Target="https://arxiv.org/abs/1612.01474"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hyperlink" Target="https://arxiv.org/abs/1612.00593" TargetMode="External"/><Relationship Id="rId4" Type="http://schemas.openxmlformats.org/officeDocument/2006/relationships/hyperlink" Target="https://arxiv.org/abs/1701.06538" TargetMode="External"/><Relationship Id="rId5" Type="http://schemas.openxmlformats.org/officeDocument/2006/relationships/hyperlink" Target="https://arxiv.org/abs/1706.03762" TargetMode="External"/><Relationship Id="rId6" Type="http://schemas.openxmlformats.org/officeDocument/2006/relationships/hyperlink" Target="https://arxiv.org/abs/1711.05101" TargetMode="External"/><Relationship Id="rId7" Type="http://schemas.openxmlformats.org/officeDocument/2006/relationships/hyperlink" Target="https://arxiv.org/abs/1803.03635" TargetMode="External"/><Relationship Id="rId8" Type="http://schemas.openxmlformats.org/officeDocument/2006/relationships/hyperlink" Target="https://arxiv.org/abs/1810.04805" TargetMode="External"/><Relationship Id="rId9" Type="http://schemas.openxmlformats.org/officeDocument/2006/relationships/hyperlink" Target="https://arxiv.org/abs/1912.02292" TargetMode="External"/><Relationship Id="rId10" Type="http://schemas.openxmlformats.org/officeDocument/2006/relationships/hyperlink" Target="https://arxiv.org/abs/2001.08361" TargetMode="External"/><Relationship Id="rId11" Type="http://schemas.openxmlformats.org/officeDocument/2006/relationships/hyperlink" Target="https://arxiv.org/abs/2002.05709" TargetMode="External"/><Relationship Id="rId12" Type="http://schemas.openxmlformats.org/officeDocument/2006/relationships/hyperlink" Target="https://arxiv.org/abs/2005.14165" TargetMode="External"/><Relationship Id="rId13" Type="http://schemas.openxmlformats.org/officeDocument/2006/relationships/hyperlink" Target="https://arxiv.org/abs/2006.11239" TargetMode="External"/><Relationship Id="rId14" Type="http://schemas.openxmlformats.org/officeDocument/2006/relationships/hyperlink" Target="https://arxiv.org/abs/2010.02502" TargetMode="External"/><Relationship Id="rId15" Type="http://schemas.openxmlformats.org/officeDocument/2006/relationships/hyperlink" Target="https://arxiv.org/abs/2010.11929" TargetMode="External"/><Relationship Id="rId16" Type="http://schemas.openxmlformats.org/officeDocument/2006/relationships/hyperlink" Target="https://arxiv.org/abs/2011.13456" TargetMode="External"/><Relationship Id="rId17" Type="http://schemas.openxmlformats.org/officeDocument/2006/relationships/hyperlink" Target="https://arxiv.org/abs/2101.03961" TargetMode="External"/><Relationship Id="rId18" Type="http://schemas.openxmlformats.org/officeDocument/2006/relationships/hyperlink" Target="https://arxiv.org/abs/2103.00020" TargetMode="External"/><Relationship Id="rId19" Type="http://schemas.openxmlformats.org/officeDocument/2006/relationships/hyperlink" Target="https://arxiv.org/abs/2104.09864" TargetMode="External"/><Relationship Id="rId20" Type="http://schemas.openxmlformats.org/officeDocument/2006/relationships/hyperlink" Target="https://arxiv.org/abs/2104.14294"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hyperlink" Target="https://arxiv.org/abs/2106.09685" TargetMode="External"/><Relationship Id="rId4" Type="http://schemas.openxmlformats.org/officeDocument/2006/relationships/hyperlink" Target="https://arxiv.org/abs/2111.06377" TargetMode="External"/><Relationship Id="rId5" Type="http://schemas.openxmlformats.org/officeDocument/2006/relationships/hyperlink" Target="https://arxiv.org/abs/2203.02155" TargetMode="External"/><Relationship Id="rId6" Type="http://schemas.openxmlformats.org/officeDocument/2006/relationships/hyperlink" Target="https://arxiv.org/abs/2203.15556" TargetMode="External"/><Relationship Id="rId7" Type="http://schemas.openxmlformats.org/officeDocument/2006/relationships/hyperlink" Target="https://arxiv.org/abs/2205.14135" TargetMode="External"/><Relationship Id="rId8" Type="http://schemas.openxmlformats.org/officeDocument/2006/relationships/hyperlink" Target="https://arxiv.org/abs/2207.12598" TargetMode="External"/><Relationship Id="rId9" Type="http://schemas.openxmlformats.org/officeDocument/2006/relationships/hyperlink" Target="https://arxiv.org/abs/2209.03003" TargetMode="External"/><Relationship Id="rId10" Type="http://schemas.openxmlformats.org/officeDocument/2006/relationships/hyperlink" Target="https://arxiv.org/abs/2212.09748" TargetMode="External"/><Relationship Id="rId11" Type="http://schemas.openxmlformats.org/officeDocument/2006/relationships/hyperlink" Target="https://arxiv.org/abs/2301.08243" TargetMode="External"/><Relationship Id="rId12" Type="http://schemas.openxmlformats.org/officeDocument/2006/relationships/hyperlink" Target="https://arxiv.org/abs/2301.04104" TargetMode="External"/><Relationship Id="rId13" Type="http://schemas.openxmlformats.org/officeDocument/2006/relationships/hyperlink" Target="https://arxiv.org/abs/2303.01469" TargetMode="External"/><Relationship Id="rId14" Type="http://schemas.openxmlformats.org/officeDocument/2006/relationships/hyperlink" Target="https://arxiv.org/abs/2304.08485" TargetMode="External"/><Relationship Id="rId15" Type="http://schemas.openxmlformats.org/officeDocument/2006/relationships/hyperlink" Target="https://arxiv.org/abs/2305.14314" TargetMode="External"/><Relationship Id="rId16" Type="http://schemas.openxmlformats.org/officeDocument/2006/relationships/hyperlink" Target="https://arxiv.org/abs/2305.18290" TargetMode="External"/><Relationship Id="rId17" Type="http://schemas.openxmlformats.org/officeDocument/2006/relationships/hyperlink" Target="https://arxiv.org/abs/2307.15818" TargetMode="External"/><Relationship Id="rId18" Type="http://schemas.openxmlformats.org/officeDocument/2006/relationships/hyperlink" Target="https://arxiv.org/abs/2312.00752" TargetMode="External"/><Relationship Id="rId19" Type="http://schemas.openxmlformats.org/officeDocument/2006/relationships/hyperlink" Target="https://arxiv.org/abs/2402.15391" TargetMode="External"/><Relationship Id="rId20" Type="http://schemas.openxmlformats.org/officeDocument/2006/relationships/hyperlink" Target="https://arxiv.org/abs/2403.19887"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hyperlink" Target="https://arxiv.org/abs/2405.04517" TargetMode="External"/><Relationship Id="rId4" Type="http://schemas.openxmlformats.org/officeDocument/2006/relationships/hyperlink" Target="https://arxiv.org/abs/2407.04620" TargetMode="External"/><Relationship Id="rId5" Type="http://schemas.openxmlformats.org/officeDocument/2006/relationships/hyperlink" Target="https://arxiv.org/abs/2408.03314" TargetMode="External"/><Relationship Id="rId6" Type="http://schemas.openxmlformats.org/officeDocument/2006/relationships/hyperlink" Target="https://arxiv.org/abs/2501.09747" TargetMode="External"/><Relationship Id="rId7" Type="http://schemas.openxmlformats.org/officeDocument/2006/relationships/hyperlink" Target="https://arxiv.org/abs/2501.03575" TargetMode="External"/><Relationship Id="rId8" Type="http://schemas.openxmlformats.org/officeDocument/2006/relationships/hyperlink" Target="https://arxiv.org/abs/2502.16982" TargetMode="External"/><Relationship Id="rId9" Type="http://schemas.openxmlformats.org/officeDocument/2006/relationships/hyperlink" Target="https://arxiv.org/abs/2506.09985" TargetMode="External"/><Relationship Id="rId10" Type="http://schemas.openxmlformats.org/officeDocument/2006/relationships/hyperlink" Target="https://arxiv.org/abs/2508.10104"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https://arxiv.org/abs/2607.04837" TargetMode="External"/><Relationship Id="rId4" Type="http://schemas.openxmlformats.org/officeDocument/2006/relationships/hyperlink" Target="https://research.cs.wisc.edu/graphics/Courses/cs-838-1999/Papers/retarget-preprint.pdf" TargetMode="External"/><Relationship Id="rId5" Type="http://schemas.openxmlformats.org/officeDocument/2006/relationships/hyperlink" Target="https://doi.org/10.1109/ROBOT.2002.1014737" TargetMode="External"/><Relationship Id="rId6" Type="http://schemas.openxmlformats.org/officeDocument/2006/relationships/hyperlink" Target="http://mocap.cs.cmu.edu/" TargetMode="External"/><Relationship Id="rId7" Type="http://schemas.openxmlformats.org/officeDocument/2006/relationships/hyperlink" Target="https://doi.org/10.1177/0278364907079430" TargetMode="External"/><Relationship Id="rId8" Type="http://schemas.openxmlformats.org/officeDocument/2006/relationships/hyperlink" Target="https://doi.org/10.1145/1778765.1778770" TargetMode="External"/><Relationship Id="rId9" Type="http://schemas.openxmlformats.org/officeDocument/2006/relationships/hyperlink" Target="https://doi.org/10.1109/ICRA.2014.6907261" TargetMode="External"/><Relationship Id="rId10" Type="http://schemas.openxmlformats.org/officeDocument/2006/relationships/hyperlink" Target="https://doi.org/10.1109/TRO.2017.2752711" TargetMode="External"/><Relationship Id="rId11" Type="http://schemas.openxmlformats.org/officeDocument/2006/relationships/hyperlink" Target="https://arxiv.org/abs/1804.05653" TargetMode="External"/><Relationship Id="rId12" Type="http://schemas.openxmlformats.org/officeDocument/2006/relationships/hyperlink" Target="https://arxiv.org/abs/1810.03599"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hyperlink" Target="https://arxiv.org/abs/1904.03278" TargetMode="External"/><Relationship Id="rId4" Type="http://schemas.openxmlformats.org/officeDocument/2006/relationships/hyperlink" Target="https://amass.is.tue.mpg.de" TargetMode="External"/><Relationship Id="rId5" Type="http://schemas.openxmlformats.org/officeDocument/2006/relationships/hyperlink" Target="https://arxiv.org/abs/2004.00784" TargetMode="External"/><Relationship Id="rId6" Type="http://schemas.openxmlformats.org/officeDocument/2006/relationships/hyperlink" Target="https://arxiv.org/abs/2005.05732" TargetMode="External"/><Relationship Id="rId7" Type="http://schemas.openxmlformats.org/officeDocument/2006/relationships/hyperlink" Target="https://github.com/DeepMotionEditing/deep-motion-editing" TargetMode="External"/><Relationship Id="rId8" Type="http://schemas.openxmlformats.org/officeDocument/2006/relationships/hyperlink" Target="https://arxiv.org/abs/2101.08779" TargetMode="External"/><Relationship Id="rId9" Type="http://schemas.openxmlformats.org/officeDocument/2006/relationships/hyperlink" Target="https://google.github.io/aistplusplus_dataset/" TargetMode="External"/><Relationship Id="rId10" Type="http://schemas.openxmlformats.org/officeDocument/2006/relationships/hyperlink" Target="https://arxiv.org/abs/2102.04942" TargetMode="External"/><Relationship Id="rId11" Type="http://schemas.openxmlformats.org/officeDocument/2006/relationships/hyperlink" Target="https://github.com/ubisoft/ubisoft-laforge-animation-dataset" TargetMode="External"/><Relationship Id="rId12" Type="http://schemas.openxmlformats.org/officeDocument/2006/relationships/hyperlink" Target="https://www.ianxmason.com/100style/" TargetMode="External"/><Relationship Id="rId13" Type="http://schemas.openxmlformats.org/officeDocument/2006/relationships/hyperlink" Target="https://arxiv.org/abs/2307.00818" TargetMode="External"/><Relationship Id="rId14" Type="http://schemas.openxmlformats.org/officeDocument/2006/relationships/hyperlink" Target="https://arxiv.org/abs/2501.05098" TargetMode="External"/><Relationship Id="rId15" Type="http://schemas.openxmlformats.org/officeDocument/2006/relationships/hyperlink" Target="https://arxiv.org/abs/2309.16237" TargetMode="External"/><Relationship Id="rId16" Type="http://schemas.openxmlformats.org/officeDocument/2006/relationships/hyperlink" Target="https://github.com/lijiaman/omomo_release" TargetMode="External"/><Relationship Id="rId17" Type="http://schemas.openxmlformats.org/officeDocument/2006/relationships/hyperlink" Target="https://arxiv.org/abs/2309.05310" TargetMode="External"/><Relationship Id="rId18" Type="http://schemas.openxmlformats.org/officeDocument/2006/relationships/hyperlink" Target="https://arxiv.org/abs/2312.07531" TargetMode="External"/><Relationship Id="rId19" Type="http://schemas.openxmlformats.org/officeDocument/2006/relationships/hyperlink" Target="https://arxiv.org/abs/2403.17346" TargetMode="External"/><Relationship Id="rId20" Type="http://schemas.openxmlformats.org/officeDocument/2006/relationships/hyperlink" Target="https://arxiv.org/abs/2409.06662" TargetMode="External"/><Relationship Id="rId21" Type="http://schemas.openxmlformats.org/officeDocument/2006/relationships/hyperlink" Target="https://arxiv.org/abs/2412.14172" TargetMode="External"/><Relationship Id="rId22" Type="http://schemas.openxmlformats.org/officeDocument/2006/relationships/hyperlink" Target="https://arxiv.org/abs/2505.03728" TargetMode="External"/><Relationship Id="rId23" Type="http://schemas.openxmlformats.org/officeDocument/2006/relationships/hyperlink" Target="https://github.com/chungmin99/pyroki"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hyperlink" Target="https://arxiv.org/abs/2509.26633" TargetMode="External"/><Relationship Id="rId4" Type="http://schemas.openxmlformats.org/officeDocument/2006/relationships/hyperlink" Target="https://github.com/amazon-far/holosoma" TargetMode="External"/><Relationship Id="rId5" Type="http://schemas.openxmlformats.org/officeDocument/2006/relationships/hyperlink" Target="https://arxiv.org/abs/2510.02252" TargetMode="External"/><Relationship Id="rId6" Type="http://schemas.openxmlformats.org/officeDocument/2006/relationships/hyperlink" Target="https://github.com/YanjieZe/GMR" TargetMode="External"/><Relationship Id="rId7" Type="http://schemas.openxmlformats.org/officeDocument/2006/relationships/hyperlink" Target="https://arxiv.org/abs/2510.26236" TargetMode="External"/><Relationship Id="rId8" Type="http://schemas.openxmlformats.org/officeDocument/2006/relationships/hyperlink" Target="https://github.com/DAVIAN-Robotics/PHUMA" TargetMode="External"/><Relationship Id="rId9" Type="http://schemas.openxmlformats.org/officeDocument/2006/relationships/hyperlink" Target="https://arxiv.org/abs/2511.09484" TargetMode="External"/><Relationship Id="rId10" Type="http://schemas.openxmlformats.org/officeDocument/2006/relationships/hyperlink" Target="https://github.com/facebookresearch/spider" TargetMode="External"/><Relationship Id="rId11" Type="http://schemas.openxmlformats.org/officeDocument/2006/relationships/hyperlink" Target="https://arxiv.org/abs/2603.09956" TargetMode="External"/><Relationship Id="rId12" Type="http://schemas.openxmlformats.org/officeDocument/2006/relationships/hyperlink" Target="https://arxiv.org/abs/2603.22201" TargetMode="External"/><Relationship Id="rId13" Type="http://schemas.openxmlformats.org/officeDocument/2006/relationships/hyperlink" Target="https://github.com/3DV-HumanoidGroup/MakeTrackingEasy" TargetMode="External"/><Relationship Id="rId14" Type="http://schemas.openxmlformats.org/officeDocument/2006/relationships/hyperlink" Target="https://arxiv.org/abs/2605.06593" TargetMode="External"/><Relationship Id="rId15" Type="http://schemas.openxmlformats.org/officeDocument/2006/relationships/hyperlink" Target="https://arxiv.org/abs/2606.03476" TargetMode="External"/><Relationship Id="rId16" Type="http://schemas.openxmlformats.org/officeDocument/2006/relationships/hyperlink" Target="https://arxiv.org/abs/2608.03116" TargetMode="External"/><Relationship Id="rId17" Type="http://schemas.openxmlformats.org/officeDocument/2006/relationships/hyperlink" Target="https://github.com/sesteban951/shooting-for-contact" TargetMode="External"/><Relationship Id="rId18" Type="http://schemas.openxmlformats.org/officeDocument/2006/relationships/hyperlink" Target="https://arxiv.org/abs/2609.02134" TargetMode="External"/><Relationship Id="rId19" Type="http://schemas.openxmlformats.org/officeDocument/2006/relationships/hyperlink" Target="https://github.com/hanyang9/UMR" TargetMode="External"/><Relationship Id="rId20" Type="http://schemas.openxmlformats.org/officeDocument/2006/relationships/hyperlink" Target="https://arxiv.org/abs/2609.34674" TargetMode="External"/><Relationship Id="rId21" Type="http://schemas.openxmlformats.org/officeDocument/2006/relationships/hyperlink" Target="https://github.com/leggedrobotics/hoi-retarget" TargetMode="External"/><Relationship Id="rId22" Type="http://schemas.openxmlformats.org/officeDocument/2006/relationships/hyperlink" Target="https://arxiv.org/abs/2610.12642" TargetMode="External"/><Relationship Id="rId23" Type="http://schemas.openxmlformats.org/officeDocument/2006/relationships/hyperlink" Target="https://arxiv.org/abs/2610.28470" TargetMode="External"/><Relationship Id="rId24" Type="http://schemas.openxmlformats.org/officeDocument/2006/relationships/hyperlink" Target="https://huggingface.co/datasets/bones-studio/seed" TargetMode="External"/><Relationship Id="rId25" Type="http://schemas.openxmlformats.org/officeDocument/2006/relationships/hyperlink" Target="https://github.com/NVIDIA/soma-retargeter"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hyperlink" Target="https://doi.org/10.1145/1778765.1778865" TargetMode="External"/><Relationship Id="rId4" Type="http://schemas.openxmlformats.org/officeDocument/2006/relationships/hyperlink" Target="https://www.cs.ubc.ca/~van/papers/2010-TOG-sampControl/" TargetMode="External"/><Relationship Id="rId5" Type="http://schemas.openxmlformats.org/officeDocument/2006/relationships/hyperlink" Target="https://arxiv.org/abs/1804.02717" TargetMode="External"/><Relationship Id="rId6" Type="http://schemas.openxmlformats.org/officeDocument/2006/relationships/hyperlink" Target="https://github.com/xbpeng/DeepMimic" TargetMode="External"/><Relationship Id="rId7" Type="http://schemas.openxmlformats.org/officeDocument/2006/relationships/hyperlink" Target="https://arxiv.org/abs/1811.11711" TargetMode="External"/><Relationship Id="rId8" Type="http://schemas.openxmlformats.org/officeDocument/2006/relationships/hyperlink" Target="https://doi.org/10.1145/3355089.3356536" TargetMode="External"/><Relationship Id="rId9" Type="http://schemas.openxmlformats.org/officeDocument/2006/relationships/hyperlink" Target="https://proceedings.mlr.press/v119/hasenclever20a.html" TargetMode="External"/><Relationship Id="rId10" Type="http://schemas.openxmlformats.org/officeDocument/2006/relationships/hyperlink" Target="https://doi.org/10.1145/3386569.3392381" TargetMode="External"/><Relationship Id="rId11" Type="http://schemas.openxmlformats.org/officeDocument/2006/relationships/hyperlink" Target="https://github.com/facebookresearch/ScaDiver" TargetMode="External"/><Relationship Id="rId12" Type="http://schemas.openxmlformats.org/officeDocument/2006/relationships/hyperlink" Target="https://arxiv.org/abs/2104.02180" TargetMode="External"/><Relationship Id="rId13" Type="http://schemas.openxmlformats.org/officeDocument/2006/relationships/hyperlink" Target="https://arxiv.org/abs/2006.07364" TargetMode="External"/><Relationship Id="rId14" Type="http://schemas.openxmlformats.org/officeDocument/2006/relationships/hyperlink" Target="https://arxiv.org/abs/2106.05969" TargetMode="External"/><Relationship Id="rId15" Type="http://schemas.openxmlformats.org/officeDocument/2006/relationships/hyperlink" Target="https://github.com/ZhengyiLuo/UHC" TargetMode="External"/><Relationship Id="rId16" Type="http://schemas.openxmlformats.org/officeDocument/2006/relationships/hyperlink" Target="https://arxiv.org/abs/2208.07363" TargetMode="External"/><Relationship Id="rId17" Type="http://schemas.openxmlformats.org/officeDocument/2006/relationships/hyperlink" Target="https://github.com/microsoft/MoCapAct" TargetMode="External"/><Relationship Id="rId18" Type="http://schemas.openxmlformats.org/officeDocument/2006/relationships/hyperlink" Target="https://arxiv.org/abs/2310.04582" TargetMode="External"/><Relationship Id="rId19" Type="http://schemas.openxmlformats.org/officeDocument/2006/relationships/hyperlink" Target="https://github.com/ZhengyiLuo/PULSE" TargetMode="External"/><Relationship Id="rId20" Type="http://schemas.openxmlformats.org/officeDocument/2006/relationships/hyperlink" Target="https://arxiv.org/abs/2502.20390" TargetMode="External"/><Relationship Id="rId21" Type="http://schemas.openxmlformats.org/officeDocument/2006/relationships/hyperlink" Target="https://github.com/Sirui-Xu/InterMimic" TargetMode="External"/><Relationship Id="rId22" Type="http://schemas.openxmlformats.org/officeDocument/2006/relationships/hyperlink" Target="https://arxiv.org/abs/2504.11054" TargetMode="External"/><Relationship Id="rId23" Type="http://schemas.openxmlformats.org/officeDocument/2006/relationships/hyperlink" Target="https://arxiv.org/abs/2505.04961"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hyperlink" Target="https://arxiv.org/abs/2510.13794" TargetMode="External"/><Relationship Id="rId4" Type="http://schemas.openxmlformats.org/officeDocument/2006/relationships/hyperlink" Target="https://github.com/xbpeng/MimicKit" TargetMode="External"/><Relationship Id="rId5" Type="http://schemas.openxmlformats.org/officeDocument/2006/relationships/hyperlink" Target="https://arxiv.org/abs/2511.04131" TargetMode="External"/><Relationship Id="rId6" Type="http://schemas.openxmlformats.org/officeDocument/2006/relationships/hyperlink" Target="https://github.com/LeCAR-Lab/BFM-Zero" TargetMode="External"/><Relationship Id="rId7" Type="http://schemas.openxmlformats.org/officeDocument/2006/relationships/hyperlink" Target="https://arxiv.org/abs/2512.03028" TargetMode="External"/><Relationship Id="rId8" Type="http://schemas.openxmlformats.org/officeDocument/2006/relationships/hyperlink" Target="https://arxiv.org/abs/2606.29148" TargetMode="External"/><Relationship Id="rId9" Type="http://schemas.openxmlformats.org/officeDocument/2006/relationships/hyperlink" Target="https://arxiv.org/abs/2505.02833" TargetMode="External"/><Relationship Id="rId10" Type="http://schemas.openxmlformats.org/officeDocument/2006/relationships/hyperlink" Target="https://github.com/YanjieZe/TWIST" TargetMode="External"/><Relationship Id="rId11" Type="http://schemas.openxmlformats.org/officeDocument/2006/relationships/hyperlink" Target="https://arxiv.org/abs/2505.07294" TargetMode="External"/><Relationship Id="rId12" Type="http://schemas.openxmlformats.org/officeDocument/2006/relationships/hyperlink" Target="https://arxiv.org/abs/2506.08931" TargetMode="External"/><Relationship Id="rId13" Type="http://schemas.openxmlformats.org/officeDocument/2006/relationships/hyperlink" Target="https://github.com/humanoid-clone/CLONE" TargetMode="External"/><Relationship Id="rId14" Type="http://schemas.openxmlformats.org/officeDocument/2006/relationships/hyperlink" Target="https://arxiv.org/abs/2506.12779" TargetMode="External"/><Relationship Id="rId15" Type="http://schemas.openxmlformats.org/officeDocument/2006/relationships/hyperlink" Target="https://arxiv.org/abs/2506.12851" TargetMode="External"/><Relationship Id="rId16" Type="http://schemas.openxmlformats.org/officeDocument/2006/relationships/hyperlink" Target="https://github.com/TeleHuman/PBHC" TargetMode="External"/><Relationship Id="rId17" Type="http://schemas.openxmlformats.org/officeDocument/2006/relationships/hyperlink" Target="https://arxiv.org/abs/2506.13751" TargetMode="External"/><Relationship Id="rId18" Type="http://schemas.openxmlformats.org/officeDocument/2006/relationships/hyperlink" Target="https://arxiv.org/abs/2507.07356" TargetMode="External"/><Relationship Id="rId19" Type="http://schemas.openxmlformats.org/officeDocument/2006/relationships/hyperlink" Target="https://arxiv.org/abs/2509.13833" TargetMode="External"/><Relationship Id="rId20" Type="http://schemas.openxmlformats.org/officeDocument/2006/relationships/hyperlink" Target="https://github.com/GalaxyGeneralRobotics/OpenTrack" TargetMode="External"/><Relationship Id="rId21" Type="http://schemas.openxmlformats.org/officeDocument/2006/relationships/hyperlink" Target="https://arxiv.org/abs/2509.16638" TargetMode="External"/><Relationship Id="rId22" Type="http://schemas.openxmlformats.org/officeDocument/2006/relationships/hyperlink" Target="https://arxiv.org/abs/2509.16757" TargetMode="External"/><Relationship Id="rId23" Type="http://schemas.openxmlformats.org/officeDocument/2006/relationships/hyperlink" Target="https://github.com/LeCAR-Lab/HDMI" TargetMode="External"/><Relationship Id="rId24" Type="http://schemas.openxmlformats.org/officeDocument/2006/relationships/hyperlink" Target="https://arxiv.org/abs/2510.05070" TargetMode="External"/><Relationship Id="rId25" Type="http://schemas.openxmlformats.org/officeDocument/2006/relationships/hyperlink" Target="https://github.com/amazon-far/ResMimic" TargetMode="External"/><Relationship Id="rId26" Type="http://schemas.openxmlformats.org/officeDocument/2006/relationships/hyperlink" Target="https://arxiv.org/abs/2511.02832" TargetMode="External"/><Relationship Id="rId27" Type="http://schemas.openxmlformats.org/officeDocument/2006/relationships/hyperlink" Target="https://github.com/amazon-far/TWIST2" TargetMode="External"/><Relationship Id="rId28" Type="http://schemas.openxmlformats.org/officeDocument/2006/relationships/hyperlink" Target="https://arxiv.org/abs/2511.04679"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hyperlink" Target="https://arxiv.org/abs/2511.17373" TargetMode="External"/><Relationship Id="rId4" Type="http://schemas.openxmlformats.org/officeDocument/2006/relationships/hyperlink" Target="https://github.com/OpenDriveLab/AMS" TargetMode="External"/><Relationship Id="rId5" Type="http://schemas.openxmlformats.org/officeDocument/2006/relationships/hyperlink" Target="https://arxiv.org/abs/2601.07701" TargetMode="External"/><Relationship Id="rId6" Type="http://schemas.openxmlformats.org/officeDocument/2006/relationships/hyperlink" Target="https://arxiv.org/abs/2602.07439" TargetMode="External"/><Relationship Id="rId7" Type="http://schemas.openxmlformats.org/officeDocument/2006/relationships/hyperlink" Target="https://github.com/TeleHuman/TextOp" TargetMode="External"/><Relationship Id="rId8" Type="http://schemas.openxmlformats.org/officeDocument/2006/relationships/hyperlink" Target="https://arxiv.org/abs/2602.15827" TargetMode="External"/><Relationship Id="rId9" Type="http://schemas.openxmlformats.org/officeDocument/2006/relationships/hyperlink" Target="https://github.com/amazon-far/php_parkour" TargetMode="External"/><Relationship Id="rId10" Type="http://schemas.openxmlformats.org/officeDocument/2006/relationships/hyperlink" Target="https://arxiv.org/abs/2602.23843" TargetMode="External"/><Relationship Id="rId11" Type="http://schemas.openxmlformats.org/officeDocument/2006/relationships/hyperlink" Target="https://github.com/Perkins729/OmniXtreme" TargetMode="External"/><Relationship Id="rId12" Type="http://schemas.openxmlformats.org/officeDocument/2006/relationships/hyperlink" Target="https://arxiv.org/abs/2603.14327" TargetMode="External"/><Relationship Id="rId13" Type="http://schemas.openxmlformats.org/officeDocument/2006/relationships/hyperlink" Target="https://github.com/yixxuan-li/OmniClone" TargetMode="External"/><Relationship Id="rId14" Type="http://schemas.openxmlformats.org/officeDocument/2006/relationships/hyperlink" Target="https://arxiv.org/abs/2605.15336" TargetMode="External"/><Relationship Id="rId15" Type="http://schemas.openxmlformats.org/officeDocument/2006/relationships/hyperlink" Target="https://github.com/HorizonRobotics/HoloMotion" TargetMode="External"/><Relationship Id="rId16" Type="http://schemas.openxmlformats.org/officeDocument/2006/relationships/hyperlink" Target="https://arxiv.org/abs/2606.00374" TargetMode="External"/><Relationship Id="rId17" Type="http://schemas.openxmlformats.org/officeDocument/2006/relationships/hyperlink" Target="https://arxiv.org/abs/2606.03985" TargetMode="External"/><Relationship Id="rId18" Type="http://schemas.openxmlformats.org/officeDocument/2006/relationships/hyperlink" Target="https://github.com/GalaxyGeneralRobotics/Humanoid-GPT" TargetMode="External"/><Relationship Id="rId19" Type="http://schemas.openxmlformats.org/officeDocument/2006/relationships/hyperlink" Target="https://arxiv.org/abs/2606.06953" TargetMode="External"/><Relationship Id="rId20" Type="http://schemas.openxmlformats.org/officeDocument/2006/relationships/hyperlink" Target="https://arxiv.org/abs/2606.27581" TargetMode="External"/><Relationship Id="rId21" Type="http://schemas.openxmlformats.org/officeDocument/2006/relationships/hyperlink" Target="https://arxiv.org/abs/2607.15163" TargetMode="External"/><Relationship Id="rId22" Type="http://schemas.openxmlformats.org/officeDocument/2006/relationships/hyperlink" Target="https://arxiv.org/abs/2607.19903" TargetMode="External"/><Relationship Id="rId23" Type="http://schemas.openxmlformats.org/officeDocument/2006/relationships/hyperlink" Target="https://github.com/hucebot/yahmp" TargetMode="External"/><Relationship Id="rId24" Type="http://schemas.openxmlformats.org/officeDocument/2006/relationships/hyperlink" Target="https://arxiv.org/abs/2608.13555" TargetMode="External"/><Relationship Id="rId25" Type="http://schemas.openxmlformats.org/officeDocument/2006/relationships/hyperlink" Target="https://github.com/GalaxyGeneralRobotics/HumanTracker" TargetMode="External"/><Relationship Id="rId26" Type="http://schemas.openxmlformats.org/officeDocument/2006/relationships/hyperlink" Target="https://arxiv.org/abs/2608.18234" TargetMode="External"/><Relationship Id="rId27" Type="http://schemas.openxmlformats.org/officeDocument/2006/relationships/hyperlink" Target="https://arxiv.org/abs/2609.08511" TargetMode="External"/><Relationship Id="rId28" Type="http://schemas.openxmlformats.org/officeDocument/2006/relationships/hyperlink" Target="https://arxiv.org/abs/2609.09918" TargetMode="External"/><Relationship Id="rId29" Type="http://schemas.openxmlformats.org/officeDocument/2006/relationships/hyperlink" Target="https://github.com/lok-i/vibe"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s://arxiv.org/abs/2609.25754" TargetMode="External"/><Relationship Id="rId4" Type="http://schemas.openxmlformats.org/officeDocument/2006/relationships/hyperlink" Target="https://arxiv.org/abs/2609.34233" TargetMode="External"/><Relationship Id="rId5" Type="http://schemas.openxmlformats.org/officeDocument/2006/relationships/hyperlink" Target="https://arxiv.org/abs/2609.39000" TargetMode="External"/><Relationship Id="rId6" Type="http://schemas.openxmlformats.org/officeDocument/2006/relationships/hyperlink" Target="https://nexus-humanoid.github.io/" TargetMode="External"/><Relationship Id="rId7" Type="http://schemas.openxmlformats.org/officeDocument/2006/relationships/hyperlink" Target="https://github.com/Gamma-Robot/NEXUS" TargetMode="External"/><Relationship Id="rId8" Type="http://schemas.openxmlformats.org/officeDocument/2006/relationships/hyperlink" Target="https://arxiv.org/abs/2610.02341" TargetMode="External"/><Relationship Id="rId9" Type="http://schemas.openxmlformats.org/officeDocument/2006/relationships/hyperlink" Target="https://arxiv.org/abs/2610.07891" TargetMode="External"/><Relationship Id="rId10" Type="http://schemas.openxmlformats.org/officeDocument/2006/relationships/hyperlink" Target="https://arxiv.org/abs/2610.14896" TargetMode="External"/><Relationship Id="rId11" Type="http://schemas.openxmlformats.org/officeDocument/2006/relationships/hyperlink" Target="https://arxiv.org/abs/2610.15833" TargetMode="External"/><Relationship Id="rId12" Type="http://schemas.openxmlformats.org/officeDocument/2006/relationships/hyperlink" Target="https://github.com/Roboparty/P-BFM" TargetMode="External"/><Relationship Id="rId13" Type="http://schemas.openxmlformats.org/officeDocument/2006/relationships/hyperlink" Target="https://arxiv.org/abs/2610.17999" TargetMode="External"/><Relationship Id="rId14" Type="http://schemas.openxmlformats.org/officeDocument/2006/relationships/hyperlink" Target="https://arxiv.org/abs/2610.22119" TargetMode="External"/><Relationship Id="rId15" Type="http://schemas.openxmlformats.org/officeDocument/2006/relationships/hyperlink" Target="https://arxiv.org/abs/2610.28480" TargetMode="External"/><Relationship Id="rId16" Type="http://schemas.openxmlformats.org/officeDocument/2006/relationships/hyperlink" Target="https://supermimic.github.io/" TargetMode="External"/><Relationship Id="rId17" Type="http://schemas.openxmlformats.org/officeDocument/2006/relationships/hyperlink" Target="https://arxiv.org/abs/2610.29903" TargetMode="External"/><Relationship Id="rId18" Type="http://schemas.openxmlformats.org/officeDocument/2006/relationships/hyperlink" Target="https://arxiv.org/abs/2005.08068" TargetMode="External"/><Relationship Id="rId19" Type="http://schemas.openxmlformats.org/officeDocument/2006/relationships/hyperlink" Target="https://arxiv.org/abs/2204.07137" TargetMode="External"/><Relationship Id="rId20" Type="http://schemas.openxmlformats.org/officeDocument/2006/relationships/hyperlink" Target="https://github.com/NVlabs/DiffRL" TargetMode="External"/><Relationship Id="rId21" Type="http://schemas.openxmlformats.org/officeDocument/2006/relationships/hyperlink" Target="https://arxiv.org/abs/2202.00817" TargetMode="External"/><Relationship Id="rId22" Type="http://schemas.openxmlformats.org/officeDocument/2006/relationships/hyperlink" Target="https://arxiv.org/abs/2210.06063" TargetMode="External"/><Relationship Id="rId23" Type="http://schemas.openxmlformats.org/officeDocument/2006/relationships/hyperlink" Target="https://arxiv.org/abs/2310.10198"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arxiv.org/abs/2304.03274" TargetMode="External"/><Relationship Id="rId4" Type="http://schemas.openxmlformats.org/officeDocument/2006/relationships/hyperlink" Target="https://github.com/jiawei-ren/diffmimic" TargetMode="External"/><Relationship Id="rId5" Type="http://schemas.openxmlformats.org/officeDocument/2006/relationships/hyperlink" Target="https://arxiv.org/abs/2403.14864" TargetMode="External"/><Relationship Id="rId6" Type="http://schemas.openxmlformats.org/officeDocument/2006/relationships/hyperlink" Target="https://arxiv.org/abs/2405.17784" TargetMode="External"/><Relationship Id="rId7" Type="http://schemas.openxmlformats.org/officeDocument/2006/relationships/hyperlink" Target="https://arxiv.org/abs/2407.02466" TargetMode="External"/><Relationship Id="rId8" Type="http://schemas.openxmlformats.org/officeDocument/2006/relationships/hyperlink" Target="https://arxiv.org/abs/2509.00215"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hyperlink" Target="https://rsl.ethz.ch/" TargetMode="External"/><Relationship Id="rId4" Type="http://schemas.openxmlformats.org/officeDocument/2006/relationships/hyperlink" Target="https://github.com/leggedrobotics" TargetMode="External"/><Relationship Id="rId5" Type="http://schemas.openxmlformats.org/officeDocument/2006/relationships/hyperlink" Target="https://dynamic.robots.ox.ac.uk/" TargetMode="External"/><Relationship Id="rId6" Type="http://schemas.openxmlformats.org/officeDocument/2006/relationships/hyperlink" Target="https://research.csiro.au/robotics/" TargetMode="External"/><Relationship Id="rId7" Type="http://schemas.openxmlformats.org/officeDocument/2006/relationships/hyperlink" Target="https://github.com/csiro-robotics" TargetMode="External"/><Relationship Id="rId8" Type="http://schemas.openxmlformats.org/officeDocument/2006/relationships/hyperlink" Target="https://isr.korea.ac.kr/" TargetMode="External"/><Relationship Id="rId9" Type="http://schemas.openxmlformats.org/officeDocument/2006/relationships/hyperlink" Target="https://github.com/Ikhyeon-Cho" TargetMode="External"/><Relationship Id="rId10" Type="http://schemas.openxmlformats.org/officeDocument/2006/relationships/hyperlink" Target="https://theairlab.org/" TargetMode="External"/><Relationship Id="rId11" Type="http://schemas.openxmlformats.org/officeDocument/2006/relationships/hyperlink" Target="https://github.com/castacks" TargetMode="External"/><Relationship Id="rId12" Type="http://schemas.openxmlformats.org/officeDocument/2006/relationships/hyperlink" Target="https://www.unmannedlab.org/" TargetMode="External"/><Relationship Id="rId13" Type="http://schemas.openxmlformats.org/officeDocument/2006/relationships/hyperlink" Target="https://github.com/unmannedlab"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hyperlink" Target="https://autonomousrobots.nl/" TargetMode="External"/><Relationship Id="rId4" Type="http://schemas.openxmlformats.org/officeDocument/2006/relationships/hyperlink" Target="https://github.com/tud-amr" TargetMode="External"/><Relationship Id="rId5" Type="http://schemas.openxmlformats.org/officeDocument/2006/relationships/hyperlink" Target="https://robotics.upo.es/" TargetMode="External"/><Relationship Id="rId6" Type="http://schemas.openxmlformats.org/officeDocument/2006/relationships/hyperlink" Target="https://github.com/robotics-upo" TargetMode="External"/><Relationship Id="rId7" Type="http://schemas.openxmlformats.org/officeDocument/2006/relationships/hyperlink" Target="https://acl.mit.edu/" TargetMode="External"/><Relationship Id="rId8" Type="http://schemas.openxmlformats.org/officeDocument/2006/relationships/hyperlink" Target="https://github.com/mit-acl" TargetMode="External"/><Relationship Id="rId9" Type="http://schemas.openxmlformats.org/officeDocument/2006/relationships/hyperlink" Target="https://github.com/trautman" TargetMode="External"/><Relationship Id="rId10" Type="http://schemas.openxmlformats.org/officeDocument/2006/relationships/hyperlink" Target="https://fluentrobotics.com/" TargetMode="External"/><Relationship Id="rId11" Type="http://schemas.openxmlformats.org/officeDocument/2006/relationships/hyperlink" Target="https://github.com/fluentrobotics" TargetMode="External"/><Relationship Id="rId12" Type="http://schemas.openxmlformats.org/officeDocument/2006/relationships/hyperlink" Target="http://nikmartelaro.com/" TargetMode="External"/><Relationship Id="rId13" Type="http://schemas.openxmlformats.org/officeDocument/2006/relationships/hyperlink" Target="https://amrl.cs.utexas.edu/" TargetMode="External"/><Relationship Id="rId14" Type="http://schemas.openxmlformats.org/officeDocument/2006/relationships/hyperlink" Target="https://github.com/ut-amrl"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hyperlink" Target="https://github.com/url-kaist"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hyperlink" Target="https://research.nvidia.com/labs/gear/" TargetMode="External"/><Relationship Id="rId4" Type="http://schemas.openxmlformats.org/officeDocument/2006/relationships/hyperlink" Target="https://github.com/NVlabs/HOVER" TargetMode="External"/><Relationship Id="rId5" Type="http://schemas.openxmlformats.org/officeDocument/2006/relationships/hyperlink" Target="https://github.com/NVIDIA/Isaac-GR00T" TargetMode="External"/><Relationship Id="rId6" Type="http://schemas.openxmlformats.org/officeDocument/2006/relationships/hyperlink" Target="https://github.com/NVlabs/GR00T-WholeBodyControl" TargetMode="External"/><Relationship Id="rId7" Type="http://schemas.openxmlformats.org/officeDocument/2006/relationships/hyperlink" Target="https://github.com/NVlabs/GR00T-VisualSim2Real" TargetMode="External"/><Relationship Id="rId8" Type="http://schemas.openxmlformats.org/officeDocument/2006/relationships/hyperlink" Target="https://research.nvidia.com/labs/dair/" TargetMode="External"/><Relationship Id="rId9" Type="http://schemas.openxmlformats.org/officeDocument/2006/relationships/hyperlink" Target="https://github.com/NVlabs/ProtoMotions" TargetMode="External"/><Relationship Id="rId10" Type="http://schemas.openxmlformats.org/officeDocument/2006/relationships/hyperlink" Target="https://github.com/NVlabs/GRAIL" TargetMode="External"/><Relationship Id="rId11" Type="http://schemas.openxmlformats.org/officeDocument/2006/relationships/hyperlink" Target="https://github.com/nv-tlabs/ASE" TargetMode="External"/><Relationship Id="rId12" Type="http://schemas.openxmlformats.org/officeDocument/2006/relationships/hyperlink" Target="https://github.com/NVlabs/CALM" TargetMode="External"/><Relationship Id="rId13" Type="http://schemas.openxmlformats.org/officeDocument/2006/relationships/hyperlink" Target="https://github.com/mshoe/PARC" TargetMode="External"/><Relationship Id="rId14" Type="http://schemas.openxmlformats.org/officeDocument/2006/relationships/hyperlink" Target="https://isaac-sim.github.io/IsaacLab/" TargetMode="External"/><Relationship Id="rId15" Type="http://schemas.openxmlformats.org/officeDocument/2006/relationships/hyperlink" Target="https://github.com/isaac-sim/IsaacLab" TargetMode="External"/><Relationship Id="rId16" Type="http://schemas.openxmlformats.org/officeDocument/2006/relationships/hyperlink" Target="https://eureka-research.github.io/" TargetMode="External"/><Relationship Id="rId17" Type="http://schemas.openxmlformats.org/officeDocument/2006/relationships/hyperlink" Target="https://github.com/eureka-research/Eureka" TargetMode="External"/><Relationship Id="rId18" Type="http://schemas.openxmlformats.org/officeDocument/2006/relationships/hyperlink" Target="https://github.com/eureka-research/DrEureka" TargetMode="External"/><Relationship Id="rId19" Type="http://schemas.openxmlformats.org/officeDocument/2006/relationships/hyperlink" Target="https://github.com/eureka-research/eurekaverse" TargetMode="External"/><Relationship Id="rId20" Type="http://schemas.openxmlformats.org/officeDocument/2006/relationships/hyperlink" Target="https://github.com/google-deepmind/barkour_robot" TargetMode="External"/><Relationship Id="rId21" Type="http://schemas.openxmlformats.org/officeDocument/2006/relationships/hyperlink" Target="https://github.com/erwincoumans/motion_imitation" TargetMode="External"/><Relationship Id="rId22" Type="http://schemas.openxmlformats.org/officeDocument/2006/relationships/hyperlink" Target="https://github.com/google-deepmind/language_to_reward_2023" TargetMode="External"/><Relationship Id="rId23" Type="http://schemas.openxmlformats.org/officeDocument/2006/relationships/hyperlink" Target="https://zenodo.org/records/10793725"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hyperlink" Target="https://github.com/google-deepmind/mujoco" TargetMode="External"/><Relationship Id="rId4" Type="http://schemas.openxmlformats.org/officeDocument/2006/relationships/hyperlink" Target="https://github.com/google-deepmind/mujoco_mpc" TargetMode="External"/><Relationship Id="rId5" Type="http://schemas.openxmlformats.org/officeDocument/2006/relationships/hyperlink" Target="https://github.com/google-deepmind/mujoco_playground" TargetMode="External"/><Relationship Id="rId6" Type="http://schemas.openxmlformats.org/officeDocument/2006/relationships/hyperlink" Target="https://github.com/google-deepmind/mujoco_menagerie" TargetMode="External"/><Relationship Id="rId7" Type="http://schemas.openxmlformats.org/officeDocument/2006/relationships/hyperlink" Target="https://github.com/google-deepmind/mujoco_menagerie/tree/main/apptronik_apollo" TargetMode="External"/><Relationship Id="rId8" Type="http://schemas.openxmlformats.org/officeDocument/2006/relationships/hyperlink" Target="https://github.com/rail-berkeley/softlearning" TargetMode="External"/><Relationship Id="rId9" Type="http://schemas.openxmlformats.org/officeDocument/2006/relationships/hyperlink" Target="https://github.com/lauramsmith/fine-tuning-locomotion" TargetMode="External"/><Relationship Id="rId10" Type="http://schemas.openxmlformats.org/officeDocument/2006/relationships/hyperlink" Target="https://flexion.ai" TargetMode="External"/><Relationship Id="rId11" Type="http://schemas.openxmlformats.org/officeDocument/2006/relationships/hyperlink" Target="https://la.disneyresearch.com/" TargetMode="External"/><Relationship Id="rId12" Type="http://schemas.openxmlformats.org/officeDocument/2006/relationships/hyperlink" Target="https://github.com/newton-physics/newton" TargetMode="External"/><Relationship Id="rId13" Type="http://schemas.openxmlformats.org/officeDocument/2006/relationships/hyperlink" Target="https://crl.ethz.ch/"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hyperlink" Target="https://asl.ethz.ch/" TargetMode="External"/><Relationship Id="rId4" Type="http://schemas.openxmlformats.org/officeDocument/2006/relationships/hyperlink" Target="https://www.ascento.ai" TargetMode="External"/><Relationship Id="rId5" Type="http://schemas.openxmlformats.org/officeDocument/2006/relationships/hyperlink" Target="https://las.inf.ethz.ch/" TargetMode="External"/><Relationship Id="rId6" Type="http://schemas.openxmlformats.org/officeDocument/2006/relationships/hyperlink" Target="https://github.com/leggedrobotics/rsl_rl_rwm" TargetMode="External"/><Relationship Id="rId7" Type="http://schemas.openxmlformats.org/officeDocument/2006/relationships/hyperlink" Target="https://rai-inst.com/" TargetMode="External"/><Relationship Id="rId8" Type="http://schemas.openxmlformats.org/officeDocument/2006/relationships/hyperlink" Target="https://github.com/rai-opensource" TargetMode="External"/><Relationship Id="rId9" Type="http://schemas.openxmlformats.org/officeDocument/2006/relationships/hyperlink" Target="https://bostondynamics.com/" TargetMode="External"/><Relationship Id="rId10" Type="http://schemas.openxmlformats.org/officeDocument/2006/relationships/hyperlink" Target="https://github.com/boston-dynamics" TargetMode="External"/><Relationship Id="rId11" Type="http://schemas.openxmlformats.org/officeDocument/2006/relationships/hyperlink" Target="https://roboticexplorationlab.org" TargetMode="External"/><Relationship Id="rId12" Type="http://schemas.openxmlformats.org/officeDocument/2006/relationships/hyperlink" Target="https://github.com/RoboticExplorationLab" TargetMode="External"/><Relationship Id="rId13" Type="http://schemas.openxmlformats.org/officeDocument/2006/relationships/hyperlink" Target="https://github.com/MarkFzp/navigation-locomotion" TargetMode="External"/><Relationship Id="rId14" Type="http://schemas.openxmlformats.org/officeDocument/2006/relationships/hyperlink" Target="https://github.com/antonilo/rl_locomotion" TargetMode="External"/><Relationship Id="rId15" Type="http://schemas.openxmlformats.org/officeDocument/2006/relationships/hyperlink" Target="https://github.com/chengxuxin/extreme-parkour"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hyperlink" Target="https://github.com/Improbable-AI" TargetMode="External"/><Relationship Id="rId4" Type="http://schemas.openxmlformats.org/officeDocument/2006/relationships/hyperlink" Target="https://github.com/mit-biomimetics/Cheetah-Software" TargetMode="External"/><Relationship Id="rId5" Type="http://schemas.openxmlformats.org/officeDocument/2006/relationships/hyperlink" Target="https://github.com/LeCAR-Lab/ABS" TargetMode="External"/><Relationship Id="rId6" Type="http://schemas.openxmlformats.org/officeDocument/2006/relationships/hyperlink" Target="https://github.com/LeCAR-Lab/ASAP" TargetMode="External"/><Relationship Id="rId7" Type="http://schemas.openxmlformats.org/officeDocument/2006/relationships/hyperlink" Target="https://github.com/LeCAR-Lab/HumanoidVerse" TargetMode="External"/><Relationship Id="rId8" Type="http://schemas.openxmlformats.org/officeDocument/2006/relationships/hyperlink" Target="https://github.com/LeCAR-Lab/human2humanoid" TargetMode="External"/><Relationship Id="rId9" Type="http://schemas.openxmlformats.org/officeDocument/2006/relationships/hyperlink" Target="https://github.com/unitreerobotics/unitree_rl_gym" TargetMode="External"/><Relationship Id="rId10" Type="http://schemas.openxmlformats.org/officeDocument/2006/relationships/hyperlink" Target="https://github.com/unitreerobotics/unitree_rl_lab" TargetMode="External"/><Relationship Id="rId11" Type="http://schemas.openxmlformats.org/officeDocument/2006/relationships/hyperlink" Target="https://github.com/unitreerobotics/unitree_sdk2" TargetMode="External"/><Relationship Id="rId12" Type="http://schemas.openxmlformats.org/officeDocument/2006/relationships/hyperlink" Target="https://github.com/unitreerobotics/unitree_mujoco" TargetMode="External"/><Relationship Id="rId13" Type="http://schemas.openxmlformats.org/officeDocument/2006/relationships/hyperlink" Target="https://github.com/hongsukchoi/VideoMimic" TargetMode="External"/><Relationship Id="rId14" Type="http://schemas.openxmlformats.org/officeDocument/2006/relationships/hyperlink" Target="https://github.com/MarkFzp/humanplus" TargetMode="External"/><Relationship Id="rId15" Type="http://schemas.openxmlformats.org/officeDocument/2006/relationships/hyperlink" Target="https://github.com/ZiwenZhuang/parkour"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s://github.com/chengxuxin/expressive-humanoid" TargetMode="External"/><Relationship Id="rId4" Type="http://schemas.openxmlformats.org/officeDocument/2006/relationships/hyperlink" Target="https://github.com/OpenTeleVision/AMO" TargetMode="External"/><Relationship Id="rId5" Type="http://schemas.openxmlformats.org/officeDocument/2006/relationships/hyperlink" Target="https://github.com/zixuan417/humanoid-general-motion-tracking" TargetMode="External"/><Relationship Id="rId6" Type="http://schemas.openxmlformats.org/officeDocument/2006/relationships/hyperlink" Target="https://github.com/osudr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hyperlink" Target="https://github.com/isaac-sim/IsaacSim" TargetMode="External"/><Relationship Id="rId4" Type="http://schemas.openxmlformats.org/officeDocument/2006/relationships/hyperlink" Target="https://arxiv.org/abs/2511.04831" TargetMode="External"/><Relationship Id="rId5" Type="http://schemas.openxmlformats.org/officeDocument/2006/relationships/hyperlink" Target="https://github.com/isaac-sim/IsaacLab" TargetMode="External"/><Relationship Id="rId6" Type="http://schemas.openxmlformats.org/officeDocument/2006/relationships/hyperlink" Target="https://github.com/newton-physics/newton" TargetMode="External"/><Relationship Id="rId7" Type="http://schemas.openxmlformats.org/officeDocument/2006/relationships/hyperlink" Target="https://arxiv.org/abs/2502.08844" TargetMode="External"/><Relationship Id="rId8" Type="http://schemas.openxmlformats.org/officeDocument/2006/relationships/hyperlink" Target="https://github.com/google-deepmind/mujoco_warp" TargetMode="External"/><Relationship Id="rId9" Type="http://schemas.openxmlformats.org/officeDocument/2006/relationships/hyperlink" Target="https://github.com/Genesis-Embodied-AI/genesis-world" TargetMode="External"/><Relationship Id="rId10" Type="http://schemas.openxmlformats.org/officeDocument/2006/relationships/hyperlink" Target="https://github.com/Genesis-Embodied-AI/genesis-world/issues/181" TargetMode="External"/><Relationship Id="rId11" Type="http://schemas.openxmlformats.org/officeDocument/2006/relationships/hyperlink" Target="https://gazebosim.org/docs/latest/releases/" TargetMode="External"/><Relationship Id="rId12" Type="http://schemas.openxmlformats.org/officeDocument/2006/relationships/hyperlink" Target="https://github.com/projectchrono/chrono" TargetMode="External"/><Relationship Id="rId13" Type="http://schemas.openxmlformats.org/officeDocument/2006/relationships/hyperlink" Target="https://api.projectchrono.org/vehicle_terrain.html" TargetMode="External"/><Relationship Id="rId14" Type="http://schemas.openxmlformats.org/officeDocument/2006/relationships/hyperlink" Target="https://github.com/carla-simulator/carla" TargetMode="External"/><Relationship Id="rId15" Type="http://schemas.openxmlformats.org/officeDocument/2006/relationships/hyperlink" Target="https://arxiv.org/abs/2607.13059"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hyperlink" Target="https://arxiv.org/abs/2407.08725" TargetMode="External"/><Relationship Id="rId4" Type="http://schemas.openxmlformats.org/officeDocument/2006/relationships/hyperlink" Target="https://arxiv.org/abs/2505.00690" TargetMode="External"/><Relationship Id="rId5" Type="http://schemas.openxmlformats.org/officeDocument/2006/relationships/hyperlink" Target="https://github.com/metadriverse/urban-sim" TargetMode="External"/><Relationship Id="rId6" Type="http://schemas.openxmlformats.org/officeDocument/2006/relationships/hyperlink" Target="https://arxiv.org/abs/2510.15018" TargetMode="External"/><Relationship Id="rId7" Type="http://schemas.openxmlformats.org/officeDocument/2006/relationships/hyperlink" Target="https://arxiv.org/abs/2501.06693" TargetMode="External"/><Relationship Id="rId8" Type="http://schemas.openxmlformats.org/officeDocument/2006/relationships/hyperlink" Target="https://arxiv.org/abs/2606.16953" TargetMode="External"/><Relationship Id="rId9" Type="http://schemas.openxmlformats.org/officeDocument/2006/relationships/hyperlink" Target="https://vail.cs.ucla.edu/SidewalkBench/" TargetMode="External"/><Relationship Id="rId10" Type="http://schemas.openxmlformats.org/officeDocument/2006/relationships/hyperlink" Target="https://vail.cs.ucla.edu/FlowPilot/" TargetMode="External"/><Relationship Id="rId11" Type="http://schemas.openxmlformats.org/officeDocument/2006/relationships/hyperlink" Target="https://arxiv.org/abs/2606.12603" TargetMode="External"/><Relationship Id="rId12" Type="http://schemas.openxmlformats.org/officeDocument/2006/relationships/hyperlink" Target="https://arxiv.org/abs/2604.01659" TargetMode="External"/><Relationship Id="rId13" Type="http://schemas.openxmlformats.org/officeDocument/2006/relationships/hyperlink" Target="https://arxiv.org/abs/2511.20216" TargetMode="External"/><Relationship Id="rId14" Type="http://schemas.openxmlformats.org/officeDocument/2006/relationships/hyperlink" Target="https://arxiv.org/abs/2512.10046" TargetMode="External"/><Relationship Id="rId15" Type="http://schemas.openxmlformats.org/officeDocument/2006/relationships/hyperlink" Target="https://arxiv.org/abs/2607.19695" TargetMode="External"/><Relationship Id="rId16" Type="http://schemas.openxmlformats.org/officeDocument/2006/relationships/hyperlink" Target="https://arxiv.org/abs/2305.01303" TargetMode="External"/><Relationship Id="rId17" Type="http://schemas.openxmlformats.org/officeDocument/2006/relationships/hyperlink" Target="https://arxiv.org/abs/2409.12471" TargetMode="External"/><Relationship Id="rId18" Type="http://schemas.openxmlformats.org/officeDocument/2006/relationships/hyperlink" Target="https://arxiv.org/abs/2606.26265" TargetMode="External"/><Relationship Id="rId19" Type="http://schemas.openxmlformats.org/officeDocument/2006/relationships/hyperlink" Target="https://arxiv.org/abs/2607.25219" TargetMode="External"/><Relationship Id="rId20" Type="http://schemas.openxmlformats.org/officeDocument/2006/relationships/hyperlink" Target="https://arxiv.org/abs/2609.15014" TargetMode="External"/><Relationship Id="rId21" Type="http://schemas.openxmlformats.org/officeDocument/2006/relationships/hyperlink" Target="https://arxiv.org/abs/2603.12806" TargetMode="External"/><Relationship Id="rId22" Type="http://schemas.openxmlformats.org/officeDocument/2006/relationships/hyperlink" Target="https://zeying-gong.github.io/projects/flux/" TargetMode="External"/><Relationship Id="rId23" Type="http://schemas.openxmlformats.org/officeDocument/2006/relationships/hyperlink" Target="https://arxiv.org/abs/2606.25504" TargetMode="External"/><Relationship Id="rId24" Type="http://schemas.openxmlformats.org/officeDocument/2006/relationships/hyperlink" Target="https://arxiv.org/abs/2511.21135" TargetMode="External"/><Relationship Id="rId25" Type="http://schemas.openxmlformats.org/officeDocument/2006/relationships/hyperlink" Target="https://amap-eai.github.io/SocialNav/"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hyperlink" Target="https://docs.isaacsim.omniverse.nvidia.com/latest/sensors/isaacsim_sensors_rtx_lidar.html" TargetMode="External"/><Relationship Id="rId4" Type="http://schemas.openxmlformats.org/officeDocument/2006/relationships/hyperlink" Target="https://developer.nvidia.com/omniverse/nurec" TargetMode="External"/><Relationship Id="rId5" Type="http://schemas.openxmlformats.org/officeDocument/2006/relationships/hyperlink" Target="https://arxiv.org/abs/2510.15352" TargetMode="External"/><Relationship Id="rId6" Type="http://schemas.openxmlformats.org/officeDocument/2006/relationships/hyperlink" Target="https://arxiv.org/abs/2604.25459" TargetMode="External"/><Relationship Id="rId7" Type="http://schemas.openxmlformats.org/officeDocument/2006/relationships/hyperlink" Target="https://arxiv.org/abs/2607.05765" TargetMode="External"/><Relationship Id="rId8" Type="http://schemas.openxmlformats.org/officeDocument/2006/relationships/hyperlink" Target="https://arxiv.org/abs/2412.03572" TargetMode="External"/><Relationship Id="rId9" Type="http://schemas.openxmlformats.org/officeDocument/2006/relationships/hyperlink" Target="https://arxiv.org/abs/2501.03575" TargetMode="External"/><Relationship Id="rId10" Type="http://schemas.openxmlformats.org/officeDocument/2006/relationships/hyperlink" Target="https://arxiv.org/abs/2503.14492" TargetMode="External"/><Relationship Id="rId11" Type="http://schemas.openxmlformats.org/officeDocument/2006/relationships/hyperlink" Target="https://arxiv.org/abs/2410.17491" TargetMode="External"/><Relationship Id="rId12" Type="http://schemas.openxmlformats.org/officeDocument/2006/relationships/hyperlink" Target="https://github.com/NVlabs/X-MOBILITY" TargetMode="External"/><Relationship Id="rId13" Type="http://schemas.openxmlformats.org/officeDocument/2006/relationships/hyperlink" Target="https://arxiv.org/abs/2502.16372" TargetMode="External"/><Relationship Id="rId14" Type="http://schemas.openxmlformats.org/officeDocument/2006/relationships/hyperlink" Target="https://github.com/NVlabs/COMPASS" TargetMode="External"/><Relationship Id="rId15" Type="http://schemas.openxmlformats.org/officeDocument/2006/relationships/hyperlink" Target="https://arxiv.org/abs/2511.20620" TargetMode="External"/><Relationship Id="rId16" Type="http://schemas.openxmlformats.org/officeDocument/2006/relationships/hyperlink" Target="https://ai4ce.github.io/wanderland/"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hyperlink" Target="https://github.com/ROBOTIS-move/antbot" TargetMode="External"/><Relationship Id="rId4" Type="http://schemas.openxmlformats.org/officeDocument/2006/relationships/hyperlink" Target="https://robotis-move.github.io/antbot/en/" TargetMode="External"/><Relationship Id="rId5" Type="http://schemas.openxmlformats.org/officeDocument/2006/relationships/hyperlink" Target="https://github.com/HongbiaoZ/autonomous_exploration_development_environment" TargetMode="External"/><Relationship Id="rId6" Type="http://schemas.openxmlformats.org/officeDocument/2006/relationships/hyperlink" Target="https://www.cmu-exploration.com/" TargetMode="External"/><Relationship Id="rId7" Type="http://schemas.openxmlformats.org/officeDocument/2006/relationships/hyperlink" Target="https://github.com/dfl-rlab/dfl_mobilerobot_simulator" TargetMode="External"/><Relationship Id="rId8" Type="http://schemas.openxmlformats.org/officeDocument/2006/relationships/hyperlink" Target="https://github.com/clearpathrobotics/clearpath_simulator" TargetMode="External"/><Relationship Id="rId9" Type="http://schemas.openxmlformats.org/officeDocument/2006/relationships/hyperlink" Target="https://github.com/turtlebot/turtlebot4_simulator"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hyperlink" Target="https://arxiv.org/abs/2109.11978" TargetMode="External"/><Relationship Id="rId4" Type="http://schemas.openxmlformats.org/officeDocument/2006/relationships/hyperlink" Target="https://github.com/leggedrobotics/legged_gym" TargetMode="External"/><Relationship Id="rId5" Type="http://schemas.openxmlformats.org/officeDocument/2006/relationships/hyperlink" Target="https://arxiv.org/abs/2502.07380" TargetMode="External"/><Relationship Id="rId6" Type="http://schemas.openxmlformats.org/officeDocument/2006/relationships/hyperlink" Target="https://arxiv.org/abs/2510.10273" TargetMode="External"/><Relationship Id="rId7" Type="http://schemas.openxmlformats.org/officeDocument/2006/relationships/hyperlink" Target="https://github.com/isaac-sim/IsaacLab/discussions/1043" TargetMode="External"/><Relationship Id="rId8" Type="http://schemas.openxmlformats.org/officeDocument/2006/relationships/hyperlink" Target="https://ieeexplore.ieee.org/document/7487360/" TargetMode="External"/><Relationship Id="rId9" Type="http://schemas.openxmlformats.org/officeDocument/2006/relationships/hyperlink" Target="https://arxiv.org/abs/1703.06907" TargetMode="External"/><Relationship Id="rId10" Type="http://schemas.openxmlformats.org/officeDocument/2006/relationships/hyperlink" Target="https://arxiv.org/abs/1710.06537" TargetMode="External"/><Relationship Id="rId11" Type="http://schemas.openxmlformats.org/officeDocument/2006/relationships/hyperlink" Target="https://arxiv.org/abs/1910.07113" TargetMode="External"/><Relationship Id="rId12" Type="http://schemas.openxmlformats.org/officeDocument/2006/relationships/hyperlink" Target="https://arxiv.org/abs/1901.08652" TargetMode="External"/><Relationship Id="rId13" Type="http://schemas.openxmlformats.org/officeDocument/2006/relationships/hyperlink" Target="https://arxiv.org/abs/1912.06321" TargetMode="External"/><Relationship Id="rId14" Type="http://schemas.openxmlformats.org/officeDocument/2006/relationships/hyperlink" Target="https://arxiv.org/abs/2403.11000" TargetMode="External"/><Relationship Id="rId15" Type="http://schemas.openxmlformats.org/officeDocument/2006/relationships/hyperlink" Target="https://arxiv.org/abs/2211.04886" TargetMode="External"/><Relationship Id="rId16" Type="http://schemas.openxmlformats.org/officeDocument/2006/relationships/hyperlink" Target="https://arxiv.org/abs/2609.23118" TargetMode="External"/><Relationship Id="rId17" Type="http://schemas.openxmlformats.org/officeDocument/2006/relationships/hyperlink" Target="https://arxiv.org/abs/2508.11503" TargetMode="External"/><Relationship Id="rId18" Type="http://schemas.openxmlformats.org/officeDocument/2006/relationships/hyperlink" Target="https://github.com/AndrejOrsula/space_robotics_bench" TargetMode="External"/><Relationship Id="rId19" Type="http://schemas.openxmlformats.org/officeDocument/2006/relationships/hyperlink" Target="https://arxiv.org/abs/2507.05643" TargetMode="External"/><Relationship Id="rId20" Type="http://schemas.openxmlformats.org/officeDocument/2006/relationships/hyperlink" Target="https://github.com/projectchrono/chrono" TargetMode="External"/><Relationship Id="rId21" Type="http://schemas.openxmlformats.org/officeDocument/2006/relationships/hyperlink" Target="https://arxiv.org/abs/2509.17430" TargetMode="External"/><Relationship Id="rId22" Type="http://schemas.openxmlformats.org/officeDocument/2006/relationships/hyperlink" Target="https://gchhablani.github.io/embodied-splat/"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hyperlink" Target="https://arxiv.org/abs/2301.10602" TargetMode="External"/><Relationship Id="rId4" Type="http://schemas.openxmlformats.org/officeDocument/2006/relationships/hyperlink" Target="https://arxiv.org/abs/2409.19709" TargetMode="External"/><Relationship Id="rId5" Type="http://schemas.openxmlformats.org/officeDocument/2006/relationships/hyperlink" Target="https://dreamwaqpp.github.io/" TargetMode="External"/><Relationship Id="rId6" Type="http://schemas.openxmlformats.org/officeDocument/2006/relationships/hyperlink" Target="https://www.youtube.com/watch?v=IeBNRQsmKR4" TargetMode="External"/><Relationship Id="rId7" Type="http://schemas.openxmlformats.org/officeDocument/2006/relationships/hyperlink" Target="https://arxiv.org/abs/2306.12712" TargetMode="External"/><Relationship Id="rId8" Type="http://schemas.openxmlformats.org/officeDocument/2006/relationships/hyperlink" Target="https://sites.google.com/view/dreamriser" TargetMode="External"/><Relationship Id="rId9" Type="http://schemas.openxmlformats.org/officeDocument/2006/relationships/hyperlink" Target="https://github.com/curieuxjy/go2_dreamwaq" TargetMode="External"/><Relationship Id="rId10" Type="http://schemas.openxmlformats.org/officeDocument/2006/relationships/hyperlink" Target="https://github.com/yusongmin1/Dreamwaq" TargetMode="External"/><Relationship Id="rId11" Type="http://schemas.openxmlformats.org/officeDocument/2006/relationships/hyperlink" Target="https://github.com/wanghg1992/DreamWaQ" TargetMode="External"/><Relationship Id="rId12" Type="http://schemas.openxmlformats.org/officeDocument/2006/relationships/hyperlink" Target="https://github.com/Teddy-Liao/walk-these-ways-go2" TargetMode="External"/><Relationship Id="rId13" Type="http://schemas.openxmlformats.org/officeDocument/2006/relationships/hyperlink" Target="https://github.com/Manaro-Alpha/DreamWaQ" TargetMode="External"/><Relationship Id="rId14" Type="http://schemas.openxmlformats.org/officeDocument/2006/relationships/hyperlink" Target="https://github.com/LucienJi/MetaRobotics" TargetMode="External"/><Relationship Id="rId15" Type="http://schemas.openxmlformats.org/officeDocument/2006/relationships/hyperlink" Target="https://arxiv.org/abs/2310.04675"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hyperlink" Target="https://arxiv.org/abs/2309.14341" TargetMode="External"/><Relationship Id="rId4" Type="http://schemas.openxmlformats.org/officeDocument/2006/relationships/hyperlink" Target="https://extreme-parkour.github.io" TargetMode="External"/><Relationship Id="rId5" Type="http://schemas.openxmlformats.org/officeDocument/2006/relationships/hyperlink" Target="https://github.com/chengxuxin/extreme-parkour" TargetMode="External"/><Relationship Id="rId6" Type="http://schemas.openxmlformats.org/officeDocument/2006/relationships/hyperlink" Target="https://github.com/CAI23sbP/Isaaclab_Parkour" TargetMode="External"/><Relationship Id="rId7" Type="http://schemas.openxmlformats.org/officeDocument/2006/relationships/hyperlink" Target="https://arxiv.org/abs/2509.23745" TargetMode="External"/><Relationship Id="rId8" Type="http://schemas.openxmlformats.org/officeDocument/2006/relationships/hyperlink" Target="https://generalist-locomotion.github.io/" TargetMode="External"/><Relationship Id="rId9" Type="http://schemas.openxmlformats.org/officeDocument/2006/relationships/hyperlink" Target="https://youtu.be/_fQ1FwRj4ME" TargetMode="External"/><Relationship Id="rId10" Type="http://schemas.openxmlformats.org/officeDocument/2006/relationships/hyperlink" Target="https://arxiv.org/abs/2209.05309" TargetMode="External"/><Relationship Id="rId11" Type="http://schemas.openxmlformats.org/officeDocument/2006/relationships/hyperlink" Target="https://github.com/HybridRobotics/GenLoco" TargetMode="External"/><Relationship Id="rId12" Type="http://schemas.openxmlformats.org/officeDocument/2006/relationships/hyperlink" Target="https://arxiv.org/abs/2301.07608" TargetMode="External"/><Relationship Id="rId13" Type="http://schemas.openxmlformats.org/officeDocument/2006/relationships/hyperlink" Target="https://arxiv.org/abs/2409.06366" TargetMode="External"/><Relationship Id="rId14" Type="http://schemas.openxmlformats.org/officeDocument/2006/relationships/hyperlink" Target="https://github.com/nico-bohlinger/one_policy_to_run_them_all" TargetMode="External"/><Relationship Id="rId15" Type="http://schemas.openxmlformats.org/officeDocument/2006/relationships/hyperlink" Target="https://arxiv.org/abs/2409.15783" TargetMode="External"/><Relationship Id="rId16" Type="http://schemas.openxmlformats.org/officeDocument/2006/relationships/hyperlink" Target="https://github.com/LeCAR-Lab/anycar" TargetMode="External"/><Relationship Id="rId17" Type="http://schemas.openxmlformats.org/officeDocument/2006/relationships/hyperlink" Target="https://arxiv.org/abs/2502.16372" TargetMode="External"/><Relationship Id="rId18" Type="http://schemas.openxmlformats.org/officeDocument/2006/relationships/hyperlink" Target="https://github.com/NVlabs/COMPASS" TargetMode="External"/><Relationship Id="rId19" Type="http://schemas.openxmlformats.org/officeDocument/2006/relationships/hyperlink" Target="https://arxiv.org/abs/2505.05753" TargetMode="External"/><Relationship Id="rId20" Type="http://schemas.openxmlformats.org/officeDocument/2006/relationships/hyperlink" Target="https://github.com/BoAi01/embodiment-scaling-laws" TargetMode="External"/><Relationship Id="rId21" Type="http://schemas.openxmlformats.org/officeDocument/2006/relationships/hyperlink" Target="https://arxiv.org/abs/2507.14731" TargetMode="External"/><Relationship Id="rId22" Type="http://schemas.openxmlformats.org/officeDocument/2006/relationships/hyperlink" Target="https://arxiv.org/abs/2608.01506"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hyperlink" Target="https://arxiv.org/abs/2609.23432" TargetMode="External"/><Relationship Id="rId4" Type="http://schemas.openxmlformats.org/officeDocument/2006/relationships/hyperlink" Target="https://arxiv.org/abs/2610.19615" TargetMode="External"/><Relationship Id="rId5" Type="http://schemas.openxmlformats.org/officeDocument/2006/relationships/hyperlink" Target="https://github.com/RIVeR-Lab/Chance-Constrained-MPC" TargetMode="External"/><Relationship Id="rId6" Type="http://schemas.openxmlformats.org/officeDocument/2006/relationships/hyperlink" Target="https://cc-mpc.github.io/" TargetMode="External"/><Relationship Id="rId7" Type="http://schemas.openxmlformats.org/officeDocument/2006/relationships/hyperlink" Target="https://arxiv.org/abs/2505.00488" TargetMode="External"/><Relationship Id="rId8" Type="http://schemas.openxmlformats.org/officeDocument/2006/relationships/hyperlink" Target="https://arxiv.org/abs/2509.10771" TargetMode="External"/><Relationship Id="rId9" Type="http://schemas.openxmlformats.org/officeDocument/2006/relationships/hyperlink" Target="https://github.com/leggedrobotics/rsl_rl" TargetMode="External"/><Relationship Id="rId10" Type="http://schemas.openxmlformats.org/officeDocument/2006/relationships/hyperlink" Target="https://github.com/leggedrobotics/legged_gym" TargetMode="External"/><Relationship Id="rId11" Type="http://schemas.openxmlformats.org/officeDocument/2006/relationships/hyperlink" Target="https://github.com/Improbable-AI/walk-these-ways" TargetMode="External"/><Relationship Id="rId12" Type="http://schemas.openxmlformats.org/officeDocument/2006/relationships/hyperlink" Target="https://arxiv.org/abs/2601.22074" TargetMode="External"/><Relationship Id="rId13" Type="http://schemas.openxmlformats.org/officeDocument/2006/relationships/hyperlink" Target="https://github.com/mujocolab/mjlab" TargetMode="External"/><Relationship Id="rId14" Type="http://schemas.openxmlformats.org/officeDocument/2006/relationships/hyperlink" Target="https://github.com/unitreerobotics/unitree_rl_mjlab" TargetMode="External"/><Relationship Id="rId15" Type="http://schemas.openxmlformats.org/officeDocument/2006/relationships/hyperlink" Target="https://github.com/unitreerobotics/unitree_rl_lab" TargetMode="External"/><Relationship Id="rId16" Type="http://schemas.openxmlformats.org/officeDocument/2006/relationships/hyperlink" Target="https://github.com/fan-ziqi/robot_lab" TargetMode="External"/><Relationship Id="rId17" Type="http://schemas.openxmlformats.org/officeDocument/2006/relationships/hyperlink" Target="https://github.com/fan-ziqi/rl_sar"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hyperlink" Target="https://github.com/unitreerobotics/unitree_mujoco" TargetMode="External"/><Relationship Id="rId4" Type="http://schemas.openxmlformats.org/officeDocument/2006/relationships/hyperlink" Target="https://arxiv.org/abs/2312.11460" TargetMode="External"/><Relationship Id="rId5" Type="http://schemas.openxmlformats.org/officeDocument/2006/relationships/hyperlink" Target="https://github.com/InternRobotics/HIMLoco" TargetMode="External"/><Relationship Id="rId6" Type="http://schemas.openxmlformats.org/officeDocument/2006/relationships/hyperlink" Target="https://arxiv.org/abs/2203.15103" TargetMode="External"/><Relationship Id="rId7" Type="http://schemas.openxmlformats.org/officeDocument/2006/relationships/hyperlink" Target="https://github.com/escontra/AMP_for_hardware" TargetMode="External"/><Relationship Id="rId8" Type="http://schemas.openxmlformats.org/officeDocument/2006/relationships/hyperlink" Target="https://arxiv.org/abs/2601.17428" TargetMode="External"/><Relationship Id="rId9" Type="http://schemas.openxmlformats.org/officeDocument/2006/relationships/hyperlink" Target="https://arxiv.org/abs/2109.11978" TargetMode="External"/><Relationship Id="rId10" Type="http://schemas.openxmlformats.org/officeDocument/2006/relationships/hyperlink" Target="https://arxiv.org/abs/2010.11251" TargetMode="External"/><Relationship Id="rId11" Type="http://schemas.openxmlformats.org/officeDocument/2006/relationships/hyperlink" Target="https://arxiv.org/abs/2306.14874" TargetMode="External"/><Relationship Id="rId12" Type="http://schemas.openxmlformats.org/officeDocument/2006/relationships/hyperlink" Target="https://arxiv.org/abs/1809.03557" TargetMode="External"/><Relationship Id="rId13" Type="http://schemas.openxmlformats.org/officeDocument/2006/relationships/hyperlink" Target="https://arxiv.org/abs/1909.07193" TargetMode="External"/><Relationship Id="rId14" Type="http://schemas.openxmlformats.org/officeDocument/2006/relationships/hyperlink" Target="https://arxiv.org/abs/2010.06322" TargetMode="External"/><Relationship Id="rId15" Type="http://schemas.openxmlformats.org/officeDocument/2006/relationships/hyperlink" Target="https://doi.org/10.1177/02783649221102473" TargetMode="External"/><Relationship Id="rId16" Type="http://schemas.openxmlformats.org/officeDocument/2006/relationships/hyperlink" Target="https://doi.org/10.3929/ethz-b-000551315" TargetMode="External"/><Relationship Id="rId17" Type="http://schemas.openxmlformats.org/officeDocument/2006/relationships/hyperlink" Target="https://arxiv.org/abs/2203.14912" TargetMode="External"/><Relationship Id="rId18" Type="http://schemas.openxmlformats.org/officeDocument/2006/relationships/hyperlink" Target="https://doi.org/10.3929/ethz-b-000515694"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hyperlink" Target="https://arxiv.org/abs/2206.14049" TargetMode="External"/><Relationship Id="rId4" Type="http://schemas.openxmlformats.org/officeDocument/2006/relationships/hyperlink" Target="https://arxiv.org/abs/2208.08373" TargetMode="External"/><Relationship Id="rId5" Type="http://schemas.openxmlformats.org/officeDocument/2006/relationships/hyperlink" Target="https://github.com/leggedrobotics/ocs2" TargetMode="External"/><Relationship Id="rId6" Type="http://schemas.openxmlformats.org/officeDocument/2006/relationships/hyperlink" Target="https://arxiv.org/abs/2406.01152" TargetMode="External"/><Relationship Id="rId7" Type="http://schemas.openxmlformats.org/officeDocument/2006/relationships/hyperlink" Target="https://pure.kaist.ac.kr/en/publications/learning-quadrupedal-locomotion-over-challenging-terrain/" TargetMode="External"/><Relationship Id="rId8" Type="http://schemas.openxmlformats.org/officeDocument/2006/relationships/hyperlink" Target="https://github.com/ETH-PBL/elmap-rl-controller" TargetMode="External"/><Relationship Id="rId9" Type="http://schemas.openxmlformats.org/officeDocument/2006/relationships/hyperlink" Target="https://github.com/jizhang-cmu/autonomy_stack_go2" TargetMode="External"/><Relationship Id="rId10" Type="http://schemas.openxmlformats.org/officeDocument/2006/relationships/hyperlink" Target="https://arxiv.org/abs/2201.08117" TargetMode="External"/><Relationship Id="rId11" Type="http://schemas.openxmlformats.org/officeDocument/2006/relationships/hyperlink" Target="https://arxiv.org/abs/2306.14874" TargetMode="External"/><Relationship Id="rId12" Type="http://schemas.openxmlformats.org/officeDocument/2006/relationships/hyperlink" Target="https://arxiv.org/abs/2506.02835" TargetMode="External"/><Relationship Id="rId13" Type="http://schemas.openxmlformats.org/officeDocument/2006/relationships/hyperlink" Target="https://doi.org/10.1126/scirobotics.ads6192" TargetMode="External"/><Relationship Id="rId14" Type="http://schemas.openxmlformats.org/officeDocument/2006/relationships/hyperlink" Target="https://arxiv.org/abs/2603.05830" TargetMode="External"/><Relationship Id="rId15" Type="http://schemas.openxmlformats.org/officeDocument/2006/relationships/hyperlink" Target="https://openheart-icra.github.io/OpenHEART/" TargetMode="External"/><Relationship Id="rId16" Type="http://schemas.openxmlformats.org/officeDocument/2006/relationships/hyperlink" Target="https://arxiv.org/abs/2603.07928" TargetMode="External"/><Relationship Id="rId17" Type="http://schemas.openxmlformats.org/officeDocument/2006/relationships/hyperlink" Target="https://arxiv.org/abs/2510.12346" TargetMode="External"/><Relationship Id="rId18" Type="http://schemas.openxmlformats.org/officeDocument/2006/relationships/hyperlink" Target="https://arxiv.org/abs/2503.00692" TargetMode="External"/><Relationship Id="rId19" Type="http://schemas.openxmlformats.org/officeDocument/2006/relationships/hyperlink" Target="https://github.com/jizhang-cmu/autonomy_stack_mecanum_wheel_platform"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hyperlink" Target="https://arxiv.org/abs/2306.12712" TargetMode="External"/><Relationship Id="rId4" Type="http://schemas.openxmlformats.org/officeDocument/2006/relationships/hyperlink" Target="https://sites.google.com/view/dreamriser" TargetMode="External"/><Relationship Id="rId5" Type="http://schemas.openxmlformats.org/officeDocument/2006/relationships/hyperlink" Target="https://arxiv.org/abs/2502.05817" TargetMode="External"/><Relationship Id="rId6" Type="http://schemas.openxmlformats.org/officeDocument/2006/relationships/hyperlink" Target="https://dreamflex.github.io" TargetMode="External"/><Relationship Id="rId7" Type="http://schemas.openxmlformats.org/officeDocument/2006/relationships/hyperlink" Target="https://arxiv.org/abs/2602.10399" TargetMode="External"/><Relationship Id="rId8" Type="http://schemas.openxmlformats.org/officeDocument/2006/relationships/hyperlink" Target="https://locovlm.github.io" TargetMode="External"/><Relationship Id="rId9" Type="http://schemas.openxmlformats.org/officeDocument/2006/relationships/hyperlink" Target="https://arxiv.org/abs/2607.11204" TargetMode="External"/><Relationship Id="rId10" Type="http://schemas.openxmlformats.org/officeDocument/2006/relationships/hyperlink" Target="https://arxiv.org/abs/2604.23327" TargetMode="External"/><Relationship Id="rId11" Type="http://schemas.openxmlformats.org/officeDocument/2006/relationships/hyperlink" Target="https://arxiv.org/abs/2501.00112" TargetMode="External"/><Relationship Id="rId12" Type="http://schemas.openxmlformats.org/officeDocument/2006/relationships/hyperlink" Target="https://arxiv.org/abs/2512.07464" TargetMode="External"/><Relationship Id="rId13" Type="http://schemas.openxmlformats.org/officeDocument/2006/relationships/hyperlink" Target="https://arxiv.org/abs/2510.07152" TargetMode="External"/><Relationship Id="rId14" Type="http://schemas.openxmlformats.org/officeDocument/2006/relationships/hyperlink" Target="https://arxiv.org/abs/2606.10288" TargetMode="External"/><Relationship Id="rId15" Type="http://schemas.openxmlformats.org/officeDocument/2006/relationships/hyperlink" Target="https://arxiv.org/abs/2502.10363" TargetMode="External"/><Relationship Id="rId16" Type="http://schemas.openxmlformats.org/officeDocument/2006/relationships/hyperlink" Target="https://why618188.github.io/beamdojo/" TargetMode="External"/><Relationship Id="rId17" Type="http://schemas.openxmlformats.org/officeDocument/2006/relationships/hyperlink" Target="https://arxiv.org/abs/2502.14814" TargetMode="External"/><Relationship Id="rId18" Type="http://schemas.openxmlformats.org/officeDocument/2006/relationships/hyperlink" Target="https://github.com/smoggy-P/elevation_mapping_humanoid" TargetMode="External"/><Relationship Id="rId19" Type="http://schemas.openxmlformats.org/officeDocument/2006/relationships/hyperlink" Target="https://arxiv.org/abs/2607.13472" TargetMode="External"/><Relationship Id="rId20" Type="http://schemas.openxmlformats.org/officeDocument/2006/relationships/hyperlink" Target="https://egohtr.github.io/" TargetMode="External"/><Relationship Id="rId21" Type="http://schemas.openxmlformats.org/officeDocument/2006/relationships/hyperlink" Target="https://huggingface.co/datasets/leggedrobotics/egohtr" TargetMode="External"/><Relationship Id="rId22" Type="http://schemas.openxmlformats.org/officeDocument/2006/relationships/hyperlink" Target="https://arxiv.org/abs/1810.05762" TargetMode="External"/><Relationship Id="rId23" Type="http://schemas.openxmlformats.org/officeDocument/2006/relationships/hyperlink" Target="https://arxiv.org/abs/2206.08077"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hyperlink" Target="https://arxiv.org/abs/2301.04195" TargetMode="External"/><Relationship Id="rId4" Type="http://schemas.openxmlformats.org/officeDocument/2006/relationships/hyperlink" Target="https://isaac-orbit.github.io/" TargetMode="External"/><Relationship Id="rId5" Type="http://schemas.openxmlformats.org/officeDocument/2006/relationships/hyperlink" Target="https://arxiv.org/abs/2310.12931" TargetMode="External"/><Relationship Id="rId6" Type="http://schemas.openxmlformats.org/officeDocument/2006/relationships/hyperlink" Target="https://github.com/eureka-research/Eureka" TargetMode="External"/><Relationship Id="rId7" Type="http://schemas.openxmlformats.org/officeDocument/2006/relationships/hyperlink" Target="https://arxiv.org/abs/2406.01967" TargetMode="External"/><Relationship Id="rId8" Type="http://schemas.openxmlformats.org/officeDocument/2006/relationships/hyperlink" Target="https://github.com/eureka-research/DrEureka" TargetMode="External"/><Relationship Id="rId9" Type="http://schemas.openxmlformats.org/officeDocument/2006/relationships/hyperlink" Target="https://arxiv.org/abs/2411.01775" TargetMode="External"/><Relationship Id="rId10" Type="http://schemas.openxmlformats.org/officeDocument/2006/relationships/hyperlink" Target="https://github.com/eureka-research/eurekaverse" TargetMode="External"/><Relationship Id="rId11" Type="http://schemas.openxmlformats.org/officeDocument/2006/relationships/hyperlink" Target="https://arxiv.org/abs/2205.01906" TargetMode="External"/><Relationship Id="rId12" Type="http://schemas.openxmlformats.org/officeDocument/2006/relationships/hyperlink" Target="https://github.com/nv-tlabs/ASE" TargetMode="External"/><Relationship Id="rId13" Type="http://schemas.openxmlformats.org/officeDocument/2006/relationships/hyperlink" Target="https://arxiv.org/abs/2305.02195" TargetMode="External"/><Relationship Id="rId14" Type="http://schemas.openxmlformats.org/officeDocument/2006/relationships/hyperlink" Target="https://github.com/NVlabs/CALM" TargetMode="External"/><Relationship Id="rId15" Type="http://schemas.openxmlformats.org/officeDocument/2006/relationships/hyperlink" Target="https://arxiv.org/abs/2305.06456" TargetMode="External"/><Relationship Id="rId16" Type="http://schemas.openxmlformats.org/officeDocument/2006/relationships/hyperlink" Target="https://github.com/ZhengyiLuo/PHC" TargetMode="External"/><Relationship Id="rId17" Type="http://schemas.openxmlformats.org/officeDocument/2006/relationships/hyperlink" Target="https://arxiv.org/abs/2409.14393" TargetMode="External"/><Relationship Id="rId18" Type="http://schemas.openxmlformats.org/officeDocument/2006/relationships/hyperlink" Target="https://research.nvidia.com/labs/par/maskedmimic/" TargetMode="External"/><Relationship Id="rId19" Type="http://schemas.openxmlformats.org/officeDocument/2006/relationships/hyperlink" Target="https://github.com/NVlabs/ProtoMotions" TargetMode="External"/><Relationship Id="rId20" Type="http://schemas.openxmlformats.org/officeDocument/2006/relationships/hyperlink" Target="https://arxiv.org/abs/2304.01893" TargetMode="External"/><Relationship Id="rId21" Type="http://schemas.openxmlformats.org/officeDocument/2006/relationships/hyperlink" Target="https://github.com/nv-tlabs/trace" TargetMode="External"/><Relationship Id="rId22" Type="http://schemas.openxmlformats.org/officeDocument/2006/relationships/hyperlink" Target="https://github.com/nv-tlabs/pacer" TargetMode="External"/><Relationship Id="rId23" Type="http://schemas.openxmlformats.org/officeDocument/2006/relationships/hyperlink" Target="https://arxiv.org/abs/2505.04002" TargetMode="External"/><Relationship Id="rId24" Type="http://schemas.openxmlformats.org/officeDocument/2006/relationships/hyperlink" Target="https://github.com/mshoe/PARC"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hyperlink" Target="https://arxiv.org/abs/2505.19086" TargetMode="External"/><Relationship Id="rId4" Type="http://schemas.openxmlformats.org/officeDocument/2006/relationships/hyperlink" Target="https://research.nvidia.com/labs/par/maskedmanipulator/" TargetMode="External"/><Relationship Id="rId5" Type="http://schemas.openxmlformats.org/officeDocument/2006/relationships/hyperlink" Target="https://arxiv.org/abs/2505.12278" TargetMode="External"/><Relationship Id="rId6" Type="http://schemas.openxmlformats.org/officeDocument/2006/relationships/hyperlink" Target="https://zhengyiluo.github.io/PDC" TargetMode="External"/><Relationship Id="rId7" Type="http://schemas.openxmlformats.org/officeDocument/2006/relationships/hyperlink" Target="https://arxiv.org/abs/2508.15755" TargetMode="External"/><Relationship Id="rId8" Type="http://schemas.openxmlformats.org/officeDocument/2006/relationships/hyperlink" Target="https://research.nvidia.com/publication/2025-09_neural-robot-dynamics" TargetMode="External"/><Relationship Id="rId9" Type="http://schemas.openxmlformats.org/officeDocument/2006/relationships/hyperlink" Target="https://arxiv.org/abs/2511.07820" TargetMode="External"/><Relationship Id="rId10" Type="http://schemas.openxmlformats.org/officeDocument/2006/relationships/hyperlink" Target="https://github.com/NVlabs/GR00T-WholeBodyControl" TargetMode="External"/><Relationship Id="rId11" Type="http://schemas.openxmlformats.org/officeDocument/2006/relationships/hyperlink" Target="https://arxiv.org/abs/2511.15200" TargetMode="External"/><Relationship Id="rId12" Type="http://schemas.openxmlformats.org/officeDocument/2006/relationships/hyperlink" Target="https://github.com/NVlabs/GR00T-VisualSim2Real" TargetMode="External"/><Relationship Id="rId13" Type="http://schemas.openxmlformats.org/officeDocument/2006/relationships/hyperlink" Target="https://arxiv.org/abs/2512.01061" TargetMode="External"/><Relationship Id="rId14" Type="http://schemas.openxmlformats.org/officeDocument/2006/relationships/hyperlink" Target="https://arxiv.org/abs/2512.14689" TargetMode="External"/><Relationship Id="rId15" Type="http://schemas.openxmlformats.org/officeDocument/2006/relationships/hyperlink" Target="https://nvlabs.github.io/CHIP/" TargetMode="External"/><Relationship Id="rId16" Type="http://schemas.openxmlformats.org/officeDocument/2006/relationships/hyperlink" Target="https://arxiv.org/abs/2604.24833" TargetMode="External"/><Relationship Id="rId17" Type="http://schemas.openxmlformats.org/officeDocument/2006/relationships/hyperlink" Target="https://nvlabs.github.io/motionbricks/" TargetMode="External"/><Relationship Id="rId18" Type="http://schemas.openxmlformats.org/officeDocument/2006/relationships/hyperlink" Target="https://arxiv.org/abs/2605.27724" TargetMode="External"/><Relationship Id="rId19" Type="http://schemas.openxmlformats.org/officeDocument/2006/relationships/hyperlink" Target="https://github.com/NVlabs/humanoidmimicgen" TargetMode="External"/><Relationship Id="rId20" Type="http://schemas.openxmlformats.org/officeDocument/2006/relationships/hyperlink" Target="https://arxiv.org/abs/2606.05160" TargetMode="External"/><Relationship Id="rId21" Type="http://schemas.openxmlformats.org/officeDocument/2006/relationships/hyperlink" Target="https://github.com/NVlabs/GRAIL" TargetMode="External"/><Relationship Id="rId22" Type="http://schemas.openxmlformats.org/officeDocument/2006/relationships/hyperlink" Target="https://arxiv.org/abs/1707.02286" TargetMode="External"/><Relationship Id="rId23" Type="http://schemas.openxmlformats.org/officeDocument/2006/relationships/hyperlink" Target="https://arxiv.org/abs/1804.10332" TargetMode="External"/><Relationship Id="rId24" Type="http://schemas.openxmlformats.org/officeDocument/2006/relationships/hyperlink" Target="https://github.com/bulletphysics/bullet3/tree/master/examples/pybullet/gym/pybullet_envs/minitaur"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hyperlink" Target="https://arxiv.org/abs/1910.02812" TargetMode="External"/><Relationship Id="rId4" Type="http://schemas.openxmlformats.org/officeDocument/2006/relationships/hyperlink" Target="https://arxiv.org/abs/1812.11103" TargetMode="External"/><Relationship Id="rId5" Type="http://schemas.openxmlformats.org/officeDocument/2006/relationships/hyperlink" Target="https://sites.google.com/view/minitaur-locomotion/" TargetMode="External"/><Relationship Id="rId6" Type="http://schemas.openxmlformats.org/officeDocument/2006/relationships/hyperlink" Target="https://arxiv.org/abs/1907.03613" TargetMode="External"/><Relationship Id="rId7" Type="http://schemas.openxmlformats.org/officeDocument/2006/relationships/hyperlink" Target="https://arxiv.org/abs/2002.08550" TargetMode="External"/><Relationship Id="rId8" Type="http://schemas.openxmlformats.org/officeDocument/2006/relationships/hyperlink" Target="https://arxiv.org/abs/2004.00784" TargetMode="External"/><Relationship Id="rId9" Type="http://schemas.openxmlformats.org/officeDocument/2006/relationships/hyperlink" Target="https://github.com/erwincoumans/motion_imitation" TargetMode="External"/><Relationship Id="rId10" Type="http://schemas.openxmlformats.org/officeDocument/2006/relationships/hyperlink" Target="https://arxiv.org/abs/2104.04644" TargetMode="External"/><Relationship Id="rId11" Type="http://schemas.openxmlformats.org/officeDocument/2006/relationships/hyperlink" Target="https://arxiv.org/abs/2106.13281" TargetMode="External"/><Relationship Id="rId12" Type="http://schemas.openxmlformats.org/officeDocument/2006/relationships/hyperlink" Target="https://github.com/google/brax" TargetMode="External"/><Relationship Id="rId13" Type="http://schemas.openxmlformats.org/officeDocument/2006/relationships/hyperlink" Target="https://arxiv.org/abs/2110.05457" TargetMode="External"/><Relationship Id="rId14" Type="http://schemas.openxmlformats.org/officeDocument/2006/relationships/hyperlink" Target="https://github.com/lauramsmith/fine-tuning-locomotion" TargetMode="External"/><Relationship Id="rId15" Type="http://schemas.openxmlformats.org/officeDocument/2006/relationships/hyperlink" Target="https://proceedings.mlr.press/v164/yu22a.html" TargetMode="External"/><Relationship Id="rId16" Type="http://schemas.openxmlformats.org/officeDocument/2006/relationships/hyperlink" Target="https://proceedings.mlr.press/v164/bloesch22a.html" TargetMode="External"/><Relationship Id="rId17" Type="http://schemas.openxmlformats.org/officeDocument/2006/relationships/hyperlink" Target="https://arxiv.org/abs/2203.02638" TargetMode="External"/><Relationship Id="rId18" Type="http://schemas.openxmlformats.org/officeDocument/2006/relationships/hyperlink" Target="https://sites.google.com/view/saferlleggedlocomotion/"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hyperlink" Target="https://arxiv.org/abs/2203.17138" TargetMode="External"/><Relationship Id="rId4" Type="http://schemas.openxmlformats.org/officeDocument/2006/relationships/hyperlink" Target="https://arxiv.org/abs/2206.13631" TargetMode="External"/><Relationship Id="rId5" Type="http://schemas.openxmlformats.org/officeDocument/2006/relationships/hyperlink" Target="https://arxiv.org/abs/2207.13224" TargetMode="External"/><Relationship Id="rId6" Type="http://schemas.openxmlformats.org/officeDocument/2006/relationships/hyperlink" Target="https://arxiv.org/abs/2210.04932" TargetMode="External"/><Relationship Id="rId7" Type="http://schemas.openxmlformats.org/officeDocument/2006/relationships/hyperlink" Target="https://arxiv.org/abs/2304.13653" TargetMode="External"/><Relationship Id="rId8" Type="http://schemas.openxmlformats.org/officeDocument/2006/relationships/hyperlink" Target="https://doi.org/10.1126/scirobotics.adi8022" TargetMode="External"/><Relationship Id="rId9" Type="http://schemas.openxmlformats.org/officeDocument/2006/relationships/hyperlink" Target="https://arxiv.org/abs/2305.14654" TargetMode="External"/><Relationship Id="rId10" Type="http://schemas.openxmlformats.org/officeDocument/2006/relationships/hyperlink" Target="https://github.com/google-deepmind/barkour_robot" TargetMode="External"/><Relationship Id="rId11" Type="http://schemas.openxmlformats.org/officeDocument/2006/relationships/hyperlink" Target="https://arxiv.org/abs/2306.07580" TargetMode="External"/><Relationship Id="rId12" Type="http://schemas.openxmlformats.org/officeDocument/2006/relationships/hyperlink" Target="https://saytap.github.io/" TargetMode="External"/><Relationship Id="rId13" Type="http://schemas.openxmlformats.org/officeDocument/2006/relationships/hyperlink" Target="https://arxiv.org/abs/2306.08647" TargetMode="External"/><Relationship Id="rId14" Type="http://schemas.openxmlformats.org/officeDocument/2006/relationships/hyperlink" Target="https://github.com/google-deepmind/language_to_reward_2023" TargetMode="External"/><Relationship Id="rId15" Type="http://schemas.openxmlformats.org/officeDocument/2006/relationships/hyperlink" Target="https://arxiv.org/abs/2402.11450" TargetMode="External"/><Relationship Id="rId16" Type="http://schemas.openxmlformats.org/officeDocument/2006/relationships/hyperlink" Target="https://arxiv.org/abs/2405.00846" TargetMode="External"/><Relationship Id="rId17" Type="http://schemas.openxmlformats.org/officeDocument/2006/relationships/hyperlink" Target="https://arxiv.org/abs/2405.02425" TargetMode="External"/><Relationship Id="rId18" Type="http://schemas.openxmlformats.org/officeDocument/2006/relationships/hyperlink" Target="https://sites.google.com/view/vision-soccer"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hyperlink" Target="https://arxiv.org/abs/2503.08593" TargetMode="External"/><Relationship Id="rId4" Type="http://schemas.openxmlformats.org/officeDocument/2006/relationships/hyperlink" Target="https://arxiv.org/abs/2503.20020" TargetMode="External"/><Relationship Id="rId5" Type="http://schemas.openxmlformats.org/officeDocument/2006/relationships/hyperlink" Target="https://arxiv.org/abs/2510.03342" TargetMode="External"/><Relationship Id="rId6" Type="http://schemas.openxmlformats.org/officeDocument/2006/relationships/hyperlink" Target="https://deepmind.google/blog/gemini-robotics-2-brings-whole-body-intelligence-to-robots/" TargetMode="External"/><Relationship Id="rId7" Type="http://schemas.openxmlformats.org/officeDocument/2006/relationships/hyperlink" Target="https://arxiv.org/abs/2005.11435" TargetMode="External"/><Relationship Id="rId8" Type="http://schemas.openxmlformats.org/officeDocument/2006/relationships/hyperlink" Target="https://arxiv.org/abs/2402.06143" TargetMode="External"/><Relationship Id="rId9" Type="http://schemas.openxmlformats.org/officeDocument/2006/relationships/hyperlink" Target="https://www.ascento.ai" TargetMode="External"/><Relationship Id="rId10" Type="http://schemas.openxmlformats.org/officeDocument/2006/relationships/hyperlink" Target="https://arxiv.org/abs/2305.17842" TargetMode="External"/><Relationship Id="rId11" Type="http://schemas.openxmlformats.org/officeDocument/2006/relationships/hyperlink" Target="https://arxiv.org/abs/2504.06662" TargetMode="External"/><Relationship Id="rId12" Type="http://schemas.openxmlformats.org/officeDocument/2006/relationships/hyperlink" Target="https://arxiv.org/abs/2308.09179" TargetMode="External"/><Relationship Id="rId13" Type="http://schemas.openxmlformats.org/officeDocument/2006/relationships/hyperlink" Target="https://doi.org/10.1126/scirobotics.adg5014" TargetMode="External"/><Relationship Id="rId14" Type="http://schemas.openxmlformats.org/officeDocument/2006/relationships/hyperlink" Target="https://doi.org/10.1109/LRA.2023.3313923" TargetMode="External"/><Relationship Id="rId15" Type="http://schemas.openxmlformats.org/officeDocument/2006/relationships/hyperlink" Target="https://arxiv.org/abs/2310.03581" TargetMode="External"/><Relationship Id="rId16" Type="http://schemas.openxmlformats.org/officeDocument/2006/relationships/hyperlink" Target="https://arxiv.org/abs/2311.10484" TargetMode="External"/><Relationship Id="rId17" Type="http://schemas.openxmlformats.org/officeDocument/2006/relationships/hyperlink" Target="https://arxiv.org/abs/2402.13820" TargetMode="External"/><Relationship Id="rId18" Type="http://schemas.openxmlformats.org/officeDocument/2006/relationships/hyperlink" Target="https://arxiv.org/abs/2403.00187"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hyperlink" Target="https://arxiv.org/abs/2501.05204" TargetMode="External"/><Relationship Id="rId4" Type="http://schemas.openxmlformats.org/officeDocument/2006/relationships/hyperlink" Target="https://doi.org/10.15607/RSS.2024.XX.103" TargetMode="External"/><Relationship Id="rId5" Type="http://schemas.openxmlformats.org/officeDocument/2006/relationships/hyperlink" Target="https://doi.org/10.1145/3680528.3687626" TargetMode="External"/><Relationship Id="rId6" Type="http://schemas.openxmlformats.org/officeDocument/2006/relationships/hyperlink" Target="https://la.disneyresearch.com/wp-content/uploads/RobotMDM_red.pdf" TargetMode="External"/><Relationship Id="rId7" Type="http://schemas.openxmlformats.org/officeDocument/2006/relationships/hyperlink" Target="https://arxiv.org/abs/2501.10100" TargetMode="External"/><Relationship Id="rId8" Type="http://schemas.openxmlformats.org/officeDocument/2006/relationships/hyperlink" Target="https://arxiv.org/abs/2504.16680" TargetMode="External"/><Relationship Id="rId9" Type="http://schemas.openxmlformats.org/officeDocument/2006/relationships/hyperlink" Target="https://github.com/leggedrobotics/rsl_rl_rwm" TargetMode="External"/><Relationship Id="rId10" Type="http://schemas.openxmlformats.org/officeDocument/2006/relationships/hyperlink" Target="https://arxiv.org/abs/2503.10028" TargetMode="External"/><Relationship Id="rId11" Type="http://schemas.openxmlformats.org/officeDocument/2006/relationships/hyperlink" Target="https://arxiv.org/abs/2504.02724" TargetMode="External"/><Relationship Id="rId12" Type="http://schemas.openxmlformats.org/officeDocument/2006/relationships/hyperlink" Target="https://arxiv.org/abs/2505.11164" TargetMode="External"/><Relationship Id="rId13" Type="http://schemas.openxmlformats.org/officeDocument/2006/relationships/hyperlink" Target="https://doi.org/10.1177/02783649261455067" TargetMode="External"/><Relationship Id="rId14" Type="http://schemas.openxmlformats.org/officeDocument/2006/relationships/hyperlink" Target="https://arxiv.org/abs/2505.23708" TargetMode="External"/><Relationship Id="rId15" Type="http://schemas.openxmlformats.org/officeDocument/2006/relationships/hyperlink" Target="https://arxiv.org/abs/2509.06342" TargetMode="External"/><Relationship Id="rId16" Type="http://schemas.openxmlformats.org/officeDocument/2006/relationships/hyperlink" Target="https://github.com/leggedrobotics/pace-sim2real" TargetMode="External"/><Relationship Id="rId17" Type="http://schemas.openxmlformats.org/officeDocument/2006/relationships/hyperlink" Target="https://arxiv.org/abs/2512.16705" TargetMode="External"/><Relationship Id="rId18" Type="http://schemas.openxmlformats.org/officeDocument/2006/relationships/hyperlink" Target="https://arxiv.org/abs/2601.08485" TargetMode="External"/><Relationship Id="rId19" Type="http://schemas.openxmlformats.org/officeDocument/2006/relationships/hyperlink" Target="https://sites.google.com/leggedrobotics.com/ame-2" TargetMode="External"/><Relationship Id="rId20" Type="http://schemas.openxmlformats.org/officeDocument/2006/relationships/hyperlink" Target="https://doi.org/10.1126/scirobotics.adv3604"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hyperlink" Target="https://arxiv.org/abs/2603.16536" TargetMode="External"/><Relationship Id="rId4" Type="http://schemas.openxmlformats.org/officeDocument/2006/relationships/hyperlink" Target="https://github.com/newton-physics/newton" TargetMode="External"/><Relationship Id="rId5" Type="http://schemas.openxmlformats.org/officeDocument/2006/relationships/hyperlink" Target="https://arxiv.org/abs/2604.17335" TargetMode="External"/><Relationship Id="rId6" Type="http://schemas.openxmlformats.org/officeDocument/2006/relationships/hyperlink" Target="https://arxiv.org/abs/2606.31807" TargetMode="External"/><Relationship Id="rId7" Type="http://schemas.openxmlformats.org/officeDocument/2006/relationships/hyperlink" Target="https://arxiv.org/abs/2608.29769" TargetMode="External"/><Relationship Id="rId8" Type="http://schemas.openxmlformats.org/officeDocument/2006/relationships/hyperlink" Target="https://arxiv.org/abs/2610.29612" TargetMode="External"/><Relationship Id="rId9" Type="http://schemas.openxmlformats.org/officeDocument/2006/relationships/hyperlink" Target="https://github.com/leggedrobotics/foothold-prediction-model" TargetMode="External"/><Relationship Id="rId10" Type="http://schemas.openxmlformats.org/officeDocument/2006/relationships/hyperlink" Target="https://www.youtube.com/watch?v=3bLU6_OPv6s" TargetMode="External"/><Relationship Id="rId11" Type="http://schemas.openxmlformats.org/officeDocument/2006/relationships/hyperlink" Target="https://leggedrobotics.github.io/watch-your-step/" TargetMode="External"/><Relationship Id="rId12" Type="http://schemas.openxmlformats.org/officeDocument/2006/relationships/hyperlink" Target="https://arxiv.org/abs/2311.06234" TargetMode="External"/><Relationship Id="rId13" Type="http://schemas.openxmlformats.org/officeDocument/2006/relationships/hyperlink" Target="https://github.com/mit-acl/mppi_numba" TargetMode="External"/><Relationship Id="rId14" Type="http://schemas.openxmlformats.org/officeDocument/2006/relationships/hyperlink" Target="https://xiaoyi-cai.github.io/evora/" TargetMode="External"/><Relationship Id="rId15" Type="http://schemas.openxmlformats.org/officeDocument/2006/relationships/hyperlink" Target="https://arxiv.org/abs/2608.19955" TargetMode="External"/><Relationship Id="rId16" Type="http://schemas.openxmlformats.org/officeDocument/2006/relationships/hyperlink" Target="https://arxiv.org/abs/2609.10286" TargetMode="External"/><Relationship Id="rId17" Type="http://schemas.openxmlformats.org/officeDocument/2006/relationships/hyperlink" Target="https://arxiv.org/abs/2502.13013" TargetMode="External"/><Relationship Id="rId18" Type="http://schemas.openxmlformats.org/officeDocument/2006/relationships/hyperlink" Target="https://arxiv.org/abs/2312.03275" TargetMode="External"/><Relationship Id="rId19" Type="http://schemas.openxmlformats.org/officeDocument/2006/relationships/hyperlink" Target="https://github.com/rai-opensource/vlfm"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hyperlink" Target="https://bostondynamics.com/blog/starting-on-the-right-foot-with-reinforcement-learning/" TargetMode="External"/><Relationship Id="rId4" Type="http://schemas.openxmlformats.org/officeDocument/2006/relationships/hyperlink" Target="https://bostondynamics.com/reinforcement-learning-researcher-kit/" TargetMode="External"/><Relationship Id="rId5" Type="http://schemas.openxmlformats.org/officeDocument/2006/relationships/hyperlink" Target="https://github.com/boston-dynamics/spot-rl-example" TargetMode="External"/><Relationship Id="rId6" Type="http://schemas.openxmlformats.org/officeDocument/2006/relationships/hyperlink" Target="https://arxiv.org/abs/2409.10469" TargetMode="External"/><Relationship Id="rId7" Type="http://schemas.openxmlformats.org/officeDocument/2006/relationships/hyperlink" Target="https://github.com/jrapudg/RTWholeBodyMPPI" TargetMode="External"/><Relationship Id="rId8" Type="http://schemas.openxmlformats.org/officeDocument/2006/relationships/hyperlink" Target="https://arxiv.org/abs/2409.15610" TargetMode="External"/><Relationship Id="rId9" Type="http://schemas.openxmlformats.org/officeDocument/2006/relationships/hyperlink" Target="https://github.com/LeCAR-Lab/dial-mpc" TargetMode="External"/><Relationship Id="rId10" Type="http://schemas.openxmlformats.org/officeDocument/2006/relationships/hyperlink" Target="https://arxiv.org/abs/2503.04613" TargetMode="External"/><Relationship Id="rId11" Type="http://schemas.openxmlformats.org/officeDocument/2006/relationships/hyperlink" Target="https://github.com/johnzhang3/mujoco_mpc_deploy" TargetMode="External"/><Relationship Id="rId12" Type="http://schemas.openxmlformats.org/officeDocument/2006/relationships/hyperlink" Target="https://arxiv.org/abs/2504.17857" TargetMode="External"/><Relationship Id="rId13" Type="http://schemas.openxmlformats.org/officeDocument/2006/relationships/hyperlink" Target="https://github.com/isaac-sim/IsaacLab/tree/main/source/isaaclab_tasks/isaaclab_tasks/manager_based/locomotion/velocity/config/spot" TargetMode="External"/><Relationship Id="rId14" Type="http://schemas.openxmlformats.org/officeDocument/2006/relationships/hyperlink" Target="https://arxiv.org/abs/2506.17184" TargetMode="External"/><Relationship Id="rId15" Type="http://schemas.openxmlformats.org/officeDocument/2006/relationships/hyperlink" Target="https://github.com/rai-opensource/judo" TargetMode="External"/><Relationship Id="rId16" Type="http://schemas.openxmlformats.org/officeDocument/2006/relationships/hyperlink" Target="https://pages.rai-inst.com/judo/" TargetMode="External"/><Relationship Id="rId17" Type="http://schemas.openxmlformats.org/officeDocument/2006/relationships/hyperlink" Target="https://arxiv.org/abs/2506.07876" TargetMode="External"/><Relationship Id="rId18" Type="http://schemas.openxmlformats.org/officeDocument/2006/relationships/hyperlink" Target="https://github.com/rai-opensource/relic" TargetMode="External"/><Relationship Id="rId19" Type="http://schemas.openxmlformats.org/officeDocument/2006/relationships/hyperlink" Target="https://bostondynamics.com/blog/large-behavior-models-atlas-find-new-footing/" TargetMode="External"/><Relationship Id="rId20" Type="http://schemas.openxmlformats.org/officeDocument/2006/relationships/hyperlink" Target="https://arxiv.org/abs/2510.08754" TargetMode="External"/><Relationship Id="rId21" Type="http://schemas.openxmlformats.org/officeDocument/2006/relationships/hyperlink" Target="https://rai-inst.com/resources/papers/whole-body-model-predictive-control-for-spin-aware-quadrupedal-table-tennis/"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hyperlink" Target="https://arxiv.org/abs/2602.00401" TargetMode="External"/><Relationship Id="rId4" Type="http://schemas.openxmlformats.org/officeDocument/2006/relationships/hyperlink" Target="https://doi.org/10.1126/scirobotics.aec7695" TargetMode="External"/><Relationship Id="rId5" Type="http://schemas.openxmlformats.org/officeDocument/2006/relationships/hyperlink" Target="https://arxiv.org/abs/2602.22118" TargetMode="External"/><Relationship Id="rId6" Type="http://schemas.openxmlformats.org/officeDocument/2006/relationships/hyperlink" Target="https://rai-inst.com/resources/blog/designing-wheeled-robotic-systems/" TargetMode="External"/><Relationship Id="rId7" Type="http://schemas.openxmlformats.org/officeDocument/2006/relationships/hyperlink" Target="https://rai-inst.com/resources/videos/meet-roadrunner-a-bipedal-wheeled-robot-for-multi-modal-locomotion/" TargetMode="External"/><Relationship Id="rId8" Type="http://schemas.openxmlformats.org/officeDocument/2006/relationships/hyperlink" Target="https://arxiv.org/abs/2604.08508" TargetMode="External"/><Relationship Id="rId9" Type="http://schemas.openxmlformats.org/officeDocument/2006/relationships/hyperlink" Target="https://sumo.rai-inst.com" TargetMode="External"/><Relationship Id="rId10" Type="http://schemas.openxmlformats.org/officeDocument/2006/relationships/hyperlink" Target="https://github.com/rai-opensource/sumo" TargetMode="External"/><Relationship Id="rId11" Type="http://schemas.openxmlformats.org/officeDocument/2006/relationships/hyperlink" Target="https://arxiv.org/abs/2408.01258" TargetMode="External"/><Relationship Id="rId12" Type="http://schemas.openxmlformats.org/officeDocument/2006/relationships/hyperlink" Target="https://arxiv.org/abs/2608.12063" TargetMode="External"/><Relationship Id="rId13" Type="http://schemas.openxmlformats.org/officeDocument/2006/relationships/hyperlink" Target="https://pages.rai-inst.com/smpc2rl/" TargetMode="External"/><Relationship Id="rId14" Type="http://schemas.openxmlformats.org/officeDocument/2006/relationships/hyperlink" Target="https://doi.org/10.1109/IROS.2018.8594448" TargetMode="External"/><Relationship Id="rId15" Type="http://schemas.openxmlformats.org/officeDocument/2006/relationships/hyperlink" Target="https://github.com/mit-biomimetics/Cheetah-Software" TargetMode="External"/><Relationship Id="rId16" Type="http://schemas.openxmlformats.org/officeDocument/2006/relationships/hyperlink" Target="https://doi.org/10.1109/ICRA.2019.8793865" TargetMode="External"/><Relationship Id="rId17" Type="http://schemas.openxmlformats.org/officeDocument/2006/relationships/hyperlink" Target="https://arxiv.org/abs/2111.01674"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hyperlink" Target="https://arxiv.org/abs/2112.02094" TargetMode="External"/><Relationship Id="rId4" Type="http://schemas.openxmlformats.org/officeDocument/2006/relationships/hyperlink" Target="https://github.com/MarkFzp/navigation-locomotion" TargetMode="External"/><Relationship Id="rId5" Type="http://schemas.openxmlformats.org/officeDocument/2006/relationships/hyperlink" Target="https://arxiv.org/abs/2202.05481" TargetMode="External"/><Relationship Id="rId6" Type="http://schemas.openxmlformats.org/officeDocument/2006/relationships/hyperlink" Target="https://github.com/karlji1021/Cheetah-Software" TargetMode="External"/><Relationship Id="rId7" Type="http://schemas.openxmlformats.org/officeDocument/2006/relationships/hyperlink" Target="https://arxiv.org/abs/2205.02824" TargetMode="External"/><Relationship Id="rId8" Type="http://schemas.openxmlformats.org/officeDocument/2006/relationships/hyperlink" Target="https://doi.org/10.1177/02783649231224053" TargetMode="External"/><Relationship Id="rId9" Type="http://schemas.openxmlformats.org/officeDocument/2006/relationships/hyperlink" Target="https://github.com/Improbable-AI/rapid-locomotion-rl" TargetMode="External"/><Relationship Id="rId10" Type="http://schemas.openxmlformats.org/officeDocument/2006/relationships/hyperlink" Target="https://arxiv.org/abs/2211.07638" TargetMode="External"/><Relationship Id="rId11" Type="http://schemas.openxmlformats.org/officeDocument/2006/relationships/hyperlink" Target="https://vision-locomotion.github.io/" TargetMode="External"/><Relationship Id="rId12" Type="http://schemas.openxmlformats.org/officeDocument/2006/relationships/hyperlink" Target="https://doi.org/10.1126/scirobotics.ade2256" TargetMode="External"/><Relationship Id="rId13" Type="http://schemas.openxmlformats.org/officeDocument/2006/relationships/hyperlink" Target="https://news.kaist.ac.kr/newsen/html/news/?mode=V&amp;mng_no=26590" TargetMode="External"/><Relationship Id="rId14" Type="http://schemas.openxmlformats.org/officeDocument/2006/relationships/hyperlink" Target="https://arxiv.org/abs/2304.01159" TargetMode="External"/><Relationship Id="rId15" Type="http://schemas.openxmlformats.org/officeDocument/2006/relationships/hyperlink" Target="https://github.com/Improbable-AI/dribblebot" TargetMode="External"/><Relationship Id="rId16" Type="http://schemas.openxmlformats.org/officeDocument/2006/relationships/hyperlink" Target="https://arxiv.org/abs/2308.15143" TargetMode="External"/><Relationship Id="rId17" Type="http://schemas.openxmlformats.org/officeDocument/2006/relationships/hyperlink" Target="https://doi.org/10.1038/s42256-024-00861-3" TargetMode="External"/><Relationship Id="rId18" Type="http://schemas.openxmlformats.org/officeDocument/2006/relationships/hyperlink" Target="https://tencent-roboticsx.github.io/lifelike-agility-and-play/" TargetMode="External"/><Relationship Id="rId19" Type="http://schemas.openxmlformats.org/officeDocument/2006/relationships/hyperlink" Target="https://arxiv.org/abs/2309.02745" TargetMode="External"/><Relationship Id="rId20" Type="http://schemas.openxmlformats.org/officeDocument/2006/relationships/hyperlink" Target="https://doi.org/10.1109/LRA.2024.3371910" TargetMode="External"/><Relationship Id="rId21" Type="http://schemas.openxmlformats.org/officeDocument/2006/relationships/hyperlink" Target="https://arxiv.org/abs/2311.01405" TargetMode="External"/><Relationship Id="rId22" Type="http://schemas.openxmlformats.org/officeDocument/2006/relationships/hyperlink" Target="https://gmargo11.github.io/active-sensing-loco/"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hyperlink" Target="https://doi.org/10.1038/s41586-026-11102-5" TargetMode="External"/><Relationship Id="rId4" Type="http://schemas.openxmlformats.org/officeDocument/2006/relationships/hyperlink" Target="https://doi.org/10.21203/rs.3.rs-6040970/v1" TargetMode="External"/><Relationship Id="rId5" Type="http://schemas.openxmlformats.org/officeDocument/2006/relationships/hyperlink" Target="https://news.kaist.ac.kr/news/html/news/?mode=V&amp;mng_no=67550" TargetMode="External"/><Relationship Id="rId6" Type="http://schemas.openxmlformats.org/officeDocument/2006/relationships/hyperlink" Target="https://github.com/railabatkaist/raisimGym_nature" TargetMode="External"/><Relationship Id="rId7" Type="http://schemas.openxmlformats.org/officeDocument/2006/relationships/hyperlink" Target="https://arxiv.org/abs/2011.01387" TargetMode="External"/><Relationship Id="rId8" Type="http://schemas.openxmlformats.org/officeDocument/2006/relationships/hyperlink" Target="https://arxiv.org/abs/2105.08328" TargetMode="External"/><Relationship Id="rId9" Type="http://schemas.openxmlformats.org/officeDocument/2006/relationships/hyperlink" Target="https://arxiv.org/abs/2303.03381" TargetMode="External"/><Relationship Id="rId10" Type="http://schemas.openxmlformats.org/officeDocument/2006/relationships/hyperlink" Target="https://learning-humanoid-locomotion.github.io" TargetMode="External"/><Relationship Id="rId11" Type="http://schemas.openxmlformats.org/officeDocument/2006/relationships/hyperlink" Target="https://arxiv.org/abs/2401.16889" TargetMode="External"/><Relationship Id="rId12" Type="http://schemas.openxmlformats.org/officeDocument/2006/relationships/hyperlink" Target="https://github.com/HybridRobotics/cassie_rl_walking" TargetMode="External"/><Relationship Id="rId13" Type="http://schemas.openxmlformats.org/officeDocument/2006/relationships/hyperlink" Target="https://arxiv.org/abs/2402.16796" TargetMode="External"/><Relationship Id="rId14" Type="http://schemas.openxmlformats.org/officeDocument/2006/relationships/hyperlink" Target="https://github.com/chengxuxin/expressive-humanoid" TargetMode="External"/><Relationship Id="rId15" Type="http://schemas.openxmlformats.org/officeDocument/2006/relationships/hyperlink" Target="https://arxiv.org/abs/2402.19469" TargetMode="External"/><Relationship Id="rId16" Type="http://schemas.openxmlformats.org/officeDocument/2006/relationships/hyperlink" Target="https://humanoid-next-token-prediction.github.io" TargetMode="External"/><Relationship Id="rId17" Type="http://schemas.openxmlformats.org/officeDocument/2006/relationships/hyperlink" Target="https://arxiv.org/abs/2408.14472" TargetMode="External"/><Relationship Id="rId18" Type="http://schemas.openxmlformats.org/officeDocument/2006/relationships/hyperlink" Target="https://github.com/roboterax/humanoid-gym" TargetMode="External"/><Relationship Id="rId19" Type="http://schemas.openxmlformats.org/officeDocument/2006/relationships/hyperlink" Target="https://arxiv.org/abs/2403.04436" TargetMode="External"/><Relationship Id="rId20" Type="http://schemas.openxmlformats.org/officeDocument/2006/relationships/hyperlink" Target="https://github.com/LeCAR-Lab/human2humanoid" TargetMode="External"/><Relationship Id="rId21" Type="http://schemas.openxmlformats.org/officeDocument/2006/relationships/hyperlink" Target="https://arxiv.org/abs/2406.08858" TargetMode="External"/><Relationship Id="rId22" Type="http://schemas.openxmlformats.org/officeDocument/2006/relationships/hyperlink" Target="https://arxiv.org/abs/2406.10454" TargetMode="External"/><Relationship Id="rId23" Type="http://schemas.openxmlformats.org/officeDocument/2006/relationships/hyperlink" Target="https://github.com/MarkFzp/humanplus"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hyperlink" Target="https://arxiv.org/abs/2406.10759" TargetMode="External"/><Relationship Id="rId4" Type="http://schemas.openxmlformats.org/officeDocument/2006/relationships/hyperlink" Target="https://humanoid4parkour.github.io" TargetMode="External"/><Relationship Id="rId5" Type="http://schemas.openxmlformats.org/officeDocument/2006/relationships/hyperlink" Target="https://arxiv.org/abs/2407.21781" TargetMode="External"/><Relationship Id="rId6" Type="http://schemas.openxmlformats.org/officeDocument/2006/relationships/hyperlink" Target="https://github.com/HybridRobotics/isaac_berkeley_humanoid" TargetMode="External"/><Relationship Id="rId7" Type="http://schemas.openxmlformats.org/officeDocument/2006/relationships/hyperlink" Target="https://arxiv.org/abs/2410.03654" TargetMode="External"/><Relationship Id="rId8" Type="http://schemas.openxmlformats.org/officeDocument/2006/relationships/hyperlink" Target="https://humanoid-challenging-terrain.github.io" TargetMode="External"/><Relationship Id="rId9" Type="http://schemas.openxmlformats.org/officeDocument/2006/relationships/hyperlink" Target="https://www.agilityrobotics.com/content/crossing-sim2real-gap-with-isaaclab" TargetMode="External"/><Relationship Id="rId10" Type="http://schemas.openxmlformats.org/officeDocument/2006/relationships/hyperlink" Target="https://www.agilityrobotics.com/content/training-a-whole-body-control-foundation-model" TargetMode="External"/><Relationship Id="rId11" Type="http://schemas.openxmlformats.org/officeDocument/2006/relationships/hyperlink" Target="https://www.agilityrobotics.com/content/agility-and-ai" TargetMode="External"/><Relationship Id="rId12" Type="http://schemas.openxmlformats.org/officeDocument/2006/relationships/hyperlink" Target="https://arxiv.org/abs/2411.14386" TargetMode="External"/><Relationship Id="rId13" Type="http://schemas.openxmlformats.org/officeDocument/2006/relationships/hyperlink" Target="https://arxiv.org/abs/2412.13196" TargetMode="External"/><Relationship Id="rId14" Type="http://schemas.openxmlformats.org/officeDocument/2006/relationships/hyperlink" Target="https://exbody2.github.io" TargetMode="External"/><Relationship Id="rId15" Type="http://schemas.openxmlformats.org/officeDocument/2006/relationships/hyperlink" Target="https://arxiv.org/abs/2504.17249" TargetMode="External"/><Relationship Id="rId16" Type="http://schemas.openxmlformats.org/officeDocument/2006/relationships/hyperlink" Target="https://github.com/HybridRobotics/berkeley-humanoid-lite" TargetMode="External"/><Relationship Id="rId17" Type="http://schemas.openxmlformats.org/officeDocument/2006/relationships/hyperlink" Target="https://arxiv.org/abs/2505.03738" TargetMode="External"/><Relationship Id="rId18" Type="http://schemas.openxmlformats.org/officeDocument/2006/relationships/hyperlink" Target="https://github.com/OpenTeleVision/AMO" TargetMode="External"/><Relationship Id="rId19" Type="http://schemas.openxmlformats.org/officeDocument/2006/relationships/hyperlink" Target="https://arxiv.org/abs/2506.14770" TargetMode="External"/><Relationship Id="rId20" Type="http://schemas.openxmlformats.org/officeDocument/2006/relationships/hyperlink" Target="https://github.com/zixuan417/humanoid-general-motion-tracking" TargetMode="External"/><Relationship Id="rId21" Type="http://schemas.openxmlformats.org/officeDocument/2006/relationships/hyperlink" Target="https://arxiv.org/abs/2508.08241" TargetMode="External"/><Relationship Id="rId22" Type="http://schemas.openxmlformats.org/officeDocument/2006/relationships/hyperlink" Target="https://github.com/HybridRobotics/whole_body_tracking" TargetMode="External"/><Relationship Id="rId23" Type="http://schemas.openxmlformats.org/officeDocument/2006/relationships/hyperlink" Target="https://arxiv.org/abs/2609.18732" TargetMode="External"/><Relationship Id="rId24" Type="http://schemas.openxmlformats.org/officeDocument/2006/relationships/hyperlink" Target="https://galaxygeneralrobotics.github.io/PASSAGE/" TargetMode="External"/><Relationship Id="rId25" Type="http://schemas.openxmlformats.org/officeDocument/2006/relationships/hyperlink" Target="https://github.com/jizhang-cmu/autonomy_stack_diablo_setup"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hyperlink" Target="https://arxiv.org/abs/2508.07611" TargetMode="External"/><Relationship Id="rId4" Type="http://schemas.openxmlformats.org/officeDocument/2006/relationships/hyperlink" Target="https://arxiv.org/abs/2511.19709" TargetMode="External"/><Relationship Id="rId5" Type="http://schemas.openxmlformats.org/officeDocument/2006/relationships/hyperlink" Target="https://arxiv.org/abs/2601.12790" TargetMode="External"/><Relationship Id="rId6" Type="http://schemas.openxmlformats.org/officeDocument/2006/relationships/hyperlink" Target="https://arxiv.org/abs/2601.17440" TargetMode="External"/><Relationship Id="rId7" Type="http://schemas.openxmlformats.org/officeDocument/2006/relationships/hyperlink" Target="https://arxiv.org/abs/2604.07457" TargetMode="External"/><Relationship Id="rId8" Type="http://schemas.openxmlformats.org/officeDocument/2006/relationships/hyperlink" Target="https://shepherd1226.github.io/CMP/" TargetMode="External"/><Relationship Id="rId9" Type="http://schemas.openxmlformats.org/officeDocument/2006/relationships/hyperlink" Target="https://arxiv.org/abs/2606.00637" TargetMode="External"/><Relationship Id="rId10" Type="http://schemas.openxmlformats.org/officeDocument/2006/relationships/hyperlink" Target="https://arxiv.org/abs/2606.23249" TargetMode="External"/><Relationship Id="rId11" Type="http://schemas.openxmlformats.org/officeDocument/2006/relationships/hyperlink" Target="https://doi.org/10.1109/LRA.2026.3734869" TargetMode="External"/><Relationship Id="rId12" Type="http://schemas.openxmlformats.org/officeDocument/2006/relationships/hyperlink" Target="https://arxiv.org/abs/2610.24675" TargetMode="External"/><Relationship Id="rId13" Type="http://schemas.openxmlformats.org/officeDocument/2006/relationships/hyperlink" Target="https://fiberaa.github.io/"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hyperlink" Target="https://arxiv.org/abs/2603.09175" TargetMode="External"/><Relationship Id="rId4" Type="http://schemas.openxmlformats.org/officeDocument/2006/relationships/hyperlink" Target="https://arxiv.org/abs/2503.24381" TargetMode="External"/><Relationship Id="rId5" Type="http://schemas.openxmlformats.org/officeDocument/2006/relationships/hyperlink" Target="https://github.com/tasl-lab/uniocc" TargetMode="External"/><Relationship Id="rId6" Type="http://schemas.openxmlformats.org/officeDocument/2006/relationships/hyperlink" Target="https://huggingface.co/datasets/tasl-lab/uniocc" TargetMode="External"/><Relationship Id="rId7" Type="http://schemas.openxmlformats.org/officeDocument/2006/relationships/hyperlink" Target="https://arxiv.org/abs/2311.17663" TargetMode="External"/><Relationship Id="rId8" Type="http://schemas.openxmlformats.org/officeDocument/2006/relationships/hyperlink" Target="https://huggingface.co/datasets/leggedrobotics/grand_tour_dataset" TargetMode="External"/><Relationship Id="rId9" Type="http://schemas.openxmlformats.org/officeDocument/2006/relationships/hyperlink" Target="https://huggingface.co/datasets/leggedrobotics/navitrace" TargetMode="External"/><Relationship Id="rId10" Type="http://schemas.openxmlformats.org/officeDocument/2006/relationships/hyperlink" Target="https://huggingface.co/datasets/USC-GVL/humanoid-everyday" TargetMode="External"/><Relationship Id="rId11" Type="http://schemas.openxmlformats.org/officeDocument/2006/relationships/hyperlink" Target="https://huggingface.co/datasets/UniDataPro/egocentric-video"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hyperlink" Target="https://www.cocodelivery.com/blog/coco-robotics-launches-next-gen-autonomous-robots-for-urban-deliveries" TargetMode="External"/><Relationship Id="rId4" Type="http://schemas.openxmlformats.org/officeDocument/2006/relationships/hyperlink" Target="https://www.rivr.ai" TargetMode="External"/><Relationship Id="rId5" Type="http://schemas.openxmlformats.org/officeDocument/2006/relationships/hyperlink" Target="https://www.therobotreport.com/amazon-acquires-robotic-doorstep-delivery-provider-rivr/" TargetMode="External"/><Relationship Id="rId6" Type="http://schemas.openxmlformats.org/officeDocument/2006/relationships/hyperlink" Target="https://startupticker.ch/en/news/swiss-mile-launches-a-new-breed-of-robots-powered-by-ai" TargetMode="External"/><Relationship Id="rId7" Type="http://schemas.openxmlformats.org/officeDocument/2006/relationships/hyperlink" Target="https://www.skild.ai/blogs/s1" TargetMode="External"/><Relationship Id="rId8" Type="http://schemas.openxmlformats.org/officeDocument/2006/relationships/hyperlink" Target="https://www.skild.ai/blogs/building-the-general-purpose-robotic-brain" TargetMode="External"/><Relationship Id="rId9" Type="http://schemas.openxmlformats.org/officeDocument/2006/relationships/hyperlink" Target="https://www.skild.ai/blogs/one-policy-all-scenarios" TargetMode="External"/><Relationship Id="rId10" Type="http://schemas.openxmlformats.org/officeDocument/2006/relationships/hyperlink" Target="https://support.bostondynamics.com/s/article/About-the-Spot-Robot-72005" TargetMode="External"/><Relationship Id="rId11" Type="http://schemas.openxmlformats.org/officeDocument/2006/relationships/hyperlink" Target="https://bostondynamics.com/blog/making-atlas-see-the-world/" TargetMode="External"/><Relationship Id="rId12" Type="http://schemas.openxmlformats.org/officeDocument/2006/relationships/hyperlink" Target="https://www.anybotics.com/robotics/anymal/" TargetMode="External"/><Relationship Id="rId13" Type="http://schemas.openxmlformats.org/officeDocument/2006/relationships/hyperlink" Target="https://www.unitree.com/go2" TargetMode="External"/><Relationship Id="rId14" Type="http://schemas.openxmlformats.org/officeDocument/2006/relationships/hyperlink" Target="https://web.archive.org/web/20260118052322/https://www.unitree.com/go2" TargetMode="External"/><Relationship Id="rId15" Type="http://schemas.openxmlformats.org/officeDocument/2006/relationships/hyperlink" Target="https://www.unitree.com/g1" TargetMode="External"/><Relationship Id="rId16" Type="http://schemas.openxmlformats.org/officeDocument/2006/relationships/hyperlink" Target="https://www.unitree.com/h1" TargetMode="External"/><Relationship Id="rId17" Type="http://schemas.openxmlformats.org/officeDocument/2006/relationships/hyperlink" Target="https://github.com/unitreerobotics" TargetMode="External"/><Relationship Id="rId18" Type="http://schemas.openxmlformats.org/officeDocument/2006/relationships/hyperlink" Target="https://www.figure.ai/news/introducing-figure-03" TargetMode="External"/><Relationship Id="rId19" Type="http://schemas.openxmlformats.org/officeDocument/2006/relationships/hyperlink" Target="https://www.1x.tech/discover/neo-factory" TargetMode="External"/><Relationship Id="rId20" Type="http://schemas.openxmlformats.org/officeDocument/2006/relationships/hyperlink" Target="https://www.figure.ai/news/project-go-big" TargetMode="External"/><Relationship Id="rId21" Type="http://schemas.openxmlformats.org/officeDocument/2006/relationships/hyperlink" Target="https://www.figure.ai/news/reinforcement-learning-walking" TargetMode="External"/><Relationship Id="rId22" Type="http://schemas.openxmlformats.org/officeDocument/2006/relationships/hyperlink" Target="https://www.figure.ai/news/helix-2-5-zero-shot-30-home-generalization" TargetMode="External"/><Relationship Id="rId23" Type="http://schemas.openxmlformats.org/officeDocument/2006/relationships/hyperlink" Target="https://www.sunday.ai/blog/no-robot-data" TargetMode="External"/><Relationship Id="rId24" Type="http://schemas.openxmlformats.org/officeDocument/2006/relationships/hyperlink" Target="https://flexion.ai/news/flexion-reflect-v1.0" TargetMode="External"/><Relationship Id="rId25" Type="http://schemas.openxmlformats.org/officeDocument/2006/relationships/hyperlink" Target="https://flexion.ai/news/niantic-spatial-flexion-and-nvidia-closing-the-sim2real-gap-for-humanoids" TargetMode="External"/><Relationship Id="rId26" Type="http://schemas.openxmlformats.org/officeDocument/2006/relationships/hyperlink" Target="https://www.youtube.com/watch?v=1XtBPY4i780"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hyperlink" Target="https://www.realsenseai.com/news-insights/news/realsense-unveils-first-of-its-kind-humanoid-autonomous-navigation-at-nvidia-gtc/" TargetMode="External"/><Relationship Id="rId4" Type="http://schemas.openxmlformats.org/officeDocument/2006/relationships/hyperlink" Target="https://www.dyna.co/dyna-2.1"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hyperlink" Target="https://arxiv.org/abs/2409.17479" TargetMode="External"/><Relationship Id="rId4" Type="http://schemas.openxmlformats.org/officeDocument/2006/relationships/hyperlink" Target="https://2026.ieee-iros.org/program/paper-index/" TargetMode="External"/><Relationship Id="rId5" Type="http://schemas.openxmlformats.org/officeDocument/2006/relationships/hyperlink" Target="https://hdl.handle.net/10630/48147" TargetMode="External"/><Relationship Id="rId6" Type="http://schemas.openxmlformats.org/officeDocument/2006/relationships/hyperlink" Target="https://arxiv.org/abs/2610.16199" TargetMode="External"/><Relationship Id="rId7" Type="http://schemas.openxmlformats.org/officeDocument/2006/relationships/hyperlink" Target="https://arxiv.org/abs/2606.30754" TargetMode="External"/><Relationship Id="rId8" Type="http://schemas.openxmlformats.org/officeDocument/2006/relationships/hyperlink" Target="https://github.com/robot-learning-freiburg/LaGS" TargetMode="External"/><Relationship Id="rId9" Type="http://schemas.openxmlformats.org/officeDocument/2006/relationships/hyperlink" Target="https://arxiv.org/abs/2603.08521" TargetMode="External"/><Relationship Id="rId10" Type="http://schemas.openxmlformats.org/officeDocument/2006/relationships/hyperlink" Target="https://github.com/YouthZest-Lin/OccTrack360"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hyperlink" Target="https://app.notion.com/p/geonhee-lee/VLA-E2E-Learning-based-planning-Mobile-robot-346c5d39343d80f18d74f6efac4cc40a" TargetMode="External"/><Relationship Id="rId4" Type="http://schemas.openxmlformats.org/officeDocument/2006/relationships/hyperlink" Target="https://proceedings.neurips.cc/paper/2013/hash/af21d0c97db2e27e13572cbf59eb343d-Abstract.html" TargetMode="External"/><Relationship Id="rId5" Type="http://schemas.openxmlformats.org/officeDocument/2006/relationships/hyperlink" Target="https://arxiv.org/abs/1803.00567" TargetMode="External"/><Relationship Id="rId6" Type="http://schemas.openxmlformats.org/officeDocument/2006/relationships/hyperlink" Target="https://ziwon-park.com/" TargetMode="External"/><Relationship Id="rId7" Type="http://schemas.openxmlformats.org/officeDocument/2006/relationships/hyperlink" Target="https://dklee98.github.io/#highlights" TargetMode="External"/><Relationship Id="rId8" Type="http://schemas.openxmlformats.org/officeDocument/2006/relationships/hyperlink" Target="https://anahrendra.github.io/" TargetMode="External"/><Relationship Id="rId9" Type="http://schemas.openxmlformats.org/officeDocument/2006/relationships/hyperlink" Target="https://app.notion.com/p/geonhee-lee/VLA-E2E-Learning-based-planning-Mobile-robot-346c5d39343d80f18d74f6efac4cc40a#3e5c5d39343d8039bd36c32ec5418e7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참고문헌</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참고문헌 (§D)</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참고문헌 문서 · 탭 8개</a:t>
            </a:r>
          </a:p>
          <a:p>
            <a:r>
              <a:rPr sz="1250" b="0" i="0">
                <a:solidFill>
                  <a:srgbClr val="C9D1E0"/>
                </a:solidFill>
                <a:latin typeface="Arial"/>
                <a:ea typeface="Malgun Gothic"/>
                <a:cs typeface="Malgun Gothic"/>
              </a:rPr>
              <a:t>개요 · 인식 · Planner · Controller·안전 · 강화학습 · 모방 · 연구 그룹 · 로코모션·데이터·산업</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1 / 109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개요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2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D. 참고문헌</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 참고문헌</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 / 109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읽는 법.</a:t>
            </a:r>
            <a:r>
              <a:rPr sz="1050" b="0" i="0">
                <a:solidFill>
                  <a:srgbClr val="16213A"/>
                </a:solidFill>
                <a:latin typeface="Arial"/>
                <a:ea typeface="Malgun Gothic"/>
                <a:cs typeface="Malgun Gothic"/>
              </a:rPr>
              <a:t> 목록은 travplan 구조(인식 → Planner → Controller)를 따라 나눴다. 인식과 계획이 한 모델로 묶인 </a:t>
            </a:r>
            <a:r>
              <a:rPr sz="1050" b="1" i="0">
                <a:solidFill>
                  <a:srgbClr val="16213A"/>
                </a:solidFill>
                <a:latin typeface="Arial"/>
                <a:ea typeface="Malgun Gothic"/>
                <a:cs typeface="Malgun Gothic"/>
              </a:rPr>
              <a:t>E2E 연구</a:t>
            </a:r>
            <a:r>
              <a:rPr sz="1050" b="0" i="0">
                <a:solidFill>
                  <a:srgbClr val="16213A"/>
                </a:solidFill>
                <a:latin typeface="Arial"/>
                <a:ea typeface="Malgun Gothic"/>
                <a:cs typeface="Malgun Gothic"/>
              </a:rPr>
              <a:t>는 D.0에서 인식 부분과 플래너 부분으로 나눠 보고, travplan에 쓸 만한 쪽의 목록에 각각 올렸다. 목록의 </a:t>
            </a:r>
            <a:r>
              <a:rPr sz="1050" b="0" i="0">
                <a:solidFill>
                  <a:srgbClr val="16213A"/>
                </a:solidFill>
                <a:latin typeface="Consolas"/>
                <a:ea typeface="Malgun Gothic"/>
                <a:cs typeface="Malgun Gothic"/>
              </a:rPr>
              <a:t>E2E▸인식</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E2E▸플래너</a:t>
            </a:r>
            <a:r>
              <a:rPr sz="1050" b="0" i="0">
                <a:solidFill>
                  <a:srgbClr val="16213A"/>
                </a:solidFill>
                <a:latin typeface="Arial"/>
                <a:ea typeface="Malgun Gothic"/>
                <a:cs typeface="Malgun Gothic"/>
              </a:rPr>
              <a:t> 표시가 그 항목이다. "본문" 칸은 이 문서에서 다룬 절이다. 연·월은 arXiv 첫 게재 기준이고, 학회·저널은 확인한 것만 적었다.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목차: D.0 E2E 분해 · D.1 지형·traversability·중간 표현(A.10) · D.2 Occupancy · D.3 예측(occupancy flow·world model· 행위자) · D.3b 인식 마일스톤·시각 기반 모델·동적 장애물 · D.4 학습 Planner · D.4b 비학습 위험 인지 경로 계획 · D.5 생성형 궤적 Planner · D.5b 고전 기준선·마일스톤·VLA·E2E 주행 · D.5c 로봇별 오픈소스 스택 · D.6 Controller(참고) · D.7 안전 필터 · D.7b Controller·안전 마일스톤 · </a:t>
            </a:r>
            <a:r>
              <a:rPr sz="1050" b="1" i="0">
                <a:solidFill>
                  <a:srgbClr val="16213A"/>
                </a:solidFill>
                <a:latin typeface="Arial"/>
                <a:ea typeface="Malgun Gothic"/>
                <a:cs typeface="Malgun Gothic"/>
              </a:rPr>
              <a:t>D.14 강화학습</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D.15 딥러닝</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D.16 모방</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D.13 연구 그룹과 사람</a:t>
            </a:r>
            <a:r>
              <a:rPr sz="1050" b="0" i="0">
                <a:solidFill>
                  <a:srgbClr val="16213A"/>
                </a:solidFill>
                <a:latin typeface="Arial"/>
                <a:ea typeface="Malgun Gothic"/>
                <a:cs typeface="Malgun Gothic"/>
              </a:rPr>
              <a:t> · D.8 로코모션·시스템 스택 · D.9 데이터셋·벤치마크 · D.10 벤더·산업 자료 · D.12 IROS 2026 수확 · D.11 기타 (시뮬레이션 참고문헌은 시뮬레이션 문서의 S.8에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4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D.1 인식 — 지형·traversability·중간 표현</a:t>
            </a:r>
          </a:p>
          <a:p>
            <a:pPr>
              <a:spcAft>
                <a:spcPts val="400"/>
              </a:spcAft>
            </a:pPr>
            <a:r>
              <a:rPr sz="1000" b="0" i="0">
                <a:solidFill>
                  <a:srgbClr val="C9D1E0"/>
                </a:solidFill>
                <a:latin typeface="Arial"/>
                <a:ea typeface="Malgun Gothic"/>
                <a:cs typeface="Malgun Gothic"/>
              </a:rPr>
              <a:t>D.2 인식 — Occupancy</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D.3 인식 — 예측: occupancy flow·world model·행위자</a:t>
            </a:r>
          </a:p>
          <a:p>
            <a:pPr>
              <a:spcAft>
                <a:spcPts val="400"/>
              </a:spcAft>
            </a:pPr>
            <a:r>
              <a:rPr sz="1000" b="0" i="0">
                <a:solidFill>
                  <a:srgbClr val="C9D1E0"/>
                </a:solidFill>
                <a:latin typeface="Arial"/>
                <a:ea typeface="Malgun Gothic"/>
                <a:cs typeface="Malgun Gothic"/>
              </a:rPr>
              <a:t>D.3b 인식 — 마일스톤, 시각 기반 모델, 동적 장애물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 / 109</a:t>
            </a:r>
          </a:p>
        </p:txBody>
      </p:sp>
      <p:graphicFrame>
        <p:nvGraphicFramePr>
          <p:cNvPr id="5" name="Table 4"/>
          <p:cNvGraphicFramePr>
            <a:graphicFrameLocks noGrp="1"/>
          </p:cNvGraphicFramePr>
          <p:nvPr/>
        </p:nvGraphicFramePr>
        <p:xfrm>
          <a:off x="609600" y="1244600"/>
          <a:ext cx="10966945" cy="3605448"/>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SEB-Naver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IROS 2025</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지상 비평탄 지형</a:t>
                      </a:r>
                      <a:r>
                        <a:rPr sz="800" b="0" i="0">
                          <a:solidFill>
                            <a:srgbClr val="16213A"/>
                          </a:solidFill>
                          <a:latin typeface="Arial"/>
                          <a:ea typeface="Malgun Gothic"/>
                          <a:cs typeface="Malgun Gothic"/>
                        </a:rPr>
                        <a:t>: SE(2) 위험 지도를 GPU로 만들고 Felzenszwalb SDF를 얹는다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EGO-Planner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2020.08 · RA-L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ESDF를 없애고 제어점마다 앵커 반공간으로 거리·경사를 만든다. ESDF 5.07 ms 대 앵커 0.37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FIESTA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2019.03 · IROS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 ESDF 증분 유지(두 큐 + 최근접 장애물 이중 연결 리스트). BFS 갱신은 정확할 수 없음을 스스로 증명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Fast-Planner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2019.07 · RA-L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log-odds 점유 격자 + 바뀐 셀 AABB에만 Felzenszwalb EDT(양·음 2패스)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RC-ESDF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IROS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거리장을 환경이 아니라 </a:t>
                      </a:r>
                      <a:r>
                        <a:rPr sz="800" b="1" i="0">
                          <a:solidFill>
                            <a:srgbClr val="16213A"/>
                          </a:solidFill>
                          <a:latin typeface="Arial"/>
                          <a:ea typeface="Malgun Gothic"/>
                          <a:cs typeface="Malgun Gothic"/>
                        </a:rPr>
                        <a:t>로봇 몸체 좌표계</a:t>
                      </a:r>
                      <a:r>
                        <a:rPr sz="800" b="0" i="0">
                          <a:solidFill>
                            <a:srgbClr val="16213A"/>
                          </a:solidFill>
                          <a:latin typeface="Arial"/>
                          <a:ea typeface="Malgun Gothic"/>
                          <a:cs typeface="Malgun Gothic"/>
                        </a:rPr>
                        <a:t>에 오프라인으로. whole-body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ROG-Map </a:t>
                      </a:r>
                      <a:r>
                        <a:rPr sz="800" b="0" i="1">
                          <a:solidFill>
                            <a:srgbClr val="16213A"/>
                          </a:solidFill>
                          <a:latin typeface="Arial"/>
                          <a:ea typeface="Malgun Gothic"/>
                          <a:cs typeface="Malgun Gothic"/>
                        </a:rPr>
                        <a:t>(Fei Gao 아님)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2023.02 · IROS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robocentric 슬라이딩 격자, O(n) 증분 팽창, Unknown을 별도 상태로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Frozone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2020.03 · RA-L 5(3):4352</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Freezing Rate</a:t>
                      </a:r>
                      <a:r>
                        <a:rPr sz="800" b="1" i="0">
                          <a:solidFill>
                            <a:srgbClr val="C2410C"/>
                          </a:solidFill>
                          <a:latin typeface="Arial"/>
                          <a:ea typeface="Malgun Gothic"/>
                          <a:cs typeface="Malgun Gothic"/>
                        </a:rPr>
                        <a:t> 정의</a:t>
                      </a:r>
                      <a:r>
                        <a:rPr sz="800" b="0" i="0">
                          <a:solidFill>
                            <a:srgbClr val="16213A"/>
                          </a:solidFill>
                          <a:latin typeface="Arial"/>
                          <a:ea typeface="Malgun Gothic"/>
                          <a:cs typeface="Malgun Gothic"/>
                        </a:rPr>
                        <a:t>(10초 넘게 멈추거나 진동한 비율). </a:t>
                      </a:r>
                      <a:r>
                        <a:rPr sz="800" b="1" i="0">
                          <a:solidFill>
                            <a:srgbClr val="16213A"/>
                          </a:solidFill>
                          <a:latin typeface="Arial"/>
                          <a:ea typeface="Malgun Gothic"/>
                          <a:cs typeface="Malgun Gothic"/>
                        </a:rPr>
                        <a:t>정면 3 m 조우에서 기존 방법이 100 % 얼어붙는다</a:t>
                      </a:r>
                      <a:r>
                        <a:rPr sz="800" b="0" i="0">
                          <a:solidFill>
                            <a:srgbClr val="16213A"/>
                          </a:solidFill>
                          <a:latin typeface="Arial"/>
                          <a:ea typeface="Malgun Gothic"/>
                          <a:cs typeface="Malgun Gothic"/>
                        </a:rPr>
                        <a:t> — travplan 게이트에 없는 지표이자 없는 시나리오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BRNE (Sun·Baldini·Hughes·</a:t>
                      </a:r>
                      <a:r>
                        <a:rPr sz="800" b="1" i="0">
                          <a:solidFill>
                            <a:srgbClr val="16213A"/>
                          </a:solidFill>
                          <a:latin typeface="Arial"/>
                          <a:ea typeface="Malgun Gothic"/>
                          <a:cs typeface="Malgun Gothic"/>
                        </a:rPr>
                        <a:t>Trautman</a:t>
                      </a:r>
                      <a:r>
                        <a:rPr sz="800" b="0" i="0">
                          <a:solidFill>
                            <a:srgbClr val="16213A"/>
                          </a:solidFill>
                          <a:latin typeface="Arial"/>
                          <a:ea typeface="Malgun Gothic"/>
                          <a:cs typeface="Malgun Gothic"/>
                        </a:rPr>
                        <a:t>·Murphey)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2024.03 · IJRR</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2010년 FRP 논문 저자의 14년 뒤 답.</a:t>
                      </a:r>
                      <a:r>
                        <a:rPr sz="800" b="0" i="0">
                          <a:solidFill>
                            <a:srgbClr val="16213A"/>
                          </a:solidFill>
                          <a:latin typeface="Arial"/>
                          <a:ea typeface="Malgun Gothic"/>
                          <a:cs typeface="Malgun Gothic"/>
                        </a:rPr>
                        <a:t> 로봇 계획과 보행자 예측을 </a:t>
                      </a:r>
                      <a:r>
                        <a:rPr sz="800" b="1" i="0">
                          <a:solidFill>
                            <a:srgbClr val="16213A"/>
                          </a:solidFill>
                          <a:latin typeface="Arial"/>
                          <a:ea typeface="Malgun Gothic"/>
                          <a:cs typeface="Malgun Gothic"/>
                        </a:rPr>
                        <a:t>동시에</a:t>
                      </a:r>
                      <a:r>
                        <a:rPr sz="800" b="0" i="0">
                          <a:solidFill>
                            <a:srgbClr val="16213A"/>
                          </a:solidFill>
                          <a:latin typeface="Arial"/>
                          <a:ea typeface="Malgun Gothic"/>
                          <a:cs typeface="Malgun Gothic"/>
                        </a:rPr>
                        <a:t> 생성하는 베이즈 반복 = 혼합전략 내시 균형. 사족 온보드 실시간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SICNav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2023.10 · IEEE T-RO</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보행자가 ORCA를 따른다고 보고 그 모델을 MPC 제약으로 박는다</a:t>
                      </a:r>
                      <a:r>
                        <a:rPr sz="800" b="1" i="0">
                          <a:solidFill>
                            <a:srgbClr val="C2410C"/>
                          </a:solidFill>
                          <a:latin typeface="Arial"/>
                          <a:ea typeface="Malgun Gothic"/>
                          <a:cs typeface="Malgun Gothic"/>
                        </a:rPr>
                        <a:t>(이중수준, KKT 재정식화).</a:t>
                      </a:r>
                      <a:r>
                        <a:rPr sz="800" b="0" i="0">
                          <a:solidFill>
                            <a:srgbClr val="16213A"/>
                          </a:solidFill>
                          <a:latin typeface="Arial"/>
                          <a:ea typeface="Malgun Gothic"/>
                          <a:cs typeface="Malgun Gothic"/>
                        </a:rPr>
                        <a:t> 결합 예측-계획의 가장 값싼 구현 경로 — acados 트랙에 직결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TP-0090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SACSoN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2023.06 · RA-L</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반사실 목적함수: </a:t>
                      </a:r>
                      <a:r>
                        <a:rPr sz="800" b="1" i="1">
                          <a:solidFill>
                            <a:srgbClr val="C2410C"/>
                          </a:solidFill>
                          <a:latin typeface="Arial"/>
                          <a:ea typeface="Malgun Gothic"/>
                          <a:cs typeface="Malgun Gothic"/>
                        </a:rPr>
                        <a:t>"if the robot had not intruded, would the human have acted the same way?"</a:t>
                      </a:r>
                      <a:r>
                        <a:rPr sz="800" b="0" i="0">
                          <a:solidFill>
                            <a:srgbClr val="16213A"/>
                          </a:solidFill>
                          <a:latin typeface="Arial"/>
                          <a:ea typeface="Malgun Gothic"/>
                          <a:cs typeface="Malgun Gothic"/>
                        </a:rPr>
                        <a:t> — "적절히 양보했는가"의 형식적 정의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Fla. Stat. § 316.2071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동등 권리를 주되 </a:t>
                      </a:r>
                      <a:r>
                        <a:rPr sz="800" b="1" i="0">
                          <a:solidFill>
                            <a:srgbClr val="C2410C"/>
                          </a:solidFill>
                          <a:latin typeface="Arial"/>
                          <a:ea typeface="Malgun Gothic"/>
                          <a:cs typeface="Malgun Gothic"/>
                        </a:rPr>
                        <a:t>거기서 로봇을 다시 빼내어</a:t>
                      </a:r>
                      <a:r>
                        <a:rPr sz="800" b="1" i="0">
                          <a:solidFill>
                            <a:srgbClr val="C2410C"/>
                          </a:solidFill>
                          <a:latin typeface="Arial"/>
                          <a:ea typeface="Malgun Gothic"/>
                          <a:cs typeface="Malgun Gothic"/>
                        </a:rPr>
                        <a:t> "must yield the right-of-way to pedestrians"를 덧붙인다.</a:t>
                      </a:r>
                      <a:r>
                        <a:rPr sz="800" b="0" i="0">
                          <a:solidFill>
                            <a:srgbClr val="16213A"/>
                          </a:solidFill>
                          <a:latin typeface="Arial"/>
                          <a:ea typeface="Malgun Gothic"/>
                          <a:cs typeface="Malgun Gothic"/>
                        </a:rPr>
                        <a:t> 버지니아는 동등 취급만 하고 </a:t>
                      </a:r>
                      <a:r>
                        <a:rPr sz="800" b="0" i="0">
                          <a:solidFill>
                            <a:srgbClr val="16213A"/>
                          </a:solidFill>
                          <a:latin typeface="Consolas"/>
                          <a:ea typeface="Malgun Gothic"/>
                          <a:cs typeface="Malgun Gothic"/>
                        </a:rPr>
                        <a:t>yield</a:t>
                      </a:r>
                      <a:r>
                        <a:rPr sz="800" b="0" i="0">
                          <a:solidFill>
                            <a:srgbClr val="16213A"/>
                          </a:solidFill>
                          <a:latin typeface="Arial"/>
                          <a:ea typeface="Malgun Gothic"/>
                          <a:cs typeface="Malgun Gothic"/>
                        </a:rPr>
                        <a:t> 0회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원문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Tex. Transp. Code Ch. 552A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 · S.B. 969</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보도 배달로봇에 </a:t>
                      </a:r>
                      <a:r>
                        <a:rPr sz="800" b="1" i="0">
                          <a:solidFill>
                            <a:srgbClr val="C2410C"/>
                          </a:solidFill>
                          <a:latin typeface="Arial"/>
                          <a:ea typeface="Malgun Gothic"/>
                          <a:cs typeface="Malgun Gothic"/>
                        </a:rPr>
                        <a:t>"yield the right-of-way to all other traffic, including pedestrians"</a:t>
                      </a:r>
                      <a:r>
                        <a:rPr sz="800" b="1" i="0">
                          <a:solidFill>
                            <a:srgbClr val="C2410C"/>
                          </a:solidFill>
                          <a:latin typeface="Arial"/>
                          <a:ea typeface="Malgun Gothic"/>
                          <a:cs typeface="Malgun Gothic"/>
                        </a:rPr>
                        <a:t>를 법으로 명령</a:t>
                      </a:r>
                      <a:r>
                        <a:rPr sz="800" b="0" i="0">
                          <a:solidFill>
                            <a:srgbClr val="16213A"/>
                          </a:solidFill>
                          <a:latin typeface="Arial"/>
                          <a:ea typeface="Malgun Gothic"/>
                          <a:cs typeface="Malgun Gothic"/>
                        </a:rPr>
                        <a:t> . 보행자 구역 10 mph(지자체 하향 시 7 mph 하한), 제동 장치 의무. </a:t>
                      </a:r>
                      <a:r>
                        <a:rPr sz="800" b="1" i="0">
                          <a:solidFill>
                            <a:srgbClr val="16213A"/>
                          </a:solidFill>
                          <a:latin typeface="Arial"/>
                          <a:ea typeface="Malgun Gothic"/>
                          <a:cs typeface="Malgun Gothic"/>
                        </a:rPr>
                        <a:t>중량 제한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원문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Starship EP 3 679 441 B1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 우선권 · 2023 등록</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업계에서 나온 유일한 기술 문서.</a:t>
                      </a:r>
                      <a:r>
                        <a:rPr sz="800" b="0" i="0">
                          <a:solidFill>
                            <a:srgbClr val="16213A"/>
                          </a:solidFill>
                          <a:latin typeface="Arial"/>
                          <a:ea typeface="Malgun Gothic"/>
                          <a:cs typeface="Malgun Gothic"/>
                        </a:rPr>
                        <a:t> 진입 go/no-go + 주행 중 </a:t>
                      </a:r>
                      <a:r>
                        <a:rPr sz="800" b="1" i="0">
                          <a:solidFill>
                            <a:srgbClr val="16213A"/>
                          </a:solidFill>
                          <a:latin typeface="Arial"/>
                          <a:ea typeface="Malgun Gothic"/>
                          <a:cs typeface="Malgun Gothic"/>
                        </a:rPr>
                        <a:t>중단·후진</a:t>
                      </a:r>
                      <a:r>
                        <a:rPr sz="800" b="0" i="0">
                          <a:solidFill>
                            <a:srgbClr val="16213A"/>
                          </a:solidFill>
                          <a:latin typeface="Arial"/>
                          <a:ea typeface="Malgun Gothic"/>
                          <a:cs typeface="Malgun Gothic"/>
                        </a:rPr>
                        <a:t> 분기(후방 여유 조건, 최대 1.5 m). 위험 판정이 </a:t>
                      </a:r>
                      <a:r>
                        <a:rPr sz="800" b="0" i="1">
                          <a:solidFill>
                            <a:srgbClr val="16213A"/>
                          </a:solidFill>
                          <a:latin typeface="Arial"/>
                          <a:ea typeface="Malgun Gothic"/>
                          <a:cs typeface="Malgun Gothic"/>
                        </a:rPr>
                        <a:t>"an approaching object that is </a:t>
                      </a:r>
                      <a:r>
                        <a:rPr sz="800" b="0" i="1">
                          <a:solidFill>
                            <a:srgbClr val="16213A"/>
                          </a:solidFill>
                          <a:latin typeface="Arial"/>
                          <a:ea typeface="Malgun Gothic"/>
                          <a:cs typeface="Malgun Gothic"/>
                        </a:rPr>
                        <a:t>not decelerating</a:t>
                      </a:r>
                      <a:r>
                        <a:rPr sz="800" b="0" i="1">
                          <a:solidFill>
                            <a:srgbClr val="16213A"/>
                          </a:solidFill>
                          <a:latin typeface="Arial"/>
                          <a:ea typeface="Malgun Gothic"/>
                          <a:cs typeface="Malgun Gothic"/>
                        </a:rPr>
                        <a:t>"</a:t>
                      </a:r>
                      <a:r>
                        <a:rPr sz="800" b="0" i="0">
                          <a:solidFill>
                            <a:srgbClr val="16213A"/>
                          </a:solidFill>
                          <a:latin typeface="Arial"/>
                          <a:ea typeface="Malgun Gothic"/>
                          <a:cs typeface="Malgun Gothic"/>
                        </a:rPr>
                        <a:t> ⚠️ </a:t>
                      </a:r>
                      <a:r>
                        <a:rPr sz="800" b="1" i="0">
                          <a:solidFill>
                            <a:srgbClr val="16213A"/>
                          </a:solidFill>
                          <a:latin typeface="Arial"/>
                          <a:ea typeface="Malgun Gothic"/>
                          <a:cs typeface="Malgun Gothic"/>
                        </a:rPr>
                        <a:t>자동차에게</a:t>
                      </a:r>
                      <a:r>
                        <a:rPr sz="800" b="0" i="0">
                          <a:solidFill>
                            <a:srgbClr val="16213A"/>
                          </a:solidFill>
                          <a:latin typeface="Arial"/>
                          <a:ea typeface="Malgun Gothic"/>
                          <a:cs typeface="Malgun Gothic"/>
                        </a:rPr>
                        <a:t> 양보하는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EPO 원문</a:t>
                      </a:r>
                    </a:p>
                  </a:txBody>
                  <a:tcPr marL="63500" marR="63500" marT="12700" marB="12700">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 / 109</a:t>
            </a:r>
          </a:p>
        </p:txBody>
      </p:sp>
      <p:graphicFrame>
        <p:nvGraphicFramePr>
          <p:cNvPr id="5" name="Table 4"/>
          <p:cNvGraphicFramePr>
            <a:graphicFrameLocks noGrp="1"/>
          </p:cNvGraphicFramePr>
          <p:nvPr/>
        </p:nvGraphicFramePr>
        <p:xfrm>
          <a:off x="609600" y="1244600"/>
          <a:ext cx="10966945" cy="3573936"/>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SA-CADRL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2017.03 · ICRA 2017</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"passing on the right and overtaking on the left"</a:t>
                      </a:r>
                      <a:r>
                        <a:rPr sz="800" b="0" i="0">
                          <a:solidFill>
                            <a:srgbClr val="16213A"/>
                          </a:solidFill>
                          <a:latin typeface="Arial"/>
                          <a:ea typeface="Malgun Gothic"/>
                          <a:cs typeface="Malgun Gothic"/>
                        </a:rPr>
                        <a:t>를 반평면 페널티로. </a:t>
                      </a:r>
                      <a:r>
                        <a:rPr sz="800" b="1" i="0">
                          <a:solidFill>
                            <a:srgbClr val="C2410C"/>
                          </a:solidFill>
                          <a:latin typeface="Arial"/>
                          <a:ea typeface="Malgun Gothic"/>
                          <a:cs typeface="Malgun Gothic"/>
                        </a:rPr>
                        <a:t>Norm preference (%)</a:t>
                      </a:r>
                      <a:r>
                        <a:rPr sz="800" b="1" i="0">
                          <a:solidFill>
                            <a:srgbClr val="C2410C"/>
                          </a:solidFill>
                          <a:latin typeface="Arial"/>
                          <a:ea typeface="Malgun Gothic"/>
                          <a:cs typeface="Malgun Gothic"/>
                        </a:rPr>
                        <a:t>가 곧 지나가는 쪽 준수 지표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Multi-agent path topology (Mavrogiannis &amp; Knepper)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 · IJRR 38(2-3):338</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위상 브레이드</a:t>
                      </a:r>
                      <a:r>
                        <a:rPr sz="800" b="1" i="0">
                          <a:solidFill>
                            <a:srgbClr val="C2410C"/>
                          </a:solidFill>
                          <a:latin typeface="Arial"/>
                          <a:ea typeface="Malgun Gothic"/>
                          <a:cs typeface="Malgun Gothic"/>
                        </a:rPr>
                        <a:t>로 지나가는 쪽을 이산 클래스화</a:t>
                      </a:r>
                      <a:r>
                        <a:rPr sz="800" b="0" i="0">
                          <a:solidFill>
                            <a:srgbClr val="16213A"/>
                          </a:solidFill>
                          <a:latin typeface="Arial"/>
                          <a:ea typeface="Malgun Gothic"/>
                          <a:cs typeface="Malgun Gothic"/>
                        </a:rPr>
                        <a:t>하고 관측으로 집단 전략을 추론 — Apollo의 "이산 결정 + 연속 최적화"와 같은 구조. ⚠️ arXiv에 없음(</a:t>
                      </a:r>
                      <a:r>
                        <a:rPr sz="800" b="0" i="0">
                          <a:solidFill>
                            <a:srgbClr val="16213A"/>
                          </a:solidFill>
                          <a:latin typeface="Consolas"/>
                          <a:ea typeface="Malgun Gothic"/>
                          <a:cs typeface="Malgun Gothic"/>
                        </a:rPr>
                        <a:t>1906.11251</a:t>
                      </a:r>
                      <a:r>
                        <a:rPr sz="800" b="0" i="0">
                          <a:solidFill>
                            <a:srgbClr val="16213A"/>
                          </a:solidFill>
                          <a:latin typeface="Arial"/>
                          <a:ea typeface="Malgun Gothic"/>
                          <a:cs typeface="Malgun Gothic"/>
                        </a:rPr>
                        <a:t>은 물리학 논문이다)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Conflict Avoidance in Social Navigation (Mirsky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2021.06 · ACM THRI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충돌 회피 전용 서베이인데 </a:t>
                      </a:r>
                      <a:r>
                        <a:rPr sz="800" b="0" i="0">
                          <a:solidFill>
                            <a:srgbClr val="16213A"/>
                          </a:solidFill>
                          <a:latin typeface="Consolas"/>
                          <a:ea typeface="Malgun Gothic"/>
                          <a:cs typeface="Malgun Gothic"/>
                        </a:rPr>
                        <a:t>right of way</a:t>
                      </a:r>
                      <a:r>
                        <a:rPr sz="800" b="0" i="0">
                          <a:solidFill>
                            <a:srgbClr val="16213A"/>
                          </a:solidFill>
                          <a:latin typeface="Arial"/>
                          <a:ea typeface="Malgun Gothic"/>
                          <a:cs typeface="Malgun Gothic"/>
                        </a:rPr>
                        <a:t> 0회, </a:t>
                      </a:r>
                      <a:r>
                        <a:rPr sz="800" b="0" i="0">
                          <a:solidFill>
                            <a:srgbClr val="16213A"/>
                          </a:solidFill>
                          <a:latin typeface="Consolas"/>
                          <a:ea typeface="Malgun Gothic"/>
                          <a:cs typeface="Malgun Gothic"/>
                        </a:rPr>
                        <a:t>priority</a:t>
                      </a:r>
                      <a:r>
                        <a:rPr sz="800" b="0" i="0">
                          <a:solidFill>
                            <a:srgbClr val="16213A"/>
                          </a:solidFill>
                          <a:latin typeface="Arial"/>
                          <a:ea typeface="Malgun Gothic"/>
                          <a:cs typeface="Malgun Gothic"/>
                        </a:rPr>
                        <a:t> 0회 — 이 분야에 통행 우선권 어휘가 없다는 증거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보도 로봇-보행자 상호작용 실측 (Gehrke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TRIP 18:100789</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보도 배달로봇 충돌 위험을 정량화한 </a:t>
                      </a:r>
                      <a:r>
                        <a:rPr sz="800" b="1" i="0">
                          <a:solidFill>
                            <a:srgbClr val="C2410C"/>
                          </a:solidFill>
                          <a:latin typeface="Arial"/>
                          <a:ea typeface="Malgun Gothic"/>
                          <a:cs typeface="Malgun Gothic"/>
                        </a:rPr>
                        <a:t>유일한</a:t>
                      </a:r>
                      <a:r>
                        <a:rPr sz="800" b="1" i="0">
                          <a:solidFill>
                            <a:srgbClr val="C2410C"/>
                          </a:solidFill>
                          <a:latin typeface="Arial"/>
                          <a:ea typeface="Malgun Gothic"/>
                          <a:cs typeface="Malgun Gothic"/>
                        </a:rPr>
                        <a:t> 연구.</a:t>
                      </a:r>
                      <a:r>
                        <a:rPr sz="800" b="0" i="0">
                          <a:solidFill>
                            <a:srgbClr val="16213A"/>
                          </a:solidFill>
                          <a:latin typeface="Arial"/>
                          <a:ea typeface="Malgun Gothic"/>
                          <a:cs typeface="Malgun Gothic"/>
                        </a:rPr>
                        <a:t> 지표는 post-encroachment time이고 </a:t>
                      </a:r>
                      <a:r>
                        <a:rPr sz="800" b="1" i="0">
                          <a:solidFill>
                            <a:srgbClr val="16213A"/>
                          </a:solidFill>
                          <a:latin typeface="Arial"/>
                          <a:ea typeface="Malgun Gothic"/>
                          <a:cs typeface="Malgun Gothic"/>
                        </a:rPr>
                        <a:t>양보율 수치는 아니다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Sharing the Sidewalk (Weinberg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MTI 7(5):53</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피츠버그시(DOMI) </a:t>
                      </a:r>
                      <a:r>
                        <a:rPr sz="800" b="1" i="0">
                          <a:solidFill>
                            <a:srgbClr val="C2410C"/>
                          </a:solidFill>
                          <a:latin typeface="Arial"/>
                          <a:ea typeface="Malgun Gothic"/>
                          <a:cs typeface="Malgun Gothic"/>
                        </a:rPr>
                        <a:t>Kiwibot</a:t>
                      </a:r>
                      <a:r>
                        <a:rPr sz="800" b="1" i="0">
                          <a:solidFill>
                            <a:srgbClr val="C2410C"/>
                          </a:solidFill>
                          <a:latin typeface="Arial"/>
                          <a:ea typeface="Malgun Gothic"/>
                          <a:cs typeface="Malgun Gothic"/>
                        </a:rPr>
                        <a:t> 파일럿의 민족지 관찰 — 상용 로봇의 </a:t>
                      </a:r>
                      <a:r>
                        <a:rPr sz="800" b="1" i="0">
                          <a:solidFill>
                            <a:srgbClr val="C2410C"/>
                          </a:solidFill>
                          <a:latin typeface="Arial"/>
                          <a:ea typeface="Malgun Gothic"/>
                          <a:cs typeface="Malgun Gothic"/>
                        </a:rPr>
                        <a:t>stop-and-wait 얼어붙기</a:t>
                      </a:r>
                      <a:r>
                        <a:rPr sz="800" b="1" i="0">
                          <a:solidFill>
                            <a:srgbClr val="C2410C"/>
                          </a:solidFill>
                          <a:latin typeface="Arial"/>
                          <a:ea typeface="Malgun Gothic"/>
                          <a:cs typeface="Malgun Gothic"/>
                        </a:rPr>
                        <a:t>를 보도에서 기록한 유일한 문헌.</a:t>
                      </a:r>
                      <a:r>
                        <a:rPr sz="800" b="0" i="0">
                          <a:solidFill>
                            <a:srgbClr val="16213A"/>
                          </a:solidFill>
                          <a:latin typeface="Arial"/>
                          <a:ea typeface="Malgun Gothic"/>
                          <a:cs typeface="Malgun Gothic"/>
                        </a:rPr>
                        <a:t> 본문에 </a:t>
                      </a:r>
                      <a:r>
                        <a:rPr sz="800" b="0" i="0">
                          <a:solidFill>
                            <a:srgbClr val="16213A"/>
                          </a:solidFill>
                          <a:latin typeface="Consolas"/>
                          <a:ea typeface="Malgun Gothic"/>
                          <a:cs typeface="Malgun Gothic"/>
                        </a:rPr>
                        <a:t>yield</a:t>
                      </a:r>
                      <a:r>
                        <a:rPr sz="800" b="0" i="0">
                          <a:solidFill>
                            <a:srgbClr val="16213A"/>
                          </a:solidFill>
                          <a:latin typeface="Arial"/>
                          <a:ea typeface="Malgun Gothic"/>
                          <a:cs typeface="Malgun Gothic"/>
                        </a:rPr>
                        <a:t> 0회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Accessibility and The Crowded Sidewalk (Bennett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 · ACM DIS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마이크로모빌리티가 공공 공간 접근성에 주는 영향. </a:t>
                      </a:r>
                      <a:r>
                        <a:rPr sz="800" b="1" i="0">
                          <a:solidFill>
                            <a:srgbClr val="C2410C"/>
                          </a:solidFill>
                          <a:latin typeface="Arial"/>
                          <a:ea typeface="Malgun Gothic"/>
                          <a:cs typeface="Malgun Gothic"/>
                        </a:rPr>
                        <a:t>휠체어 이용자가 로봇에 막힌 사건을 동료평가 문헌으로 다룬 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Autoware velocity_smoother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소스 확인 2026-09-30</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모듈은 </a:t>
                      </a:r>
                      <a:r>
                        <a:rPr sz="800" b="1" i="0">
                          <a:solidFill>
                            <a:srgbClr val="C2410C"/>
                          </a:solidFill>
                          <a:latin typeface="Arial"/>
                          <a:ea typeface="Malgun Gothic"/>
                          <a:cs typeface="Malgun Gothic"/>
                        </a:rPr>
                        <a:t>속도 상한·정지점만 꽂고</a:t>
                      </a:r>
                      <a:r>
                        <a:rPr sz="800" b="1" i="0">
                          <a:solidFill>
                            <a:srgbClr val="C2410C"/>
                          </a:solidFill>
                          <a:latin typeface="Arial"/>
                          <a:ea typeface="Malgun Gothic"/>
                          <a:cs typeface="Malgun Gothic"/>
                        </a:rPr>
                        <a:t>, 저크 제한 QP 하나가 </a:t>
                      </a:r>
                      <a:r>
                        <a:rPr sz="800" b="1" i="1">
                          <a:solidFill>
                            <a:srgbClr val="C2410C"/>
                          </a:solidFill>
                          <a:latin typeface="Arial"/>
                          <a:ea typeface="Malgun Gothic"/>
                          <a:cs typeface="Malgun Gothic"/>
                        </a:rPr>
                        <a:t>s</a:t>
                      </a:r>
                      <a:r>
                        <a:rPr sz="800" b="1" i="0">
                          <a:solidFill>
                            <a:srgbClr val="C2410C"/>
                          </a:solidFill>
                          <a:latin typeface="Arial"/>
                          <a:ea typeface="Malgun Gothic"/>
                          <a:cs typeface="Malgun Gothic"/>
                        </a:rPr>
                        <a:t>축으로 거꾸로 전파해 부드럽게 만든다.</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autoware_motion_velocity_run_out_module</a:t>
                      </a:r>
                      <a:r>
                        <a:rPr sz="800" b="0" i="0">
                          <a:solidFill>
                            <a:srgbClr val="16213A"/>
                          </a:solidFill>
                          <a:latin typeface="Arial"/>
                          <a:ea typeface="Malgun Gothic"/>
                          <a:cs typeface="Malgun Gothic"/>
                        </a:rPr>
                        <a:t>은 on/off 버퍼가 비대칭인 Schmitt 트리거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openpilot 종방향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소스 확인 2026-09-30</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이산 모드가 없다</a:t>
                      </a:r>
                      <a:r>
                        <a:rPr sz="800" b="0" i="0">
                          <a:solidFill>
                            <a:srgbClr val="16213A"/>
                          </a:solidFill>
                          <a:latin typeface="Arial"/>
                          <a:ea typeface="Malgun Gothic"/>
                          <a:cs typeface="Malgun Gothic"/>
                        </a:rPr>
                        <a:t> — 움직이는 앞차를 </a:t>
                      </a:r>
                      <a:r>
                        <a:rPr sz="800" b="0" i="1">
                          <a:solidFill>
                            <a:srgbClr val="16213A"/>
                          </a:solidFill>
                          <a:latin typeface="Arial"/>
                          <a:ea typeface="Malgun Gothic"/>
                          <a:cs typeface="Malgun Gothic"/>
                        </a:rPr>
                        <a:t>v²/2a</a:t>
                      </a:r>
                      <a:r>
                        <a:rPr sz="800" b="0" i="0">
                          <a:solidFill>
                            <a:srgbClr val="16213A"/>
                          </a:solidFill>
                          <a:latin typeface="Arial"/>
                          <a:ea typeface="Malgun Gothic"/>
                          <a:cs typeface="Malgun Gothic"/>
                        </a:rPr>
                        <a:t>만큼 먼 정지 장애물로 환산. acados </a:t>
                      </a:r>
                      <a:r>
                        <a:rPr sz="800" b="0" i="0">
                          <a:solidFill>
                            <a:srgbClr val="16213A"/>
                          </a:solidFill>
                          <a:latin typeface="Consolas"/>
                          <a:ea typeface="Malgun Gothic"/>
                          <a:cs typeface="Malgun Gothic"/>
                        </a:rPr>
                        <a:t>SQP_RTI</a:t>
                      </a:r>
                      <a:r>
                        <a:rPr sz="800" b="0" i="0">
                          <a:solidFill>
                            <a:srgbClr val="16213A"/>
                          </a:solidFill>
                          <a:latin typeface="Arial"/>
                          <a:ea typeface="Malgun Gothic"/>
                          <a:cs typeface="Malgun Gothic"/>
                        </a:rPr>
                        <a:t>, 거리 제약을 슬랙으로(</a:t>
                      </a:r>
                      <a:r>
                        <a:rPr sz="800" b="0" i="1">
                          <a:solidFill>
                            <a:srgbClr val="16213A"/>
                          </a:solidFill>
                          <a:latin typeface="Arial"/>
                          <a:ea typeface="Malgun Gothic"/>
                          <a:cs typeface="Malgun Gothic"/>
                        </a:rPr>
                        <a:t>"behaves like an asymmetrical cost"</a:t>
                      </a:r>
                      <a:r>
                        <a:rPr sz="800" b="0" i="0">
                          <a:solidFill>
                            <a:srgbClr val="16213A"/>
                          </a:solidFill>
                          <a:latin typeface="Arial"/>
                          <a:ea typeface="Malgun Gothic"/>
                          <a:cs typeface="Malgun Gothic"/>
                        </a:rPr>
                        <a:t>), 속도로 정규화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Smooth MPPI without Smoothing (Kim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2021.12 · RA-L 2022</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MPPI 떨림의 원인은 비용 절벽이 아니라 </a:t>
                      </a:r>
                      <a:r>
                        <a:rPr sz="800" b="1" i="0">
                          <a:solidFill>
                            <a:srgbClr val="C2410C"/>
                          </a:solidFill>
                          <a:latin typeface="Arial"/>
                          <a:ea typeface="Malgun Gothic"/>
                          <a:cs typeface="Malgun Gothic"/>
                        </a:rPr>
                        <a:t>샘플링 확률성</a:t>
                      </a:r>
                      <a:r>
                        <a:rPr sz="800" b="0" i="0">
                          <a:solidFill>
                            <a:srgbClr val="16213A"/>
                          </a:solidFill>
                          <a:latin typeface="Arial"/>
                          <a:ea typeface="Malgun Gothic"/>
                          <a:cs typeface="Malgun Gothic"/>
                        </a:rPr>
                        <a:t>. i축·t축 평활화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Convex speed planning (Zhang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 · Sensors 18(7):2185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pseudo-jerk 볼록 속도 계획. Autoware smoother가 인용하는 공개 접근 문헌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CBF-QP의 Lipschitz 연속성 정리 (Ames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2016.09 · IEEE TAC 2017, 62(8):3861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Theorem 3. 매끄러움 외에 </a:t>
                      </a:r>
                      <a:r>
                        <a:rPr sz="800" b="1" i="0">
                          <a:solidFill>
                            <a:srgbClr val="C2410C"/>
                          </a:solidFill>
                          <a:latin typeface="Arial"/>
                          <a:ea typeface="Malgun Gothic"/>
                          <a:cs typeface="Malgun Gothic"/>
                        </a:rPr>
                        <a:t>입력이 제약에 나타나야</a:t>
                      </a:r>
                      <a:r>
                        <a:rPr sz="800" b="1" i="0">
                          <a:solidFill>
                            <a:srgbClr val="C2410C"/>
                          </a:solidFill>
                          <a:latin typeface="Arial"/>
                          <a:ea typeface="Malgun Gothic"/>
                          <a:cs typeface="Malgun Gothic"/>
                        </a:rPr>
                        <a:t>(</a:t>
                      </a:r>
                      <a:r>
                        <a:rPr sz="800" b="1" i="1">
                          <a:solidFill>
                            <a:srgbClr val="C2410C"/>
                          </a:solidFill>
                          <a:latin typeface="Arial"/>
                          <a:ea typeface="Malgun Gothic"/>
                          <a:cs typeface="Malgun Gothic"/>
                        </a:rPr>
                        <a:t>L_g B ≠ 0</a:t>
                      </a:r>
                      <a:r>
                        <a:rPr sz="800" b="1" i="0">
                          <a:solidFill>
                            <a:srgbClr val="C2410C"/>
                          </a:solidFill>
                          <a:latin typeface="Arial"/>
                          <a:ea typeface="Malgun Gothic"/>
                          <a:cs typeface="Malgun Gothic"/>
                        </a:rPr>
                        <a:t>)</a:t>
                      </a:r>
                      <a:r>
                        <a:rPr sz="800" b="0" i="0">
                          <a:solidFill>
                            <a:srgbClr val="16213A"/>
                          </a:solidFill>
                          <a:latin typeface="Arial"/>
                          <a:ea typeface="Malgun Gothic"/>
                          <a:cs typeface="Malgun Gothic"/>
                        </a:rPr>
                        <a:t> 한다 — 가속도 입력 로봇에서 위치 거리 CBF가 무의미한 이유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DOI</a:t>
                      </a:r>
                    </a:p>
                  </a:txBody>
                  <a:tcPr marL="63500" marR="63500" marT="12700" marB="12700">
                    <a:solidFill>
                      <a:srgbClr val="FFFD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 / 109</a:t>
            </a:r>
          </a:p>
        </p:txBody>
      </p:sp>
      <p:graphicFrame>
        <p:nvGraphicFramePr>
          <p:cNvPr id="5" name="Table 4"/>
          <p:cNvGraphicFramePr>
            <a:graphicFrameLocks noGrp="1"/>
          </p:cNvGraphicFramePr>
          <p:nvPr/>
        </p:nvGraphicFramePr>
        <p:xfrm>
          <a:off x="609600" y="1244600"/>
          <a:ext cx="10966945" cy="3650136"/>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PGIF-MPPI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2026.08 · </a:t>
                      </a:r>
                      <a:r>
                        <a:rPr sz="800" b="1" i="0">
                          <a:solidFill>
                            <a:srgbClr val="16213A"/>
                          </a:solidFill>
                          <a:latin typeface="Arial"/>
                          <a:ea typeface="Malgun Gothic"/>
                          <a:cs typeface="Malgun Gothic"/>
                        </a:rPr>
                        <a:t>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예측을 지평 전체로 전파해 </a:t>
                      </a:r>
                      <a:r>
                        <a:rPr sz="800" b="1" i="0">
                          <a:solidFill>
                            <a:srgbClr val="16213A"/>
                          </a:solidFill>
                          <a:latin typeface="Arial"/>
                          <a:ea typeface="Malgun Gothic"/>
                          <a:cs typeface="Malgun Gothic"/>
                        </a:rPr>
                        <a:t>비등방 가우시안</a:t>
                      </a:r>
                      <a:r>
                        <a:rPr sz="800" b="0" i="0">
                          <a:solidFill>
                            <a:srgbClr val="16213A"/>
                          </a:solidFill>
                          <a:latin typeface="Arial"/>
                          <a:ea typeface="Malgun Gothic"/>
                          <a:cs typeface="Malgun Gothic"/>
                        </a:rPr>
                        <a:t>으로 MPPI 비용에 넣는다. </a:t>
                      </a:r>
                      <a:r>
                        <a:rPr sz="800" b="1" i="0">
                          <a:solidFill>
                            <a:srgbClr val="C2410C"/>
                          </a:solidFill>
                          <a:latin typeface="Arial"/>
                          <a:ea typeface="Malgun Gothic"/>
                          <a:cs typeface="Malgun Gothic"/>
                        </a:rPr>
                        <a:t>충돌 82 %→0 %인데 타임아웃 0 %→59 % — 얼어붙기의 대가를 측정한 유일한 표</a:t>
                      </a:r>
                      <a:r>
                        <a:rPr sz="800" b="0" i="0">
                          <a:solidFill>
                            <a:srgbClr val="16213A"/>
                          </a:solidFill>
                          <a:latin typeface="Arial"/>
                          <a:ea typeface="Malgun Gothic"/>
                          <a:cs typeface="Malgun Gothic"/>
                        </a:rPr>
                        <a:t> ⚠️ 단독 저자·</a:t>
                      </a:r>
                      <a:r>
                        <a:rPr sz="800" b="1" i="0">
                          <a:solidFill>
                            <a:srgbClr val="16213A"/>
                          </a:solidFill>
                          <a:latin typeface="Arial"/>
                          <a:ea typeface="Malgun Gothic"/>
                          <a:cs typeface="Malgun Gothic"/>
                        </a:rPr>
                        <a:t>워크숍 논문</a:t>
                      </a:r>
                      <a:r>
                        <a:rPr sz="800" b="0" i="0">
                          <a:solidFill>
                            <a:srgbClr val="16213A"/>
                          </a:solidFill>
                          <a:latin typeface="Arial"/>
                          <a:ea typeface="Malgun Gothic"/>
                          <a:cs typeface="Malgun Gothic"/>
                        </a:rPr>
                        <a:t>(HFR 2026, Springer Proc. Adv. Robotics 게재 확정)·시뮬만. 저자들은 이 보수성을 </a:t>
                      </a:r>
                      <a:r>
                        <a:rPr sz="800" b="1" i="0">
                          <a:solidFill>
                            <a:srgbClr val="16213A"/>
                          </a:solidFill>
                          <a:latin typeface="Arial"/>
                          <a:ea typeface="Malgun Gothic"/>
                          <a:cs typeface="Malgun Gothic"/>
                        </a:rPr>
                        <a:t>고전 FRP와 구분한다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DRA-MPPI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 · IROS 2025</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soft(연속 조절) + hard(위험 상한 지시함수)를 </a:t>
                      </a:r>
                      <a:r>
                        <a:rPr sz="800" b="1" i="0">
                          <a:solidFill>
                            <a:srgbClr val="C2410C"/>
                          </a:solidFill>
                          <a:latin typeface="Arial"/>
                          <a:ea typeface="Malgun Gothic"/>
                          <a:cs typeface="Malgun Gothic"/>
                        </a:rPr>
                        <a:t>한 critic에</a:t>
                      </a:r>
                      <a:r>
                        <a:rPr sz="800" b="0" i="0">
                          <a:solidFill>
                            <a:srgbClr val="16213A"/>
                          </a:solidFill>
                          <a:latin typeface="Arial"/>
                          <a:ea typeface="Malgun Gothic"/>
                          <a:cs typeface="Malgun Gothic"/>
                        </a:rPr>
                        <a:t> . Jackal + 보행자 5명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 C.2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Chance-Constrained Sampling-Based MPC (Mohamed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2025.01 · RA-L 10(7):7492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마할라노비스 형식 </a:t>
                      </a:r>
                      <a:r>
                        <a:rPr sz="800" b="0" i="1">
                          <a:solidFill>
                            <a:srgbClr val="16213A"/>
                          </a:solidFill>
                          <a:latin typeface="Arial"/>
                          <a:ea typeface="Malgun Gothic"/>
                          <a:cs typeface="Malgun Gothic"/>
                        </a:rPr>
                        <a:t>M ≥ κ</a:t>
                      </a:r>
                      <a:r>
                        <a:rPr sz="800" b="0" i="0">
                          <a:solidFill>
                            <a:srgbClr val="16213A"/>
                          </a:solidFill>
                          <a:latin typeface="Arial"/>
                          <a:ea typeface="Malgun Gothic"/>
                          <a:cs typeface="Malgun Gothic"/>
                        </a:rPr>
                        <a:t> — </a:t>
                      </a:r>
                      <a:r>
                        <a:rPr sz="800" b="1" i="1">
                          <a:solidFill>
                            <a:srgbClr val="C2410C"/>
                          </a:solidFill>
                          <a:latin typeface="Arial"/>
                          <a:ea typeface="Malgun Gothic"/>
                          <a:cs typeface="Malgun Gothic"/>
                        </a:rPr>
                        <a:t>Σ</a:t>
                      </a:r>
                      <a:r>
                        <a:rPr sz="800" b="1" i="0">
                          <a:solidFill>
                            <a:srgbClr val="C2410C"/>
                          </a:solidFill>
                          <a:latin typeface="Arial"/>
                          <a:ea typeface="Malgun Gothic"/>
                          <a:cs typeface="Malgun Gothic"/>
                        </a:rPr>
                        <a:t>가 커지면 </a:t>
                      </a:r>
                      <a:r>
                        <a:rPr sz="800" b="1" i="1">
                          <a:solidFill>
                            <a:srgbClr val="C2410C"/>
                          </a:solidFill>
                          <a:latin typeface="Arial"/>
                          <a:ea typeface="Malgun Gothic"/>
                          <a:cs typeface="Malgun Gothic"/>
                        </a:rPr>
                        <a:t>M</a:t>
                      </a:r>
                      <a:r>
                        <a:rPr sz="800" b="1" i="0">
                          <a:solidFill>
                            <a:srgbClr val="C2410C"/>
                          </a:solidFill>
                          <a:latin typeface="Arial"/>
                          <a:ea typeface="Malgun Gothic"/>
                          <a:cs typeface="Malgun Gothic"/>
                        </a:rPr>
                        <a:t>이 문턱보다 빨리 줄어 </a:t>
                      </a:r>
                      <a:r>
                        <a:rPr sz="800" b="1" i="0">
                          <a:solidFill>
                            <a:srgbClr val="C2410C"/>
                          </a:solidFill>
                          <a:latin typeface="Arial"/>
                          <a:ea typeface="Malgun Gothic"/>
                          <a:cs typeface="Malgun Gothic"/>
                        </a:rPr>
                        <a:t>접근 금지 반경이 부푼다</a:t>
                      </a:r>
                      <a:r>
                        <a:rPr sz="800" b="1" i="0">
                          <a:solidFill>
                            <a:srgbClr val="C2410C"/>
                          </a:solidFill>
                          <a:latin typeface="Arial"/>
                          <a:ea typeface="Malgun Gothic"/>
                          <a:cs typeface="Malgun Gothic"/>
                        </a:rPr>
                        <a:t>(κ 자체는 작아진다)</a:t>
                      </a:r>
                      <a:r>
                        <a:rPr sz="800" b="0" i="0">
                          <a:solidFill>
                            <a:srgbClr val="16213A"/>
                          </a:solidFill>
                          <a:latin typeface="Arial"/>
                          <a:ea typeface="Malgun Gothic"/>
                          <a:cs typeface="Malgun Gothic"/>
                        </a:rPr>
                        <a:t> . travplan σ 채널·E.10과 직결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시간가변 CBF (Huang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2023.07 · IECON 2023</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 h/∂ t</a:t>
                      </a:r>
                      <a:r>
                        <a:rPr sz="800" b="0" i="0">
                          <a:solidFill>
                            <a:srgbClr val="16213A"/>
                          </a:solidFill>
                          <a:latin typeface="Arial"/>
                          <a:ea typeface="Malgun Gothic"/>
                          <a:cs typeface="Malgun Gothic"/>
                        </a:rPr>
                        <a:t> 항 + </a:t>
                      </a:r>
                      <a:r>
                        <a:rPr sz="800" b="1" i="0">
                          <a:solidFill>
                            <a:srgbClr val="16213A"/>
                          </a:solidFill>
                          <a:latin typeface="Arial"/>
                          <a:ea typeface="Malgun Gothic"/>
                          <a:cs typeface="Malgun Gothic"/>
                        </a:rPr>
                        <a:t>오프셋 점</a:t>
                      </a:r>
                      <a:r>
                        <a:rPr sz="800" b="0" i="0">
                          <a:solidFill>
                            <a:srgbClr val="16213A"/>
                          </a:solidFill>
                          <a:latin typeface="Arial"/>
                          <a:ea typeface="Malgun Gothic"/>
                          <a:cs typeface="Malgun Gothic"/>
                        </a:rPr>
                        <a:t> 평가로 </a:t>
                      </a:r>
                      <a:r>
                        <a:rPr sz="800" b="0" i="1">
                          <a:solidFill>
                            <a:srgbClr val="16213A"/>
                          </a:solidFill>
                          <a:latin typeface="Arial"/>
                          <a:ea typeface="Malgun Gothic"/>
                          <a:cs typeface="Malgun Gothic"/>
                        </a:rPr>
                        <a:t>v</a:t>
                      </a:r>
                      <a:r>
                        <a:rPr sz="800" b="0" i="0">
                          <a:solidFill>
                            <a:srgbClr val="16213A"/>
                          </a:solidFill>
                          <a:latin typeface="Arial"/>
                          <a:ea typeface="Malgun Gothic"/>
                          <a:cs typeface="Malgun Gothic"/>
                        </a:rPr>
                        <a:t>와 </a:t>
                      </a:r>
                      <a:r>
                        <a:rPr sz="800" b="0" i="1">
                          <a:solidFill>
                            <a:srgbClr val="16213A"/>
                          </a:solidFill>
                          <a:latin typeface="Arial"/>
                          <a:ea typeface="Malgun Gothic"/>
                          <a:cs typeface="Malgun Gothic"/>
                        </a:rPr>
                        <a:t>ω</a:t>
                      </a:r>
                      <a:r>
                        <a:rPr sz="800" b="0" i="0">
                          <a:solidFill>
                            <a:srgbClr val="16213A"/>
                          </a:solidFill>
                          <a:latin typeface="Arial"/>
                          <a:ea typeface="Malgun Gothic"/>
                          <a:cs typeface="Malgun Gothic"/>
                        </a:rPr>
                        <a:t>가 모두 나타난다 → </a:t>
                      </a:r>
                      <a:r>
                        <a:rPr sz="800" b="1" i="0">
                          <a:solidFill>
                            <a:srgbClr val="C2410C"/>
                          </a:solidFill>
                          <a:latin typeface="Arial"/>
                          <a:ea typeface="Malgun Gothic"/>
                          <a:cs typeface="Malgun Gothic"/>
                        </a:rPr>
                        <a:t>고차 CBF 없이 </a:t>
                      </a:r>
                      <a:r>
                        <a:rPr sz="800" b="1" i="0">
                          <a:solidFill>
                            <a:srgbClr val="C2410C"/>
                          </a:solidFill>
                          <a:latin typeface="Arial"/>
                          <a:ea typeface="Malgun Gothic"/>
                          <a:cs typeface="Malgun Gothic"/>
                        </a:rPr>
                        <a:t>감속으로</a:t>
                      </a:r>
                      <a:r>
                        <a:rPr sz="800" b="1" i="0">
                          <a:solidFill>
                            <a:srgbClr val="C2410C"/>
                          </a:solidFill>
                          <a:latin typeface="Arial"/>
                          <a:ea typeface="Malgun Gothic"/>
                          <a:cs typeface="Malgun Gothic"/>
                        </a:rPr>
                        <a:t> 회피</a:t>
                      </a:r>
                      <a:r>
                        <a:rPr sz="800" b="0" i="0">
                          <a:solidFill>
                            <a:srgbClr val="16213A"/>
                          </a:solidFill>
                          <a:latin typeface="Arial"/>
                          <a:ea typeface="Malgun Gothic"/>
                          <a:cs typeface="Malgun Gothic"/>
                        </a:rPr>
                        <a:t> ⚠️ 시뮬만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The Before, During, and After of Multi-Robot Deadlock (Grover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 ·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Khepera-IV. </a:t>
                      </a:r>
                      <a:r>
                        <a:rPr sz="800" b="1" i="0">
                          <a:solidFill>
                            <a:srgbClr val="C2410C"/>
                          </a:solidFill>
                          <a:latin typeface="Arial"/>
                          <a:ea typeface="Malgun Gothic"/>
                          <a:cs typeface="Malgun Gothic"/>
                        </a:rPr>
                        <a:t>근본 원인: </a:t>
                      </a:r>
                      <a:r>
                        <a:rPr sz="800" b="1" i="0">
                          <a:solidFill>
                            <a:srgbClr val="C2410C"/>
                          </a:solidFill>
                          <a:latin typeface="Arial"/>
                          <a:ea typeface="Malgun Gothic"/>
                          <a:cs typeface="Malgun Gothic"/>
                        </a:rPr>
                        <a:t>안전은 하드 제약, 목표는 비용</a:t>
                      </a:r>
                      <a:r>
                        <a:rPr sz="800" b="1" i="0">
                          <a:solidFill>
                            <a:srgbClr val="C2410C"/>
                          </a:solidFill>
                          <a:latin typeface="Arial"/>
                          <a:ea typeface="Malgun Gothic"/>
                          <a:cs typeface="Malgun Gothic"/>
                        </a:rPr>
                        <a:t>이라 구조적으로 교착</a:t>
                      </a:r>
                      <a:r>
                        <a:rPr sz="800" b="0" i="0">
                          <a:solidFill>
                            <a:srgbClr val="16213A"/>
                          </a:solidFill>
                          <a:latin typeface="Arial"/>
                          <a:ea typeface="Malgun Gothic"/>
                          <a:cs typeface="Malgun Gothic"/>
                        </a:rPr>
                        <a:t> . 대칭이면 </a:t>
                      </a:r>
                      <a:r>
                        <a:rPr sz="800" b="1" i="0">
                          <a:solidFill>
                            <a:srgbClr val="16213A"/>
                          </a:solidFill>
                          <a:latin typeface="Arial"/>
                          <a:ea typeface="Malgun Gothic"/>
                          <a:cs typeface="Malgun Gothic"/>
                        </a:rPr>
                        <a:t>반드시</a:t>
                      </a:r>
                      <a:r>
                        <a:rPr sz="800" b="0" i="0">
                          <a:solidFill>
                            <a:srgbClr val="16213A"/>
                          </a:solidFill>
                          <a:latin typeface="Arial"/>
                          <a:ea typeface="Malgun Gothic"/>
                          <a:cs typeface="Malgun Gothic"/>
                        </a:rPr>
                        <a:t> 교착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Undesired Equilibria 제거 (Tan &amp; Dimarogonas)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2021.04 · Automatica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병리의 </a:t>
                      </a:r>
                      <a:r>
                        <a:rPr sz="800" b="1" i="0">
                          <a:solidFill>
                            <a:srgbClr val="16213A"/>
                          </a:solidFill>
                          <a:latin typeface="Arial"/>
                          <a:ea typeface="Malgun Gothic"/>
                          <a:cs typeface="Malgun Gothic"/>
                        </a:rPr>
                        <a:t>해결된 형태</a:t>
                      </a:r>
                      <a:r>
                        <a:rPr sz="800" b="0" i="0">
                          <a:solidFill>
                            <a:srgbClr val="16213A"/>
                          </a:solidFill>
                          <a:latin typeface="Arial"/>
                          <a:ea typeface="Malgun Gothic"/>
                          <a:cs typeface="Malgun Gothic"/>
                        </a:rPr>
                        <a:t> — 안전 집합 내부의 가짜 평형점 완전 제거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Safety-Critical MPC with Discrete-Time CBF (Zeng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2020.07 · ACC 2021</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거리 제약은 늦게 밟고 CBF는 일찍 밟는 이유</a:t>
                      </a:r>
                      <a:r>
                        <a:rPr sz="800" b="0" i="0">
                          <a:solidFill>
                            <a:srgbClr val="16213A"/>
                          </a:solidFill>
                          <a:latin typeface="Arial"/>
                          <a:ea typeface="Malgun Gothic"/>
                          <a:cs typeface="Malgun Gothic"/>
                        </a:rPr>
                        <a:t>, 그리고 </a:t>
                      </a:r>
                      <a:r>
                        <a:rPr sz="800" b="0" i="1">
                          <a:solidFill>
                            <a:srgbClr val="16213A"/>
                          </a:solidFill>
                          <a:latin typeface="Arial"/>
                          <a:ea typeface="Malgun Gothic"/>
                          <a:cs typeface="Malgun Gothic"/>
                        </a:rPr>
                        <a:t>γ</a:t>
                      </a:r>
                      <a:r>
                        <a:rPr sz="800" b="0" i="0">
                          <a:solidFill>
                            <a:srgbClr val="16213A"/>
                          </a:solidFill>
                          <a:latin typeface="Arial"/>
                          <a:ea typeface="Malgun Gothic"/>
                          <a:cs typeface="Malgun Gothic"/>
                        </a:rPr>
                        <a:t>의 안전-실행가능성 딜레마를 저자들이 직접 미해결로 남김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DOI</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CBF: Theory and Applications (Ames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2019.03 · ECC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CBF-QP 해가 </a:t>
                      </a:r>
                      <a:r>
                        <a:rPr sz="800" b="1" i="0">
                          <a:solidFill>
                            <a:srgbClr val="C2410C"/>
                          </a:solidFill>
                          <a:latin typeface="Arial"/>
                          <a:ea typeface="Malgun Gothic"/>
                          <a:cs typeface="Malgun Gothic"/>
                        </a:rPr>
                        <a:t>Lipschitz 연속</a:t>
                      </a:r>
                      <a:r>
                        <a:rPr sz="800" b="0" i="0">
                          <a:solidFill>
                            <a:srgbClr val="16213A"/>
                          </a:solidFill>
                          <a:latin typeface="Arial"/>
                          <a:ea typeface="Malgun Gothic"/>
                          <a:cs typeface="Malgun Gothic"/>
                        </a:rPr>
                        <a:t> — 안전 필터가 점프를 낼 수 없는 정확한 이유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DOI</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High Relative Degree CBF (Xiao &amp; Belta)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2019.03 · CDC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위치 기반 </a:t>
                      </a:r>
                      <a:r>
                        <a:rPr sz="800" b="0" i="1">
                          <a:solidFill>
                            <a:srgbClr val="16213A"/>
                          </a:solidFill>
                          <a:latin typeface="Arial"/>
                          <a:ea typeface="Malgun Gothic"/>
                          <a:cs typeface="Malgun Gothic"/>
                        </a:rPr>
                        <a:t>h</a:t>
                      </a:r>
                      <a:r>
                        <a:rPr sz="800" b="0" i="0">
                          <a:solidFill>
                            <a:srgbClr val="16213A"/>
                          </a:solidFill>
                          <a:latin typeface="Arial"/>
                          <a:ea typeface="Malgun Gothic"/>
                          <a:cs typeface="Malgun Gothic"/>
                        </a:rPr>
                        <a:t>에서 입력이 사라지는 문제의 원 논문(고차 CBF)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DOI</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Unfreezing the Robot</a:t>
                      </a:r>
                      <a:r>
                        <a:rPr sz="800" b="0" i="0">
                          <a:solidFill>
                            <a:srgbClr val="16213A"/>
                          </a:solidFill>
                          <a:latin typeface="Arial"/>
                          <a:ea typeface="Malgun Gothic"/>
                          <a:cs typeface="Malgun Gothic"/>
                        </a:rPr>
                        <a:t> (Trautman &amp; Krause)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2010 · IROS 2010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FRP를 이름 붙인 원 논문. ⚠️ </a:t>
                      </a:r>
                      <a:r>
                        <a:rPr sz="800" b="1" i="0">
                          <a:solidFill>
                            <a:srgbClr val="16213A"/>
                          </a:solidFill>
                          <a:latin typeface="Arial"/>
                          <a:ea typeface="Malgun Gothic"/>
                          <a:cs typeface="Malgun Gothic"/>
                        </a:rPr>
                        <a:t>폐쇄 접근이라 원문 확인 불가</a:t>
                      </a:r>
                      <a:r>
                        <a:rPr sz="800" b="0" i="0">
                          <a:solidFill>
                            <a:srgbClr val="16213A"/>
                          </a:solidFill>
                          <a:latin typeface="Arial"/>
                          <a:ea typeface="Malgun Gothic"/>
                          <a:cs typeface="Malgun Gothic"/>
                        </a:rPr>
                        <a:t> — 인용은 아래 저널판에서 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DOI</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Robot navigation in dense human crowds</a:t>
                      </a:r>
                      <a:r>
                        <a:rPr sz="800" b="0" i="0">
                          <a:solidFill>
                            <a:srgbClr val="16213A"/>
                          </a:solidFill>
                          <a:latin typeface="Arial"/>
                          <a:ea typeface="Malgun Gothic"/>
                          <a:cs typeface="Malgun Gothic"/>
                        </a:rPr>
                        <a:t> (Trautman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 · IJRR 34(3):335</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완벽한 </a:t>
                      </a:r>
                      <a:r>
                        <a:rPr sz="800" b="1" i="1">
                          <a:solidFill>
                            <a:srgbClr val="C2410C"/>
                          </a:solidFill>
                          <a:latin typeface="Arial"/>
                          <a:ea typeface="Malgun Gothic"/>
                          <a:cs typeface="Malgun Gothic"/>
                        </a:rPr>
                        <a:t>개별</a:t>
                      </a:r>
                      <a:r>
                        <a:rPr sz="800" b="1" i="0">
                          <a:solidFill>
                            <a:srgbClr val="C2410C"/>
                          </a:solidFill>
                          <a:latin typeface="Arial"/>
                          <a:ea typeface="Malgun Gothic"/>
                          <a:cs typeface="Malgun Gothic"/>
                        </a:rPr>
                        <a:t> 예측이어도 군중이 </a:t>
                      </a:r>
                      <a:r>
                        <a:rPr sz="800" b="1" i="1">
                          <a:solidFill>
                            <a:srgbClr val="C2410C"/>
                          </a:solidFill>
                          <a:latin typeface="Arial"/>
                          <a:ea typeface="Malgun Gothic"/>
                          <a:cs typeface="Malgun Gothic"/>
                        </a:rPr>
                        <a:t>특정 배치</a:t>
                      </a:r>
                      <a:r>
                        <a:rPr sz="800" b="1" i="0">
                          <a:solidFill>
                            <a:srgbClr val="C2410C"/>
                          </a:solidFill>
                          <a:latin typeface="Arial"/>
                          <a:ea typeface="Malgun Gothic"/>
                          <a:cs typeface="Malgun Gothic"/>
                        </a:rPr>
                        <a:t>(나란히 걷기)를 취하면 얼어붙는다</a:t>
                      </a:r>
                      <a:r>
                        <a:rPr sz="800" b="0" i="0">
                          <a:solidFill>
                            <a:srgbClr val="16213A"/>
                          </a:solidFill>
                          <a:latin typeface="Arial"/>
                          <a:ea typeface="Malgun Gothic"/>
                          <a:cs typeface="Malgun Gothic"/>
                        </a:rPr>
                        <a:t> — 원인은 정확도가 아니라 예측이 로봇 행동과 무관한 </a:t>
                      </a:r>
                      <a:r>
                        <a:rPr sz="800" b="1" i="0">
                          <a:solidFill>
                            <a:srgbClr val="16213A"/>
                          </a:solidFill>
                          <a:latin typeface="Arial"/>
                          <a:ea typeface="Malgun Gothic"/>
                          <a:cs typeface="Malgun Gothic"/>
                        </a:rPr>
                        <a:t>구조</a:t>
                      </a:r>
                      <a:r>
                        <a:rPr sz="800" b="0" i="0">
                          <a:solidFill>
                            <a:srgbClr val="16213A"/>
                          </a:solidFill>
                          <a:latin typeface="Arial"/>
                          <a:ea typeface="Malgun Gothic"/>
                          <a:cs typeface="Malgun Gothic"/>
                        </a:rPr>
                        <a:t>다. 더 나은 개별 예측은 </a:t>
                      </a:r>
                      <a:r>
                        <a:rPr sz="800" b="0" i="1">
                          <a:solidFill>
                            <a:srgbClr val="16213A"/>
                          </a:solidFill>
                          <a:latin typeface="Arial"/>
                          <a:ea typeface="Malgun Gothic"/>
                          <a:cs typeface="Malgun Gothic"/>
                        </a:rPr>
                        <a:t>"only ... below a certain density threshold"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Core Challenges of Social Robot Navigation (Mavrogiannis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2021.03 · ACM THRI 2023</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예측-계획 </a:t>
                      </a:r>
                      <a:r>
                        <a:rPr sz="800" b="1" i="0">
                          <a:solidFill>
                            <a:srgbClr val="C2410C"/>
                          </a:solidFill>
                          <a:latin typeface="Arial"/>
                          <a:ea typeface="Malgun Gothic"/>
                          <a:cs typeface="Malgun Gothic"/>
                        </a:rPr>
                        <a:t>분리 대 결합</a:t>
                      </a:r>
                      <a:r>
                        <a:rPr sz="800" b="0" i="0">
                          <a:solidFill>
                            <a:srgbClr val="16213A"/>
                          </a:solidFill>
                          <a:latin typeface="Arial"/>
                          <a:ea typeface="Malgun Gothic"/>
                          <a:cs typeface="Malgun Gothic"/>
                        </a:rPr>
                        <a:t> 축으로 분야를 정리. 도달 시간 대 충돌 수 경계선을 직접 측정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DOI</a:t>
                      </a:r>
                    </a:p>
                  </a:txBody>
                  <a:tcPr marL="63500" marR="63500" marT="12700" marB="12700">
                    <a:solidFill>
                      <a:srgbClr val="F3F0E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 / 109</a:t>
            </a:r>
          </a:p>
        </p:txBody>
      </p:sp>
      <p:graphicFrame>
        <p:nvGraphicFramePr>
          <p:cNvPr id="5" name="Table 4"/>
          <p:cNvGraphicFramePr>
            <a:graphicFrameLocks noGrp="1"/>
          </p:cNvGraphicFramePr>
          <p:nvPr/>
        </p:nvGraphicFramePr>
        <p:xfrm>
          <a:off x="609600" y="1244600"/>
          <a:ext cx="10966945" cy="3694824"/>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Principles and Guidelines for Evaluating Social Robot Navigation (Francis 외 31인)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ACM THRI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소셜 내비 </a:t>
                      </a:r>
                      <a:r>
                        <a:rPr sz="800" b="1" i="0">
                          <a:solidFill>
                            <a:srgbClr val="16213A"/>
                          </a:solidFill>
                          <a:latin typeface="Arial"/>
                          <a:ea typeface="Malgun Gothic"/>
                          <a:cs typeface="Malgun Gothic"/>
                        </a:rPr>
                        <a:t>지표 표준</a:t>
                      </a:r>
                      <a:r>
                        <a:rPr sz="800" b="0" i="0">
                          <a:solidFill>
                            <a:srgbClr val="16213A"/>
                          </a:solidFill>
                          <a:latin typeface="Arial"/>
                          <a:ea typeface="Malgun Gothic"/>
                          <a:cs typeface="Malgun Gothic"/>
                        </a:rPr>
                        <a:t>. </a:t>
                      </a:r>
                      <a:r>
                        <a:rPr sz="800" b="1" i="0">
                          <a:solidFill>
                            <a:srgbClr val="C2410C"/>
                          </a:solidFill>
                          <a:latin typeface="Arial"/>
                          <a:ea typeface="Malgun Gothic"/>
                          <a:cs typeface="Malgun Gothic"/>
                        </a:rPr>
                        <a:t>Stalled time·Space compliance·jerk·Aggregated Time</a:t>
                      </a:r>
                      <a:r>
                        <a:rPr sz="800" b="0" i="0">
                          <a:solidFill>
                            <a:srgbClr val="16213A"/>
                          </a:solidFill>
                          <a:latin typeface="Arial"/>
                          <a:ea typeface="Malgun Gothic"/>
                          <a:cs typeface="Malgun Gothic"/>
                        </a:rPr>
                        <a:t>으로 "얼어붙기"와 "양보"를 가른다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Apollo EM Planner 계열 (경로-속도 분해 / ST 그래프)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소스 확인 2026-09-30</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st_bounds_decider</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speed_decider</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path_time_heuristic</a:t>
                      </a:r>
                      <a:r>
                        <a:rPr sz="800" b="0" i="0">
                          <a:solidFill>
                            <a:srgbClr val="16213A"/>
                          </a:solidFill>
                          <a:latin typeface="Arial"/>
                          <a:ea typeface="Malgun Gothic"/>
                          <a:cs typeface="Malgun Gothic"/>
                        </a:rPr>
                        <a:t>(DP) → </a:t>
                      </a:r>
                      <a:r>
                        <a:rPr sz="800" b="0" i="0">
                          <a:solidFill>
                            <a:srgbClr val="16213A"/>
                          </a:solidFill>
                          <a:latin typeface="Consolas"/>
                          <a:ea typeface="Malgun Gothic"/>
                          <a:cs typeface="Malgun Gothic"/>
                        </a:rPr>
                        <a:t>piecewise_jerk_speed</a:t>
                      </a:r>
                      <a:r>
                        <a:rPr sz="800" b="0" i="0">
                          <a:solidFill>
                            <a:srgbClr val="16213A"/>
                          </a:solidFill>
                          <a:latin typeface="Arial"/>
                          <a:ea typeface="Malgun Gothic"/>
                          <a:cs typeface="Malgun Gothic"/>
                        </a:rPr>
                        <a:t>(저크 제한 QP). </a:t>
                      </a:r>
                      <a:r>
                        <a:rPr sz="800" b="1" i="0">
                          <a:solidFill>
                            <a:srgbClr val="16213A"/>
                          </a:solidFill>
                          <a:latin typeface="Arial"/>
                          <a:ea typeface="Malgun Gothic"/>
                          <a:cs typeface="Malgun Gothic"/>
                        </a:rPr>
                        <a:t>연속 가감속이 나오는 자리가 마지막 QP다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Reciprocal n-Body Collision Avoidance (ORCA)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2011 · STAR 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속도 공간 반평면. </a:t>
                      </a:r>
                      <a:r>
                        <a:rPr sz="800" b="1" i="0">
                          <a:solidFill>
                            <a:srgbClr val="C2410C"/>
                          </a:solidFill>
                          <a:latin typeface="Arial"/>
                          <a:ea typeface="Malgun Gothic"/>
                          <a:cs typeface="Malgun Gothic"/>
                        </a:rPr>
                        <a:t>상호성 가정</a:t>
                      </a:r>
                      <a:r>
                        <a:rPr sz="800" b="0" i="0">
                          <a:solidFill>
                            <a:srgbClr val="16213A"/>
                          </a:solidFill>
                          <a:latin typeface="Arial"/>
                          <a:ea typeface="Malgun Gothic"/>
                          <a:cs typeface="Malgun Gothic"/>
                        </a:rPr>
                        <a:t>(각자 절반씩 회피)이 군중이 얼지 않는 이유이자 한계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Social force model (Helbing &amp; Molnár)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1995 · Phys. Rev. E 51:4282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보행자 상호작용의 원형. 감쇠 길이가 </a:t>
                      </a:r>
                      <a:r>
                        <a:rPr sz="800" b="1" i="0">
                          <a:solidFill>
                            <a:srgbClr val="16213A"/>
                          </a:solidFill>
                          <a:latin typeface="Arial"/>
                          <a:ea typeface="Malgun Gothic"/>
                          <a:cs typeface="Malgun Gothic"/>
                        </a:rPr>
                        <a:t>접근 속도</a:t>
                      </a:r>
                      <a:r>
                        <a:rPr sz="800" b="0" i="0">
                          <a:solidFill>
                            <a:srgbClr val="16213A"/>
                          </a:solidFill>
                          <a:latin typeface="Arial"/>
                          <a:ea typeface="Malgun Gothic"/>
                          <a:cs typeface="Malgun Gothic"/>
                        </a:rPr>
                        <a:t>에 따라 커지는 타원형 확장은 Moussaïd 외(2009)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CBF-QP가 가짜 평형점을 만든다 (Reis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 · IEEE L-CSS 5(2):731</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안전 필터가 목표 아닌 곳에 </a:t>
                      </a:r>
                      <a:r>
                        <a:rPr sz="800" b="1" i="0">
                          <a:solidFill>
                            <a:srgbClr val="C2410C"/>
                          </a:solidFill>
                          <a:latin typeface="Arial"/>
                          <a:ea typeface="Malgun Gothic"/>
                          <a:cs typeface="Malgun Gothic"/>
                        </a:rPr>
                        <a:t>점근 안정한</a:t>
                      </a:r>
                      <a:r>
                        <a:rPr sz="800" b="1" i="0">
                          <a:solidFill>
                            <a:srgbClr val="C2410C"/>
                          </a:solidFill>
                          <a:latin typeface="Arial"/>
                          <a:ea typeface="Malgun Gothic"/>
                          <a:cs typeface="Malgun Gothic"/>
                        </a:rPr>
                        <a:t> 정지점을 만든다는 증명</a:t>
                      </a:r>
                      <a:r>
                        <a:rPr sz="800" b="0" i="0">
                          <a:solidFill>
                            <a:srgbClr val="16213A"/>
                          </a:solidFill>
                          <a:latin typeface="Arial"/>
                          <a:ea typeface="Malgun Gothic"/>
                          <a:cs typeface="Malgun Gothic"/>
                        </a:rPr>
                        <a:t> — 교착의 정확한 진술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DOI</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Why Does Symmetry Cause Deadlocks? (Grover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 · IFAC-PapersOnLine 53(2):9746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"둘이 같은 쪽으로 피한다"는 튜닝 버그가 아니라 </a:t>
                      </a:r>
                      <a:r>
                        <a:rPr sz="800" b="1" i="0">
                          <a:solidFill>
                            <a:srgbClr val="16213A"/>
                          </a:solidFill>
                          <a:latin typeface="Arial"/>
                          <a:ea typeface="Malgun Gothic"/>
                          <a:cs typeface="Malgun Gothic"/>
                        </a:rPr>
                        <a:t>대칭성</a:t>
                      </a:r>
                      <a:r>
                        <a:rPr sz="800" b="0" i="0">
                          <a:solidFill>
                            <a:srgbClr val="16213A"/>
                          </a:solidFill>
                          <a:latin typeface="Arial"/>
                          <a:ea typeface="Malgun Gothic"/>
                          <a:cs typeface="Malgun Gothic"/>
                        </a:rPr>
                        <a:t> 현상이다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A.12.5, 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DOI</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HuNavSim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 · RA-L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반응형 보행자 + 소셜 지표 자동 계산. </a:t>
                      </a:r>
                      <a:r>
                        <a:rPr sz="800" b="1" i="0">
                          <a:solidFill>
                            <a:srgbClr val="C2410C"/>
                          </a:solidFill>
                          <a:latin typeface="Arial"/>
                          <a:ea typeface="Malgun Gothic"/>
                          <a:cs typeface="Malgun Gothic"/>
                        </a:rPr>
                        <a:t>Isaac Sim 래퍼가 있어 P1·TP-0036에 맞는다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FastDEM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2026.09 (고려대 ISR)</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Orin </a:t>
                      </a:r>
                      <a:r>
                        <a:rPr sz="800" b="1" i="0">
                          <a:solidFill>
                            <a:srgbClr val="C2410C"/>
                          </a:solidFill>
                          <a:latin typeface="Arial"/>
                          <a:ea typeface="Malgun Gothic"/>
                          <a:cs typeface="Malgun Gothic"/>
                        </a:rPr>
                        <a:t>100+ Hz</a:t>
                      </a:r>
                      <a:r>
                        <a:rPr sz="800" b="1" i="0">
                          <a:solidFill>
                            <a:srgbClr val="C2410C"/>
                          </a:solidFill>
                          <a:latin typeface="Arial"/>
                          <a:ea typeface="Malgun Gothic"/>
                          <a:cs typeface="Malgun Gothic"/>
                        </a:rPr>
                        <a:t>, 스캔당 ~10 ms, </a:t>
                      </a:r>
                      <a:r>
                        <a:rPr sz="800" b="1" i="0">
                          <a:solidFill>
                            <a:srgbClr val="C2410C"/>
                          </a:solidFill>
                          <a:latin typeface="Arial"/>
                          <a:ea typeface="Malgun Gothic"/>
                          <a:cs typeface="Malgun Gothic"/>
                        </a:rPr>
                        <a:t>CPU만</a:t>
                      </a:r>
                      <a:r>
                        <a:rPr sz="800" b="1" i="0">
                          <a:solidFill>
                            <a:srgbClr val="C2410C"/>
                          </a:solidFill>
                          <a:latin typeface="Arial"/>
                          <a:ea typeface="Malgun Gothic"/>
                          <a:cs typeface="Malgun Gothic"/>
                        </a:rPr>
                        <a:t>(Eigen)</a:t>
                      </a:r>
                      <a:r>
                        <a:rPr sz="800" b="0" i="0">
                          <a:solidFill>
                            <a:srgbClr val="16213A"/>
                          </a:solidFill>
                          <a:latin typeface="Arial"/>
                          <a:ea typeface="Malgun Gothic"/>
                          <a:cs typeface="Malgun Gothic"/>
                        </a:rPr>
                        <a:t>. step을 백분위 띠로. 레이어가 </a:t>
                      </a:r>
                      <a:r>
                        <a:rPr sz="800" b="0" i="0">
                          <a:solidFill>
                            <a:srgbClr val="16213A"/>
                          </a:solidFill>
                          <a:latin typeface="Consolas"/>
                          <a:ea typeface="Malgun Gothic"/>
                          <a:cs typeface="Malgun Gothic"/>
                        </a:rPr>
                        <a:t>TravMap[8]</a:t>
                      </a:r>
                      <a:r>
                        <a:rPr sz="800" b="0" i="0">
                          <a:solidFill>
                            <a:srgbClr val="16213A"/>
                          </a:solidFill>
                          <a:latin typeface="Arial"/>
                          <a:ea typeface="Malgun Gothic"/>
                          <a:cs typeface="Malgun Gothic"/>
                        </a:rPr>
                        <a:t>과 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A.2b.4, A.5.1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OHM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 · RA-L 2022 (CSIRO)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voxel + 2.5D 높이지도. </a:t>
                      </a:r>
                      <a:r>
                        <a:rPr sz="800" b="1" i="0">
                          <a:solidFill>
                            <a:srgbClr val="C2410C"/>
                          </a:solidFill>
                          <a:latin typeface="Arial"/>
                          <a:ea typeface="Malgun Gothic"/>
                          <a:cs typeface="Malgun Gothic"/>
                        </a:rPr>
                        <a:t>미관측을 6상태 열거형으로</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kVirtualSurface</a:t>
                      </a:r>
                      <a:r>
                        <a:rPr sz="800" b="0" i="0">
                          <a:solidFill>
                            <a:srgbClr val="16213A"/>
                          </a:solidFill>
                          <a:latin typeface="Arial"/>
                          <a:ea typeface="Malgun Gothic"/>
                          <a:cs typeface="Malgun Gothic"/>
                        </a:rPr>
                        <a:t> 등), SubT 결선 2위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A.2b.7, A.5.1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Virtual Surfaces (Hines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2020.10 · RA-L 투고 (CSIRO)</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음의 장애물에 매핑·계획·반응을 </a:t>
                      </a:r>
                      <a:r>
                        <a:rPr sz="800" b="1" i="0">
                          <a:solidFill>
                            <a:srgbClr val="C2410C"/>
                          </a:solidFill>
                          <a:latin typeface="Arial"/>
                          <a:ea typeface="Malgun Gothic"/>
                          <a:cs typeface="Malgun Gothic"/>
                        </a:rPr>
                        <a:t>동시에</a:t>
                      </a:r>
                      <a:r>
                        <a:rPr sz="800" b="1" i="0">
                          <a:solidFill>
                            <a:srgbClr val="C2410C"/>
                          </a:solidFill>
                          <a:latin typeface="Arial"/>
                          <a:ea typeface="Malgun Gothic"/>
                          <a:cs typeface="Malgun Gothic"/>
                        </a:rPr>
                        <a:t> 결합한 선행 연구</a:t>
                      </a:r>
                      <a:r>
                        <a:rPr sz="800" b="0" i="0">
                          <a:solidFill>
                            <a:srgbClr val="16213A"/>
                          </a:solidFill>
                          <a:latin typeface="Arial"/>
                          <a:ea typeface="Malgun Gothic"/>
                          <a:cs typeface="Malgun Gothic"/>
                        </a:rPr>
                        <a:t>. TP-0031/0044/0047의 선행 문헌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ArtPlanner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 · Field Robotics 2023 (ETH RSL)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emap 상한을 </a:t>
                      </a:r>
                      <a:r>
                        <a:rPr sz="800" b="1" i="0">
                          <a:solidFill>
                            <a:srgbClr val="16213A"/>
                          </a:solidFill>
                          <a:latin typeface="Arial"/>
                          <a:ea typeface="Malgun Gothic"/>
                          <a:cs typeface="Malgun Gothic"/>
                        </a:rPr>
                        <a:t>virtual surface</a:t>
                      </a:r>
                      <a:r>
                        <a:rPr sz="800" b="0" i="0">
                          <a:solidFill>
                            <a:srgbClr val="16213A"/>
                          </a:solidFill>
                          <a:latin typeface="Arial"/>
                          <a:ea typeface="Malgun Gothic"/>
                          <a:cs typeface="Malgun Gothic"/>
                        </a:rPr>
                        <a:t>로 쓰는 공개 소비자. </a:t>
                      </a:r>
                      <a:r>
                        <a:rPr sz="800" b="1" i="1">
                          <a:solidFill>
                            <a:srgbClr val="C2410C"/>
                          </a:solidFill>
                          <a:latin typeface="Arial"/>
                          <a:ea typeface="Malgun Gothic"/>
                          <a:cs typeface="Malgun Gothic"/>
                        </a:rPr>
                        <a:t>"only use virtual surfaces if above sensor height"</a:t>
                      </a:r>
                      <a:r>
                        <a:rPr sz="800" b="0" i="0">
                          <a:solidFill>
                            <a:srgbClr val="16213A"/>
                          </a:solidFill>
                          <a:latin typeface="Arial"/>
                          <a:ea typeface="Malgun Gothic"/>
                          <a:cs typeface="Malgun Gothic"/>
                        </a:rPr>
                        <a:t>, 인페인팅·비주행 처리를 명시 거부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FFD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 / 109</a:t>
            </a:r>
          </a:p>
        </p:txBody>
      </p:sp>
      <p:graphicFrame>
        <p:nvGraphicFramePr>
          <p:cNvPr id="5" name="Table 4"/>
          <p:cNvGraphicFramePr>
            <a:graphicFrameLocks noGrp="1"/>
          </p:cNvGraphicFramePr>
          <p:nvPr/>
        </p:nvGraphicFramePr>
        <p:xfrm>
          <a:off x="609600" y="1244600"/>
          <a:ext cx="10966945" cy="3573936"/>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Automatic Navigation Map Generation (Mozzarelli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 (Politecnico di Milano)</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보도 라스트마일 배달로봇</a:t>
                      </a:r>
                      <a:r>
                        <a:rPr sz="800" b="1" i="0">
                          <a:solidFill>
                            <a:srgbClr val="C2410C"/>
                          </a:solidFill>
                          <a:latin typeface="Arial"/>
                          <a:ea typeface="Malgun Gothic"/>
                          <a:cs typeface="Malgun Gothic"/>
                        </a:rPr>
                        <a:t> 명시 대상</a:t>
                      </a:r>
                      <a:r>
                        <a:rPr sz="800" b="0" i="0">
                          <a:solidFill>
                            <a:srgbClr val="16213A"/>
                          </a:solidFill>
                          <a:latin typeface="Arial"/>
                          <a:ea typeface="Malgun Gothic"/>
                          <a:cs typeface="Malgun Gothic"/>
                        </a:rPr>
                        <a:t>. 미관측에 이웃 최소고도 재귀 전파 → 생긴 불연속을 양의 장애물 검출기로 잡는다(min_filter의 역이용)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Reconstructing Occluded Elevation (solving-occlusion)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2021.09 · RA-L 2022 (ETH RSL)</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불완전한 실제 DEM에 가림을 </a:t>
                      </a:r>
                      <a:r>
                        <a:rPr sz="800" b="1" i="0">
                          <a:solidFill>
                            <a:srgbClr val="C2410C"/>
                          </a:solidFill>
                          <a:latin typeface="Arial"/>
                          <a:ea typeface="Malgun Gothic"/>
                          <a:cs typeface="Malgun Gothic"/>
                        </a:rPr>
                        <a:t>더</a:t>
                      </a:r>
                      <a:r>
                        <a:rPr sz="800" b="1" i="0">
                          <a:solidFill>
                            <a:srgbClr val="C2410C"/>
                          </a:solidFill>
                          <a:latin typeface="Arial"/>
                          <a:ea typeface="Malgun Gothic"/>
                          <a:cs typeface="Malgun Gothic"/>
                        </a:rPr>
                        <a:t> 넣고 원래 관측 칸을 복원 학습</a:t>
                      </a:r>
                      <a:r>
                        <a:rPr sz="800" b="0" i="0">
                          <a:solidFill>
                            <a:srgbClr val="16213A"/>
                          </a:solidFill>
                          <a:latin typeface="Arial"/>
                          <a:ea typeface="Malgun Gothic"/>
                          <a:cs typeface="Malgun Gothic"/>
                        </a:rPr>
                        <a:t> — 정답 지도 불필요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UNRealNet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2024.07 (CMU + Field AI)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단일 스캔 → </a:t>
                      </a:r>
                      <a:r>
                        <a:rPr sz="800" b="1" i="0">
                          <a:solidFill>
                            <a:srgbClr val="C2410C"/>
                          </a:solidFill>
                          <a:latin typeface="Arial"/>
                          <a:ea typeface="Malgun Gothic"/>
                          <a:cs typeface="Malgun Gothic"/>
                        </a:rPr>
                        <a:t>7채널 칸별 </a:t>
                      </a:r>
                      <a:r>
                        <a:rPr sz="800" b="1" i="0">
                          <a:solidFill>
                            <a:srgbClr val="C2410C"/>
                          </a:solidFill>
                          <a:latin typeface="Arial"/>
                          <a:ea typeface="Malgun Gothic"/>
                          <a:cs typeface="Malgun Gothic"/>
                        </a:rPr>
                        <a:t>평균+분산</a:t>
                      </a:r>
                      <a:r>
                        <a:rPr sz="800" b="1" i="0">
                          <a:solidFill>
                            <a:srgbClr val="C2410C"/>
                          </a:solidFill>
                          <a:latin typeface="Arial"/>
                          <a:ea typeface="Malgun Gothic"/>
                          <a:cs typeface="Malgun Gothic"/>
                        </a:rPr>
                        <a:t>(travplan 8채널과 거의 일치)</a:t>
                      </a:r>
                      <a:r>
                        <a:rPr sz="800" b="0" i="0">
                          <a:solidFill>
                            <a:srgbClr val="16213A"/>
                          </a:solidFill>
                          <a:latin typeface="Arial"/>
                          <a:ea typeface="Malgun Gothic"/>
                          <a:cs typeface="Malgun Gothic"/>
                        </a:rPr>
                        <a:t>, 인페인팅을 학습으로 강제. 코드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A.2b.7, A.5.2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Robot-Centric Elevation Map Completion (Goga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 · Applied Sciences 16(16):8262</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센서 원점 고정 </a:t>
                      </a:r>
                      <a:r>
                        <a:rPr sz="800" b="1" i="0">
                          <a:solidFill>
                            <a:srgbClr val="C2410C"/>
                          </a:solidFill>
                          <a:latin typeface="Arial"/>
                          <a:ea typeface="Malgun Gothic"/>
                          <a:cs typeface="Malgun Gothic"/>
                        </a:rPr>
                        <a:t>각도 섹터</a:t>
                      </a:r>
                      <a:r>
                        <a:rPr sz="800" b="1" i="0">
                          <a:solidFill>
                            <a:srgbClr val="C2410C"/>
                          </a:solidFill>
                          <a:latin typeface="Arial"/>
                          <a:ea typeface="Malgun Gothic"/>
                          <a:cs typeface="Malgun Gothic"/>
                        </a:rPr>
                        <a:t> 증강</a:t>
                      </a:r>
                      <a:r>
                        <a:rPr sz="800" b="0" i="0">
                          <a:solidFill>
                            <a:srgbClr val="16213A"/>
                          </a:solidFill>
                          <a:latin typeface="Arial"/>
                          <a:ea typeface="Malgun Gothic"/>
                          <a:cs typeface="Malgun Gothic"/>
                        </a:rPr>
                        <a:t>(</a:t>
                      </a:r>
                      <a:r>
                        <a:rPr sz="800" b="0" i="1">
                          <a:solidFill>
                            <a:srgbClr val="16213A"/>
                          </a:solidFill>
                          <a:latin typeface="Arial"/>
                          <a:ea typeface="Malgun Gothic"/>
                          <a:cs typeface="Malgun Gothic"/>
                        </a:rPr>
                        <a:t>"unlike random masks"</a:t>
                      </a:r>
                      <a:r>
                        <a:rPr sz="800" b="0" i="0">
                          <a:solidFill>
                            <a:srgbClr val="16213A"/>
                          </a:solidFill>
                          <a:latin typeface="Arial"/>
                          <a:ea typeface="Malgun Gothic"/>
                          <a:cs typeface="Malgun Gothic"/>
                        </a:rPr>
                        <a:t>), β-NLL로 칸별 불확실성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A.2b.7, A.3b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SCAN-Planner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 (arXiv 2606.19555)</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"2.5D cannot faithfully represent overhanging..."</a:t>
                      </a:r>
                      <a:r>
                        <a:rPr sz="800" b="0" i="0">
                          <a:solidFill>
                            <a:srgbClr val="16213A"/>
                          </a:solidFill>
                          <a:latin typeface="Arial"/>
                          <a:ea typeface="Malgun Gothic"/>
                          <a:cs typeface="Malgun Gothic"/>
                        </a:rPr>
                        <a:t>. 하이브리드 3D + twin-cylinder </a:t>
                      </a:r>
                      <a:r>
                        <a:rPr sz="800" b="0" i="0">
                          <a:solidFill>
                            <a:srgbClr val="16213A"/>
                          </a:solidFill>
                          <a:latin typeface="Consolas"/>
                          <a:ea typeface="Malgun Gothic"/>
                          <a:cs typeface="Malgun Gothic"/>
                        </a:rPr>
                        <a:t>d_up</a:t>
                      </a:r>
                      <a:r>
                        <a:rPr sz="800" b="0" i="0">
                          <a:solidFill>
                            <a:srgbClr val="16213A"/>
                          </a:solidFill>
                          <a:latin typeface="Arial"/>
                          <a:ea typeface="Malgun Gothic"/>
                          <a:cs typeface="Malgun Gothic"/>
                        </a:rPr>
                        <a:t>. Go2 + Orin NX 실시간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A.2b.6, A.5.1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traversability_generator3d / ugv_nav4d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 · JOSS 11(118):9410 (DFKI)</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MLS</a:t>
                      </a:r>
                      <a:r>
                        <a:rPr sz="800" b="0" i="0">
                          <a:solidFill>
                            <a:srgbClr val="16213A"/>
                          </a:solidFill>
                          <a:latin typeface="Arial"/>
                          <a:ea typeface="Malgun Gothic"/>
                          <a:cs typeface="Malgun Gothic"/>
                        </a:rPr>
                        <a:t> 다층 표면. </a:t>
                      </a:r>
                      <a:r>
                        <a:rPr sz="800" b="1" i="0">
                          <a:solidFill>
                            <a:srgbClr val="C2410C"/>
                          </a:solidFill>
                          <a:latin typeface="Arial"/>
                          <a:ea typeface="Malgun Gothic"/>
                          <a:cs typeface="Malgun Gothic"/>
                        </a:rPr>
                        <a:t>Unknown/Frontier/</a:t>
                      </a:r>
                      <a:r>
                        <a:rPr sz="800" b="1" i="0">
                          <a:solidFill>
                            <a:srgbClr val="C2410C"/>
                          </a:solidFill>
                          <a:latin typeface="Arial"/>
                          <a:ea typeface="Malgun Gothic"/>
                          <a:cs typeface="Malgun Gothic"/>
                        </a:rPr>
                        <a:t>Hole</a:t>
                      </a:r>
                      <a:r>
                        <a:rPr sz="800" b="1" i="0">
                          <a:solidFill>
                            <a:srgbClr val="C2410C"/>
                          </a:solidFill>
                          <a:latin typeface="Arial"/>
                          <a:ea typeface="Malgun Gothic"/>
                          <a:cs typeface="Malgun Gothic"/>
                        </a:rPr>
                        <a:t>을 1급 노드 상태로</a:t>
                      </a:r>
                      <a:r>
                        <a:rPr sz="800" b="0" i="0">
                          <a:solidFill>
                            <a:srgbClr val="16213A"/>
                          </a:solidFill>
                          <a:latin typeface="Arial"/>
                          <a:ea typeface="Malgun Gothic"/>
                          <a:cs typeface="Malgun Gothic"/>
                        </a:rPr>
                        <a:t>, 근거 부족 시 보간하지 않음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A.2b.6, A.5.1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G-VOM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2021.09 · IEEE IV 2022 (Texas A&amp;M)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voxel → 2.5D 5장. </a:t>
                      </a:r>
                      <a:r>
                        <a:rPr sz="800" b="0" i="0">
                          <a:solidFill>
                            <a:srgbClr val="16213A"/>
                          </a:solidFill>
                          <a:latin typeface="Consolas"/>
                          <a:ea typeface="Malgun Gothic"/>
                          <a:cs typeface="Malgun Gothic"/>
                        </a:rPr>
                        <a:t>negative_obstacle</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visibility</a:t>
                      </a:r>
                      <a:r>
                        <a:rPr sz="800" b="0" i="0">
                          <a:solidFill>
                            <a:srgbClr val="16213A"/>
                          </a:solidFill>
                          <a:latin typeface="Arial"/>
                          <a:ea typeface="Malgun Gothic"/>
                          <a:cs typeface="Malgun Gothic"/>
                        </a:rPr>
                        <a:t>를 1급 출력으로 내는 유일한 구현. GPL-3.0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A.2b.3, A.5.1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ETH 포크</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GroundGrid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2024.05 · RA-L 9(1):420 (FU Berlin)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격자 기반 지면 분할. </a:t>
                      </a:r>
                      <a:r>
                        <a:rPr sz="800" b="1" i="0">
                          <a:solidFill>
                            <a:srgbClr val="C2410C"/>
                          </a:solidFill>
                          <a:latin typeface="Arial"/>
                          <a:ea typeface="Malgun Gothic"/>
                          <a:cs typeface="Malgun Gothic"/>
                        </a:rPr>
                        <a:t>94.78 % mIoU @ </a:t>
                      </a:r>
                      <a:r>
                        <a:rPr sz="800" b="1" i="0">
                          <a:solidFill>
                            <a:srgbClr val="C2410C"/>
                          </a:solidFill>
                          <a:latin typeface="Arial"/>
                          <a:ea typeface="Malgun Gothic"/>
                          <a:cs typeface="Malgun Gothic"/>
                        </a:rPr>
                        <a:t>171 Hz</a:t>
                      </a:r>
                      <a:r>
                        <a:rPr sz="800" b="0" i="0">
                          <a:solidFill>
                            <a:srgbClr val="16213A"/>
                          </a:solidFill>
                          <a:latin typeface="Arial"/>
                          <a:ea typeface="Malgun Gothic"/>
                          <a:cs typeface="Malgun Gothic"/>
                        </a:rPr>
                        <a:t>(SemanticKITTI), </a:t>
                      </a:r>
                      <a:r>
                        <a:rPr sz="800" b="0" i="0">
                          <a:solidFill>
                            <a:srgbClr val="16213A"/>
                          </a:solidFill>
                          <a:latin typeface="Consolas"/>
                          <a:ea typeface="Malgun Gothic"/>
                          <a:cs typeface="Malgun Gothic"/>
                        </a:rPr>
                        <a:t>ros2-jazzy</a:t>
                      </a:r>
                      <a:r>
                        <a:rPr sz="800" b="0" i="0">
                          <a:solidFill>
                            <a:srgbClr val="16213A"/>
                          </a:solidFill>
                          <a:latin typeface="Arial"/>
                          <a:ea typeface="Malgun Gothic"/>
                          <a:cs typeface="Malgun Gothic"/>
                        </a:rPr>
                        <a:t> 브랜치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A.5.2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urban_road_filter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2022.01 · Sensors 22(1):194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연석 검출기 3종 교체 가능, 기본 브랜치가 </a:t>
                      </a:r>
                      <a:r>
                        <a:rPr sz="800" b="0" i="0">
                          <a:solidFill>
                            <a:srgbClr val="16213A"/>
                          </a:solidFill>
                          <a:latin typeface="Consolas"/>
                          <a:ea typeface="Malgun Gothic"/>
                          <a:cs typeface="Malgun Gothic"/>
                        </a:rPr>
                        <a:t>ros2</a:t>
                      </a:r>
                      <a:r>
                        <a:rPr sz="800" b="0" i="0">
                          <a:solidFill>
                            <a:srgbClr val="16213A"/>
                          </a:solidFill>
                          <a:latin typeface="Arial"/>
                          <a:ea typeface="Malgun Gothic"/>
                          <a:cs typeface="Malgun Gothic"/>
                        </a:rPr>
                        <a:t>. 오름/내림 연석 미구분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A.3c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depth_nav_tools (cliff_detector)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 · JAMRIS</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지면 </a:t>
                      </a:r>
                      <a:r>
                        <a:rPr sz="800" b="1" i="1">
                          <a:solidFill>
                            <a:srgbClr val="C2410C"/>
                          </a:solidFill>
                          <a:latin typeface="Arial"/>
                          <a:ea typeface="Malgun Gothic"/>
                          <a:cs typeface="Malgun Gothic"/>
                        </a:rPr>
                        <a:t>z=0</a:t>
                      </a:r>
                      <a:r>
                        <a:rPr sz="800" b="1" i="0">
                          <a:solidFill>
                            <a:srgbClr val="C2410C"/>
                          </a:solidFill>
                          <a:latin typeface="Arial"/>
                          <a:ea typeface="Malgun Gothic"/>
                          <a:cs typeface="Malgun Gothic"/>
                        </a:rPr>
                        <a:t> 예상 거리 조회표 대비 초과분으로 낙차 판정</a:t>
                      </a:r>
                      <a:r>
                        <a:rPr sz="800" b="0" i="0">
                          <a:solidFill>
                            <a:srgbClr val="16213A"/>
                          </a:solidFill>
                          <a:latin typeface="Arial"/>
                          <a:ea typeface="Malgun Gothic"/>
                          <a:cs typeface="Malgun Gothic"/>
                        </a:rPr>
                        <a:t> — 가장 단순한 기하 기준선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LuSeg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IROS 2025 (NUDT)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~57 Hz. </a:t>
                      </a:r>
                      <a:r>
                        <a:rPr sz="800" b="1" i="0">
                          <a:solidFill>
                            <a:srgbClr val="C2410C"/>
                          </a:solidFill>
                          <a:latin typeface="Arial"/>
                          <a:ea typeface="Malgun Gothic"/>
                          <a:cs typeface="Malgun Gothic"/>
                        </a:rPr>
                        <a:t>동결 RGB 특징 대비 대조 손실로 </a:t>
                      </a:r>
                      <a:r>
                        <a:rPr sz="800" b="1" i="0">
                          <a:solidFill>
                            <a:srgbClr val="C2410C"/>
                          </a:solidFill>
                          <a:latin typeface="Arial"/>
                          <a:ea typeface="Malgun Gothic"/>
                          <a:cs typeface="Malgun Gothic"/>
                        </a:rPr>
                        <a:t>함몰을 깊이 잡음과 분리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A.3c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FFD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 / 109</a:t>
            </a:r>
          </a:p>
        </p:txBody>
      </p:sp>
      <p:graphicFrame>
        <p:nvGraphicFramePr>
          <p:cNvPr id="5" name="Table 4"/>
          <p:cNvGraphicFramePr>
            <a:graphicFrameLocks noGrp="1"/>
          </p:cNvGraphicFramePr>
          <p:nvPr/>
        </p:nvGraphicFramePr>
        <p:xfrm>
          <a:off x="609600" y="1244600"/>
          <a:ext cx="10966945" cy="3771024"/>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438864">
                <a:tc>
                  <a:txBody>
                    <a:bodyPr wrap="square"/>
                    <a:lstStyle/>
                    <a:p>
                      <a:r>
                        <a:rPr sz="800" b="1" i="0">
                          <a:solidFill>
                            <a:srgbClr val="16213A"/>
                          </a:solidFill>
                          <a:latin typeface="Arial"/>
                          <a:ea typeface="Malgun Gothic"/>
                          <a:cs typeface="Malgun Gothic"/>
                        </a:rPr>
                        <a:t>Patchwork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2021.08 · RA-L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동심 극좌표 구역별 평면 + ground likelihood 검정. Patchwork++의 전신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★591 </a:t>
                      </a:r>
                      <a:r>
                        <a:rPr sz="800" b="1" i="0">
                          <a:solidFill>
                            <a:srgbClr val="C2410C"/>
                          </a:solidFill>
                          <a:latin typeface="Arial"/>
                          <a:ea typeface="Malgun Gothic"/>
                          <a:cs typeface="Malgun Gothic"/>
                        </a:rPr>
                        <a:t>MIT</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url-kaist/Patchwork2</a:t>
                      </a:r>
                      <a:r>
                        <a:rPr sz="800" b="0" i="0">
                          <a:solidFill>
                            <a:srgbClr val="16213A"/>
                          </a:solidFill>
                          <a:latin typeface="Arial"/>
                          <a:ea typeface="Malgun Gothic"/>
                          <a:cs typeface="Malgun Gothic"/>
                        </a:rPr>
                        <a:t>는 AGPL-3.0)</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Patchwork++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2022.10 · IROS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동심 구역 지면 분할, 문턱을 데이터에서 적응. BSD-2-Clause·</a:t>
                      </a:r>
                      <a:r>
                        <a:rPr sz="800" b="0" i="0">
                          <a:solidFill>
                            <a:srgbClr val="16213A"/>
                          </a:solidFill>
                          <a:latin typeface="Consolas"/>
                          <a:ea typeface="Malgun Gothic"/>
                          <a:cs typeface="Malgun Gothic"/>
                        </a:rPr>
                        <a:t>pip install pypatchworkpp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r>
                        <a:rPr sz="800" b="0" i="0">
                          <a:solidFill>
                            <a:srgbClr val="16213A"/>
                          </a:solidFill>
                          <a:latin typeface="Arial"/>
                          <a:ea typeface="Malgun Gothic"/>
                          <a:cs typeface="Malgun Gothic"/>
                        </a:rPr>
                        <a:t> ★1.1k</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TRAVEL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 · RA-L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삼각 격자장 그래프로 지면과 지상물을 함께 분할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r>
                        <a:rPr sz="800" b="0" i="0">
                          <a:solidFill>
                            <a:srgbClr val="16213A"/>
                          </a:solidFill>
                          <a:latin typeface="Arial"/>
                          <a:ea typeface="Malgun Gothic"/>
                          <a:cs typeface="Malgun Gothic"/>
                        </a:rPr>
                        <a:t> ★344 </a:t>
                      </a:r>
                      <a:r>
                        <a:rPr sz="800" b="1" i="0">
                          <a:solidFill>
                            <a:srgbClr val="16213A"/>
                          </a:solidFill>
                          <a:latin typeface="Arial"/>
                          <a:ea typeface="Malgun Gothic"/>
                          <a:cs typeface="Malgun Gothic"/>
                        </a:rPr>
                        <a:t>GPL-3.0</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B-TMS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2024.06 · </a:t>
                      </a:r>
                      <a:r>
                        <a:rPr sz="800" b="1" i="0">
                          <a:solidFill>
                            <a:srgbClr val="16213A"/>
                          </a:solidFill>
                          <a:latin typeface="Arial"/>
                          <a:ea typeface="Malgun Gothic"/>
                          <a:cs typeface="Malgun Gothic"/>
                        </a:rPr>
                        <a:t>IEEE IV 2024 워크숍</a:t>
                      </a:r>
                      <a:r>
                        <a:rPr sz="800" b="0" i="0">
                          <a:solidFill>
                            <a:srgbClr val="16213A"/>
                          </a:solidFill>
                          <a:latin typeface="Arial"/>
                          <a:ea typeface="Malgun Gothic"/>
                          <a:cs typeface="Malgun Gothic"/>
                        </a:rPr>
                        <a:t>(Off-road autonomy)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베이지안 지형 모델링. </a:t>
                      </a:r>
                      <a:r>
                        <a:rPr sz="800" b="1" i="0">
                          <a:solidFill>
                            <a:srgbClr val="C2410C"/>
                          </a:solidFill>
                          <a:latin typeface="Arial"/>
                          <a:ea typeface="Malgun Gothic"/>
                          <a:cs typeface="Malgun Gothic"/>
                        </a:rPr>
                        <a:t>움푹한 곳의 거짓 음성을 없앤다 — 바퀴에는 반대 방향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코드 없음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Similar but Different (서베이)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2023.12 arXiv · </a:t>
                      </a:r>
                      <a:r>
                        <a:rPr sz="800" b="1" i="0">
                          <a:solidFill>
                            <a:srgbClr val="16213A"/>
                          </a:solidFill>
                          <a:latin typeface="Arial"/>
                          <a:ea typeface="Malgun Gothic"/>
                          <a:cs typeface="Malgun Gothic"/>
                        </a:rPr>
                        <a:t>IJCAS 22(2):347–359,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지면 분할과 traversability 추정 서베이. </a:t>
                      </a:r>
                      <a:r>
                        <a:rPr sz="800" b="1" i="0">
                          <a:solidFill>
                            <a:srgbClr val="C2410C"/>
                          </a:solidFill>
                          <a:latin typeface="Arial"/>
                          <a:ea typeface="Malgun Gothic"/>
                          <a:cs typeface="Malgun Gothic"/>
                        </a:rPr>
                        <a:t>음의 장애물을 부분집합 관계로 명시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elevation_mapping_gpu_ros2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elevation mapping의 Jetson Orin 포트. </a:t>
                      </a:r>
                      <a:r>
                        <a:rPr sz="800" b="1" i="0">
                          <a:solidFill>
                            <a:srgbClr val="16213A"/>
                          </a:solidFill>
                          <a:latin typeface="Arial"/>
                          <a:ea typeface="Malgun Gothic"/>
                          <a:cs typeface="Malgun Gothic"/>
                        </a:rPr>
                        <a:t>travplan 채택, TP-0008 실행 검증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 A.5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elevation_mapping_cupy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2022.04 · IROS 2022 (ETH RSL)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 리포의 상위. 기하 + 시맨틱 + RGB 멀티모달 GPU elevation mapping, 가시성 정리와 상한 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 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traversability_estimation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(ETH RSL)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elevation map → 법선·경사·거칠기·step 필터로 cost layer. 비학습 기준선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Wild Visual Navigation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2024.04 · Autonomous Robots 2025(저널판)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frozen DINO 특징 + 온라인 자기지도 traversability 헤드, 5분 내 현장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 B.14.3, TP-0010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저널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Wild Visual Navigation (RSS 2023 원판)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 · RSS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고정 DINO-ViT 특징 + 현장 자기지도 traversability, 2분 시연 뒤 공원 보도 1.4 km (ETH·Oxford)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B.14.3, 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V-STRONG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2023.12 ·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vision foundation model + contrastive 자기지도 traversability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TP-0010(PRD)</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ScaTE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2022.09 · RA-L/IROS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점군 → 차량이 느낄 proprioception 예측, </a:t>
                      </a:r>
                      <a:r>
                        <a:rPr sz="800" b="1" i="0">
                          <a:solidFill>
                            <a:srgbClr val="16213A"/>
                          </a:solidFill>
                          <a:latin typeface="Arial"/>
                          <a:ea typeface="Malgun Gothic"/>
                          <a:cs typeface="Malgun Gothic"/>
                        </a:rPr>
                        <a:t>PU learning</a:t>
                      </a:r>
                      <a:r>
                        <a:rPr sz="800" b="0" i="0">
                          <a:solidFill>
                            <a:srgbClr val="16213A"/>
                          </a:solidFill>
                          <a:latin typeface="Arial"/>
                          <a:ea typeface="Malgun Gothic"/>
                          <a:cs typeface="Malgun Gothic"/>
                        </a:rPr>
                        <a:t>으로 과신 영역 식별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 TP-0010 설계 §4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3F0E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11 / 109</a:t>
            </a:r>
          </a:p>
        </p:txBody>
      </p:sp>
      <p:graphicFrame>
        <p:nvGraphicFramePr>
          <p:cNvPr id="5" name="Table 4"/>
          <p:cNvGraphicFramePr>
            <a:graphicFrameLocks noGrp="1"/>
          </p:cNvGraphicFramePr>
          <p:nvPr/>
        </p:nvGraphicFramePr>
        <p:xfrm>
          <a:off x="609600" y="1244600"/>
          <a:ext cx="10966945" cy="3757848"/>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Learning Off-Road Terrain Traversability with Self-Supervisions Only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RA-L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지나간 곳 = 양성 자동 라벨 + one-class 분류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METAVerse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BEV 연속 비용 지도, 메타러닝 + 현장 온라인 적응, MPC 연동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Evidential Semantic Mapping (BKI)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EDL 불확실성으로 가중한 BKI 시맨틱 지도 융합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Uncertainty-aware Semantic Mapping (Dempster-Shafer)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증거 이론 기반 오프로드 시맨틱 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E2-BKI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가우시안 묶음 + 타원형 커널의 불확실성 인지 BKI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Embracing Uncertainty in Off-road Perception (강연)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Junwon Seo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자기지도·불확실성 계보를 한 흐름으로 설명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영상</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SALON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바퀴형 로봇 오프로드 자기지도 적응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STERLING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제약 없는 주행 경험에서 지형 표현 자기지도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MILER </a:t>
                      </a:r>
                      <a:r>
                        <a:rPr sz="800" b="0" i="0">
                          <a:solidFill>
                            <a:srgbClr val="16213A"/>
                          </a:solidFill>
                          <a:latin typeface="Consolas"/>
                          <a:ea typeface="Malgun Gothic"/>
                          <a:cs typeface="Malgun Gothic"/>
                        </a:rPr>
                        <a:t>E2E▸인식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시맨틱 BEV 중간 표현으로 sim-to-real, Jetson AGX Orin 실주행 17.3 km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TRIP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다리 로봇 위험 인지 traversability 지도, T-BGK 보간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RoM-Nav </a:t>
                      </a:r>
                      <a:r>
                        <a:rPr sz="800" b="0" i="0">
                          <a:solidFill>
                            <a:srgbClr val="16213A"/>
                          </a:solidFill>
                          <a:latin typeface="Consolas"/>
                          <a:ea typeface="Malgun Gothic"/>
                          <a:cs typeface="Malgun Gothic"/>
                        </a:rPr>
                        <a:t>E2E▸인식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ICRA 2027 심사 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LiDAR·깊이 denoising VAE 인코더 + 지형 분할 헤드, 사전학습 후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영상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height_mapping (Caltech AMBER)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 + MID-360 FAST-LIO 높이 지도, 큰 축 정렬 지도 + SE(2) 조회 스레드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DreamFlow </a:t>
                      </a:r>
                      <a:r>
                        <a:rPr sz="800" b="0" i="0">
                          <a:solidFill>
                            <a:srgbClr val="16213A"/>
                          </a:solidFill>
                          <a:latin typeface="Consolas"/>
                          <a:ea typeface="Malgun Gothic"/>
                          <a:cs typeface="Malgun Gothic"/>
                        </a:rPr>
                        <a:t>E2E▸인식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matching으로 관측 밖 지형 잠재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Miki et al. (perceptive locomotion) </a:t>
                      </a:r>
                      <a:r>
                        <a:rPr sz="800" b="0" i="0">
                          <a:solidFill>
                            <a:srgbClr val="16213A"/>
                          </a:solidFill>
                          <a:latin typeface="Consolas"/>
                          <a:ea typeface="Malgun Gothic"/>
                          <a:cs typeface="Malgun Gothic"/>
                        </a:rPr>
                        <a:t>E2E▸인식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2022.01 · Science Robotics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샘플 + proprioception belief encoder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NavDP </a:t>
                      </a:r>
                      <a:r>
                        <a:rPr sz="800" b="0" i="0">
                          <a:solidFill>
                            <a:srgbClr val="16213A"/>
                          </a:solidFill>
                          <a:latin typeface="Consolas"/>
                          <a:ea typeface="Malgun Gothic"/>
                          <a:cs typeface="Malgun Gothic"/>
                        </a:rPr>
                        <a:t>E2E▸인식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 특권 정보로만 학습한 RGB-D 공간 이해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FFD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 인식 — 지형·traversability·중간 표현</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12 / 109</a:t>
            </a:r>
          </a:p>
        </p:txBody>
      </p:sp>
      <p:graphicFrame>
        <p:nvGraphicFramePr>
          <p:cNvPr id="5" name="Table 4"/>
          <p:cNvGraphicFramePr>
            <a:graphicFrameLocks noGrp="1"/>
          </p:cNvGraphicFramePr>
          <p:nvPr/>
        </p:nvGraphicFramePr>
        <p:xfrm>
          <a:off x="609600" y="1244600"/>
          <a:ext cx="10966945" cy="2454432"/>
        </p:xfrm>
        <a:graphic>
          <a:graphicData uri="http://schemas.openxmlformats.org/drawingml/2006/table">
            <a:tbl>
              <a:tblPr firstRow="1" bandRow="1">
                <a:tableStyleId>{5C22544A-7EE6-4342-B048-85BDC9FD1C3A}</a:tableStyleId>
              </a:tblPr>
              <a:tblGrid>
                <a:gridCol w="2593280"/>
                <a:gridCol w="1246485"/>
                <a:gridCol w="4752975"/>
                <a:gridCol w="819150"/>
                <a:gridCol w="155505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SyNeT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 inpainting 합성 음성으로 PU·PN 자기지도 traversability 보강, RELLIS-3D LORT AUROC 0.935→0.979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GSAT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BEV 잠재 초구로 라벨 없는 칸을 정상·이상으로 분할하는 PU 학습(인하대)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Long-Horizon Traversability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위성·항공 LiDAR·OSM에서 GPS 궤적 양성 nnPU, Warthog 개입 14→2회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Experience-Driven CL (Go2)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DINOv3 고정 특징에서 접지 성질 5개 + evidential epistemic 분산, 검증 관문 연속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Task-Conditioned Costmaps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스캔 + 명령 속도 조건 발 디딤 epistemic 분산을 MPPI 비용 지도로, 10회 중 8회 최저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ProTerrain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 · ICRA 2026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공간 상관 높이 공분산을 합성곱으로, 미분 물리로 궤적 분포 전파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Occlusion-Aware Planning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가림을 Fourier 지형 계수의 역 Hessian 분산으로, 자세 분산까지 전파해 CEM, 합성 지형 실패 18.9%, 실외 6곳 정성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A.2b.7, 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SceneSense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못 본 voxel을 확산 모델로 생성해 확률로 합침, Spot FID 24.44%·75.59% 개선. 포트홀을 평평하게 덮을 위험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CODEI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T-RO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센서·장착 위치·검출기·연산 장치를 ILP로 공동 선택, 카메라는 가격·질량, LiDAR는 전력·연산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D.2 인식 — Occupancy</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13 / 109</a:t>
            </a:r>
          </a:p>
        </p:txBody>
      </p:sp>
      <p:graphicFrame>
        <p:nvGraphicFramePr>
          <p:cNvPr id="5" name="Table 4"/>
          <p:cNvGraphicFramePr>
            <a:graphicFrameLocks noGrp="1"/>
          </p:cNvGraphicFramePr>
          <p:nvPr/>
        </p:nvGraphicFramePr>
        <p:xfrm>
          <a:off x="609600" y="1244600"/>
          <a:ext cx="10966449" cy="2365056"/>
        </p:xfrm>
        <a:graphic>
          <a:graphicData uri="http://schemas.openxmlformats.org/drawingml/2006/table">
            <a:tbl>
              <a:tblPr firstRow="1" bandRow="1">
                <a:tableStyleId>{5C22544A-7EE6-4342-B048-85BDC9FD1C3A}</a:tableStyleId>
              </a:tblPr>
              <a:tblGrid>
                <a:gridCol w="2003028"/>
                <a:gridCol w="1987252"/>
                <a:gridCol w="4770239"/>
                <a:gridCol w="1061541"/>
                <a:gridCol w="11443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WalkOCC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sidewalk 배달로봇 단안 3D occupancy, ray-marching + 하이브리드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OneOcc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CVPR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다리 로봇 단일 파노라마, Dual-Projection · Bi-Grid · 보행 흔들림 보정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O3N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전방위 이미지, Polar-spiral Mamba + CLIP 개방 어휘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PanoMMOcc / VoxelHound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다리 로봇 파노라마 멀티모달, 수직 흔들림 보정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FlashOcc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 유지 + channel-to-height, TensorRT export 검증(자동차)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 A.4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AgniNav </a:t>
                      </a:r>
                      <a:r>
                        <a:rPr sz="800" b="0" i="0">
                          <a:solidFill>
                            <a:srgbClr val="16213A"/>
                          </a:solidFill>
                          <a:latin typeface="Consolas"/>
                          <a:ea typeface="Malgun Gothic"/>
                          <a:cs typeface="Malgun Gothic"/>
                        </a:rPr>
                        <a:t>E2E▸인식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 1D pseudo-laserscan, 몸체 4 파라미터, Orin 30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Humanoid Occupancy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자기 가림·센서 간섭 대응 파노라마 occupancy + 데이터셋</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Humanoid-OmniOcc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스테레오만으로 Real2Sim2Real 파노라마 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MonoScene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2021.12 (자동차, 채택 제외)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단안 3D semantic scene completion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 A.5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TPVFormer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2023.02 (자동차, 채택 제외)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tri-perspective view 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 A.5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SurroundOcc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 (자동차, 채택 제외)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멀티카메라 3D occupancy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 A.5, 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FFD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D.3 인식 — 예측: occupancy flow·world model·행위자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14 / 109</a:t>
            </a:r>
          </a:p>
        </p:txBody>
      </p:sp>
      <p:graphicFrame>
        <p:nvGraphicFramePr>
          <p:cNvPr id="5" name="Table 4"/>
          <p:cNvGraphicFramePr>
            <a:graphicFrameLocks noGrp="1"/>
          </p:cNvGraphicFramePr>
          <p:nvPr/>
        </p:nvGraphicFramePr>
        <p:xfrm>
          <a:off x="609600" y="1244600"/>
          <a:ext cx="10966449" cy="2562144"/>
        </p:xfrm>
        <a:graphic>
          <a:graphicData uri="http://schemas.openxmlformats.org/drawingml/2006/table">
            <a:tbl>
              <a:tblPr firstRow="1" bandRow="1">
                <a:tableStyleId>{5C22544A-7EE6-4342-B048-85BDC9FD1C3A}</a:tableStyleId>
              </a:tblPr>
              <a:tblGrid>
                <a:gridCol w="1807071"/>
                <a:gridCol w="1541859"/>
                <a:gridCol w="5417542"/>
                <a:gridCol w="1391146"/>
                <a:gridCol w="808831"/>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Drive-OccWorld </a:t>
                      </a:r>
                      <a:r>
                        <a:rPr sz="800" b="0" i="0">
                          <a:solidFill>
                            <a:srgbClr val="16213A"/>
                          </a:solidFill>
                          <a:latin typeface="Consolas"/>
                          <a:ea typeface="Malgun Gothic"/>
                          <a:cs typeface="Malgun Gothic"/>
                        </a:rPr>
                        <a:t>E2E▸인식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 · AAAI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메모리 조건부 4D occupancy·flow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OccWorld </a:t>
                      </a:r>
                      <a:r>
                        <a:rPr sz="800" b="0" i="0">
                          <a:solidFill>
                            <a:srgbClr val="16213A"/>
                          </a:solidFill>
                          <a:latin typeface="Consolas"/>
                          <a:ea typeface="Malgun Gothic"/>
                          <a:cs typeface="Malgun Gothic"/>
                        </a:rPr>
                        <a:t>E2E▸인식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VQ 장면 토큰 transformer로 미래 occupancy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RiskWorld </a:t>
                      </a:r>
                      <a:r>
                        <a:rPr sz="800" b="0" i="0">
                          <a:solidFill>
                            <a:srgbClr val="16213A"/>
                          </a:solidFill>
                          <a:latin typeface="Consolas"/>
                          <a:ea typeface="Malgun Gothic"/>
                          <a:cs typeface="Malgun Gothic"/>
                        </a:rPr>
                        <a:t>E2E▸인식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flow-guided occupancy 이송 + risk field, RTX 4090 11.5 FPS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JPPD </a:t>
                      </a:r>
                      <a:r>
                        <a:rPr sz="800" b="0" i="0">
                          <a:solidFill>
                            <a:srgbClr val="16213A"/>
                          </a:solidFill>
                          <a:latin typeface="Consolas"/>
                          <a:ea typeface="Malgun Gothic"/>
                          <a:cs typeface="Malgun Gothic"/>
                        </a:rPr>
                        <a:t>E2E▸인식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학습된 시공간 점유 potential(보행자)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OccLLaMA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occupancy-언어-행동 생성형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DFIT-OccWorld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동적/정적 flow 분리 + 미분 가능 렌더링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DOME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diffusion 기반 제어 가능 occupancy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GEM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임의 시각 질의 가능한 연속 4D 가우시안(비자기회귀)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Let Occ 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2024.07 · CoRL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카메라만으로 occupancy + flow 자기지도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OFMPNet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Waymo occupancy-and-flow 벤치마크 직접 타깃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HOPE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계층적 시공간 occupancy flow 예측(챌린지 우승 여부는 미검증)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Trajectron++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기구학적으로 실현 가능한 다중 행위자 궤적 예측, 자차 계획 조건(Jetson 실측 없음, 후속 과제)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 PRD R-F-004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D.3b 인식 — 마일스톤, 시각 기반 모델, 동적 장애물</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15 / 109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A.2·A.2b(지형 지도 계보), A.10.1–A.10.2(traversability 계보와 2026 SOTA), A.11(시각 기반 모델), A.12(검출·추적·예측, A.12.4 로봇 기준 3D·BEV)에서 다룬 연구다. 위 D.1–D.3에 이미 있는 항목(MonoScene, TPVFormer, SurroundOcc, FlashOcc, Trajectron++ 등)은 반복하지 않는다.</a:t>
            </a:r>
          </a:p>
        </p:txBody>
      </p:sp>
      <p:graphicFrame>
        <p:nvGraphicFramePr>
          <p:cNvPr id="6" name="Table 5"/>
          <p:cNvGraphicFramePr>
            <a:graphicFrameLocks noGrp="1"/>
          </p:cNvGraphicFramePr>
          <p:nvPr/>
        </p:nvGraphicFramePr>
        <p:xfrm>
          <a:off x="609600" y="1766491"/>
          <a:ext cx="10966450" cy="3395184"/>
        </p:xfrm>
        <a:graphic>
          <a:graphicData uri="http://schemas.openxmlformats.org/drawingml/2006/table">
            <a:tbl>
              <a:tblPr firstRow="1" bandRow="1">
                <a:tableStyleId>{5C22544A-7EE6-4342-B048-85BDC9FD1C3A}</a:tableStyleId>
              </a:tblPr>
              <a:tblGrid>
                <a:gridCol w="1697335"/>
                <a:gridCol w="1408410"/>
                <a:gridCol w="4578350"/>
                <a:gridCol w="1127125"/>
                <a:gridCol w="2155230"/>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Lift-Splat-Shoot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2020.08 · ECCV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분포로 카메라 특징을 BEV에 올리는 리프팅의 원형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BEVFormer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2022.03 · ECCV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격자 BEV query의 공간·시간 attention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BEVFusion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2022.05 · ICRA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카메라와 LiDAR를 같은 BEV에서 융합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Occ3D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 · NeurIPS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가시성을 아는 조밀 occupancy 정답과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SparseOcc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2023.12 · ECCV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완전 희소 occupancy, 광선 기반 지표 RayIoU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GaussianFormer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2024.05 · ECCV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장면을 3D Gaussian 집합으로 표현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GaussianFormer-2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 · CVPR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Gaussian을 점유 확률로 보는 확률적 중첩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Robot-centric elevation mapping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CLAWAR 2014 · RA-L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칸마다 높이와 분산을 Kalman으로, 자세 불확실성을 칸의 수평 불확실성으로 전파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 B.14.1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논문(RA-L 2018)</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논문(CLAWAR 2014)</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RELLIS-3D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2020.11 · ICRA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오프로드 멀티모달 데이터셋, 사람 라벨 20클래스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BADGR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2020.02 · RA-L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충돌·충격 사건을 자기지도 라벨로 행동 조건 예측 모델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TerraPN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2022.02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IMU 진동·주행거리 오차로 표면 비용을 25분에 온라인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How Does It Feel?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2022.09 · ICRA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속도 조건 proprioception 비용 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RoadRunner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T-FR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카메라·LiDAR에서 traversability와 높이를 함께, 지연 500→140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A.10.1, PRD R-F-001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ViTA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SAM2를 traversability prompt와 기하 증류로 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CATNAV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VLM 비용 지도 + 의미 캐시로 호출 85.7%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7"/>
                        </a:rPr>
                        <a:t>논문</a:t>
                      </a:r>
                    </a:p>
                  </a:txBody>
                  <a:tcPr marL="63500" marR="63500" marT="12700" marB="12700">
                    <a:solidFill>
                      <a:srgbClr val="FFFD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D.3b 인식 — 마일스톤, 시각 기반 모델, 동적 장애물</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16 / 109</a:t>
            </a:r>
          </a:p>
        </p:txBody>
      </p:sp>
      <p:graphicFrame>
        <p:nvGraphicFramePr>
          <p:cNvPr id="5" name="Table 4"/>
          <p:cNvGraphicFramePr>
            <a:graphicFrameLocks noGrp="1"/>
          </p:cNvGraphicFramePr>
          <p:nvPr/>
        </p:nvGraphicFramePr>
        <p:xfrm>
          <a:off x="609600" y="1244600"/>
          <a:ext cx="10966450" cy="3744672"/>
        </p:xfrm>
        <a:graphic>
          <a:graphicData uri="http://schemas.openxmlformats.org/drawingml/2006/table">
            <a:tbl>
              <a:tblPr firstRow="1" bandRow="1">
                <a:tableStyleId>{5C22544A-7EE6-4342-B048-85BDC9FD1C3A}</a:tableStyleId>
              </a:tblPr>
              <a:tblGrid>
                <a:gridCol w="1697335"/>
                <a:gridCol w="1408410"/>
                <a:gridCol w="4578350"/>
                <a:gridCol w="1127125"/>
                <a:gridCol w="2155230"/>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PIVOT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VLM 비용을 실측과 상관으로 보정, 기하 기본 + VLM 대체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DINOv2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라벨 없이 학습한 범용 영상 특징(Apache-2.0)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DINOv3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Gram anchoring으로 조밀 특징 유지, 7B 교사 증류(자체 라이선스)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Depth Anything V2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2024.06 · NeurIPS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합성 영상 교사와 가짜 라벨 학생의 단안 깊이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Depth Anything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평범한 DINOv2 transformer + depth-ray 목표로 여러 시점 기하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SAM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스트리밍 메모리로 영상 분할과 추적(Apache-2.0)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SAM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명사구·예시로 지정한 개념의 모든 인스턴스 분할, presence head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Grounding DINO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ECCV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글로 지정한 물체의 open-set 검출, COCO zero-shot 52.5 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Ultralytics YOLO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YOLOv8부터 YOLO26까지, 학습·추적·내보내기 일체(AGPL-3.0). PoC(TP-0011)가 사용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RT-DETR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 · CVPR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첫 실시간 end-to-end 검출기(Apache-2.0)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YOLOv10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2024.05 · NeurIPS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이중 할당으로 NMS 없는 YOLO(AGPL-3.0)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D-FINE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2024.10 ·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상자 회귀를 분포 정제로(Apache-2.0)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RF-DETR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 · ICLR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DINOv2 백본 + 가중치 공유 NAS, 실시간 첫 60 AP(Apache-2.0)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6"/>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ByteTrack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2021.10 · ECCV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낮은 점수 상자도 두 번째 매칭에 쓰는 추적. PoC가 사용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BoT-SORT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움직임 보정, 칼만 상태 개선, ReID 융합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Social GAN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2018.03 · CVPR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GAN과 사회적 pooling으로 여러 미래 샘플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Constant Velocity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2019.03 · RA-L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등속 모델이 신경망 보행자 예측과 비슷하거나 낫다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AgentFormer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2021.03 · ICCV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시간과 사회 차원을 한 transformer로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5"/>
                        </a:rPr>
                        <a:t>코드</a:t>
                      </a:r>
                    </a:p>
                  </a:txBody>
                  <a:tcPr marL="63500" marR="63500" marT="12700" marB="12700">
                    <a:solidFill>
                      <a:srgbClr val="F3F0E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D.3b 인식 — 마일스톤, 시각 기반 모델, 동적 장애물</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17 / 109</a:t>
            </a:r>
          </a:p>
        </p:txBody>
      </p:sp>
      <p:graphicFrame>
        <p:nvGraphicFramePr>
          <p:cNvPr id="5" name="Table 4"/>
          <p:cNvGraphicFramePr>
            <a:graphicFrameLocks noGrp="1"/>
          </p:cNvGraphicFramePr>
          <p:nvPr/>
        </p:nvGraphicFramePr>
        <p:xfrm>
          <a:off x="609600" y="1244600"/>
          <a:ext cx="10966450" cy="3744672"/>
        </p:xfrm>
        <a:graphic>
          <a:graphicData uri="http://schemas.openxmlformats.org/drawingml/2006/table">
            <a:tbl>
              <a:tblPr firstRow="1" bandRow="1">
                <a:tableStyleId>{5C22544A-7EE6-4342-B048-85BDC9FD1C3A}</a:tableStyleId>
              </a:tblPr>
              <a:tblGrid>
                <a:gridCol w="1697335"/>
                <a:gridCol w="1408410"/>
                <a:gridCol w="4578350"/>
                <a:gridCol w="1127125"/>
                <a:gridCol w="2155230"/>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2022.03 · CVPR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확산으로 불확정성을 걷어 내는 궤적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CVPR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leapfrog 초기화로 확산 예측 19–31배 가속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SingularTrajectory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 · CVPR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다섯 예측 과제를 한 특이값 공간으로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MoFlow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 · CVPR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 K-shot 예측 + IMLE 한 스텝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CenterPoint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2020.06 · CVPR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 중심점 검출 + 속도 헤드로 탐욕 매칭 추적, nuScenes 65.5 NDS·63.8 AMOTA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AB3DMOT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2019.07 · IROS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칼만 + 3D IoU 헝가리안, 207 FPS, 3D 추적 지표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FaF (Fast and Furious)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CVPR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BEV 한 네트워크로 검출·추적·예측, 30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MotionNet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2020.03 · CVPR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BEV 칸마다 범주와 움직임, 상자 기반 시스템의 백업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UnO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CVPR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광선 가짜 라벨로 4D 점유장 자기지도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DR-SPAAM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2020.04 · IROS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2D LiDAR 사람 검출, 공간 attention 누적(GPL-3.0)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임베디드 2D LiDAR 사람 추적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DR-SPAAM + 등속 칼만(Norfair)을 사족보행 로봇에, 20 Hz MOTA 85.45%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JRDB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2019.10 · T-PAMI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시점 사람 인식 데이터셋, 3D 상자 180만 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사이트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Person-MinkUNet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sparse 3D 합성곱 사람 검출, JRDB AP 76.4%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5"/>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2D vs 3D LiDAR 사람 검출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2021.06 · IROS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JRDB에서 DR-SPAAM과 CenterPoint 비교, Jetson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RoboSense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 · CVPR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근거리 멀티센서 데이터셋, 3D 상자 140만 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MonoLoco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2019.06 · ICCV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2D 관절에서 3D 위치와 Laplace 불확실성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navigation2_dynamic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 동적 장애물 칼만·헝가리안 추적, ObstacleArray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M-detector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Nat. Commun.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가림 원리로 점마다 수 µs에 이동 판정(GPL-2.0)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3"/>
                        </a:rPr>
                        <a:t>코드</a:t>
                      </a:r>
                    </a:p>
                  </a:txBody>
                  <a:tcPr marL="63500" marR="63500" marT="12700" marB="12700">
                    <a:solidFill>
                      <a:srgbClr val="F3F0E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D.3b 인식 — 마일스톤, 시각 기반 모델, 동적 장애물</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18 / 109</a:t>
            </a:r>
          </a:p>
        </p:txBody>
      </p:sp>
      <p:graphicFrame>
        <p:nvGraphicFramePr>
          <p:cNvPr id="5" name="Table 4"/>
          <p:cNvGraphicFramePr>
            <a:graphicFrameLocks noGrp="1"/>
          </p:cNvGraphicFramePr>
          <p:nvPr/>
        </p:nvGraphicFramePr>
        <p:xfrm>
          <a:off x="609600" y="1244600"/>
          <a:ext cx="10966450" cy="2091768"/>
        </p:xfrm>
        <a:graphic>
          <a:graphicData uri="http://schemas.openxmlformats.org/drawingml/2006/table">
            <a:tbl>
              <a:tblPr firstRow="1" bandRow="1">
                <a:tableStyleId>{5C22544A-7EE6-4342-B048-85BDC9FD1C3A}</a:tableStyleId>
              </a:tblPr>
              <a:tblGrid>
                <a:gridCol w="1697335"/>
                <a:gridCol w="1408410"/>
                <a:gridCol w="4578350"/>
                <a:gridCol w="1127125"/>
                <a:gridCol w="2155230"/>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Dynablox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2023.04 · RA-L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확실한 빈 공간에 나타난 점으로 이동 검출, IoU 86% 17 FPS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동적 occupancy grid (DOGMa)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2016.05 · IJRR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random finite set 입자 필터로 칸별 점유와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EgoTraj-Bench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 섞인 1인칭 이력으로 예측, BiFlow로 minADE·minFDE 10–15%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Legs Over Arms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하체 3D 관절이 로봇 시점 궤적 예측 ADE 13% 감소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Conformal 군중 내비게이션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적응형 conformal 오차 범위 + 제약 강화학습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예측 품질과 내비게이션 성능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사용자 80명 실험, ADE가 내비게이션 성능을 대변하지 못함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EgoNeMo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1인칭 LiDAR로 옮겨 쓸 수 있는 보행 패턴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Calibrated Gaussian Predictors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Mahalanobis 거리를 카이제곱에 맞추는 보정 손실, 충돌률 16조합 중 10 감소·5 증가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CoCoNav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수평선별 conformal PI 오차 범위 + 소프트 MPC 해를 별도 검사(relax-then-verify), MATRiX 시뮬·4족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Planner</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19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D.0 E2E 연구 분해 — 인식 부분 / 플래너 부분</a:t>
            </a:r>
          </a:p>
          <a:p>
            <a:pPr>
              <a:spcAft>
                <a:spcPts val="400"/>
              </a:spcAft>
            </a:pPr>
            <a:r>
              <a:rPr sz="1000" b="0" i="0">
                <a:solidFill>
                  <a:srgbClr val="C9D1E0"/>
                </a:solidFill>
                <a:latin typeface="Arial"/>
                <a:ea typeface="Malgun Gothic"/>
                <a:cs typeface="Malgun Gothic"/>
              </a:rPr>
              <a:t>D.4 Planner — 학습 기반 (waypoint·RL·foundation)</a:t>
            </a:r>
          </a:p>
          <a:p>
            <a:pPr>
              <a:spcAft>
                <a:spcPts val="400"/>
              </a:spcAft>
            </a:pPr>
            <a:r>
              <a:rPr sz="1000" b="0" i="0">
                <a:solidFill>
                  <a:srgbClr val="C9D1E0"/>
                </a:solidFill>
                <a:latin typeface="Arial"/>
                <a:ea typeface="Malgun Gothic"/>
                <a:cs typeface="Malgun Gothic"/>
              </a:rPr>
              <a:t>D.4b Planner — 비학습 위험 인지 경로 계획 (비교 기준)</a:t>
            </a:r>
          </a:p>
          <a:p>
            <a:pPr>
              <a:spcAft>
                <a:spcPts val="400"/>
              </a:spcAft>
            </a:pPr>
            <a:r>
              <a:rPr sz="1000" b="0" i="0">
                <a:solidFill>
                  <a:srgbClr val="C9D1E0"/>
                </a:solidFill>
                <a:latin typeface="Arial"/>
                <a:ea typeface="Malgun Gothic"/>
                <a:cs typeface="Malgun Gothic"/>
              </a:rPr>
              <a:t>D.5 Planner — 생성형 궤적 (diffusion·flow) — Planner D 직접 참고</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D.5b Planner — 고전 기준선, 마일스톤, VLA, E2E 주행</a:t>
            </a:r>
          </a:p>
          <a:p>
            <a:pPr>
              <a:spcAft>
                <a:spcPts val="400"/>
              </a:spcAft>
            </a:pPr>
            <a:r>
              <a:rPr sz="1000" b="0" i="0">
                <a:solidFill>
                  <a:srgbClr val="C9D1E0"/>
                </a:solidFill>
                <a:latin typeface="Arial"/>
                <a:ea typeface="Malgun Gothic"/>
                <a:cs typeface="Malgun Gothic"/>
              </a:rPr>
              <a:t>D.5c Planner — 로봇별 오픈소스 스택</a:t>
            </a:r>
          </a:p>
          <a:p>
            <a:pPr>
              <a:spcAft>
                <a:spcPts val="400"/>
              </a:spcAft>
            </a:pPr>
            <a:r>
              <a:rPr sz="1000" b="0" i="0">
                <a:solidFill>
                  <a:srgbClr val="C9D1E0"/>
                </a:solidFill>
                <a:latin typeface="Arial"/>
                <a:ea typeface="Malgun Gothic"/>
                <a:cs typeface="Malgun Gothic"/>
              </a:rPr>
              <a:t>D.5d Planner — 로봇 분야별 계획·제어 지형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D.0 E2E 연구 분해 — 인식 부분 / 플래너 부분</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20 / 109</a:t>
            </a:r>
          </a:p>
        </p:txBody>
      </p:sp>
      <p:graphicFrame>
        <p:nvGraphicFramePr>
          <p:cNvPr id="5" name="Table 4"/>
          <p:cNvGraphicFramePr>
            <a:graphicFrameLocks noGrp="1"/>
          </p:cNvGraphicFramePr>
          <p:nvPr/>
        </p:nvGraphicFramePr>
        <p:xfrm>
          <a:off x="609600" y="1244600"/>
          <a:ext cx="10966450" cy="3618624"/>
        </p:xfrm>
        <a:graphic>
          <a:graphicData uri="http://schemas.openxmlformats.org/drawingml/2006/table">
            <a:tbl>
              <a:tblPr firstRow="1" bandRow="1">
                <a:tableStyleId>{5C22544A-7EE6-4342-B048-85BDC9FD1C3A}</a:tableStyleId>
              </a:tblPr>
              <a:tblGrid>
                <a:gridCol w="1222375"/>
                <a:gridCol w="1766491"/>
                <a:gridCol w="2312591"/>
                <a:gridCol w="2383730"/>
                <a:gridCol w="2857500"/>
                <a:gridCol w="423763"/>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 → 출력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플래너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쓸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목록</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Drive-OccWorld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멀티카메라 → 미래 4D occupancy·flow +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과거 BEV 임베딩을 누적하는 메모리 + 의미·운동 조건부 정규화로 미래 occupancy·flow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속도·조향·궤적 조건부로 미래를 생성해 후보 궤적 중 최적을 선택</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 보행자 미래 점유 예측(등속 </a:t>
                      </a:r>
                      <a:r>
                        <a:rPr sz="800" b="0" i="0">
                          <a:solidFill>
                            <a:srgbClr val="16213A"/>
                          </a:solidFill>
                          <a:latin typeface="Consolas"/>
                          <a:ea typeface="Malgun Gothic"/>
                          <a:cs typeface="Malgun Gothic"/>
                        </a:rPr>
                        <a:t>DynamicObstacles</a:t>
                      </a:r>
                      <a:r>
                        <a:rPr sz="800" b="0" i="0">
                          <a:solidFill>
                            <a:srgbClr val="16213A"/>
                          </a:solidFill>
                          <a:latin typeface="Arial"/>
                          <a:ea typeface="Malgun Gothic"/>
                          <a:cs typeface="Malgun Gothic"/>
                        </a:rPr>
                        <a:t>의 후속 후보). </a:t>
                      </a:r>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후보별 예측 점유로 채점 → Planner D 선택기 확장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D.3, D.5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OccWorld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과거 occupancy → 미래 occupancy + ego 궤적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VQ scene tokenizer(occupancy → 이산 토큰)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장면 토큰과 ego 토큰을 한 transformer로 함께 생성</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 장면 전체 미래 예측. 플래너 쪽은 JPPD·Diffusion Planner가 더 직접적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D.3</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RiskWorld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 지도 + 행위자 → 위험 인지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flow-guided occupancy 이송 + signed residual 보정, risk field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현재 계획과 후보를 충돌 점수로 비교해 위험이 임계를 넘고 대안이 제약을 만족할 때만 교체(예측 재사용)</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 flow 기반 점유 예측. </a:t>
                      </a:r>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선택적 재계획 → Planner D 재계획 간 일관성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D.3, D.5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JPPD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상태 + 보행자 이력 + 지도 + 목표 → 로봇·보행자 미래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시공간 occupancy 확률 네트워크(학습된 점유 potential)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로봇·보행자 공동 diffusion + 미분 가능 안전 포텐셜 guidance, CLF로 목표 진행</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둘 다</a:t>
                      </a:r>
                      <a:r>
                        <a:rPr sz="800" b="0" i="0">
                          <a:solidFill>
                            <a:srgbClr val="16213A"/>
                          </a:solidFill>
                          <a:latin typeface="Arial"/>
                          <a:ea typeface="Malgun Gothic"/>
                          <a:cs typeface="Malgun Gothic"/>
                        </a:rPr>
                        <a:t>: 보행자 점유를 학습 필드로, 공동 생성으로 상호작용. 보도 배달로봇·Isaac Sim·ROS 검증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D.3, D.5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Diffusion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벡터화된 이웃·차선(인식 결과) → ego + 이웃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센서 인식은 없음. 이웃 10대의 미래 </a:t>
                      </a:r>
                      <a:r>
                        <a:rPr sz="800" b="1" i="0">
                          <a:solidFill>
                            <a:srgbClr val="16213A"/>
                          </a:solidFill>
                          <a:latin typeface="Arial"/>
                          <a:ea typeface="Malgun Gothic"/>
                          <a:cs typeface="Malgun Gothic"/>
                        </a:rPr>
                        <a:t>예측</a:t>
                      </a:r>
                      <a:r>
                        <a:rPr sz="800" b="0" i="0">
                          <a:solidFill>
                            <a:srgbClr val="16213A"/>
                          </a:solidFill>
                          <a:latin typeface="Arial"/>
                          <a:ea typeface="Malgun Gothic"/>
                          <a:cs typeface="Malgun Gothic"/>
                        </a:rPr>
                        <a:t>을 계획과 한 번에 생성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DiT, classifier guidance, DPM-Solver++ 10 step</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(주 참고). 예측을 계획에 합치는 구조는 2단계 과제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DiffusionDrive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 LiDAR → 궤적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TransFuser식 카메라·LiDAR BEV 융합(ResNet-34)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20개 anchor에서 시작하는 truncated diffusion 2 step + cascade decoder</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anchor로 모드 커버리지 확보(Planner D의 급회전 실패 대응 후보). 인식은 자동차 멀티센서라 제외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FeaXDrive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센서 → 궤적(NAVSIM)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자동차 E2E 백본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곡률 정규화 학습 + drivable-area guidance + feasibility GRPO 후학습</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생성 중 guidance(Planner D 개선안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GuideFlow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센서 → 궤적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자동차 E2E 백본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constrained flow matching + EBM으로 물리 제약 직접 강제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Planner D와 같은 flow matching에 제약 추가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NavDP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 궤적 후보 + 안전 점수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인코더(transformer), 시뮬 특권 정보로 공간 이해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diffusion 궤적 헤드 + ESDF 특권 정보로 학습한 critic(contrastive)</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학습 critic → Planner D의 비학습 선택기 대체. </a:t>
                      </a:r>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(부분): 특권 정보로 시뮬에서만 학습한 깊이 인코더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D.1, D.5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SanD-Planner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 궤적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인코더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clamped B-spline 공간 diffusion + ESDF 안전 검사기, 데모 500 에피소드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B-spline 공간 생성(매끄러움·표본 효율)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D.5</a:t>
                      </a:r>
                    </a:p>
                  </a:txBody>
                  <a:tcPr marL="63500" marR="63500" marT="12700" marB="12700">
                    <a:solidFill>
                      <a:srgbClr val="F3F0E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D.0 E2E 연구 분해 — 인식 부분 / 플래너 부분</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21 / 109</a:t>
            </a:r>
          </a:p>
        </p:txBody>
      </p:sp>
      <p:graphicFrame>
        <p:nvGraphicFramePr>
          <p:cNvPr id="5" name="Table 4"/>
          <p:cNvGraphicFramePr>
            <a:graphicFrameLocks noGrp="1"/>
          </p:cNvGraphicFramePr>
          <p:nvPr/>
        </p:nvGraphicFramePr>
        <p:xfrm>
          <a:off x="609600" y="1244600"/>
          <a:ext cx="10966450" cy="3815712"/>
        </p:xfrm>
        <a:graphic>
          <a:graphicData uri="http://schemas.openxmlformats.org/drawingml/2006/table">
            <a:tbl>
              <a:tblPr firstRow="1" bandRow="1">
                <a:tableStyleId>{5C22544A-7EE6-4342-B048-85BDC9FD1C3A}</a:tableStyleId>
              </a:tblPr>
              <a:tblGrid>
                <a:gridCol w="1222375"/>
                <a:gridCol w="1766491"/>
                <a:gridCol w="2312591"/>
                <a:gridCol w="2383730"/>
                <a:gridCol w="2857500"/>
                <a:gridCol w="423763"/>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 → 출력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플래너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쓸 부분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목록</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ViNT / NoMaD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이력(+목표 이미지) → waypoint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EfficientNet 인코더 + transformer, 토폴로지 그래프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NoMaD: 목표 마스킹 diffusion으로 목표가 없을 때 탐색</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목표 마스킹 탐색 → 알려진 한계인 "미관측 영역 탐색" 대응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D.4</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AgniNav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RGB + 로봇 높이 → 1D pseudo-laserscan → 고전 로컬 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이미지 → 충돌 관련 1D scan(높이 조건, column-minimum 라벨)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풋프린트 4 파라미터로 충돌 검사하는 고전 플래너</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 카메라 단독 경량 중간 표현, Jetson Orin 30 Hz 실측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MILER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 LiDAR → 차량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BEVFusion 시맨틱 BEV = 시뮬과 같은 중간 표현(sim-to-real 다리)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 RL 정책(자전거 모델) + trajectory alignment로 zero-shot 전이</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 "중간 표현으로 sim-to-real"은 TravMap 설계와 같은 발상. 플래너(부분): trajectory alignment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D.1, D.4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CORE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이미지 기반 환경 → 미지 환경 목표 도달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sparse visibility graph(밀집 격자 대비 경량)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transformer + 문맥 메모리로 결정</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(부분): 미지 환경 탐색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D.4</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TANGO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 언어 → 29-DoF 전신 명령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1인칭 RGB(VLM)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 경로 + 운동학 모션 생성 + 장애물 편집 + RL로 만든 시뮬 supervision</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(부분): 학습 데이터 생성 파이프라인이 Planner D expert 생성과 같은 구조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DreamFlow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지도 → 로컬 속도 명령(DRL)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matching으로 관측 밖 지형 잠재를 상상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관측 + 상상 잠재를 받는 DRL 로컬 정책</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둘 다</a:t>
                      </a:r>
                      <a:r>
                        <a:rPr sz="800" b="0" i="0">
                          <a:solidFill>
                            <a:srgbClr val="16213A"/>
                          </a:solidFill>
                          <a:latin typeface="Arial"/>
                          <a:ea typeface="Malgun Gothic"/>
                          <a:cs typeface="Malgun Gothic"/>
                        </a:rPr>
                        <a:t>: 미관측 영역 예측(인식), 막다른 곳 사전 회피(플래너)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D.1, D.4</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RoM-Nav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 깊이 → 평면 속도 명령 → 고정 보행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denoising VAE CNN 인코더(바닥·장애물·계단·램프 분할 헤드)를 사전학습 후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축소 모델 정책으로 kickstart한 내비 정책 + Poisson 안전 필터</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둘 다</a:t>
                      </a:r>
                      <a:r>
                        <a:rPr sz="800" b="0" i="0">
                          <a:solidFill>
                            <a:srgbClr val="16213A"/>
                          </a:solidFill>
                          <a:latin typeface="Arial"/>
                          <a:ea typeface="Malgun Gothic"/>
                          <a:cs typeface="Malgun Gothic"/>
                        </a:rPr>
                        <a:t>: 분할 헤드 달린 사전학습 인코더(인식), Planner/Controller 분리·축소 모델 → 실동역학 이전(플래너)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D.1, D.4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Path-conditioned RL local planning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 proprioception + 참조 경로 → 로컬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사전학습 깊이 인코더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경로를 관측으로만 받는 RL 정책(추종 보상 없음)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 틀린 전역 경로에 강건한 학습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D.4</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ANYmal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점군 → 관절 명령(계층형)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점군으로 지형을 복원하는 인식 모듈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기술(skill) 선택·목표를 정하는 내비 정책 + 기술 정책</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(부분): 계획/실행 분리를 기술 단위로 확장. 인식(부분): 지형 복원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D.8</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Miki et al.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elevation map + proprioception → 관절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샘플과 proprioception을 융합하는 belief encoder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 정책(Controller 성격)</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인식</a:t>
                      </a:r>
                      <a:r>
                        <a:rPr sz="800" b="0" i="0">
                          <a:solidFill>
                            <a:srgbClr val="16213A"/>
                          </a:solidFill>
                          <a:latin typeface="Arial"/>
                          <a:ea typeface="Malgun Gothic"/>
                          <a:cs typeface="Malgun Gothic"/>
                        </a:rPr>
                        <a:t>: 지도가 틀릴 때 덜 믿는 융합 → </a:t>
                      </a:r>
                      <a:r>
                        <a:rPr sz="800" b="0" i="0">
                          <a:solidFill>
                            <a:srgbClr val="16213A"/>
                          </a:solidFill>
                          <a:latin typeface="Consolas"/>
                          <a:ea typeface="Malgun Gothic"/>
                          <a:cs typeface="Malgun Gothic"/>
                        </a:rPr>
                        <a:t>TravMap.SIGMA</a:t>
                      </a:r>
                      <a:r>
                        <a:rPr sz="800" b="0" i="0">
                          <a:solidFill>
                            <a:srgbClr val="16213A"/>
                          </a:solidFill>
                          <a:latin typeface="Arial"/>
                          <a:ea typeface="Malgun Gothic"/>
                          <a:cs typeface="Malgun Gothic"/>
                        </a:rPr>
                        <a:t> 활용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D.1, D.8</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Robostral Navigate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단안 RGB + 언어 → 이미지 공간 waypoint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8B VLM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이미지 공간에서 목표 지점 예측(몸체 무관)</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플래너</a:t>
                      </a:r>
                      <a:r>
                        <a:rPr sz="800" b="0" i="0">
                          <a:solidFill>
                            <a:srgbClr val="16213A"/>
                          </a:solidFill>
                          <a:latin typeface="Arial"/>
                          <a:ea typeface="Malgun Gothic"/>
                          <a:cs typeface="Malgun Gothic"/>
                        </a:rPr>
                        <a:t>(부분): 몸체 무관 출력 공간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D.4</a:t>
                      </a:r>
                    </a:p>
                  </a:txBody>
                  <a:tcPr marL="63500" marR="63500" marT="12700" marB="12700">
                    <a:solidFill>
                      <a:srgbClr val="FFFDF8"/>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D.4 Planner — 학습 기반 (waypoint·RL·foundation)</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22 / 109</a:t>
            </a:r>
          </a:p>
        </p:txBody>
      </p:sp>
      <p:graphicFrame>
        <p:nvGraphicFramePr>
          <p:cNvPr id="5" name="Table 4"/>
          <p:cNvGraphicFramePr>
            <a:graphicFrameLocks noGrp="1"/>
          </p:cNvGraphicFramePr>
          <p:nvPr/>
        </p:nvGraphicFramePr>
        <p:xfrm>
          <a:off x="609600" y="1244600"/>
          <a:ext cx="10966451" cy="3757848"/>
        </p:xfrm>
        <a:graphic>
          <a:graphicData uri="http://schemas.openxmlformats.org/drawingml/2006/table">
            <a:tbl>
              <a:tblPr firstRow="1" bandRow="1">
                <a:tableStyleId>{5C22544A-7EE6-4342-B048-85BDC9FD1C3A}</a:tableStyleId>
              </a:tblPr>
              <a:tblGrid>
                <a:gridCol w="2385616"/>
                <a:gridCol w="1941810"/>
                <a:gridCol w="4074716"/>
                <a:gridCol w="647700"/>
                <a:gridCol w="191660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ViNT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시각 내비게이션 foundation model(transformer, waypoint)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NoMaD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목표 마스킹 diffusion으로 목표 도달·탐색 겸용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GNM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로봇에 쓰는 일반 내비게이션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Skill-Nav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waypoint 인터페이스 + 지형 적응 RL 보행(계층형)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MILER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 RL 정책 + trajectory alignment로 zero-shot 실주행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CORE Planner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visibility graph + transformer + 메모리, 미지 환경 목표 도달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TANGO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전신 VLA 내비, 시뮬 supervision 파이프라인, G1 zero-shot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RoM-Nav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 ICRA 2027 심사 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축소 모델 kickstart 내비 정책 + 고정 보행 제어기 + Poisson 안전 필터, G1 다층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B.9, B.12.3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영상</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ViNL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2022.10 · ICRA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따로 학습한 운동학 내비 정책과 시각 보행 정책을 속도 명령으로 zero-shot 연결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Path-conditioned RL Local Planning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 IROS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참조 경로를 관측으로만 쓰는 RL 로컬 플래너(ETH RSL)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B.9, B.14.3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학습 전방 동역학 모델 FDM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2025.04 · RSS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스캔·proprioception·명령열 → 앞 자세와 실패 확률, MPPI 채점, Orin 7 Hz (ETH RSL)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바퀴·다리 로봇 도시 내비게이션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2024.05 · Science Robotics 9(89)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전역 그래프 + 학습 내비 정책 + 학습 보행 정책 3층, 취리히·세비야 km 단위 (ETH RSL)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SRU (공간 강화 순환 유닛)</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IJRR 45(11) 2026(온라인 2025-12)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원소별 곱으로 RNN에 공간 변환을 넣어 지도 없는 장거리 내비 (ETH RSL)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CLUE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LLM 상식으로 방·물체 단서를 가중한 통합 시맨틱 가치 지도, zero-shot object-goal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DreamFlow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관측 + 상상 잠재 DRL 로컬 내비, Go2 실험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7"/>
                        </a:rPr>
                        <a:t>프로젝트</a:t>
                      </a:r>
                    </a:p>
                  </a:txBody>
                  <a:tcPr marL="63500" marR="63500" marT="12700" marB="12700">
                    <a:solidFill>
                      <a:srgbClr val="FFFD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D.4 Planner — 학습 기반 (waypoint·RL·foundation)</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23 / 109</a:t>
            </a:r>
          </a:p>
        </p:txBody>
      </p:sp>
      <p:graphicFrame>
        <p:nvGraphicFramePr>
          <p:cNvPr id="5" name="Table 4"/>
          <p:cNvGraphicFramePr>
            <a:graphicFrameLocks noGrp="1"/>
          </p:cNvGraphicFramePr>
          <p:nvPr/>
        </p:nvGraphicFramePr>
        <p:xfrm>
          <a:off x="609600" y="1244600"/>
          <a:ext cx="10966451" cy="3802536"/>
        </p:xfrm>
        <a:graphic>
          <a:graphicData uri="http://schemas.openxmlformats.org/drawingml/2006/table">
            <a:tbl>
              <a:tblPr firstRow="1" bandRow="1">
                <a:tableStyleId>{5C22544A-7EE6-4342-B048-85BDC9FD1C3A}</a:tableStyleId>
              </a:tblPr>
              <a:tblGrid>
                <a:gridCol w="2385616"/>
                <a:gridCol w="1941810"/>
                <a:gridCol w="4074716"/>
                <a:gridCol w="647700"/>
                <a:gridCol w="191660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Robostral Navigate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8B VLM, 이미지 공간 waypoint, R2R-CE 77.4%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X-NavDP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NavDP를 같은 상태 그룹 Q 정규화 재가중 score matching으로 폐루프 RL 후학습, Dingo·Go2·G1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r>
                        <a:rPr sz="800" b="0" i="0">
                          <a:solidFill>
                            <a:srgbClr val="16213A"/>
                          </a:solidFill>
                          <a:latin typeface="Arial"/>
                          <a:ea typeface="Malgun Gothic"/>
                          <a:cs typeface="Malgun Gothic"/>
                        </a:rPr>
                        <a:t> (NavDP와 같은 코드베이스) · </a:t>
                      </a:r>
                      <a:r>
                        <a:rPr sz="800" b="0" i="0">
                          <a:solidFill>
                            <a:srgbClr val="1D4ED8"/>
                          </a:solidFill>
                          <a:latin typeface="Arial"/>
                          <a:ea typeface="Malgun Gothic"/>
                          <a:cs typeface="Malgun Gothic"/>
                          <a:hlinkClick r:id="rId6"/>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Beyond Imitation (확산 내비 정책 RL 미세 조정)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NavDP 뒤쪽 DiT 층만 에피소드 보상 GRPO로 미세 조정, Go2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LoGoPlanner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미터 스케일 영상 기하 백본 + 확산 행동 머리, 위치 추정 모듈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r>
                        <a:rPr sz="800" b="0" i="0">
                          <a:solidFill>
                            <a:srgbClr val="16213A"/>
                          </a:solidFill>
                          <a:latin typeface="Arial"/>
                          <a:ea typeface="Malgun Gothic"/>
                          <a:cs typeface="Malgun Gothic"/>
                        </a:rPr>
                        <a:t> (NavDP와 같은 코드베이스) · </a:t>
                      </a:r>
                      <a:r>
                        <a:rPr sz="800" b="0" i="0">
                          <a:solidFill>
                            <a:srgbClr val="1D4ED8"/>
                          </a:solidFill>
                          <a:latin typeface="Arial"/>
                          <a:ea typeface="Malgun Gothic"/>
                          <a:cs typeface="Malgun Gothic"/>
                          <a:hlinkClick r:id="rId10"/>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UrbanVLA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 · ICRA 2026(저자 저장소 표기)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길 안내 경로점을 영상과 정렬하는 도시 VLA, SFT 뒤 IQL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S2E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 · ICLR 2026(저자 저장소 표기)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약 100시간 사전학습 K-means 앵커 GMM + 0 초기화 잔차 attention을 PPO로(v2 기준), NavBench-GS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Slow Brain, Fast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앵커 Planner 후보에 지연된 클라우드 VLM 선택을 점수 융합, 배달로봇 100 m당 개입 0.87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LogoNav (MBRA)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수동 수집 자료의 행동을 모델 전문가로 재라벨, 영상 목표·GPS 장거리 내비 300 m 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사전학습 RGB 내비 정책 궤적을 추정 깊이 척력장으로 밀어내는 부착형 안전 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TAME-Nav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동적 궤적을 보는 특권 교사 → GRU + 밀집 게이팅 MoE 학생 잠재 증류, LiDAR CBF, Go2 함정 탈출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SEA-Nav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루프 안의 미분 가능한 LSE-CBF 방패 + 충돌 재생, Go2 LiDAR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PPO + 속도 장애물 안전 방패, 동적 환경 드론 비행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DRL-DCLP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몸체 치수를 설정 가능한 DRL 로컬 플래너(EIT Ningbo)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DCLP++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발자국 여유를 상대 운동 특징으로 쓰는 DRL 로컬 내비(EIT Ningbo)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7"/>
                        </a:rPr>
                        <a:t>논문</a:t>
                      </a:r>
                    </a:p>
                  </a:txBody>
                  <a:tcPr marL="63500" marR="63500" marT="12700" marB="12700">
                    <a:solidFill>
                      <a:srgbClr val="F3F0E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D.4 Planner — 학습 기반 (waypoint·RL·foundation)</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24 / 109</a:t>
            </a:r>
          </a:p>
        </p:txBody>
      </p:sp>
      <p:graphicFrame>
        <p:nvGraphicFramePr>
          <p:cNvPr id="5" name="Table 4"/>
          <p:cNvGraphicFramePr>
            <a:graphicFrameLocks noGrp="1"/>
          </p:cNvGraphicFramePr>
          <p:nvPr/>
        </p:nvGraphicFramePr>
        <p:xfrm>
          <a:off x="609600" y="1244600"/>
          <a:ext cx="10966451" cy="591264"/>
        </p:xfrm>
        <a:graphic>
          <a:graphicData uri="http://schemas.openxmlformats.org/drawingml/2006/table">
            <a:tbl>
              <a:tblPr firstRow="1" bandRow="1">
                <a:tableStyleId>{5C22544A-7EE6-4342-B048-85BDC9FD1C3A}</a:tableStyleId>
              </a:tblPr>
              <a:tblGrid>
                <a:gridCol w="2385616"/>
                <a:gridCol w="1941810"/>
                <a:gridCol w="4074716"/>
                <a:gridCol w="647700"/>
                <a:gridCol w="191660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DODGER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 안내를 학습 때만 쓰는 동적 장애물 RL 내비, LiDAR 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Student-Informed Teacher Training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 ·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학생이 흉내 낼 수 있게 교사를 학습한다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D.4b Planner — 비학습 위험 인지 경로 계획 (비교 기준)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25 / 109</a:t>
            </a:r>
          </a:p>
        </p:txBody>
      </p:sp>
      <p:graphicFrame>
        <p:nvGraphicFramePr>
          <p:cNvPr id="5" name="Table 4"/>
          <p:cNvGraphicFramePr>
            <a:graphicFrameLocks noGrp="1"/>
          </p:cNvGraphicFramePr>
          <p:nvPr/>
        </p:nvGraphicFramePr>
        <p:xfrm>
          <a:off x="609600" y="1244600"/>
          <a:ext cx="10966450" cy="788352"/>
        </p:xfrm>
        <a:graphic>
          <a:graphicData uri="http://schemas.openxmlformats.org/drawingml/2006/table">
            <a:tbl>
              <a:tblPr firstRow="1" bandRow="1">
                <a:tableStyleId>{5C22544A-7EE6-4342-B048-85BDC9FD1C3A}</a:tableStyleId>
              </a:tblPr>
              <a:tblGrid>
                <a:gridCol w="2736949"/>
                <a:gridCol w="2292747"/>
                <a:gridCol w="4578945"/>
                <a:gridCol w="406202"/>
                <a:gridCol w="951607"/>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TRG-planner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2025.01 · RA-L 2025, IROS 2025 oral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Traversal Risk Graph 위 안전·최단 경로, ICRA 2023 QRC 우승 팀 전역 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Risk-Aware Kinodynamic Planning (Planetary)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AO-RRT + SCP, CVaR 위험으로 불확실한 지형 회피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Feasibility-Guided Planning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 · ICRA 2026(arXiv 주석)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 정책별 높이 지도 실행 가능성 8방향 텐서 → Dijkstra 비용, A1 실물 혼합 지형 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 Planner — 생성형 궤적 (diffusion·flow) — Planner D 직접 참고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26 / 109</a:t>
            </a:r>
          </a:p>
        </p:txBody>
      </p:sp>
      <p:graphicFrame>
        <p:nvGraphicFramePr>
          <p:cNvPr id="5" name="Table 4"/>
          <p:cNvGraphicFramePr>
            <a:graphicFrameLocks noGrp="1"/>
          </p:cNvGraphicFramePr>
          <p:nvPr/>
        </p:nvGraphicFramePr>
        <p:xfrm>
          <a:off x="609600" y="1244600"/>
          <a:ext cx="10966450" cy="3941760"/>
        </p:xfrm>
        <a:graphic>
          <a:graphicData uri="http://schemas.openxmlformats.org/drawingml/2006/table">
            <a:tbl>
              <a:tblPr firstRow="1" bandRow="1">
                <a:tableStyleId>{5C22544A-7EE6-4342-B048-85BDC9FD1C3A}</a:tableStyleId>
              </a:tblPr>
              <a:tblGrid>
                <a:gridCol w="2500213"/>
                <a:gridCol w="1288653"/>
                <a:gridCol w="5176738"/>
                <a:gridCol w="837208"/>
                <a:gridCol w="1163638"/>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Diffusion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2025.01 · ICLR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 + 계획 공동 diffusion, classifier guidance. Autoware 채택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B.8.1, 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Autoware Diffusion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 (TIER 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모델의 ROS 2 통합, v4.0 Real-Time Chunking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PR</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영상</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JPPD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공유공간 로봇·보행자 공동 diffusion, CPU 32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NavDP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궤적 + 특권 ESDF로 학습한 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SanD-Planner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B-spline 공간 diffusion + ESDF 검사기, 데모 500 에피소드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DiffusionDrive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2024.11 · CVPR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anchor truncated diffusion 2 step, 4090 45 FPS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FeaXDrive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곡률 정규화 + drivable-area guidance + GRPO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GuideFlow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CVPR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constrained flow matching + EBM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Drive-OccWorld </a:t>
                      </a:r>
                      <a:r>
                        <a:rPr sz="800" b="0" i="0">
                          <a:solidFill>
                            <a:srgbClr val="16213A"/>
                          </a:solidFill>
                          <a:latin typeface="Consolas"/>
                          <a:ea typeface="Malgun Gothic"/>
                          <a:cs typeface="Malgun Gothic"/>
                        </a:rPr>
                        <a:t>E2E▸플래너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 · AAAI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조건부 미래 생성으로 후보 궤적 선택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RiskWorld </a:t>
                      </a:r>
                      <a:r>
                        <a:rPr sz="800" b="0" i="0">
                          <a:solidFill>
                            <a:srgbClr val="16213A"/>
                          </a:solidFill>
                          <a:latin typeface="Consolas"/>
                          <a:ea typeface="Malgun Gothic"/>
                          <a:cs typeface="Malgun Gothic"/>
                        </a:rPr>
                        <a:t>E2E▸플래너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위험 임계 기반 선택적 재계획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NMoMa (Primitive-based Truncated 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primitive로 치우친 truncated diffusion + 궤적 최적화, 차동 구동 모바일 매니퓰레이터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PC-Diffuser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denoise 루프 안 capsule CBF 안전 필터, LQR로 자전거 모델 feasible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Adaptive Time Step Flow Matching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분산 추정으로 step 수 선택 + QP 후처리, RTX 3070 20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MISTY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단일 step drifting, 10.1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GRACE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reverse step마다 MPPI로 guidance 평균 추정(gradient 불필요)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CoDiG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denoise SDE에 지수 barrier 기울기를 더해 제약 만족, 1:28 경주차 실물. 4090 2.5 Hz(warm start)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최적화 guidance (OGD)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역방향 스텝의 노이즈를 최적화 변수로 치환, 재학습 없이 hard 제약. 제약 solver는 46–69배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OT-CFM(미니배치 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2023.02 · TMLR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배치 안에서 노이즈↔데이터 짝을 OT로 골라 경로를 곧게 만든다. </a:t>
                      </a:r>
                      <a:r>
                        <a:rPr sz="800" b="0" i="0">
                          <a:solidFill>
                            <a:srgbClr val="16213A"/>
                          </a:solidFill>
                          <a:latin typeface="Consolas"/>
                          <a:ea typeface="Malgun Gothic"/>
                          <a:cs typeface="Malgun Gothic"/>
                        </a:rPr>
                        <a:t>flow_model.py</a:t>
                      </a:r>
                      <a:r>
                        <a:rPr sz="800" b="0" i="0">
                          <a:solidFill>
                            <a:srgbClr val="16213A"/>
                          </a:solidFill>
                          <a:latin typeface="Arial"/>
                          <a:ea typeface="Malgun Gothic"/>
                          <a:cs typeface="Malgun Gothic"/>
                        </a:rPr>
                        <a:t>의 독립 짝짓기를 바꿀 후보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0.2b ④</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Multisample Flow Matching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2023.04 · ICML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위와 같은 발상의 다른 판. 주변 분포를 보존하면서 결합만 바꾼다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0.2b ④</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8"/>
                        </a:rPr>
                        <a:t>논문</a:t>
                      </a:r>
                    </a:p>
                  </a:txBody>
                  <a:tcPr marL="63500" marR="63500" marT="12700" marB="12700">
                    <a:solidFill>
                      <a:srgbClr val="FFFD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D.5b Planner — 고전 기준선, 마일스톤, VLA, E2E 주행</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27 / 109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B.10·B.10.1(고전 기준선), B.4b(비용 지도 자기지도), B.6b(VLA·도시 내비), B.8.0(생성형 궤적 계보), B.11(E2E 주행)에서 다룬 연구다. 고전 논문은 arXiv가 없어 DOI로 링크했다.</a:t>
            </a:r>
          </a:p>
        </p:txBody>
      </p:sp>
      <p:graphicFrame>
        <p:nvGraphicFramePr>
          <p:cNvPr id="6" name="Table 5"/>
          <p:cNvGraphicFramePr>
            <a:graphicFrameLocks noGrp="1"/>
          </p:cNvGraphicFramePr>
          <p:nvPr/>
        </p:nvGraphicFramePr>
        <p:xfrm>
          <a:off x="609600" y="1549995"/>
          <a:ext cx="10966847" cy="3453048"/>
        </p:xfrm>
        <a:graphic>
          <a:graphicData uri="http://schemas.openxmlformats.org/drawingml/2006/table">
            <a:tbl>
              <a:tblPr firstRow="1" bandRow="1">
                <a:tableStyleId>{5C22544A-7EE6-4342-B048-85BDC9FD1C3A}</a:tableStyleId>
              </a:tblPr>
              <a:tblGrid>
                <a:gridCol w="2478980"/>
                <a:gridCol w="1177925"/>
                <a:gridCol w="5487591"/>
                <a:gridCol w="810816"/>
                <a:gridCol w="101153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Dijkstra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1959 · Numerische Mathematik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그래프 최단 경로. travplan </a:t>
                      </a:r>
                      <a:r>
                        <a:rPr sz="800" b="0" i="0">
                          <a:solidFill>
                            <a:srgbClr val="16213A"/>
                          </a:solidFill>
                          <a:latin typeface="Consolas"/>
                          <a:ea typeface="Malgun Gothic"/>
                          <a:cs typeface="Malgun Gothic"/>
                        </a:rPr>
                        <a:t>GuidancePlanner</a:t>
                      </a:r>
                      <a:r>
                        <a:rPr sz="800" b="0" i="0">
                          <a:solidFill>
                            <a:srgbClr val="16213A"/>
                          </a:solidFill>
                          <a:latin typeface="Arial"/>
                          <a:ea typeface="Malgun Gothic"/>
                          <a:cs typeface="Malgun Gothic"/>
                        </a:rPr>
                        <a:t>의 알고리즘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1968 · IEEE Trans. SSC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휴리스틱으로 탐색 순서를 정하는 최단 경로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DOI</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DWA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1997 · IEEE RAM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동적 창 안의 속도 선택 로컬 플래너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Hybrid 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2008 워크숍 · IJRR 2010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연속 자세를 가진 격자 A*, 차량 기구학 경로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TEB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2012–2017 · RAS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간격 궤적의 희소 그래프 최적화, 여러 위상 후보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B.10, 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Nav2 (The Marathon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2020.03 · IROS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behavior tree 기반 ROS 2 내비 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B.10, 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ROS 2 내비 알고리즘 개관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 유지보수자들이 쓴 알고리즘 비교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Smac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비용 인식 A*, Hybrid-A*, State Lattice. Nav2 기본 계획기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B.10, 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438864">
                <a:tc>
                  <a:txBody>
                    <a:bodyPr wrap="square"/>
                    <a:lstStyle/>
                    <a:p>
                      <a:r>
                        <a:rPr sz="800" b="1" i="0">
                          <a:solidFill>
                            <a:srgbClr val="16213A"/>
                          </a:solidFill>
                          <a:latin typeface="Arial"/>
                          <a:ea typeface="Malgun Gothic"/>
                          <a:cs typeface="Malgun Gothic"/>
                        </a:rPr>
                        <a:t>MPOT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 · </a:t>
                      </a:r>
                      <a:r>
                        <a:rPr sz="800" b="1" i="0">
                          <a:solidFill>
                            <a:srgbClr val="16213A"/>
                          </a:solidFill>
                          <a:latin typeface="Arial"/>
                          <a:ea typeface="Malgun Gothic"/>
                          <a:cs typeface="Malgun Gothic"/>
                        </a:rPr>
                        <a:t>NeurIPS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기울기 없이 궤적 다발을 한꺼번에 최적화(Sinkhorn Step). point-mass 0.4 s/99.2%, Panda 0.8 s/71.6%. </a:t>
                      </a:r>
                      <a:r>
                        <a:rPr sz="800" b="1" i="0">
                          <a:solidFill>
                            <a:srgbClr val="C2410C"/>
                          </a:solidFill>
                          <a:latin typeface="Arial"/>
                          <a:ea typeface="Malgun Gothic"/>
                          <a:cs typeface="Malgun Gothic"/>
                        </a:rPr>
                        <a:t>원형은 Controller 자리에 못 쓰고, 제어열 판은 같은 예산의 MPPI를 넘지 못했다(TP-0130). 남는 자리는 Planner D의 다중 모드 교사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E.11, B.10.1, 0.2b ①</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r>
                        <a:rPr sz="800" b="0" i="0">
                          <a:solidFill>
                            <a:srgbClr val="16213A"/>
                          </a:solidFill>
                          <a:latin typeface="Arial"/>
                          <a:ea typeface="Malgun Gothic"/>
                          <a:cs typeface="Malgun Gothic"/>
                        </a:rPr>
                        <a:t> ★71 </a:t>
                      </a:r>
                      <a:r>
                        <a:rPr sz="800" b="1" i="0">
                          <a:solidFill>
                            <a:srgbClr val="16213A"/>
                          </a:solidFill>
                          <a:latin typeface="Arial"/>
                          <a:ea typeface="Malgun Gothic"/>
                          <a:cs typeface="Malgun Gothic"/>
                        </a:rPr>
                        <a:t>MIT</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ssax</a:t>
                      </a:r>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MIT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PolyStep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MPOT의 Sinkhorn Step에서 Sinkhorn을 떼고 softmax 배정과 무게중심 투영만 남긴 기울기 없는 학습기. 스파이킹 망 93.4 %, RL 정책 탐색은 OpenAI-ES와 같다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0.2b, E.11, E.12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MPC-OT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IEEE CDC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N대를 목표 M개에 배정하며 경로 비겹침을 LP 제약으로 보장, MPC로 재계획. </a:t>
                      </a:r>
                      <a:r>
                        <a:rPr sz="800" b="1" i="0">
                          <a:solidFill>
                            <a:srgbClr val="16213A"/>
                          </a:solidFill>
                          <a:latin typeface="Arial"/>
                          <a:ea typeface="Malgun Gothic"/>
                          <a:cs typeface="Malgun Gothic"/>
                        </a:rPr>
                        <a:t>D.6의 OT-MPC와 다른 논문이다.</a:t>
                      </a:r>
                      <a:r>
                        <a:rPr sz="800" b="0" i="0">
                          <a:solidFill>
                            <a:srgbClr val="16213A"/>
                          </a:solidFill>
                          <a:latin typeface="Arial"/>
                          <a:ea typeface="Malgun Gothic"/>
                          <a:cs typeface="Malgun Gothic"/>
                        </a:rPr>
                        <a:t> ⚠️ 계산 시간·성공률·기준선 비교 없음, 증명은 다른 곳, 코드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0.2b ②</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D.5b Planner — 고전 기준선, 마일스톤, VLA, E2E 주행</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28 / 109</a:t>
            </a:r>
          </a:p>
        </p:txBody>
      </p:sp>
      <p:graphicFrame>
        <p:nvGraphicFramePr>
          <p:cNvPr id="5" name="Table 4"/>
          <p:cNvGraphicFramePr>
            <a:graphicFrameLocks noGrp="1"/>
          </p:cNvGraphicFramePr>
          <p:nvPr/>
        </p:nvGraphicFramePr>
        <p:xfrm>
          <a:off x="609600" y="1244600"/>
          <a:ext cx="10966847" cy="3757848"/>
        </p:xfrm>
        <a:graphic>
          <a:graphicData uri="http://schemas.openxmlformats.org/drawingml/2006/table">
            <a:tbl>
              <a:tblPr firstRow="1" bandRow="1">
                <a:tableStyleId>{5C22544A-7EE6-4342-B048-85BDC9FD1C3A}</a:tableStyleId>
              </a:tblPr>
              <a:tblGrid>
                <a:gridCol w="2478980"/>
                <a:gridCol w="1177925"/>
                <a:gridCol w="5487591"/>
                <a:gridCol w="810816"/>
                <a:gridCol w="101153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iPlanner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2023.02 · RSS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비용 지도의 기울기로 학습하는 경로 Planner, fear loss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B.4b, B.12.2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ViPlanner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ICRA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의미 비용 지도로 확장, 시뮬 학습만으로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B.4b, B.12.2, B.14.3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OpenVLA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 7B VLA, 행동을 256구간 토큰으로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Mobility 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긴 문맥 VLM이 시연 투어에서 목표 프레임만 고르고 위상 그래프가 waypoint를 냄. 계층을 없애면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π0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 · RSS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VLM + flow matching 행동 전문가, Euler 10스텝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B.6b, B.8.0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NaVILA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 · RSS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언어로 된 중간 행동 + 보행 RL 정책의 두 층 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B.6b, 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Uni-NaVid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내비 과제 넷을 한 영상 VLA로, 5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CityWalker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2024.11 · CVPR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웹 도시 보행 영상 2,000시간 이상으로 학습한 도시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MolmoAct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토큰과 영상 위 궤적 선을 먼저 내는 행동 추론 VLA. SimplerEnv zero-shot 70.5 %, 가중치·데이터·코드 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VAMOS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범용 VLM이 영상 위 경로 후보를 내고, 로봇별 affordance(시뮬 rollout의 성공 확률)가 고르는 계층형 VLA. 실제 6코스 90 %, 장애물 시험 3배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Coco 배달로봇 원격조종 로그 50시간으로 보도 자율주행. 다중 규모 모방 + 교정 행동 확장, 400 m당 개입 4회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Can Vision Foundation Models Navigate?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시각 내비 기반 모델 다섯 개의 실제 환경 평가, 잦은 충돌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InternNav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내비 기반 모델을 만드는 공개 플랫폼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Diffuser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2022.05 · ICML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전체를 확산으로 생성하는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Diffusion Policy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 · RSS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관측 조건 행동 열 확산, receding horizon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9"/>
                        </a:rPr>
                        <a:t>코드</a:t>
                      </a:r>
                    </a:p>
                  </a:txBody>
                  <a:tcPr marL="63500" marR="63500" marT="12700" marB="12700">
                    <a:solidFill>
                      <a:srgbClr val="FFFD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D.5b Planner — 고전 기준선, 마일스톤, VLA, E2E 주행</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29 / 109</a:t>
            </a:r>
          </a:p>
        </p:txBody>
      </p:sp>
      <p:graphicFrame>
        <p:nvGraphicFramePr>
          <p:cNvPr id="5" name="Table 4"/>
          <p:cNvGraphicFramePr>
            <a:graphicFrameLocks noGrp="1"/>
          </p:cNvGraphicFramePr>
          <p:nvPr/>
        </p:nvGraphicFramePr>
        <p:xfrm>
          <a:off x="609600" y="1244600"/>
          <a:ext cx="10966847" cy="3771024"/>
        </p:xfrm>
        <a:graphic>
          <a:graphicData uri="http://schemas.openxmlformats.org/drawingml/2006/table">
            <a:tbl>
              <a:tblPr firstRow="1" bandRow="1">
                <a:tableStyleId>{5C22544A-7EE6-4342-B048-85BDC9FD1C3A}</a:tableStyleId>
              </a:tblPr>
              <a:tblGrid>
                <a:gridCol w="2478980"/>
                <a:gridCol w="1177925"/>
                <a:gridCol w="5487591"/>
                <a:gridCol w="810816"/>
                <a:gridCol w="101153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Diffusion ReRoll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 ·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다듬던 구간 일부를 다시 잡음으로 되돌려 앞뒤가 서로 고치는 확산 샘플러. LIBERO-10 Diffusion Policy 대비 상대 +56.5 %, Jackal 시각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MPD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 prior와 비용 likelihood의 사후 분포 샘플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GoalFlow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CVPR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목표점 선택 + flow matching 한 스텝, NAVSIM PDMS 90.3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Flow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 · </a:t>
                      </a:r>
                      <a:r>
                        <a:rPr sz="800" b="1" i="0">
                          <a:solidFill>
                            <a:srgbClr val="16213A"/>
                          </a:solidFill>
                          <a:latin typeface="Arial"/>
                          <a:ea typeface="Malgun Gothic"/>
                          <a:cs typeface="Malgun Gothic"/>
                        </a:rPr>
                        <a:t>NeurIPS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궤적을 잘게 토큰화하고 시공간 융합 + classifier-free guidance. nuPlan Val14 </a:t>
                      </a:r>
                      <a:r>
                        <a:rPr sz="800" b="1" i="0">
                          <a:solidFill>
                            <a:srgbClr val="16213A"/>
                          </a:solidFill>
                          <a:latin typeface="Arial"/>
                          <a:ea typeface="Malgun Gothic"/>
                          <a:cs typeface="Malgun Gothic"/>
                        </a:rPr>
                        <a:t>90.43</a:t>
                      </a:r>
                      <a:r>
                        <a:rPr sz="800" b="0" i="0">
                          <a:solidFill>
                            <a:srgbClr val="16213A"/>
                          </a:solidFill>
                          <a:latin typeface="Arial"/>
                          <a:ea typeface="Malgun Gothic"/>
                          <a:cs typeface="Malgun Gothic"/>
                        </a:rPr>
                        <a:t>(refinement 없이), InterPlan 61.82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B.8.0, B.8.2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r>
                        <a:rPr sz="800" b="0" i="0">
                          <a:solidFill>
                            <a:srgbClr val="16213A"/>
                          </a:solidFill>
                          <a:latin typeface="Arial"/>
                          <a:ea typeface="Malgun Gothic"/>
                          <a:cs typeface="Malgun Gothic"/>
                        </a:rPr>
                        <a:t> ★0.3k </a:t>
                      </a:r>
                      <a:r>
                        <a:rPr sz="800" b="1" i="0">
                          <a:solidFill>
                            <a:srgbClr val="16213A"/>
                          </a:solidFill>
                          <a:latin typeface="Arial"/>
                          <a:ea typeface="Malgun Gothic"/>
                          <a:cs typeface="Malgun Gothic"/>
                        </a:rPr>
                        <a:t>MIT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Flow Matching(원논문)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2022.10 · ICLR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조건부 flow matching 정리. 주변 속도장 대신 조건부 속도장을 회귀해도 기울기가 같다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 0.6b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Flow Matching Guide and Code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아핀 경로의 네 좌표(score·</a:t>
                      </a:r>
                      <a:r>
                        <a:rPr sz="800" b="0" i="1">
                          <a:solidFill>
                            <a:srgbClr val="16213A"/>
                          </a:solidFill>
                          <a:latin typeface="Arial"/>
                          <a:ea typeface="Malgun Gothic"/>
                          <a:cs typeface="Malgun Gothic"/>
                        </a:rPr>
                        <a:t>ε</a:t>
                      </a:r>
                      <a:r>
                        <a:rPr sz="800" b="0" i="0">
                          <a:solidFill>
                            <a:srgbClr val="16213A"/>
                          </a:solidFill>
                          <a:latin typeface="Arial"/>
                          <a:ea typeface="Malgun Gothic"/>
                          <a:cs typeface="Malgun Gothic"/>
                        </a:rPr>
                        <a:t>·</a:t>
                      </a:r>
                      <a:r>
                        <a:rPr sz="800" b="0" i="1">
                          <a:solidFill>
                            <a:srgbClr val="16213A"/>
                          </a:solidFill>
                          <a:latin typeface="Arial"/>
                          <a:ea typeface="Malgun Gothic"/>
                          <a:cs typeface="Malgun Gothic"/>
                        </a:rPr>
                        <a:t>x</a:t>
                      </a:r>
                      <a:r>
                        <a:rPr sz="800" b="0" i="0">
                          <a:solidFill>
                            <a:srgbClr val="16213A"/>
                          </a:solidFill>
                          <a:latin typeface="Arial"/>
                          <a:ea typeface="Malgun Gothic"/>
                          <a:cs typeface="Malgun Gothic"/>
                        </a:rPr>
                        <a:t>·</a:t>
                      </a:r>
                      <a:r>
                        <a:rPr sz="800" b="0" i="1">
                          <a:solidFill>
                            <a:srgbClr val="16213A"/>
                          </a:solidFill>
                          <a:latin typeface="Arial"/>
                          <a:ea typeface="Malgun Gothic"/>
                          <a:cs typeface="Malgun Gothic"/>
                        </a:rPr>
                        <a:t>v</a:t>
                      </a:r>
                      <a:r>
                        <a:rPr sz="800" b="0" i="0">
                          <a:solidFill>
                            <a:srgbClr val="16213A"/>
                          </a:solidFill>
                          <a:latin typeface="Arial"/>
                          <a:ea typeface="Malgun Gothic"/>
                          <a:cs typeface="Malgun Gothic"/>
                        </a:rPr>
                        <a:t>) 변환을 한자리에 모은 교과서격 자료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Score SDE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2020.11 · ICLR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흐름 ODE(식 13). diffusion을 결정론적으로 샘플하면 그것이 곧 속도장 적분이다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 0.6b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EDM(Karras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2022.06 · NeurIPS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VP·VE·DDIM·EDM을 한 ODE에 담은 설계 공간 정리, Heun 적분기와 NFE 회계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0.6b, 0.7b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Consistency Models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 · ICML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자기일관성으로 1–2스텝 생성. </a:t>
                      </a:r>
                      <a:r>
                        <a:rPr sz="800" b="1" i="0">
                          <a:solidFill>
                            <a:srgbClr val="C2410C"/>
                          </a:solidFill>
                          <a:latin typeface="Arial"/>
                          <a:ea typeface="Malgun Gothic"/>
                          <a:cs typeface="Malgun Gothic"/>
                        </a:rPr>
                        <a:t>Table 2의 Recall이 증류의 다양성 손실을 수치로 보여 준다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Shortcut Models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2024.10 ·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스텝 크기를 조건으로 받아 한 네트워크가 여러 스텝 수를 겸한다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Stochastic Interpolants: A Unifying Framework for Flows and Diffusions(Albergo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matching에도 확률적 샘플러가 있다 — "FM은 결정론적뿐"이라는 통념의 반례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0.6b</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Flow matching 쉬운 설명(한국어)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 · Turing Post Korea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데이터 공간 → 확률 경로 → 벡터장 → 흐름 순서로 수식 없이 쌓아 올린다. 0.6·0.6b를 읽기 전 배경으로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 0.6b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글</a:t>
                      </a:r>
                    </a:p>
                  </a:txBody>
                  <a:tcPr marL="63500" marR="63500" marT="12700" marB="12700">
                    <a:solidFill>
                      <a:srgbClr val="F3F0E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D.5b Planner — 고전 기준선, 마일스톤, VLA, E2E 주행</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30 / 109</a:t>
            </a:r>
          </a:p>
        </p:txBody>
      </p:sp>
      <p:graphicFrame>
        <p:nvGraphicFramePr>
          <p:cNvPr id="5" name="Table 4"/>
          <p:cNvGraphicFramePr>
            <a:graphicFrameLocks noGrp="1"/>
          </p:cNvGraphicFramePr>
          <p:nvPr/>
        </p:nvGraphicFramePr>
        <p:xfrm>
          <a:off x="609600" y="1244600"/>
          <a:ext cx="10966847" cy="3802536"/>
        </p:xfrm>
        <a:graphic>
          <a:graphicData uri="http://schemas.openxmlformats.org/drawingml/2006/table">
            <a:tbl>
              <a:tblPr firstRow="1" bandRow="1">
                <a:tableStyleId>{5C22544A-7EE6-4342-B048-85BDC9FD1C3A}</a:tableStyleId>
              </a:tblPr>
              <a:tblGrid>
                <a:gridCol w="2478980"/>
                <a:gridCol w="1177925"/>
                <a:gridCol w="5487591"/>
                <a:gridCol w="810816"/>
                <a:gridCol w="101153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UniAD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2022.12 · CVPR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계획 중심 E2E 주행, 과제를 query로 연결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VAD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ICCV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벡터 장면 표현과 벡터 계획 제약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SparseDrive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희소 표현, 예측·계획 병렬, 충돌 인식 재채점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NAVSIM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2024.06 · NeurIPS 2024 D&amp;B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비반응 시뮬레이션 지표 PDMS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Hydra-MDP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어휘와 규칙 기반 점수 증류, CVPR 2024 챌린지 1위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DriveVLM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 장면 이해 + 기존 스택 결합, 양산차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EMMA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 · TMLR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다중모달 LLM이 궤적·물체·도로를 텍스트로 출력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ChauffeurNet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모방 + 합성한 실패 상황 + 벌점, 3,000만 예시로도 순수 모방은 부족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PDM (Parting with Misconceptions)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CoRL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규칙 기반 IDM 후보 선택이 nuPlan 1위, 열린 루프 지표의 한계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 · NeurIPS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3DGS 환경의 대규모 강화학습, 충돌률 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Scaling Laws of Motion Forecasting and Planning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Waymo 50만 시간, 계산량 거듭제곱 법칙, 폐루프도 개선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Alpamayo-R1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인과 사슬 추론 VLA 10B, 99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NAVSIM v2 (pseudo-simulation)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3DGS 합성 관측의 2단계 평가, 폐루프와 강한 상관, 계산 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NoRD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 · CVPR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추론 주석 없는 주행 VLA, Dr. GRPO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3F0E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D.5b Planner — 고전 기준선, 마일스톤, VLA, E2E 주행</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31 / 109</a:t>
            </a:r>
          </a:p>
        </p:txBody>
      </p:sp>
      <p:graphicFrame>
        <p:nvGraphicFramePr>
          <p:cNvPr id="5" name="Table 4"/>
          <p:cNvGraphicFramePr>
            <a:graphicFrameLocks noGrp="1"/>
          </p:cNvGraphicFramePr>
          <p:nvPr/>
        </p:nvGraphicFramePr>
        <p:xfrm>
          <a:off x="609600" y="1244600"/>
          <a:ext cx="10966847" cy="591264"/>
        </p:xfrm>
        <a:graphic>
          <a:graphicData uri="http://schemas.openxmlformats.org/drawingml/2006/table">
            <a:tbl>
              <a:tblPr firstRow="1" bandRow="1">
                <a:tableStyleId>{5C22544A-7EE6-4342-B048-85BDC9FD1C3A}</a:tableStyleId>
              </a:tblPr>
              <a:tblGrid>
                <a:gridCol w="2478980"/>
                <a:gridCol w="1177925"/>
                <a:gridCol w="5487591"/>
                <a:gridCol w="810816"/>
                <a:gridCol w="101153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Post-Training in E2E Autonomous Driving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RL·선호 최적화·GRPO·보상 설계로 본 후학습 서베이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DriveZero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궤적 없이 혼합 에이전트 폐루프 RL, nuPlan 93.57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D.5c Planner — 로봇별 오픈소스 스택</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32 / 109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B.12(자율주행 자동차, 사족보행, 휴머노이드, 바퀴 로봇의 공개 Planner)에서 다룬 코드와 논문이다. 위 목록이나 다른 탭에 이미 있는 항목(Nav2, TEB, Smac, iPlanner, ViPlanner, X-Mobility, COMPASS, legged_gym, autonomy_stack_go2 등)은 반복하지 않고 그 행의 "본문" 칸에 B.12를 더했다.</a:t>
            </a:r>
          </a:p>
        </p:txBody>
      </p:sp>
      <p:graphicFrame>
        <p:nvGraphicFramePr>
          <p:cNvPr id="6" name="Table 5"/>
          <p:cNvGraphicFramePr>
            <a:graphicFrameLocks noGrp="1"/>
          </p:cNvGraphicFramePr>
          <p:nvPr/>
        </p:nvGraphicFramePr>
        <p:xfrm>
          <a:off x="609600" y="1766491"/>
          <a:ext cx="10966449" cy="3153408"/>
        </p:xfrm>
        <a:graphic>
          <a:graphicData uri="http://schemas.openxmlformats.org/drawingml/2006/table">
            <a:tbl>
              <a:tblPr firstRow="1" bandRow="1">
                <a:tableStyleId>{5C22544A-7EE6-4342-B048-85BDC9FD1C3A}</a:tableStyleId>
              </a:tblPr>
              <a:tblGrid>
                <a:gridCol w="1921470"/>
                <a:gridCol w="1456035"/>
                <a:gridCol w="4926905"/>
                <a:gridCol w="906760"/>
                <a:gridCol w="175527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Autoware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 (ROS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규칙 모듈 풀스택, 생성형·규칙 후보를 검증기와 순위기로 고르는 새 계획 구조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planning</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새 구조 논의</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Apollo EM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Frenet 좌표의 DP + 스플라인 QP, 3,380시간 폐루프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TDR-OBCA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Apollo open space(주차) 최적화 기반 충돌 회피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openpilot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양산 운전자 보조, world model 안에서 주행 정책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nuPlan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폐루프 ML 계획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PDM (tuplan_garage)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2023.06 · CoRL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IDM 제안 15개 + 시뮬 + 점수 선택, nuPlan 2023 우승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 ·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모방 학습 Planner 기준선, 지름길 학습 진단(State Dropout, 상태 교란)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PLUTO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횡·종 query 후보 + ESDF 충돌 손실 + 대조 학습, 규칙 채점기와 합쳐 규칙 기반을 처음 넘음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2022.10 · CoRL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객체 토큰 transformer, 규칙 expert 모방으로 교사를 넘음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TransFuser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2022.05 · T-PAMI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카메라·LiDAR transformer 융합 E2E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2025.04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완주 × 곱하는 감점, 위반 시 종료의 단순 보상으로 PPO를 5억 샘플까지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EPSILON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2021.08 · T-RO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POMDP 행동 계획 + 시공간 의미 회랑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Alpamayo 1 (Alpamayo-R1), 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자율주행 추론 VLA, 가중치 OpenMDW-1.1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8"/>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9"/>
                        </a:rPr>
                        <a:t>1.5</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0"/>
                        </a:rPr>
                        <a:t>모델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Waymax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JAX 가속 자율주행 시뮬(비상업)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GPUDrive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 · ICLR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초당 100만 스텝 다중 에이전트 시뮬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4"/>
                        </a:rPr>
                        <a:t>코드</a:t>
                      </a:r>
                    </a:p>
                  </a:txBody>
                  <a:tcPr marL="63500" marR="63500" marT="12700" marB="12700">
                    <a:solidFill>
                      <a:srgbClr val="FFFDF8"/>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D.5c Planner — 로봇별 오픈소스 스택</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33 / 109</a:t>
            </a:r>
          </a:p>
        </p:txBody>
      </p:sp>
      <p:graphicFrame>
        <p:nvGraphicFramePr>
          <p:cNvPr id="5" name="Table 4"/>
          <p:cNvGraphicFramePr>
            <a:graphicFrameLocks noGrp="1"/>
          </p:cNvGraphicFramePr>
          <p:nvPr/>
        </p:nvGraphicFramePr>
        <p:xfrm>
          <a:off x="609600" y="1244600"/>
          <a:ext cx="10966449" cy="3560760"/>
        </p:xfrm>
        <a:graphic>
          <a:graphicData uri="http://schemas.openxmlformats.org/drawingml/2006/table">
            <a:tbl>
              <a:tblPr firstRow="1" bandRow="1">
                <a:tableStyleId>{5C22544A-7EE6-4342-B048-85BDC9FD1C3A}</a:tableStyleId>
              </a:tblPr>
              <a:tblGrid>
                <a:gridCol w="1921470"/>
                <a:gridCol w="1456035"/>
                <a:gridCol w="4926905"/>
                <a:gridCol w="906760"/>
                <a:gridCol w="175527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Bench2Drive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NeurIPS 2024 D&amp;B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CARLA 폐루프 E2E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PythonRobotics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내비 알고리즘 교육용 코드 모음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B.12.1, 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ArtPlanner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 · Field Robotics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 가능성 자세 검증 + 학습 이동 비용, 2021 DARPA SubT 결승 우승 팀의 로컬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B.12.2, B.14.3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Team CERBERUS 기술 개요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2022.07 · Field Robotics 4,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DARPA SubT 결승 우승 팀(ANYmal C 네 대, 23점 동점 규칙)의 시스템과 교훈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CERBERUS in the DARPA SubT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2022.05 · Science Robotics 7(66)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다리·비행 로봇 팀의 지하 자율 탐사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GBPlanner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JFR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공중·다리 로봇의 그래프 기반 지하 탐사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FAR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2021.10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가시성 그래프 동적 갱신 경로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B.12.2, 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TARE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RSS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계층형 탐사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B.12.2, 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CMU 탐사 개발 환경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2021.10 · ICRA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분석, 로컬 Planner, waypoint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B.12.2, 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사이트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OCS2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전환 시스템 최적 제어(SLQ, iLQR, SQP, IPM), ROS 2 가지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legged_control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OCS2 기반 NMPC + WBC + 상태 추정(유지보수 종료)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B.12.2, F.6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TOWR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RA-L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접촉 위상까지 최적화하는 다리 로봇 궤적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CHAMP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 Cheetah I 계층 제어기 + ROS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4"/>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Walk These Ways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2022.12 · CoRL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걸음새를 한 정책에 담은 보행 제어기. 행동 매개변수 8개(걸음새·주파수·발 높이·몸 높이·자세 등)를 사람이 현장에서 고르는 Go1 정책이고, Rapid Locomotion의 격자 커리큘럼과 Ji 2022식 추정기를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B.12.2, F.6, F.6.1, 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6"/>
                        </a:rPr>
                        <a:t>코드</a:t>
                      </a:r>
                    </a:p>
                  </a:txBody>
                  <a:tcPr marL="63500" marR="63500" marT="12700" marB="12700">
                    <a:solidFill>
                      <a:srgbClr val="F3F0E8"/>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D.5c Planner — 로봇별 오픈소스 스택</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34 / 109</a:t>
            </a:r>
          </a:p>
        </p:txBody>
      </p:sp>
      <p:graphicFrame>
        <p:nvGraphicFramePr>
          <p:cNvPr id="5" name="Table 4"/>
          <p:cNvGraphicFramePr>
            <a:graphicFrameLocks noGrp="1"/>
          </p:cNvGraphicFramePr>
          <p:nvPr/>
        </p:nvGraphicFramePr>
        <p:xfrm>
          <a:off x="609600" y="1244600"/>
          <a:ext cx="10966449" cy="3757848"/>
        </p:xfrm>
        <a:graphic>
          <a:graphicData uri="http://schemas.openxmlformats.org/drawingml/2006/table">
            <a:tbl>
              <a:tblPr firstRow="1" bandRow="1">
                <a:tableStyleId>{5C22544A-7EE6-4342-B048-85BDC9FD1C3A}</a:tableStyleId>
              </a:tblPr>
              <a:tblGrid>
                <a:gridCol w="1921470"/>
                <a:gridCol w="1456035"/>
                <a:gridCol w="4926905"/>
                <a:gridCol w="906760"/>
                <a:gridCol w="175527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Robot Parkour 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 · CoRL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영상 한 정책의 파쿠르 기술. 코드(MIT)에 Go1 체크포인트와 Go1·Go2 배포 코드가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B.12.2, F.6,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humanoid_navigation (footstep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Humanoids 2012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anytime 탐색 발자국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IHMC Open Robotics Software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평면 영역 A* 발자국 계획 + 운동량 기반 전신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BaselineFootstepPlanner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(AIST)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그래프 탐색 기준 발자국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문서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HPP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IROS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제약 있는 운동 계획(LAAS)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Crocoddyl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2019.09 · ICRA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다접촉 최적 제어, FDDP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Pinocchio, TSID, Aligator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강체 동역학, 작업 공간 역동역학, 제약 궤적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Pinocchio</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TSID</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Aligator</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MuJoCo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iLQG, 경사 하강, Predictive Sampling 예측 제어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 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Drake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수리 계획과 다물체 동역학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humanoid-gym, unitree_rl_gym, booster_gym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2024.04(humanoid-gym)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RL 보행 + sim-to-sim 검증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 F.6, 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humanoid-gym</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unitree_rl_gym</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booster_gym</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HOVER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전신 모방 교사를 명령 마스크 학생으로 증류한 전신 제어 정책. 모드별 RL 전문 정책보다 나음(실물 H1 서서 하는 동작 20개, 지표 12개 중 11개)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 B.16.1, 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5"/>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ASAP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 · RSS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 기록으로 행동 보정 모델을 배워 시뮬레이터를 맞추고 정책을 다시 학습, 개루프 1.0 s 전역 오차 37.9 대 상태 잔차 68.1 mm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 B.16.6, 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Gallant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복셀 격자 휴머노이드 보행·로컬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9"/>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0"/>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Click-and-Traverse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HumanoidPF + RL 충돌 없는 실내 통과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2"/>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3"/>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HEAD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데이터로 배운 휴머노이드 내비·도달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5"/>
                        </a:rPr>
                        <a:t>코드</a:t>
                      </a:r>
                    </a:p>
                  </a:txBody>
                  <a:tcPr marL="63500" marR="63500" marT="12700" marB="12700">
                    <a:solidFill>
                      <a:srgbClr val="FFFD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D.5c Planner — 로봇별 오픈소스 스택</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35 / 109</a:t>
            </a:r>
          </a:p>
        </p:txBody>
      </p:sp>
      <p:graphicFrame>
        <p:nvGraphicFramePr>
          <p:cNvPr id="5" name="Table 4"/>
          <p:cNvGraphicFramePr>
            <a:graphicFrameLocks noGrp="1"/>
          </p:cNvGraphicFramePr>
          <p:nvPr/>
        </p:nvGraphicFramePr>
        <p:xfrm>
          <a:off x="609600" y="1244600"/>
          <a:ext cx="10966449" cy="3757848"/>
        </p:xfrm>
        <a:graphic>
          <a:graphicData uri="http://schemas.openxmlformats.org/drawingml/2006/table">
            <a:tbl>
              <a:tblPr firstRow="1" bandRow="1">
                <a:tableStyleId>{5C22544A-7EE6-4342-B048-85BDC9FD1C3A}</a:tableStyleId>
              </a:tblPr>
              <a:tblGrid>
                <a:gridCol w="1921470"/>
                <a:gridCol w="1456035"/>
                <a:gridCol w="4926905"/>
                <a:gridCol w="906760"/>
                <a:gridCol w="175527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GR00T N1–N1.7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휴머노이드 기반 VLA(VLM + 확산 transformer). N1.6은 COMPASS 합성 데이터로 점 목표 내비를 배워 하체 WBC에 속도 명령을 넘긴다. 코드 Apache-2.0, 가중치 NVIDIA Open Model License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B.12.3, B.16.1, F.8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ROS 1 navigation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ICRA 2010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costmap + 전역·로컬 Planner(move_base)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Move Base Flex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IROS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유연한 ROS 내비 프레임워크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BotBrain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RTAB-Map + Nav2(Smac 2D, MPPI) + twist_mux 우선순위 + 웹 UI, Go2·G1·Tita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사이트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dddmr_navigation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 (ROS 2 Humble)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점군 풀스택 14패키지. 지면 그래프 A* 비용 = 거리 + 장애물 팽창 + 회전 + 경계 벌점. 높이 항이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 S.1.5, S.9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Regulated Pure Pursuit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곡률·장애물 근접도로 선속도를 줄이는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ros2_controllers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차동·메카넘·옴니휠·조향 제어기, 스워브 기구학 문서, 스워브 제어기 PR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스워브 PR #1694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ffw_swerve_drive_controller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(ROBOTIS AI Worker)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모듈 IK, 조향 각속도 한계, 180° 반전. travplan 모듈 모델의 참고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 TP-0034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OMPL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IEEE RAM 2012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샘플링 기반 운동 계획 라이브러리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사이트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SBPL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탐색 기반 계획 라이브러리(ARA*, lattice)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PUTN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2022.03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평면 맞춤 RRT* + GPR + NMPC 험지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Choreo (TrajoptLib)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모듈 힘 한계 안의 최소 시간 궤적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문서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Sleipnir</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PathPlanner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전방향 로봇 Bézier 경로, AD* 경로 탐색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6"/>
                        </a:rPr>
                        <a:t>문서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TidyBot++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powered caster 4개의 비동축 전방향 기저, CAD·부품표·코드 공개, 전방향 9/10 대 차동 4/10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 TP-0034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8"/>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PCV (Holmberg·Khatib)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2000.11 · IJRR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powered caster vehicle 기구학·동역학 정식화. 비동축 스워브 모델의 출처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 TP-0034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9"/>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0"/>
                        </a:rPr>
                        <a:t>PDF</a:t>
                      </a:r>
                    </a:p>
                  </a:txBody>
                  <a:tcPr marL="63500" marR="63500" marT="12700" marB="12700">
                    <a:solidFill>
                      <a:srgbClr val="FFFDF8"/>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D.5c Planner — 로봇별 오픈소스 스택</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36 / 109</a:t>
            </a:r>
          </a:p>
        </p:txBody>
      </p:sp>
      <p:graphicFrame>
        <p:nvGraphicFramePr>
          <p:cNvPr id="5" name="Table 4"/>
          <p:cNvGraphicFramePr>
            <a:graphicFrameLocks noGrp="1"/>
          </p:cNvGraphicFramePr>
          <p:nvPr/>
        </p:nvGraphicFramePr>
        <p:xfrm>
          <a:off x="609600" y="1244600"/>
          <a:ext cx="10966449" cy="985440"/>
        </p:xfrm>
        <a:graphic>
          <a:graphicData uri="http://schemas.openxmlformats.org/drawingml/2006/table">
            <a:tbl>
              <a:tblPr firstRow="1" bandRow="1">
                <a:tableStyleId>{5C22544A-7EE6-4342-B048-85BDC9FD1C3A}</a:tableStyleId>
              </a:tblPr>
              <a:tblGrid>
                <a:gridCol w="1921470"/>
                <a:gridCol w="1456035"/>
                <a:gridCol w="4926905"/>
                <a:gridCol w="906760"/>
                <a:gridCol w="175527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CrowdNav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2018.09 · ICRA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주의 기반 군중 회피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DRL-VO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2023.01 · T-RO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속도 장애물 보상 RL 군중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ORCA (RVO2)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ISRR 2009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상호 속도 장애물 기반 다중 에이전트 회피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B.12.4, S.3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Open-RMF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로봇의 교통 관리와 작업 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사이트</a:t>
                      </a:r>
                    </a:p>
                  </a:txBody>
                  <a:tcPr marL="63500" marR="63500" marT="12700" marB="12700">
                    <a:solidFill>
                      <a:srgbClr val="F3F0E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D.5d Planner — 로봇 분야별 계획·제어 지형</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37 / 109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B.18(레이싱카, 모바일 로봇, 도로 자율주행, 사족보행, 휴머노이드의 계획·제어 지형)에서 처음 나온 논문이다. 회사 발표·뉴스·규제 자료와 이미 위에 있는 항목은 B.18 끝의 근거 토글에만 둔다.</a:t>
            </a:r>
          </a:p>
        </p:txBody>
      </p:sp>
      <p:graphicFrame>
        <p:nvGraphicFramePr>
          <p:cNvPr id="6" name="Table 5"/>
          <p:cNvGraphicFramePr>
            <a:graphicFrameLocks noGrp="1"/>
          </p:cNvGraphicFramePr>
          <p:nvPr/>
        </p:nvGraphicFramePr>
        <p:xfrm>
          <a:off x="609600" y="1549995"/>
          <a:ext cx="10966450" cy="3547584"/>
        </p:xfrm>
        <a:graphic>
          <a:graphicData uri="http://schemas.openxmlformats.org/drawingml/2006/table">
            <a:tbl>
              <a:tblPr firstRow="1" bandRow="1">
                <a:tableStyleId>{5C22544A-7EE6-4342-B048-85BDC9FD1C3A}</a:tableStyleId>
              </a:tblPr>
              <a:tblGrid>
                <a:gridCol w="2587625"/>
                <a:gridCol w="2417366"/>
                <a:gridCol w="5078710"/>
                <a:gridCol w="462260"/>
                <a:gridCol w="4204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TUM A2RL 우승 스택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 · arXiv(Science Robotics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A2RL 2024 우승. 오프라인 OCP 레이스라인, 4 s 샘플링 다항식, Tube MPC, EKF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er.autopilot 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Field Robotics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TII Unimore 오벌 레이싱 스택. IPOPT 최소시간, Frenet, HPIPM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From Zero to High-Speed Racing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Indiana Univ. 레이싱 스택. 제어기를 PP, 선형 MPC, MPPI 순으로 바꿈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ForzaETH Race Stack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2024.03 · JFR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최소곡률 QP, Frenet 추월, F1TENTH 우승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Unifying F1TENTH Autonomous Racing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F1TENTH 서베이·벤치마크. 최적화 + 추종이 가장 빠르다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RLPP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2025.01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Pure Pursuit 위 잔차 RL, 축소 플랫폼 zero-shot 실물 레이싱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GT Sophy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 · Nature 602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심 레이싱 챔피언을 이긴 RL, GT7 상용 배포(2023)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SGTP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샘플링 게임이론 다차량 레이싱 계획, 시뮬레이션만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월드 모델 중심 레이싱 에이전트(NTU·K2)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결정 정책 + CiLQR MPC, 실차 256 km/h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Team KAIST at IAC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Field Robotics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결정, minimum-jerk 계획, 타당성 검사 계층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Autonomous Vehicles on the Edge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2022.02 · IEEE OJ-ITS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자율 레이싱 서베이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BARN Challenge 2024 교훈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 · RAM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첫 종단간 모방학습 우승, 상위 팀 모두 상태 기계 하이브리드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Deploying Ten Thousand Robots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1만 대 Lifelong MAPF, 모방학습 + 충돌 해소 탐색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Scaling Lifelong MAPF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2024.04 · SoCS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League of Robot Runners 조건(최대 1만 대, 스텝당 1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DeepFleet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이동 로봇 플릿의 다중 에이전트 파운데이션 모델. 논문은 오프라인 평가, 10% 개선은 회사 주장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OmniVLA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10개 플랫폼 9,500시간으로 학습한 옴니모달 내비 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GTRS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후보 궤적 일반화 스코어링, CVPR 2025 NAVSIM v2 우승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D.5d Planner — 로봇 분야별 계획·제어 지형</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38 / 109</a:t>
            </a:r>
          </a:p>
        </p:txBody>
      </p:sp>
      <p:graphicFrame>
        <p:nvGraphicFramePr>
          <p:cNvPr id="5" name="Table 4"/>
          <p:cNvGraphicFramePr>
            <a:graphicFrameLocks noGrp="1"/>
          </p:cNvGraphicFramePr>
          <p:nvPr/>
        </p:nvGraphicFramePr>
        <p:xfrm>
          <a:off x="609600" y="1244600"/>
          <a:ext cx="10966450" cy="3547584"/>
        </p:xfrm>
        <a:graphic>
          <a:graphicData uri="http://schemas.openxmlformats.org/drawingml/2006/table">
            <a:tbl>
              <a:tblPr firstRow="1" bandRow="1">
                <a:tableStyleId>{5C22544A-7EE6-4342-B048-85BDC9FD1C3A}</a:tableStyleId>
              </a:tblPr>
              <a:tblGrid>
                <a:gridCol w="2587625"/>
                <a:gridCol w="2417366"/>
                <a:gridCol w="5078710"/>
                <a:gridCol w="462260"/>
                <a:gridCol w="4204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Poutine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시각–언어–궤적 사전학습 + RL 후학습, 2025 Waymo 종단간 챌린지 1위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NAVSIM Score Basis Audit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공유 rollout이 방어 운전 평가에서 깨지는 점수 산정 결함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Hierarchical Reduced-Order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 · Humanoids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휴머노이드 강건 보행의 계층 저차 모델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MPC-Guided RL 가속·확장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가이드 RL을 휴머노이드 보행·조작으로 넓힘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Hiking in the Wild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2026.01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확장 가능한 휴머노이드 지각 파쿠르 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Reaching the Limit in Autonomous Racing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Science Robotics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드론 레이싱에서 최적 제어와 RL 비교. RL이 더 나은 목적 함수를 최적화한다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Veo 월드 시뮬레이터 정책 평가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Veo 월드 모델로 Gemini Robotics 정책을 평가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Model-based Diffusion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 · NeurIPS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확산으로 궤적 최적화, 확산과 MPPI의 이론적 연결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Embodiment Scaling Laws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생성 embodiment 수백 개로 보행 정책 하나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Fail-Passive Gap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산업 휴머노이드 기능 안전 인증의 fail-passive 공백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ENav(퍼서비어런스)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 · IEEE T-FR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후보 약 1,700개를 순위화하고 상위만 보수적으로 충돌 검사, 주행의 90% 이상 자율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변형 지형 사족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 · Science Robotics 8(74)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무른 지면 사족 보행 RL(KAIST Raibo)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MARVEL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 · Science 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자석 발 사족 벽 등반, NMPC(KAIST 박해원 연구실)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Contact-Implicit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2023.12 · IJRR 44(3)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접촉 모드·궤적을 미리 정하지 않는 사족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APT-RL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 · Science Robotics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SRBD 궤적 최적화 18만 개로 사전 학습한 뒤 RL, 야외 다기술 사족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토크 기반 이족 RL(TOCABI)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 · RA-L 8(10)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제어 이족 sim-to-real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링크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RA-L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혼잡 공간 모방학습 내비, BARN 2024 우승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Controller·안전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39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D.6 Controller — MPPI·학습 동역학 계열 (참고, 2026-09-25 개발 계획 제외)</a:t>
            </a:r>
          </a:p>
          <a:p>
            <a:pPr>
              <a:spcAft>
                <a:spcPts val="400"/>
              </a:spcAft>
            </a:pPr>
            <a:r>
              <a:rPr sz="1000" b="0" i="0">
                <a:solidFill>
                  <a:srgbClr val="C9D1E0"/>
                </a:solidFill>
                <a:latin typeface="Arial"/>
                <a:ea typeface="Malgun Gothic"/>
                <a:cs typeface="Malgun Gothic"/>
              </a:rPr>
              <a:t>D.7 동적 장애물 안전 필터</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D.7b Controller·안전 — 마일스톤과 공개 코드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D.6 Controller — MPPI·학습 동역학 계열 (참고, 2026-09-25 개발 계획 제외)</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40 / 109</a:t>
            </a:r>
          </a:p>
        </p:txBody>
      </p:sp>
      <p:graphicFrame>
        <p:nvGraphicFramePr>
          <p:cNvPr id="5" name="Table 4"/>
          <p:cNvGraphicFramePr>
            <a:graphicFrameLocks noGrp="1"/>
          </p:cNvGraphicFramePr>
          <p:nvPr/>
        </p:nvGraphicFramePr>
        <p:xfrm>
          <a:off x="609600" y="1244600"/>
          <a:ext cx="10966450" cy="3802536"/>
        </p:xfrm>
        <a:graphic>
          <a:graphicData uri="http://schemas.openxmlformats.org/drawingml/2006/table">
            <a:tbl>
              <a:tblPr firstRow="1" bandRow="1">
                <a:tableStyleId>{5C22544A-7EE6-4342-B048-85BDC9FD1C3A}</a:tableStyleId>
              </a:tblPr>
              <a:tblGrid>
                <a:gridCol w="2592884"/>
                <a:gridCol w="1420515"/>
                <a:gridCol w="5086052"/>
                <a:gridCol w="1062930"/>
                <a:gridCol w="80406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Smooth MPPI (SMPPI)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2021.12 · RA-L/IROS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 변화율 공간 샘플링. </a:t>
                      </a:r>
                      <a:r>
                        <a:rPr sz="800" b="0" i="0">
                          <a:solidFill>
                            <a:srgbClr val="16213A"/>
                          </a:solidFill>
                          <a:latin typeface="Consolas"/>
                          <a:ea typeface="Malgun Gothic"/>
                          <a:cs typeface="Malgun Gothic"/>
                        </a:rPr>
                        <a:t>SmoothMPPIController</a:t>
                      </a:r>
                      <a:r>
                        <a:rPr sz="800" b="0" i="0">
                          <a:solidFill>
                            <a:srgbClr val="16213A"/>
                          </a:solidFill>
                          <a:latin typeface="Arial"/>
                          <a:ea typeface="Malgun Gothic"/>
                          <a:cs typeface="Malgun Gothic"/>
                        </a:rPr>
                        <a:t>로 반영(TP-0021)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B.5, 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OT-MPC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MPPI의 가중 평균 단계를 엔트로피 OT로 바꿔, 입자를 가까운 저비용 제안의 무게중심으로 옮긴다. 모드가 여럿인 과제에서 이득, 코드 미공개. </a:t>
                      </a:r>
                      <a:r>
                        <a:rPr sz="800" b="1" i="0">
                          <a:solidFill>
                            <a:srgbClr val="16213A"/>
                          </a:solidFill>
                          <a:latin typeface="Arial"/>
                          <a:ea typeface="Malgun Gothic"/>
                          <a:cs typeface="Malgun Gothic"/>
                        </a:rPr>
                        <a:t>D.5b의 MPC-OT와 다른 논문이다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Terrain-Aware Kinodynamic Model + 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RA-L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조건 학습 6-DoF 모델을 MPPI rollout에 사용, 접촉 추정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PENN (Physics Embedded NN Vehicle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미분 가능 물리 + NN 차량 모델, 잠재 특징 = 타이어 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TOAST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2022.01 · RA-L/IROS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MPC와 같은 NN 동역학으로 고속 추종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HDVIO2.0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2025.04 · T-RO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물리 + TCN 잔차 6-DoF 동역학을 VIO 최적화에 넣어 외력·바람 추정, 힘 라벨 불필요, Jetson TX2 180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Continual Policy Learning via Variational Neural Dynamics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조건부 잔차 동역학 + 미분 가능 시뮬 정책 학습, 겪은 조건을 재생 버퍼로 기억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학습 MPC 개관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2020.05 · Annual Review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MPC를 세 갈래로 가름: 예측 모델 개선, MPC 파라미터화 추론, 제약 만족 덧붙이기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Cautious MPC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2017.05 · IEEE TCST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이름 있는 모델 + GP 잔차, 상태 분포 전파, 확률 제약으로 제약을 조인다. RC 경주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예측 제어 barrier 함수(PCBF)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항상 실행 가능한 소프트 제약 보조 문제로 예측 안전 필터의 실행 가능 집합을 안정화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E.5, 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Bridging Active Exploration and Uncertainty-Aware Deployment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RSS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앙상블 동역학, JRD 불일치로 능동 탐색 · 불확실성 회피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 TP-0022 E2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Guided Latent-Context Online Adaptation for Learned Vehicle Dynamics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동역학의 잠재 문맥 온라인 적응(공개 arXiv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Scholar</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ProxPI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prior를 근접 비용항으로만 반영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π-MPPI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샘플별 QP 투영으로 제어 도함수 한계 보장(QP 초기값만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D.6 Controller — MPPI·학습 동역학 계열 (참고, 2026-09-25 개발 계획 제외)</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41 / 109</a:t>
            </a:r>
          </a:p>
        </p:txBody>
      </p:sp>
      <p:graphicFrame>
        <p:nvGraphicFramePr>
          <p:cNvPr id="5" name="Table 4"/>
          <p:cNvGraphicFramePr>
            <a:graphicFrameLocks noGrp="1"/>
          </p:cNvGraphicFramePr>
          <p:nvPr/>
        </p:nvGraphicFramePr>
        <p:xfrm>
          <a:off x="609600" y="1244600"/>
          <a:ext cx="10966450" cy="3636960"/>
        </p:xfrm>
        <a:graphic>
          <a:graphicData uri="http://schemas.openxmlformats.org/drawingml/2006/table">
            <a:tbl>
              <a:tblPr firstRow="1" bandRow="1">
                <a:tableStyleId>{5C22544A-7EE6-4342-B048-85BDC9FD1C3A}</a:tableStyleId>
              </a:tblPr>
              <a:tblGrid>
                <a:gridCol w="2592884"/>
                <a:gridCol w="1420515"/>
                <a:gridCol w="5086052"/>
                <a:gridCol w="1062930"/>
                <a:gridCol w="80406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Self-Supervised MPC Initialization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초기해 자기지도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CVaR 기반 위험 인지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C.2, PRD R-F-006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DRA-MPPI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IROS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군중 속 몬테카를로 동적 위험 MPPI, RTX2080 97–115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C.2, PRD R-F-006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zero-order GP-MPC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2022.11 · European J. Control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분산은 제약 조이기에 쓰고 Jacobian 기여만 떨어뜨려 GP-MPC 실시간화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L4acados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2024.11 · IEEE TCST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acados에 Python 학습 잔차 모델을 꽂는 틀, Jacobian 근사·병렬 sensitivity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문맥 베이즈 최적화 MPC 튜닝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2021.10 · IROS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동역학이 인코딩한 문맥으로 MPC 파라미터를 전이 튜닝, 1:28 경주차 3,000랩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ampyc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강건·확률 MPC 교육용 Python 구현 모음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강건 비선형 MPC (외란 피드백)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명목 모델 + 외란 피드백 + 모델 오차 상한을 SCP로 동시 최적화 (E.6에서 채택 안 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강건 비선형 최적제어 (SLS)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IEEE TAC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system level synthesis로 명목 궤적과 피드백 이득을 함께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안전 탐색 학습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 동역학 위에서 되돌아올 수 있는 영역만 탐색 (E.6에서 채택 안 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경로를 품은 내비게이션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Dijkstra 경로 구간을 MPC 결정 변수로, 재귀 실행 가능성·충돌 회피 보장, 1:28 차량 (ETH IDSC)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COAT-MPC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 · IEEE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성능 문턱 제약을 지키는 베이즈 최적화 MPC 튜너 (ETH IDSC)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경주용 예측 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2021.02 · IEEE RA-L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경주 제어기 뒤의 예측 안전 필터 실물 검증 (ETH IDSC)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E.7, 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Chronos·CRS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2022.09 · ICRA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1:28 차량과 식별·추정·제어·다중 에이전트 소프트웨어 틀 (ETH IDSC)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DTC (Deep Tracking 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 · Science Robotics 9(86)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최적화가 낸 발 디딤을 RL 정책이 밟는다 (ETH RSL)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데이터</a:t>
                      </a:r>
                    </a:p>
                  </a:txBody>
                  <a:tcPr marL="63500" marR="63500" marT="12700" marB="12700">
                    <a:solidFill>
                      <a:srgbClr val="FFFD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D.6 Controller — MPPI·학습 동역학 계열 (참고, 2026-09-25 개발 계획 제외)</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42 / 109</a:t>
            </a:r>
          </a:p>
        </p:txBody>
      </p:sp>
      <p:graphicFrame>
        <p:nvGraphicFramePr>
          <p:cNvPr id="5" name="Table 4"/>
          <p:cNvGraphicFramePr>
            <a:graphicFrameLocks noGrp="1"/>
          </p:cNvGraphicFramePr>
          <p:nvPr/>
        </p:nvGraphicFramePr>
        <p:xfrm>
          <a:off x="609600" y="1244600"/>
          <a:ext cx="10966450" cy="3668472"/>
        </p:xfrm>
        <a:graphic>
          <a:graphicData uri="http://schemas.openxmlformats.org/drawingml/2006/table">
            <a:tbl>
              <a:tblPr firstRow="1" bandRow="1">
                <a:tableStyleId>{5C22544A-7EE6-4342-B048-85BDC9FD1C3A}</a:tableStyleId>
              </a:tblPr>
              <a:tblGrid>
                <a:gridCol w="2592884"/>
                <a:gridCol w="1420515"/>
                <a:gridCol w="5086052"/>
                <a:gridCol w="1062930"/>
                <a:gridCol w="80406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학습 FDM + 샘플링 MPC (Kim·Kim·Hwangbo)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2022.04 · RSS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2D LiDAR 관측과 명령 열에서 미래 위치·충돌 확률 예측, FDM(RSS 2025)의 기준선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B.14.3, MPC 문서 M.1.3,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GP-MPC 서베이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 동역학 학습의 남은 과제 셋: 확장성·근사·온라인 갱신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Titsias 변분 유도점 (VFE)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2009 · AISTATS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유도 입력을 변분 파라미터로 두고 KL 하한을 올린다. 보수적으로 틀린다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희소 GP 근사의 이해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FITC는 잡음을 과소평가해 과신, VFE는 보수. 실험 비교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Streaming Sparse GP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2017.05 · NeurIPS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스트리밍에서 하이퍼파라미터까지 변분으로 갱신, Csató·Opper를 특수 경우로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Data-Driven MPC for Quadrotors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2021.02 · RA-L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공력 잔차 GP를 NMPC에, </a:t>
                      </a:r>
                      <a:r>
                        <a:rPr sz="800" b="1" i="0">
                          <a:solidFill>
                            <a:srgbClr val="16213A"/>
                          </a:solidFill>
                          <a:latin typeface="Arial"/>
                          <a:ea typeface="Malgun Gothic"/>
                          <a:cs typeface="Malgun Gothic"/>
                        </a:rPr>
                        <a:t>유도점 20개</a:t>
                      </a:r>
                      <a:r>
                        <a:rPr sz="800" b="0" i="0">
                          <a:solidFill>
                            <a:srgbClr val="16213A"/>
                          </a:solidFill>
                          <a:latin typeface="Arial"/>
                          <a:ea typeface="Malgun Gothic"/>
                          <a:cs typeface="Malgun Gothic"/>
                        </a:rPr>
                        <a:t>로 추종 오차 70% 감소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LB-NMPC (Ostafew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 · JFR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사전 차량 모델 + GP 외란, 실외 지상 로봇 3종 50–600 kg, 3 km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Learn Fast, Forget Slow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2018.10 · RA-L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900 kg 지상 로봇 3 km에서 </a:t>
                      </a:r>
                      <a:r>
                        <a:rPr sz="800" b="1" i="0">
                          <a:solidFill>
                            <a:srgbClr val="16213A"/>
                          </a:solidFill>
                          <a:latin typeface="Arial"/>
                          <a:ea typeface="Malgun Gothic"/>
                          <a:cs typeface="Malgun Gothic"/>
                        </a:rPr>
                        <a:t>wBLR이 GPR보다 정확</a:t>
                      </a:r>
                      <a:r>
                        <a:rPr sz="800" b="0" i="0">
                          <a:solidFill>
                            <a:srgbClr val="16213A"/>
                          </a:solidFill>
                          <a:latin typeface="Arial"/>
                          <a:ea typeface="Malgun Gothic"/>
                          <a:cs typeface="Malgun Gothic"/>
                        </a:rPr>
                        <a:t>, Tube MPC와 결합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스키드 스티어 확률 운동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타이어-지면 상호작용을 GPR로, 미지 지형 일반화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 + chance-constrained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2024.11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 잔차를 더한 유니사이클에 확률 제약을 세워 </a:t>
                      </a:r>
                      <a:r>
                        <a:rPr sz="800" b="1" i="0">
                          <a:solidFill>
                            <a:srgbClr val="16213A"/>
                          </a:solidFill>
                          <a:latin typeface="Arial"/>
                          <a:ea typeface="Malgun Gothic"/>
                          <a:cs typeface="Malgun Gothic"/>
                        </a:rPr>
                        <a:t>MPPI로</a:t>
                      </a:r>
                      <a:r>
                        <a:rPr sz="800" b="0" i="0">
                          <a:solidFill>
                            <a:srgbClr val="16213A"/>
                          </a:solidFill>
                          <a:latin typeface="Arial"/>
                          <a:ea typeface="Malgun Gothic"/>
                          <a:cs typeface="Malgun Gothic"/>
                        </a:rPr>
                        <a:t> 푼다, 스키드 스티어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elevation_mapping_cupy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2022.04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고도 지도 + 학습 기반 traversability 필터, DARPA SubT ANYmal 4대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Nav2 환경 표현 재설계 이슈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2019.10 · 열림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2D costmap이 2.5D에 묶는다는 메인테이너의 문제 제기, gradient map 제안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이슈 #1278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Nav2 실외 한계(농업)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통과 가능한 키 큰 풀이 장애물로 찍혀 경로가 길어지거나 중단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행성 탐사차 국소 슬립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 · ICRA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종류별 기하→슬립 GP, 국소 적응이 고슬립 구간에서 가장 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통과성 예측 확률 융합 경로계획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예측한 통과성을 확률적으로 융합해 위험 인지 경로로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 대규모 지형 모델링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2009 · JFR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GP를 지형 모델로: 다중 해상도, 불확실성, 관측 결손 대응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Neural Process 고도 모델링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 계보의 최신판, off-road 고도장과 불확실성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FFD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D.6 Controller — MPPI·학습 동역학 계열 (참고, 2026-09-25 개발 계획 제외)</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43 / 109</a:t>
            </a:r>
          </a:p>
        </p:txBody>
      </p:sp>
      <p:graphicFrame>
        <p:nvGraphicFramePr>
          <p:cNvPr id="5" name="Table 4"/>
          <p:cNvGraphicFramePr>
            <a:graphicFrameLocks noGrp="1"/>
          </p:cNvGraphicFramePr>
          <p:nvPr/>
        </p:nvGraphicFramePr>
        <p:xfrm>
          <a:off x="609600" y="1244600"/>
          <a:ext cx="10966450" cy="3605448"/>
        </p:xfrm>
        <a:graphic>
          <a:graphicData uri="http://schemas.openxmlformats.org/drawingml/2006/table">
            <a:tbl>
              <a:tblPr firstRow="1" bandRow="1">
                <a:tableStyleId>{5C22544A-7EE6-4342-B048-85BDC9FD1C3A}</a:tableStyleId>
              </a:tblPr>
              <a:tblGrid>
                <a:gridCol w="2592884"/>
                <a:gridCol w="1420515"/>
                <a:gridCol w="5086052"/>
                <a:gridCol w="1062930"/>
                <a:gridCol w="80406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통과성 추정 서베이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모바일 로봇 통과성 추정 전반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E.10, A.7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보도 배달로봇 강건 경로계획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주행 시간 불확실성 집합으로 경로 선택(동역학 아님)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CLIS-MPPI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CDC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실행 지연을 초기 상태 분포로 두고 rollout 회귀로 되먹임 이득, UR5e 실물 5회. 실측 지연 통계는 미보고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 E.16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Feedback-MPPI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 · RA-L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rollout 미분으로 국소 되먹임 이득, 쿼드로터 실물 RMSE 64.6% 감소(4족은 시뮬). 논문 Eq. 13 부호 주의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 E.16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OptCar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 ·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범용 FKD 모델(AnyCar)을 한 차량에 특화, 이력 문맥 토큰 + 실제·합성 미세조정, 1/5 차량 6 m/s 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E.4, E.16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FE-RLS (Zero to Autonomy in Real-Time)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RA-L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신경 ODE 기저의 계수를 RLS로 온라인 갱신해 MPPI rollout 적응, Jackal 잔디·얼음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E.4, E.16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접촉 최댓값 불확실성 전파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ICRA 2027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 접촉 최댓값을 Clark 근사로 닫힌 형태 전파, 가우시안 CVaR 경로 순위, 지도 σ 과소 보정 지적(오프라인 평가)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E.10, E.16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조향 제약 4WIS 계획 (Liu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 · ICAR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조향 한계(±130°)가 차체 속도 공간을 불연속 평면 8개, 12구역으로 자른다. 구역 넘기를 DWA 비평가로 막아 실물 미로의 바퀴 뒤집기 8.8 → 2.2회(baseline-2 대 aug-DWA-2). MPC 아님(Planner 층 배경)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M.1, M.4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영상</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AWOISV 필터 튜브 MPC (Yang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바퀴마다 ±90° 조향하는 차량의 운동 모드 + 칼만 필터 오차 튜브 LTV-MPC. TruckSim·HIL만, 수치 미확인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M.1, M.4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확산 초기해 충돌 회피 MPC (Haffemayer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 · RA-L 2026(프로젝트 페이지 기준)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물체 슬롯 조건 확산 궤적을 SDF hard 제약 OCP의 초기해로. 성공 79–83 % 대 초기해 없는 OCP 10 % 미만, Franka 실물 (LAAS-CNRS·LIRIS·CTU CIIRC)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M.1.1, M.4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RL 유도 PAC-NMPC (Polevoy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샘플링 확률 NMPC. RL actor를 초기해로, critic을 종단 비용·가치 감소 제약으로. 랠리카 실물 95 %(위반 0) 대 actor 85 %, 축거 오류 시 80 %(위반 0, 멈춤 20 %) 대 70 %(위반 30 %)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M.1.1, M.4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강건·적응 GP-MPC (Dubied·Lahr·Zeilinger·Köhler)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 · Automatica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수축 계량 위 스칼라 튜브 ODE로 GP 오차를 전파하고 GP를 온라인 갱신. L4acados, 지평 7.5 s, SQP 반복 51–89 ms로 실시간과 거리가 멀다. 쿼드로터 시뮬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M.1.2, M.4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데이터에서 강건 MPC까지 (Benders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입출력 기록에서 외란 상자를 추정하고 SDP로 튜브(ρ = 12.5)·종단 성분을 설계(TU Delft·ETH·CTU). 쿼드로터 시뮬만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M.1.2, M.4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FFD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D.6 Controller — MPPI·학습 동역학 계열 (참고, 2026-09-25 개발 계획 제외)</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44 / 109</a:t>
            </a:r>
          </a:p>
        </p:txBody>
      </p:sp>
      <p:graphicFrame>
        <p:nvGraphicFramePr>
          <p:cNvPr id="5" name="Table 4"/>
          <p:cNvGraphicFramePr>
            <a:graphicFrameLocks noGrp="1"/>
          </p:cNvGraphicFramePr>
          <p:nvPr/>
        </p:nvGraphicFramePr>
        <p:xfrm>
          <a:off x="609600" y="1244600"/>
          <a:ext cx="10966450" cy="1424304"/>
        </p:xfrm>
        <a:graphic>
          <a:graphicData uri="http://schemas.openxmlformats.org/drawingml/2006/table">
            <a:tbl>
              <a:tblPr firstRow="1" bandRow="1">
                <a:tableStyleId>{5C22544A-7EE6-4342-B048-85BDC9FD1C3A}</a:tableStyleId>
              </a:tblPr>
              <a:tblGrid>
                <a:gridCol w="2592884"/>
                <a:gridCol w="1420515"/>
                <a:gridCol w="5086052"/>
                <a:gridCol w="1062930"/>
                <a:gridCol w="80406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고속 전지형 자율주행 (Baxter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T-RO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3차원 강체 + 바퀴 스프링 모델과 에너지 안정 여유 전복 제약을 GPU 샘플링 MPC로. 실차(4–5.5 m/s) 24/24 대 23/24, 시뮬 5–10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M.1.2, M.4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비평면 재귀 희소 GP MPC (Amine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 · IEEE IV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부호 있는 roll·pitch 입력 희소 GP 잔차를 망각 계수로 온라인 갱신, MPPI 50 Hz. Isaac Sim만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M.1.3, M.4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에너지 정규화 신경망 잔차 MPC (Kübel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 ·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MLP 잔차에 에너지 증가 벌점을 걸어 acados RTI NMPC에. 정규화 없는 쪽보다 MAE 최대 15 % 낮음(원 궤적 0.107 대 0.127 m), 틸트 쿼드로터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M.1.3, M.4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Delay-aware Robust Control (Kalaria·Lin·Dolan)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2022.08 · IEEE TIV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지연을 상태 확장으로 다루는 강건 MPC(자율주행·레이싱). 지연 보상의 고전 기준점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M.4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신경 연산자 예측기 지연 적응 제어 (Bhan·Krstic·Shi)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근사 신경 연산자 예측기로 비선형 지연 시스템을 제어하는 이론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M.4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D.7 동적 장애물 안전 필터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45 / 109</a:t>
            </a:r>
          </a:p>
        </p:txBody>
      </p:sp>
      <p:graphicFrame>
        <p:nvGraphicFramePr>
          <p:cNvPr id="5" name="Table 4"/>
          <p:cNvGraphicFramePr>
            <a:graphicFrameLocks noGrp="1"/>
          </p:cNvGraphicFramePr>
          <p:nvPr/>
        </p:nvGraphicFramePr>
        <p:xfrm>
          <a:off x="609600" y="1244600"/>
          <a:ext cx="10966449" cy="1773792"/>
        </p:xfrm>
        <a:graphic>
          <a:graphicData uri="http://schemas.openxmlformats.org/drawingml/2006/table">
            <a:tbl>
              <a:tblPr firstRow="1" bandRow="1">
                <a:tableStyleId>{5C22544A-7EE6-4342-B048-85BDC9FD1C3A}</a:tableStyleId>
              </a:tblPr>
              <a:tblGrid>
                <a:gridCol w="1988939"/>
                <a:gridCol w="1631255"/>
                <a:gridCol w="5710932"/>
                <a:gridCol w="687288"/>
                <a:gridCol w="94803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Adaptive CVaR Barrier Functions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2025.04 · IROS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CVaR + 동적 zone CBF, CasADi(오픈소스). TP-0014 1순위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CVaR-BF +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미분 가능 CVaR-BF로 위험 수준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OcclusionCBF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가려진 영역 reachable occupancy 인증, Gurobi 필요(보류)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Predictive Semantic Safety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 물리 사건 예측 → conformal 미래 점유 → 백업 보존 QP 안전 필터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DUCCT-MPPI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2026.05 · IROS 2026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UT 위치 튜브 + 몬테카를로 보행자 위험의 확률 제약 MPPI, Brier·로그 손실로 위험 보정 평가, TurtleBot3 시뮬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C.2, E.16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GS-MPPI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2024.10 · ACC 2025 투고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제약을 합성 CBF 하나로 묶고 닫힌 형태 안전 제어를 rollout 동역학에 넣는다, soft-min 합성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Exact-Safe 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ACC 2027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GS-MPPI의 soft-min barrier 합성을 정확한 최솟값 + δ-활성 집합 QP로, 좁은 틈 보존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 E.16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표본 안전 필터 (SV-MPC)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안전 표본이 없을 때만 백업 개입, 시나리오 기법으로 괜한 개입에 확률 상한 (KAIST)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 E.16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D.7b Controller·안전 — 마일스톤과 공개 코드</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46 / 109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E.1(MPPI 계보), E.2(학습 동역학·적응 마일스톤), C.4(안전 필터 계보)에서 다룬 연구다.</a:t>
            </a:r>
          </a:p>
        </p:txBody>
      </p:sp>
      <p:graphicFrame>
        <p:nvGraphicFramePr>
          <p:cNvPr id="6" name="Table 5"/>
          <p:cNvGraphicFramePr>
            <a:graphicFrameLocks noGrp="1"/>
          </p:cNvGraphicFramePr>
          <p:nvPr/>
        </p:nvGraphicFramePr>
        <p:xfrm>
          <a:off x="609600" y="1549995"/>
          <a:ext cx="10966450" cy="3516072"/>
        </p:xfrm>
        <a:graphic>
          <a:graphicData uri="http://schemas.openxmlformats.org/drawingml/2006/table">
            <a:tbl>
              <a:tblPr firstRow="1" bandRow="1">
                <a:tableStyleId>{5C22544A-7EE6-4342-B048-85BDC9FD1C3A}</a:tableStyleId>
              </a:tblPr>
              <a:tblGrid>
                <a:gridCol w="2374900"/>
                <a:gridCol w="1482030"/>
                <a:gridCol w="4924425"/>
                <a:gridCol w="1099741"/>
                <a:gridCol w="108535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ABS (Agile But Safe)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2024.01 · RSS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빠른 정책 + 정책 조건 도달-회피 가치 감시 + 회복 정책, Go1 3 m/s 이상. 코드는 CC BY-NC 4.0(README 표기)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 C.4, F.6,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Poisson Safety Functions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점유 지도에서 Poisson 방정식으로 CBF 안전 함수, GPU SOR 0.2–0.3 ms, Go2·G1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영상</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Geometry-Aware Predictive Safety Filters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Humanoids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Poisson 안전 함수 + Minkowski 로봇 모양 + CBF MPC 100 Hz, G1·Go2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Risk-Aware Poisson Safety + Laplace Guidance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장애물별 위험도를 Laplace 안내장의 경계 유출량으로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일반화된 중요도 샘플링의 GPU 병렬 경로 적분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정보이론적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2017.07 · T-RO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KL 기반 유도로 일반 비선형 동역학에 확장, AutoRally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Robust 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2021.02 · RA-L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명목·실제 증강 상태, 명목 상태 선택, 자유 에너지 상한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log-MPPI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2022.03 · RA-L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정규·로그정규 곱 분포 샘플링, occupancy 격자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MPPI-Generic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Tube-MPPI, Robust MPPI의 C++/CUDA 라이브러리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pytorch_mppi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근사 동역학을 쓰는 PyTorch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PETS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2018.05 · NeurIPS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앙상블 동역학 + 궤적 샘플링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IKD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2021.02 · RA-L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IMU를 넣은 역운동 모델로 고속 오프로드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2021.07 · RSS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환경 요인의 잠재 벡터를 이력에서 추정하는 온라인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E.2,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TD-MPC2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ICLR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디코더 없는 잠재 world model 안의 MPPI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CBF-QP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2016.09 · IEEE TAC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CBF와 CLF를 한 QP로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FFDF8"/>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Controller·안전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D.7b Controller·안전 — 마일스톤과 공개 코드</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47 / 109</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2374900"/>
                <a:gridCol w="1482030"/>
                <a:gridCol w="4924425"/>
                <a:gridCol w="1099741"/>
                <a:gridCol w="108535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CBF 이론과 응용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2019.03 · ECC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 튜토리얼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HJ 도달 가능성 개관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2017.09 · CDC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가치 함수 기반 안전 집합 계산과 도구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코드(JAX)</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예측 안전 필터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제어기 명령을 MPC로 검사하고 최소로 수정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이산 시간 CBF +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2020.07 · ACC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안의 이산 CBF 제약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safe-control-gym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제어·RL 안전 방법 비교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안전 필터 통합 관점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2023.09 · Annual Review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가치 함수, CBF, 예측 필터를 감시 + 개입 구조로 통합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safe_control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단일·다중 로봇 CBF-QP, MPC-CBF 구현 모음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강화학습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48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D.14 강화학습 (§R)</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D.15 딥러닝 (§L)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1/7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49 / 109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강화학습 문서(R.0–R.19)에서 다룬 연구다. 강의 자료가 먼저 오고, 논문은 arXiv 첫 게재 순이다. 기울기 없는 학습기 PolyStep은 MPOT와 함께 D.5b에 있다. MPPI(D.7b), BADGR(D.3b), GNM(D.4), Diffusion Policy(D.5b)는 각 절에 있다.</a:t>
            </a:r>
          </a:p>
        </p:txBody>
      </p:sp>
      <p:graphicFrame>
        <p:nvGraphicFramePr>
          <p:cNvPr id="6" name="Table 5"/>
          <p:cNvGraphicFramePr>
            <a:graphicFrameLocks noGrp="1"/>
          </p:cNvGraphicFramePr>
          <p:nvPr/>
        </p:nvGraphicFramePr>
        <p:xfrm>
          <a:off x="609600" y="1766491"/>
          <a:ext cx="10966449" cy="3395184"/>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CS 185/285 Deep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 봄 · UC Berkeley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Sergey Levine의 심층 강화학습 강의 25강. 강화학습 문서의 순서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 전체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과목</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CS 285 2023 영상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 가을 · UC Berkeley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RAIL 채널의 재생목록. 강의 22개를 부분 영상 95개로 나눴고, 초청 강연이 넷이다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 전체</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재생목록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CS294-112 2018 영상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 가을 · UC Berkeley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날짜별 영상 25개. 다른 정책을 따라 배우기, 병렬 RL, 초청 강연 셋은 이 재생목록에만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R.2, R.9, 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재생목록</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RL 이론 교재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온라인 교재 · Agarwal, Jiang, Kakade, Sun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표본 복잡도와 근사 오차 분석의 교재. 강의 20의 바탕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교재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DAgger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2010.11 · AISTATS 2011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실행 분포에서 전문가 라벨을 다시 모아 행동 복제의 분포 이동을 줄인다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R.2, 0.12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DQN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2013.12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재생 버퍼와 목표망으로 영상 입력 Q-learning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2015.02 · ICML 2015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KL 신뢰 영역 안의 정책 개선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Guided Policy Search(시각운동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2015.04 · JMLR 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최적화가 만든 지도 신호로 영상 입력 정책을 끝에서 끝으로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2015.06 · ICLR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편향과 분산을 λ로 고르는 이점 추정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최대 엔트로피 심층 IRL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2015.07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최대 엔트로피 IRL의 보상을 신경망으로 나타낸다. 주행 비용 지도 학습에 쓰였다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DDPG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2015.09 · ICLR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연속 행동의 결정적 actor-critic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Double DQN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2015.09 · AAAI 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선택과 평가를 나눠 과대평가를 줄인다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Policy Distillation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2015.11 · ICLR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교사 정책을 학생 망 하나로 증류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A3C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2016.02 · ICML 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일꾼이 비동기로 기울기를 더하는 actor-critic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R.4, 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Bootstrapped DQN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2016.02 · NeurIPS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부트스트랩 Q 머리 가운데 하나를 에피소드마다 골라 깊이 탐색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2/7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50 / 109</a:t>
            </a:r>
          </a:p>
        </p:txBody>
      </p:sp>
      <p:graphicFrame>
        <p:nvGraphicFramePr>
          <p:cNvPr id="5" name="Table 4"/>
          <p:cNvGraphicFramePr>
            <a:graphicFrameLocks noGrp="1"/>
          </p:cNvGraphicFramePr>
          <p:nvPr/>
        </p:nvGraphicFramePr>
        <p:xfrm>
          <a:off x="609600" y="1244600"/>
          <a:ext cx="10966449" cy="3744672"/>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Guided Cost 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2016.03 · ICML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표본 기반 최대 엔트로피 IRL. 보상과 정책을 번갈아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NVIDIA 끝에서 끝 주행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영상에서 조향을 행동 복제. 좌우 카메라로 복구 자료를 만든다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VIME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2016.05 · NeurIPS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베이즈 동역학 모델의 정보 이득을 탐색 보너스로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의사 횟수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2016.06 · NeurIPS 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밀도 모델로 방문 횟수를 추정해 탐색 보너스로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GAIL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2016.06 · NeurIPS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판별기를 보상으로 쓰는 적대적 모방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후속 특징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2016.06 · NeurIPS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특징의 할인 누적으로 새 보상의 Q를 곧바로 얻고, 여러 정책 가운데 상태마다 고른다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Watch This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주행 시연으로 도시 경로 계획의 비용 함수를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Option-Critic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2016.09 · AAAI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옵션과 종료 조건을 정책 기울기로 끝에서 끝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신경망 구조 탐색(NAS)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2016.11 · ICLR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RNN 제어기가 구조를 내고, 검증 정확도를 보상으로 REINFORCE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RL²</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에피소드 사이에 은닉 상태를 잇는 순환 정책으로 메타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GAN, IRL, 에너지 모델의 연결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판별기의 특정 꼴이 최대 엔트로피 IRL과 같음을 보인다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#Exploration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2016.11 · NeurIPS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상태를 해시로 묶어 세는 탐색 보너스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선택지와 끝 상태의 상호정보로 내재 제어를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Soft Q-learning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2017.02 · ICML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에너지 기반 정책의 최대 엔트로피 Q-learning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OpenAI 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파라미터에 잡음을 주는 진화 전략, 대규모 병렬. TP-0128의 학습기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R.3, E.12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EX2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2017.03 · NeurIPS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새 상태를 지난 상태와 가리는 분류기로 새로움을 잰다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MAML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2017.03 · ICML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기울기 몇 번으로 적응하는 초기값을 메타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ICM(호기심)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2017.05 · ICML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학습한 특징 공간에서 다음 상태 예측 오차를 보상으로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3/7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51 / 109</a:t>
            </a:r>
          </a:p>
        </p:txBody>
      </p:sp>
      <p:graphicFrame>
        <p:nvGraphicFramePr>
          <p:cNvPr id="5" name="Table 4"/>
          <p:cNvGraphicFramePr>
            <a:graphicFrameLocks noGrp="1"/>
          </p:cNvGraphicFramePr>
          <p:nvPr/>
        </p:nvGraphicFramePr>
        <p:xfrm>
          <a:off x="609600" y="1244600"/>
          <a:ext cx="10966449" cy="3744672"/>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비율을 자르는 정책 기울기. 보행·조작·언어 모델의 표준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2017.07 · NeurIPS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실패 궤적을 실제로 간 곳을 목표로 다시 라벨링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GCG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2017.09 · ICRA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영상과 행동열로 충돌 같은 사건을 예측하는 계산 그래프. RC카가 스스로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SAC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2018.01 · ICML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최대 엔트로피 off-policy actor-critic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DIAYN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2018.02 · ICLR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 없이 서로 구별되는 기술을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2018.02 · ICML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두 critic의 작은 값과 지연 갱신으로 과대평가를 줄인다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IMPALA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2018.02 · ICML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행위자와 학습자를 나누고 V-trace로 정책 지연을 보정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MVE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모델로 목표를 몇 스텝 늘려 가치를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Ape-X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2018.03 · ICLR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많은 행위자와 중앙 우선순위 재생 버퍼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제어를 추론으로(튜토리얼)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최적성 변수로 RL을 확률 추론으로 본다. soft Bellman, MPPI의 바탕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PETS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2018.05 · NeurIPS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앙상블 동역학 + CEM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HIRO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2018.05 · NeurIPS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위층이 중간 목표를 내는 off-policy 계층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RIG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2018.07 · NeurIPS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생성 모델에서 상상한 목표로 영상 목표 조건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HG-DAgger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2018.10 · ICRA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사람이 개입할 때만 라벨을 받는 DAgger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배치 능동 선호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2018.10 · CoRL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물을 궤적 쌍을 골라 적은 질문으로 보상을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2018.10 · ICLR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고정된 무작위 망을 따라 배우는 오차를 새로움으로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2018.11 · ICML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동역학 모델 안에서 CEM으로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Go-Explore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유망한 곳으로 먼저 돌아간 뒤 거기서 탐색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4/7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52 / 109</a:t>
            </a:r>
          </a:p>
        </p:txBody>
      </p:sp>
      <p:graphicFrame>
        <p:nvGraphicFramePr>
          <p:cNvPr id="5" name="Table 4"/>
          <p:cNvGraphicFramePr>
            <a:graphicFrameLocks noGrp="1"/>
          </p:cNvGraphicFramePr>
          <p:nvPr/>
        </p:nvGraphicFramePr>
        <p:xfrm>
          <a:off x="609600" y="1244600"/>
          <a:ext cx="10966449" cy="3744672"/>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Skew-Fit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2019.03 · ICML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드문 상태 쪽으로 목표 분포를 기울여 상태를 넓게 덮는다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PEARL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2019.03 · ICML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문맥을 변분 추론하는 off-policy 메타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Ray Interference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쉬운 과제가 학습을 독차지해 생기는 정체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인과 혼동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2019.05 · NeurIPS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복제가 원인 대신 상관된 단서를 배우는 문제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SlateQ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2019.05 · IJCAI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슬레이트의 Q를 항목별 Q로 나누는 추천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MBPO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2019.06 · NeurIPS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짧은 모델 rollout으로 자료를 늘린 SAC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상태 주변 분포 맞추기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정책의 상태 분포를 목표 분포에 맞추는 탐색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시연과 선호로 보상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2019.06 · RSS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시연으로 보상의 사전분포를 잡고 선호 질문으로 좁힌다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PDDM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2019.09 · CoRL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앙상블 모델과 보상 가중 MPC로 손 조작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AWR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이점의 지수로 가중한 회귀. TP-0066의 갱신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MuZero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2019.11 · Nature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학습한 잠재 모델 안의 MCTS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목표 조건 정책으로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2019.11 · NeurIPS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목표 조건 가치로 중간 목표를 골라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BRAC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보상이나 가치에 행동 정책과의 발산을 벌점으로 넣는다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Dreamer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2019.12 · ICLR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동역학 안의 actor-critic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GCSL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2019.12 · ICLR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자기 궤적을 다시 라벨링해 목표 조건 행동 복제를 반복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MOReL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2020.05 · NeurIPS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모델이 모르는 곳을 흡수 상태로 두는 비관적 MDP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MOPO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2020.05 · NeurIPS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보상에서 모델 불확실성을 뺀다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CQL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2020.06 · NeurIPS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자료 밖 행동의 Q를 끌어내리는 보수적 오프라인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5/7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53 / 109</a:t>
            </a:r>
          </a:p>
        </p:txBody>
      </p:sp>
      <p:graphicFrame>
        <p:nvGraphicFramePr>
          <p:cNvPr id="5" name="Table 4"/>
          <p:cNvGraphicFramePr>
            <a:graphicFrameLocks noGrp="1"/>
          </p:cNvGraphicFramePr>
          <p:nvPr/>
        </p:nvGraphicFramePr>
        <p:xfrm>
          <a:off x="609600" y="1244600"/>
          <a:ext cx="10966449" cy="3789360"/>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AWAC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AWR식 actor와 Q critic으로 오프라인에서 온라인으로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LaND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보도 로봇의 안전 요원 개입을 라벨로 내비게이션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2020.11 · ICLR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미래 상태 분류기로 목표 도달 확률을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배치 RL의 지수 하한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2020.12 · ICML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선형 실현성과 고른 덮음에도 배치 RL은 지수적인 표본이 들 수 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COMBO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2021.02 · NeurIPS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모델이 만든 상태–행동의 Q를 누르는 보수적 모델 기반 오프라인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초기화 없는 다과제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2021.04 · ICRA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과제끼리 서로의 초기화가 되어 사람 개입 없이 손 조작을 배운다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TD3+BC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2021.06 · NeurIPS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TD3 actor 목표에 행동 복제 항을 더한 최소한의 오프라인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2021.07 · RSS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문맥 인코더로 동역학을 추정해 빠르게 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 0.11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Isaac Gym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2021.08 · NeurIPS 2021 D&amp;B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시뮬과 학습을 한 GPU에 올려 환경 수천 개를 돌린다. ANYmal 평지 속도 추종 2분(A100), 지금은 지원이 끝난 레거시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 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통계적 벼랑(rliable)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2021.08 · NeurIPS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적은 실행의 점 추정 대신 신뢰구간과 IQM을 보고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IQL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2021.10 · ICLR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expectile 가치와 AWR로 자료 밖 행동을 묻지 않는다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InstructGPT(RLHF)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2022.03 · NeurIPS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선호 보상 모델 + PPO + KL 제약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SayCan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2022.04 · CoRL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언어 모델이 고른 기술을 가치 함수의 실행 가능성으로 거른다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보행과 로컬 내비게이션 끝에서 끝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2022.09 · IROS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4족 로봇이 험지 내비게이션을 끝에서 끝 RL로 배운다(위치·시간 기반 명령, DTC와 ANYmal Parkour의 뿌리)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R.0, R.15, B.14.2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보상 모델 과최적화의 규모 법칙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2022.10 · ICML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대리 보상을 최적화할수록 실제 보상이 꺾인다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큰 규모의 오프라인 Q-learning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2022.11 · ICLR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Atari 게임 자료로 CQL. 망이 클수록 좋아진다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DreamerV3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Nature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한 설정으로 여러 영역을 푸는 세계 모델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 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6/7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54 / 109</a:t>
            </a:r>
          </a:p>
        </p:txBody>
      </p:sp>
      <p:graphicFrame>
        <p:nvGraphicFramePr>
          <p:cNvPr id="5" name="Table 4"/>
          <p:cNvGraphicFramePr>
            <a:graphicFrameLocks noGrp="1"/>
          </p:cNvGraphicFramePr>
          <p:nvPr/>
        </p:nvGraphicFramePr>
        <p:xfrm>
          <a:off x="609600" y="1244600"/>
          <a:ext cx="10966449" cy="3668472"/>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RLPD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2023.02 · ICML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배치 절반을 오프라인 자료에서 뽑는, 처음부터의 온라인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Cal-QL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NeurIPS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몬테카를로 수익 아래로는 누르지 않는 보정된 CQL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IDQL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IQL critic이 확산 행동 정책의 표본을 다시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ACT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 · RSS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조건부 VAE 트랜스포머로 행동 덩어리를 낸다. 양팔 조작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R.2, R.7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NeurIPS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 모델 없이 선호 쌍으로 정책을 바로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DDPO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 · ICLR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 모델의 denoising을 MDP로 보고 정책 기울기로 미세조정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Let's Verify Step by Step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ICLR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사고 과정의 단계마다 평가하는 과정 보상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TD-MPC2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ICLR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모델 + MPPI 계획 + 가치로 끝을 잇는다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상상한 대화의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LLM이 만든 그럴듯한 대화 위에서 목표 지향 대화 에이전트를 RL로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Diffusion-DPO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2023.11 · CVPR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가능도 대신 ELBO로 확산 모델에 DPO를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QSM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2023.12 · ICML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 정책의 점수를 Q의 행동 기울기에 맞춘다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DeepSeekMath(GRPO)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그룹 상대 이점, critic 없는 PPO. TP-0066의 이점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ArCHer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ICML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발화 단위 가치와 토큰 단위 정책 기울기의 계층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 R.15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DPPO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denoising MDP를 환경 MDP에 넣어 확산 정책을 PPO로 미세조정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FQL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행동 복제 곁에 Q를 키우는 한 스텝 정책을 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ReinFlow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NeurIPS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잡음으로 flow 정책의 가능도를 정확히 계산해 미세조정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 B.3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VideoMimic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영상을 따라 배운 휴머노이드 제어. 11 × 11 높이 지도와 목표 방향만 보는 G1 정책 하나가 계단·의자·연석을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R.0, B.16.6, I.2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FFDF8"/>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D.14 강화학습 (§R)</a:t>
            </a:r>
            <a:r>
              <a:rPr sz="1050" b="0" i="0">
                <a:solidFill>
                  <a:srgbClr val="5A6478"/>
                </a:solidFill>
                <a:latin typeface="Arial"/>
                <a:ea typeface="Malgun Gothic"/>
                <a:cs typeface="Malgun Gothic"/>
              </a:rPr>
              <a:t>  7/7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55 / 109</a:t>
            </a:r>
          </a:p>
        </p:txBody>
      </p:sp>
      <p:graphicFrame>
        <p:nvGraphicFramePr>
          <p:cNvPr id="5" name="Table 4"/>
          <p:cNvGraphicFramePr>
            <a:graphicFrameLocks noGrp="1"/>
          </p:cNvGraphicFramePr>
          <p:nvPr/>
        </p:nvGraphicFramePr>
        <p:xfrm>
          <a:off x="609600" y="1244600"/>
          <a:ext cx="10966449" cy="3274296"/>
        </p:xfrm>
        <a:graphic>
          <a:graphicData uri="http://schemas.openxmlformats.org/drawingml/2006/table">
            <a:tbl>
              <a:tblPr firstRow="1" bandRow="1">
                <a:tableStyleId>{5C22544A-7EE6-4342-B048-85BDC9FD1C3A}</a:tableStyleId>
              </a:tblPr>
              <a:tblGrid>
                <a:gridCol w="1821160"/>
                <a:gridCol w="2024955"/>
                <a:gridCol w="5161260"/>
                <a:gridCol w="954385"/>
                <a:gridCol w="10046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DSRL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확산·flow 정책의 잠재 잡음 공간에서 온라인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 손실의 차이를 PPO 비율로 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Q-chunking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2025.07 · NeurIPS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묶음 critic과 flow 행동 복제에 묶은 best-of-N으로 오프라인에서 온라인으로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SPiDR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NeurIPS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무작위화 시뮬 앙상블의 분산을 안전 비용에 더해 sim-to-real 안전을 지킨다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 R.19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영상</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Dreamer 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오프라인 영상으로 배운 world model 안에서만 강화학습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RL-100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모방, 오프라인 RL, 실물 온라인 RL을 확산 정책의 자른 PPO 목표 하나로 잇고 한 스텝으로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 R.19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π*0.6(RECAP)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이점을 조건으로 받는 정책으로 오프라인 RL에서 실물 경험과 교정까지 잇는다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R.10,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소개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FastSAC·FastTD3 휴머노이드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대규모 병렬 off-policy로 G1·T1 보행을 RTX 4090 한 장에서 15분에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R.15, R.19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표본별 비율 자르기와 비대칭 신뢰 영역으로 flow 정책 기울기를 실물 휴머노이드까지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R.13,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FINO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 · ICLR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입력 잡음과 엔트로피 유도 선택으로 오프라인에서 온라인으로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R.10, R.19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SimDist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RSS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시뮬에서 world model을 미리 배우고 실물에서는 동역학만 고쳐 MPPI로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R.9,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프로젝트·코드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VIA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 · IROS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CVaR 제약 TD3와 학습 뒤 행동 도달 집합 검증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 R.19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깨끗한 사전학습 뒤 다섯 섭동으로 미세조정해 내비게이션 RL의 sim-to-real 틈을 줄인다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R.15,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Safe Score Matching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 NeurIPS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HJ 도달 가능성 critic으로 확산 정책의 점수 목표를 보상과 회복 두 갈래로 나눈다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R.13, C</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QF3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replay 행동 가까운 차원에만 Q 기울기를 흘리는 off-policy flow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R.13, R.19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30"/>
                        </a:rPr>
                        <a:t>프로젝트</a:t>
                      </a:r>
                    </a:p>
                  </a:txBody>
                  <a:tcPr marL="63500" marR="63500" marT="12700" marB="12700">
                    <a:solidFill>
                      <a:srgbClr val="FFFDF8"/>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D.15 딥러닝 (§L)</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56 / 109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딥러닝 문서(L.0–L.22)에서 다룬 연구다. 교재와 강의가 먼저 오고, 논문은 arXiv 첫 게재 순이다. flow matching 원논문·Flow Matching Guide·Diffusion Policy·π0·OpenVLA(D.5b), DINOv2(D.3b)는 각 절에 있다.</a:t>
            </a:r>
          </a:p>
        </p:txBody>
      </p:sp>
      <p:graphicFrame>
        <p:nvGraphicFramePr>
          <p:cNvPr id="6" name="Table 5"/>
          <p:cNvGraphicFramePr>
            <a:graphicFrameLocks noGrp="1"/>
          </p:cNvGraphicFramePr>
          <p:nvPr/>
        </p:nvGraphicFramePr>
        <p:xfrm>
          <a:off x="609600" y="1766491"/>
          <a:ext cx="10966847" cy="3350496"/>
        </p:xfrm>
        <a:graphic>
          <a:graphicData uri="http://schemas.openxmlformats.org/drawingml/2006/table">
            <a:tbl>
              <a:tblPr firstRow="1" bandRow="1">
                <a:tableStyleId>{5C22544A-7EE6-4342-B048-85BDC9FD1C3A}</a:tableStyleId>
              </a:tblPr>
              <a:tblGrid>
                <a:gridCol w="2913360"/>
                <a:gridCol w="2417366"/>
                <a:gridCol w="3362920"/>
                <a:gridCol w="1547416"/>
                <a:gridCol w="72578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Understanding Deep 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 · MIT Press · Simon J. D. Prince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무료 PDF 교재 21장과 노트북. 딥러닝 문서의 순서와 표기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 전체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교재</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MIT 6.S184 Flow Matching and Diffusion Models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 · MIT · 강의 노트 Holderrieth·Erives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matching과 diffusion을 SDE·ODE로 한 번에 정리한 강의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L.10–L.12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과목</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노트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Stanford CS336 Language Modeling from Scratch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 봄 · Stanford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토크나이저·transformer·규모의 법칙·정렬을 직접 구현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L.5–L.8, L.13, L.16–L.18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과목</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MIT 6.S191 Introduction to Deep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매년 · 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짧은 입문 강의와 실습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L.0–L.3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과목</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Stanford CS231n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매년 · Stanford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시각 인식: 합성곱, ViT, 자기지도 표현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L.4, L.14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과목</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Dive into Deep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온라인 교재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코드가 붙은 무료 교재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 전체</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교재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Adam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2014.12 · ICLR 2015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성분마다 기울기 제곱 평균으로 나누는 적응 학습률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2014.06 · NeurIPS 2014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생성자와 판별자의 게임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VAE(Auto-Encoding Variational Bayes)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2013.12 · ICLR 2014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ELBO와 재매개변수화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L.9</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BatchNorm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2015.02 · ICML 2015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배치 안에서 활성을 정규화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지식 증류(Hinton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교사의 부드러운 확률을 학생이 맞힌다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2015.05 · MICCAI 2015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해상도를 줄였다 늘리며 같은 해상도끼리 건너뛰기 연결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ResNet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2015.12 · CVPR 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잔차 연결로 아주 깊은 망을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LayerNorm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표본 하나의 특징 안에서 정규화. transformer의 기본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일반화 다시 생각하기(Zhang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2016.11 · ICLR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큰 망은 무작위 라벨까지 외운다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Deep Ensembles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2016.12 · NeurIPS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초기값만 다른 망 여러 개의 의견 차이로 불확실성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D.15 딥러닝 (§L)</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57 / 109</a:t>
            </a:r>
          </a:p>
        </p:txBody>
      </p:sp>
      <p:graphicFrame>
        <p:nvGraphicFramePr>
          <p:cNvPr id="5" name="Table 4"/>
          <p:cNvGraphicFramePr>
            <a:graphicFrameLocks noGrp="1"/>
          </p:cNvGraphicFramePr>
          <p:nvPr/>
        </p:nvGraphicFramePr>
        <p:xfrm>
          <a:off x="609600" y="1244600"/>
          <a:ext cx="10966847" cy="3744672"/>
        </p:xfrm>
        <a:graphic>
          <a:graphicData uri="http://schemas.openxmlformats.org/drawingml/2006/table">
            <a:tbl>
              <a:tblPr firstRow="1" bandRow="1">
                <a:tableStyleId>{5C22544A-7EE6-4342-B048-85BDC9FD1C3A}</a:tableStyleId>
              </a:tblPr>
              <a:tblGrid>
                <a:gridCol w="2913360"/>
                <a:gridCol w="2417366"/>
                <a:gridCol w="3362920"/>
                <a:gridCol w="1547416"/>
                <a:gridCol w="72578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PointNet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2016.12 · CVPR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점마다 같은 MLP와 최댓값 모음으로 순서와 무관한 점군 함수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희소 게이트 MoE(Shazeer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2017.01 · ICLR 2017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토큰마다 전문가 몇 개만 켠다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Transformer(Attention Is All You Need)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2017.06 · NeurIPS 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scaled dot-product attention과 여러 머리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AdamW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2017.11 · ICLR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가중 감쇠를 적응 학습률 밖으로 뗐다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복권 가설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2018.03 · ICLR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큰 망 안의 잘 학습되는 작은 부분망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BERT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2018.10 · NAACL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양방향 마스크 언어 모델 사전학습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L.13, L.14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Deep Double Descent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2019.12 · ICLR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모델·자료·학습 길이에 대한 이중 하강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Kaplan 규모의 법칙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손실이 크기·자료·계산의 거듭제곱 법칙을 따른다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SimCLR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2020.02 · ICML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두 증강을 가깝게 하는 대조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GPT-3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2020.05 · NeurIPS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크기를 키워 생긴 몇 예시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DDPM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2020.06 · NeurIPS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 예측 제곱 오차로 학습하는 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L.10, 0.5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DDIM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2020.10 · ICLR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학습은 그대로, 결정적 샘플러로 걸음을 줄인다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2020.10 · ICLR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16×16 패치를 토큰으로 쓰는 영상 transformer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Score SDE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2020.11 · ICLR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잡음 예측 = 점수, 확률 흐름 ODE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Switch Transformer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2021.01 · JMLR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전문가 하나만 고르는 단순한 MoE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CLIP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2021.02 · ICML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영상–글 4억 쌍의 대조 학습, 영점 분류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L.14, L.19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RoFormer(RoPE)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질의·키를 위치만큼 회전시키는 상대 위치 부호화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2021.04 · ICCV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라벨 없는 자기 증류 ViT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D.15 딥러닝 (§L)</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58 / 109</a:t>
            </a:r>
          </a:p>
        </p:txBody>
      </p:sp>
      <p:graphicFrame>
        <p:nvGraphicFramePr>
          <p:cNvPr id="5" name="Table 4"/>
          <p:cNvGraphicFramePr>
            <a:graphicFrameLocks noGrp="1"/>
          </p:cNvGraphicFramePr>
          <p:nvPr/>
        </p:nvGraphicFramePr>
        <p:xfrm>
          <a:off x="609600" y="1244600"/>
          <a:ext cx="10966847" cy="3744672"/>
        </p:xfrm>
        <a:graphic>
          <a:graphicData uri="http://schemas.openxmlformats.org/drawingml/2006/table">
            <a:tbl>
              <a:tblPr firstRow="1" bandRow="1">
                <a:tableStyleId>{5C22544A-7EE6-4342-B048-85BDC9FD1C3A}</a:tableStyleId>
              </a:tblPr>
              <a:tblGrid>
                <a:gridCol w="2913360"/>
                <a:gridCol w="2417366"/>
                <a:gridCol w="3362920"/>
                <a:gridCol w="1547416"/>
                <a:gridCol w="72578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LoRA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2021.06 · ICLR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얼린 가중에 저랭크 갱신만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2021.11 · CVPR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패치 75 %를 가리고 복원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InstructGPT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2022.03 · NeurIPS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시연 미세 조정 → 보상 모델 → PPO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L.18, R.12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Chinchilla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2022.03 · NeurIPS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계산 고정 시 크기와 토큰을 같이 키운다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FlashAttention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2022.05 · NeurIPS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메모리 왕복을 줄인 정확한 attention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Classifier-Free Guidance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조건 있는·없는 예측을 섞는 guidance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Rectified 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2022.09 · ICLR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직선 경로의 flow와 reflow로 곧게 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L.11, L.12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2022.12 · ICCV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adaLN 조건의 diffusion transformer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I-JEPA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CVPR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가린 부분의 표현을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DreamerV3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world model 안의 상상으로 actor-critic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L.21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Consistency Models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2023.03 · ICML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확률 흐름 ODE의 끝점을 한 번에 내는 사상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LLaVA(Visual Instruction Tuning)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 · NeurIPS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CLIP 특징을 언어 모델 입력으로 사영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L.19</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QLoRA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NeurIPS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4비트로 얼린 가중 위의 LoRA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 · NeurIPS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보상 모델 없이 선호 쌍에서 정책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L.18, R.12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2023.07 · CoRL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행동을 글자 토큰으로 바꿔 VLM과 함께 학습한 VLA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L.13, L.20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Mamba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입력에 따라 바뀌는 선택적 상태공간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Genie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ICML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라벨 없는 영상에서 잠재 행동을 배운 생성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Jamba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attention 층과 Mamba 층을 섞은 언어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강화학습</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D.15 딥러닝 (§L)</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59 / 109</a:t>
            </a:r>
          </a:p>
        </p:txBody>
      </p:sp>
      <p:graphicFrame>
        <p:nvGraphicFramePr>
          <p:cNvPr id="5" name="Table 4"/>
          <p:cNvGraphicFramePr>
            <a:graphicFrameLocks noGrp="1"/>
          </p:cNvGraphicFramePr>
          <p:nvPr/>
        </p:nvGraphicFramePr>
        <p:xfrm>
          <a:off x="609600" y="1244600"/>
          <a:ext cx="10966847" cy="1773792"/>
        </p:xfrm>
        <a:graphic>
          <a:graphicData uri="http://schemas.openxmlformats.org/drawingml/2006/table">
            <a:tbl>
              <a:tblPr firstRow="1" bandRow="1">
                <a:tableStyleId>{5C22544A-7EE6-4342-B048-85BDC9FD1C3A}</a:tableStyleId>
              </a:tblPr>
              <a:tblGrid>
                <a:gridCol w="2913360"/>
                <a:gridCol w="2417366"/>
                <a:gridCol w="3362920"/>
                <a:gridCol w="1547416"/>
                <a:gridCol w="725785"/>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xLSTM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2024.05 · NeurIPS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지수 게이트와 행렬 기억의 LSTM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TTT(Learning to Learn at Test Time)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숨은 상태를 시퀀스를 읽으며 학습하는 작은 모델로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추론 시간 계산의 최적 배분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추론 때 계산을 더 쓰는 것이 더 큰 모델보다 나을 수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FAST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묶음에 DCT와 BPE를 건 행동 토크나이저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L.13, L.20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Cosmos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AI용 world model 플랫폼(diffusion·자기회귀)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Muon is Scalable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직교화 모멘텀 최적화기를 큰 언어 모델에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V-JEPA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사전학습 + 행동 조건 예측기로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L.15, L.21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DINOv3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DINO 계열을 더 키우고 조밀 특징 붕괴를 다룸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모방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60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D.16 모방 (§I)</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61 / 109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모방 문서(I.0–I.14)에서 다룬 연구다. 데이터·리타기팅, 동작 추종, 범용 추종기와 그 후속, 해석적 정책 기울기의 선행 연구 순서이고, 묶음 안에서는 arXiv 첫 게재 순이다. AMP for hardware·Multi-AMP·ASE·PHC·MaskedMimic·ProtoMotions·SONIC·RWM·H2O·OmniH2O·HumanPlus·ExBody·ExBody2·GMT·BeyondMimic·ZEST·Imitate and Repurpose·PARC·MaskedManipulator(D.8), HOVER·ASAP(D.5c), VideoMimic·DreamerV3(D.14)는 각 절에 있다. Athena-WBC(</a:t>
            </a:r>
            <a:r>
              <a:rPr sz="1050" b="0" i="0">
                <a:solidFill>
                  <a:srgbClr val="1D4ED8"/>
                </a:solidFill>
                <a:latin typeface="Arial"/>
                <a:ea typeface="Malgun Gothic"/>
                <a:cs typeface="Malgun Gothic"/>
                <a:hlinkClick r:id="rId3"/>
              </a:rPr>
              <a:t>arXiv:2607.04837</a:t>
            </a:r>
            <a:r>
              <a:rPr sz="1050" b="0" i="0">
                <a:solidFill>
                  <a:srgbClr val="16213A"/>
                </a:solidFill>
                <a:latin typeface="Arial"/>
                <a:ea typeface="Malgun Gothic"/>
                <a:cs typeface="Malgun Gothic"/>
              </a:rPr>
              <a:t>)는 저자가 철회해 싣지 않았다.</a:t>
            </a:r>
          </a:p>
        </p:txBody>
      </p:sp>
      <p:graphicFrame>
        <p:nvGraphicFramePr>
          <p:cNvPr id="6" name="Table 5"/>
          <p:cNvGraphicFramePr>
            <a:graphicFrameLocks noGrp="1"/>
          </p:cNvGraphicFramePr>
          <p:nvPr/>
        </p:nvGraphicFramePr>
        <p:xfrm>
          <a:off x="609600" y="1982986"/>
          <a:ext cx="10966449" cy="3179760"/>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Retargetting Motion to New Characters (Gleicher)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1998 · SIGGRAPH 1998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원 동작에 B-스플라인 변위를 더해 발 디딤 같은 제약을 만족시키는 시공간 제약 리타기팅. 중력·균형은 다루지 않는다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저자 원고</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Adapting Human Motion for the Control of a Humanoid Robot (Pollard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2002 · ICRA 2002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동작을 관절각 한계(국소 축척)와 속도 한계 순서로 깎아 상체 로봇(Sarcos DB)에 옮기고 앞먹임 궤적 학습으로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CMU Graphics Lab Motion Capture Database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웹 공개 (CMU)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시행 2,605개, 120 Hz 광학 캡처. "모든 용도에 무료"(변환한 형태라도 데이터 직접 재판매 금지). NPMP·CoMic·MoCapAct·ExBody의 원천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 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데이터</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from Observation Paradigm: Leg Task Models (Nakaoka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2007 · IJRR 26(8) (선행 ICRA 2003)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HRP-2가(2003년 선행은 HRP-1S) 모션 캡처한 민요 춤을 다리 과제(STAND·STEP·SQUAT) 인식과 ZMP 안정화로 재현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Spatial Relationship Preserving Character Motion Adaptation (Ho·Komura·Tai)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2010 · SIGGRAPH 2010 (ACM TOG 29(4))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몸·물체·환경 점의 Delaunay 상호작용 메시와 Laplacian 변형 에너지로 상대 배치를 보존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Real-time Imitation of Human Whole-Body Motions by Humanoids (Koenemann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2014 · ICRA 2014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관성 모션 캡처로 Nao가 끝점·질량 중심을 실시간으로 따르며 매 프레임 정적 안정 자세를 풂</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I.3, 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DOI</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Motion Retargeting for Humanoid Robots Based on Simultaneous Morphing Parameter Identification and Motion Optimization (Ayusawa·Yoshida)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 · IEEE T-RO 33(6)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사람→로봇 변형 파라미터 추정, 동작 계획, 모션 캡처 IK를 함께 풂(HRP-4)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NKN (Neural Kinematic Networks for Unsupervised Motion Retargetting)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2018.04 · CVPR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순기구학 층과 순환 일관 적대 학습으로 짝 데이터 없이 캐릭터 사이 리타기팅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SFV (Reinforcement Learning of Physical Skills from Videos)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2018.10 · SIGGRAPH Asia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자세 추정 → 동작 복원 → 동작 추종 RL을 3D 자세 추정과 심층 RL로 이음, 적응 시작 상태 분포(ASI)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62 / 109</a:t>
            </a:r>
          </a:p>
        </p:txBody>
      </p:sp>
      <p:graphicFrame>
        <p:nvGraphicFramePr>
          <p:cNvPr id="5" name="Table 4"/>
          <p:cNvGraphicFramePr>
            <a:graphicFrameLocks noGrp="1"/>
          </p:cNvGraphicFramePr>
          <p:nvPr/>
        </p:nvGraphicFramePr>
        <p:xfrm>
          <a:off x="609600" y="1244600"/>
          <a:ext cx="10966449" cy="3560760"/>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AMASS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2019.04 · ICCV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광학 모션 캡처 15개를 SMPL로 묶음, 346명·동작 11,451개·2,488분. 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데이터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Learning Agile Robotic Locomotion Skills by Imitating Animals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2020.04 · RSS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 모션 캡처를 핵심점 IK로 Laikago에 옮기고 동작 추종 RL과 적응으로 실물에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Skeleton-Aware Networks for Deep Motion Retargeting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2020.05 · SIGGRAPH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골격 풀링으로 관절 구조가 다른 골격을 공통 원시 골격에 모아 짝 없이 리타기팅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AIST++ (AI Choreographer)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2021.01 · ICCV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춤 5.2시간·시퀀스 1,408개·10개 장르, 주석 CC BY 4.0(원 영상은 학술 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데이터</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LAFAN1 (Robust Motion In-betweening)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2021.02 · SIGGRAPH 2020 (ACM TOG 39(4))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5명·77시퀀스·30 fps 약 4.6시간 BVH, CC BY-NC-ND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데이터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100STYLE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 · I3D 2022 (PACMCGIT)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 스타일 100가지, 60 fps 400만 프레임 이상, BVH, CC BY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데이터</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Motion-X / Motion-X++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2023.07 · NeurIPS 2023 D&amp;B / 2025.01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글 설명이 붙은 SMPL-X 전신 동작 81,084 / 120,462 클립(144.2 / 180.9시간)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Motion-X</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Motion-X++</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OMOMO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2023.09 · SIGGRAPH Asia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사람–물체 상호작용 약 10시간, 물체 15개·17명. OmniRetarget·HOI-Retarget의 원천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 I.5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ImitationNet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 · Humanoids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짝 데이터 없이 대조 학습 잠재 공간으로 사람 자세를 로봇 상체로 옮김, 1.5 kHz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WHAM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2023.12 · CVPR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영상에서 세계 좌표 사람 동작, EMDB W-MPJPE 354.8 mm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 · ECCV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축척을 아는 SLAM과 VIMO로 세계 좌표 동작, EMDB 222.4 mm. ASAP가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GVHMR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SIGGRAPH Asia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중력 방향 좌표계 회귀, EMDB 276.5 mm. KungfuBot·GMR 영상 입력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Humanoid-X / UH-1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인터넷 영상에서 약 16만 쌍(약 240시간)의 휴머노이드 동작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PyRoki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JAX Levenberg–Marquardt 기구학 최적화, 블록 희소 야코비안. VideoMimic·SONIC·ProtoMotions 3의 리타기팅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I.2, I.4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코드</a:t>
                      </a:r>
                    </a:p>
                  </a:txBody>
                  <a:tcPr marL="63500" marR="63500" marT="12700" marB="12700">
                    <a:solidFill>
                      <a:srgbClr val="F3F0E8"/>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63 / 109</a:t>
            </a:r>
          </a:p>
        </p:txBody>
      </p:sp>
      <p:graphicFrame>
        <p:nvGraphicFramePr>
          <p:cNvPr id="5" name="Table 4"/>
          <p:cNvGraphicFramePr>
            <a:graphicFrameLocks noGrp="1"/>
          </p:cNvGraphicFramePr>
          <p:nvPr/>
        </p:nvGraphicFramePr>
        <p:xfrm>
          <a:off x="609600" y="1244600"/>
          <a:ext cx="10966449" cy="3636960"/>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OmniRetarget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 · ICRA 2026(프로젝트 페이지 표기, 최우수 논문상)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상호작용 메시 비용 + 충돌·관절·속도·디딤 발 hard 제약의 순차 SOCP, 물체·지형 증강. 로봇–지형 추종 94.73 %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GMR (Retargeting Matters)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비균일 국소 축척과 2단계 미분 IK. 추종기를 고정하고 리타기팅만 바꿔 성공률이 0–100 %로 갈림을 보임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PHUMA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 ·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Humanoid-X를 물리 기준으로 거르고 LAFAN1·LocoMuJoCo·자체 영상을 더해, 접지·미끄러짐 손실의 PhySINK로 옮긴 73.0시간(클립 7.6만 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 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SPIDER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 꼴 표본 궤적 최적화로 물리적으로 가능한 리타기팅, 로봇 9종·시뮬레이터 3개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KDMR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지면 반력을 쓰는 전신 동역학 다접촉 궤적 최적화 리타기팅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NMR (Make Tracking Easy)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거르기·GMR·군집 RL 전문가로 만든 약 3만 쌍으로 학습한 리타기팅 망, 관절 급변 0회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ReActor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2026.05 · SIGGRAPH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몸체별 오프셋(위)과 PPO 추종기(아래)의 2층 최적화, G1 성공 97.45 %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Human2Humanoid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짝 없는 CycleGAN으로 Motion-X를 G1 동작으로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DSMS (Shooting for Contact)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MuJoCo를 전이로 쓰는 다중 사격법, 접촉 순서 없이 뒤공중제비 착지 74/75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UMR (Unified Motion Retargeting)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사람–로봇 점군 대응을 학습하고 프레임마다 Gauss–Newton QP, 초당 65프레임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HOI-Retarget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물체 좌표계 접촉 목표의 창 단위 궤적 최적화, 접촉점 간격 0.005 m. 6,952클립 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PriMoRetarget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발·접촉·자세의 엄격한 우선순위, 낮은 순위 기울기를 영공간으로 투영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Fast Motion Retargeting Pipeline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실시간 반복 SQP와 구간 병렬로 CPU 한 대의 워커 20개에서 LAFAN1 초당 9,156프레임, AMASS 1.08시간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BONES-SEED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 Hugging Face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142,220개(약 288시간, 배우 522명), SOMA와 G1 리타기팅, 신청형 라이선스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 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데이터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soma-retargeter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 (NVIDIA)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Newton·Warp 기반 SOMA BVH → 휴머노이드 리타기팅, 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코드</a:t>
                      </a:r>
                    </a:p>
                  </a:txBody>
                  <a:tcPr marL="63500" marR="63500" marT="12700" marB="12700">
                    <a:solidFill>
                      <a:srgbClr val="FFFDF8"/>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64 / 109</a:t>
            </a:r>
          </a:p>
        </p:txBody>
      </p:sp>
      <p:graphicFrame>
        <p:nvGraphicFramePr>
          <p:cNvPr id="5" name="Table 4"/>
          <p:cNvGraphicFramePr>
            <a:graphicFrameLocks noGrp="1"/>
          </p:cNvGraphicFramePr>
          <p:nvPr/>
        </p:nvGraphicFramePr>
        <p:xfrm>
          <a:off x="609600" y="1244600"/>
          <a:ext cx="10966449" cy="3726336"/>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SAMCON (Sampling-based Contact-rich Motion 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2010 · SIGGRAPH 2010 (ACM TOG 29(4))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PD 목표 변위를 표본으로 뽑아 시뮬레이션으로 걸러 모션 캡처를 추종, 미분이 필요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 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논문 페이지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DeepMimic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2018.04 · SIGGRAPH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지수 추종 보상, 기준 상태 초기화(RSI), 조기 종료(ET)로 물리 캐릭터가 모션 캡처를 따라 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NPMP (Neural Probabilistic Motor Primitives)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2018.11 · ICLR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조각별 전문가 2,707개를 60차원 잠재 조건 학생으로 증류하고 디코더를 위 층 행동 공간으로 재사용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DReCon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 · SIGGRAPH Asia 2019 (ACM TOG 38(6))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매칭이 고른 자세에 RL 정책이 PD 목표 오프셋을 더함. 운동학 Planner + 추종기 분리의 원형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 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DOI</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 · ICML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증류 없이 V-MPO 정책 하나가 CMU 최대 3.5시간을 추종, dm_control </a:t>
                      </a:r>
                      <a:r>
                        <a:rPr sz="800" b="0" i="0">
                          <a:solidFill>
                            <a:srgbClr val="16213A"/>
                          </a:solidFill>
                          <a:latin typeface="Consolas"/>
                          <a:ea typeface="Malgun Gothic"/>
                          <a:cs typeface="Malgun Gothic"/>
                        </a:rPr>
                        <a:t>reference_pose</a:t>
                      </a:r>
                      <a:r>
                        <a:rPr sz="800" b="0" i="0">
                          <a:solidFill>
                            <a:srgbClr val="16213A"/>
                          </a:solidFill>
                          <a:latin typeface="Arial"/>
                          <a:ea typeface="Malgun Gothic"/>
                          <a:cs typeface="Malgun Gothic"/>
                        </a:rPr>
                        <a:t> 환경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PMLR</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ScaDiver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 · SIGGRAPH 2020 (ACM TOG 39(4))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군집 8개의 전문가와 softmax 게이트로 묶은 범용 추종기, 군집 균등 표집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DOI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AMP (Adversarial Motion Priors)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2021.04 · SIGGRAPH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 전이 판별기를 스타일 보상으로, 정리되지 않은 데이터에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UHC (Dynamics-Regulated Kinematic Policy for Egocentric Pose Estimation)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2021.06 · NeurIPS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SMPL 휴머노이드 범용 추종기, AMASS 학습 동작 성공 97.0 %. 0.5 m 종료(코드)와 어려운 프레임 표집을 PHC가 이어받음. 잔차 힘은 RFC(</a:t>
                      </a:r>
                      <a:r>
                        <a:rPr sz="800" b="0" i="0">
                          <a:solidFill>
                            <a:srgbClr val="1D4ED8"/>
                          </a:solidFill>
                          <a:latin typeface="Arial"/>
                          <a:ea typeface="Malgun Gothic"/>
                          <a:cs typeface="Malgun Gothic"/>
                          <a:hlinkClick r:id="rId13"/>
                        </a:rPr>
                        <a:t>arXiv:2006.07364</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MoCapAct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2022.08 · NeurIPS 2022 D&amp;B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조각 전문가 2,589개와 롤아웃 데이터, 증류 정책 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PULSE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ICLR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PHC+를 잠재 공간으로 증류해 위 층 RL의 행동 공간으로, VR 세 점 93.4 %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InterMimic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2025.02 · CVPR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피험자별 교사를 RL과 DAgger로 학생 하나에 증류해 사람–물체 상호작용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Meta Motivo (Zero-Shot Whole-Body Humanoid Control via Behavioral Foundation Models)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2025.04 ·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비지도 RL(FB-CPR)로 만든 휴머노이드 행동 기반 모델, 보상·목표 자세·추종을 영 샷으로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ADD (Adversarial Differential Discriminators)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SIGGRAPH Asia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손으로 가중한 추종 보상 대신 오차 벡터만 보는 판별기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FFDF8"/>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65 / 109</a:t>
            </a:r>
          </a:p>
        </p:txBody>
      </p:sp>
      <p:graphicFrame>
        <p:nvGraphicFramePr>
          <p:cNvPr id="5" name="Table 4"/>
          <p:cNvGraphicFramePr>
            <a:graphicFrameLocks noGrp="1"/>
          </p:cNvGraphicFramePr>
          <p:nvPr/>
        </p:nvGraphicFramePr>
        <p:xfrm>
          <a:off x="609600" y="1244600"/>
          <a:ext cx="10966449" cy="3668472"/>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MimicKit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 · arXiv(안내서)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DeepMimic·AMP·ASE·ADD·SMP를 Isaac Gym·Isaac Lab·Newton 위에 다시 구현한 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I.0, 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BFM-Zero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ICLR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비지도 RL로 학습한 프롬프트형 휴머노이드 행동 기반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SMP (Score-Matching Motion Priors)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 · ACM TOG·SIGGRAPH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고정한 동작 diffusion 모델의 점수를 보상으로 쓰는 재사용 가능한 동작 사전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GPC (Generative Pretraining for Transferable Motor Control)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 · SIGGRAPH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RL로 끝까지 학습한 이산 토큰 추종기 위에 GPT식 생성 제어기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TWIST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OptiTrack을 GMR로 실시간 리타기팅, RL + 행동 복제 학생으로 G1 전신 원격조종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기준 동작 다듬기와 균형 학습으로 극단적 균형 동작을 실물 G1에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CLONE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MR 헤드셋 머리·손만으로 MoE 정책과 전역 drift 보정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BumbleBee (From Experts to a Generalist)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군집별 전문가를 일반 정책 하나로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KungfuBot (PBHC)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NeurIPS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동작의 물리 거르기·접촉 보정, 오차로 보상 허용폭을 조절하는 적응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I.6, 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LeVERB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시각–언어 정책이 잠재 동사를 내고 RL 전신 제어기가 실행, 150개 넘는 과제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UniTracker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2025.07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특권 교사, 부분 관측 CVAE 학생, 어려운 동작 빠른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Any2Track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이력 기반 온라인 동역학 적응기를 더한 범용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KungfuBot2 (VMS)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혼합 국소·전역 추종 목표와 직교 MoE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HDMI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영상의 사람·물체 궤적으로 로봇과 물체를 함께 추종, 문 통과 연속 67회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ResMimic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자체 학습한 범용 추종 기본 정책에 물체 점군 보상의 잔차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5"/>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TWIST2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캡처 없는 VR + 2자유도 목 원격조종 데이터, 계층형 시각 운동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7"/>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GentleHumanoid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힘 상한을 입력으로 받는 상체 순응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8"/>
                        </a:rPr>
                        <a:t>논문</a:t>
                      </a:r>
                    </a:p>
                  </a:txBody>
                  <a:tcPr marL="63500" marR="63500" marT="12700" marB="12700">
                    <a:solidFill>
                      <a:srgbClr val="FFFDF8"/>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66 / 109</a:t>
            </a:r>
          </a:p>
        </p:txBody>
      </p:sp>
      <p:graphicFrame>
        <p:nvGraphicFramePr>
          <p:cNvPr id="5" name="Table 4"/>
          <p:cNvGraphicFramePr>
            <a:graphicFrameLocks noGrp="1"/>
          </p:cNvGraphicFramePr>
          <p:nvPr/>
        </p:nvGraphicFramePr>
        <p:xfrm>
          <a:off x="609600" y="1244600"/>
          <a:ext cx="10966449" cy="3668472"/>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AMS (Agility Meets Stability)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 ·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동작과 생성한 균형 동작의 이질 데이터로 역동 추종과 극단 균형을 정책 하나에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Deep Whole-body Parkour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영상을 보는 동작 추종과 시작 위치 무작위화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TextOp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글 조건 잠재 diffusion 생성기(6.25 Hz)와 추종기(50 Hz)로 실시간 글 명령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PHP (Perceptive Humanoid Parkour)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 · RSS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매칭으로 이은 파쿠르 기술의 교사들을 깊이 영상 학생 하나로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OmniXtreme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 · RSS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동작별 전문가를 flow matching 정책으로 증류하고 구동기 한계를 잔차 RL로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체크포인트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OmniClone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범주별 벤치마크로 잰 전신 원격조종 시스템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HoloMotion-1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2026.05 · arXiv(기술 보고서)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복원 동작 2,000시간 이상, 희소 MoE Transformer 범용 추종기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I.9, 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ConstrainedMimic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 · CoRL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추종기 위 1 kHz 넘는 OSC + CBF 제약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Humanoid-GPT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 · CVPR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군집별 PPO 전문가를 causal Transformer 하나로 증류, 20억 프레임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LIMMT (Less Is More for Motion Tracking)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 · ICML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물리 점수·다양성·복잡도로 고른 데이터가 전체보다 낫다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SceneBot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링크별 접촉 표지 조건 추종기, 동작에서 장면을 거꾸로 복원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Scaling Behavior Foundation Model for Humanoid Robots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1억 2백만 프레임 Transformer, 전역 좌표 추종, 제어 모드 8개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I.9, 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YAHMP (What Matters in Humanoid General Motion Tracking?)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데이터·로봇에서 설계 요소별 절제, 이력 없음 +38 %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I.9, 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HumanTracker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 · ECCV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153시간 추종 벤치마크와 학습 선호 지표 HumanScore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I.9, 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5"/>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GigaBrain-WBC-0.5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world model, 접촉 감속 지형 자동 표지, 넘어짐 회복 99.3 %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PGMT (Perceptive General Motion Tracking)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조건 지형 엿보기로 인식 주입, 지형 위 30초 완주 87.81 %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ViBe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고정한 SONIC에 시각 인코더와 LoRA 어댑터만 RL로 붙여 장면을 보게 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9"/>
                        </a:rPr>
                        <a:t>코드</a:t>
                      </a:r>
                    </a:p>
                  </a:txBody>
                  <a:tcPr marL="63500" marR="63500" marT="12700" marB="12700">
                    <a:solidFill>
                      <a:srgbClr val="FFFDF8"/>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67 / 109</a:t>
            </a:r>
          </a:p>
        </p:txBody>
      </p:sp>
      <p:graphicFrame>
        <p:nvGraphicFramePr>
          <p:cNvPr id="5" name="Table 4"/>
          <p:cNvGraphicFramePr>
            <a:graphicFrameLocks noGrp="1"/>
          </p:cNvGraphicFramePr>
          <p:nvPr/>
        </p:nvGraphicFramePr>
        <p:xfrm>
          <a:off x="609600" y="1244600"/>
          <a:ext cx="10966449" cy="3834048"/>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드문드문한 시각 지정 키프레임으로 추종기를 부름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GAE (지연 조건 원격조종)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원격조종 지연을 조건으로 받는 추종기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NEXUS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평지 동작을 지형 위 동작으로 바꾼 짝 데이터 약 1,000시간과 깊이 영상을 보는 지형 적응 원격조종 전신 추종기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 B.16.6, B.16.8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CoFiT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안전 필터를 아는 추종기 미세 조정, 제약 위반 시간 SONIC −21 %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Beyond Retargeting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리타기팅 없이 동작 기본 단위 코드북으로 원격조종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TTCO (Test-Time Compute for Humanoid BFMs)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고정 추종기의 명령을 폐루프 시뮬레이션 표본으로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 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P-BFM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지형을 보는 비지도 RL 행동 기반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SONIC을 G1에서 H2로 옮김, GPU 한 장 약 8시간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I.12, 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C-GMT (Compliant GMT)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고유감각 이력 잔차 적응기로 범용 추종기에 순응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SuperMimic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 · CoRL 2026(구두)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world model 하나를 통한 해석적 정책 기울기. 자기 벤치마크(학습 동작 129,514개)에서 H100 한 장 3시간에 SONIC 공개 체크포인트의 수익을 넘음. 공식 코드 없음(2026-10-22)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현재 프레임의 간결한 기준만 보는 추종기로 원격조종 지연 65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I.9, I.13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MAAC (Model-Augmented Actor-Critic)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2020.05 · ICLR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모델을 통한 경로 미분과 끝 가치 함수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SHAC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2022.04 · ICLR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병렬 미분 가능 시뮬레이터, 짧은 지평 + 가치 함수 actor–critic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Do Differentiable Simulators Give Better Policy Gradients? (Suh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2022.02 · ICML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접촉 같은 불연속에서 1차 기울기가 편향되고, 뻣뻣한 동역학에서 분산이 커짐을 분석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ControlVAE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2022.10 · SIGGRAPH Asia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world model로 캐릭터 기술 VAE를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MoConVQ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ACM TOG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동역학 위의 이산 동작 표현으로 물리 기반 동작 제어를 묶음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3F0E8"/>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모방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D.16 모방 (§I)</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68 / 109</a:t>
            </a:r>
          </a:p>
        </p:txBody>
      </p:sp>
      <p:graphicFrame>
        <p:nvGraphicFramePr>
          <p:cNvPr id="5" name="Table 4"/>
          <p:cNvGraphicFramePr>
            <a:graphicFrameLocks noGrp="1"/>
          </p:cNvGraphicFramePr>
          <p:nvPr/>
        </p:nvGraphicFramePr>
        <p:xfrm>
          <a:off x="609600" y="1244600"/>
          <a:ext cx="10966449" cy="1182528"/>
        </p:xfrm>
        <a:graphic>
          <a:graphicData uri="http://schemas.openxmlformats.org/drawingml/2006/table">
            <a:tbl>
              <a:tblPr firstRow="1" bandRow="1">
                <a:tableStyleId>{5C22544A-7EE6-4342-B048-85BDC9FD1C3A}</a:tableStyleId>
              </a:tblPr>
              <a:tblGrid>
                <a:gridCol w="3442295"/>
                <a:gridCol w="1682750"/>
                <a:gridCol w="4282380"/>
                <a:gridCol w="745430"/>
                <a:gridCol w="8135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DiffMimic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2023.04 · ICLR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미분 가능 물리로 동작 모방, 뒤공중제비를 10분에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Learning Quadruped Locomotion Using Differentiable Simulation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2024.03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정밀 시뮬레이터로 굴리고 단순 대리 모델로 미분, 몇 분 만에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AHAC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2024.05 · ICML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뻣뻣한 접촉을 피하도록 지평을 바꾸는 1차 기울기 actor–critic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PWM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 · ICLR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미리 학습한 world model에서 1차 기울기로 정책, 행동 152차원까지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DMO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시뮬레이터로 굴리고 학습 모델로 미분(분리), Go2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FFDF8"/>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연구 그룹</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69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D.13 연구 그룹과 사람 — 누구를 따라갈 것인가</a:t>
            </a:r>
          </a:p>
          <a:p>
            <a:pPr>
              <a:spcAft>
                <a:spcPts val="400"/>
              </a:spcAft>
            </a:pPr>
            <a:r>
              <a:rPr sz="1000" b="1" i="0">
                <a:solidFill>
                  <a:srgbClr val="F59E5B"/>
                </a:solidFill>
                <a:latin typeface="Arial"/>
                <a:ea typeface="Malgun Gothic"/>
                <a:cs typeface="Malgun Gothic"/>
              </a:rPr>
              <a:t>S.8 참고문헌</a:t>
            </a:r>
          </a:p>
          <a:p>
            <a:pPr>
              <a:spcAft>
                <a:spcPts val="400"/>
              </a:spcAft>
            </a:pPr>
            <a:r>
              <a:rPr sz="1000" b="0" i="0">
                <a:solidFill>
                  <a:srgbClr val="C9D1E0"/>
                </a:solidFill>
                <a:latin typeface="Arial"/>
                <a:ea typeface="Malgun Gothic"/>
                <a:cs typeface="Malgun Gothic"/>
              </a:rPr>
              <a:t>물리 엔진</a:t>
            </a:r>
          </a:p>
          <a:p>
            <a:pPr>
              <a:spcAft>
                <a:spcPts val="400"/>
              </a:spcAft>
            </a:pPr>
            <a:r>
              <a:rPr sz="1000" b="0" i="0">
                <a:solidFill>
                  <a:srgbClr val="C9D1E0"/>
                </a:solidFill>
                <a:latin typeface="Arial"/>
                <a:ea typeface="Malgun Gothic"/>
                <a:cs typeface="Malgun Gothic"/>
              </a:rPr>
              <a:t>보도·도시·보행자</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센서·렌더링·world model</a:t>
            </a:r>
          </a:p>
          <a:p>
            <a:pPr>
              <a:spcAft>
                <a:spcPts val="400"/>
              </a:spcAft>
            </a:pPr>
            <a:r>
              <a:rPr sz="1000" b="0" i="0">
                <a:solidFill>
                  <a:srgbClr val="C9D1E0"/>
                </a:solidFill>
                <a:latin typeface="Arial"/>
                <a:ea typeface="Malgun Gothic"/>
                <a:cs typeface="Malgun Gothic"/>
              </a:rPr>
              <a:t>로봇 리그 (S.9)</a:t>
            </a:r>
          </a:p>
          <a:p>
            <a:pPr>
              <a:spcAft>
                <a:spcPts val="400"/>
              </a:spcAft>
            </a:pPr>
            <a:r>
              <a:rPr sz="1000" b="0" i="0">
                <a:solidFill>
                  <a:srgbClr val="C9D1E0"/>
                </a:solidFill>
                <a:latin typeface="Arial"/>
                <a:ea typeface="Malgun Gothic"/>
                <a:cs typeface="Malgun Gothic"/>
              </a:rPr>
              <a:t>지형·바퀴·sim-to-real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70 / 109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소속과 활동 상태는 2026-09-30에 1차 출처(연구실 페이지·대학 인명부·출판사 제출 소속·</a:t>
            </a:r>
            <a:r>
              <a:rPr sz="1050" b="1" i="0">
                <a:solidFill>
                  <a:srgbClr val="16213A"/>
                </a:solidFill>
                <a:latin typeface="Consolas"/>
                <a:ea typeface="Malgun Gothic"/>
                <a:cs typeface="Malgun Gothic"/>
              </a:rPr>
              <a:t>gh api</a:t>
            </a:r>
            <a:r>
              <a:rPr sz="1050" b="1" i="0">
                <a:solidFill>
                  <a:srgbClr val="16213A"/>
                </a:solidFill>
                <a:latin typeface="Arial"/>
                <a:ea typeface="Malgun Gothic"/>
                <a:cs typeface="Malgun Gothic"/>
              </a:rPr>
              <a:t>)로 확인했다.</a:t>
            </a:r>
            <a:r>
              <a:rPr sz="1050" b="0" i="0">
                <a:solidFill>
                  <a:srgbClr val="16213A"/>
                </a:solidFill>
                <a:latin typeface="Arial"/>
                <a:ea typeface="Malgun Gothic"/>
                <a:cs typeface="Malgun Gothic"/>
              </a:rPr>
              <a:t> 사람은 옮겨 다니므로 기억으로 쓰지 않았고, 확인하지 못한 것은 그렇게 적었다.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 먼저: 흔히 잘못 알려진 소속 14건 (전부 1차 출처로 확인)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71 / 109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흔히 잘못 알려진 소속 열넷을 1차 출처와 맞대어 남겨 둔다.</a:t>
            </a:r>
          </a:p>
        </p:txBody>
      </p:sp>
      <p:graphicFrame>
        <p:nvGraphicFramePr>
          <p:cNvPr id="6" name="Table 5"/>
          <p:cNvGraphicFramePr>
            <a:graphicFrameLocks noGrp="1"/>
          </p:cNvGraphicFramePr>
          <p:nvPr/>
        </p:nvGraphicFramePr>
        <p:xfrm>
          <a:off x="609600" y="1549995"/>
          <a:ext cx="10966450" cy="2956320"/>
        </p:xfrm>
        <a:graphic>
          <a:graphicData uri="http://schemas.openxmlformats.org/drawingml/2006/table">
            <a:tbl>
              <a:tblPr firstRow="1" bandRow="1">
                <a:tableStyleId>{5C22544A-7EE6-4342-B048-85BDC9FD1C3A}</a:tableStyleId>
              </a:tblPr>
              <a:tblGrid>
                <a:gridCol w="2895600"/>
                <a:gridCol w="8070850"/>
              </a:tblGrid>
              <a:tr h="197088">
                <a:tc>
                  <a:txBody>
                    <a:bodyPr wrap="square"/>
                    <a:lstStyle/>
                    <a:p>
                      <a:r>
                        <a:rPr sz="800" b="1" i="0">
                          <a:solidFill>
                            <a:srgbClr val="F4F1EA"/>
                          </a:solidFill>
                          <a:latin typeface="Arial"/>
                          <a:ea typeface="Malgun Gothic"/>
                          <a:cs typeface="Malgun Gothic"/>
                        </a:rPr>
                        <a:t>흔한 오해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확인된 사실</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Trautman이 Honeywell</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Honda Research Institute (USA)</a:t>
                      </a:r>
                      <a:r>
                        <a:rPr sz="800" b="0" i="0">
                          <a:solidFill>
                            <a:srgbClr val="16213A"/>
                          </a:solidFill>
                          <a:latin typeface="Arial"/>
                          <a:ea typeface="Malgun Gothic"/>
                          <a:cs typeface="Malgun Gothic"/>
                        </a:rPr>
                        <a:t> — 출판사 제출 소속 3건으로 확인(IJRR 2024, T-RO 2025, ACM THRI 2025)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Kottege가 CSIRO 로보틱스 그룹장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2021–2022에 그랬고 </a:t>
                      </a:r>
                      <a:r>
                        <a:rPr sz="800" b="1" i="0">
                          <a:solidFill>
                            <a:srgbClr val="16213A"/>
                          </a:solidFill>
                          <a:latin typeface="Arial"/>
                          <a:ea typeface="Malgun Gothic"/>
                          <a:cs typeface="Malgun Gothic"/>
                        </a:rPr>
                        <a:t>현재는 Cyber-Physical Systems 연구 디렉터</a:t>
                      </a:r>
                      <a:r>
                        <a:rPr sz="800" b="0" i="0">
                          <a:solidFill>
                            <a:srgbClr val="16213A"/>
                          </a:solidFill>
                          <a:latin typeface="Arial"/>
                          <a:ea typeface="Malgun Gothic"/>
                          <a:cs typeface="Malgun Gothic"/>
                        </a:rPr>
                        <a:t>. 현 그룹장은 </a:t>
                      </a:r>
                      <a:r>
                        <a:rPr sz="800" b="1" i="0">
                          <a:solidFill>
                            <a:srgbClr val="16213A"/>
                          </a:solidFill>
                          <a:latin typeface="Arial"/>
                          <a:ea typeface="Malgun Gothic"/>
                          <a:cs typeface="Malgun Gothic"/>
                        </a:rPr>
                        <a:t>David Howard</a:t>
                      </a:r>
                      <a:r>
                        <a:rPr sz="800" b="0" i="0">
                          <a:solidFill>
                            <a:srgbClr val="16213A"/>
                          </a:solidFill>
                          <a:latin typeface="Arial"/>
                          <a:ea typeface="Malgun Gothic"/>
                          <a:cs typeface="Malgun Gothic"/>
                        </a:rPr>
                        <a:t>와 </a:t>
                      </a:r>
                      <a:r>
                        <a:rPr sz="800" b="1" i="0">
                          <a:solidFill>
                            <a:srgbClr val="16213A"/>
                          </a:solidFill>
                          <a:latin typeface="Arial"/>
                          <a:ea typeface="Malgun Gothic"/>
                          <a:cs typeface="Malgun Gothic"/>
                        </a:rPr>
                        <a:t>Chris McCool</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Knepper가 Cornell 교수</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학계를 떠났다.</a:t>
                      </a:r>
                      <a:r>
                        <a:rPr sz="800" b="0" i="0">
                          <a:solidFill>
                            <a:srgbClr val="16213A"/>
                          </a:solidFill>
                          <a:latin typeface="Arial"/>
                          <a:ea typeface="Malgun Gothic"/>
                          <a:cs typeface="Malgun Gothic"/>
                        </a:rPr>
                        <a:t> Cornell 2014–2020 → Amazon → </a:t>
                      </a:r>
                      <a:r>
                        <a:rPr sz="800" b="1" i="0">
                          <a:solidFill>
                            <a:srgbClr val="16213A"/>
                          </a:solidFill>
                          <a:latin typeface="Arial"/>
                          <a:ea typeface="Malgun Gothic"/>
                          <a:cs typeface="Malgun Gothic"/>
                        </a:rPr>
                        <a:t>Outrider Technologies 계획·제어 디렉터(2023–)</a:t>
                      </a:r>
                      <a:r>
                        <a:rPr sz="800" b="0" i="0">
                          <a:solidFill>
                            <a:srgbClr val="16213A"/>
                          </a:solidFill>
                          <a:latin typeface="Arial"/>
                          <a:ea typeface="Malgun Gothic"/>
                          <a:cs typeface="Malgun Gothic"/>
                        </a:rPr>
                        <a:t>. 공저자로만 인용한다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Zeilinger가 ETH IfA</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IDSC / D-MAVT</a:t>
                      </a:r>
                      <a:r>
                        <a:rPr sz="800" b="0" i="0">
                          <a:solidFill>
                            <a:srgbClr val="16213A"/>
                          </a:solidFill>
                          <a:latin typeface="Arial"/>
                          <a:ea typeface="Malgun Gothic"/>
                          <a:cs typeface="Malgun Gothic"/>
                        </a:rPr>
                        <a:t>의 Intelligent Control Systems. IfA는 다른 학과(D-ITET)다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Borrelli 연구실이 </a:t>
                      </a:r>
                      <a:r>
                        <a:rPr sz="800" b="0" i="0">
                          <a:solidFill>
                            <a:srgbClr val="16213A"/>
                          </a:solidFill>
                          <a:latin typeface="Consolas"/>
                          <a:ea typeface="Malgun Gothic"/>
                          <a:cs typeface="Malgun Gothic"/>
                        </a:rPr>
                        <a:t>msc.berkeley.edu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그건 </a:t>
                      </a:r>
                      <a:r>
                        <a:rPr sz="800" b="1" i="0">
                          <a:solidFill>
                            <a:srgbClr val="16213A"/>
                          </a:solidFill>
                          <a:latin typeface="Arial"/>
                          <a:ea typeface="Malgun Gothic"/>
                          <a:cs typeface="Malgun Gothic"/>
                        </a:rPr>
                        <a:t>Tomizuka</a:t>
                      </a:r>
                      <a:r>
                        <a:rPr sz="800" b="0" i="0">
                          <a:solidFill>
                            <a:srgbClr val="16213A"/>
                          </a:solidFill>
                          <a:latin typeface="Arial"/>
                          <a:ea typeface="Malgun Gothic"/>
                          <a:cs typeface="Malgun Gothic"/>
                        </a:rPr>
                        <a:t>의 연구실이다. Borrelli는 </a:t>
                      </a:r>
                      <a:r>
                        <a:rPr sz="800" b="0" i="0">
                          <a:solidFill>
                            <a:srgbClr val="16213A"/>
                          </a:solidFill>
                          <a:latin typeface="Consolas"/>
                          <a:ea typeface="Malgun Gothic"/>
                          <a:cs typeface="Malgun Gothic"/>
                        </a:rPr>
                        <a:t>mpc.berkeley.edu</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Mavrogiannis GitHub이 </a:t>
                      </a:r>
                      <a:r>
                        <a:rPr sz="800" b="0" i="0">
                          <a:solidFill>
                            <a:srgbClr val="16213A"/>
                          </a:solidFill>
                          <a:latin typeface="Consolas"/>
                          <a:ea typeface="Malgun Gothic"/>
                          <a:cs typeface="Malgun Gothic"/>
                        </a:rPr>
                        <a:t>mavrogiannis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그건 </a:t>
                      </a:r>
                      <a:r>
                        <a:rPr sz="800" b="1" i="0">
                          <a:solidFill>
                            <a:srgbClr val="16213A"/>
                          </a:solidFill>
                          <a:latin typeface="Arial"/>
                          <a:ea typeface="Malgun Gothic"/>
                          <a:cs typeface="Malgun Gothic"/>
                        </a:rPr>
                        <a:t>다른 사람</a:t>
                      </a:r>
                      <a:r>
                        <a:rPr sz="800" b="0" i="0">
                          <a:solidFill>
                            <a:srgbClr val="16213A"/>
                          </a:solidFill>
                          <a:latin typeface="Arial"/>
                          <a:ea typeface="Malgun Gothic"/>
                          <a:cs typeface="Malgun Gothic"/>
                        </a:rPr>
                        <a:t>(Giorgos, U. Crete). Christoforos는 </a:t>
                      </a:r>
                      <a:r>
                        <a:rPr sz="800" b="0" i="0">
                          <a:solidFill>
                            <a:srgbClr val="16213A"/>
                          </a:solidFill>
                          <a:latin typeface="Consolas"/>
                          <a:ea typeface="Malgun Gothic"/>
                          <a:cs typeface="Malgun Gothic"/>
                        </a:rPr>
                        <a:t>cmavrogiannis</a:t>
                      </a:r>
                      <a:r>
                        <a:rPr sz="800" b="0" i="0">
                          <a:solidFill>
                            <a:srgbClr val="16213A"/>
                          </a:solidFill>
                          <a:latin typeface="Arial"/>
                          <a:ea typeface="Malgun Gothic"/>
                          <a:cs typeface="Malgun Gothic"/>
                        </a:rPr>
                        <a:t> + 조직 </a:t>
                      </a:r>
                      <a:r>
                        <a:rPr sz="800" b="0" i="0">
                          <a:solidFill>
                            <a:srgbClr val="16213A"/>
                          </a:solidFill>
                          <a:latin typeface="Consolas"/>
                          <a:ea typeface="Malgun Gothic"/>
                          <a:cs typeface="Malgun Gothic"/>
                        </a:rPr>
                        <a:t>fluentrobotics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Manocha의 군중 내비 코드가 </a:t>
                      </a:r>
                      <a:r>
                        <a:rPr sz="800" b="0" i="0">
                          <a:solidFill>
                            <a:srgbClr val="16213A"/>
                          </a:solidFill>
                          <a:latin typeface="Consolas"/>
                          <a:ea typeface="Malgun Gothic"/>
                          <a:cs typeface="Malgun Gothic"/>
                        </a:rPr>
                        <a:t>GAMMA-UMD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 조직은 </a:t>
                      </a:r>
                      <a:r>
                        <a:rPr sz="800" b="1" i="0">
                          <a:solidFill>
                            <a:srgbClr val="16213A"/>
                          </a:solidFill>
                          <a:latin typeface="Arial"/>
                          <a:ea typeface="Malgun Gothic"/>
                          <a:cs typeface="Malgun Gothic"/>
                        </a:rPr>
                        <a:t>음향</a:t>
                      </a:r>
                      <a:r>
                        <a:rPr sz="800" b="0" i="0">
                          <a:solidFill>
                            <a:srgbClr val="16213A"/>
                          </a:solidFill>
                          <a:latin typeface="Arial"/>
                          <a:ea typeface="Malgun Gothic"/>
                          <a:cs typeface="Malgun Gothic"/>
                        </a:rPr>
                        <a:t>이 11개 중 10개다. 군중 내비 코드는 흩어져 있거나 없다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Alonso-Mora가 부교수</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정교수</a:t>
                      </a:r>
                      <a:r>
                        <a:rPr sz="800" b="0" i="0">
                          <a:solidFill>
                            <a:srgbClr val="16213A"/>
                          </a:solidFill>
                          <a:latin typeface="Arial"/>
                          <a:ea typeface="Malgun Gothic"/>
                          <a:cs typeface="Malgun Gothic"/>
                        </a:rPr>
                        <a:t>(Prof.dr.), TU Delft Cognitive Robotics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Oleynikova가 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 소속이 </a:t>
                      </a:r>
                      <a:r>
                        <a:rPr sz="800" b="1" i="0">
                          <a:solidFill>
                            <a:srgbClr val="16213A"/>
                          </a:solidFill>
                          <a:latin typeface="Consolas"/>
                          <a:ea typeface="Malgun Gothic"/>
                          <a:cs typeface="Malgun Gothic"/>
                        </a:rPr>
                        <a:t>@exclaim-robotics</a:t>
                      </a:r>
                      <a:r>
                        <a:rPr sz="800" b="0" i="0">
                          <a:solidFill>
                            <a:srgbClr val="16213A"/>
                          </a:solidFill>
                          <a:latin typeface="Arial"/>
                          <a:ea typeface="Malgun Gothic"/>
                          <a:cs typeface="Malgun Gothic"/>
                        </a:rPr>
                        <a:t>로 바뀌었다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Peter Stone이 SocialGym 2.0 공저자</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저자가 아니다</a:t>
                      </a:r>
                      <a:r>
                        <a:rPr sz="800" b="0" i="0">
                          <a:solidFill>
                            <a:srgbClr val="16213A"/>
                          </a:solidFill>
                          <a:latin typeface="Arial"/>
                          <a:ea typeface="Malgun Gothic"/>
                          <a:cs typeface="Malgun Gothic"/>
                        </a:rPr>
                        <a:t>(arXiv·AAAI 양쪽 모두)</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supereight가 </a:t>
                      </a:r>
                      <a:r>
                        <a:rPr sz="800" b="0" i="0">
                          <a:solidFill>
                            <a:srgbClr val="16213A"/>
                          </a:solidFill>
                          <a:latin typeface="Consolas"/>
                          <a:ea typeface="Malgun Gothic"/>
                          <a:cs typeface="Malgun Gothic"/>
                        </a:rPr>
                        <a:t>smartroboticslab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저장소는 </a:t>
                      </a:r>
                      <a:r>
                        <a:rPr sz="800" b="1" i="0">
                          <a:solidFill>
                            <a:srgbClr val="16213A"/>
                          </a:solidFill>
                          <a:latin typeface="Consolas"/>
                          <a:ea typeface="Malgun Gothic"/>
                          <a:cs typeface="Malgun Gothic"/>
                        </a:rPr>
                        <a:t>ethz-mrl/supereight2</a:t>
                      </a:r>
                      <a:r>
                        <a:rPr sz="800" b="0" i="0">
                          <a:solidFill>
                            <a:srgbClr val="16213A"/>
                          </a:solidFill>
                          <a:latin typeface="Arial"/>
                          <a:ea typeface="Malgun Gothic"/>
                          <a:cs typeface="Malgun Gothic"/>
                        </a:rPr>
                        <a:t>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Martelaro가 CMU Design</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HCII</a:t>
                      </a:r>
                      <a:r>
                        <a:rPr sz="800" b="0" i="0">
                          <a:solidFill>
                            <a:srgbClr val="16213A"/>
                          </a:solidFill>
                          <a:latin typeface="Arial"/>
                          <a:ea typeface="Malgun Gothic"/>
                          <a:cs typeface="Malgun Gothic"/>
                        </a:rPr>
                        <a:t>(School of Computer Science). 사이트는 </a:t>
                      </a:r>
                      <a:r>
                        <a:rPr sz="800" b="0" i="0">
                          <a:solidFill>
                            <a:srgbClr val="16213A"/>
                          </a:solidFill>
                          <a:latin typeface="Consolas"/>
                          <a:ea typeface="Malgun Gothic"/>
                          <a:cs typeface="Malgun Gothic"/>
                        </a:rPr>
                        <a:t>nikmartelaro.com</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nikolasmartelaro.com</a:t>
                      </a:r>
                      <a:r>
                        <a:rPr sz="800" b="0" i="0">
                          <a:solidFill>
                            <a:srgbClr val="16213A"/>
                          </a:solidFill>
                          <a:latin typeface="Arial"/>
                          <a:ea typeface="Malgun Gothic"/>
                          <a:cs typeface="Malgun Gothic"/>
                        </a:rPr>
                        <a:t>은 죽었다)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Miki·Frey가 현 RSL 소속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현재 RSL 인명부(60명)에 </a:t>
                      </a:r>
                      <a:r>
                        <a:rPr sz="800" b="1" i="0">
                          <a:solidFill>
                            <a:srgbClr val="16213A"/>
                          </a:solidFill>
                          <a:latin typeface="Arial"/>
                          <a:ea typeface="Malgun Gothic"/>
                          <a:cs typeface="Malgun Gothic"/>
                        </a:rPr>
                        <a:t>없다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Caballero가 세비야 대학</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Pablo de Olavide University</a:t>
                      </a:r>
                      <a:r>
                        <a:rPr sz="800" b="0" i="0">
                          <a:solidFill>
                            <a:srgbClr val="16213A"/>
                          </a:solidFill>
                          <a:latin typeface="Arial"/>
                          <a:ea typeface="Malgun Gothic"/>
                          <a:cs typeface="Malgun Gothic"/>
                        </a:rPr>
                        <a:t>(IEEE 제출 소속 2건)</a:t>
                      </a:r>
                    </a:p>
                  </a:txBody>
                  <a:tcPr marL="63500" marR="63500" marT="12700" marB="12700">
                    <a:solidFill>
                      <a:srgbClr val="F3F0E8"/>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72 / 109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D.13.1 지형 지도·traversability (→ A.2b, A.10)</a:t>
            </a:r>
          </a:p>
        </p:txBody>
      </p:sp>
      <p:graphicFrame>
        <p:nvGraphicFramePr>
          <p:cNvPr id="6" name="Table 5"/>
          <p:cNvGraphicFramePr>
            <a:graphicFrameLocks noGrp="1"/>
          </p:cNvGraphicFramePr>
          <p:nvPr/>
        </p:nvGraphicFramePr>
        <p:xfrm>
          <a:off x="609600" y="1547812"/>
          <a:ext cx="10966450" cy="2830273"/>
        </p:xfrm>
        <a:graphic>
          <a:graphicData uri="http://schemas.openxmlformats.org/drawingml/2006/table">
            <a:tbl>
              <a:tblPr firstRow="1" bandRow="1">
                <a:tableStyleId>{5C22544A-7EE6-4342-B048-85BDC9FD1C3A}</a:tableStyleId>
              </a:tblPr>
              <a:tblGrid>
                <a:gridCol w="1703487"/>
                <a:gridCol w="1297880"/>
                <a:gridCol w="2539206"/>
                <a:gridCol w="5425877"/>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680641">
                <a:tc>
                  <a:txBody>
                    <a:bodyPr wrap="square"/>
                    <a:lstStyle/>
                    <a:p>
                      <a:r>
                        <a:rPr sz="800" b="1" i="0">
                          <a:solidFill>
                            <a:srgbClr val="16213A"/>
                          </a:solidFill>
                          <a:latin typeface="Arial"/>
                          <a:ea typeface="Malgun Gothic"/>
                          <a:cs typeface="Malgun Gothic"/>
                        </a:rPr>
                        <a:t>RSL</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3"/>
                        </a:rPr>
                        <a:t>rsl.ethz.ch</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Marco Hutter</a:t>
                      </a:r>
                      <a:r>
                        <a:rPr sz="800" b="0" i="0">
                          <a:solidFill>
                            <a:srgbClr val="16213A"/>
                          </a:solidFill>
                          <a:latin typeface="Arial"/>
                          <a:ea typeface="Malgun Gothic"/>
                          <a:cs typeface="Malgun Gothic"/>
                        </a:rPr>
                        <a:t>, ETH Zürich</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leggedrobotics</a:t>
                      </a:r>
                      <a:r>
                        <a:rPr sz="800" b="0" i="0">
                          <a:solidFill>
                            <a:srgbClr val="16213A"/>
                          </a:solidFill>
                          <a:latin typeface="Arial"/>
                          <a:ea typeface="Malgun Gothic"/>
                          <a:cs typeface="Malgun Gothic"/>
                        </a:rPr>
                        <a:t> 309개. </a:t>
                      </a:r>
                      <a:r>
                        <a:rPr sz="800" b="0" i="0">
                          <a:solidFill>
                            <a:srgbClr val="16213A"/>
                          </a:solidFill>
                          <a:latin typeface="Consolas"/>
                          <a:ea typeface="Malgun Gothic"/>
                          <a:cs typeface="Malgun Gothic"/>
                        </a:rPr>
                        <a:t>elevation_mapping_cupy</a:t>
                      </a:r>
                      <a:r>
                        <a:rPr sz="800" b="0" i="0">
                          <a:solidFill>
                            <a:srgbClr val="16213A"/>
                          </a:solidFill>
                          <a:latin typeface="Arial"/>
                          <a:ea typeface="Malgun Gothic"/>
                          <a:cs typeface="Malgun Gothic"/>
                        </a:rPr>
                        <a:t> ★1111 · </a:t>
                      </a:r>
                      <a:r>
                        <a:rPr sz="800" b="0" i="0">
                          <a:solidFill>
                            <a:srgbClr val="16213A"/>
                          </a:solidFill>
                          <a:latin typeface="Consolas"/>
                          <a:ea typeface="Malgun Gothic"/>
                          <a:cs typeface="Malgun Gothic"/>
                        </a:rPr>
                        <a:t>wild_visual_navigation</a:t>
                      </a:r>
                      <a:r>
                        <a:rPr sz="800" b="0" i="0">
                          <a:solidFill>
                            <a:srgbClr val="16213A"/>
                          </a:solidFill>
                          <a:latin typeface="Arial"/>
                          <a:ea typeface="Malgun Gothic"/>
                          <a:cs typeface="Malgun Gothic"/>
                        </a:rPr>
                        <a:t> ★318 · 전신 </a:t>
                      </a:r>
                      <a:r>
                        <a:rPr sz="800" b="0" i="0">
                          <a:solidFill>
                            <a:srgbClr val="16213A"/>
                          </a:solidFill>
                          <a:latin typeface="Consolas"/>
                          <a:ea typeface="Malgun Gothic"/>
                          <a:cs typeface="Malgun Gothic"/>
                        </a:rPr>
                        <a:t>ANYbotics/grid_map</a:t>
                      </a:r>
                      <a:r>
                        <a:rPr sz="800" b="0" i="0">
                          <a:solidFill>
                            <a:srgbClr val="16213A"/>
                          </a:solidFill>
                          <a:latin typeface="Arial"/>
                          <a:ea typeface="Malgun Gothic"/>
                          <a:cs typeface="Malgun Gothic"/>
                        </a:rPr>
                        <a:t> ★3249</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TravMap[8]</a:t>
                      </a:r>
                      <a:r>
                        <a:rPr sz="800" b="0" i="0">
                          <a:solidFill>
                            <a:srgbClr val="16213A"/>
                          </a:solidFill>
                          <a:latin typeface="Arial"/>
                          <a:ea typeface="Malgun Gothic"/>
                          <a:cs typeface="Malgun Gothic"/>
                        </a:rPr>
                        <a:t>은 사실상 </a:t>
                      </a:r>
                      <a:r>
                        <a:rPr sz="800" b="0" i="0">
                          <a:solidFill>
                            <a:srgbClr val="16213A"/>
                          </a:solidFill>
                          <a:latin typeface="Consolas"/>
                          <a:ea typeface="Malgun Gothic"/>
                          <a:cs typeface="Malgun Gothic"/>
                        </a:rPr>
                        <a:t>grid_map</a:t>
                      </a:r>
                      <a:r>
                        <a:rPr sz="800" b="0" i="0">
                          <a:solidFill>
                            <a:srgbClr val="16213A"/>
                          </a:solidFill>
                          <a:latin typeface="Arial"/>
                          <a:ea typeface="Malgun Gothic"/>
                          <a:cs typeface="Malgun Gothic"/>
                        </a:rPr>
                        <a:t> + emap의 층 구성이고 </a:t>
                      </a:r>
                      <a:r>
                        <a:rPr sz="800" b="0" i="0">
                          <a:solidFill>
                            <a:srgbClr val="16213A"/>
                          </a:solidFill>
                          <a:latin typeface="Consolas"/>
                          <a:ea typeface="Malgun Gothic"/>
                          <a:cs typeface="Malgun Gothic"/>
                        </a:rPr>
                        <a:t>SIGMA</a:t>
                      </a:r>
                      <a:r>
                        <a:rPr sz="800" b="0" i="0">
                          <a:solidFill>
                            <a:srgbClr val="16213A"/>
                          </a:solidFill>
                          <a:latin typeface="Arial"/>
                          <a:ea typeface="Malgun Gothic"/>
                          <a:cs typeface="Malgun Gothic"/>
                        </a:rPr>
                        <a:t>는 그들의 칸별 분산이다. ⚠️ </a:t>
                      </a:r>
                      <a:r>
                        <a:rPr sz="800" b="0" i="0">
                          <a:solidFill>
                            <a:srgbClr val="16213A"/>
                          </a:solidFill>
                          <a:latin typeface="Consolas"/>
                          <a:ea typeface="Malgun Gothic"/>
                          <a:cs typeface="Malgun Gothic"/>
                        </a:rPr>
                        <a:t>traversability_estimation</a:t>
                      </a:r>
                      <a:r>
                        <a:rPr sz="800" b="0" i="0">
                          <a:solidFill>
                            <a:srgbClr val="16213A"/>
                          </a:solidFill>
                          <a:latin typeface="Arial"/>
                          <a:ea typeface="Malgun Gothic"/>
                          <a:cs typeface="Malgun Gothic"/>
                        </a:rPr>
                        <a:t>은 2023-06 이후 멈췄다. emap은 </a:t>
                      </a:r>
                      <a:r>
                        <a:rPr sz="800" b="0" i="0">
                          <a:solidFill>
                            <a:srgbClr val="16213A"/>
                          </a:solidFill>
                          <a:latin typeface="Consolas"/>
                          <a:ea typeface="Malgun Gothic"/>
                          <a:cs typeface="Malgun Gothic"/>
                        </a:rPr>
                        <a:t>main</a:t>
                      </a:r>
                      <a:r>
                        <a:rPr sz="800" b="0" i="0">
                          <a:solidFill>
                            <a:srgbClr val="16213A"/>
                          </a:solidFill>
                          <a:latin typeface="Arial"/>
                          <a:ea typeface="Malgun Gothic"/>
                          <a:cs typeface="Malgun Gothic"/>
                        </a:rPr>
                        <a:t>이 2025-05에 멈췄지만 </a:t>
                      </a:r>
                      <a:r>
                        <a:rPr sz="800" b="0" i="0">
                          <a:solidFill>
                            <a:srgbClr val="16213A"/>
                          </a:solidFill>
                          <a:latin typeface="Consolas"/>
                          <a:ea typeface="Malgun Gothic"/>
                          <a:cs typeface="Malgun Gothic"/>
                        </a:rPr>
                        <a:t>ros2</a:t>
                      </a:r>
                      <a:r>
                        <a:rPr sz="800" b="0" i="0">
                          <a:solidFill>
                            <a:srgbClr val="16213A"/>
                          </a:solidFill>
                          <a:latin typeface="Arial"/>
                          <a:ea typeface="Malgun Gothic"/>
                          <a:cs typeface="Malgun Gothic"/>
                        </a:rPr>
                        <a:t> 가지에서 v2.2.0(2026-07, ROS 2 Jazzy)까지 나왔다. 벤더링한 코어와 상류의 차이는 P1 전에 비교한다(Planner 문서 B.14.5). RSL 계보는 Planner 문서 B.14에, 그 밖의 최근 연구(PACE, AME-2, Parkour in the Wild, 조향 바퀴 다리 물류 로봇 LEVA)와 RSL 출신이 세운 Flexion은 B.16.3에 있다</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Dynamic Robot Systems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5"/>
                        </a:rPr>
                        <a:t>dynamic.robots.ox.ac.uk</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Maurice Fallon</a:t>
                      </a:r>
                      <a:r>
                        <a:rPr sz="800" b="0" i="0">
                          <a:solidFill>
                            <a:srgbClr val="16213A"/>
                          </a:solidFill>
                          <a:latin typeface="Arial"/>
                          <a:ea typeface="Malgun Gothic"/>
                          <a:cs typeface="Malgun Gothic"/>
                        </a:rPr>
                        <a:t>, Oxford Robotics Institute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WVN 코드는 </a:t>
                      </a:r>
                      <a:r>
                        <a:rPr sz="800" b="0" i="0">
                          <a:solidFill>
                            <a:srgbClr val="16213A"/>
                          </a:solidFill>
                          <a:latin typeface="Consolas"/>
                          <a:ea typeface="Malgun Gothic"/>
                          <a:cs typeface="Malgun Gothic"/>
                        </a:rPr>
                        <a:t>leggedrobotics</a:t>
                      </a:r>
                      <a:r>
                        <a:rPr sz="800" b="0" i="0">
                          <a:solidFill>
                            <a:srgbClr val="16213A"/>
                          </a:solidFill>
                          <a:latin typeface="Arial"/>
                          <a:ea typeface="Malgun Gothic"/>
                          <a:cs typeface="Malgun Gothic"/>
                        </a:rPr>
                        <a:t>에 있다 — </a:t>
                      </a:r>
                      <a:r>
                        <a:rPr sz="800" b="1" i="0">
                          <a:solidFill>
                            <a:srgbClr val="16213A"/>
                          </a:solidFill>
                          <a:latin typeface="Arial"/>
                          <a:ea typeface="Malgun Gothic"/>
                          <a:cs typeface="Malgun Gothic"/>
                        </a:rPr>
                        <a:t>ETH·Oxford 공동 라인이라 둘 다 인용한다</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비용 층을 손으로 튜닝하는 대신 </a:t>
                      </a:r>
                      <a:r>
                        <a:rPr sz="800" b="1" i="0">
                          <a:solidFill>
                            <a:srgbClr val="C2410C"/>
                          </a:solidFill>
                          <a:latin typeface="Arial"/>
                          <a:ea typeface="Malgun Gothic"/>
                          <a:cs typeface="Malgun Gothic"/>
                        </a:rPr>
                        <a:t>로봇 자신의 주행에서 온라인 자기지도</a:t>
                      </a:r>
                      <a:r>
                        <a:rPr sz="800" b="1" i="0">
                          <a:solidFill>
                            <a:srgbClr val="C2410C"/>
                          </a:solidFill>
                          <a:latin typeface="Arial"/>
                          <a:ea typeface="Malgun Gothic"/>
                          <a:cs typeface="Malgun Gothic"/>
                        </a:rPr>
                        <a:t>로 배우는 기준 설계.</a:t>
                      </a:r>
                      <a:r>
                        <a:rPr sz="800" b="0" i="0">
                          <a:solidFill>
                            <a:srgbClr val="16213A"/>
                          </a:solidFill>
                          <a:latin typeface="Arial"/>
                          <a:ea typeface="Malgun Gothic"/>
                          <a:cs typeface="Malgun Gothic"/>
                        </a:rPr>
                        <a:t> 보도는 낙엽·젖은 타일·도색 횡단보도로 계속 바뀐다</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CSIRO Robotics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6"/>
                        </a:rPr>
                        <a:t>research.csiro.au/robotics</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그룹장 </a:t>
                      </a:r>
                      <a:r>
                        <a:rPr sz="800" b="1" i="0">
                          <a:solidFill>
                            <a:srgbClr val="16213A"/>
                          </a:solidFill>
                          <a:latin typeface="Arial"/>
                          <a:ea typeface="Malgun Gothic"/>
                          <a:cs typeface="Malgun Gothic"/>
                        </a:rPr>
                        <a:t>David Howard</a:t>
                      </a:r>
                      <a:r>
                        <a:rPr sz="800" b="0" i="0">
                          <a:solidFill>
                            <a:srgbClr val="16213A"/>
                          </a:solidFill>
                          <a:latin typeface="Arial"/>
                          <a:ea typeface="Malgun Gothic"/>
                          <a:cs typeface="Malgun Gothic"/>
                        </a:rPr>
                        <a:t>·</a:t>
                      </a:r>
                      <a:r>
                        <a:rPr sz="800" b="1" i="0">
                          <a:solidFill>
                            <a:srgbClr val="16213A"/>
                          </a:solidFill>
                          <a:latin typeface="Arial"/>
                          <a:ea typeface="Malgun Gothic"/>
                          <a:cs typeface="Malgun Gothic"/>
                        </a:rPr>
                        <a:t>Chris McCool</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csiro-robotics</a:t>
                      </a:r>
                      <a:r>
                        <a:rPr sz="800" b="0" i="0">
                          <a:solidFill>
                            <a:srgbClr val="16213A"/>
                          </a:solidFill>
                          <a:latin typeface="Arial"/>
                          <a:ea typeface="Malgun Gothic"/>
                          <a:cs typeface="Malgun Gothic"/>
                        </a:rPr>
                        <a:t> 80개, 2026-09-30에도 푸시. </a:t>
                      </a:r>
                      <a:r>
                        <a:rPr sz="800" b="0" i="0">
                          <a:solidFill>
                            <a:srgbClr val="16213A"/>
                          </a:solidFill>
                          <a:latin typeface="Consolas"/>
                          <a:ea typeface="Malgun Gothic"/>
                          <a:cs typeface="Malgun Gothic"/>
                        </a:rPr>
                        <a:t>ohm</a:t>
                      </a:r>
                      <a:r>
                        <a:rPr sz="800" b="0" i="0">
                          <a:solidFill>
                            <a:srgbClr val="16213A"/>
                          </a:solidFill>
                          <a:latin typeface="Arial"/>
                          <a:ea typeface="Malgun Gothic"/>
                          <a:cs typeface="Malgun Gothic"/>
                        </a:rPr>
                        <a:t> ★193(</a:t>
                      </a:r>
                      <a:r>
                        <a:rPr sz="800" b="1" i="0">
                          <a:solidFill>
                            <a:srgbClr val="16213A"/>
                          </a:solidFill>
                          <a:latin typeface="Arial"/>
                          <a:ea typeface="Malgun Gothic"/>
                          <a:cs typeface="Malgun Gothic"/>
                        </a:rPr>
                        <a:t>BSD-3</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raycloudtools</a:t>
                      </a:r>
                      <a:r>
                        <a:rPr sz="800" b="0" i="0">
                          <a:solidFill>
                            <a:srgbClr val="16213A"/>
                          </a:solidFill>
                          <a:latin typeface="Arial"/>
                          <a:ea typeface="Malgun Gothic"/>
                          <a:cs typeface="Malgun Gothic"/>
                        </a:rPr>
                        <a:t> ★118</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TP-0031/0044/0047이 겪은 문제를 정면으로 다룬 유일한 문헌</a:t>
                      </a:r>
                      <a:r>
                        <a:rPr sz="800" b="0" i="0">
                          <a:solidFill>
                            <a:srgbClr val="16213A"/>
                          </a:solidFill>
                          <a:latin typeface="Arial"/>
                          <a:ea typeface="Malgun Gothic"/>
                          <a:cs typeface="Malgun Gothic"/>
                        </a:rPr>
                        <a:t> — virtual surfaces(arXiv 2010.16018). </a:t>
                      </a:r>
                      <a:r>
                        <a:rPr sz="800" b="1" i="0">
                          <a:solidFill>
                            <a:srgbClr val="16213A"/>
                          </a:solidFill>
                          <a:latin typeface="Arial"/>
                          <a:ea typeface="Malgun Gothic"/>
                          <a:cs typeface="Malgun Gothic"/>
                        </a:rPr>
                        <a:t>우리 그림자 상한의 선행 연구다.</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ohm</a:t>
                      </a:r>
                      <a:r>
                        <a:rPr sz="800" b="0" i="0">
                          <a:solidFill>
                            <a:srgbClr val="16213A"/>
                          </a:solidFill>
                          <a:latin typeface="Arial"/>
                          <a:ea typeface="Malgun Gothic"/>
                          <a:cs typeface="Malgun Gothic"/>
                        </a:rPr>
                        <a:t> 코드는 </a:t>
                      </a:r>
                      <a:r>
                        <a:rPr sz="800" b="0" i="0">
                          <a:solidFill>
                            <a:srgbClr val="16213A"/>
                          </a:solidFill>
                          <a:latin typeface="Consolas"/>
                          <a:ea typeface="Malgun Gothic"/>
                          <a:cs typeface="Malgun Gothic"/>
                        </a:rPr>
                        <a:t>main</a:t>
                      </a:r>
                      <a:r>
                        <a:rPr sz="800" b="0" i="0">
                          <a:solidFill>
                            <a:srgbClr val="16213A"/>
                          </a:solidFill>
                          <a:latin typeface="Arial"/>
                          <a:ea typeface="Malgun Gothic"/>
                          <a:cs typeface="Malgun Gothic"/>
                        </a:rPr>
                        <a:t> 2023-02 정지(그룹은 활발)</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ISR 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8"/>
                        </a:rPr>
                        <a:t>isr.korea.ac.kr</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정우진(Woojin Chung)</a:t>
                      </a:r>
                      <a:r>
                        <a:rPr sz="800" b="0" i="0">
                          <a:solidFill>
                            <a:srgbClr val="16213A"/>
                          </a:solidFill>
                          <a:latin typeface="Arial"/>
                          <a:ea typeface="Malgun Gothic"/>
                          <a:cs typeface="Malgun Gothic"/>
                        </a:rPr>
                        <a:t>, 고려대 기계공학부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연구실 조직 없음 — </a:t>
                      </a:r>
                      <a:r>
                        <a:rPr sz="800" b="0" i="0">
                          <a:solidFill>
                            <a:srgbClr val="1D4ED8"/>
                          </a:solidFill>
                          <a:latin typeface="Arial"/>
                          <a:ea typeface="Malgun Gothic"/>
                          <a:cs typeface="Malgun Gothic"/>
                          <a:hlinkClick r:id="rId9"/>
                        </a:rPr>
                        <a:t>Ikhyeon-Cho</a:t>
                      </a:r>
                      <a:r>
                        <a:rPr sz="800" b="0" i="0">
                          <a:solidFill>
                            <a:srgbClr val="16213A"/>
                          </a:solidFill>
                          <a:latin typeface="Arial"/>
                          <a:ea typeface="Malgun Gothic"/>
                          <a:cs typeface="Malgun Gothic"/>
                        </a:rPr>
                        <a:t> 개인 계정. </a:t>
                      </a:r>
                      <a:r>
                        <a:rPr sz="800" b="0" i="0">
                          <a:solidFill>
                            <a:srgbClr val="16213A"/>
                          </a:solidFill>
                          <a:latin typeface="Consolas"/>
                          <a:ea typeface="Malgun Gothic"/>
                          <a:cs typeface="Malgun Gothic"/>
                        </a:rPr>
                        <a:t>FastDEM</a:t>
                      </a:r>
                      <a:r>
                        <a:rPr sz="800" b="0" i="0">
                          <a:solidFill>
                            <a:srgbClr val="16213A"/>
                          </a:solidFill>
                          <a:latin typeface="Arial"/>
                          <a:ea typeface="Malgun Gothic"/>
                          <a:cs typeface="Malgun Gothic"/>
                        </a:rPr>
                        <a:t> ★178(</a:t>
                      </a:r>
                      <a:r>
                        <a:rPr sz="800" b="1" i="0">
                          <a:solidFill>
                            <a:srgbClr val="16213A"/>
                          </a:solidFill>
                          <a:latin typeface="Arial"/>
                          <a:ea typeface="Malgun Gothic"/>
                          <a:cs typeface="Malgun Gothic"/>
                        </a:rPr>
                        <a:t>2026-09-04, 이 목록에서 가장 최신</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LeSTA</a:t>
                      </a:r>
                      <a:r>
                        <a:rPr sz="800" b="0" i="0">
                          <a:solidFill>
                            <a:srgbClr val="16213A"/>
                          </a:solidFill>
                          <a:latin typeface="Arial"/>
                          <a:ea typeface="Malgun Gothic"/>
                          <a:cs typeface="Malgun Gothic"/>
                        </a:rPr>
                        <a:t> ★118 · </a:t>
                      </a:r>
                      <a:r>
                        <a:rPr sz="800" b="0" i="0">
                          <a:solidFill>
                            <a:srgbClr val="16213A"/>
                          </a:solidFill>
                          <a:latin typeface="Consolas"/>
                          <a:ea typeface="Malgun Gothic"/>
                          <a:cs typeface="Malgun Gothic"/>
                        </a:rPr>
                        <a:t>awesome-traversability-analysis</a:t>
                      </a:r>
                      <a:r>
                        <a:rPr sz="800" b="0" i="0">
                          <a:solidFill>
                            <a:srgbClr val="16213A"/>
                          </a:solidFill>
                          <a:latin typeface="Arial"/>
                          <a:ea typeface="Malgun Gothic"/>
                          <a:cs typeface="Malgun Gothic"/>
                        </a:rPr>
                        <a:t> ★167</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세계에서 우리 저장소 전제와 가장 가까운 곳이다.</a:t>
                      </a:r>
                      <a:r>
                        <a:rPr sz="800" b="0" i="0">
                          <a:solidFill>
                            <a:srgbClr val="16213A"/>
                          </a:solidFill>
                          <a:latin typeface="Arial"/>
                          <a:ea typeface="Malgun Gothic"/>
                          <a:cs typeface="Malgun Gothic"/>
                        </a:rPr>
                        <a:t> FastDEM은 CPU만으로 Orin 100+ Hz, ODS-Bot은 </a:t>
                      </a:r>
                      <a:r>
                        <a:rPr sz="800" b="1" i="0">
                          <a:solidFill>
                            <a:srgbClr val="16213A"/>
                          </a:solidFill>
                          <a:latin typeface="Arial"/>
                          <a:ea typeface="Malgun Gothic"/>
                          <a:cs typeface="Malgun Gothic"/>
                        </a:rPr>
                        <a:t>실제 한국 실외 배달로봇 내비 스택</a:t>
                      </a:r>
                      <a:r>
                        <a:rPr sz="800" b="0" i="0">
                          <a:solidFill>
                            <a:srgbClr val="16213A"/>
                          </a:solidFill>
                          <a:latin typeface="Arial"/>
                          <a:ea typeface="Malgun Gothic"/>
                          <a:cs typeface="Malgun Gothic"/>
                        </a:rPr>
                        <a:t>이고 그 </a:t>
                      </a:r>
                      <a:r>
                        <a:rPr sz="800" b="0" i="0">
                          <a:solidFill>
                            <a:srgbClr val="16213A"/>
                          </a:solidFill>
                          <a:latin typeface="Consolas"/>
                          <a:ea typeface="Malgun Gothic"/>
                          <a:cs typeface="Malgun Gothic"/>
                        </a:rPr>
                        <a:t>dwa_planner</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dijkstra_planner</a:t>
                      </a:r>
                      <a:r>
                        <a:rPr sz="800" b="0" i="0">
                          <a:solidFill>
                            <a:srgbClr val="16213A"/>
                          </a:solidFill>
                          <a:latin typeface="Arial"/>
                          <a:ea typeface="Malgun Gothic"/>
                          <a:cs typeface="Malgun Gothic"/>
                        </a:rPr>
                        <a:t>가 우리 </a:t>
                      </a:r>
                      <a:r>
                        <a:rPr sz="800" b="0" i="0">
                          <a:solidFill>
                            <a:srgbClr val="16213A"/>
                          </a:solidFill>
                          <a:latin typeface="Consolas"/>
                          <a:ea typeface="Malgun Gothic"/>
                          <a:cs typeface="Malgun Gothic"/>
                        </a:rPr>
                        <a:t>GuidancePlanner</a:t>
                      </a:r>
                      <a:r>
                        <a:rPr sz="800" b="0" i="0">
                          <a:solidFill>
                            <a:srgbClr val="16213A"/>
                          </a:solidFill>
                          <a:latin typeface="Arial"/>
                          <a:ea typeface="Malgun Gothic"/>
                          <a:cs typeface="Malgun Gothic"/>
                        </a:rPr>
                        <a:t>의 대응물이다. LeSTA는 짧은 수동 주행으로 라벨 없이 traversability를 배운다</a:t>
                      </a:r>
                    </a:p>
                  </a:txBody>
                  <a:tcPr marL="63500" marR="63500" marT="12700" marB="12700">
                    <a:solidFill>
                      <a:srgbClr val="F3F0E8"/>
                    </a:solidFill>
                  </a:tcPr>
                </a:tc>
              </a:tr>
              <a:tr h="438864">
                <a:tc>
                  <a:txBody>
                    <a:bodyPr wrap="square"/>
                    <a:lstStyle/>
                    <a:p>
                      <a:r>
                        <a:rPr sz="800" b="1" i="0">
                          <a:solidFill>
                            <a:srgbClr val="16213A"/>
                          </a:solidFill>
                          <a:latin typeface="Arial"/>
                          <a:ea typeface="Malgun Gothic"/>
                          <a:cs typeface="Malgun Gothic"/>
                        </a:rPr>
                        <a:t>AirLab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theairlab.org</a:t>
                      </a:r>
                      <a:r>
                        <a:rPr sz="800" b="0" i="0">
                          <a:solidFill>
                            <a:srgbClr val="16213A"/>
                          </a:solidFill>
                          <a:latin typeface="Arial"/>
                          <a:ea typeface="Malgun Gothic"/>
                          <a:cs typeface="Malgun Gothic"/>
                        </a:rPr>
                        <a:t>) + Field AI</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Sebastian Scherer</a:t>
                      </a:r>
                      <a:r>
                        <a:rPr sz="800" b="0" i="0">
                          <a:solidFill>
                            <a:srgbClr val="16213A"/>
                          </a:solidFill>
                          <a:latin typeface="Arial"/>
                          <a:ea typeface="Malgun Gothic"/>
                          <a:cs typeface="Malgun Gothic"/>
                        </a:rPr>
                        <a:t>(Research Professor), CMU RI</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castacks</a:t>
                      </a:r>
                      <a:r>
                        <a:rPr sz="800" b="0" i="0">
                          <a:solidFill>
                            <a:srgbClr val="16213A"/>
                          </a:solidFill>
                          <a:latin typeface="Arial"/>
                          <a:ea typeface="Malgun Gothic"/>
                          <a:cs typeface="Malgun Gothic"/>
                        </a:rPr>
                        <a:t> 219개. </a:t>
                      </a:r>
                      <a:r>
                        <a:rPr sz="800" b="0" i="0">
                          <a:solidFill>
                            <a:srgbClr val="16213A"/>
                          </a:solidFill>
                          <a:latin typeface="Consolas"/>
                          <a:ea typeface="Malgun Gothic"/>
                          <a:cs typeface="Malgun Gothic"/>
                        </a:rPr>
                        <a:t>tartanair_tools</a:t>
                      </a:r>
                      <a:r>
                        <a:rPr sz="800" b="0" i="0">
                          <a:solidFill>
                            <a:srgbClr val="16213A"/>
                          </a:solidFill>
                          <a:latin typeface="Arial"/>
                          <a:ea typeface="Malgun Gothic"/>
                          <a:cs typeface="Malgun Gothic"/>
                        </a:rPr>
                        <a:t> ★434 · </a:t>
                      </a:r>
                      <a:r>
                        <a:rPr sz="800" b="0" i="0">
                          <a:solidFill>
                            <a:srgbClr val="16213A"/>
                          </a:solidFill>
                          <a:latin typeface="Consolas"/>
                          <a:ea typeface="Malgun Gothic"/>
                          <a:cs typeface="Malgun Gothic"/>
                        </a:rPr>
                        <a:t>tartan_drive</a:t>
                      </a:r>
                      <a:r>
                        <a:rPr sz="800" b="0" i="0">
                          <a:solidFill>
                            <a:srgbClr val="16213A"/>
                          </a:solidFill>
                          <a:latin typeface="Arial"/>
                          <a:ea typeface="Malgun Gothic"/>
                          <a:cs typeface="Malgun Gothic"/>
                        </a:rPr>
                        <a:t> ★126. ⚠️ Field AI는 </a:t>
                      </a:r>
                      <a:r>
                        <a:rPr sz="800" b="1" i="0">
                          <a:solidFill>
                            <a:srgbClr val="16213A"/>
                          </a:solidFill>
                          <a:latin typeface="Arial"/>
                          <a:ea typeface="Malgun Gothic"/>
                          <a:cs typeface="Malgun Gothic"/>
                        </a:rPr>
                        <a:t>공개 코드가 사실상 없다</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STEP</a:t>
                      </a:r>
                      <a:r>
                        <a:rPr sz="800" b="1" i="0">
                          <a:solidFill>
                            <a:srgbClr val="C2410C"/>
                          </a:solidFill>
                          <a:latin typeface="Arial"/>
                          <a:ea typeface="Malgun Gothic"/>
                          <a:cs typeface="Malgun Gothic"/>
                        </a:rPr>
                        <a:t>이 "traversability를 분포로 보고 그 위험(CVaR)에 대해 계획한다"의 정본</a:t>
                      </a:r>
                      <a:r>
                        <a:rPr sz="800" b="0" i="0">
                          <a:solidFill>
                            <a:srgbClr val="16213A"/>
                          </a:solidFill>
                          <a:latin typeface="Arial"/>
                          <a:ea typeface="Malgun Gothic"/>
                          <a:cs typeface="Malgun Gothic"/>
                        </a:rPr>
                        <a:t>이고, 그게 우리 </a:t>
                      </a:r>
                      <a:r>
                        <a:rPr sz="800" b="0" i="0">
                          <a:solidFill>
                            <a:srgbClr val="16213A"/>
                          </a:solidFill>
                          <a:latin typeface="Consolas"/>
                          <a:ea typeface="Malgun Gothic"/>
                          <a:cs typeface="Malgun Gothic"/>
                        </a:rPr>
                        <a:t>SIGMA</a:t>
                      </a:r>
                      <a:r>
                        <a:rPr sz="800" b="0" i="0">
                          <a:solidFill>
                            <a:srgbClr val="16213A"/>
                          </a:solidFill>
                          <a:latin typeface="Arial"/>
                          <a:ea typeface="Malgun Gothic"/>
                          <a:cs typeface="Malgun Gothic"/>
                        </a:rPr>
                        <a:t> → MPPI 확률 제약(E.10)·NMPC 튜브(TP-0070/0071)의 설계 근거다</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Unmanned Systems 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2"/>
                        </a:rPr>
                        <a:t>unmannedlab.org</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Srikanth Saripalli</a:t>
                      </a:r>
                      <a:r>
                        <a:rPr sz="800" b="0" i="0">
                          <a:solidFill>
                            <a:srgbClr val="16213A"/>
                          </a:solidFill>
                          <a:latin typeface="Arial"/>
                          <a:ea typeface="Malgun Gothic"/>
                          <a:cs typeface="Malgun Gothic"/>
                        </a:rPr>
                        <a:t>, Texas A&amp;M</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unmannedlab</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RELLIS-3D</a:t>
                      </a:r>
                      <a:r>
                        <a:rPr sz="800" b="0" i="0">
                          <a:solidFill>
                            <a:srgbClr val="16213A"/>
                          </a:solidFill>
                          <a:latin typeface="Arial"/>
                          <a:ea typeface="Malgun Gothic"/>
                          <a:cs typeface="Malgun Gothic"/>
                        </a:rPr>
                        <a:t> ★458 · </a:t>
                      </a:r>
                      <a:r>
                        <a:rPr sz="800" b="0" i="0">
                          <a:solidFill>
                            <a:srgbClr val="16213A"/>
                          </a:solidFill>
                          <a:latin typeface="Consolas"/>
                          <a:ea typeface="Malgun Gothic"/>
                          <a:cs typeface="Malgun Gothic"/>
                        </a:rPr>
                        <a:t>G-VOM</a:t>
                      </a:r>
                      <a:r>
                        <a:rPr sz="800" b="0" i="0">
                          <a:solidFill>
                            <a:srgbClr val="16213A"/>
                          </a:solidFill>
                          <a:latin typeface="Arial"/>
                          <a:ea typeface="Malgun Gothic"/>
                          <a:cs typeface="Malgun Gothic"/>
                        </a:rPr>
                        <a:t> ★89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G-VOM은 LiDAR → 지상차량 traversability 격자의 </a:t>
                      </a:r>
                      <a:r>
                        <a:rPr sz="800" b="1" i="0">
                          <a:solidFill>
                            <a:srgbClr val="16213A"/>
                          </a:solidFill>
                          <a:latin typeface="Arial"/>
                          <a:ea typeface="Malgun Gothic"/>
                          <a:cs typeface="Malgun Gothic"/>
                        </a:rPr>
                        <a:t>읽기 쉬운 참조 구현</a:t>
                      </a:r>
                      <a:r>
                        <a:rPr sz="800" b="0" i="0">
                          <a:solidFill>
                            <a:srgbClr val="16213A"/>
                          </a:solidFill>
                          <a:latin typeface="Arial"/>
                          <a:ea typeface="Malgun Gothic"/>
                          <a:cs typeface="Malgun Gothic"/>
                        </a:rPr>
                        <a:t>. ⚠️ 코드는 2023-05 정지</a:t>
                      </a:r>
                    </a:p>
                  </a:txBody>
                  <a:tcPr marL="63500" marR="63500" marT="12700" marB="12700">
                    <a:solidFill>
                      <a:srgbClr val="F3F0E8"/>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73 / 109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D.13.2 동적 장애물·소셜 내비게이션 (→ A.12, A.12.5)</a:t>
            </a:r>
          </a:p>
        </p:txBody>
      </p:sp>
      <p:graphicFrame>
        <p:nvGraphicFramePr>
          <p:cNvPr id="6" name="Table 5"/>
          <p:cNvGraphicFramePr>
            <a:graphicFrameLocks noGrp="1"/>
          </p:cNvGraphicFramePr>
          <p:nvPr/>
        </p:nvGraphicFramePr>
        <p:xfrm>
          <a:off x="609600" y="1547812"/>
          <a:ext cx="10966450" cy="3148248"/>
        </p:xfrm>
        <a:graphic>
          <a:graphicData uri="http://schemas.openxmlformats.org/drawingml/2006/table">
            <a:tbl>
              <a:tblPr firstRow="1" bandRow="1">
                <a:tableStyleId>{5C22544A-7EE6-4342-B048-85BDC9FD1C3A}</a:tableStyleId>
              </a:tblPr>
              <a:tblGrid>
                <a:gridCol w="1470620"/>
                <a:gridCol w="1617464"/>
                <a:gridCol w="3050977"/>
                <a:gridCol w="4827389"/>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559752">
                <a:tc>
                  <a:txBody>
                    <a:bodyPr wrap="square"/>
                    <a:lstStyle/>
                    <a:p>
                      <a:r>
                        <a:rPr sz="800" b="1" i="0">
                          <a:solidFill>
                            <a:srgbClr val="C2410C"/>
                          </a:solidFill>
                          <a:latin typeface="Arial"/>
                          <a:ea typeface="Malgun Gothic"/>
                          <a:cs typeface="Malgun Gothic"/>
                        </a:rPr>
                        <a:t>AMR 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3"/>
                        </a:rPr>
                        <a:t>autonomousrobots.nl</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Javier Alonso-Mora</a:t>
                      </a:r>
                      <a:r>
                        <a:rPr sz="800" b="0" i="0">
                          <a:solidFill>
                            <a:srgbClr val="16213A"/>
                          </a:solidFill>
                          <a:latin typeface="Arial"/>
                          <a:ea typeface="Malgun Gothic"/>
                          <a:cs typeface="Malgun Gothic"/>
                        </a:rPr>
                        <a:t>(정교수), TU Delft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tud-amr</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mpc_planner</a:t>
                      </a:r>
                      <a:r>
                        <a:rPr sz="800" b="0" i="0">
                          <a:solidFill>
                            <a:srgbClr val="16213A"/>
                          </a:solidFill>
                          <a:latin typeface="Arial"/>
                          <a:ea typeface="Malgun Gothic"/>
                          <a:cs typeface="Malgun Gothic"/>
                        </a:rPr>
                        <a:t> ★405 · </a:t>
                      </a:r>
                      <a:r>
                        <a:rPr sz="800" b="0" i="0">
                          <a:solidFill>
                            <a:srgbClr val="16213A"/>
                          </a:solidFill>
                          <a:latin typeface="Consolas"/>
                          <a:ea typeface="Malgun Gothic"/>
                          <a:cs typeface="Malgun Gothic"/>
                        </a:rPr>
                        <a:t>mppi-isaac</a:t>
                      </a:r>
                      <a:r>
                        <a:rPr sz="800" b="0" i="0">
                          <a:solidFill>
                            <a:srgbClr val="16213A"/>
                          </a:solidFill>
                          <a:latin typeface="Arial"/>
                          <a:ea typeface="Malgun Gothic"/>
                          <a:cs typeface="Malgun Gothic"/>
                        </a:rPr>
                        <a:t> ★361 · </a:t>
                      </a:r>
                      <a:r>
                        <a:rPr sz="800" b="0" i="0">
                          <a:solidFill>
                            <a:srgbClr val="16213A"/>
                          </a:solidFill>
                          <a:latin typeface="Consolas"/>
                          <a:ea typeface="Malgun Gothic"/>
                          <a:cs typeface="Malgun Gothic"/>
                        </a:rPr>
                        <a:t>guidance_planner</a:t>
                      </a:r>
                      <a:r>
                        <a:rPr sz="800" b="0" i="0">
                          <a:solidFill>
                            <a:srgbClr val="16213A"/>
                          </a:solidFill>
                          <a:latin typeface="Arial"/>
                          <a:ea typeface="Malgun Gothic"/>
                          <a:cs typeface="Malgun Gothic"/>
                        </a:rPr>
                        <a:t> ★85</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컨트롤러 트랙에 가장 직접적으로 유용한 그룹.</a:t>
                      </a:r>
                      <a:r>
                        <a:rPr sz="800" b="0" i="0">
                          <a:solidFill>
                            <a:srgbClr val="16213A"/>
                          </a:solidFill>
                          <a:latin typeface="Arial"/>
                          <a:ea typeface="Malgun Gothic"/>
                          <a:cs typeface="Malgun Gothic"/>
                        </a:rPr>
                        <a:t> MPC와 MPPI를 </a:t>
                      </a:r>
                      <a:r>
                        <a:rPr sz="800" b="1" i="0">
                          <a:solidFill>
                            <a:srgbClr val="16213A"/>
                          </a:solidFill>
                          <a:latin typeface="Arial"/>
                          <a:ea typeface="Malgun Gothic"/>
                          <a:cs typeface="Malgun Gothic"/>
                        </a:rPr>
                        <a:t>같은 인터페이스 뒤에</a:t>
                      </a:r>
                      <a:r>
                        <a:rPr sz="800" b="0" i="0">
                          <a:solidFill>
                            <a:srgbClr val="16213A"/>
                          </a:solidFill>
                          <a:latin typeface="Arial"/>
                          <a:ea typeface="Malgun Gothic"/>
                          <a:cs typeface="Malgun Gothic"/>
                        </a:rPr>
                        <a:t> 두고 거기에 </a:t>
                      </a:r>
                      <a:r>
                        <a:rPr sz="800" b="1" i="0">
                          <a:solidFill>
                            <a:srgbClr val="16213A"/>
                          </a:solidFill>
                          <a:latin typeface="Arial"/>
                          <a:ea typeface="Malgun Gothic"/>
                          <a:cs typeface="Malgun Gothic"/>
                        </a:rPr>
                        <a:t>위상 인지 guidance planner</a:t>
                      </a:r>
                      <a:r>
                        <a:rPr sz="800" b="0" i="0">
                          <a:solidFill>
                            <a:srgbClr val="16213A"/>
                          </a:solidFill>
                          <a:latin typeface="Arial"/>
                          <a:ea typeface="Malgun Gothic"/>
                          <a:cs typeface="Malgun Gothic"/>
                        </a:rPr>
                        <a:t>를 붙였다 — 문자 그대로 우리 </a:t>
                      </a:r>
                      <a:r>
                        <a:rPr sz="800" b="0" i="0">
                          <a:solidFill>
                            <a:srgbClr val="16213A"/>
                          </a:solidFill>
                          <a:latin typeface="Consolas"/>
                          <a:ea typeface="Malgun Gothic"/>
                          <a:cs typeface="Malgun Gothic"/>
                        </a:rPr>
                        <a:t>GuidancePlanner</a:t>
                      </a:r>
                      <a:r>
                        <a:rPr sz="800" b="0" i="0">
                          <a:solidFill>
                            <a:srgbClr val="16213A"/>
                          </a:solidFill>
                          <a:latin typeface="Arial"/>
                          <a:ea typeface="Malgun Gothic"/>
                          <a:cs typeface="Malgun Gothic"/>
                        </a:rPr>
                        <a:t> → MPPI/NMPC 구조가 이미 발표·벤치마크돼 있다. ⚠️ 이름 충돌 주의: 그들의 </a:t>
                      </a:r>
                      <a:r>
                        <a:rPr sz="800" b="0" i="0">
                          <a:solidFill>
                            <a:srgbClr val="16213A"/>
                          </a:solidFill>
                          <a:latin typeface="Consolas"/>
                          <a:ea typeface="Malgun Gothic"/>
                          <a:cs typeface="Malgun Gothic"/>
                        </a:rPr>
                        <a:t>guidance_planner</a:t>
                      </a:r>
                      <a:r>
                        <a:rPr sz="800" b="0" i="0">
                          <a:solidFill>
                            <a:srgbClr val="16213A"/>
                          </a:solidFill>
                          <a:latin typeface="Arial"/>
                          <a:ea typeface="Malgun Gothic"/>
                          <a:cs typeface="Malgun Gothic"/>
                        </a:rPr>
                        <a:t>와 우리 </a:t>
                      </a:r>
                      <a:r>
                        <a:rPr sz="800" b="0" i="0">
                          <a:solidFill>
                            <a:srgbClr val="16213A"/>
                          </a:solidFill>
                          <a:latin typeface="Consolas"/>
                          <a:ea typeface="Malgun Gothic"/>
                          <a:cs typeface="Malgun Gothic"/>
                        </a:rPr>
                        <a:t>planners/guidance.py</a:t>
                      </a:r>
                      <a:r>
                        <a:rPr sz="800" b="0" i="0">
                          <a:solidFill>
                            <a:srgbClr val="16213A"/>
                          </a:solidFill>
                          <a:latin typeface="Arial"/>
                          <a:ea typeface="Malgun Gothic"/>
                          <a:cs typeface="Malgun Gothic"/>
                        </a:rPr>
                        <a:t>가 같은 문제를 푼다</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Service Robotics 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5"/>
                        </a:rPr>
                        <a:t>robotics.upo.es</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Luis Merino</a:t>
                      </a:r>
                      <a:r>
                        <a:rPr sz="800" b="0" i="0">
                          <a:solidFill>
                            <a:srgbClr val="16213A"/>
                          </a:solidFill>
                          <a:latin typeface="Arial"/>
                          <a:ea typeface="Malgun Gothic"/>
                          <a:cs typeface="Malgun Gothic"/>
                        </a:rPr>
                        <a:t>(정교수)·Fernando Caballero, </a:t>
                      </a:r>
                      <a:r>
                        <a:rPr sz="800" b="1" i="0">
                          <a:solidFill>
                            <a:srgbClr val="16213A"/>
                          </a:solidFill>
                          <a:latin typeface="Arial"/>
                          <a:ea typeface="Malgun Gothic"/>
                          <a:cs typeface="Malgun Gothic"/>
                        </a:rPr>
                        <a:t>Pablo de Olavide University</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robotics-upo</a:t>
                      </a:r>
                      <a:r>
                        <a:rPr sz="800" b="0" i="0">
                          <a:solidFill>
                            <a:srgbClr val="16213A"/>
                          </a:solidFill>
                          <a:latin typeface="Arial"/>
                          <a:ea typeface="Malgun Gothic"/>
                          <a:cs typeface="Malgun Gothic"/>
                        </a:rPr>
                        <a:t> 166개 — </a:t>
                      </a:r>
                      <a:r>
                        <a:rPr sz="800" b="1" i="0">
                          <a:solidFill>
                            <a:srgbClr val="16213A"/>
                          </a:solidFill>
                          <a:latin typeface="Arial"/>
                          <a:ea typeface="Malgun Gothic"/>
                          <a:cs typeface="Malgun Gothic"/>
                        </a:rPr>
                        <a:t>이 분야에서 가장 활발</a:t>
                      </a:r>
                      <a:r>
                        <a:rPr sz="800" b="0" i="0">
                          <a:solidFill>
                            <a:srgbClr val="16213A"/>
                          </a:solidFill>
                          <a:latin typeface="Arial"/>
                          <a:ea typeface="Malgun Gothic"/>
                          <a:cs typeface="Malgun Gothic"/>
                        </a:rPr>
                        <a:t>(2026-09 다회 푸시). </a:t>
                      </a:r>
                      <a:r>
                        <a:rPr sz="800" b="0" i="0">
                          <a:solidFill>
                            <a:srgbClr val="16213A"/>
                          </a:solidFill>
                          <a:latin typeface="Consolas"/>
                          <a:ea typeface="Malgun Gothic"/>
                          <a:cs typeface="Malgun Gothic"/>
                        </a:rPr>
                        <a:t>hunav_sim</a:t>
                      </a:r>
                      <a:r>
                        <a:rPr sz="800" b="0" i="0">
                          <a:solidFill>
                            <a:srgbClr val="16213A"/>
                          </a:solidFill>
                          <a:latin typeface="Arial"/>
                          <a:ea typeface="Malgun Gothic"/>
                          <a:cs typeface="Malgun Gothic"/>
                        </a:rPr>
                        <a:t> ★166 · </a:t>
                      </a:r>
                      <a:r>
                        <a:rPr sz="800" b="0" i="0">
                          <a:solidFill>
                            <a:srgbClr val="16213A"/>
                          </a:solidFill>
                          <a:latin typeface="Consolas"/>
                          <a:ea typeface="Malgun Gothic"/>
                          <a:cs typeface="Malgun Gothic"/>
                        </a:rPr>
                        <a:t>lightsfm</a:t>
                      </a:r>
                      <a:r>
                        <a:rPr sz="800" b="0" i="0">
                          <a:solidFill>
                            <a:srgbClr val="16213A"/>
                          </a:solidFill>
                          <a:latin typeface="Arial"/>
                          <a:ea typeface="Malgun Gothic"/>
                          <a:cs typeface="Malgun Gothic"/>
                        </a:rPr>
                        <a:t> ★80 · </a:t>
                      </a:r>
                      <a:r>
                        <a:rPr sz="800" b="0" i="0">
                          <a:solidFill>
                            <a:srgbClr val="16213A"/>
                          </a:solidFill>
                          <a:latin typeface="Consolas"/>
                          <a:ea typeface="Malgun Gothic"/>
                          <a:cs typeface="Malgun Gothic"/>
                        </a:rPr>
                        <a:t>social_force_window_planner</a:t>
                      </a:r>
                      <a:r>
                        <a:rPr sz="800" b="0" i="0">
                          <a:solidFill>
                            <a:srgbClr val="16213A"/>
                          </a:solidFill>
                          <a:latin typeface="Arial"/>
                          <a:ea typeface="Malgun Gothic"/>
                          <a:cs typeface="Malgun Gothic"/>
                        </a:rPr>
                        <a:t> ★58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HuNavSim이 우리의 임시 </a:t>
                      </a:r>
                      <a:r>
                        <a:rPr sz="800" b="0" i="0">
                          <a:solidFill>
                            <a:srgbClr val="16213A"/>
                          </a:solidFill>
                          <a:latin typeface="Consolas"/>
                          <a:ea typeface="Malgun Gothic"/>
                          <a:cs typeface="Malgun Gothic"/>
                        </a:rPr>
                        <a:t>--pedestrians 3</a:t>
                      </a:r>
                      <a:r>
                        <a:rPr sz="800" b="0" i="0">
                          <a:solidFill>
                            <a:srgbClr val="16213A"/>
                          </a:solidFill>
                          <a:latin typeface="Arial"/>
                          <a:ea typeface="Malgun Gothic"/>
                          <a:cs typeface="Malgun Gothic"/>
                        </a:rPr>
                        <a:t>를 대체할 기성품이고 </a:t>
                      </a:r>
                      <a:r>
                        <a:rPr sz="800" b="1" i="0">
                          <a:solidFill>
                            <a:srgbClr val="16213A"/>
                          </a:solidFill>
                          <a:latin typeface="Arial"/>
                          <a:ea typeface="Malgun Gothic"/>
                          <a:cs typeface="Malgun Gothic"/>
                        </a:rPr>
                        <a:t>TP-0036(반응형 보행자)에 직결</a:t>
                      </a:r>
                      <a:r>
                        <a:rPr sz="800" b="0" i="0">
                          <a:solidFill>
                            <a:srgbClr val="16213A"/>
                          </a:solidFill>
                          <a:latin typeface="Arial"/>
                          <a:ea typeface="Malgun Gothic"/>
                          <a:cs typeface="Malgun Gothic"/>
                        </a:rPr>
                        <a:t>된다. ROS 2라 P1 목표와 맞는다. </a:t>
                      </a:r>
                      <a:r>
                        <a:rPr sz="800" b="0" i="0">
                          <a:solidFill>
                            <a:srgbClr val="16213A"/>
                          </a:solidFill>
                          <a:latin typeface="Consolas"/>
                          <a:ea typeface="Malgun Gothic"/>
                          <a:cs typeface="Malgun Gothic"/>
                        </a:rPr>
                        <a:t>lightsfm</a:t>
                      </a:r>
                      <a:r>
                        <a:rPr sz="800" b="0" i="0">
                          <a:solidFill>
                            <a:srgbClr val="16213A"/>
                          </a:solidFill>
                          <a:latin typeface="Arial"/>
                          <a:ea typeface="Malgun Gothic"/>
                          <a:cs typeface="Malgun Gothic"/>
                        </a:rPr>
                        <a:t>은 </a:t>
                      </a:r>
                      <a:r>
                        <a:rPr sz="800" b="0" i="0">
                          <a:solidFill>
                            <a:srgbClr val="16213A"/>
                          </a:solidFill>
                          <a:latin typeface="Consolas"/>
                          <a:ea typeface="Malgun Gothic"/>
                          <a:cs typeface="Malgun Gothic"/>
                        </a:rPr>
                        <a:t>CostTerm</a:t>
                      </a:r>
                      <a:r>
                        <a:rPr sz="800" b="0" i="0">
                          <a:solidFill>
                            <a:srgbClr val="16213A"/>
                          </a:solidFill>
                          <a:latin typeface="Arial"/>
                          <a:ea typeface="Malgun Gothic"/>
                          <a:cs typeface="Malgun Gothic"/>
                        </a:rPr>
                        <a:t>에 SFM 항을 넣을 때 들어낼 조각이다</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ACL</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7"/>
                        </a:rPr>
                        <a:t>acl.mit.edu</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Jonathan How</a:t>
                      </a:r>
                      <a:r>
                        <a:rPr sz="800" b="0" i="0">
                          <a:solidFill>
                            <a:srgbClr val="16213A"/>
                          </a:solidFill>
                          <a:latin typeface="Arial"/>
                          <a:ea typeface="Malgun Gothic"/>
                          <a:cs typeface="Malgun Gothic"/>
                        </a:rPr>
                        <a:t>, MIT AeroAstro</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mit-acl</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mppi_numba</a:t>
                      </a:r>
                      <a:r>
                        <a:rPr sz="800" b="0" i="0">
                          <a:solidFill>
                            <a:srgbClr val="16213A"/>
                          </a:solidFill>
                          <a:latin typeface="Arial"/>
                          <a:ea typeface="Malgun Gothic"/>
                          <a:cs typeface="Malgun Gothic"/>
                        </a:rPr>
                        <a:t> ★317 · </a:t>
                      </a:r>
                      <a:r>
                        <a:rPr sz="800" b="0" i="0">
                          <a:solidFill>
                            <a:srgbClr val="16213A"/>
                          </a:solidFill>
                          <a:latin typeface="Consolas"/>
                          <a:ea typeface="Malgun Gothic"/>
                          <a:cs typeface="Malgun Gothic"/>
                        </a:rPr>
                        <a:t>cadrl_ros</a:t>
                      </a:r>
                      <a:r>
                        <a:rPr sz="800" b="0" i="0">
                          <a:solidFill>
                            <a:srgbClr val="16213A"/>
                          </a:solidFill>
                          <a:latin typeface="Arial"/>
                          <a:ea typeface="Malgun Gothic"/>
                          <a:cs typeface="Malgun Gothic"/>
                        </a:rPr>
                        <a:t> ★725 · </a:t>
                      </a:r>
                      <a:r>
                        <a:rPr sz="800" b="0" i="0">
                          <a:solidFill>
                            <a:srgbClr val="16213A"/>
                          </a:solidFill>
                          <a:latin typeface="Consolas"/>
                          <a:ea typeface="Malgun Gothic"/>
                          <a:cs typeface="Malgun Gothic"/>
                        </a:rPr>
                        <a:t>gym-collision-avoidance</a:t>
                      </a:r>
                      <a:r>
                        <a:rPr sz="800" b="0" i="0">
                          <a:solidFill>
                            <a:srgbClr val="16213A"/>
                          </a:solidFill>
                          <a:latin typeface="Arial"/>
                          <a:ea typeface="Malgun Gothic"/>
                          <a:cs typeface="Malgun Gothic"/>
                        </a:rPr>
                        <a:t> ★324</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mppi_numba</a:t>
                      </a:r>
                      <a:r>
                        <a:rPr sz="800" b="0" i="0">
                          <a:solidFill>
                            <a:srgbClr val="16213A"/>
                          </a:solidFill>
                          <a:latin typeface="Arial"/>
                          <a:ea typeface="Malgun Gothic"/>
                          <a:cs typeface="Malgun Gothic"/>
                        </a:rPr>
                        <a:t>가 </a:t>
                      </a:r>
                      <a:r>
                        <a:rPr sz="800" b="1" i="0">
                          <a:solidFill>
                            <a:srgbClr val="16213A"/>
                          </a:solidFill>
                          <a:latin typeface="Arial"/>
                          <a:ea typeface="Malgun Gothic"/>
                          <a:cs typeface="Malgun Gothic"/>
                        </a:rPr>
                        <a:t>확률적 traversability 모델을 3D 텐서로 두고 CVaR로 MPPI를 굴린다</a:t>
                      </a:r>
                      <a:r>
                        <a:rPr sz="800" b="0" i="0">
                          <a:solidFill>
                            <a:srgbClr val="16213A"/>
                          </a:solidFill>
                          <a:latin typeface="Arial"/>
                          <a:ea typeface="Malgun Gothic"/>
                          <a:cs typeface="Malgun Gothic"/>
                        </a:rPr>
                        <a:t> — E.10의 가장 직접적인 선행 구현이 파이썬으로 이미 쓰여 있다. 이 코드의 논문 EVORA(T-RO 2024)는 Boston Dynamics AI Institute(지금 RAI Institute) 공저이고 Spot으로 실험했다(Planner 문서 B.16.4). ⚠️ 둘 다 정지(2024-08, 2021-12)</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Pete Trautman</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Honda Research Institute (USA)</a:t>
                      </a:r>
                      <a:r>
                        <a:rPr sz="800" b="0" i="0">
                          <a:solidFill>
                            <a:srgbClr val="16213A"/>
                          </a:solidFill>
                          <a:latin typeface="Arial"/>
                          <a:ea typeface="Malgun Gothic"/>
                          <a:cs typeface="Malgun Gothic"/>
                        </a:rPr>
                        <a:t> — 연구실 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trautman</a:t>
                      </a:r>
                      <a:r>
                        <a:rPr sz="800" b="0" i="0">
                          <a:solidFill>
                            <a:srgbClr val="16213A"/>
                          </a:solidFill>
                          <a:latin typeface="Arial"/>
                          <a:ea typeface="Malgun Gothic"/>
                          <a:cs typeface="Malgun Gothic"/>
                        </a:rPr>
                        <a:t> 8개, </a:t>
                      </a:r>
                      <a:r>
                        <a:rPr sz="800" b="1" i="0">
                          <a:solidFill>
                            <a:srgbClr val="16213A"/>
                          </a:solidFill>
                          <a:latin typeface="Arial"/>
                          <a:ea typeface="Malgun Gothic"/>
                          <a:cs typeface="Malgun Gothic"/>
                        </a:rPr>
                        <a:t>전부 0★</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A.12.5가 다루는 문제를 이름 붙이고 틀을 세운 사람.</a:t>
                      </a:r>
                      <a:r>
                        <a:rPr sz="800" b="0" i="0">
                          <a:solidFill>
                            <a:srgbClr val="16213A"/>
                          </a:solidFill>
                          <a:latin typeface="Arial"/>
                          <a:ea typeface="Malgun Gothic"/>
                          <a:cs typeface="Malgun Gothic"/>
                        </a:rPr>
                        <a:t> 2024년 IJRR(BRNE)에서 </a:t>
                      </a:r>
                      <a:r>
                        <a:rPr sz="800" b="1" i="0">
                          <a:solidFill>
                            <a:srgbClr val="16213A"/>
                          </a:solidFill>
                          <a:latin typeface="Arial"/>
                          <a:ea typeface="Malgun Gothic"/>
                          <a:cs typeface="Malgun Gothic"/>
                        </a:rPr>
                        <a:t>Northwestern의 Todd Murphey와</a:t>
                      </a:r>
                      <a:r>
                        <a:rPr sz="800" b="0" i="0">
                          <a:solidFill>
                            <a:srgbClr val="16213A"/>
                          </a:solidFill>
                          <a:latin typeface="Arial"/>
                          <a:ea typeface="Malgun Gothic"/>
                          <a:cs typeface="Malgun Gothic"/>
                        </a:rPr>
                        <a:t> 그 라인을 잇고 있다. ⚠️ "현재도 그곳"은 2025-02 논문 기준이고 그 이후는 미확인</a:t>
                      </a:r>
                    </a:p>
                  </a:txBody>
                  <a:tcPr marL="63500" marR="63500" marT="12700" marB="12700">
                    <a:solidFill>
                      <a:srgbClr val="F3F0E8"/>
                    </a:solidFill>
                  </a:tcPr>
                </a:tc>
              </a:tr>
              <a:tr h="438864">
                <a:tc>
                  <a:txBody>
                    <a:bodyPr wrap="square"/>
                    <a:lstStyle/>
                    <a:p>
                      <a:r>
                        <a:rPr sz="800" b="1" i="0">
                          <a:solidFill>
                            <a:srgbClr val="16213A"/>
                          </a:solidFill>
                          <a:latin typeface="Arial"/>
                          <a:ea typeface="Malgun Gothic"/>
                          <a:cs typeface="Malgun Gothic"/>
                        </a:rPr>
                        <a:t>Fluent Robotics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fluentrobotics.com</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Christoforos Mavrogiannis</a:t>
                      </a:r>
                      <a:r>
                        <a:rPr sz="800" b="0" i="0">
                          <a:solidFill>
                            <a:srgbClr val="16213A"/>
                          </a:solidFill>
                          <a:latin typeface="Arial"/>
                          <a:ea typeface="Malgun Gothic"/>
                          <a:cs typeface="Malgun Gothic"/>
                        </a:rPr>
                        <a:t>(조교수), U. Michigan</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fluentrobotics</a:t>
                      </a:r>
                      <a:r>
                        <a:rPr sz="800" b="0" i="0">
                          <a:solidFill>
                            <a:srgbClr val="16213A"/>
                          </a:solidFill>
                          <a:latin typeface="Arial"/>
                          <a:ea typeface="Malgun Gothic"/>
                          <a:cs typeface="Malgun Gothic"/>
                        </a:rPr>
                        <a:t> 39개 — ★는 최대 10. </a:t>
                      </a:r>
                      <a:r>
                        <a:rPr sz="800" b="1" i="0">
                          <a:solidFill>
                            <a:srgbClr val="C2410C"/>
                          </a:solidFill>
                          <a:latin typeface="Arial"/>
                          <a:ea typeface="Malgun Gothic"/>
                          <a:cs typeface="Malgun Gothic"/>
                        </a:rPr>
                        <a:t>논문으로 판단할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소셜 내비 서베이가 A.12.5 어휘의 기준이고, </a:t>
                      </a:r>
                      <a:r>
                        <a:rPr sz="800" b="1" i="1">
                          <a:solidFill>
                            <a:srgbClr val="C2410C"/>
                          </a:solidFill>
                          <a:latin typeface="Arial"/>
                          <a:ea typeface="Malgun Gothic"/>
                          <a:cs typeface="Malgun Gothic"/>
                        </a:rPr>
                        <a:t>Characterizing the Complexity of Social Robot Navigation Scenarios</a:t>
                      </a:r>
                      <a:r>
                        <a:rPr sz="800" b="1" i="0">
                          <a:solidFill>
                            <a:srgbClr val="C2410C"/>
                          </a:solidFill>
                          <a:latin typeface="Arial"/>
                          <a:ea typeface="Malgun Gothic"/>
                          <a:cs typeface="Malgun Gothic"/>
                        </a:rPr>
                        <a:t>가 </a:t>
                      </a:r>
                      <a:r>
                        <a:rPr sz="800" b="1" i="0">
                          <a:solidFill>
                            <a:srgbClr val="C2410C"/>
                          </a:solidFill>
                          <a:latin typeface="Arial"/>
                          <a:ea typeface="Malgun Gothic"/>
                          <a:cs typeface="Malgun Gothic"/>
                        </a:rPr>
                        <a:t>우리 12개 시나리오가 실제로 어려운지</a:t>
                      </a:r>
                      <a:r>
                        <a:rPr sz="800" b="1" i="0">
                          <a:solidFill>
                            <a:srgbClr val="C2410C"/>
                          </a:solidFill>
                          <a:latin typeface="Arial"/>
                          <a:ea typeface="Malgun Gothic"/>
                          <a:cs typeface="Malgun Gothic"/>
                        </a:rPr>
                        <a:t> 판정하는 방법</a:t>
                      </a:r>
                      <a:r>
                        <a:rPr sz="800" b="0" i="0">
                          <a:solidFill>
                            <a:srgbClr val="16213A"/>
                          </a:solidFill>
                          <a:latin typeface="Arial"/>
                          <a:ea typeface="Malgun Gothic"/>
                          <a:cs typeface="Malgun Gothic"/>
                        </a:rPr>
                        <a:t>이다(지금 12/12·39–40/40으로 포화). </a:t>
                      </a:r>
                      <a:r>
                        <a:rPr sz="800" b="0" i="0">
                          <a:solidFill>
                            <a:srgbClr val="16213A"/>
                          </a:solidFill>
                          <a:latin typeface="Consolas"/>
                          <a:ea typeface="Malgun Gothic"/>
                          <a:cs typeface="Malgun Gothic"/>
                        </a:rPr>
                        <a:t>Legible_MPPI</a:t>
                      </a:r>
                      <a:r>
                        <a:rPr sz="800" b="0" i="0">
                          <a:solidFill>
                            <a:srgbClr val="16213A"/>
                          </a:solidFill>
                          <a:latin typeface="Arial"/>
                          <a:ea typeface="Malgun Gothic"/>
                          <a:cs typeface="Malgun Gothic"/>
                        </a:rPr>
                        <a:t>는 </a:t>
                      </a:r>
                      <a:r>
                        <a:rPr sz="800" b="0" i="0">
                          <a:solidFill>
                            <a:srgbClr val="16213A"/>
                          </a:solidFill>
                          <a:latin typeface="Consolas"/>
                          <a:ea typeface="Malgun Gothic"/>
                          <a:cs typeface="Malgun Gothic"/>
                        </a:rPr>
                        <a:t>CostTerm</a:t>
                      </a:r>
                      <a:r>
                        <a:rPr sz="800" b="0" i="0">
                          <a:solidFill>
                            <a:srgbClr val="16213A"/>
                          </a:solidFill>
                          <a:latin typeface="Arial"/>
                          <a:ea typeface="Malgun Gothic"/>
                          <a:cs typeface="Malgun Gothic"/>
                        </a:rPr>
                        <a:t>에 바로 들어간다</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ADCS / HCII</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2"/>
                        </a:rPr>
                        <a:t>nikmartelaro.com</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Nikolas Martelaro</a:t>
                      </a:r>
                      <a:r>
                        <a:rPr sz="800" b="0" i="0">
                          <a:solidFill>
                            <a:srgbClr val="16213A"/>
                          </a:solidFill>
                          <a:latin typeface="Arial"/>
                          <a:ea typeface="Malgun Gothic"/>
                          <a:cs typeface="Malgun Gothic"/>
                        </a:rPr>
                        <a:t>(부교수), CMU </a:t>
                      </a:r>
                      <a:r>
                        <a:rPr sz="800" b="1" i="0">
                          <a:solidFill>
                            <a:srgbClr val="16213A"/>
                          </a:solidFill>
                          <a:latin typeface="Arial"/>
                          <a:ea typeface="Malgun Gothic"/>
                          <a:cs typeface="Malgun Gothic"/>
                        </a:rPr>
                        <a:t>HCII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a:t>
                      </a:r>
                      <a:r>
                        <a:rPr sz="800" b="1" i="0">
                          <a:solidFill>
                            <a:srgbClr val="16213A"/>
                          </a:solidFill>
                          <a:latin typeface="Arial"/>
                          <a:ea typeface="Malgun Gothic"/>
                          <a:cs typeface="Malgun Gothic"/>
                        </a:rPr>
                        <a:t>없음</a:t>
                      </a:r>
                      <a:r>
                        <a:rPr sz="800" b="0" i="0">
                          <a:solidFill>
                            <a:srgbClr val="16213A"/>
                          </a:solidFill>
                          <a:latin typeface="Arial"/>
                          <a:ea typeface="Malgun Gothic"/>
                          <a:cs typeface="Malgun Gothic"/>
                        </a:rPr>
                        <a:t>(확인 못 함)</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목록에서 </a:t>
                      </a:r>
                      <a:r>
                        <a:rPr sz="800" b="1" i="0">
                          <a:solidFill>
                            <a:srgbClr val="C2410C"/>
                          </a:solidFill>
                          <a:latin typeface="Arial"/>
                          <a:ea typeface="Malgun Gothic"/>
                          <a:cs typeface="Malgun Gothic"/>
                        </a:rPr>
                        <a:t>실제 보도 배달로봇과 실제 보행자의 만남을 현장 관찰하는 유일한 그룹</a:t>
                      </a:r>
                      <a:r>
                        <a:rPr sz="800" b="1" i="0">
                          <a:solidFill>
                            <a:srgbClr val="C2410C"/>
                          </a:solidFill>
                          <a:latin typeface="Arial"/>
                          <a:ea typeface="Malgun Gothic"/>
                          <a:cs typeface="Malgun Gothic"/>
                        </a:rPr>
                        <a:t>.</a:t>
                      </a:r>
                      <a:r>
                        <a:rPr sz="800" b="0" i="0">
                          <a:solidFill>
                            <a:srgbClr val="16213A"/>
                          </a:solidFill>
                          <a:latin typeface="Arial"/>
                          <a:ea typeface="Malgun Gothic"/>
                          <a:cs typeface="Malgun Gothic"/>
                        </a:rPr>
                        <a:t> A.12.5의 "얼어붙기가 보도에서 관찰됐다"가 이 그룹의 피츠버그 연구다</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AMRL</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3"/>
                        </a:rPr>
                        <a:t>amrl.cs.utexas.edu</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Joydeep Biswas</a:t>
                      </a:r>
                      <a:r>
                        <a:rPr sz="800" b="0" i="0">
                          <a:solidFill>
                            <a:srgbClr val="16213A"/>
                          </a:solidFill>
                          <a:latin typeface="Arial"/>
                          <a:ea typeface="Malgun Gothic"/>
                          <a:cs typeface="Malgun Gothic"/>
                        </a:rPr>
                        <a:t>(부교수), UT Austin</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ut-amrl</a:t>
                      </a:r>
                      <a:r>
                        <a:rPr sz="800" b="0" i="0">
                          <a:solidFill>
                            <a:srgbClr val="16213A"/>
                          </a:solidFill>
                          <a:latin typeface="Arial"/>
                          <a:ea typeface="Malgun Gothic"/>
                          <a:cs typeface="Malgun Gothic"/>
                        </a:rPr>
                        <a:t> 222개 — </a:t>
                      </a:r>
                      <a:r>
                        <a:rPr sz="800" b="0" i="0">
                          <a:solidFill>
                            <a:srgbClr val="16213A"/>
                          </a:solidFill>
                          <a:latin typeface="Consolas"/>
                          <a:ea typeface="Malgun Gothic"/>
                          <a:cs typeface="Malgun Gothic"/>
                        </a:rPr>
                        <a:t>SocialGym2</a:t>
                      </a:r>
                      <a:r>
                        <a:rPr sz="800" b="0" i="0">
                          <a:solidFill>
                            <a:srgbClr val="16213A"/>
                          </a:solidFill>
                          <a:latin typeface="Arial"/>
                          <a:ea typeface="Malgun Gothic"/>
                          <a:cs typeface="Malgun Gothic"/>
                        </a:rPr>
                        <a:t> ★63 · </a:t>
                      </a:r>
                      <a:r>
                        <a:rPr sz="800" b="0" i="0">
                          <a:solidFill>
                            <a:srgbClr val="16213A"/>
                          </a:solidFill>
                          <a:latin typeface="Consolas"/>
                          <a:ea typeface="Malgun Gothic"/>
                          <a:cs typeface="Malgun Gothic"/>
                        </a:rPr>
                        <a:t>graph_navigation</a:t>
                      </a:r>
                      <a:r>
                        <a:rPr sz="800" b="0" i="0">
                          <a:solidFill>
                            <a:srgbClr val="16213A"/>
                          </a:solidFill>
                          <a:latin typeface="Arial"/>
                          <a:ea typeface="Malgun Gothic"/>
                          <a:cs typeface="Malgun Gothic"/>
                        </a:rPr>
                        <a:t> ★14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소셜 내비 벤치마크. ⚠️ </a:t>
                      </a:r>
                      <a:r>
                        <a:rPr sz="800" b="1" i="0">
                          <a:solidFill>
                            <a:srgbClr val="16213A"/>
                          </a:solidFill>
                          <a:latin typeface="Arial"/>
                          <a:ea typeface="Malgun Gothic"/>
                          <a:cs typeface="Malgun Gothic"/>
                        </a:rPr>
                        <a:t>LARG(Peter Stone)는 별도 연구실</a:t>
                      </a:r>
                      <a:r>
                        <a:rPr sz="800" b="0" i="0">
                          <a:solidFill>
                            <a:srgbClr val="16213A"/>
                          </a:solidFill>
                          <a:latin typeface="Arial"/>
                          <a:ea typeface="Malgun Gothic"/>
                          <a:cs typeface="Malgun Gothic"/>
                        </a:rPr>
                        <a:t>이고 SocialGym 2.0의 </a:t>
                      </a:r>
                      <a:r>
                        <a:rPr sz="800" b="1" i="0">
                          <a:solidFill>
                            <a:srgbClr val="16213A"/>
                          </a:solidFill>
                          <a:latin typeface="Arial"/>
                          <a:ea typeface="Malgun Gothic"/>
                          <a:cs typeface="Malgun Gothic"/>
                        </a:rPr>
                        <a:t>저자가 아니다</a:t>
                      </a:r>
                    </a:p>
                  </a:txBody>
                  <a:tcPr marL="63500" marR="63500" marT="12700" marB="12700">
                    <a:solidFill>
                      <a:srgbClr val="FFFDF8"/>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74 / 109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D.13.3 제어·최적화, 그리고 한국 그룹 (→ C·E, F)</a:t>
            </a:r>
          </a:p>
        </p:txBody>
      </p:sp>
      <p:graphicFrame>
        <p:nvGraphicFramePr>
          <p:cNvPr id="6" name="Table 5"/>
          <p:cNvGraphicFramePr>
            <a:graphicFrameLocks noGrp="1"/>
          </p:cNvGraphicFramePr>
          <p:nvPr/>
        </p:nvGraphicFramePr>
        <p:xfrm>
          <a:off x="609600" y="1547812"/>
          <a:ext cx="10966450" cy="2422920"/>
        </p:xfrm>
        <a:graphic>
          <a:graphicData uri="http://schemas.openxmlformats.org/drawingml/2006/table">
            <a:tbl>
              <a:tblPr firstRow="1" bandRow="1">
                <a:tableStyleId>{5C22544A-7EE6-4342-B048-85BDC9FD1C3A}</a:tableStyleId>
              </a:tblPr>
              <a:tblGrid>
                <a:gridCol w="1311374"/>
                <a:gridCol w="939403"/>
                <a:gridCol w="8715673"/>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317976">
                <a:tc>
                  <a:txBody>
                    <a:bodyPr wrap="square"/>
                    <a:lstStyle/>
                    <a:p>
                      <a:r>
                        <a:rPr sz="800" b="1" i="0">
                          <a:solidFill>
                            <a:srgbClr val="16213A"/>
                          </a:solidFill>
                          <a:latin typeface="Arial"/>
                          <a:ea typeface="Malgun Gothic"/>
                          <a:cs typeface="Malgun Gothic"/>
                        </a:rPr>
                        <a:t>ACDS</a:t>
                      </a:r>
                      <a:r>
                        <a:rPr sz="800" b="0" i="0">
                          <a:solidFill>
                            <a:srgbClr val="16213A"/>
                          </a:solidFill>
                          <a:latin typeface="Arial"/>
                          <a:ea typeface="Malgun Gothic"/>
                          <a:cs typeface="Malgun Gothic"/>
                        </a:rPr>
                        <a:t>, Georgia Tech</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Evangelos Theodorou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MPPI의 원전(ICRA 2016) — </a:t>
                      </a:r>
                      <a:r>
                        <a:rPr sz="800" b="0" i="0">
                          <a:solidFill>
                            <a:srgbClr val="16213A"/>
                          </a:solidFill>
                          <a:latin typeface="Consolas"/>
                          <a:ea typeface="Malgun Gothic"/>
                          <a:cs typeface="Malgun Gothic"/>
                        </a:rPr>
                        <a:t>control/mppi/</a:t>
                      </a:r>
                      <a:r>
                        <a:rPr sz="800" b="0" i="0">
                          <a:solidFill>
                            <a:srgbClr val="16213A"/>
                          </a:solidFill>
                          <a:latin typeface="Arial"/>
                          <a:ea typeface="Malgun Gothic"/>
                          <a:cs typeface="Malgun Gothic"/>
                        </a:rPr>
                        <a:t>의 뿌리</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Intelligent Control Systems</a:t>
                      </a:r>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IDSC / D-MAVT</a:t>
                      </a:r>
                      <a:r>
                        <a:rPr sz="800" b="0" i="0">
                          <a:solidFill>
                            <a:srgbClr val="16213A"/>
                          </a:solidFill>
                          <a:latin typeface="Arial"/>
                          <a:ea typeface="Malgun Gothic"/>
                          <a:cs typeface="Malgun Gothic"/>
                        </a:rPr>
                        <a:t> ETH</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Melanie Zeilinger</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l4acados</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ampyc</a:t>
                      </a:r>
                      <a:r>
                        <a:rPr sz="800" b="0" i="0">
                          <a:solidFill>
                            <a:srgbClr val="16213A"/>
                          </a:solidFill>
                          <a:latin typeface="Arial"/>
                          <a:ea typeface="Malgun Gothic"/>
                          <a:cs typeface="Malgun Gothic"/>
                        </a:rPr>
                        <a:t> — GP 잔차와 튜브 MPC를 acados에 얹는 라인(TP-0070/0071, E.10)</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syscop</a:t>
                      </a:r>
                      <a:r>
                        <a:rPr sz="800" b="0" i="0">
                          <a:solidFill>
                            <a:srgbClr val="16213A"/>
                          </a:solidFill>
                          <a:latin typeface="Arial"/>
                          <a:ea typeface="Malgun Gothic"/>
                          <a:cs typeface="Malgun Gothic"/>
                        </a:rPr>
                        <a:t>, Freiburg</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Moritz Diehl</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acados 자체.</a:t>
                      </a:r>
                      <a:r>
                        <a:rPr sz="800" b="0" i="0">
                          <a:solidFill>
                            <a:srgbClr val="16213A"/>
                          </a:solidFill>
                          <a:latin typeface="Arial"/>
                          <a:ea typeface="Malgun Gothic"/>
                          <a:cs typeface="Malgun Gothic"/>
                        </a:rPr>
                        <a:t> 우리 MPC 트랙 전체가 이 위에 선다</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Hybrid Robotics</a:t>
                      </a:r>
                      <a:r>
                        <a:rPr sz="800" b="0" i="0">
                          <a:solidFill>
                            <a:srgbClr val="16213A"/>
                          </a:solidFill>
                          <a:latin typeface="Arial"/>
                          <a:ea typeface="Malgun Gothic"/>
                          <a:cs typeface="Malgun Gothic"/>
                        </a:rPr>
                        <a:t>, UC Berkeley</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Koushil Sreenath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CBF ↔ MPC 다리(ACC 2021). ⚠️ </a:t>
                      </a:r>
                      <a:r>
                        <a:rPr sz="800" b="0" i="0">
                          <a:solidFill>
                            <a:srgbClr val="16213A"/>
                          </a:solidFill>
                          <a:latin typeface="Consolas"/>
                          <a:ea typeface="Malgun Gothic"/>
                          <a:cs typeface="Malgun Gothic"/>
                        </a:rPr>
                        <a:t>HybridRobotics/MPC-CBF</a:t>
                      </a:r>
                      <a:r>
                        <a:rPr sz="800" b="0" i="0">
                          <a:solidFill>
                            <a:srgbClr val="16213A"/>
                          </a:solidFill>
                          <a:latin typeface="Arial"/>
                          <a:ea typeface="Malgun Gothic"/>
                          <a:cs typeface="Malgun Gothic"/>
                        </a:rPr>
                        <a:t>는 </a:t>
                      </a:r>
                      <a:r>
                        <a:rPr sz="800" b="1" i="0">
                          <a:solidFill>
                            <a:srgbClr val="16213A"/>
                          </a:solidFill>
                          <a:latin typeface="Arial"/>
                          <a:ea typeface="Malgun Gothic"/>
                          <a:cs typeface="Malgun Gothic"/>
                        </a:rPr>
                        <a:t>아카이브됨</a:t>
                      </a:r>
                      <a:r>
                        <a:rPr sz="800" b="0" i="0">
                          <a:solidFill>
                            <a:srgbClr val="16213A"/>
                          </a:solidFill>
                          <a:latin typeface="Arial"/>
                          <a:ea typeface="Malgun Gothic"/>
                          <a:cs typeface="Malgun Gothic"/>
                        </a:rPr>
                        <a:t>. 학습 쪽은 Cassie RL·Berkeley Humanoid·BeyondMimic이 Planner 문서 B.16.6에 있다. </a:t>
                      </a:r>
                      <a:r>
                        <a:rPr sz="800" b="0" i="0">
                          <a:solidFill>
                            <a:srgbClr val="16213A"/>
                          </a:solidFill>
                          <a:latin typeface="Consolas"/>
                          <a:ea typeface="Malgun Gothic"/>
                          <a:cs typeface="Malgun Gothic"/>
                        </a:rPr>
                        <a:t>whole_body_tracking</a:t>
                      </a:r>
                      <a:r>
                        <a:rPr sz="800" b="0" i="0">
                          <a:solidFill>
                            <a:srgbClr val="16213A"/>
                          </a:solidFill>
                          <a:latin typeface="Arial"/>
                          <a:ea typeface="Malgun Gothic"/>
                          <a:cs typeface="Malgun Gothic"/>
                        </a:rPr>
                        <a:t>(MIT)은 동작 추종 학습 코드이고, 유도 diffusion 코드는 없다(2026-10-07 확인)</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AMBER Lab</a:t>
                      </a:r>
                      <a:r>
                        <a:rPr sz="800" b="0" i="0">
                          <a:solidFill>
                            <a:srgbClr val="16213A"/>
                          </a:solidFill>
                          <a:latin typeface="Arial"/>
                          <a:ea typeface="Malgun Gothic"/>
                          <a:cs typeface="Malgun Gothic"/>
                        </a:rPr>
                        <a:t>, Caltech</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Aaron Ames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CBF 이론의 정본. A.12.5의 Lipschitz 연속성 정리</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Urban Robotics Lab</a:t>
                      </a:r>
                      <a:r>
                        <a:rPr sz="800" b="0" i="0">
                          <a:solidFill>
                            <a:srgbClr val="16213A"/>
                          </a:solidFill>
                          <a:latin typeface="Arial"/>
                          <a:ea typeface="Malgun Gothic"/>
                          <a:cs typeface="Malgun Gothic"/>
                        </a:rPr>
                        <a:t>, KAIST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명현(Hyun Myung)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세 줄기가 travplan과 겹친다 — </a:t>
                      </a:r>
                      <a:r>
                        <a:rPr sz="800" b="1" i="0">
                          <a:solidFill>
                            <a:srgbClr val="16213A"/>
                          </a:solidFill>
                          <a:latin typeface="Arial"/>
                          <a:ea typeface="Malgun Gothic"/>
                          <a:cs typeface="Malgun Gothic"/>
                        </a:rPr>
                        <a:t>보행 제어</a:t>
                      </a:r>
                      <a:r>
                        <a:rPr sz="800" b="0" i="0">
                          <a:solidFill>
                            <a:srgbClr val="16213A"/>
                          </a:solidFill>
                          <a:latin typeface="Arial"/>
                          <a:ea typeface="Malgun Gothic"/>
                          <a:cs typeface="Malgun Gothic"/>
                        </a:rPr>
                        <a:t> Dream* 계열(F.4, 다섯 편이 한 줄기, </a:t>
                      </a:r>
                      <a:r>
                        <a:rPr sz="800" b="1" i="0">
                          <a:solidFill>
                            <a:srgbClr val="C2410C"/>
                          </a:solidFill>
                          <a:latin typeface="Arial"/>
                          <a:ea typeface="Malgun Gothic"/>
                          <a:cs typeface="Malgun Gothic"/>
                        </a:rPr>
                        <a:t>공식 코드 없음</a:t>
                      </a:r>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전역 플래너</a:t>
                      </a:r>
                      <a:r>
                        <a:rPr sz="800" b="0" i="0">
                          <a:solidFill>
                            <a:srgbClr val="16213A"/>
                          </a:solidFill>
                          <a:latin typeface="Arial"/>
                          <a:ea typeface="Malgun Gothic"/>
                          <a:cs typeface="Malgun Gothic"/>
                        </a:rPr>
                        <a:t> TRG-planner(B.9, </a:t>
                      </a:r>
                      <a:r>
                        <a:rPr sz="800" b="1" i="0">
                          <a:solidFill>
                            <a:srgbClr val="C2410C"/>
                          </a:solidFill>
                          <a:latin typeface="Arial"/>
                          <a:ea typeface="Malgun Gothic"/>
                          <a:cs typeface="Malgun Gothic"/>
                        </a:rPr>
                        <a:t>Commons Clause로 판매 금지</a:t>
                      </a:r>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지면 분할·지형</a:t>
                      </a:r>
                      <a:r>
                        <a:rPr sz="800" b="0" i="0">
                          <a:solidFill>
                            <a:srgbClr val="16213A"/>
                          </a:solidFill>
                          <a:latin typeface="Arial"/>
                          <a:ea typeface="Malgun Gothic"/>
                          <a:cs typeface="Malgun Gothic"/>
                        </a:rPr>
                        <a:t> Patchwork·Patchwork++·TRAVEL·B-TMS·TRIP(A.2b.8, </a:t>
                      </a:r>
                      <a:r>
                        <a:rPr sz="800" b="1" i="0">
                          <a:solidFill>
                            <a:srgbClr val="C2410C"/>
                          </a:solidFill>
                          <a:latin typeface="Arial"/>
                          <a:ea typeface="Malgun Gothic"/>
                          <a:cs typeface="Malgun Gothic"/>
                        </a:rPr>
                        <a:t>Patchwork MIT·Patchwork++ BSD-2</a:t>
                      </a:r>
                      <a:r>
                        <a:rPr sz="800" b="0" i="0">
                          <a:solidFill>
                            <a:srgbClr val="16213A"/>
                          </a:solidFill>
                          <a:latin typeface="Arial"/>
                          <a:ea typeface="Malgun Gothic"/>
                          <a:cs typeface="Malgun Gothic"/>
                        </a:rPr>
                        <a:t>). ⚠️ 이전에 적었던 "보행자" 겹침은 근거를 찾지 못해 지웠다 — 이 그룹의 보행자 상호작용 연구는 확인되지 않는다. 코드는 </a:t>
                      </a:r>
                      <a:r>
                        <a:rPr sz="800" b="0" i="0">
                          <a:solidFill>
                            <a:srgbClr val="1D4ED8"/>
                          </a:solidFill>
                          <a:latin typeface="Arial"/>
                          <a:ea typeface="Malgun Gothic"/>
                          <a:cs typeface="Malgun Gothic"/>
                          <a:hlinkClick r:id="rId3"/>
                        </a:rPr>
                        <a:t>github.com/url-kaist</a:t>
                      </a:r>
                      <a:r>
                        <a:rPr sz="800" b="0" i="0">
                          <a:solidFill>
                            <a:srgbClr val="16213A"/>
                          </a:solidFill>
                          <a:latin typeface="Arial"/>
                          <a:ea typeface="Malgun Gothic"/>
                          <a:cs typeface="Malgun Gothic"/>
                        </a:rPr>
                        <a:t>(공개 27개 중 </a:t>
                      </a:r>
                      <a:r>
                        <a:rPr sz="800" b="1" i="0">
                          <a:solidFill>
                            <a:srgbClr val="16213A"/>
                          </a:solidFill>
                          <a:latin typeface="Arial"/>
                          <a:ea typeface="Malgun Gothic"/>
                          <a:cs typeface="Malgun Gothic"/>
                        </a:rPr>
                        <a:t>15개가 GPL-3.0</a:t>
                      </a:r>
                      <a:r>
                        <a:rPr sz="800" b="0" i="0">
                          <a:solidFill>
                            <a:srgbClr val="16213A"/>
                          </a:solidFill>
                          <a:latin typeface="Arial"/>
                          <a:ea typeface="Malgun Gothic"/>
                          <a:cs typeface="Malgun Gothic"/>
                        </a:rPr>
                        <a:t>, 허용 라이선스는 여섯, AGPL-3.0 1 = Patchwork2)</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RaiLab</a:t>
                      </a:r>
                      <a:r>
                        <a:rPr sz="800" b="0" i="0">
                          <a:solidFill>
                            <a:srgbClr val="16213A"/>
                          </a:solidFill>
                          <a:latin typeface="Arial"/>
                          <a:ea typeface="Malgun Gothic"/>
                          <a:cs typeface="Malgun Gothic"/>
                        </a:rPr>
                        <a:t>, KAIST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황보제민(Jemin Hwangbo)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4족 RL의 국내 축. 학습 forward 모델 + 샘플링 MPC(RSS 2022), 전체 로봇 모델 물리 롤아웃(Sci. Robot. 2025) — MPC 문서 M.1.3. 무른 지면 접촉 모델(Sci. Robot. 2023), 바퀴 로봇 Crop-LSTM(RA-L 2024), 한 번 충전 마라톤 라이보2(Nature 2026)는 Planner 문서 B.16.5. 연구실 출신 교원창업기업 라이온로보틱스가 제품화를 맡는다. ⚠️ 정확한 직함 미확인</a:t>
                      </a:r>
                    </a:p>
                  </a:txBody>
                  <a:tcPr marL="63500" marR="63500" marT="12700" marB="12700">
                    <a:solidFill>
                      <a:srgbClr val="FFFDF8"/>
                    </a:solidFill>
                  </a:tcPr>
                </a:tc>
              </a:tr>
            </a:tbl>
          </a:graphicData>
        </a:graphic>
      </p:graphicFrame>
      <p:sp>
        <p:nvSpPr>
          <p:cNvPr id="7" name="TextBox 6"/>
          <p:cNvSpPr txBox="1"/>
          <p:nvPr/>
        </p:nvSpPr>
        <p:spPr>
          <a:xfrm>
            <a:off x="717550" y="467171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D.13.4 보행 로봇 학습 — 연구실과 회사 (→ B.16)</a:t>
            </a:r>
          </a:p>
        </p:txBody>
      </p:sp>
      <p:sp>
        <p:nvSpPr>
          <p:cNvPr id="8" name="TextBox 7"/>
          <p:cNvSpPr txBox="1"/>
          <p:nvPr/>
        </p:nvSpPr>
        <p:spPr>
          <a:xfrm>
            <a:off x="609600" y="497492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소속, 공개 코드, 별 수는 2026-10-07에 확인했다. D.13.1–D.13.3에 이미 있는 그룹(RSL·ACL·RaiLab·Hybrid Robotics)은 그 행에서 B.16을 가리킨다.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75 / 109</a:t>
            </a:r>
          </a:p>
        </p:txBody>
      </p:sp>
      <p:graphicFrame>
        <p:nvGraphicFramePr>
          <p:cNvPr id="5" name="Table 4"/>
          <p:cNvGraphicFramePr>
            <a:graphicFrameLocks noGrp="1"/>
          </p:cNvGraphicFramePr>
          <p:nvPr/>
        </p:nvGraphicFramePr>
        <p:xfrm>
          <a:off x="609600" y="1244600"/>
          <a:ext cx="10966946" cy="3510913"/>
        </p:xfrm>
        <a:graphic>
          <a:graphicData uri="http://schemas.openxmlformats.org/drawingml/2006/table">
            <a:tbl>
              <a:tblPr firstRow="1" bandRow="1">
                <a:tableStyleId>{5C22544A-7EE6-4342-B048-85BDC9FD1C3A}</a:tableStyleId>
              </a:tblPr>
              <a:tblGrid>
                <a:gridCol w="1915716"/>
                <a:gridCol w="2889250"/>
                <a:gridCol w="2933005"/>
                <a:gridCol w="3228975"/>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680641">
                <a:tc>
                  <a:txBody>
                    <a:bodyPr wrap="square"/>
                    <a:lstStyle/>
                    <a:p>
                      <a:r>
                        <a:rPr sz="800" b="1" i="0">
                          <a:solidFill>
                            <a:srgbClr val="16213A"/>
                          </a:solidFill>
                          <a:latin typeface="Arial"/>
                          <a:ea typeface="Malgun Gothic"/>
                          <a:cs typeface="Malgun Gothic"/>
                        </a:rPr>
                        <a:t>GEAR</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3"/>
                        </a:rPr>
                        <a:t>research.nvidia.com/labs/gear</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Jim Fan</a:t>
                      </a:r>
                      <a:r>
                        <a:rPr sz="800" b="0" i="0">
                          <a:solidFill>
                            <a:srgbClr val="16213A"/>
                          </a:solidFill>
                          <a:latin typeface="Arial"/>
                          <a:ea typeface="Malgun Gothic"/>
                          <a:cs typeface="Malgun Gothic"/>
                        </a:rPr>
                        <a:t>·</a:t>
                      </a:r>
                      <a:r>
                        <a:rPr sz="800" b="1" i="0">
                          <a:solidFill>
                            <a:srgbClr val="16213A"/>
                          </a:solidFill>
                          <a:latin typeface="Arial"/>
                          <a:ea typeface="Malgun Gothic"/>
                          <a:cs typeface="Malgun Gothic"/>
                        </a:rPr>
                        <a:t>Yuke Zhu</a:t>
                      </a:r>
                      <a:r>
                        <a:rPr sz="800" b="0" i="0">
                          <a:solidFill>
                            <a:srgbClr val="16213A"/>
                          </a:solidFill>
                          <a:latin typeface="Arial"/>
                          <a:ea typeface="Malgun Gothic"/>
                          <a:cs typeface="Malgun Gothic"/>
                        </a:rPr>
                        <a:t>, NVIDIA Research</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NVlabs/HOVER</a:t>
                      </a:r>
                      <a:r>
                        <a:rPr sz="800" b="0" i="0">
                          <a:solidFill>
                            <a:srgbClr val="16213A"/>
                          </a:solidFill>
                          <a:latin typeface="Arial"/>
                          <a:ea typeface="Malgun Gothic"/>
                          <a:cs typeface="Malgun Gothic"/>
                        </a:rPr>
                        <a:t> ★764 · </a:t>
                      </a:r>
                      <a:r>
                        <a:rPr sz="800" b="0" i="0">
                          <a:solidFill>
                            <a:srgbClr val="1D4ED8"/>
                          </a:solidFill>
                          <a:latin typeface="Arial"/>
                          <a:ea typeface="Malgun Gothic"/>
                          <a:cs typeface="Malgun Gothic"/>
                          <a:hlinkClick r:id="rId5"/>
                        </a:rPr>
                        <a:t>NVIDIA/Isaac-GR00T</a:t>
                      </a:r>
                      <a:r>
                        <a:rPr sz="800" b="0" i="0">
                          <a:solidFill>
                            <a:srgbClr val="16213A"/>
                          </a:solidFill>
                          <a:latin typeface="Arial"/>
                          <a:ea typeface="Malgun Gothic"/>
                          <a:cs typeface="Malgun Gothic"/>
                        </a:rPr>
                        <a:t> ★8161 · </a:t>
                      </a:r>
                      <a:r>
                        <a:rPr sz="800" b="0" i="0">
                          <a:solidFill>
                            <a:srgbClr val="1D4ED8"/>
                          </a:solidFill>
                          <a:latin typeface="Arial"/>
                          <a:ea typeface="Malgun Gothic"/>
                          <a:cs typeface="Malgun Gothic"/>
                          <a:hlinkClick r:id="rId6"/>
                        </a:rPr>
                        <a:t>NVlabs/GR00T-WholeBodyControl</a:t>
                      </a:r>
                      <a:r>
                        <a:rPr sz="800" b="0" i="0">
                          <a:solidFill>
                            <a:srgbClr val="16213A"/>
                          </a:solidFill>
                          <a:latin typeface="Arial"/>
                          <a:ea typeface="Malgun Gothic"/>
                          <a:cs typeface="Malgun Gothic"/>
                        </a:rPr>
                        <a:t> ★3703 · </a:t>
                      </a:r>
                      <a:r>
                        <a:rPr sz="800" b="0" i="0">
                          <a:solidFill>
                            <a:srgbClr val="1D4ED8"/>
                          </a:solidFill>
                          <a:latin typeface="Arial"/>
                          <a:ea typeface="Malgun Gothic"/>
                          <a:cs typeface="Malgun Gothic"/>
                          <a:hlinkClick r:id="rId7"/>
                        </a:rPr>
                        <a:t>NVlabs/GR00T-VisualSim2Real</a:t>
                      </a:r>
                      <a:r>
                        <a:rPr sz="800" b="0" i="0">
                          <a:solidFill>
                            <a:srgbClr val="16213A"/>
                          </a:solidFill>
                          <a:latin typeface="Arial"/>
                          <a:ea typeface="Malgun Gothic"/>
                          <a:cs typeface="Malgun Gothic"/>
                        </a:rPr>
                        <a:t> ★420. 코드는 </a:t>
                      </a:r>
                      <a:r>
                        <a:rPr sz="800" b="1" i="0">
                          <a:solidFill>
                            <a:srgbClr val="16213A"/>
                          </a:solidFill>
                          <a:latin typeface="Arial"/>
                          <a:ea typeface="Malgun Gothic"/>
                          <a:cs typeface="Malgun Gothic"/>
                        </a:rPr>
                        <a:t>Apache-2.0</a:t>
                      </a:r>
                      <a:r>
                        <a:rPr sz="800" b="0" i="0">
                          <a:solidFill>
                            <a:srgbClr val="16213A"/>
                          </a:solidFill>
                          <a:latin typeface="Arial"/>
                          <a:ea typeface="Malgun Gothic"/>
                          <a:cs typeface="Malgun Gothic"/>
                        </a:rPr>
                        <a:t>, GR00T·SONIC 가중치는 NVIDIA Open Model License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Planner 아래에 학습 추종기를 두는 층 나누기의 대표다. Playground 휴머노이드가 본뜬 분리형 WBC(F.8, E.13), 두 참조 모드를 한 학생으로 받는 명령 마스크 증류(HOVER), 에피소드 성공으로 매기는 GRPO(DoorMan)가 학습 Controller와 RL 후학습의 후보다(B.16.1)</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DAIR</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8"/>
                        </a:rPr>
                        <a:t>research.nvidia.com/labs/dair</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Umar Iqbal</a:t>
                      </a:r>
                      <a:r>
                        <a:rPr sz="800" b="0" i="0">
                          <a:solidFill>
                            <a:srgbClr val="16213A"/>
                          </a:solidFill>
                          <a:latin typeface="Arial"/>
                          <a:ea typeface="Malgun Gothic"/>
                          <a:cs typeface="Malgun Gothic"/>
                        </a:rPr>
                        <a:t>, NVIDIA Research(LPR 조직)</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NVlabs/ProtoMotions</a:t>
                      </a:r>
                      <a:r>
                        <a:rPr sz="800" b="0" i="0">
                          <a:solidFill>
                            <a:srgbClr val="16213A"/>
                          </a:solidFill>
                          <a:latin typeface="Arial"/>
                          <a:ea typeface="Malgun Gothic"/>
                          <a:cs typeface="Malgun Gothic"/>
                        </a:rPr>
                        <a:t> ★2415 </a:t>
                      </a:r>
                      <a:r>
                        <a:rPr sz="800" b="1" i="0">
                          <a:solidFill>
                            <a:srgbClr val="16213A"/>
                          </a:solidFill>
                          <a:latin typeface="Arial"/>
                          <a:ea typeface="Malgun Gothic"/>
                          <a:cs typeface="Malgun Gothic"/>
                        </a:rPr>
                        <a:t>Apache-2.0</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NVlabs/GRAIL</a:t>
                      </a:r>
                      <a:r>
                        <a:rPr sz="800" b="0" i="0">
                          <a:solidFill>
                            <a:srgbClr val="16213A"/>
                          </a:solidFill>
                          <a:latin typeface="Arial"/>
                          <a:ea typeface="Malgun Gothic"/>
                          <a:cs typeface="Malgun Gothic"/>
                        </a:rPr>
                        <a:t> ★557(NVIDIA License, 비상업) · BONES-SEED 데이터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데이터로 휴머노이드를 학습하는 그룹이다. GEAR와 함께 만든 SONIC과, 11 × 11 높이 지도를 더한 GRAIL 추종기가 학습 Controller의 지형 입력 설계에 닿는다(B.16.1)</a:t>
                      </a:r>
                    </a:p>
                  </a:txBody>
                  <a:tcPr marL="63500" marR="63500" marT="12700" marB="12700">
                    <a:solidFill>
                      <a:srgbClr val="F3F0E8"/>
                    </a:solidFill>
                  </a:tcPr>
                </a:tc>
              </a:tr>
              <a:tr h="438864">
                <a:tc>
                  <a:txBody>
                    <a:bodyPr wrap="square"/>
                    <a:lstStyle/>
                    <a:p>
                      <a:r>
                        <a:rPr sz="800" b="1" i="0">
                          <a:solidFill>
                            <a:srgbClr val="16213A"/>
                          </a:solidFill>
                          <a:latin typeface="Arial"/>
                          <a:ea typeface="Malgun Gothic"/>
                          <a:cs typeface="Malgun Gothic"/>
                        </a:rPr>
                        <a:t>물리 기반 캐릭터 애니메이션</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Xue Bin (Jason) Peng</a:t>
                      </a:r>
                      <a:r>
                        <a:rPr sz="800" b="0" i="0">
                          <a:solidFill>
                            <a:srgbClr val="16213A"/>
                          </a:solidFill>
                          <a:latin typeface="Arial"/>
                          <a:ea typeface="Malgun Gothic"/>
                          <a:cs typeface="Malgun Gothic"/>
                        </a:rPr>
                        <a:t>(SFU·NVIDIA), NVIDIA 텔아비브 연구소(</a:t>
                      </a:r>
                      <a:r>
                        <a:rPr sz="800" b="1" i="0">
                          <a:solidFill>
                            <a:srgbClr val="16213A"/>
                          </a:solidFill>
                          <a:latin typeface="Arial"/>
                          <a:ea typeface="Malgun Gothic"/>
                          <a:cs typeface="Malgun Gothic"/>
                        </a:rPr>
                        <a:t>Gal Chechik</a:t>
                      </a:r>
                      <a:r>
                        <a:rPr sz="800" b="0" i="0">
                          <a:solidFill>
                            <a:srgbClr val="16213A"/>
                          </a:solidFill>
                          <a:latin typeface="Arial"/>
                          <a:ea typeface="Malgun Gothic"/>
                          <a:cs typeface="Malgun Gothic"/>
                        </a:rPr>
                        <a:t>, Chen Tessler)</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nv-tlabs/ASE</a:t>
                      </a:r>
                      <a:r>
                        <a:rPr sz="800" b="0" i="0">
                          <a:solidFill>
                            <a:srgbClr val="16213A"/>
                          </a:solidFill>
                          <a:latin typeface="Arial"/>
                          <a:ea typeface="Malgun Gothic"/>
                          <a:cs typeface="Malgun Gothic"/>
                        </a:rPr>
                        <a:t> ★1126 · </a:t>
                      </a:r>
                      <a:r>
                        <a:rPr sz="800" b="0" i="0">
                          <a:solidFill>
                            <a:srgbClr val="1D4ED8"/>
                          </a:solidFill>
                          <a:latin typeface="Arial"/>
                          <a:ea typeface="Malgun Gothic"/>
                          <a:cs typeface="Malgun Gothic"/>
                          <a:hlinkClick r:id="rId12"/>
                        </a:rPr>
                        <a:t>NVlabs/CALM</a:t>
                      </a:r>
                      <a:r>
                        <a:rPr sz="800" b="0" i="0">
                          <a:solidFill>
                            <a:srgbClr val="16213A"/>
                          </a:solidFill>
                          <a:latin typeface="Arial"/>
                          <a:ea typeface="Malgun Gothic"/>
                          <a:cs typeface="Malgun Gothic"/>
                        </a:rPr>
                        <a:t> ★619(둘 다 NVIDIA License, 비상업) · </a:t>
                      </a:r>
                      <a:r>
                        <a:rPr sz="800" b="0" i="0">
                          <a:solidFill>
                            <a:srgbClr val="1D4ED8"/>
                          </a:solidFill>
                          <a:latin typeface="Arial"/>
                          <a:ea typeface="Malgun Gothic"/>
                          <a:cs typeface="Malgun Gothic"/>
                          <a:hlinkClick r:id="rId13"/>
                        </a:rPr>
                        <a:t>mshoe/PARC</a:t>
                      </a:r>
                      <a:r>
                        <a:rPr sz="800" b="0" i="0">
                          <a:solidFill>
                            <a:srgbClr val="16213A"/>
                          </a:solidFill>
                          <a:latin typeface="Arial"/>
                          <a:ea typeface="Malgun Gothic"/>
                          <a:cs typeface="Malgun Gothic"/>
                        </a:rPr>
                        <a:t> ★356 </a:t>
                      </a:r>
                      <a:r>
                        <a:rPr sz="800" b="1"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PARC의 높이 지도 조건 생성기, 물리 추종기, 데이터 고리가 Planner D·Controller·DAgger와 같은 구조다. MaskedMimic의 부분 목표 증류는 학습 Controller가 두 참조 모드를 받는 방법이다(B.16.1)</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Isaac 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4"/>
                        </a:rPr>
                        <a:t>isaac-sim.github.io/IsaacLab</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NVIDIA, ETH RSL과 공동 개발(Orbit·Isaac Lab 보고서 1저자 </a:t>
                      </a:r>
                      <a:r>
                        <a:rPr sz="800" b="1" i="0">
                          <a:solidFill>
                            <a:srgbClr val="16213A"/>
                          </a:solidFill>
                          <a:latin typeface="Arial"/>
                          <a:ea typeface="Malgun Gothic"/>
                          <a:cs typeface="Malgun Gothic"/>
                        </a:rPr>
                        <a:t>Mayank Mittal</a:t>
                      </a:r>
                      <a:r>
                        <a:rPr sz="800" b="0" i="0">
                          <a:solidFill>
                            <a:srgbClr val="16213A"/>
                          </a:solidFill>
                          <a:latin typeface="Arial"/>
                          <a:ea typeface="Malgun Gothic"/>
                          <a:cs typeface="Malgun Gothic"/>
                        </a:rPr>
                        <a:t>, ETH·NVIDIA)</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isaac-sim/IsaacLab</a:t>
                      </a:r>
                      <a:r>
                        <a:rPr sz="800" b="0" i="0">
                          <a:solidFill>
                            <a:srgbClr val="16213A"/>
                          </a:solidFill>
                          <a:latin typeface="Arial"/>
                          <a:ea typeface="Malgun Gothic"/>
                          <a:cs typeface="Malgun Gothic"/>
                        </a:rPr>
                        <a:t> ★8289 </a:t>
                      </a:r>
                      <a:r>
                        <a:rPr sz="800" b="1" i="0">
                          <a:solidFill>
                            <a:srgbClr val="16213A"/>
                          </a:solidFill>
                          <a:latin typeface="Arial"/>
                          <a:ea typeface="Malgun Gothic"/>
                          <a:cs typeface="Malgun Gothic"/>
                        </a:rPr>
                        <a:t>BSD-3</a:t>
                      </a:r>
                      <a:r>
                        <a:rPr sz="800" b="0" i="0">
                          <a:solidFill>
                            <a:srgbClr val="16213A"/>
                          </a:solidFill>
                          <a:latin typeface="Arial"/>
                          <a:ea typeface="Malgun Gothic"/>
                          <a:cs typeface="Malgun Gothic"/>
                        </a:rPr>
                        <a:t>(Mimic 부분 Apache-2.0) · IsaacGymEnvs는 보관됨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RL 후학습 rollout을 GPU 배치로 묶는 다음 단계이자 P1 Isaac 단계의 학습 루프 자리다. ⚠️ 지연 PD 액추에이터는 순수 시간 지연이라, 스워브 plant의 1차 지연은 따로 넣어야 한다(B.16.1, S.1.1)</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Eureka 연구진</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6"/>
                        </a:rPr>
                        <a:t>eureka-research.github.io</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Dinesh Jayaraman</a:t>
                      </a:r>
                      <a:r>
                        <a:rPr sz="800" b="0" i="0">
                          <a:solidFill>
                            <a:srgbClr val="16213A"/>
                          </a:solidFill>
                          <a:latin typeface="Arial"/>
                          <a:ea typeface="Malgun Gothic"/>
                          <a:cs typeface="Malgun Gothic"/>
                        </a:rPr>
                        <a:t>·</a:t>
                      </a:r>
                      <a:r>
                        <a:rPr sz="800" b="1" i="0">
                          <a:solidFill>
                            <a:srgbClr val="16213A"/>
                          </a:solidFill>
                          <a:latin typeface="Arial"/>
                          <a:ea typeface="Malgun Gothic"/>
                          <a:cs typeface="Malgun Gothic"/>
                        </a:rPr>
                        <a:t>Osbert Bastani</a:t>
                      </a:r>
                      <a:r>
                        <a:rPr sz="800" b="0" i="0">
                          <a:solidFill>
                            <a:srgbClr val="16213A"/>
                          </a:solidFill>
                          <a:latin typeface="Arial"/>
                          <a:ea typeface="Malgun Gothic"/>
                          <a:cs typeface="Malgun Gothic"/>
                        </a:rPr>
                        <a:t>, UPenn GRASP(GEAR 공저)</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eureka-research/Eureka</a:t>
                      </a:r>
                      <a:r>
                        <a:rPr sz="800" b="0" i="0">
                          <a:solidFill>
                            <a:srgbClr val="16213A"/>
                          </a:solidFill>
                          <a:latin typeface="Arial"/>
                          <a:ea typeface="Malgun Gothic"/>
                          <a:cs typeface="Malgun Gothic"/>
                        </a:rPr>
                        <a:t> ★3207 · </a:t>
                      </a:r>
                      <a:r>
                        <a:rPr sz="800" b="0" i="0">
                          <a:solidFill>
                            <a:srgbClr val="1D4ED8"/>
                          </a:solidFill>
                          <a:latin typeface="Arial"/>
                          <a:ea typeface="Malgun Gothic"/>
                          <a:cs typeface="Malgun Gothic"/>
                          <a:hlinkClick r:id="rId18"/>
                        </a:rPr>
                        <a:t>DrEureka</a:t>
                      </a:r>
                      <a:r>
                        <a:rPr sz="800" b="0" i="0">
                          <a:solidFill>
                            <a:srgbClr val="16213A"/>
                          </a:solidFill>
                          <a:latin typeface="Arial"/>
                          <a:ea typeface="Malgun Gothic"/>
                          <a:cs typeface="Malgun Gothic"/>
                        </a:rPr>
                        <a:t> ★946 · </a:t>
                      </a:r>
                      <a:r>
                        <a:rPr sz="800" b="0" i="0">
                          <a:solidFill>
                            <a:srgbClr val="1D4ED8"/>
                          </a:solidFill>
                          <a:latin typeface="Arial"/>
                          <a:ea typeface="Malgun Gothic"/>
                          <a:cs typeface="Malgun Gothic"/>
                          <a:hlinkClick r:id="rId19"/>
                        </a:rPr>
                        <a:t>eurekaverse</a:t>
                      </a:r>
                      <a:r>
                        <a:rPr sz="800" b="0" i="0">
                          <a:solidFill>
                            <a:srgbClr val="16213A"/>
                          </a:solidFill>
                          <a:latin typeface="Arial"/>
                          <a:ea typeface="Malgun Gothic"/>
                          <a:cs typeface="Malgun Gothic"/>
                        </a:rPr>
                        <a:t> ★119, 모두 </a:t>
                      </a:r>
                      <a:r>
                        <a:rPr sz="800" b="1"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랜덤화 범위를 먼저 재고 그 안에서 고르는 RAPP 절차와, 보상 항목별 기록 형식을 RL 후학습(TP-0066)에 옮긴다(B.16.1)</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Google DeepMind 로보틱스 — 사족 갈래</a:t>
                      </a:r>
                      <a:r>
                        <a:rPr sz="800" b="0" i="0">
                          <a:solidFill>
                            <a:srgbClr val="16213A"/>
                          </a:solidFill>
                          <a:latin typeface="Arial"/>
                          <a:ea typeface="Malgun Gothic"/>
                          <a:cs typeface="Malgun Gothic"/>
                        </a:rPr>
                        <a:t>(구 Google Brain 로보틱스)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Jie Tan</a:t>
                      </a:r>
                      <a:r>
                        <a:rPr sz="800" b="0" i="0">
                          <a:solidFill>
                            <a:srgbClr val="16213A"/>
                          </a:solidFill>
                          <a:latin typeface="Arial"/>
                          <a:ea typeface="Malgun Gothic"/>
                          <a:cs typeface="Malgun Gothic"/>
                        </a:rPr>
                        <a:t>·Tingnan Zhang·Wenhao Yu, Google DeepMind(2026-07-30 Gemini Robotics 2 팀 명단)</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barkour_robot</a:t>
                      </a:r>
                      <a:r>
                        <a:rPr sz="800" b="0" i="0">
                          <a:solidFill>
                            <a:srgbClr val="16213A"/>
                          </a:solidFill>
                          <a:latin typeface="Arial"/>
                          <a:ea typeface="Malgun Gothic"/>
                          <a:cs typeface="Malgun Gothic"/>
                        </a:rPr>
                        <a:t> ★379(소프트웨어 Apache-2.0, 그 밖 CC BY-NC 4.0) · </a:t>
                      </a:r>
                      <a:r>
                        <a:rPr sz="800" b="0" i="0">
                          <a:solidFill>
                            <a:srgbClr val="1D4ED8"/>
                          </a:solidFill>
                          <a:latin typeface="Arial"/>
                          <a:ea typeface="Malgun Gothic"/>
                          <a:cs typeface="Malgun Gothic"/>
                          <a:hlinkClick r:id="rId21"/>
                        </a:rPr>
                        <a:t>motion_imitation</a:t>
                      </a:r>
                      <a:r>
                        <a:rPr sz="800" b="0" i="0">
                          <a:solidFill>
                            <a:srgbClr val="16213A"/>
                          </a:solidFill>
                          <a:latin typeface="Arial"/>
                          <a:ea typeface="Malgun Gothic"/>
                          <a:cs typeface="Malgun Gothic"/>
                        </a:rPr>
                        <a:t> ★1.5k · </a:t>
                      </a:r>
                      <a:r>
                        <a:rPr sz="800" b="0" i="0">
                          <a:solidFill>
                            <a:srgbClr val="1D4ED8"/>
                          </a:solidFill>
                          <a:latin typeface="Arial"/>
                          <a:ea typeface="Malgun Gothic"/>
                          <a:cs typeface="Malgun Gothic"/>
                          <a:hlinkClick r:id="rId22"/>
                        </a:rPr>
                        <a:t>language_to_reward_2023</a:t>
                      </a:r>
                      <a:r>
                        <a:rPr sz="800" b="0" i="0">
                          <a:solidFill>
                            <a:srgbClr val="16213A"/>
                          </a:solidFill>
                          <a:latin typeface="Arial"/>
                          <a:ea typeface="Malgun Gothic"/>
                          <a:cs typeface="Malgun Gothic"/>
                        </a:rPr>
                        <a:t> ★160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구동기 모델과 지연(Tan 2018)이 TP-0032·TP-0150의 근거다. 학습 상위 층 + 볼록 MPC 하위 층(Visual-Locomotion, Safe RL)은 Planner D + Controller 배치와 Guidance 폴백(TP-0078)의 선례이고, Barkour 시간 점수는 TP-0038 후보다(B.16.2)</a:t>
                      </a:r>
                    </a:p>
                  </a:txBody>
                  <a:tcPr marL="63500" marR="63500" marT="12700" marB="12700">
                    <a:solidFill>
                      <a:srgbClr val="F3F0E8"/>
                    </a:solidFill>
                  </a:tcPr>
                </a:tc>
              </a:tr>
              <a:tr h="438864">
                <a:tc>
                  <a:txBody>
                    <a:bodyPr wrap="square"/>
                    <a:lstStyle/>
                    <a:p>
                      <a:r>
                        <a:rPr sz="800" b="1" i="0">
                          <a:solidFill>
                            <a:srgbClr val="16213A"/>
                          </a:solidFill>
                          <a:latin typeface="Arial"/>
                          <a:ea typeface="Malgun Gothic"/>
                          <a:cs typeface="Malgun Gothic"/>
                        </a:rPr>
                        <a:t>Google DeepMind 로보틱스 — 휴머노이드 갈래</a:t>
                      </a:r>
                      <a:r>
                        <a:rPr sz="800" b="0" i="0">
                          <a:solidFill>
                            <a:srgbClr val="16213A"/>
                          </a:solidFill>
                          <a:latin typeface="Arial"/>
                          <a:ea typeface="Malgun Gothic"/>
                          <a:cs typeface="Malgun Gothic"/>
                        </a:rPr>
                        <a:t>(구 DeepMind)</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Nicolas Heess</a:t>
                      </a:r>
                      <a:r>
                        <a:rPr sz="800" b="0" i="0">
                          <a:solidFill>
                            <a:srgbClr val="16213A"/>
                          </a:solidFill>
                          <a:latin typeface="Arial"/>
                          <a:ea typeface="Malgun Gothic"/>
                          <a:cs typeface="Malgun Gothic"/>
                        </a:rPr>
                        <a:t>, Google DeepMind(같은 명단)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코드 공개 없음. OP3 축구의 정량 결과 재현 데이터·노트북만 </a:t>
                      </a:r>
                      <a:r>
                        <a:rPr sz="800" b="0" i="0">
                          <a:solidFill>
                            <a:srgbClr val="1D4ED8"/>
                          </a:solidFill>
                          <a:latin typeface="Arial"/>
                          <a:ea typeface="Malgun Gothic"/>
                          <a:cs typeface="Malgun Gothic"/>
                          <a:hlinkClick r:id="rId23"/>
                        </a:rPr>
                        <a:t>Zenodo</a:t>
                      </a:r>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증류 가중을 예측 가치 문턱으로 스스로 내리는 법이 TP-0066의 고정 모방 가중(0.5)을 대신할 후보다. 무작위화 축을 일부러 적게 고른 sim-to-real 설정도 TP-0032에 닿는다(B.16.2)</a:t>
                      </a:r>
                    </a:p>
                  </a:txBody>
                  <a:tcPr marL="63500" marR="63500" marT="12700" marB="12700">
                    <a:solidFill>
                      <a:srgbClr val="FFFDF8"/>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76 / 109</a:t>
            </a:r>
          </a:p>
        </p:txBody>
      </p:sp>
      <p:graphicFrame>
        <p:nvGraphicFramePr>
          <p:cNvPr id="5" name="Table 4"/>
          <p:cNvGraphicFramePr>
            <a:graphicFrameLocks noGrp="1"/>
          </p:cNvGraphicFramePr>
          <p:nvPr/>
        </p:nvGraphicFramePr>
        <p:xfrm>
          <a:off x="609600" y="1244600"/>
          <a:ext cx="10966946" cy="3555602"/>
        </p:xfrm>
        <a:graphic>
          <a:graphicData uri="http://schemas.openxmlformats.org/drawingml/2006/table">
            <a:tbl>
              <a:tblPr firstRow="1" bandRow="1">
                <a:tableStyleId>{5C22544A-7EE6-4342-B048-85BDC9FD1C3A}</a:tableStyleId>
              </a:tblPr>
              <a:tblGrid>
                <a:gridCol w="1915716"/>
                <a:gridCol w="2889250"/>
                <a:gridCol w="2933005"/>
                <a:gridCol w="3228975"/>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680641">
                <a:tc>
                  <a:txBody>
                    <a:bodyPr wrap="square"/>
                    <a:lstStyle/>
                    <a:p>
                      <a:r>
                        <a:rPr sz="800" b="1" i="0">
                          <a:solidFill>
                            <a:srgbClr val="16213A"/>
                          </a:solidFill>
                          <a:latin typeface="Arial"/>
                          <a:ea typeface="Malgun Gothic"/>
                          <a:cs typeface="Malgun Gothic"/>
                        </a:rPr>
                        <a:t>MuJoCo 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Yuval Tassa 등(MJPC·MuJoCo Playground 저자), Google DeepMind</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mujoco</a:t>
                      </a:r>
                      <a:r>
                        <a:rPr sz="800" b="0" i="0">
                          <a:solidFill>
                            <a:srgbClr val="16213A"/>
                          </a:solidFill>
                          <a:latin typeface="Arial"/>
                          <a:ea typeface="Malgun Gothic"/>
                          <a:cs typeface="Malgun Gothic"/>
                        </a:rPr>
                        <a:t> ★15.5k · </a:t>
                      </a:r>
                      <a:r>
                        <a:rPr sz="800" b="0" i="0">
                          <a:solidFill>
                            <a:srgbClr val="1D4ED8"/>
                          </a:solidFill>
                          <a:latin typeface="Arial"/>
                          <a:ea typeface="Malgun Gothic"/>
                          <a:cs typeface="Malgun Gothic"/>
                          <a:hlinkClick r:id="rId4"/>
                        </a:rPr>
                        <a:t>mujoco_mpc</a:t>
                      </a:r>
                      <a:r>
                        <a:rPr sz="800" b="0" i="0">
                          <a:solidFill>
                            <a:srgbClr val="16213A"/>
                          </a:solidFill>
                          <a:latin typeface="Arial"/>
                          <a:ea typeface="Malgun Gothic"/>
                          <a:cs typeface="Malgun Gothic"/>
                        </a:rPr>
                        <a:t> ★1.7k · </a:t>
                      </a:r>
                      <a:r>
                        <a:rPr sz="800" b="0" i="0">
                          <a:solidFill>
                            <a:srgbClr val="1D4ED8"/>
                          </a:solidFill>
                          <a:latin typeface="Arial"/>
                          <a:ea typeface="Malgun Gothic"/>
                          <a:cs typeface="Malgun Gothic"/>
                          <a:hlinkClick r:id="rId5"/>
                        </a:rPr>
                        <a:t>mujoco_playground</a:t>
                      </a:r>
                      <a:r>
                        <a:rPr sz="800" b="0" i="0">
                          <a:solidFill>
                            <a:srgbClr val="16213A"/>
                          </a:solidFill>
                          <a:latin typeface="Arial"/>
                          <a:ea typeface="Malgun Gothic"/>
                          <a:cs typeface="Malgun Gothic"/>
                        </a:rPr>
                        <a:t> ★2.2k · </a:t>
                      </a:r>
                      <a:r>
                        <a:rPr sz="800" b="0" i="0">
                          <a:solidFill>
                            <a:srgbClr val="1D4ED8"/>
                          </a:solidFill>
                          <a:latin typeface="Arial"/>
                          <a:ea typeface="Malgun Gothic"/>
                          <a:cs typeface="Malgun Gothic"/>
                          <a:hlinkClick r:id="rId6"/>
                        </a:rPr>
                        <a:t>mujoco_menagerie</a:t>
                      </a:r>
                      <a:r>
                        <a:rPr sz="800" b="0" i="0">
                          <a:solidFill>
                            <a:srgbClr val="16213A"/>
                          </a:solidFill>
                          <a:latin typeface="Arial"/>
                          <a:ea typeface="Malgun Gothic"/>
                          <a:cs typeface="Malgun Gothic"/>
                        </a:rPr>
                        <a:t> ★4.2k. 모두 Apache-2.0(Menagerie는 모델마다)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Predictive Sampling은 travplan MPPI의 가장 단순한 기준선(최선 표본 하나, λ가 0인 극한)이다. TP-0080의 MJCF plant를 만들면 MJX 병렬 rollout도 열린다. 다만 MJX를 따로 쓰는 것은 MuJoCo Warp를 Newton으로 품는 S.1.3의 Isaac Lab 결정을 다시 여는 일이다(B.16.2)</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Gemini Robotics 팀</a:t>
                      </a:r>
                      <a:r>
                        <a:rPr sz="800" b="0" i="0">
                          <a:solidFill>
                            <a:srgbClr val="16213A"/>
                          </a:solidFill>
                          <a:latin typeface="Arial"/>
                          <a:ea typeface="Malgun Gothic"/>
                          <a:cs typeface="Malgun Gothic"/>
                        </a:rPr>
                        <a:t>과 하드웨어 협력사</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Carolina Parada</a:t>
                      </a:r>
                      <a:r>
                        <a:rPr sz="800" b="0" i="0">
                          <a:solidFill>
                            <a:srgbClr val="16213A"/>
                          </a:solidFill>
                          <a:latin typeface="Arial"/>
                          <a:ea typeface="Malgun Gothic"/>
                          <a:cs typeface="Malgun Gothic"/>
                        </a:rPr>
                        <a:t>(로보틱스 시니어 디렉터), Google DeepMind. 공식 제휴 Apptronik(Apollo), Boston Dynamics(Atlas)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모델 공개 없음(ER 모델은 Gemini API). Menagerie에 </a:t>
                      </a:r>
                      <a:r>
                        <a:rPr sz="800" b="0" i="0">
                          <a:solidFill>
                            <a:srgbClr val="1D4ED8"/>
                          </a:solidFill>
                          <a:latin typeface="Arial"/>
                          <a:ea typeface="Malgun Gothic"/>
                          <a:cs typeface="Malgun Gothic"/>
                          <a:hlinkClick r:id="rId7"/>
                        </a:rPr>
                        <a:t>Apollo MJCF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1.5판이 개발 평가의 90% 넘게를 시뮬레이션에서 돌리고 순위 일치를 확인한 절차가 TP-0043(SRCC)과 같은 질문이다. 2판의 전신 보행은 방법 보고서가 없어 재현 대상이 아니다(B.16.2)</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RAIL</a:t>
                      </a:r>
                      <a:r>
                        <a:rPr sz="800" b="0" i="0">
                          <a:solidFill>
                            <a:srgbClr val="16213A"/>
                          </a:solidFill>
                          <a:latin typeface="Arial"/>
                          <a:ea typeface="Malgun Gothic"/>
                          <a:cs typeface="Malgun Gothic"/>
                        </a:rPr>
                        <a:t>(Robotic AI &amp; Learning Lab), UC Berkeley</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Sergey Levine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softlearning</a:t>
                      </a:r>
                      <a:r>
                        <a:rPr sz="800" b="0" i="0">
                          <a:solidFill>
                            <a:srgbClr val="16213A"/>
                          </a:solidFill>
                          <a:latin typeface="Arial"/>
                          <a:ea typeface="Malgun Gothic"/>
                          <a:cs typeface="Malgun Gothic"/>
                        </a:rPr>
                        <a:t> ★1.4k(MIT) · </a:t>
                      </a:r>
                      <a:r>
                        <a:rPr sz="800" b="0" i="0">
                          <a:solidFill>
                            <a:srgbClr val="1D4ED8"/>
                          </a:solidFill>
                          <a:latin typeface="Arial"/>
                          <a:ea typeface="Malgun Gothic"/>
                          <a:cs typeface="Malgun Gothic"/>
                          <a:hlinkClick r:id="rId9"/>
                        </a:rPr>
                        <a:t>fine-tuning-locomotion</a:t>
                      </a:r>
                      <a:r>
                        <a:rPr sz="800" b="0" i="0">
                          <a:solidFill>
                            <a:srgbClr val="16213A"/>
                          </a:solidFill>
                          <a:latin typeface="Arial"/>
                          <a:ea typeface="Malgun Gothic"/>
                          <a:cs typeface="Malgun Gothic"/>
                        </a:rPr>
                        <a:t> ★162(Apache-2.0)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Google 사족 갈래의 실물 학습 네 편(Haarnoja 2019, Ha 2020, Peng 2020, Smith 2022)을 함께 썼다. SAC 자동 온도와 MPPI 온도의 관계(R.8), 학습 라그랑주 승수(TP-0066), 실물 미세 조정의 버퍼 분리(TP-0068)에 닿는다(B.16.2)</a:t>
                      </a:r>
                    </a:p>
                  </a:txBody>
                  <a:tcPr marL="63500" marR="63500" marT="12700" marB="12700">
                    <a:solidFill>
                      <a:srgbClr val="FFFDF8"/>
                    </a:solidFill>
                  </a:tcPr>
                </a:tc>
              </a:tr>
              <a:tr h="680641">
                <a:tc>
                  <a:txBody>
                    <a:bodyPr wrap="square"/>
                    <a:lstStyle/>
                    <a:p>
                      <a:r>
                        <a:rPr sz="800" b="1" i="0">
                          <a:solidFill>
                            <a:srgbClr val="16213A"/>
                          </a:solidFill>
                          <a:latin typeface="Arial"/>
                          <a:ea typeface="Malgun Gothic"/>
                          <a:cs typeface="Malgun Gothic"/>
                        </a:rPr>
                        <a:t>Flexion</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flexion.ai</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Nikita Rudin</a:t>
                      </a:r>
                      <a:r>
                        <a:rPr sz="800" b="0" i="0">
                          <a:solidFill>
                            <a:srgbClr val="16213A"/>
                          </a:solidFill>
                          <a:latin typeface="Arial"/>
                          <a:ea typeface="Malgun Gothic"/>
                          <a:cs typeface="Malgun Gothic"/>
                        </a:rPr>
                        <a:t>(CEO)·</a:t>
                      </a:r>
                      <a:r>
                        <a:rPr sz="800" b="1" i="0">
                          <a:solidFill>
                            <a:srgbClr val="16213A"/>
                          </a:solidFill>
                          <a:latin typeface="Arial"/>
                          <a:ea typeface="Malgun Gothic"/>
                          <a:cs typeface="Malgun Gothic"/>
                        </a:rPr>
                        <a:t>David Höller</a:t>
                      </a:r>
                      <a:r>
                        <a:rPr sz="800" b="0" i="0">
                          <a:solidFill>
                            <a:srgbClr val="16213A"/>
                          </a:solidFill>
                          <a:latin typeface="Arial"/>
                          <a:ea typeface="Malgun Gothic"/>
                          <a:cs typeface="Malgun Gothic"/>
                        </a:rPr>
                        <a:t>(CTO), 취리히 회사(2024-12 등기). 공동 창업자 다섯에 Nubert·Tischhauser·Hutter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연구 코드는 없다(GitHub </a:t>
                      </a:r>
                      <a:r>
                        <a:rPr sz="800" b="0" i="0">
                          <a:solidFill>
                            <a:srgbClr val="16213A"/>
                          </a:solidFill>
                          <a:latin typeface="Consolas"/>
                          <a:ea typeface="Malgun Gothic"/>
                          <a:cs typeface="Malgun Gothic"/>
                        </a:rPr>
                        <a:t>flexionrobotics</a:t>
                      </a:r>
                      <a:r>
                        <a:rPr sz="800" b="0" i="0">
                          <a:solidFill>
                            <a:srgbClr val="16213A"/>
                          </a:solidFill>
                          <a:latin typeface="Arial"/>
                          <a:ea typeface="Malgun Gothic"/>
                          <a:cs typeface="Malgun Gothic"/>
                        </a:rPr>
                        <a:t>에는 통신 라이브러리 포크 하나, 2026-10-07 확인)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legged_gym·Isaac Lab을 만든 사람들의 휴머노이드 자율 스택이다. 짧은 궤적 생성기 아래에 학습 추종기를 둔 층 분리가 travplan의 Planner D와 Controller 분리와 같고, 선언문의 '무작위화보다 보정'이 스워브 plant 보정(TP-0035)의 방향이다(Planner 문서 B.16.3, 인식 문서 A.8.1)</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Disney Research 로봇 팀</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1"/>
                        </a:rPr>
                        <a:t>la.disneyresearch.com</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Moritz Bächer</a:t>
                      </a:r>
                      <a:r>
                        <a:rPr sz="800" b="0" i="0">
                          <a:solidFill>
                            <a:srgbClr val="16213A"/>
                          </a:solidFill>
                          <a:latin typeface="Arial"/>
                          <a:ea typeface="Malgun Gothic"/>
                          <a:cs typeface="Malgun Gothic"/>
                        </a:rPr>
                        <a:t>(Associate Lab Director), Disney Research Imagineering(취리히·미국)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BDX·Olaf의 공식 학습 코드는 찾지 못했다. Kamino 솔버는 </a:t>
                      </a:r>
                      <a:r>
                        <a:rPr sz="800" b="0" i="0">
                          <a:solidFill>
                            <a:srgbClr val="1D4ED8"/>
                          </a:solidFill>
                          <a:latin typeface="Arial"/>
                          <a:ea typeface="Malgun Gothic"/>
                          <a:cs typeface="Malgun Gothic"/>
                          <a:hlinkClick r:id="rId12"/>
                        </a:rPr>
                        <a:t>Newton</a:t>
                      </a:r>
                      <a:r>
                        <a:rPr sz="800" b="0" i="0">
                          <a:solidFill>
                            <a:srgbClr val="16213A"/>
                          </a:solidFill>
                          <a:latin typeface="Arial"/>
                          <a:ea typeface="Malgun Gothic"/>
                          <a:cs typeface="Malgun Gothic"/>
                        </a:rPr>
                        <a:t>(Apache-2.0) 안에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캐릭터 로봇을 RL로 걷게 하는 팀이다. 생성기를 추종기에 맞추는 RobotMDM, 한계로 다가가는 속도를 벌하는 Olaf의 CBF형 보상, 시험대에서 잰 액추에이터 식이 Planner D 후학습과 plant 설계의 후보다(Planner 문서 B.16.3)</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CRL</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3"/>
                        </a:rPr>
                        <a:t>crl.ethz.ch</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Stelian Coros</a:t>
                      </a:r>
                      <a:r>
                        <a:rPr sz="800" b="0" i="0">
                          <a:solidFill>
                            <a:srgbClr val="16213A"/>
                          </a:solidFill>
                          <a:latin typeface="Arial"/>
                          <a:ea typeface="Malgun Gothic"/>
                          <a:cs typeface="Malgun Gothic"/>
                        </a:rPr>
                        <a:t>(부교수), ETH 컴퓨터과학과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두 논문(RL + 모델 기반 제어, RAMBO)에 공개 코드 링크가 없다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중 최적 제어로 기준 동작을 그때그때 만들어 RL이 모방한다. Planner D 후학습의 모방 목표를 라운드마다 새 지형에서 교사로 다시 만드는 처방의 근거다(Planner 문서 B.16.3)</a:t>
                      </a:r>
                    </a:p>
                  </a:txBody>
                  <a:tcPr marL="63500" marR="63500" marT="12700" marB="12700">
                    <a:solidFill>
                      <a:srgbClr val="F3F0E8"/>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77 / 109</a:t>
            </a:r>
          </a:p>
        </p:txBody>
      </p:sp>
      <p:graphicFrame>
        <p:nvGraphicFramePr>
          <p:cNvPr id="5" name="Table 4"/>
          <p:cNvGraphicFramePr>
            <a:graphicFrameLocks noGrp="1"/>
          </p:cNvGraphicFramePr>
          <p:nvPr/>
        </p:nvGraphicFramePr>
        <p:xfrm>
          <a:off x="609600" y="1244600"/>
          <a:ext cx="10966946" cy="3555602"/>
        </p:xfrm>
        <a:graphic>
          <a:graphicData uri="http://schemas.openxmlformats.org/drawingml/2006/table">
            <a:tbl>
              <a:tblPr firstRow="1" bandRow="1">
                <a:tableStyleId>{5C22544A-7EE6-4342-B048-85BDC9FD1C3A}</a:tableStyleId>
              </a:tblPr>
              <a:tblGrid>
                <a:gridCol w="1915716"/>
                <a:gridCol w="2889250"/>
                <a:gridCol w="2933005"/>
                <a:gridCol w="3228975"/>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438864">
                <a:tc>
                  <a:txBody>
                    <a:bodyPr wrap="square"/>
                    <a:lstStyle/>
                    <a:p>
                      <a:r>
                        <a:rPr sz="800" b="1" i="0">
                          <a:solidFill>
                            <a:srgbClr val="16213A"/>
                          </a:solidFill>
                          <a:latin typeface="Arial"/>
                          <a:ea typeface="Malgun Gothic"/>
                          <a:cs typeface="Malgun Gothic"/>
                        </a:rPr>
                        <a:t>ASL</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3"/>
                        </a:rPr>
                        <a:t>asl.ethz.ch</a:t>
                      </a:r>
                      <a:r>
                        <a:rPr sz="800" b="0" i="0">
                          <a:solidFill>
                            <a:srgbClr val="16213A"/>
                          </a:solidFill>
                          <a:latin typeface="Arial"/>
                          <a:ea typeface="Malgun Gothic"/>
                          <a:cs typeface="Malgun Gothic"/>
                        </a:rPr>
                        <a:t>)와 </a:t>
                      </a:r>
                      <a:r>
                        <a:rPr sz="800" b="1" i="0">
                          <a:solidFill>
                            <a:srgbClr val="16213A"/>
                          </a:solidFill>
                          <a:latin typeface="Arial"/>
                          <a:ea typeface="Malgun Gothic"/>
                          <a:cs typeface="Malgun Gothic"/>
                        </a:rPr>
                        <a:t>Ascento Robotics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4"/>
                        </a:rPr>
                        <a:t>ascento.ai</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Roland Siegwart</a:t>
                      </a:r>
                      <a:r>
                        <a:rPr sz="800" b="0" i="0">
                          <a:solidFill>
                            <a:srgbClr val="16213A"/>
                          </a:solidFill>
                          <a:latin typeface="Arial"/>
                          <a:ea typeface="Malgun Gothic"/>
                          <a:cs typeface="Malgun Gothic"/>
                        </a:rPr>
                        <a:t>(ASL), Ascento Robotics(CEO Alessandro Morra)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Ascento 관련 공개 코드는 찾지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바퀴로 달리고 다리로 턱을 넘는 다른 해법이고, 지연 무작위화로 실물 떨림을 없앤 계단 RL이 있다. 바퀴·다리 로봇을 야외 경비 서비스로 낸 사례다(Planner 문서 B.16.3)</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LAS(Learning &amp; Adaptive Systems)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5"/>
                        </a:rPr>
                        <a:t>las.inf.ethz.ch</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Andreas Krause</a:t>
                      </a:r>
                      <a:r>
                        <a:rPr sz="800" b="0" i="0">
                          <a:solidFill>
                            <a:srgbClr val="16213A"/>
                          </a:solidFill>
                          <a:latin typeface="Arial"/>
                          <a:ea typeface="Malgun Gothic"/>
                          <a:cs typeface="Malgun Gothic"/>
                        </a:rPr>
                        <a:t>, ETH 컴퓨터과학과. RSL과 함께 ETH AI Center 박사 과정을 지도</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leggedrobotics/rsl_rl_rwm</a:t>
                      </a:r>
                      <a:r>
                        <a:rPr sz="800" b="0" i="0">
                          <a:solidFill>
                            <a:srgbClr val="16213A"/>
                          </a:solidFill>
                          <a:latin typeface="Arial"/>
                          <a:ea typeface="Malgun Gothic"/>
                          <a:cs typeface="Malgun Gothic"/>
                        </a:rPr>
                        <a:t>(BSD-3 형식)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Chenhao Li의 RWM은 예측을 다시 넣는 다스텝 손실로 world model을 학습한다. 학습 동역학 모델을 MPPI rollout에 쓸 때(TP-0126)의 손실 설계 기준이다(Planner 문서 B.16.3)</a:t>
                      </a:r>
                    </a:p>
                  </a:txBody>
                  <a:tcPr marL="63500" marR="63500" marT="12700" marB="12700">
                    <a:solidFill>
                      <a:srgbClr val="F3F0E8"/>
                    </a:solidFill>
                  </a:tcPr>
                </a:tc>
              </a:tr>
              <a:tr h="680641">
                <a:tc>
                  <a:txBody>
                    <a:bodyPr wrap="square"/>
                    <a:lstStyle/>
                    <a:p>
                      <a:r>
                        <a:rPr sz="800" b="1" i="0">
                          <a:solidFill>
                            <a:srgbClr val="16213A"/>
                          </a:solidFill>
                          <a:latin typeface="Arial"/>
                          <a:ea typeface="Malgun Gothic"/>
                          <a:cs typeface="Malgun Gothic"/>
                        </a:rPr>
                        <a:t>RAI Institute</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7"/>
                        </a:rPr>
                        <a:t>rai-inst.com</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Marc Raibert</a:t>
                      </a:r>
                      <a:r>
                        <a:rPr sz="800" b="0" i="0">
                          <a:solidFill>
                            <a:srgbClr val="16213A"/>
                          </a:solidFill>
                          <a:latin typeface="Arial"/>
                          <a:ea typeface="Malgun Gothic"/>
                          <a:cs typeface="Malgun Gothic"/>
                        </a:rPr>
                        <a:t>(창립자·소장), 미국 Cambridge 본부와 Zürich 사무소(책임자 </a:t>
                      </a:r>
                      <a:r>
                        <a:rPr sz="800" b="1" i="0">
                          <a:solidFill>
                            <a:srgbClr val="16213A"/>
                          </a:solidFill>
                          <a:latin typeface="Arial"/>
                          <a:ea typeface="Malgun Gothic"/>
                          <a:cs typeface="Malgun Gothic"/>
                        </a:rPr>
                        <a:t>Marco Hutter</a:t>
                      </a:r>
                      <a:r>
                        <a:rPr sz="800" b="0" i="0">
                          <a:solidFill>
                            <a:srgbClr val="16213A"/>
                          </a:solidFill>
                          <a:latin typeface="Arial"/>
                          <a:ea typeface="Malgun Gothic"/>
                          <a:cs typeface="Malgun Gothic"/>
                        </a:rPr>
                        <a:t>). 2022 Hyundai Motor Group이 Boston Dynamics AI Institute로 세웠고, 2023-12에는 The AI Institute라는 이름을 썼다. 2026-09 SoftBank 인수 합의 보도(CFIUS 심사 중)</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rai-opensource</a:t>
                      </a:r>
                      <a:r>
                        <a:rPr sz="800" b="0" i="0">
                          <a:solidFill>
                            <a:srgbClr val="16213A"/>
                          </a:solidFill>
                          <a:latin typeface="Arial"/>
                          <a:ea typeface="Malgun Gothic"/>
                          <a:cs typeface="Malgun Gothic"/>
                        </a:rPr>
                        <a:t> 52개(옛 </a:t>
                      </a:r>
                      <a:r>
                        <a:rPr sz="800" b="0" i="0">
                          <a:solidFill>
                            <a:srgbClr val="16213A"/>
                          </a:solidFill>
                          <a:latin typeface="Consolas"/>
                          <a:ea typeface="Malgun Gothic"/>
                          <a:cs typeface="Malgun Gothic"/>
                        </a:rPr>
                        <a:t>bdaiinstitute</a:t>
                      </a:r>
                      <a:r>
                        <a:rPr sz="800" b="0" i="0">
                          <a:solidFill>
                            <a:srgbClr val="16213A"/>
                          </a:solidFill>
                          <a:latin typeface="Arial"/>
                          <a:ea typeface="Malgun Gothic"/>
                          <a:cs typeface="Malgun Gothic"/>
                        </a:rPr>
                        <a:t>에서 넘어옴). </a:t>
                      </a:r>
                      <a:r>
                        <a:rPr sz="800" b="0" i="0">
                          <a:solidFill>
                            <a:srgbClr val="16213A"/>
                          </a:solidFill>
                          <a:latin typeface="Consolas"/>
                          <a:ea typeface="Malgun Gothic"/>
                          <a:cs typeface="Malgun Gothic"/>
                        </a:rPr>
                        <a:t>vlfm</a:t>
                      </a:r>
                      <a:r>
                        <a:rPr sz="800" b="0" i="0">
                          <a:solidFill>
                            <a:srgbClr val="16213A"/>
                          </a:solidFill>
                          <a:latin typeface="Arial"/>
                          <a:ea typeface="Malgun Gothic"/>
                          <a:cs typeface="Malgun Gothic"/>
                        </a:rPr>
                        <a:t> ★816 · </a:t>
                      </a:r>
                      <a:r>
                        <a:rPr sz="800" b="0" i="0">
                          <a:solidFill>
                            <a:srgbClr val="16213A"/>
                          </a:solidFill>
                          <a:latin typeface="Consolas"/>
                          <a:ea typeface="Malgun Gothic"/>
                          <a:cs typeface="Malgun Gothic"/>
                        </a:rPr>
                        <a:t>judo</a:t>
                      </a:r>
                      <a:r>
                        <a:rPr sz="800" b="0" i="0">
                          <a:solidFill>
                            <a:srgbClr val="16213A"/>
                          </a:solidFill>
                          <a:latin typeface="Arial"/>
                          <a:ea typeface="Malgun Gothic"/>
                          <a:cs typeface="Malgun Gothic"/>
                        </a:rPr>
                        <a:t> ★310 · </a:t>
                      </a:r>
                      <a:r>
                        <a:rPr sz="800" b="0" i="0">
                          <a:solidFill>
                            <a:srgbClr val="16213A"/>
                          </a:solidFill>
                          <a:latin typeface="Consolas"/>
                          <a:ea typeface="Malgun Gothic"/>
                          <a:cs typeface="Malgun Gothic"/>
                        </a:rPr>
                        <a:t>sumo</a:t>
                      </a:r>
                      <a:r>
                        <a:rPr sz="800" b="0" i="0">
                          <a:solidFill>
                            <a:srgbClr val="16213A"/>
                          </a:solidFill>
                          <a:latin typeface="Arial"/>
                          <a:ea typeface="Malgun Gothic"/>
                          <a:cs typeface="Malgun Gothic"/>
                        </a:rPr>
                        <a:t> ★127(셋 다 MIT) · </a:t>
                      </a:r>
                      <a:r>
                        <a:rPr sz="800" b="0" i="0">
                          <a:solidFill>
                            <a:srgbClr val="16213A"/>
                          </a:solidFill>
                          <a:latin typeface="Consolas"/>
                          <a:ea typeface="Malgun Gothic"/>
                          <a:cs typeface="Malgun Gothic"/>
                        </a:rPr>
                        <a:t>relic</a:t>
                      </a:r>
                      <a:r>
                        <a:rPr sz="800" b="0" i="0">
                          <a:solidFill>
                            <a:srgbClr val="16213A"/>
                          </a:solidFill>
                          <a:latin typeface="Arial"/>
                          <a:ea typeface="Malgun Gothic"/>
                          <a:cs typeface="Malgun Gothic"/>
                        </a:rPr>
                        <a:t> ★81(RAI Institute Research License, 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Sumo가 학습한 하위 정책을 샘플링 MPC rollout에 그대로 넣은 끝점이라, 예측 모델 계층(TP-0124)에서 1차 지연 근사와 실제 하위 루프의 차이를 잴 기준이 된다. judo는 MuJoCo plant(MPC 문서 M.2)로 넘어갈 때의 실험 틀이고, EVORA(MIT ACL 공동)는 미끄럼 분포를 rollout에 넣는 선행 연구다(Planner 문서 B.16.4)</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Boston Dynamics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9"/>
                        </a:rPr>
                        <a:t>bostondynamics.com</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회사(Spot, Atlas). 2025-02부터 RAI Institute와 Atlas RL을 함께 개발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boston-dynamics</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spot-rl-example</a:t>
                      </a:r>
                      <a:r>
                        <a:rPr sz="800" b="0" i="0">
                          <a:solidFill>
                            <a:srgbClr val="16213A"/>
                          </a:solidFill>
                          <a:latin typeface="Arial"/>
                          <a:ea typeface="Malgun Gothic"/>
                          <a:cs typeface="Malgun Gothic"/>
                        </a:rPr>
                        <a:t> ★37(MIT, RL Researcher Kit 배포 예제, AI Institute가 처음 작성) · </a:t>
                      </a:r>
                      <a:r>
                        <a:rPr sz="800" b="0" i="0">
                          <a:solidFill>
                            <a:srgbClr val="16213A"/>
                          </a:solidFill>
                          <a:latin typeface="Consolas"/>
                          <a:ea typeface="Malgun Gothic"/>
                          <a:cs typeface="Malgun Gothic"/>
                        </a:rPr>
                        <a:t>spot-sdk</a:t>
                      </a:r>
                      <a:r>
                        <a:rPr sz="800" b="0" i="0">
                          <a:solidFill>
                            <a:srgbClr val="16213A"/>
                          </a:solidFill>
                          <a:latin typeface="Arial"/>
                          <a:ea typeface="Malgun Gothic"/>
                          <a:cs typeface="Malgun Gothic"/>
                        </a:rPr>
                        <a:t> ★2.5k(Boston Dynamics SDK 라이선스)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Spot 4.0의 RL 보행은 'MPC 후보 여럿 + 점수 선택'을 학습 정책으로 바꿔 출하한 사례이고, '새 장면은 낫고 기존 수백 장면은 그대로'라는 출하 검증이 travplan의 짝 비교 판정과 같은 생각이다. ZEST는 같은 기준 동작에서 전신 MPC와 RL을 맞댔다(Planner 문서 B.16.4)</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Robotic Exploration Lab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1"/>
                        </a:rPr>
                        <a:t>roboticexplorationlab.org</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Zachary Manchester</a:t>
                      </a:r>
                      <a:r>
                        <a:rPr sz="800" b="0" i="0">
                          <a:solidFill>
                            <a:srgbClr val="16213A"/>
                          </a:solidFill>
                          <a:latin typeface="Arial"/>
                          <a:ea typeface="Malgun Gothic"/>
                          <a:cs typeface="Malgun Gothic"/>
                        </a:rPr>
                        <a:t>. 2025년 이후 논문 소속은 MIT 항공우주공학과(이전 CMU RI)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랩 조직 </a:t>
                      </a:r>
                      <a:r>
                        <a:rPr sz="800" b="0" i="0">
                          <a:solidFill>
                            <a:srgbClr val="1D4ED8"/>
                          </a:solidFill>
                          <a:latin typeface="Arial"/>
                          <a:ea typeface="Malgun Gothic"/>
                          <a:cs typeface="Malgun Gothic"/>
                          <a:hlinkClick r:id="rId12"/>
                        </a:rPr>
                        <a:t>RoboticExplorationLab</a:t>
                      </a:r>
                      <a:r>
                        <a:rPr sz="800" b="0" i="0">
                          <a:solidFill>
                            <a:srgbClr val="16213A"/>
                          </a:solidFill>
                          <a:latin typeface="Arial"/>
                          <a:ea typeface="Malgun Gothic"/>
                          <a:cs typeface="Malgun Gothic"/>
                        </a:rPr>
                        <a:t> 109개. 관련 코드는 개인 계정 </a:t>
                      </a:r>
                      <a:r>
                        <a:rPr sz="800" b="0" i="0">
                          <a:solidFill>
                            <a:srgbClr val="16213A"/>
                          </a:solidFill>
                          <a:latin typeface="Consolas"/>
                          <a:ea typeface="Malgun Gothic"/>
                          <a:cs typeface="Malgun Gothic"/>
                        </a:rPr>
                        <a:t>jrapudg/RTWholeBodyMPPI</a:t>
                      </a:r>
                      <a:r>
                        <a:rPr sz="800" b="0" i="0">
                          <a:solidFill>
                            <a:srgbClr val="16213A"/>
                          </a:solidFill>
                          <a:latin typeface="Arial"/>
                          <a:ea typeface="Malgun Gothic"/>
                          <a:cs typeface="Malgun Gothic"/>
                        </a:rPr>
                        <a:t> ★191 · </a:t>
                      </a:r>
                      <a:r>
                        <a:rPr sz="800" b="0" i="0">
                          <a:solidFill>
                            <a:srgbClr val="16213A"/>
                          </a:solidFill>
                          <a:latin typeface="Consolas"/>
                          <a:ea typeface="Malgun Gothic"/>
                          <a:cs typeface="Malgun Gothic"/>
                        </a:rPr>
                        <a:t>johnzhang3/mujoco_mpc_deploy</a:t>
                      </a:r>
                      <a:r>
                        <a:rPr sz="800" b="0" i="0">
                          <a:solidFill>
                            <a:srgbClr val="16213A"/>
                          </a:solidFill>
                          <a:latin typeface="Arial"/>
                          <a:ea typeface="Malgun Gothic"/>
                          <a:cs typeface="Malgun Gothic"/>
                        </a:rPr>
                        <a:t> ★153(둘 다 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MuJoCo로 굴리는 관절 수준 전신 MPPI와 iLQR를 실물 다리 로봇에 올린 계열이고, 1저자 John Z. Zhang이 RAI와 Sumo로 이어 갔다. travplan의 MuJoCo plant(MPC 문서 M.2)와 NMPC 갈래에 같은 도구가 맞는다(Planner 문서 B.16.4)</a:t>
                      </a:r>
                    </a:p>
                  </a:txBody>
                  <a:tcPr marL="63500" marR="63500" marT="12700" marB="12700">
                    <a:solidFill>
                      <a:srgbClr val="FFFDF8"/>
                    </a:solidFill>
                  </a:tcPr>
                </a:tc>
              </a:tr>
              <a:tr h="680641">
                <a:tc>
                  <a:txBody>
                    <a:bodyPr wrap="square"/>
                    <a:lstStyle/>
                    <a:p>
                      <a:r>
                        <a:rPr sz="800" b="1" i="0">
                          <a:solidFill>
                            <a:srgbClr val="16213A"/>
                          </a:solidFill>
                          <a:latin typeface="Arial"/>
                          <a:ea typeface="Malgun Gothic"/>
                          <a:cs typeface="Malgun Gothic"/>
                        </a:rPr>
                        <a:t>Malik·Pathak 그룹</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Jitendra Malik</a:t>
                      </a:r>
                      <a:r>
                        <a:rPr sz="800" b="0" i="0">
                          <a:solidFill>
                            <a:srgbClr val="16213A"/>
                          </a:solidFill>
                          <a:latin typeface="Arial"/>
                          <a:ea typeface="Malgun Gothic"/>
                          <a:cs typeface="Malgun Gothic"/>
                        </a:rPr>
                        <a:t>(UC Berkeley EECS 교수), </a:t>
                      </a:r>
                      <a:r>
                        <a:rPr sz="800" b="1" i="0">
                          <a:solidFill>
                            <a:srgbClr val="16213A"/>
                          </a:solidFill>
                          <a:latin typeface="Arial"/>
                          <a:ea typeface="Malgun Gothic"/>
                          <a:cs typeface="Malgun Gothic"/>
                        </a:rPr>
                        <a:t>Deepak Pathak</a:t>
                      </a:r>
                      <a:r>
                        <a:rPr sz="800" b="0" i="0">
                          <a:solidFill>
                            <a:srgbClr val="16213A"/>
                          </a:solidFill>
                          <a:latin typeface="Arial"/>
                          <a:ea typeface="Malgun Gothic"/>
                          <a:cs typeface="Malgun Gothic"/>
                        </a:rPr>
                        <a:t>(CMU Robotics Institute 부교수, Skild AI 공동 창업자·CEO)</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MarkFzp/navigation-locomotion</a:t>
                      </a:r>
                      <a:r>
                        <a:rPr sz="800" b="0" i="0">
                          <a:solidFill>
                            <a:srgbClr val="16213A"/>
                          </a:solidFill>
                          <a:latin typeface="Arial"/>
                          <a:ea typeface="Malgun Gothic"/>
                          <a:cs typeface="Malgun Gothic"/>
                        </a:rPr>
                        <a:t>(VP-Nav Planner, Apache-2.0) · </a:t>
                      </a:r>
                      <a:r>
                        <a:rPr sz="800" b="0" i="0">
                          <a:solidFill>
                            <a:srgbClr val="1D4ED8"/>
                          </a:solidFill>
                          <a:latin typeface="Arial"/>
                          <a:ea typeface="Malgun Gothic"/>
                          <a:cs typeface="Malgun Gothic"/>
                          <a:hlinkClick r:id="rId14"/>
                        </a:rPr>
                        <a:t>antonilo/rl_locomotion</a:t>
                      </a:r>
                      <a:r>
                        <a:rPr sz="800" b="0" i="0">
                          <a:solidFill>
                            <a:srgbClr val="16213A"/>
                          </a:solidFill>
                          <a:latin typeface="Arial"/>
                          <a:ea typeface="Malgun Gothic"/>
                          <a:cs typeface="Malgun Gothic"/>
                        </a:rPr>
                        <a:t>(RMA 위의 후속 학습 코드, GPL-3.0) · </a:t>
                      </a:r>
                      <a:r>
                        <a:rPr sz="800" b="0" i="0">
                          <a:solidFill>
                            <a:srgbClr val="1D4ED8"/>
                          </a:solidFill>
                          <a:latin typeface="Arial"/>
                          <a:ea typeface="Malgun Gothic"/>
                          <a:cs typeface="Malgun Gothic"/>
                          <a:hlinkClick r:id="rId15"/>
                        </a:rPr>
                        <a:t>chengxuxin/extreme-parkour</a:t>
                      </a:r>
                      <a:r>
                        <a:rPr sz="800" b="0" i="0">
                          <a:solidFill>
                            <a:srgbClr val="16213A"/>
                          </a:solidFill>
                          <a:latin typeface="Arial"/>
                          <a:ea typeface="Malgun Gothic"/>
                          <a:cs typeface="Malgun Gothic"/>
                        </a:rPr>
                        <a:t>(CC BY-NC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RMA는 rollout 매개변수(plant 지연, 미끄럼, 화물)를 이력에서 추정하는 틀이고, VP-Nav는 비용 지도 Planner + 학습 보행 + proprioception 되먹임으로 travplan의 Planner·Controller 분리에 가장 가깝다. 지도 없는 깊이 정책은 TravMap 쪽 선택의 대조군이다(Planner 문서 B.16.5, Controller 문서 F.6.2)</a:t>
                      </a:r>
                    </a:p>
                  </a:txBody>
                  <a:tcPr marL="63500" marR="63500" marT="12700" marB="12700">
                    <a:solidFill>
                      <a:srgbClr val="F3F0E8"/>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78 / 109</a:t>
            </a:r>
          </a:p>
        </p:txBody>
      </p:sp>
      <p:graphicFrame>
        <p:nvGraphicFramePr>
          <p:cNvPr id="5" name="Table 4"/>
          <p:cNvGraphicFramePr>
            <a:graphicFrameLocks noGrp="1"/>
          </p:cNvGraphicFramePr>
          <p:nvPr/>
        </p:nvGraphicFramePr>
        <p:xfrm>
          <a:off x="609600" y="1244600"/>
          <a:ext cx="10966946" cy="3873577"/>
        </p:xfrm>
        <a:graphic>
          <a:graphicData uri="http://schemas.openxmlformats.org/drawingml/2006/table">
            <a:tbl>
              <a:tblPr firstRow="1" bandRow="1">
                <a:tableStyleId>{5C22544A-7EE6-4342-B048-85BDC9FD1C3A}</a:tableStyleId>
              </a:tblPr>
              <a:tblGrid>
                <a:gridCol w="1915716"/>
                <a:gridCol w="2889250"/>
                <a:gridCol w="2933005"/>
                <a:gridCol w="3228975"/>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559752">
                <a:tc>
                  <a:txBody>
                    <a:bodyPr wrap="square"/>
                    <a:lstStyle/>
                    <a:p>
                      <a:r>
                        <a:rPr sz="800" b="1" i="0">
                          <a:solidFill>
                            <a:srgbClr val="16213A"/>
                          </a:solidFill>
                          <a:latin typeface="Arial"/>
                          <a:ea typeface="Malgun Gothic"/>
                          <a:cs typeface="Malgun Gothic"/>
                        </a:rPr>
                        <a:t>Improbable AI Lab</a:t>
                      </a:r>
                      <a:r>
                        <a:rPr sz="800" b="0" i="0">
                          <a:solidFill>
                            <a:srgbClr val="16213A"/>
                          </a:solidFill>
                          <a:latin typeface="Arial"/>
                          <a:ea typeface="Malgun Gothic"/>
                          <a:cs typeface="Malgun Gothic"/>
                        </a:rPr>
                        <a:t>, MIT CSAIL</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Pulkit Agrawal</a:t>
                      </a:r>
                      <a:r>
                        <a:rPr sz="800" b="0" i="0">
                          <a:solidFill>
                            <a:srgbClr val="16213A"/>
                          </a:solidFill>
                          <a:latin typeface="Arial"/>
                          <a:ea typeface="Malgun Gothic"/>
                          <a:cs typeface="Malgun Gothic"/>
                        </a:rPr>
                        <a:t>(MIT EECS 부교수, Eka Robotics 공동 창업자)</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Improbable-AI</a:t>
                      </a:r>
                      <a:r>
                        <a:rPr sz="800" b="0" i="0">
                          <a:solidFill>
                            <a:srgbClr val="16213A"/>
                          </a:solidFill>
                          <a:latin typeface="Arial"/>
                          <a:ea typeface="Malgun Gothic"/>
                          <a:cs typeface="Malgun Gothic"/>
                        </a:rPr>
                        <a:t> rapid-locomotion-rl · walk-these-ways(★1.5k) · dribblebot, 모두 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명령 격자 커리큘럼은 지형 레벨 표집의 대안이고(Controller 문서 F.6.1), ASMP의 자기지도 마찰 라벨은 TravNet 라벨(TP-0010)과 같은 발상이다. Walk These Ways는 Go2 이식본이 실물에 올라가 있다(F.6.1). Planner 문서 B.16.5</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Biomimetic Robotics Lab</a:t>
                      </a:r>
                      <a:r>
                        <a:rPr sz="800" b="0" i="0">
                          <a:solidFill>
                            <a:srgbClr val="16213A"/>
                          </a:solidFill>
                          <a:latin typeface="Arial"/>
                          <a:ea typeface="Malgun Gothic"/>
                          <a:cs typeface="Malgun Gothic"/>
                        </a:rPr>
                        <a:t>, MIT 기계공학과</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김상배(Sangbae Kim)</a:t>
                      </a:r>
                      <a:r>
                        <a:rPr sz="800" b="0" i="0">
                          <a:solidFill>
                            <a:srgbClr val="16213A"/>
                          </a:solidFill>
                          <a:latin typeface="Arial"/>
                          <a:ea typeface="Malgun Gothic"/>
                          <a:cs typeface="Malgun Gothic"/>
                        </a:rPr>
                        <a:t>, 교수(학과 페이지는 휴직 중으로 표시, 2026-10-07)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mit-biomimetics/Cheetah-Software</a:t>
                      </a:r>
                      <a:r>
                        <a:rPr sz="800" b="0" i="0">
                          <a:solidFill>
                            <a:srgbClr val="16213A"/>
                          </a:solidFill>
                          <a:latin typeface="Arial"/>
                          <a:ea typeface="Malgun Gothic"/>
                          <a:cs typeface="Malgun Gothic"/>
                        </a:rPr>
                        <a:t>(MIT, ★3.3k, convexMPC·WBC 포함, 2023-10 이후 갱신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Mini Cheetah와 볼록 MPC는 이 계열 학습 연구(Rapid Locomotion, Ji 2022, Fu 2021)의 실물·모델 기반 기준이다. 모델 기반 갈래라 travplan NMPC Controller와 같은 쪽에 선다(Planner 문서 B.16.5)</a:t>
                      </a:r>
                    </a:p>
                  </a:txBody>
                  <a:tcPr marL="63500" marR="63500" marT="12700" marB="12700">
                    <a:solidFill>
                      <a:srgbClr val="F3F0E8"/>
                    </a:solidFill>
                  </a:tcPr>
                </a:tc>
              </a:tr>
              <a:tr h="801529">
                <a:tc>
                  <a:txBody>
                    <a:bodyPr wrap="square"/>
                    <a:lstStyle/>
                    <a:p>
                      <a:r>
                        <a:rPr sz="800" b="1" i="0">
                          <a:solidFill>
                            <a:srgbClr val="16213A"/>
                          </a:solidFill>
                          <a:latin typeface="Arial"/>
                          <a:ea typeface="Malgun Gothic"/>
                          <a:cs typeface="Malgun Gothic"/>
                        </a:rPr>
                        <a:t>LeCAR Lab</a:t>
                      </a:r>
                      <a:r>
                        <a:rPr sz="800" b="0" i="0">
                          <a:solidFill>
                            <a:srgbClr val="16213A"/>
                          </a:solidFill>
                          <a:latin typeface="Arial"/>
                          <a:ea typeface="Malgun Gothic"/>
                          <a:cs typeface="Malgun Gothic"/>
                        </a:rPr>
                        <a:t>, CMU Robotics Institute</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Guanya Shi</a:t>
                      </a:r>
                      <a:r>
                        <a:rPr sz="800" b="0" i="0">
                          <a:solidFill>
                            <a:srgbClr val="16213A"/>
                          </a:solidFill>
                          <a:latin typeface="Arial"/>
                          <a:ea typeface="Malgun Gothic"/>
                          <a:cs typeface="Malgun Gothic"/>
                        </a:rPr>
                        <a:t>(조교수, Amazon FAR 팀 Amazon Scholar)</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LeCAR-Lab/ABS</a:t>
                      </a:r>
                      <a:r>
                        <a:rPr sz="800" b="0" i="0">
                          <a:solidFill>
                            <a:srgbClr val="16213A"/>
                          </a:solidFill>
                          <a:latin typeface="Arial"/>
                          <a:ea typeface="Malgun Gothic"/>
                          <a:cs typeface="Malgun Gothic"/>
                        </a:rPr>
                        <a:t>(CC BY-NC 4.0, ★0.6k) · </a:t>
                      </a:r>
                      <a:r>
                        <a:rPr sz="800" b="0" i="0">
                          <a:solidFill>
                            <a:srgbClr val="1D4ED8"/>
                          </a:solidFill>
                          <a:latin typeface="Arial"/>
                          <a:ea typeface="Malgun Gothic"/>
                          <a:cs typeface="Malgun Gothic"/>
                          <a:hlinkClick r:id="rId6"/>
                        </a:rPr>
                        <a:t>LeCAR-Lab/ASAP</a:t>
                      </a:r>
                      <a:r>
                        <a:rPr sz="800" b="0" i="0">
                          <a:solidFill>
                            <a:srgbClr val="16213A"/>
                          </a:solidFill>
                          <a:latin typeface="Arial"/>
                          <a:ea typeface="Malgun Gothic"/>
                          <a:cs typeface="Malgun Gothic"/>
                        </a:rPr>
                        <a:t>(MIT, ★2.1k) · </a:t>
                      </a:r>
                      <a:r>
                        <a:rPr sz="800" b="0" i="0">
                          <a:solidFill>
                            <a:srgbClr val="1D4ED8"/>
                          </a:solidFill>
                          <a:latin typeface="Arial"/>
                          <a:ea typeface="Malgun Gothic"/>
                          <a:cs typeface="Malgun Gothic"/>
                          <a:hlinkClick r:id="rId7"/>
                        </a:rPr>
                        <a:t>HumanoidVerse</a:t>
                      </a:r>
                      <a:r>
                        <a:rPr sz="800" b="0" i="0">
                          <a:solidFill>
                            <a:srgbClr val="16213A"/>
                          </a:solidFill>
                          <a:latin typeface="Arial"/>
                          <a:ea typeface="Malgun Gothic"/>
                          <a:cs typeface="Malgun Gothic"/>
                        </a:rPr>
                        <a:t>(MIT) · </a:t>
                      </a:r>
                      <a:r>
                        <a:rPr sz="800" b="0" i="0">
                          <a:solidFill>
                            <a:srgbClr val="1D4ED8"/>
                          </a:solidFill>
                          <a:latin typeface="Arial"/>
                          <a:ea typeface="Malgun Gothic"/>
                          <a:cs typeface="Malgun Gothic"/>
                          <a:hlinkClick r:id="rId8"/>
                        </a:rPr>
                        <a:t>human2humanoid</a:t>
                      </a:r>
                      <a:r>
                        <a:rPr sz="800" b="0" i="0">
                          <a:solidFill>
                            <a:srgbClr val="16213A"/>
                          </a:solidFill>
                          <a:latin typeface="Arial"/>
                          <a:ea typeface="Malgun Gothic"/>
                          <a:cs typeface="Malgun Gothic"/>
                        </a:rPr>
                        <a:t>(CC BY-NC 4.0, 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ABS는 정책 조건 도달-회피 가치로 빠른 정책을 감시하는 학습 폴백 기준이다(TP-0078의 학습판, Planner 문서 B.9·B.16.5). ASAP의 행동 보정 대 상태 잔차 비교와 개루프 재생 지표는 Controller 모델 계층(TP-0124)의 학습 층과 같은 질문이고, H2O·OmniH2O는 시연을 실행 가능성으로 거르는 절차를 보여 준다(B.16.6). 같은 1저자(Tairan He)가 HOVER(B.16.1)로도 이어 갔다</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Unitree Robotics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왕싱싱(Wang Xingxing)</a:t>
                      </a:r>
                      <a:r>
                        <a:rPr sz="800" b="0" i="0">
                          <a:solidFill>
                            <a:srgbClr val="16213A"/>
                          </a:solidFill>
                          <a:latin typeface="Arial"/>
                          <a:ea typeface="Malgun Gothic"/>
                          <a:cs typeface="Malgun Gothic"/>
                        </a:rPr>
                        <a:t>, 창업자·CEO</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unitree_rl_gym</a:t>
                      </a:r>
                      <a:r>
                        <a:rPr sz="800" b="0" i="0">
                          <a:solidFill>
                            <a:srgbClr val="16213A"/>
                          </a:solidFill>
                          <a:latin typeface="Arial"/>
                          <a:ea typeface="Malgun Gothic"/>
                          <a:cs typeface="Malgun Gothic"/>
                        </a:rPr>
                        <a:t>(BSD-3, ★3.6k) · </a:t>
                      </a:r>
                      <a:r>
                        <a:rPr sz="800" b="0" i="0">
                          <a:solidFill>
                            <a:srgbClr val="1D4ED8"/>
                          </a:solidFill>
                          <a:latin typeface="Arial"/>
                          <a:ea typeface="Malgun Gothic"/>
                          <a:cs typeface="Malgun Gothic"/>
                          <a:hlinkClick r:id="rId10"/>
                        </a:rPr>
                        <a:t>unitree_rl_lab</a:t>
                      </a:r>
                      <a:r>
                        <a:rPr sz="800" b="0" i="0">
                          <a:solidFill>
                            <a:srgbClr val="16213A"/>
                          </a:solidFill>
                          <a:latin typeface="Arial"/>
                          <a:ea typeface="Malgun Gothic"/>
                          <a:cs typeface="Malgun Gothic"/>
                        </a:rPr>
                        <a:t>(Apache-2.0, ★1.4k) · </a:t>
                      </a:r>
                      <a:r>
                        <a:rPr sz="800" b="0" i="0">
                          <a:solidFill>
                            <a:srgbClr val="1D4ED8"/>
                          </a:solidFill>
                          <a:latin typeface="Arial"/>
                          <a:ea typeface="Malgun Gothic"/>
                          <a:cs typeface="Malgun Gothic"/>
                          <a:hlinkClick r:id="rId11"/>
                        </a:rPr>
                        <a:t>unitree_sdk2</a:t>
                      </a:r>
                      <a:r>
                        <a:rPr sz="800" b="0" i="0">
                          <a:solidFill>
                            <a:srgbClr val="16213A"/>
                          </a:solidFill>
                          <a:latin typeface="Arial"/>
                          <a:ea typeface="Malgun Gothic"/>
                          <a:cs typeface="Malgun Gothic"/>
                        </a:rPr>
                        <a:t>(BSD-3) · </a:t>
                      </a:r>
                      <a:r>
                        <a:rPr sz="800" b="0" i="0">
                          <a:solidFill>
                            <a:srgbClr val="1D4ED8"/>
                          </a:solidFill>
                          <a:latin typeface="Arial"/>
                          <a:ea typeface="Malgun Gothic"/>
                          <a:cs typeface="Malgun Gothic"/>
                          <a:hlinkClick r:id="rId12"/>
                        </a:rPr>
                        <a:t>unitree_mujoco</a:t>
                      </a:r>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Go2(1,600달러부터)와 Go2-W는 값이 낮은 실물 대조군 후보이고, unitree_rl_lab에 Go2·Go2-W 배포 코드가 있다. Playground 사족·바퀴 사족 프로필이 본뜬 로봇이다(Planner 문서 B.16.5). G1·H1은 B.16.6 휴머노이드 연구 대부분의 실험 로봇이다</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Berkeley AI Research(BAIR) 휴머노이드 라인</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Jitendra Malik</a:t>
                      </a:r>
                      <a:r>
                        <a:rPr sz="800" b="0" i="0">
                          <a:solidFill>
                            <a:srgbClr val="16213A"/>
                          </a:solidFill>
                          <a:latin typeface="Arial"/>
                          <a:ea typeface="Malgun Gothic"/>
                          <a:cs typeface="Malgun Gothic"/>
                        </a:rPr>
                        <a:t>·</a:t>
                      </a:r>
                      <a:r>
                        <a:rPr sz="800" b="1" i="0">
                          <a:solidFill>
                            <a:srgbClr val="16213A"/>
                          </a:solidFill>
                          <a:latin typeface="Arial"/>
                          <a:ea typeface="Malgun Gothic"/>
                          <a:cs typeface="Malgun Gothic"/>
                        </a:rPr>
                        <a:t>Trevor Darrell</a:t>
                      </a:r>
                      <a:r>
                        <a:rPr sz="800" b="0" i="0">
                          <a:solidFill>
                            <a:srgbClr val="16213A"/>
                          </a:solidFill>
                          <a:latin typeface="Arial"/>
                          <a:ea typeface="Malgun Gothic"/>
                          <a:cs typeface="Malgun Gothic"/>
                        </a:rPr>
                        <a:t>(HT·NTP·HT-2), VideoMimic은 </a:t>
                      </a:r>
                      <a:r>
                        <a:rPr sz="800" b="1" i="0">
                          <a:solidFill>
                            <a:srgbClr val="16213A"/>
                          </a:solidFill>
                          <a:latin typeface="Arial"/>
                          <a:ea typeface="Malgun Gothic"/>
                          <a:cs typeface="Malgun Gothic"/>
                        </a:rPr>
                        <a:t>Angjoo Kanazawa</a:t>
                      </a:r>
                      <a:r>
                        <a:rPr sz="800" b="0" i="0">
                          <a:solidFill>
                            <a:srgbClr val="16213A"/>
                          </a:solidFill>
                          <a:latin typeface="Arial"/>
                          <a:ea typeface="Malgun Gothic"/>
                          <a:cs typeface="Malgun Gothic"/>
                        </a:rPr>
                        <a:t>·Pieter Abbeel과 함께, UC Berkeley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HT·NTP·HT-2는 공개 코드 없음(2026-10-07 확인). VideoMimic </a:t>
                      </a:r>
                      <a:r>
                        <a:rPr sz="800" b="0" i="0">
                          <a:solidFill>
                            <a:srgbClr val="1D4ED8"/>
                          </a:solidFill>
                          <a:latin typeface="Arial"/>
                          <a:ea typeface="Malgun Gothic"/>
                          <a:cs typeface="Malgun Gothic"/>
                          <a:hlinkClick r:id="rId13"/>
                        </a:rPr>
                        <a:t>hongsukchoi/VideoMimic</a:t>
                      </a:r>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HT-2의 '평지 시연 사전학습 뒤 험지 RL 미세조정'이 Planner D + RL 후학습(TP-0066)과 같은 구조다. VideoMimic은 높이 지도와 목표 방향만 보는 G1 정책으로, TravMap을 보는 하위 정책의 가장 가까운 휴머노이드 예다(Planner 문서 B.16.6)</a:t>
                      </a:r>
                    </a:p>
                  </a:txBody>
                  <a:tcPr marL="63500" marR="63500" marT="12700" marB="12700">
                    <a:solidFill>
                      <a:srgbClr val="FFFDF8"/>
                    </a:solidFill>
                  </a:tcPr>
                </a:tc>
              </a:tr>
              <a:tr h="438864">
                <a:tc>
                  <a:txBody>
                    <a:bodyPr wrap="square"/>
                    <a:lstStyle/>
                    <a:p>
                      <a:r>
                        <a:rPr sz="800" b="1" i="0">
                          <a:solidFill>
                            <a:srgbClr val="16213A"/>
                          </a:solidFill>
                          <a:latin typeface="Arial"/>
                          <a:ea typeface="Malgun Gothic"/>
                          <a:cs typeface="Malgun Gothic"/>
                        </a:rPr>
                        <a:t>Stanford HumanPlus 팀</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Chelsea Finn</a:t>
                      </a:r>
                      <a:r>
                        <a:rPr sz="800" b="0" i="0">
                          <a:solidFill>
                            <a:srgbClr val="16213A"/>
                          </a:solidFill>
                          <a:latin typeface="Arial"/>
                          <a:ea typeface="Malgun Gothic"/>
                          <a:cs typeface="Malgun Gothic"/>
                        </a:rPr>
                        <a:t>·</a:t>
                      </a:r>
                      <a:r>
                        <a:rPr sz="800" b="1" i="0">
                          <a:solidFill>
                            <a:srgbClr val="16213A"/>
                          </a:solidFill>
                          <a:latin typeface="Arial"/>
                          <a:ea typeface="Malgun Gothic"/>
                          <a:cs typeface="Malgun Gothic"/>
                        </a:rPr>
                        <a:t>Gordon Wetzstein</a:t>
                      </a:r>
                      <a:r>
                        <a:rPr sz="800" b="0" i="0">
                          <a:solidFill>
                            <a:srgbClr val="16213A"/>
                          </a:solidFill>
                          <a:latin typeface="Arial"/>
                          <a:ea typeface="Malgun Gothic"/>
                          <a:cs typeface="Malgun Gothic"/>
                        </a:rPr>
                        <a:t>, Stanford</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MarkFzp/humanplus</a:t>
                      </a:r>
                      <a:r>
                        <a:rPr sz="800" b="0" i="0">
                          <a:solidFill>
                            <a:srgbClr val="16213A"/>
                          </a:solidFill>
                          <a:latin typeface="Arial"/>
                          <a:ea typeface="Malgun Gothic"/>
                          <a:cs typeface="Malgun Gothic"/>
                        </a:rPr>
                        <a:t>(라이선스 표기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느린 상위 정책이 목표 덩어리를 내고 빠른 하위 정책이 따르는 분리가 Planner D와 Controller의 관계와 같다. 저자들은 긴 거리 내비게이션에는 시연이 훨씬 많이 든다고 적는다(B.16.6)</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MARS Lab</a:t>
                      </a:r>
                      <a:r>
                        <a:rPr sz="800" b="0" i="0">
                          <a:solidFill>
                            <a:srgbClr val="16213A"/>
                          </a:solidFill>
                          <a:latin typeface="Arial"/>
                          <a:ea typeface="Malgun Gothic"/>
                          <a:cs typeface="Malgun Gothic"/>
                        </a:rPr>
                        <a:t>, 칭화대 교차정보연구원(IIIS) + Shanghai Qi Zhi Institute</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Hang Zhao</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ZiwenZhuang/parkour</a:t>
                      </a:r>
                      <a:r>
                        <a:rPr sz="800" b="0" i="0">
                          <a:solidFill>
                            <a:srgbClr val="16213A"/>
                          </a:solidFill>
                          <a:latin typeface="Arial"/>
                          <a:ea typeface="Malgun Gothic"/>
                          <a:cs typeface="Malgun Gothic"/>
                        </a:rPr>
                        <a:t>(MIT, 사족 Robot Parkour Learning). Humanoid Parkour는 공개 코드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진행 거리로 지형 난이도를 올리고 내리는 커리큘럼과 깊이 영상 학생 증류(B.16.6, B.12.2). travplan은 지형 레벨을 고르게만 뽑는다</a:t>
                      </a:r>
                    </a:p>
                  </a:txBody>
                  <a:tcPr marL="63500" marR="63500" marT="12700" marB="12700">
                    <a:solidFill>
                      <a:srgbClr val="FFFDF8"/>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D.13 연구 그룹과 사람 — 누구를 따라갈 것인가</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79 / 109</a:t>
            </a:r>
          </a:p>
        </p:txBody>
      </p:sp>
      <p:graphicFrame>
        <p:nvGraphicFramePr>
          <p:cNvPr id="5" name="Table 4"/>
          <p:cNvGraphicFramePr>
            <a:graphicFrameLocks noGrp="1"/>
          </p:cNvGraphicFramePr>
          <p:nvPr/>
        </p:nvGraphicFramePr>
        <p:xfrm>
          <a:off x="609600" y="1244600"/>
          <a:ext cx="10966946" cy="1195704"/>
        </p:xfrm>
        <a:graphic>
          <a:graphicData uri="http://schemas.openxmlformats.org/drawingml/2006/table">
            <a:tbl>
              <a:tblPr firstRow="1" bandRow="1">
                <a:tableStyleId>{5C22544A-7EE6-4342-B048-85BDC9FD1C3A}</a:tableStyleId>
              </a:tblPr>
              <a:tblGrid>
                <a:gridCol w="1915716"/>
                <a:gridCol w="2889250"/>
                <a:gridCol w="2933005"/>
                <a:gridCol w="3228975"/>
              </a:tblGrid>
              <a:tr h="197088">
                <a:tc>
                  <a:txBody>
                    <a:bodyPr wrap="square"/>
                    <a:lstStyle/>
                    <a:p>
                      <a:r>
                        <a:rPr sz="800" b="1" i="0">
                          <a:solidFill>
                            <a:srgbClr val="F4F1EA"/>
                          </a:solidFill>
                          <a:latin typeface="Arial"/>
                          <a:ea typeface="Malgun Gothic"/>
                          <a:cs typeface="Malgun Gothic"/>
                        </a:rPr>
                        <a:t>그룹</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PI·기관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 왜</a:t>
                      </a:r>
                    </a:p>
                  </a:txBody>
                  <a:tcPr marL="63500" marR="63500" marT="12700" marB="12700">
                    <a:solidFill>
                      <a:srgbClr val="16213A"/>
                    </a:solidFill>
                  </a:tcPr>
                </a:tc>
              </a:tr>
              <a:tr h="438864">
                <a:tc>
                  <a:txBody>
                    <a:bodyPr wrap="square"/>
                    <a:lstStyle/>
                    <a:p>
                      <a:r>
                        <a:rPr sz="800" b="1" i="0">
                          <a:solidFill>
                            <a:srgbClr val="16213A"/>
                          </a:solidFill>
                          <a:latin typeface="Arial"/>
                          <a:ea typeface="Malgun Gothic"/>
                          <a:cs typeface="Malgun Gothic"/>
                        </a:rPr>
                        <a:t>Xiaolong Wang 그룹</a:t>
                      </a:r>
                      <a:r>
                        <a:rPr sz="800" b="0" i="0">
                          <a:solidFill>
                            <a:srgbClr val="16213A"/>
                          </a:solidFill>
                          <a:latin typeface="Arial"/>
                          <a:ea typeface="Malgun Gothic"/>
                          <a:cs typeface="Malgun Gothic"/>
                        </a:rPr>
                        <a:t>, UCSD</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Xiaolong Wang</a:t>
                      </a:r>
                      <a:r>
                        <a:rPr sz="800" b="0" i="0">
                          <a:solidFill>
                            <a:srgbClr val="16213A"/>
                          </a:solidFill>
                          <a:latin typeface="Arial"/>
                          <a:ea typeface="Malgun Gothic"/>
                          <a:cs typeface="Malgun Gothic"/>
                        </a:rPr>
                        <a:t>(지금 Meta Superintelligence Labs 연구 디렉터 겸 UCSD 부교수)</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expressive-humanoid</a:t>
                      </a:r>
                      <a:r>
                        <a:rPr sz="800" b="0" i="0">
                          <a:solidFill>
                            <a:srgbClr val="16213A"/>
                          </a:solidFill>
                          <a:latin typeface="Arial"/>
                          <a:ea typeface="Malgun Gothic"/>
                          <a:cs typeface="Malgun Gothic"/>
                        </a:rPr>
                        <a:t>(Apache-2.0) · </a:t>
                      </a:r>
                      <a:r>
                        <a:rPr sz="800" b="0" i="0">
                          <a:solidFill>
                            <a:srgbClr val="1D4ED8"/>
                          </a:solidFill>
                          <a:latin typeface="Arial"/>
                          <a:ea typeface="Malgun Gothic"/>
                          <a:cs typeface="Malgun Gothic"/>
                          <a:hlinkClick r:id="rId4"/>
                        </a:rPr>
                        <a:t>AMO</a:t>
                      </a:r>
                      <a:r>
                        <a:rPr sz="800" b="0" i="0">
                          <a:solidFill>
                            <a:srgbClr val="16213A"/>
                          </a:solidFill>
                          <a:latin typeface="Arial"/>
                          <a:ea typeface="Malgun Gothic"/>
                          <a:cs typeface="Malgun Gothic"/>
                        </a:rPr>
                        <a:t>(Apache-2.0) · </a:t>
                      </a:r>
                      <a:r>
                        <a:rPr sz="800" b="0" i="0">
                          <a:solidFill>
                            <a:srgbClr val="1D4ED8"/>
                          </a:solidFill>
                          <a:latin typeface="Arial"/>
                          <a:ea typeface="Malgun Gothic"/>
                          <a:cs typeface="Malgun Gothic"/>
                          <a:hlinkClick r:id="rId5"/>
                        </a:rPr>
                        <a:t>GMT</a:t>
                      </a:r>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ExBody2의 데이터 거르기는 기준을 기본 정책의 추종 실패로 둔다. travplan으로 옮기면 교사 실패가 아니라 기본 Planner D의 치명 표본 비율(TP-0074)이 기준이 된다(B.16.6)</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Oregon State Dynamic Robotics and AI Lab과 Agility Robotics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Jonathan Hurst</a:t>
                      </a:r>
                      <a:r>
                        <a:rPr sz="800" b="0" i="0">
                          <a:solidFill>
                            <a:srgbClr val="16213A"/>
                          </a:solidFill>
                          <a:latin typeface="Arial"/>
                          <a:ea typeface="Malgun Gothic"/>
                          <a:cs typeface="Malgun Gothic"/>
                        </a:rPr>
                        <a:t>·</a:t>
                      </a:r>
                      <a:r>
                        <a:rPr sz="800" b="1" i="0">
                          <a:solidFill>
                            <a:srgbClr val="16213A"/>
                          </a:solidFill>
                          <a:latin typeface="Arial"/>
                          <a:ea typeface="Malgun Gothic"/>
                          <a:cs typeface="Malgun Gothic"/>
                        </a:rPr>
                        <a:t>Alan Fern</a:t>
                      </a:r>
                      <a:r>
                        <a:rPr sz="800" b="0" i="0">
                          <a:solidFill>
                            <a:srgbClr val="16213A"/>
                          </a:solidFill>
                          <a:latin typeface="Arial"/>
                          <a:ea typeface="Malgun Gothic"/>
                          <a:cs typeface="Malgun Gothic"/>
                        </a:rPr>
                        <a:t>(OSU), Agility Robotics(2015년 OSU Dynamic Robotics Lab에서 창업)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연구실 조직 </a:t>
                      </a:r>
                      <a:r>
                        <a:rPr sz="800" b="0" i="0">
                          <a:solidFill>
                            <a:srgbClr val="1D4ED8"/>
                          </a:solidFill>
                          <a:latin typeface="Arial"/>
                          <a:ea typeface="Malgun Gothic"/>
                          <a:cs typeface="Malgun Gothic"/>
                          <a:hlinkClick r:id="rId6"/>
                        </a:rPr>
                        <a:t>osudrl</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cassie-mujoco-sim</a:t>
                      </a:r>
                      <a:r>
                        <a:rPr sz="800" b="0" i="0">
                          <a:solidFill>
                            <a:srgbClr val="16213A"/>
                          </a:solidFill>
                          <a:latin typeface="Arial"/>
                          <a:ea typeface="Malgun Gothic"/>
                          <a:cs typeface="Malgun Gothic"/>
                        </a:rPr>
                        <a:t> 라이선스 표기 없음, </a:t>
                      </a:r>
                      <a:r>
                        <a:rPr sz="800" b="0" i="0">
                          <a:solidFill>
                            <a:srgbClr val="16213A"/>
                          </a:solidFill>
                          <a:latin typeface="Consolas"/>
                          <a:ea typeface="Malgun Gothic"/>
                          <a:cs typeface="Malgun Gothic"/>
                        </a:rPr>
                        <a:t>apex</a:t>
                      </a:r>
                      <a:r>
                        <a:rPr sz="800" b="0" i="0">
                          <a:solidFill>
                            <a:srgbClr val="16213A"/>
                          </a:solidFill>
                          <a:latin typeface="Arial"/>
                          <a:ea typeface="Malgun Gothic"/>
                          <a:cs typeface="Malgun Gothic"/>
                        </a:rPr>
                        <a:t> MIT). 논문별 코드 대응은 확인하지 못했다. Agility는 공개 코드 없음(블로그만)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Siekmann 외는 Cassie의 걸음새와 고유감각 계단 보행을 sim-to-real RL로 보였다(ICRA·RSS 2021). Agility는 위치 목표를 받는 전신 제어 기반 모델을 택했고, travplan Planner가 위치 경로를 넘기는 결정과 같은 쪽이다(B.16.6)</a:t>
                      </a:r>
                    </a:p>
                  </a:txBody>
                  <a:tcPr marL="63500" marR="63500" marT="12700" marB="12700">
                    <a:solidFill>
                      <a:srgbClr val="F3F0E8"/>
                    </a:solidFill>
                  </a:tcPr>
                </a:tc>
              </a:tr>
            </a:tbl>
          </a:graphicData>
        </a:graphic>
      </p:graphicFrame>
      <p:sp>
        <p:nvSpPr>
          <p:cNvPr id="6" name="TextBox 5"/>
          <p:cNvSpPr txBox="1"/>
          <p:nvPr/>
        </p:nvSpPr>
        <p:spPr>
          <a:xfrm>
            <a:off x="609600" y="283448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따라갈 곳을 셋만 고른다면</a:t>
            </a:r>
            <a:r>
              <a:rPr sz="1050" b="0" i="0">
                <a:solidFill>
                  <a:srgbClr val="16213A"/>
                </a:solidFill>
                <a:latin typeface="Arial"/>
                <a:ea typeface="Malgun Gothic"/>
                <a:cs typeface="Malgun Gothic"/>
              </a:rPr>
              <a:t> — 지형은 </a:t>
            </a:r>
            <a:r>
              <a:rPr sz="1050" b="1" i="0">
                <a:solidFill>
                  <a:srgbClr val="16213A"/>
                </a:solidFill>
                <a:latin typeface="Arial"/>
                <a:ea typeface="Malgun Gothic"/>
                <a:cs typeface="Malgun Gothic"/>
              </a:rPr>
              <a:t>고려대 ISR</a:t>
            </a:r>
            <a:r>
              <a:rPr sz="1050" b="0" i="0">
                <a:solidFill>
                  <a:srgbClr val="16213A"/>
                </a:solidFill>
                <a:latin typeface="Arial"/>
                <a:ea typeface="Malgun Gothic"/>
                <a:cs typeface="Malgun Gothic"/>
              </a:rPr>
              <a:t>(FastDEM, 우리 전제와 가장 가깝고 가장 최신), 컨트롤러는 </a:t>
            </a:r>
            <a:r>
              <a:rPr sz="1050" b="1" i="0">
                <a:solidFill>
                  <a:srgbClr val="16213A"/>
                </a:solidFill>
                <a:latin typeface="Arial"/>
                <a:ea typeface="Malgun Gothic"/>
                <a:cs typeface="Malgun Gothic"/>
              </a:rPr>
              <a:t>TU Delft AMR</a:t>
            </a:r>
            <a:r>
              <a:rPr sz="1050" b="0" i="0">
                <a:solidFill>
                  <a:srgbClr val="16213A"/>
                </a:solidFill>
                <a:latin typeface="Arial"/>
                <a:ea typeface="Malgun Gothic"/>
                <a:cs typeface="Malgun Gothic"/>
              </a:rPr>
              <a:t>(guidance + MPC/MPPI 구조가 우리와 같다), 보행자는 </a:t>
            </a:r>
            <a:r>
              <a:rPr sz="1050" b="1" i="0">
                <a:solidFill>
                  <a:srgbClr val="16213A"/>
                </a:solidFill>
                <a:latin typeface="Arial"/>
                <a:ea typeface="Malgun Gothic"/>
                <a:cs typeface="Malgun Gothic"/>
              </a:rPr>
              <a:t>UPO</a:t>
            </a:r>
            <a:r>
              <a:rPr sz="1050" b="0" i="0">
                <a:solidFill>
                  <a:srgbClr val="16213A"/>
                </a:solidFill>
                <a:latin typeface="Arial"/>
                <a:ea typeface="Malgun Gothic"/>
                <a:cs typeface="Malgun Gothic"/>
              </a:rPr>
              <a:t>(HuNavSim이 TP-0036에 바로 들어간다)다.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 · S.8 참고문헌</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물리 엔진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80 / 109</a:t>
            </a:r>
          </a:p>
        </p:txBody>
      </p:sp>
      <p:graphicFrame>
        <p:nvGraphicFramePr>
          <p:cNvPr id="5" name="Table 4"/>
          <p:cNvGraphicFramePr>
            <a:graphicFrameLocks noGrp="1"/>
          </p:cNvGraphicFramePr>
          <p:nvPr/>
        </p:nvGraphicFramePr>
        <p:xfrm>
          <a:off x="609600" y="1244600"/>
          <a:ext cx="10966450" cy="2167968"/>
        </p:xfrm>
        <a:graphic>
          <a:graphicData uri="http://schemas.openxmlformats.org/drawingml/2006/table">
            <a:tbl>
              <a:tblPr firstRow="1" bandRow="1">
                <a:tableStyleId>{5C22544A-7EE6-4342-B048-85BDC9FD1C3A}</a:tableStyleId>
              </a:tblPr>
              <a:tblGrid>
                <a:gridCol w="1440855"/>
                <a:gridCol w="1330226"/>
                <a:gridCol w="5500390"/>
                <a:gridCol w="1096466"/>
                <a:gridCol w="1598513"/>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줄 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USD·PhysX·RTX 로봇 시뮬레이터, ROS 2 브릿지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GitHub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Isaac 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 위 GPU 병렬 학습 프레임워크, 3.0은 다중 백엔드. Orbit의 후속(1.0은 2024-06), 보행 환경 11종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S.1.1, F.6, 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arXiv:2511.04831</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5"/>
                        </a:rPr>
                        <a:t>GitHub</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Newton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Warp 기반 GPU 물리, MuJoCo Warp·MPM·VBD, Linux Foundation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S.1.2, 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GitHub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MuJoCo Playground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MJX 기반 학습 프레임워크, zero-shot sim-to-real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S.1.3, F.6, 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arXiv:2502.08844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MuJoCo Warp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2026.09(3.14)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MuJoCo의 GPU판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S.1.3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GitHub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Genesis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2026.09(1.4.2)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범용 시뮬레이터, 속도 주장 재검증 논란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GitHub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0"/>
                        </a:rPr>
                        <a:t>issue #181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Gazebo Harmonic·Jetty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2 표준 CPU 시뮬레이터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gazebosim.org</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Project Chrono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다물체·차량·변형 지면(SCM, DEM, SPH)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S.1.6, S.5.4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GitHub</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3"/>
                        </a:rPr>
                        <a:t>지형 모델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2024.12(0.10)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UE5 자동차 시뮬레이터, 보행자·NuRec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S.1.7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GitHub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GPUSimBench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 · IROS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시뮬레이터 7개의 처리량·실물 EMD·결정론 비교. 처리량 1위이자 결정론적인 Genesis가 실물 일치는 5위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S.1.4, S.10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arXiv:2607.13059</a:t>
                      </a:r>
                    </a:p>
                  </a:txBody>
                  <a:tcPr marL="63500" marR="63500" marT="12700" marB="12700">
                    <a:solidFill>
                      <a:srgbClr val="F3F0E8"/>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 · S.8 참고문헌</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보도·도시·보행자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81 / 109</a:t>
            </a:r>
          </a:p>
        </p:txBody>
      </p:sp>
      <p:graphicFrame>
        <p:nvGraphicFramePr>
          <p:cNvPr id="5" name="Table 4"/>
          <p:cNvGraphicFramePr>
            <a:graphicFrameLocks noGrp="1"/>
          </p:cNvGraphicFramePr>
          <p:nvPr/>
        </p:nvGraphicFramePr>
        <p:xfrm>
          <a:off x="609600" y="1244600"/>
          <a:ext cx="10966451" cy="3744672"/>
        </p:xfrm>
        <a:graphic>
          <a:graphicData uri="http://schemas.openxmlformats.org/drawingml/2006/table">
            <a:tbl>
              <a:tblPr firstRow="1" bandRow="1">
                <a:tableStyleId>{5C22544A-7EE6-4342-B048-85BDC9FD1C3A}</a:tableStyleId>
              </a:tblPr>
              <a:tblGrid>
                <a:gridCol w="1485801"/>
                <a:gridCol w="1244402"/>
                <a:gridCol w="5948759"/>
                <a:gridCol w="712887"/>
                <a:gridCol w="1574602"/>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줄 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MetaUrban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기능 구역 기반 절차 생성 시뮬레이터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arXiv:2407.08725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URBAN-SIM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 보도 학습 플랫폼, WFC 지형, GPU ORCA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arXiv:2505.00690</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5"/>
                        </a:rPr>
                        <a:t>GitHub</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UrbanVerse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도시 영상에서 Isaac Sim 장면, 10만 에셋</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arXiv:2510.15018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Vid2Sim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영상에서 3DGS + 메시 혼합 장면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arXiv:2501.06693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SidewalkBench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시각 내비 벤치마크, 사건 기반 보행자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arXiv:2606.16953</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9"/>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FlowPilot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anchored flow matching 보도 내비 정책, 사람 선호 정렬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프로젝트</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1"/>
                        </a:rPr>
                        <a:t>arXiv:2606.12603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AURA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공유 자율 보도 내비, 가상 인계 시험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arXiv:2604.01659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CostNav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손익으로 채점하는 배달로봇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arXiv:2511.20216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SimWorld-Robotics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UE5 절차 생성 도시, 언어 내비·협업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arXiv:2512.10046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NavVerse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실내에서 실외로 이어지는 내비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arXiv:2607.19695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HuNavSim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Social Force 기반 ROS 2 보행자 시뮬레이터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S.3.1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arXiv:2305.01303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Arena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ROS 2 사회적 내비 플랫폼, 생성형 세계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S.3.5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arXiv:2409.12471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NavIsaacLab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diffusion + 동작 모방 보행자, Isaac 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S.3.4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arXiv:2606.26265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SONG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3DGS 사회적 내비 플랫폼, 언어 모델 보행자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S.3.4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arXiv:2607.25219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사전식 조종 (Jia·How)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생성 정책의 동적 장벽 안내 + 사전식 선택, ViPlanner 주거지(CARLA Town01) Isaac Sim 배달 벤치마크(0.10 m 턱 hard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S.2.7, S.10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arXiv:2609.15014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DynBench (FLUX)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상태 기계 + NavMesh 보행자(1.1 m/s)의 Isaac Sim 동적 내비 벤치마크, ORCA 과협조 비판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S.3.2, S.10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arXiv:2603.12806</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GROVE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 · IROS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글 설명을 LLM 행동 트리로 바꾸는 보행자 시나리오 생성(HuNavSim 2.0 + SFM)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S.3.3, S.10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arXiv:2606.25504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SocNav Bench (SocialNav)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실측 3DGS 9곳(180건) + Isaac Sim 사회적 내비 폐루프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S.3.5, S.10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arXiv:2511.21135</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5"/>
                        </a:rPr>
                        <a:t>프로젝트</a:t>
                      </a:r>
                    </a:p>
                  </a:txBody>
                  <a:tcPr marL="63500" marR="63500" marT="12700" marB="12700">
                    <a:solidFill>
                      <a:srgbClr val="F3F0E8"/>
                    </a:solidFill>
                  </a:tcPr>
                </a:tc>
              </a:tr>
            </a:tbl>
          </a:graphicData>
        </a:graphic>
      </p:graphicFrame>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 · S.8 참고문헌</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센서·렌더링·world model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82 / 109</a:t>
            </a:r>
          </a:p>
        </p:txBody>
      </p:sp>
      <p:graphicFrame>
        <p:nvGraphicFramePr>
          <p:cNvPr id="5" name="Table 4"/>
          <p:cNvGraphicFramePr>
            <a:graphicFrameLocks noGrp="1"/>
          </p:cNvGraphicFramePr>
          <p:nvPr/>
        </p:nvGraphicFramePr>
        <p:xfrm>
          <a:off x="609600" y="1244600"/>
          <a:ext cx="10966450" cy="2365056"/>
        </p:xfrm>
        <a:graphic>
          <a:graphicData uri="http://schemas.openxmlformats.org/drawingml/2006/table">
            <a:tbl>
              <a:tblPr firstRow="1" bandRow="1">
                <a:tableStyleId>{5C22544A-7EE6-4342-B048-85BDC9FD1C3A}</a:tableStyleId>
              </a:tblPr>
              <a:tblGrid>
                <a:gridCol w="1391047"/>
                <a:gridCol w="1240135"/>
                <a:gridCol w="5287962"/>
                <a:gridCol w="1499890"/>
                <a:gridCol w="1547416"/>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줄 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Isaac Sim RTX LiDAR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광선 추적 LiDAR, 제품 프로파일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문서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Omniverse NuRec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3DGUT 복원을 USD로, Isaac Sim·CARLA 연동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소개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GaussGym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3DGS 렌더러를 넣은 병렬 물리 시뮬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arXiv:2510.15352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GS-Playground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병렬 물리 + 배치 3DGS, RSS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arXiv:2604.25459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Image2Sim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영상에서 신경 시뮬 장면 2만 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arXiv:2607.05765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Navigation World Models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조건 영상 생성으로 궤적 계획·순위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arXiv:2412.03572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Cosmos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 가중치 world foundation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arXiv:2501.03575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Cosmos-Transfer1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다중 공간 조건 생성, sim-to-real 증강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arXiv:2503.14492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X-Mobility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합성 데이터 world model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S.4.3, B.12.4, 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arXiv:2410.17491</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COMPASS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잔차 강화학습 교차 몸체 이동 정책. GR00T N1.6 점 목표 내비의 합성 데이터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S.4.3, S.5.2, B.12.4, 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arXiv:2502.16372</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Wanderland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 · CVPR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LiDAR·RTK·어안 스캔 530곳의 기하 정확 3DGS 장면, Isaac Sim USD. 기하 부정확 장면은 평가·미세조정을 흔든다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S.4.2, S.10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arXiv:2511.20620</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프로젝트</a:t>
                      </a:r>
                    </a:p>
                  </a:txBody>
                  <a:tcPr marL="63500" marR="63500" marT="12700" marB="12700">
                    <a:solidFill>
                      <a:srgbClr val="FFFDF8"/>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 · S.8 참고문헌</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로봇 리그 (S.9)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83 / 109</a:t>
            </a:r>
          </a:p>
        </p:txBody>
      </p:sp>
      <p:graphicFrame>
        <p:nvGraphicFramePr>
          <p:cNvPr id="5" name="Table 4"/>
          <p:cNvGraphicFramePr>
            <a:graphicFrameLocks noGrp="1"/>
          </p:cNvGraphicFramePr>
          <p:nvPr/>
        </p:nvGraphicFramePr>
        <p:xfrm>
          <a:off x="609600" y="1244600"/>
          <a:ext cx="10966449" cy="1182528"/>
        </p:xfrm>
        <a:graphic>
          <a:graphicData uri="http://schemas.openxmlformats.org/drawingml/2006/table">
            <a:tbl>
              <a:tblPr firstRow="1" bandRow="1">
                <a:tableStyleId>{5C22544A-7EE6-4342-B048-85BDC9FD1C3A}</a:tableStyleId>
              </a:tblPr>
              <a:tblGrid>
                <a:gridCol w="1617662"/>
                <a:gridCol w="1722834"/>
                <a:gridCol w="5531545"/>
                <a:gridCol w="1289149"/>
                <a:gridCol w="80525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종류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AntBot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2 스택 + Ignition Gazebo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ROBOTIS AI 4륜 독립 스워브 배달로봇. 조향 ±56.2°, 비동축 오프셋 55.5 mm, 시뮬 센서는 2D LiDAR·IMU뿐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S.9.1, 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문서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CMU 탐사 개발 환경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차량 시뮬 + 환경 5종</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/registered_scan</a:t>
                      </a:r>
                      <a:r>
                        <a:rPr sz="800" b="0" i="0">
                          <a:solidFill>
                            <a:srgbClr val="16213A"/>
                          </a:solidFill>
                          <a:latin typeface="Arial"/>
                          <a:ea typeface="Malgun Gothic"/>
                          <a:cs typeface="Malgun Gothic"/>
                        </a:rPr>
                        <a:t> 5 Hz, </a:t>
                      </a:r>
                      <a:r>
                        <a:rPr sz="800" b="0" i="0">
                          <a:solidFill>
                            <a:srgbClr val="16213A"/>
                          </a:solidFill>
                          <a:latin typeface="Consolas"/>
                          <a:ea typeface="Malgun Gothic"/>
                          <a:cs typeface="Malgun Gothic"/>
                        </a:rPr>
                        <a:t>/state_estimation</a:t>
                      </a:r>
                      <a:r>
                        <a:rPr sz="800" b="0" i="0">
                          <a:solidFill>
                            <a:srgbClr val="16213A"/>
                          </a:solidFill>
                          <a:latin typeface="Arial"/>
                          <a:ea typeface="Malgun Gothic"/>
                          <a:cs typeface="Malgun Gothic"/>
                        </a:rPr>
                        <a:t> 200 Hz, 평탄도 기반 </a:t>
                      </a:r>
                      <a:r>
                        <a:rPr sz="800" b="0" i="0">
                          <a:solidFill>
                            <a:srgbClr val="16213A"/>
                          </a:solidFill>
                          <a:latin typeface="Consolas"/>
                          <a:ea typeface="Malgun Gothic"/>
                          <a:cs typeface="Malgun Gothic"/>
                        </a:rPr>
                        <a:t>/terrain_map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S.9.2, B.12.2, B.12.4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사이트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dfl_mobilerobot_simulator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Gazebo Classic 리그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dddmr용 Go2·Zinger(4WS)·Saye(Ackermann). Go2는 Velodyne VLP 점군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S.9.3, B.12.4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Clearpath simulator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Gazebo(gz) 리그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Husky·Jackal·Warthog·Ridgeback을 YAML로 구성, 야외 지형 세계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S.9.3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TurtleBot4 simulator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Gazebo(gz) 리그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2D LiDAR + OAK-D. 배관 확인용 최소 기준선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S.9.3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코드</a:t>
                      </a:r>
                    </a:p>
                  </a:txBody>
                  <a:tcPr marL="63500" marR="63500" marT="12700" marB="12700">
                    <a:solidFill>
                      <a:srgbClr val="FFFDF8"/>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연구 그룹 · S.8 참고문헌</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지형·바퀴·sim-to-real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84 / 109</a:t>
            </a:r>
          </a:p>
        </p:txBody>
      </p:sp>
      <p:graphicFrame>
        <p:nvGraphicFramePr>
          <p:cNvPr id="5" name="Table 4"/>
          <p:cNvGraphicFramePr>
            <a:graphicFrameLocks noGrp="1"/>
          </p:cNvGraphicFramePr>
          <p:nvPr/>
        </p:nvGraphicFramePr>
        <p:xfrm>
          <a:off x="609600" y="1244600"/>
          <a:ext cx="10966450" cy="3713160"/>
        </p:xfrm>
        <a:graphic>
          <a:graphicData uri="http://schemas.openxmlformats.org/drawingml/2006/table">
            <a:tbl>
              <a:tblPr firstRow="1" bandRow="1">
                <a:tableStyleId>{5C22544A-7EE6-4342-B048-85BDC9FD1C3A}</a:tableStyleId>
              </a:tblPr>
              <a:tblGrid>
                <a:gridCol w="1487190"/>
                <a:gridCol w="1771055"/>
                <a:gridCol w="4560788"/>
                <a:gridCol w="1161554"/>
                <a:gridCol w="1985863"/>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줄 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Learning to Walk in Minutes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2021.09 · CoRL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게임식 지형 커리큘럼, 병렬 강화학습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S.5.1, B.12.2, B.14.1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arXiv:2109.11978</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코드(legged_gym)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Wheeled 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RC카 sim-to-real 생태계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S.5.2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arXiv:2502.07380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TIAGo Omni in 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메카넘 정밀·경량 두 모델, 학습 보정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arXiv:2510.10273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Isaac Lab 바퀴 토론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PhysX 바퀴 근사와 원기둥 지원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S.5.2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#1043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Sorour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조향형 바퀴 로봇의 기구학과 특이점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IEEE</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Domain Randomization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2017.03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시각 파라미터 무작위화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arXiv:1703.06907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Dynamics Randomization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동역학 파라미터 무작위화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arXiv:1710.06537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ADR(Rubik's Cube)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자동 도메인 랜덤화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arXiv:1910.07113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Actuator 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2019.01 · Science Robotics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데이터로 학습한 액추에이터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S.6.2, B.14.1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arXiv:1901.08652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Sim2Real Predictivity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SRCC, Habitat 미끄러짐 허점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arXiv:1912.06321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GPS·IMU sim2real 격차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판정자 기반 센서 격차, Wasserstein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arXiv:2403.11000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ART/ATK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Chrono 디지털 트윈 차량 sim-to-real 연구 플랫폼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arXiv:2211.04886</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Verti-WM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 패치 조건 학습 시뮬, 해석·학습 두 전문가 + GRU 게이트, 실물 약 70분으로 게이트 학습, 실물 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S.5.3c, S.10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arXiv:2609.23118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Sim2Dust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절차 지형 + 지연 무작위화로 자갈 위 스키드 스티어 rover에 zero-shot, 입자 미세조정 이득 작음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S.5.4, S.10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arXiv:2508.11503</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Chrono::CRM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2025.07 · J. Terramechanics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SPH 연속체 지형역학, 바퀴·도구 결합, 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S.5.4, S.10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arXiv:2507.05643</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EmbodiedSplat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ICCV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휴대폰 3DGS 메시 Habitat 장면, sim-real 상관 0.87–0.97(실내)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S.6.4, S.10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arXiv:2509.17430</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3F0E8"/>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참고문헌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로코모션·데이터·산업</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참고문헌 (docs/research-references.md)    85 / 109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D.8 로코모션·시스템 스택 (4족·휴머노이드)</a:t>
            </a:r>
          </a:p>
          <a:p>
            <a:pPr>
              <a:spcAft>
                <a:spcPts val="400"/>
              </a:spcAft>
            </a:pPr>
            <a:r>
              <a:rPr sz="1000" b="0" i="0">
                <a:solidFill>
                  <a:srgbClr val="C9D1E0"/>
                </a:solidFill>
                <a:latin typeface="Arial"/>
                <a:ea typeface="Malgun Gothic"/>
                <a:cs typeface="Malgun Gothic"/>
              </a:rPr>
              <a:t>D.9 데이터셋·벤치마크</a:t>
            </a:r>
          </a:p>
          <a:p>
            <a:pPr>
              <a:spcAft>
                <a:spcPts val="400"/>
              </a:spcAft>
            </a:pPr>
            <a:r>
              <a:rPr sz="1000" b="0" i="0">
                <a:solidFill>
                  <a:srgbClr val="C9D1E0"/>
                </a:solidFill>
                <a:latin typeface="Arial"/>
                <a:ea typeface="Malgun Gothic"/>
                <a:cs typeface="Malgun Gothic"/>
              </a:rPr>
              <a:t>D.10 벤더·산업 자료 (PR 색채 주의)</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D.12 IROS 2026 수확 (개요 문서 "학회 수확")</a:t>
            </a:r>
          </a:p>
          <a:p>
            <a:pPr>
              <a:spcAft>
                <a:spcPts val="400"/>
              </a:spcAft>
            </a:pPr>
            <a:r>
              <a:rPr sz="1000" b="0" i="0">
                <a:solidFill>
                  <a:srgbClr val="C9D1E0"/>
                </a:solidFill>
                <a:latin typeface="Arial"/>
                <a:ea typeface="Malgun Gothic"/>
                <a:cs typeface="Malgun Gothic"/>
              </a:rPr>
              <a:t>D.11 기타</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86 / 109</a:t>
            </a:r>
          </a:p>
        </p:txBody>
      </p:sp>
      <p:graphicFrame>
        <p:nvGraphicFramePr>
          <p:cNvPr id="5" name="Table 4"/>
          <p:cNvGraphicFramePr>
            <a:graphicFrameLocks noGrp="1"/>
          </p:cNvGraphicFramePr>
          <p:nvPr/>
        </p:nvGraphicFramePr>
        <p:xfrm>
          <a:off x="609600" y="1244600"/>
          <a:ext cx="10966450" cy="36186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559752">
                <a:tc>
                  <a:txBody>
                    <a:bodyPr wrap="square"/>
                    <a:lstStyle/>
                    <a:p>
                      <a:r>
                        <a:rPr sz="800" b="0" i="0">
                          <a:solidFill>
                            <a:srgbClr val="16213A"/>
                          </a:solidFill>
                          <a:latin typeface="Arial"/>
                          <a:ea typeface="Malgun Gothic"/>
                          <a:cs typeface="Malgun Gothic"/>
                        </a:rPr>
                        <a:t>DreamWaQ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ICRA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고유수용만으로 지형을 암묵 추정(CENet). ICRA 2023 사족보행 대회 1위, 실물은 Unitree A1 한 대. 고도차 22 m는 본문 §III-G에 있고 </a:t>
                      </a:r>
                      <a:r>
                        <a:rPr sz="800" b="1" i="0">
                          <a:solidFill>
                            <a:srgbClr val="C2410C"/>
                          </a:solidFill>
                          <a:latin typeface="Arial"/>
                          <a:ea typeface="Malgun Gothic"/>
                          <a:cs typeface="Malgun Gothic"/>
                        </a:rPr>
                        <a:t>경사 36°만 본문 밖</a:t>
                      </a:r>
                      <a:r>
                        <a:rPr sz="800" b="0" i="0">
                          <a:solidFill>
                            <a:srgbClr val="16213A"/>
                          </a:solidFill>
                          <a:latin typeface="Arial"/>
                          <a:ea typeface="Malgun Gothic"/>
                          <a:cs typeface="Malgun Gothic"/>
                        </a:rPr>
                        <a:t>이다. 공식 코드는 없다(프로젝트 페이지의 '[Code] (Coming soon)' 항목은 2024-11 스냅숏부터 없고 지금은 논문 링크만 있다, 2026-10-07 확인). 비공식 구현은 F.6.1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F.4, F.6, F.6.1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T-RO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PointNet + </a:t>
                      </a:r>
                      <a:r>
                        <a:rPr sz="800" b="1" i="0">
                          <a:solidFill>
                            <a:srgbClr val="16213A"/>
                          </a:solidFill>
                          <a:latin typeface="Arial"/>
                          <a:ea typeface="Malgun Gothic"/>
                          <a:cs typeface="Malgun Gothic"/>
                        </a:rPr>
                        <a:t>학습된 신뢰도 필터</a:t>
                      </a:r>
                      <a:r>
                        <a:rPr sz="800" b="0" i="0">
                          <a:solidFill>
                            <a:srgbClr val="16213A"/>
                          </a:solidFill>
                          <a:latin typeface="Arial"/>
                          <a:ea typeface="Malgun Gothic"/>
                          <a:cs typeface="Malgun Gothic"/>
                        </a:rPr>
                        <a:t>로 외수용을 믿을 때만 쓴다. 확률 proprio 잠재 + MLP-Mixer, 카메라 고장 시 접촉 반사로 복귀. 계단 97.8%. </a:t>
                      </a:r>
                      <a:r>
                        <a:rPr sz="800" b="1" i="0">
                          <a:solidFill>
                            <a:srgbClr val="C2410C"/>
                          </a:solidFill>
                          <a:latin typeface="Arial"/>
                          <a:ea typeface="Malgun Gothic"/>
                          <a:cs typeface="Malgun Gothic"/>
                        </a:rPr>
                        <a:t>실물 넷은 센서 구성이 다른 Go1 셋 + 외수용 없는 A1 하나</a:t>
                      </a:r>
                      <a:r>
                        <a:rPr sz="800" b="0" i="0">
                          <a:solidFill>
                            <a:srgbClr val="16213A"/>
                          </a:solidFill>
                          <a:latin typeface="Arial"/>
                          <a:ea typeface="Malgun Gothic"/>
                          <a:cs typeface="Malgun Gothic"/>
                        </a:rPr>
                        <a:t>(기종 간 일반화는 시뮬)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F.4, A.7.1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영상</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복구 동작(통칭 DreamRiser)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a:t>
                      </a:r>
                      <a:r>
                        <a:rPr sz="800" b="1" i="0">
                          <a:solidFill>
                            <a:srgbClr val="16213A"/>
                          </a:solidFill>
                          <a:latin typeface="Arial"/>
                          <a:ea typeface="Malgun Gothic"/>
                          <a:cs typeface="Malgun Gothic"/>
                        </a:rPr>
                        <a:t>RSS 2023 워크숍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지형 상상으로 넘어진 뒤 복구 동작, 학습 분포 밖 지형. </a:t>
                      </a:r>
                      <a:r>
                        <a:rPr sz="800" b="1" i="0">
                          <a:solidFill>
                            <a:srgbClr val="C2410C"/>
                          </a:solidFill>
                          <a:latin typeface="Arial"/>
                          <a:ea typeface="Malgun Gothic"/>
                          <a:cs typeface="Malgun Gothic"/>
                        </a:rPr>
                        <a:t>"DreamRiser"는 논문 제목이 아니라 저자 프로젝트 페이지의 통칭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프로젝트</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curieuxjy/go2_dreamwaq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DreamWaQ 비공식 구현(A1·Go2, Isaac Gym)과 Isaac Lab 이식본. 논문 구성 요소를 가장 많이 구현했지만 DreamWaQ 가중치가 없다. 저장소의 손실 척도로는 문맥 z가 붕괴한다는 것을 합성 점검이 보였고, 같은 코드로 학습한 제3자도 붕괴를 보고했다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F.6.1, E.15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yusongmin1/Dreamwaq</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바퀴-다리 Lynx M20용 DreamWaQ식 재구현. 가중치·ONNX·MuJoCo sim2sim을 싣고 MuJoCo 계단을 오르지만 z는 붕괴했다. 라이선스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F.6.1, E.15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wanghg1992/DreamWaQ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LucienJi/MetaRobotics에서 잘라 낸 사본(Go1). 가중치·AdaBoot·라이선스가 없고 커밋 작성자가 삭제를 요청했다. 상류를 읽는다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F.6.1, E.15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Teddy-Liao/walk-these-ways-go2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Walk These Ways의 Go2 이식과 실물 배포(MIT). DreamWaQ 코드는 없고, 추정기는 DreamWaQ가 이긴 EstimatorNet 계열이다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 F.6.1, E.15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Manaro-Alpha/DreamWaQ</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커뮤니티의 원조 DreamWaQ 구현(Go1). 여러 파생 저장소의 출발점이고 루트 라이선스가 없다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LucienJi/MetaRobotics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DreamWaQ·EstimatorNet·AMP 모듈을 나란히 둔 연구 코드(MIT). wanghg1992 사본의 상류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지형 인지 발놓기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생성기의 파라미터만 RL로 조절, 안전 발놓기 보상. 징검다리 25.5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3F0E8"/>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2/19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87 / 109</a:t>
            </a:r>
          </a:p>
        </p:txBody>
      </p:sp>
      <p:graphicFrame>
        <p:nvGraphicFramePr>
          <p:cNvPr id="5" name="Table 4"/>
          <p:cNvGraphicFramePr>
            <a:graphicFrameLocks noGrp="1"/>
          </p:cNvGraphicFramePr>
          <p:nvPr/>
        </p:nvGraphicFramePr>
        <p:xfrm>
          <a:off x="609600" y="1244600"/>
          <a:ext cx="10966450" cy="3815712"/>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559752">
                <a:tc>
                  <a:txBody>
                    <a:bodyPr wrap="square"/>
                    <a:lstStyle/>
                    <a:p>
                      <a:r>
                        <a:rPr sz="800" b="0" i="0">
                          <a:solidFill>
                            <a:srgbClr val="16213A"/>
                          </a:solidFill>
                          <a:latin typeface="Arial"/>
                          <a:ea typeface="Malgun Gothic"/>
                          <a:cs typeface="Malgun Gothic"/>
                        </a:rPr>
                        <a:t>Extreme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2023.09 ·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Unitree A1과 앞쪽 깊이 카메라 하나, 지도 없음. scandots 교사(RL)를 깊이 학생으로 DAgger 증류하고, 진행 방향도 학생이 예측한다(MTS). 내적 진행 보상과 가장자리 5 cm 벌점. 실물 0.5 m 오르기·0.8 m 건너기·37° 경사로, RTX 3090 한 장 20시간 미만. 코드는 CC BY-NC 4.0이고 가중치·실물 코드가 없으며, MTS 판정·커리큘럼 문턱이 논문과 다르다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F.4, F.6.2,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CAI23sbP/Isaaclab_Parkour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Extreme Parkour를 Isaac Lab과 Unitree Go2로 옮긴 커뮤니티 구현(GPL-3.0). 교사·학생 과제와 학습된 정책 링크를 싣고, 원저자가 이슈 #61에서 반겼다. 프로젝트 페이지의 브라우저 데모가 이 재현의 Go2 교사 정책을 돌린다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LocoFormer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생성 로봇 10만 대에서 대규모 RL, Transformer-XL로 시도를 넘는 수십 초 맥락. 처음 보는 로봇 10종 시뮬 영점 0.96(전문가 0.99, GRU 0.37), 실물 G1·H1·Go2·Go2-W에서 무릎 고정·바퀴 잠금·종아리 절단에 적응. 코드·가중치 비공개(Skild AI)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영상</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GenLoco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2022.09 · CoRL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관측·행동 이력 15스텝과 형태 무작위화로 절차 생성 사족 하나의 PPO 정책. LocoFormer가 가장 가까운 연구로 지목했다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AdA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Transformer-XL 기억과 여러 시도로 XLand 과제에 맥락 안에서 적응하는 DeepMind 에이전트. LocoFormer의 TXL·시도 구조의 원형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URMA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설명 벡터를 attention으로 인코딩·디코딩하는 다몸체 보행 정책, 이력 기억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AnyCar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2024.09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이력 토큰 transformer 순동역학 모델을 MPPI rollout에 쓰는 바퀴 차량 범용 모델. 처음 보는 고속 주행 추종 오차 0.57(전문가 1.26)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 E.4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COMPASS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모방 → 몸체별 잔차 RL → one-hot 몸체 임베딩 정책 증류, (v, ω) 출력으로 Carter·H1·G1·Spot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Embodiment Scaling Laws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생성 1,012대의 PPO 전문가를 URMA 학생으로 증류, 몸체 수를 늘리면 일반화가 넓어진다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X-Nav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2025.07 ·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바퀴·사족 4,096대의 전문가를 Nav-ACT transformer로 증류한 교차 몸체 내비. 처음 보는 Jackal 88.3 %(NavDP 70.2 %)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Rapid Embodiment Adaptation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URMA 정책 위의 짧은 이력 명시 식별, LocoFormer식 암묵 이력 정책을 기준선으로 재구현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FFDF8"/>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3/19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88 / 109</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RopeFormer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LocoFormer의 TXL과 다중 시도 에피소드를 밧줄 조작에 그대로 쓰고 명령 지연을 무작위화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PolyMorph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2026.10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URDF 관절–링크 토큰과 그래프 Transformer, RTX 4090 한 장으로 사족·삼족·이족 Raibo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확률 제약 볼록 MPC (4족)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불확실성을 전파해 마찰 원뿔·접촉 제약을 적응 조임. </a:t>
                      </a:r>
                      <a:r>
                        <a:rPr sz="800" b="1" i="0">
                          <a:solidFill>
                            <a:srgbClr val="16213A"/>
                          </a:solidFill>
                          <a:latin typeface="Arial"/>
                          <a:ea typeface="Malgun Gothic"/>
                          <a:cs typeface="Malgun Gothic"/>
                        </a:rPr>
                        <a:t>손으로 맞춘 조이기를 이김</a:t>
                      </a:r>
                      <a:r>
                        <a:rPr sz="800" b="0" i="0">
                          <a:solidFill>
                            <a:srgbClr val="16213A"/>
                          </a:solidFill>
                          <a:latin typeface="Arial"/>
                          <a:ea typeface="Malgun Gothic"/>
                          <a:cs typeface="Malgun Gothic"/>
                        </a:rPr>
                        <a:t>, 미지 하중 7.5 kg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MULE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미지 하중과 다지형에 적응하는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RSL-RL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학습에 맞춘 경량 RL 라이브러리(BSD-3). v5.5.1(2026-09-09)은 PPO와 DAgger식 증류, RND·대칭 증강, MLP·RNN·CNN 모델과 ONNX 내보내기를 담는다. Isaac Lab·mjlab·MuJoCo Playground가 학습기로 쓴다. 러너의 기본 장치는 CPU다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legged_gym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Rudin 2021의 Isaac Gym 학습 환경(BSD-3), 이 계열의 출발점. 마지막 코드 변경 2022-05-04, 2024-01 README 공지로 Isaac Lab 이전을 권한다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 B.14.1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walk-these-ways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Walk These Ways(논문 행은 D.5c)의 Go1 학습·배포 키트(MIT). 사전 학습 정책과 액추에이터 망 동봉, 마지막 코드 변경 2024-06-16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 F.6.1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mjlab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Lab의 manager 기반 API를 MuJoCo Warp 위로 옮긴 학습 틀(Apache-2.0). rsl_rl 5.5.1 고정, Go1·G1 velocity 작업, Isaac Sim 없이 설치. Unitree판은 unitree_rl_mjlab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Unitree판</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unitree_rl_lab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Lab 위 Unitree 학습 환경(Apache-2.0). Go2·H1·G1 velocity 작업, Go2-W 로봇 설정과 C++ 배포, 토크-속도 곡선 액추에이터 모델, unitree_mujoco로 sim2sim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 S.5.3c,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robot_lab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 · 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확장(Apache-2.0). 로봇 24종 velocity 작업(4족 8, 바퀴-다리 6, 휴머노이드 10). 바퀴-다리는 다리 위치·바퀴 속도 행동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코드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rl_sar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정책의 sim2sim(Gazebo·MuJoCo)과 실물 배포를 맡는 C++ 틀(Apache-2.0). ROS Noetic·ROS 2, 정책 16개 동봉(Go2W 포함). 내려받는 로봇 모델 저장소 rl_sar_zoo에는 라이선스가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코드</a:t>
                      </a:r>
                    </a:p>
                  </a:txBody>
                  <a:tcPr marL="63500" marR="63500" marT="12700" marB="12700">
                    <a:solidFill>
                      <a:srgbClr val="FFFDF8"/>
                    </a:solidFill>
                  </a:tcPr>
                </a:tc>
              </a:tr>
            </a:tbl>
          </a:graphicData>
        </a:graphic>
      </p:graphicFrame>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4/19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89 / 109</a:t>
            </a:r>
          </a:p>
        </p:txBody>
      </p:sp>
      <p:graphicFrame>
        <p:nvGraphicFramePr>
          <p:cNvPr id="5" name="Table 4"/>
          <p:cNvGraphicFramePr>
            <a:graphicFrameLocks noGrp="1"/>
          </p:cNvGraphicFramePr>
          <p:nvPr/>
        </p:nvGraphicFramePr>
        <p:xfrm>
          <a:off x="609600" y="1244600"/>
          <a:ext cx="10966450" cy="3726336"/>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unitree_mujoco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2021.11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Unitree 로봇의 MuJoCo 모델과 시뮬레이터(BSD-3). Go2W MJCF와 높이장 장면이 있고, unitree_rl_lab의 sim2sim이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HIMLoco (Hybrid Internal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2023.12 · ICLR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고유수용 이력에서 속도와 대조 학습 잠재를 추정하는 4족 보행(A1·Aliengo·Go1), RTX 4090 한 장에서 1시간 학습. 코드는 CC BY-NC-SA 4.0(비상업)이고 배포 안내는 공개되지 않았다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F.6, 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AMP for hardware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2022.03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모션 캡처 몇 초(저장소 기준 4.5초)로 배운 판별기 스타일 보상이 손으로 짠 규제 보상 항을 대신하고, 속도 추종 과업 보상과 더해진다. 실물 A1. 코드는 legged_gym 기반(BSD-3)이고 escontra 계정으로 옮겨졌다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F.6, 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LP-ACRL (자동 커리큘럼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진척으로 과제 표집 분포를 자동 조절, 600과제에서 1,500 iter에 80%. ANYmal D 평지 3.0 m/s·험지 2.5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Learning to Walk in Minutes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2021.09 · CoRL 2021(PMLR 164, 2022-01 발행)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대규모 병렬 + 게임식 지형 커리큘럼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F.1, B.14.1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Quadrupedal Locomotion over Challenging Terrain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2020.10 · Science 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교사 → 고유수용 학생 증류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F.1, B.14.1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ANYmal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Science Robotics 9(88)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기술별 정책 + 항법, 지각 기반 민첩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F.1, B.14.2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Keep Rollin' (바퀴 ANYmal)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2018.09 · RA-L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제어 바퀴와 구름 구속을 넣은 ZMP 계획 + 계층형 전신 제어, 평지 4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Rolling in the Deep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2019.09 · RA-L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바퀴·몸통 궤적 분해 최적화로 걸으면서 구르기, DARPA SubT 터널 서킷</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바퀴·다리 전신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2020.10 · IROS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몸통과 바퀴를 한 MPC(SLQ)로, 기구학 효용으로 걸음 순서 생성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오프라인 모션 라이브러리 + 온라인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 · IJRR 41(9–10)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오프라인 궤적을 MPC 비용으로 추종, 실물 동작 89개(CC BY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PDF</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Multi-AMP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2022.03 · ICRA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스타일마다 판별기를 둔 AMP, 바퀴·다리 로봇의 두 바퀴 서기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Bjelonic 박사 논문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 · Diss. ETH 27527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바퀴·다리 ANYmal 다섯 편(2018–2022)과 바퀴 하드웨어 세대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5/19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90 / 109</a:t>
            </a:r>
          </a:p>
        </p:txBody>
      </p:sp>
      <p:graphicFrame>
        <p:nvGraphicFramePr>
          <p:cNvPr id="5" name="Table 4"/>
          <p:cNvGraphicFramePr>
            <a:graphicFrameLocks noGrp="1"/>
          </p:cNvGraphicFramePr>
          <p:nvPr/>
        </p:nvGraphicFramePr>
        <p:xfrm>
          <a:off x="609600" y="1244600"/>
          <a:ext cx="10966450" cy="3802536"/>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TAMOLS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 · T-RO 38(6)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지도 위 발 디딤·몸통 자세 동시 최적화, DTC의 기준 동작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인식 기반 보행 NMPC (Grandia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2022.08 · T-RO 39(5)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평면 분할·SDF 지형 모델 위 NMPC, DTC의 baseline-to-2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코드(OCS2)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 기반 다리 로코모션 개관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계열 전체의 현황과 전망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quadrupedal locomotion over challenging terrain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Science Robotics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blind proprioceptive RL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링크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elmap-rl-controller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GitHub (ETH PBL)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elevation map 위 Jetson급 RL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autonomy_stack_go2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(CMU)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 L1 LiDAR → SLAM → traversability → 충돌회피 전체 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 B.12.2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Learning robust perceptive locomotion in the wild (Miki et 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2022.01 · Science Robotics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belief encoder로 지도 오류에 강한 인식 기반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A.7.1, B.14.2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ANYmal Parkour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모듈 + 내비 정책 + 보행 기술 3단 계층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High-speed control and navigation (Raibo)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Science Robotics 10(102)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 디딤 planner + 생성 모델과 경쟁 학습한 tracker, 불연속 지형 최고 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A.7.1, M.1.3, 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Science Robotics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OpenHEART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다리 매니퓰레이터의 관절 물체 열기, 시각 + proprioception 관절 정보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전방향 계단 보행 (G1 + Mid-360)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신뢰도 감쇠 누적 점군 + EGAU 높이 지도 정제, 조밀한 위험 디딤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PolygMap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계단 평면 다각형 지도 위 발 디딤, 전신 계획 20–30 Hz(Orin)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Learning Perceptive Humanoid Locomotion over Challenging Terrain(HPC)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IROS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변분 정보 병목 world model로 지도 잡음 대응, 2 km 무개입. 제목이 비슷한 HT-2(B.16.6)와 다른 논문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A.8.2, 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autonomy_stack_mecanum_wheel_platform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(CMU)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Mid-360 + NUC, 분위수 지면 지형 분석·경로 라이브러리 로컬 Planner·FAR·TARE (ROS 2 Jazzy)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A.9.1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코드</a:t>
                      </a:r>
                    </a:p>
                  </a:txBody>
                  <a:tcPr marL="63500" marR="63500" marT="12700" marB="12700">
                    <a:solidFill>
                      <a:srgbClr val="F3F0E8"/>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6/19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91 / 109</a:t>
            </a:r>
          </a:p>
        </p:txBody>
      </p:sp>
      <p:graphicFrame>
        <p:nvGraphicFramePr>
          <p:cNvPr id="5" name="Table 4"/>
          <p:cNvGraphicFramePr>
            <a:graphicFrameLocks noGrp="1"/>
          </p:cNvGraphicFramePr>
          <p:nvPr/>
        </p:nvGraphicFramePr>
        <p:xfrm>
          <a:off x="609600" y="1244600"/>
          <a:ext cx="10966450" cy="3757848"/>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복구 동작(통칭 DreamRiser)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a:t>
                      </a:r>
                      <a:r>
                        <a:rPr sz="800" b="1" i="0">
                          <a:solidFill>
                            <a:srgbClr val="16213A"/>
                          </a:solidFill>
                          <a:latin typeface="Arial"/>
                          <a:ea typeface="Malgun Gothic"/>
                          <a:cs typeface="Malgun Gothic"/>
                        </a:rPr>
                        <a:t>RSS 2023 워크숍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학습된 지형 상상으로 넘어진 뒤 복구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DreamFLEX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고장 감지·적응 보행. </a:t>
                      </a:r>
                      <a:r>
                        <a:rPr sz="800" b="1" i="0">
                          <a:solidFill>
                            <a:srgbClr val="C2410C"/>
                          </a:solidFill>
                          <a:latin typeface="Arial"/>
                          <a:ea typeface="Malgun Gothic"/>
                          <a:cs typeface="Malgun Gothic"/>
                        </a:rPr>
                        <a:t>고장 벡터를 명시 입력으로 받아 정책 잠재를 변조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A.7.1, F.4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LocoVLM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 · SafeVLMs 워크숍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언어·영상으로 보행 정책을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Stop to Decide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매핑 생략, 지연 우선 proprioceptive 내비(Go2 + Orin)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Efficient Beam Search for Active Perception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 + Orin 깊이 추정 + Voxblox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QuadPiPS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perception-informed footstep 계획(시뮬만)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Gait-Adaptive Perceptive Humanoid Locomotion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 위상 연동 발밑 재구성, 실제 계단·갭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DPL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2025.10 · RA-L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영상 정제 transformer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MARCH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sparse foothold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BeamDojo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 · RSS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sparse foothold(빔·돌다리) 보행, 발 디딤 보상 + 이중 critic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 B.16.6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VB-Com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실패 시에도 안전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elevation_mapping_humanoid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MID-360 단일 LiDAR 로봇 중심 elevation 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EgoHTR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 ·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사람이 험지를 지나는 1인칭 4D 시연(55 시퀀스, 15만 프레임)과 복원 파이프라인, G1 지형 보행. 데이터 CC BY-NC 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데이터</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GPU 가속 분산 RL 시뮬레이션 (Liang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2018.10 · CoRL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FleX GPU 물리로 Ant·Humanoid 보행을 병렬 학습, GPU 한 장과 CPU 코어 하나로 Humanoid 달리기 20분 미만. Isaac Gym의 전신(CMU·NVIDIA)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Neural Scene Representation for Locomotion on Structured Terrain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2022.06 · IEEE RA-L 7(4)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가림·카메라 사각으로 빈 깊이 점군에서 주변 지형을 4D 희소 CNN으로 복원, 합성 데이터만으로 학습해 ANYmal 온보드 실행. ANYmal Parkour 인식 모듈의 바탕(ETH RSL·NVIDIA)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p>
                  </a:txBody>
                  <a:tcPr marL="63500" marR="63500" marT="12700" marB="12700">
                    <a:solidFill>
                      <a:srgbClr val="FFFDF8"/>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7/19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92 / 109</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Orbit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IEEE RA-L 8(6)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위 모듈형 로봇 학습 틀(ETH Zürich·NVIDIA·토론토대), Isaac Lab의 전신. actuator net을 끼운 ANYmal-D 보행 정책을 실물에 배포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Eureka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2023.10 · ICLR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코딩 LLM이 보상 코드를 쓰고 보상 반성으로 고친다. 29과제 중 83%에서 사람 보상 이상, ANYmal 속도 추종은 사람과 같음(1.02). 모두 시뮬레이션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DrEureka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RSS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안전 지시 보상, 보상 인지 물리 prior(RAPP), LLM 도메인 랜덤화. Go1 실물 2 m/s 과제 최고 1.83 m/s(사람 설계 1.32), 요가볼 걷기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Eurekaverse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2024.11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LLM이 장애물 코스 지형 코드를 진화시키는 커리큘럼, Extreme Parkour 시뮬레이션 틀 위 Go1 파쿠르의 실물 이전(UPenn, NVIDIA 공저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2022.05 · SIGGRAPH 2022 (ACM TOG 41(4))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AMP 판별기에 기술 잠재 변수를 더한 재사용 저수준 정책, 시뮬레이션 약 10년 분량 사전학습. 코드 NVIDIA License(비상업)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 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CALM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 · SIGGRAPH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동작 인코더를 함께 배워 방향을 줄 수 있는 적대적 잠재 기술, ASE의 후속. 코드 NVIDIA License(비상업)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PHC (Perpetual Humanoid 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2023.05 · ICCV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추종 보상과 AMP 판별기 보상을 반씩 쓴 추종 정책, AMASS 학습 셋 98.9%를 외력 없이 모방(CMU·Meta)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 I.3, I.7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MaskedMimic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SIGGRAPH Asia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전신 추종기를 부분 목표(머리·손·글·물체)만 보는 학생으로 증류, 지형 높이 지도 관측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 I.7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ProtoMotions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2024.09 · GitHub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시뮬레이션 휴머노이드 학습 틀(Isaac Gym·Isaac Lab·Newton·MuJoCo), BONES-SEED 추종 정책을 G1에 zero-shot 배포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 I.4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Trace and Pace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 · CVPR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 보행자 궤적(TRACE)과 높이 지도를 보는 물리 기반 보행자(PACER), 가치 함수 guidance. NavIsaacLab(S.3.4)이 이 틀 위에 군중을 만들었다. 코드 비상업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TRACE</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PACER</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PARC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SIGGRAPH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지도·목표 방향 조건 확산 동작 생성기와 물리 추종기를 번갈아 키우는 데이터 증강, 추종 성공률 27%에서 68%로. Planner D·Controller·DAgger와 같은 구조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코드</a:t>
                      </a:r>
                    </a:p>
                  </a:txBody>
                  <a:tcPr marL="63500" marR="63500" marT="12700" marB="12700">
                    <a:solidFill>
                      <a:srgbClr val="FFFDF8"/>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8/19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93 / 109</a:t>
            </a:r>
          </a:p>
        </p:txBody>
      </p:sp>
      <p:graphicFrame>
        <p:nvGraphicFramePr>
          <p:cNvPr id="5" name="Table 4"/>
          <p:cNvGraphicFramePr>
            <a:graphicFrameLocks noGrp="1"/>
          </p:cNvGraphicFramePr>
          <p:nvPr/>
        </p:nvGraphicFramePr>
        <p:xfrm>
          <a:off x="609600" y="1244600"/>
          <a:ext cx="10966450" cy="37710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MaskedManipulator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SIGGRAPH Asia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MaskedMimic의 증류를 전신 물체 조작으로 넓힌 생성 제어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PDC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CVPR 2025 Humanoid Agents 워크숍(최우수 논문)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1인칭 시각 RL만으로 찾기·집기를 하는 시뮬레이션 휴머노이드, 실물 실험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NeRD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로봇별 학습 동역학이 시뮬레이터의 동역학·접촉 풀이를 대신하는 신경 시뮬레이터, ANYmal 포함 여섯 시스템, 실물 데이터 미세조정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프로젝트</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SONIC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Science Robotics 11(117)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모션 캡처 611시간(원본 약 700시간, 공개분 BONES-SEED 288시간)으로 키운 범용 전신 추종기와 실시간 운동학 Planner. 실물 124동작 중 123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 F.8, A.8, I.10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VIRAL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2025.11 · CVPR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RGB만 보는 휴머노이드 이동·조작을 시뮬레이션만으로 학습, 실물 G1 연속 59회 중 54회. 교사 L40S 16장, 학생 64장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DoorMan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CVPR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RGB만 보는 휴머노이드 문 열기, 단계 리셋 버퍼와 에피소드 성공 GRPO로 학생 50–70%에서 80.8–85.8%, 실물 83%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CHIP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범용 추종기의 끝단 강성을 명령으로 조절하는 모듈, 힘 쓰는 조작(G1)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MotionBricks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 · SIGGRAPH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실시간 운동학 동작 생성(클립 35만 개 이상, 2 ms), G1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 I.13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HumanoidMimicGen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2026.05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전신 계획으로 휴머노이드 이동·조작 시연을 늘리는 데이터 생성, G1 시뮬레이션 벤치마크 9과제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GRAIL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2026.06 · CoRL 2026(저장소 표기)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에셋과 영상 생성 모델로 이동·조작 데이터 2만 개 이상, 11 × 11 높이 지도를 더한 SONIC 추종기, 실물 계단 90%·집기 84%. 코드 비상업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Emergence of Locomotion Behaviours in Rich Environments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2017.07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다양한 지형과 전진 보상만으로 시뮬레이션 몸체가 달리기·뛰기·웅크리기를 배움. DeepMind 보행 RL의 출발점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Sim-to-Real: Learning Agile Locomotion for Quadruped Robots (Minitaur)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2018.04 · RSS 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해석 DC 모터 모델·실측 지연·무작위화·작은 관측으로 gallop(실물 1.18 m/s)과 trot을 시뮬레이션에서만 배워 실물에 올림. 구동기 모델과 지연 가운데 하나만 빠져도 실물에서 걷지 못함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환경 코드</a:t>
                      </a:r>
                    </a:p>
                  </a:txBody>
                  <a:tcPr marL="63500" marR="63500" marT="12700" marB="12700">
                    <a:solidFill>
                      <a:srgbClr val="F3F0E8"/>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9/19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94 / 109</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Policies Modulating Trajectory Generators (PMTG)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2018.10 · CoRL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정책이 궤적 생성기의 파라미터를 바꾸고 보정을 더함. 선형 정책·IMU 4차원 관측으로 1000 rollout 안에 속도 조절 보행(Minitaur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to Walk via Deep Reinforcement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2018.12 · RSS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자동 온도 SAC로 실물 Minitaur가 시뮬레이터 없이 약 2시간에 보행 학습. 평지에서만 배우고 경사·나무 블록·계단 내려가기를 지남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Data Efficient Reinforcement Learning for Legged Robots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2019.07 · CoRL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Minitaur 데이터 4.5분으로 다단계 손실 동역학 모델을 배우고, 계획이 끝날 시점의 상태를 예측해 계획하는 CEM MPC로 0.66 m/s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to Walk in the Real World with Minimal Human Effort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2020.02 · CoRL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반대 방향 과제 스케줄러와 기울기 제약 SAC(학습 라그랑주 승수)로 실물 Minitaur 학습의 사람 개입을 0–2번으로 줄임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Learning Agile Robotic Locomotion Skills by Imitating Animals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2020.04 · RSS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 모션 캡처 재지정과 모방 보상, 정보 병목 잠재 동역학, 실물 약 50번의 AWR 잠재 탐색(Laikago, trot 1.08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Fast and Efficient Locomotion via Learned Gait Transitions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2021.04 · CoRL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ES로 배운 상위 걸음새 정책과 볼록 MPC 하위 제어. 에너지 보상만으로 walk·trot·fly-trot 전환(A1)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Brax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2021.06 · NeurIPS 2021 Datasets and Benchmarks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Google Research가 JAX로 짠 GPU 강체 물리 엔진과 같은 장치에서 도는 PPO·SAC·ES 구현. MuJoCo Playground 결과 대부분의 학습기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r>
                        <a:rPr sz="800" b="0" i="0">
                          <a:solidFill>
                            <a:srgbClr val="16213A"/>
                          </a:solidFill>
                          <a:latin typeface="Arial"/>
                          <a:ea typeface="Malgun Gothic"/>
                          <a:cs typeface="Malgun Gothic"/>
                        </a:rPr>
                        <a:t> Apache-2.0</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Legged Robots that Keep on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2021.10 · ICRA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시뮬레이션 사전 학습 뒤 REDQ로 실물 미세 조정, 학습한 복구 정책과 온보드 속도 추정(A1, 잔디·메모리폼). 학습 때 익힌 적응 장치는 분포 밖에서 무너짐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Visual-Locomotion: Learning to Walk on Complex Terrains with Vision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2021.11 · CoRL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영상 상위 정책(20 Hz)이 발 디딤과 몸통 목표를 내고 볼록 MPC 하위 제어(250 Hz)가 따름. 실물 Laikago가 틈 셋으로 나뉜 디딤판을 건넘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Towards Real Robot Learning in the Wild: A Case Study in Bipedal Locomotion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2021.11 · CoRL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OP3 두 대가 두 장소에서 데이터를 나눠 쓰며 하드웨어에서 직접 이족 보행을 배움(고유감각 보상, RGB 입력)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Safe Reinforcement Learning for Legged Locomotion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2022.03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정책과 안전 복구 정책의 전환, 무게중심 동역학으로 앞을 굴려 보고 돌려줌. 실물 A1 효율 걸음·캣워크 학습에서 넘어짐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프로젝트</a:t>
                      </a:r>
                    </a:p>
                  </a:txBody>
                  <a:tcPr marL="63500" marR="63500" marT="12700" marB="12700">
                    <a:solidFill>
                      <a:srgbClr val="FFFDF8"/>
                    </a:solidFill>
                  </a:tcPr>
                </a:tc>
              </a:tr>
            </a:tbl>
          </a:graphicData>
        </a:graphic>
      </p:graphicFrame>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10/19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95 / 109</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Imitate and Repurpose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2022.03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사람·개 모션 캡처로 배운 동작 모듈을 재사용해 ANYmal과 OP3의 걷기·공 몰기를 zero-shot 실물 이전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Semantics-Aware Locomotion Skills from Human Demonstration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2022.06 · CoRL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영상의 지형 의미로 전진 속도를, 속도로 걸음새를 고름. 사람 시연 40분, 야외 지형 6 km 넘게 넘어짐 없음(A1)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PI-ARS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2022.07 · IROS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 정보 표현 학습과 ARS로 Visual-Locomotion의 계층 정책을 학습. 같은 실물 디딤판 코스를 10번 모두 완주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NeRF2Real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2022.10 · ICRA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휴대폰 영상 NeRF와 MuJoCo로 OP3 시각 내비·공 밀기 정책을 학습해 실물 이전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Learning Agile Soccer Skills for a Bipedal Robot (OP3)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2023.04 · Science Robotics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기술 학습 뒤 적응 KL 증류와 자기 대국, 관측 지연 10–50 ms 무작위화로 zero-shot 실물 1대1 축구. 스크립트보다 걷기 181%·회전 302% 빠름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DOI</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Barkour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 어질리티식 5 × 5 m 코스와 시간 점수. 전문가 셋 + 상태 기계 0.77점 대 오프라인 행동 복제로 증류한 Locomotion-Transformer 0.73점, 작은 개 1.0점(9.02 s). 후속 기체 vB의 설계 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후속 기체 설계</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SayTap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2023.06 · CoRL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GPT-4가 발 접지 패턴(0·1 행렬)을 쓰고, 무작위 패턴으로 학습한 보행 정책이 실물 A1을 움직임. 기준선보다 패턴 정확도 약 50% 높음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Language to Rewards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2023.06 · CoRL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LLM이 보상 가중치·목표값을 쓰고 MJPC가 실시간 최적화. 17개 과제 중 90%(사족은 시뮬레이션만)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LMPC (Learning to Learn Faster from Human Feedback with Language Model Predictive 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RSS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교정 대화로 코드 작성 LLM을 미세 조정. 실물 Barkour에는 MJPC 전문가에서 보상 조건 Locomotion-Transformer를 DAgger로 증류(오프라인 행동 복제는 실패)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Gameplay Filters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2024.05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시뮬레이션에서 배운 안전 전략을 가상 적대자와 미리 겨뤄 위험 행동을 막는 사족 전체 동역학(36차원) 예측 안전 필터. Spirit S40·Go2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Learning Robot Soccer from Egocentric Vision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2024.05 · CoRL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머리 카메라 RGB 40 × 30 + NeRF 렌더링 시뮬레이션, 비대칭 critic, 실험 간 데이터 재사용. 실물 페널티 득점 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프로젝트</a:t>
                      </a:r>
                    </a:p>
                  </a:txBody>
                  <a:tcPr marL="63500" marR="63500" marT="12700" marB="12700">
                    <a:solidFill>
                      <a:srgbClr val="FFFDF8"/>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11/19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96 / 109</a:t>
            </a:r>
          </a:p>
        </p:txBody>
      </p:sp>
      <p:graphicFrame>
        <p:nvGraphicFramePr>
          <p:cNvPr id="5" name="Table 4"/>
          <p:cNvGraphicFramePr>
            <a:graphicFrameLocks noGrp="1"/>
          </p:cNvGraphicFramePr>
          <p:nvPr/>
        </p:nvGraphicFramePr>
        <p:xfrm>
          <a:off x="609600" y="1244600"/>
          <a:ext cx="10966450" cy="36186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Proc4Gem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생성 시뮬레이션 데이터만으로 Gemini를 미세 조정, 실물 Barkour가 언어 지시로 트롤리를 처음 보는 목표까지 밈(기린 인형 10번 중 7번)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Gemini Robotics (1.0, 1.5,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 · 기술 보고서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VLA와 ER 모델. Apollo 상체 조작(2025)에서 Apollo 2 전신 제어(2026-07)로. 1.5는 개발 평가 에피소드의 90% 넘게를 MuJoCo에서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1.0</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1.5</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2 발표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Ascento (+ RL 계단, Ascento 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2019.05 · ICRA 2019(전신 제어 RA-L 2020, RL 계단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ETH ASL의 두 바퀴 점프 로봇(10.4 kg, 최대 0.4 m 점프, LQR 균형). RL 계단 논문은 위치 명령과 지연 무작위화로 이 로봇이 15 cm 단을 오르게 했다. 연구진이 세운 Ascento Robotics가 야외 경비 로봇으로 판다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계단 RL</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회사</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RL + 모델 기반 제어(CRL) · RAMBO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2023.05 · RA-L 8(10) 2023(RAMBO: RA-L 10(9)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중 가변 높이 역진자 최적 제어로 기준 동작을 필요할 때마다 만들어 RL이 모방(Go1·Aliengo). 후속 RAMBO는 QP 전신 제어 앞먹임에 RL 되먹임(Go2 로코매니퓰레이션)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RAMBO</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다접촉 로코매니퓰레이션 계획(Sleiman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2023.08 · Science Robotics 8(81)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최적화와 그래프·샘플링 탐색을 섞은 작업·운동 계획으로 팔 달린 ANYmal의 접촉 순서를 자동으로 찾는다(식기세척기, 스프링 문). 1저자는 지금 Flexion 제어 팀, 후속 ZEST는 B.16.4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Barry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2023.09 · RA-L 8(11)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모델에 없는 짐을 90 kg까지 싣는 RSL 사족 로봇과 RL 제어기. 짐 무게와 무관하게 1.4 m/s에서 CoT 0.7. PACE의 주 실험 로봇 Tytan이 Barry 기반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Resilient Legged Local Navigation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2023.10 ·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실패를 보이지 않는 장애물·구덩이로 모델링한 RL 로컬 내비. proprioception과 보행 층 높이 스캔으로 부딪힘·헛디딤에 반응하고, 가시도 0%의 장애물에서 84.0%(고전 Planner 53%, 가시도 100%로 학습한 정책 33.3%)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Agile Locomotion on Risky Terrains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2023.11 · IROS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징검돌 generalist 정책을 빔·징검돌 specialist로 미세 조정, 속도 추종 대신 내비게이션 정식화, ANYmal D 최고 2.5 m/s 이상(참값 지도와 모션 캡처)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ICLR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주기 동작을 위상·주파수·진폭·오프셋 잠재 동역학으로 표현, 학습 분포 밖 목표는 예측 손실 문턱으로 거부하고 안전한 동작으로 폴백(MIT Humanoid 시뮬레이션)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to walk in confined spaces using 3D representation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2024.02 · ICRA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6D 명령을 따르는 하위 정책과 3D 부피(voxel) 표현을 보는 상위 정책으로 오버행 밑과 좁은 공간을 지난다(ANYmal C·D)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p>
                  </a:txBody>
                  <a:tcPr marL="63500" marR="63500" marT="12700" marB="12700">
                    <a:solidFill>
                      <a:srgbClr val="F3F0E8"/>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12/19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97 / 109</a:t>
            </a:r>
          </a:p>
        </p:txBody>
      </p:sp>
      <p:graphicFrame>
        <p:nvGraphicFramePr>
          <p:cNvPr id="5" name="Table 4"/>
          <p:cNvGraphicFramePr>
            <a:graphicFrameLocks noGrp="1"/>
          </p:cNvGraphicFramePr>
          <p:nvPr/>
        </p:nvGraphicFramePr>
        <p:xfrm>
          <a:off x="609600" y="1244600"/>
          <a:ext cx="10966450" cy="3860401"/>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Design and Control of a Bipedal Robotic Character (BDX)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2024.07 · RSS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Disney Research의 두 발 캐릭터 로봇. 동작 종류별 조건부 RL 정책, 경로 프레임, 애니메이션 엔진과 조종 인터페이스, 1원리 액추에이터 모델. 공개 시연 약 10시간 무낙상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RSS</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RobotMDM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2024.10 · SIGGRAPH Asia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추종 정책의 기대 보상을 예측하는 critic을 손실로 넣어 문장 기반 동작 diffusion을 실현 가능하게 미세 조정, 20자유도 두 발 로봇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PDF</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RWM (Robotic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2025.01 · arXiv(NeurIPS 2025 EWM 워크숍 우수 논문)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예측을 다시 넣는 다스텝 손실의 GRU world model, 그 안에서 PPO(MBPO-PPO)로 학습한 정책을 ANYmal D·G1에 zero-shot. 후속 RWM-U는 불확실성 벌점으로 오프라인 데이터만 써서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 I.11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RWM-U</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LEVA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비동축 조향 바퀴 다리 넷의 85 kg 물류 로봇. 굴림 제어기와 RL 계단 제어기, 상자 자율 적재 50회 86%(관련 없는 연결 고장을 빼면 97.7%), CoT 0.15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Autonomous Human-Robot Interaction via Operator Imitation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2025.04 · IROS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BDX 플랫폼에서 조종자의 연속·이산 명령을 transformer 하나(diffusion과 분류기)로 학습해 자율화, 사용자 20명이 자율과 조종을 거의 가르지 못함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Parkour in the Wild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IJRR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전문가 9개를 깊이 카메라 학생으로 DAgger 증류한 뒤 RL 미세 조정, 학습에 없던 스캔 지형 14.9→94.9%. 새 지형은 모든 지형과 함께 다시 미세 조정(새 지형 표본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IJRR</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AMOR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2025.05 · SIGGRAPH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 가중치를 입력으로 받는 정책 하나로 Pareto 전선을 덮어, 학습 뒤 실물 두 발 로봇에서 가중치를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 · IJRR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엔코더 공중 데이터 약 20 s로 관절 armature·감쇠·마찰·편향과 명령 지연을 CMA-ES로 맞춰 동역학 무작위화 없이 이식(주 플랫폼 3대, 추가 10대), ANYmal D CoT 1.27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Olaf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2025.12 · RA-L 11(6)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만화 캐릭터 로봇. 숨긴 비대칭 다리, 구동기 온도를 관측과 CBF형 보상으로 다루고, 발 충격 보상으로 소음 13.5 dB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680641">
                <a:tc>
                  <a:txBody>
                    <a:bodyPr wrap="square"/>
                    <a:lstStyle/>
                    <a:p>
                      <a:r>
                        <a:rPr sz="800" b="0" i="0">
                          <a:solidFill>
                            <a:srgbClr val="16213A"/>
                          </a:solidFill>
                          <a:latin typeface="Arial"/>
                          <a:ea typeface="Malgun Gothic"/>
                          <a:cs typeface="Malgun Gothic"/>
                        </a:rPr>
                        <a:t>Agile and Generalized Legged Locomotion via Attention-Based Neural Map Encoding(옛 이름 AME-2, 전작 AME-1)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 · T-RO 조건부 채택(AME-1 "Attention-based map encoding for learning generalized legged locomotion": Science Robotics 10(105)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주의 기반 높이 지도 인코더와 칸별 분산을 내는 신경 지도, 확률적 승자 독식 융합, ANYmal D 1 m·TRON1 0.48 m 오르기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AME-1</a:t>
                      </a:r>
                    </a:p>
                  </a:txBody>
                  <a:tcPr marL="63500" marR="63500" marT="12700" marB="12700">
                    <a:solidFill>
                      <a:srgbClr val="F3F0E8"/>
                    </a:solidFill>
                  </a:tcPr>
                </a:tc>
              </a:tr>
            </a:tbl>
          </a:graphicData>
        </a:graphic>
      </p:graphicFrame>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13/19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98 / 109</a:t>
            </a:r>
          </a:p>
        </p:txBody>
      </p:sp>
      <p:graphicFrame>
        <p:nvGraphicFramePr>
          <p:cNvPr id="5" name="Table 4"/>
          <p:cNvGraphicFramePr>
            <a:graphicFrameLocks noGrp="1"/>
          </p:cNvGraphicFramePr>
          <p:nvPr/>
        </p:nvGraphicFramePr>
        <p:xfrm>
          <a:off x="609600" y="1244600"/>
          <a:ext cx="10966450" cy="3739512"/>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Kamino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닫힌 기구 사슬을 비선형 상보성 문제로 직접 푸는 GPU 다물체 솔버, Newton 통합, 고리 6개 두 발 로봇 DR Legs의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코드(Newton)</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Learning Whole-Body Humanoid Locomotion via Motion Generation and Motion Tracking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 · RA-L 11(9)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지형을 보는 diffusion 생성기(2스텝, 약 0.02 s)와 RL 추종기, 생성기를 고정한 폐루프 미세 조정, G1 실물, elevation_mapping_cupy 사용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인라인 스케이트 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 · IROS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Booster T1에 수동 인라인 스케이트, 사람 동작 없이 보상만으로 날을 밀어 나아가고 걷기보다 CoT 최대 50%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구름사다리 휴머노이드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머리 LiDAR 원시 스캔을 AME-2 인코더로 읽는 RL 정책, EngineAI PM01이 뛰어올라 매달려 건너기 15회 중 14회, 2 cm 굵기 머리 위 장애물 밑 숙이기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Watch Your Step (FPM)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 · arXiv(IEEE 투고)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고유감각 70차원만 보는 MLP가 다음 발 디딤 둘을 예측하고 높이 지도를 그 둘레 7×7 조각 둘(693칸 → 102값)로 거른다. 레벨 5 도달이 전체 지도보다 3.5배 빠르고, 복도 드문 디딤 지형 74.2%(AME2 71.7%), 실물 G1 0.55 m 틈·0.6 m 낙차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 B.14.2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영상</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프로젝트</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EVORA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2023.11 · IEEE T-RO 40(2024)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견인(실현 속도와 명령 속도의 비)의 분포를 증거 학습으로 배우고, 그 왼쪽 꼬리 CVaR로 MPPI rollout을 굴린다(CVaR-Dyn). 잠재 특징 밀도로 OOD 지형을 피한다. Spot 실외(1저자의 Boston Dynamics AI Institute 인턴십), RC 차 실내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코드</a:t>
                      </a:r>
                      <a:r>
                        <a:rPr sz="800" b="0" i="0">
                          <a:solidFill>
                            <a:srgbClr val="16213A"/>
                          </a:solidFill>
                          <a:latin typeface="Arial"/>
                          <a:ea typeface="Malgun Gothic"/>
                          <a:cs typeface="Malgun Gothic"/>
                        </a:rPr>
                        <a:t> MIT · </a:t>
                      </a:r>
                      <a:r>
                        <a:rPr sz="800" b="0" i="0">
                          <a:solidFill>
                            <a:srgbClr val="1D4ED8"/>
                          </a:solidFill>
                          <a:latin typeface="Arial"/>
                          <a:ea typeface="Malgun Gothic"/>
                          <a:cs typeface="Malgun Gothic"/>
                          <a:hlinkClick r:id="rId14"/>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MILD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 · RA-L 11(2)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무른 알갱이 지면 위 이족 보행을 위한 다루기 쉬운 지형 모델. 빠르게 박히는 물체 밑에 쌓이는 알갱이의 부가 질량 효과를 넣는다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GM-Loco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알갱이 지면 위 지형 적응 휴머노이드 보행(Georgia Tech). 기존 지형 모델이 수직력만 입자 물리로 두고 접선력은 휴리스틱으로 채운다고 지적하고, 3D RFT 접촉 모델과 VAE 교사–학생으로 G1이 실제 모래 위를 걷는다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 B.16.6, S.5.4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HOMIE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2025.02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동형 외골격 조종석으로 휴머노이드 로코매니퓰레이션 데이터를 모으고 RL 하체 정책을 학습한다(Shanghai AI Lab·CUHK). VIRAL과 DoorMan의 하체 WBC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VLFM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2023.12 · ICRA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점유 지도의 프런티어 가운데 VLM 가치 지도가 높은 곳으로 가서 처음 보는 물체를 찾는다. 과제별 학습 없이 Spot 실물 사무실 시연. Georgia Tech와 Boston Dynamics AI Institute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9"/>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14/19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99 / 109</a:t>
            </a:r>
          </a:p>
        </p:txBody>
      </p:sp>
      <p:graphicFrame>
        <p:nvGraphicFramePr>
          <p:cNvPr id="5" name="Table 4"/>
          <p:cNvGraphicFramePr>
            <a:graphicFrameLocks noGrp="1"/>
          </p:cNvGraphicFramePr>
          <p:nvPr/>
        </p:nvGraphicFramePr>
        <p:xfrm>
          <a:off x="609600" y="1244600"/>
          <a:ext cx="10966450" cy="3905088"/>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Spot RL 보행 (Boston Dynamics)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Spot 4.0, 블로그 2024-03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계획기와 모델 기반 보행 제어기 사이의 RL 정책이 궤적과 걸음새를 낸다. 이전의 MPC 다중 해 + 점수 선택을 대체. 시뮬 수백 장면 + 사내 무리 주당 2,000시간으로 검증. RL Researcher Kit(관절 API, Jetson AGX Orin, Isaac 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블로그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Kit</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배포 예제</a:t>
                      </a:r>
                      <a:r>
                        <a:rPr sz="800" b="0" i="0">
                          <a:solidFill>
                            <a:srgbClr val="16213A"/>
                          </a:solidFill>
                          <a:latin typeface="Arial"/>
                          <a:ea typeface="Malgun Gothic"/>
                          <a:cs typeface="Malgun Gothic"/>
                        </a:rPr>
                        <a:t> MIT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실물 전신 MPPI (Alvarez-Padilla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2024.09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병렬 rollout 30개로 관절 목표 스플라인 매듭을 찾는 MPPI, 100 Hz·0.4 s 지평. Go1 실물에서 0.24 m 상자 오르기, 3.5 kg 상자 밀기 9/10·6/10. Sumo 1저자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DIAL-MPC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2024.09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반복마다 잡음을 줄이고 지평 위치마다 잡음을 달리하는 확산식 두 겹 담금질로 Go2 관절 토크를 직접 찾는 샘플링 MPC(Brax, 표본 2,048개, 0.4 s). 표준 MPPI 대비 추종 오차 13.4배 감소. judo의 잡음 ramp가 닮았다고 적은 대상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 E.1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r>
                        <a:rPr sz="800" b="0" i="0">
                          <a:solidFill>
                            <a:srgbClr val="16213A"/>
                          </a:solidFill>
                          <a:latin typeface="Arial"/>
                          <a:ea typeface="Malgun Gothic"/>
                          <a:cs typeface="Malgun Gothic"/>
                        </a:rPr>
                        <a:t> Apache-2.0</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MuJoCo iLQR 전신 MPC (Zhang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 ·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동역학과 유한차분 미분의 iLQR + TV-LQR 되먹임으로 Go1·Go2·H1 실물 전신 MPC. 샘플링 MPC와 달리 두 다리 보행 같은 불안정 과제를 푼다고 적는다. Sumo 1저자의 앞선 논문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Spot 고속 RL (RAI Institute)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2025.04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Researcher Kit의 관절 API로 MPC 없는 정책. 실물·시뮬 상태 분포의 Wasserstein·MMD 거리를 CMA-ES로 줄여 마찰 2개와 토크-속도 곡선 6개를 보정, 실물 최고 3.8에서 5.2 m/s(기본 제어기 1.6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학습 환경</a:t>
                      </a:r>
                      <a:r>
                        <a:rPr sz="800" b="0" i="0">
                          <a:solidFill>
                            <a:srgbClr val="16213A"/>
                          </a:solidFill>
                          <a:latin typeface="Arial"/>
                          <a:ea typeface="Malgun Gothic"/>
                          <a:cs typeface="Malgun Gothic"/>
                        </a:rPr>
                        <a:t> BSD-3-Clause</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judo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2025.06 · RSS 2025 워크숍(확장판은 RAI 페이지가 ICRA 2026으로 표기)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기반 파이썬 샘플링 MPC 도구. PS·CEM·MPPI(확장판이 비교한 CMA-ES는 공개 코드에 없음), 스플라인 매듭, 잡음 ramp, viser GUI, 비동기 노드. LEAP 정육면체 갱신 28.7 ms(MJPC 32.4 ms). v0.0.7 C++ 정책 rollout, v0.1.0 MuJoCo Warp. Sumo의 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r>
                        <a:rPr sz="800" b="0" i="0">
                          <a:solidFill>
                            <a:srgbClr val="16213A"/>
                          </a:solidFill>
                          <a:latin typeface="Arial"/>
                          <a:ea typeface="Malgun Gothic"/>
                          <a:cs typeface="Malgun Gothic"/>
                        </a:rPr>
                        <a:t> MIT · </a:t>
                      </a:r>
                      <a:r>
                        <a:rPr sz="800" b="0" i="0">
                          <a:solidFill>
                            <a:srgbClr val="1D4ED8"/>
                          </a:solidFill>
                          <a:latin typeface="Arial"/>
                          <a:ea typeface="Malgun Gothic"/>
                          <a:cs typeface="Malgun Gothic"/>
                          <a:hlinkClick r:id="rId16"/>
                        </a:rPr>
                        <a:t>문서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ReLIC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Spot의 팔다리마다 조작(역기구학)과 보행(RL)을 마스크로 나눠 맡긴다. Isaac Lab PPO, 실물 로그로 CMA-ES 토크 한계 보정. 실물 12과제 평균 78.9%. Sumo와 SMPC 시연 논문의 하위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r>
                        <a:rPr sz="800" b="0" i="0">
                          <a:solidFill>
                            <a:srgbClr val="16213A"/>
                          </a:solidFill>
                          <a:latin typeface="Arial"/>
                          <a:ea typeface="Malgun Gothic"/>
                          <a:cs typeface="Malgun Gothic"/>
                        </a:rPr>
                        <a:t>(RAI Institute Research License, 비상업)</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Atlas 대형 행동 모델 (Boston Dynamics·TRI)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2025.08 · 블로그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언어 조건 4.5억 파라미터 diffusion transformer(flow matching). 머리 스테레오 영상·고유감각·언어로 손·발·몸통 자세와 그리퍼를 30 Hz로 낸다(48개 묶음 중 보통 24개 실행). 데이터는 MPC 위의 VR 원격조종이고 Atlas MTS·TRI·시뮬레이션 데이터와 함께 학습. 성공률 비공개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블로그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Spot 탁구 전신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2025.10 · arXiv(RAI 페이지는 IROS 2026으로 표기)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팔 달린 Spot. 천장 고속 카메라 두 대(165 fps), 물리 모델 위 잔차망으로 공의 회전 추정, 100 Hz SQP 운동학 계획 + QP 전신 제어기, 발 고정. 평균 반환율은 회전 추정 없이 27.2%, 물리 모델 52.0%, 잔차 추가 75.2%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1"/>
                        </a:rPr>
                        <a:t>RAI 페이지</a:t>
                      </a:r>
                    </a:p>
                  </a:txBody>
                  <a:tcPr marL="63500" marR="63500" marT="12700" marB="12700">
                    <a:solidFill>
                      <a:srgbClr val="FFFDF8"/>
                    </a:solidFill>
                  </a:tcPr>
                </a:tc>
              </a:tr>
            </a:tbl>
          </a:graphicData>
        </a:graphic>
      </p:graphicFrame>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15/19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100 / 109</a:t>
            </a:r>
          </a:p>
        </p:txBody>
      </p:sp>
      <p:graphicFrame>
        <p:nvGraphicFramePr>
          <p:cNvPr id="5" name="Table 4"/>
          <p:cNvGraphicFramePr>
            <a:graphicFrameLocks noGrp="1"/>
          </p:cNvGraphicFramePr>
          <p:nvPr/>
        </p:nvGraphicFramePr>
        <p:xfrm>
          <a:off x="609600" y="1244600"/>
          <a:ext cx="10966450" cy="3663312"/>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ZEST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2026.01 · Science Robotics 11(117)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다음 한 스텝 기준만 보는 잔차 추종 RL, 적응 표집과 보조 렌치 커리큘럼. 모션 캡처·영상·애니메이션에서 Atlas·G1·Spot으로. 시뮬에서 Boston Dynamics 전신 MPC와 비교(걷기 대등, 조깅·옆돌기 RL 우세)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DOI</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UMV (Ultra Mobility Vehicle)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자전거와 반동 질량을 합친 23.5 kg 바퀴 로봇. 최고 8 m/s, 1 m 장애물 점프, 제약 RL을 실물에 바로. 후속은 앞공중제비(ICRA 2026), LineRides(RA-L 2026), 곡예 묶음(2026-08)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RAI 블로그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Roadrunner (RAI)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 · RAI 영상 페이지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약 15 kg 바퀴 이족 시제품. 바퀴를 나란히 또는 앞뒤로 바꾸고, 한 정책이 두 주행을 맡는다. 논문 없음(2026-10-07). 인식 A.10.1의 RoadRunner와 다른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페이지</a:t>
                      </a:r>
                    </a:p>
                  </a:txBody>
                  <a:tcPr marL="63500" marR="63500" marT="12700" marB="12700">
                    <a:solidFill>
                      <a:srgbClr val="FFFDF8"/>
                    </a:solidFill>
                  </a:tcPr>
                </a:tc>
              </a:tr>
              <a:tr h="559752">
                <a:tc>
                  <a:txBody>
                    <a:bodyPr wrap="square"/>
                    <a:lstStyle/>
                    <a:p>
                      <a:r>
                        <a:rPr sz="800" b="0" i="0">
                          <a:solidFill>
                            <a:srgbClr val="16213A"/>
                          </a:solidFill>
                          <a:latin typeface="Arial"/>
                          <a:ea typeface="Malgun Gothic"/>
                          <a:cs typeface="Malgun Gothic"/>
                        </a:rPr>
                        <a:t>Sumo: Dynamic and Generalizable Whole-Body Loco-Manipulation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 · arXiv(v3 2026-09, 발표처 표기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학습한 전신 정책(Spot은 ReLIC, G1은 mjlab 속도 정책)을 샘플링 MPC(CEM, 표본 32개, 1.5 s, 20 Hz)가 조종한다. rollout 안에서 정책과 MuJoCo 물리를 함께 굴린다. 실물 Spot 8과제 72/80, 15 kg 타이어 세우기 10/10. 옮기기 시뮬에서 관절 수준 MPC 0.00–0.50, Sumo 0.85–1.00. 상태는 모션 캡처, 계산은 외부 64코어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프로젝트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Jacta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2024.08 · CoRL 2024(RAI Institute 페이지 표기)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샘플링과 기울기 행동으로 탐색 트리를 키우는 계획기. 그 해를 RL의 시연으로 넣는다(RAI Institute)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SMPC 시연 + 희소 보상 RL (RAI Institute)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 · CoRL 2026(프로젝트 페이지 표기, spotlight)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Warp의 샘플링 MPC 시연으로 off-policy RL(FastTD3 변형)을 띄우고 희소 보상만으로 교사보다 빠른 이동 조작(팔 달린 Spot, G1). 시연은 성공률 10%에서 뺀다. 해가 여러 갈래로 섞인 시연은 학습 실패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프로젝트</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볼록 MPC (Di Carlo 외, MIT Cheetah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2018.10 · IROS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단순화한 몸통 동역학으로 지면 반력 계획을 볼록 최적화로 세우고, 최대 0.5 s 지평을 20–30 Hz로 1 ms 안에 푼다. Cheetah 3 최고 3 m/s. 공개 구현은 Cheetah-Software의 convexMPC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r>
                        <a:rPr sz="800" b="0" i="0">
                          <a:solidFill>
                            <a:srgbClr val="16213A"/>
                          </a:solidFill>
                          <a:latin typeface="Arial"/>
                          <a:ea typeface="Malgun Gothic"/>
                          <a:cs typeface="Malgun Gothic"/>
                        </a:rPr>
                        <a:t> MIT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Mini Cheetah, Cheetah-Software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2019.05 · ICRA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키 약 0.3 m, 9 kg의 소형 사족과 공개 제어 코드(볼록 MPC, WBC). Rapid Locomotion과 Ji 2022의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에너지 최소화 걸음새 (Fu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2021.10 · CoRL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기계 일률 벌점 하나로 A1에서 속도에 따라 walk·trot·bounce가 나온다. RMA로 실물에 옮겼고, 1 m 이동 에너지가 볼록 MPC 걸음보다 작다(시뮬레이션)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논문</a:t>
                      </a:r>
                    </a:p>
                  </a:txBody>
                  <a:tcPr marL="63500" marR="63500" marT="12700" marB="12700">
                    <a:solidFill>
                      <a:srgbClr val="FFFDF8"/>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16/19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101 / 109</a:t>
            </a:r>
          </a:p>
        </p:txBody>
      </p:sp>
      <p:graphicFrame>
        <p:nvGraphicFramePr>
          <p:cNvPr id="5" name="Table 4"/>
          <p:cNvGraphicFramePr>
            <a:graphicFrameLocks noGrp="1"/>
          </p:cNvGraphicFramePr>
          <p:nvPr/>
        </p:nvGraphicFramePr>
        <p:xfrm>
          <a:off x="609600" y="1244600"/>
          <a:ext cx="10966450" cy="35424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VP-Nav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2021.12 · CVPR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FMM 비용 지도 Planner, RMA 보행 정책, proprioception 안전 조언(충돌 감지 칸 추가, 넘어짐 확률로 속도 상한). 보이지 않는 장애물 8개에서 성공 24.35%를 39.25%로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Apache-2.0</a:t>
                      </a:r>
                    </a:p>
                  </a:txBody>
                  <a:tcPr marL="63500" marR="63500" marT="12700" marB="12700">
                    <a:solidFill>
                      <a:srgbClr val="FFFDF8"/>
                    </a:solidFill>
                  </a:tcPr>
                </a:tc>
              </a:tr>
              <a:tr h="438864">
                <a:tc>
                  <a:txBody>
                    <a:bodyPr wrap="square"/>
                    <a:lstStyle/>
                    <a:p>
                      <a:r>
                        <a:rPr sz="800" b="0" i="0">
                          <a:solidFill>
                            <a:srgbClr val="16213A"/>
                          </a:solidFill>
                          <a:latin typeface="Arial"/>
                          <a:ea typeface="Malgun Gothic"/>
                          <a:cs typeface="Malgun Gothic"/>
                        </a:rPr>
                        <a:t>정책·상태 추정기 동시 학습 (Ji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2022.02 · RA-L 7(2) 2022, ICRA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선속도·발 높이·접촉 확률 추정망을 정책과 함께 RaiSim에서 학습. Mini Cheetah 평지 3.75 m/s, 마찰 0.22 판 3.54 m/s. Walk These Ways·DribbleBot·ASMP 추정기의 원형, DreamWaQ의 기준선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 F.6.1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실물 코드</a:t>
                      </a:r>
                      <a:r>
                        <a:rPr sz="800" b="0" i="0">
                          <a:solidFill>
                            <a:srgbClr val="16213A"/>
                          </a:solidFill>
                          <a:latin typeface="Arial"/>
                          <a:ea typeface="Malgun Gothic"/>
                          <a:cs typeface="Malgun Gothic"/>
                        </a:rPr>
                        <a:t> MIT</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Rapid Locomotion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2022.05 · RSS 2022, IJRR 43(4)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(전진, 회전) 명령 격자 커리큘럼과 15스텝 이력 교사–학생. Mini Cheetah 실내 3.9 m/s, 잔디 10 m 평균 3.4 m/s. 6.0 m/s 명령의 sim-to-real 격차를 이력 추정이 2.58에서 1.65 m/s로 줄임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IJRR</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코드</a:t>
                      </a:r>
                      <a:r>
                        <a:rPr sz="800" b="0" i="0">
                          <a:solidFill>
                            <a:srgbClr val="16213A"/>
                          </a:solidFill>
                          <a:latin typeface="Arial"/>
                          <a:ea typeface="Malgun Gothic"/>
                          <a:cs typeface="Malgun Gothic"/>
                        </a:rPr>
                        <a:t> MIT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자기 중심 깊이 보행 (Agarwal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2022.11 · CoRL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지도 없이 깊이 영상과 GRU 기억으로 걷는다. scandots 교사를 DAgger로 증류. A1 17 cm 계단 100%, 징검돌 94%, 26 cm 틈 100%(계단과 징검돌·틈은 카메라가 다른 별도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프로젝트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변형 지형 보행 (Choi 2023, Raibo)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2023.01 · Science Robotics 8(74)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부가 질량 입자 접촉 모델(한 점 접촉, 쿨롱 마찰, 발 옆면 저항)과 지면 성질을 암묵 추정하는 순환망. 해변 모래 3.03 m/s, 에어 매트리스 1.54 rad/s. 본문 유료, 공개 코드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KAIST 보도</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DribbleBot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2023.04 · ICRA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Walk These Ways 위의 드리블 정책. 공 항력 무작위화, 어안 카메라와 미세조정 YOLOv7(빼면 시험한 네 지형 모두 0/4), 넘어짐 회복 전환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코드</a:t>
                      </a:r>
                      <a:r>
                        <a:rPr sz="800" b="0" i="0">
                          <a:solidFill>
                            <a:srgbClr val="16213A"/>
                          </a:solidFill>
                          <a:latin typeface="Arial"/>
                          <a:ea typeface="Malgun Gothic"/>
                          <a:cs typeface="Malgun Gothic"/>
                        </a:rPr>
                        <a:t> MIT</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Lifelike Agility and Play (Tencent Robotics 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2023.08 · Nature Machine Intelligence 6(7)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 모션 캡처를 VQ 이산 잠재로 익힌 동작 층(PMC), 25 × 13 높이 지도를 보는 환경 층(EPMC, 전문가 증류), 방향·속도를 내는 전략 층(SEPMC, 자기 대국)을 차례로 사전학습. PyBullet PPO, 자체 사족 MAX(14 kg)에 zero-shot. 실물 지형 정보는 모션 캡처(깊이 카메라 학생 판도 시연)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NMI</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Crop-LSTM (Raicart)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2023.09 · RA-L 9(5)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로봇 Raicart에서 예측 궤적을 따라 잘라 낸 RGBD 영상 조각으로 3초 앞 위치·방향·흔들림을 예측해 비포장 point-goal 내비에 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RA-L</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ASMP (Active Sensing Motor Policies)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2023.11 · CoRL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시뮬레이션에서 배운 proprioception 마찰 추정기로 실물 주행 영상에 자기지도 라벨을 붙이고, 추정이 정확해지도록 발로 땅을 쓸어 보는 걸음을 학습. Go1 15분 주행으로 배운 시각 모듈이 드론 영상에도 통함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프로젝트</a:t>
                      </a:r>
                    </a:p>
                  </a:txBody>
                  <a:tcPr marL="63500" marR="63500" marT="12700" marB="12700">
                    <a:solidFill>
                      <a:srgbClr val="FFFDF8"/>
                    </a:solidFill>
                  </a:tcPr>
                </a:tc>
              </a:tr>
            </a:tbl>
          </a:graphicData>
        </a:graphic>
      </p:graphicFrame>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17/19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102 / 109</a:t>
            </a:r>
          </a:p>
        </p:txBody>
      </p:sp>
      <p:graphicFrame>
        <p:nvGraphicFramePr>
          <p:cNvPr id="5" name="Table 4"/>
          <p:cNvGraphicFramePr>
            <a:graphicFrameLocks noGrp="1"/>
          </p:cNvGraphicFramePr>
          <p:nvPr/>
        </p:nvGraphicFramePr>
        <p:xfrm>
          <a:off x="609600" y="1244600"/>
          <a:ext cx="10966450" cy="36948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라이보2 마라톤 (Lee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2025.03 · Nature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기구·전장·보행 정책을 한 에너지 손실 모델로 설계. 한 번 충전으로 42.195 km를 4시간 19분 52초, TCOT 0.25. 첫 공개는 Research Square 프리프린트. 학습·보상 항 제거 시험 코드 공개(MIT, RaiSim 필요)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프리프린트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KAIST 보도</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r>
                        <a:rPr sz="800" b="0" i="0">
                          <a:solidFill>
                            <a:srgbClr val="16213A"/>
                          </a:solidFill>
                          <a:latin typeface="Arial"/>
                          <a:ea typeface="Malgun Gothic"/>
                          <a:cs typeface="Malgun Gothic"/>
                        </a:rPr>
                        <a:t> MIT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Sim-to-Real Learning of All Common Bipedal Gaits(Siekmann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2020.11 · ICRA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힘·속도의 확률적 주기 비용을 합성한 보상으로 Cassie의 서기·걷기·깡충 뛰기·달리기·스킵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Blind Bipedal Stair Traversal(Siekmann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2021.05 · RSS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보상은 그대로 두고 계단 모양 지형 무작위화만 더해 고유감각만으로 실제 계단(Cassie). 1저자 소속에 Agility 병기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Real-World Humanoid Locomotion(HT, Radosavovic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2023.03 · Science Robotics 9(89)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고유감각 이력 causal transformer, 교사 KL 가중을 0으로 줄여 가는 RL, Digit 실외 일주일 무낙상. v1 제목은 Learning Humanoid Locomotion with Transformers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Versatile Bipedal Locomotion(Cassie, Li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2024.01 · IJRR 44(5)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짧은·긴 입출력 이력(dual history), 과제 무작위화, 400 m 2분 34초·1.4 m 멀리뛰기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2"/>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ExBody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2024.02 · RSS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상체만 동작 모방, 하체는 몸통 속도 목표, 기준 상태 초기화(RSI)가 결정적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 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Humanoid Locomotion as Next Token Prediction(NTP)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2024.02 · NeurIPS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없는 기록을 mask 토큰으로 섞은 다음 토큰 예측, 예측 오차와 추종 오차의 상관 r = 0.87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Denoising World Model Learning(DWL)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2024.08 · RSS 2024(최우수 논문상 최종 후보)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잡음 섞은 고유수용 관측 이력에서 특권 상태 184차원을 복원하는 손실을 PPO와 한 손실로 학습, XBot-S·L이 눈길·10 cm 계단·요철을 망 하나로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 갤러리 G.14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Humanoid-Gym</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H2O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2024.03 · IROS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카메라 실시간 전신 원격조종, 특권 모방 정책으로 실행할 수 없는 동작을 거르는 sim-to-data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 I.3, I.6, 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OmniH2O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2024.06 · CoRL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머리·두 손 세 점 인터페이스, 25스텝 이력 학생(DAgger), GPT-4o·Diffusion Policy 상위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 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HumanPlus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CoRL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그림자 원격조종 하위 정책과 미래 영상 특징을 함께 예측하는 상위 모방 정책, 시연 40개 이하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 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3"/>
                        </a:rPr>
                        <a:t>코드</a:t>
                      </a:r>
                    </a:p>
                  </a:txBody>
                  <a:tcPr marL="63500" marR="63500" marT="12700" marB="12700">
                    <a:solidFill>
                      <a:srgbClr val="FFFDF8"/>
                    </a:solidFill>
                  </a:tcPr>
                </a:tc>
              </a:tr>
            </a:tbl>
          </a:graphicData>
        </a:graphic>
      </p:graphicFrame>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18/19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103 / 109</a:t>
            </a:r>
          </a:p>
        </p:txBody>
      </p:sp>
      <p:graphicFrame>
        <p:nvGraphicFramePr>
          <p:cNvPr id="5" name="Table 4"/>
          <p:cNvGraphicFramePr>
            <a:graphicFrameLocks noGrp="1"/>
          </p:cNvGraphicFramePr>
          <p:nvPr/>
        </p:nvGraphicFramePr>
        <p:xfrm>
          <a:off x="609600" y="1244600"/>
          <a:ext cx="10966450" cy="3771024"/>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Humanoid Parkour 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2024.06 · CoRL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영상 전신 파쿠르, 프랙탈 지형, 난이도 격자 커리큘럼, DTC식 발 디딤 보상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4"/>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Berkeley Humanoid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2024.07 · ICRA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시뮬레이션하기 쉬운 16 kg 휴머노이드, 잴 수 있는 값만 좁게 무작위화, 이력 없는 MLP로 산길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HT-2: Learning Humanoid Locomotion over Challenging Terrain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2024.10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평지 시퀀스 사전학습 뒤 험지 RL 미세조정(모방 항 없음), 버클리 산길 약 4.3마일·경사 31% 도로. 제목이 비슷한 HPC와 다른 논문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Agility Robotics Digit RL(회사 블로그)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2024.10 · 벤더 블로그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하체 정책, 발가락 접촉 sim-to-real 6개월, 100만 미만 LSTM 전신 제어 기반 모델(위치 목표, 2025-08), 세 층 스택(2026-03)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2024-10</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2025-08</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1"/>
                        </a:rPr>
                        <a:t>2026-03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PIM(Perceptive Internal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2024.11 · ICRA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중심 높이 지도를 보는 HIM 기반 휴머노이드 보행, BeamDojo와 전방향 계단 보행(A.8.2)의 비교 기준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 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ExBody2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2024.12 ·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기본 정책 추종 오차로 데이터 거르기(중간 문턱), 일반–전문 미세조정, 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 I.6, 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프로젝트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Berkeley Humanoid Lite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2025.04 · RSS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프린트 감속기와 시중 부품으로 만든 5,000달러 이하 공개 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AMO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2025.05 · RSS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sim-to-real RL과 궤적 최적화를 묶은 전신 작업 공간 제어, 29자유도 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8"/>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GMT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2025.06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적응 표집과 동작 MoE로 정책 하나가 여러 동작을 따르는 범용 동작 추종, 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 I.8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0"/>
                        </a:rPr>
                        <a:t>코드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BeyondMimic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2025.08 · Science Robotics 11(117)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한 설정의 동작 추종 RL과 잠재 상태–행동 diffusion, SDF 장벽 유도로 장애물 회피, OU 잡음 오차 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B.16.6, I.8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1"/>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2"/>
                        </a:rPr>
                        <a:t>코드</a:t>
                      </a:r>
                    </a:p>
                  </a:txBody>
                  <a:tcPr marL="63500" marR="63500" marT="12700" marB="12700">
                    <a:solidFill>
                      <a:srgbClr val="F3F0E8"/>
                    </a:solidFill>
                  </a:tcPr>
                </a:tc>
              </a:tr>
              <a:tr h="438864">
                <a:tc>
                  <a:txBody>
                    <a:bodyPr wrap="square"/>
                    <a:lstStyle/>
                    <a:p>
                      <a:r>
                        <a:rPr sz="800" b="0" i="0">
                          <a:solidFill>
                            <a:srgbClr val="16213A"/>
                          </a:solidFill>
                          <a:latin typeface="Arial"/>
                          <a:ea typeface="Malgun Gothic"/>
                          <a:cs typeface="Malgun Gothic"/>
                        </a:rPr>
                        <a:t>PASSAGE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VR 모션 캡처로 장면과 맞춘 사람 동작 100시간(증강 1,000시간), 3층 높이 지도를 보는 flow matching 계획기 + 지형을 보는 ScaleBFM 추종기, RTC·고정 추종기 아래 RL 후학습, 시뮬레이션 무접촉 성공 70.3 %, G1 실물 50/50 도달(무접촉 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4"/>
                        </a:rPr>
                        <a:t>프로젝트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autonomy_stack_diablo_setup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GitHub (CMU)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메카넘·Go2판과 같은 기본 자율을 Diablo 바퀴 다리 로봇에(Mid-360, ROS 2 Jazzy). 라이선스 표기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5"/>
                        </a:rPr>
                        <a:t>코드</a:t>
                      </a:r>
                    </a:p>
                  </a:txBody>
                  <a:tcPr marL="63500" marR="63500" marT="12700" marB="12700">
                    <a:solidFill>
                      <a:srgbClr val="F3F0E8"/>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D.8 로코모션·시스템 스택 (4족·휴머노이드)</a:t>
            </a:r>
            <a:r>
              <a:rPr sz="1050" b="0" i="0">
                <a:solidFill>
                  <a:srgbClr val="5A6478"/>
                </a:solidFill>
                <a:latin typeface="Arial"/>
                <a:ea typeface="Malgun Gothic"/>
                <a:cs typeface="Malgun Gothic"/>
              </a:rPr>
              <a:t>  19/19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104 / 109</a:t>
            </a:r>
          </a:p>
        </p:txBody>
      </p:sp>
      <p:graphicFrame>
        <p:nvGraphicFramePr>
          <p:cNvPr id="5" name="Table 4"/>
          <p:cNvGraphicFramePr>
            <a:graphicFrameLocks noGrp="1"/>
          </p:cNvGraphicFramePr>
          <p:nvPr/>
        </p:nvGraphicFramePr>
        <p:xfrm>
          <a:off x="609600" y="1244600"/>
          <a:ext cx="10966450" cy="2212656"/>
        </p:xfrm>
        <a:graphic>
          <a:graphicData uri="http://schemas.openxmlformats.org/drawingml/2006/table">
            <a:tbl>
              <a:tblPr firstRow="1" bandRow="1">
                <a:tableStyleId>{5C22544A-7EE6-4342-B048-85BDC9FD1C3A}</a:tableStyleId>
              </a:tblPr>
              <a:tblGrid>
                <a:gridCol w="2941241"/>
                <a:gridCol w="2052935"/>
                <a:gridCol w="4283075"/>
                <a:gridCol w="635000"/>
                <a:gridCol w="105419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End-to-End Humanoid Safe and Comfortable Locomotion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시공간 LiDAR 점군 → 관절 명령, CBF를 CMDP 비용으로 P3O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Whole-Body Inverse Dynamics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2025.11 · RA-L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전체 역동역학으로 관절 토크를 최적화하는 전신 MPC, B2 + Z1 80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FocusNav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정책이 예측한 waypoint 둘레의 BEV 특징만 보는 cross-attention, 안정성 게이트, 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PILOT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지각 보행과 전신 제어를 한 RL 정책에, MoE, 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B.16.8, L.8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CMP(Competence Manifold Projection)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 · CoRL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잠재 명령을 안전 확률이 정한 구 안으로 투영, Go2 + 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프로젝트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GLAD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지도 전역·국소 attention 분해, 전진 명령만으로 좁은 길 따라가기, 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논문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LP-NavOA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얼린 보행 정책의 진행 방향만 덮어쓰는 GRU Planner, 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PADP(From Policy Actions to Whole-Body Dynamics)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 · RA-L 11(11)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행동을 동역학·접촉을 지키는 전신 변수로 투영한 뒤 전신 QP, 점 발·바퀴 발 사족 + 팔. 본문 비공개, 초록 기준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DOI</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FIBER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기술 정책을 얼린 행동 기반 모델의 잠재 명령으로 투영, flow Planner 하나, 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3"/>
                        </a:rPr>
                        <a:t>프로젝트</a:t>
                      </a:r>
                    </a:p>
                  </a:txBody>
                  <a:tcPr marL="63500" marR="63500" marT="12700" marB="12700">
                    <a:solidFill>
                      <a:srgbClr val="FFFDF8"/>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D.9 데이터셋·벤치마크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105 / 109</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2251670"/>
                <a:gridCol w="5922764"/>
                <a:gridCol w="1086545"/>
                <a:gridCol w="1705471"/>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STONE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오프로드 traversability(LiDAR 128ch + 카메라 6 + 4D 레이더)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A.3</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UniOcc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nuScenes/Waymo/CARLA/OPV2V 통합 occupancy + 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A.4, A.6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코드</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HF</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Cam4DOcc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4D occupancy 예측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GrandTour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ANYmal-D 멀티모달 49회 실주행(RSS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HF</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NaviTrace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1인칭 이미지 + 언어 + 로봇형태 → 2D 경로(sidewalk 포함)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HF</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humanoid-everyday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휴머노이드 RGB + 깊이 + LiDAR + 촉각 + IMU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HF</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egocentric-video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착용 스테레오 1인칭 영상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HF</a:t>
                      </a:r>
                    </a:p>
                  </a:txBody>
                  <a:tcPr marL="63500" marR="63500" marT="12700" marB="12700">
                    <a:solidFill>
                      <a:srgbClr val="FFFDF8"/>
                    </a:solidFill>
                  </a:tcPr>
                </a:tc>
              </a:tr>
            </a:tbl>
          </a:graphicData>
        </a:graphic>
      </p:graphicFrame>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D.10 벤더·산업 자료 (PR 색채 주의)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106 / 109</a:t>
            </a:r>
          </a:p>
        </p:txBody>
      </p:sp>
      <p:graphicFrame>
        <p:nvGraphicFramePr>
          <p:cNvPr id="5" name="Table 4"/>
          <p:cNvGraphicFramePr>
            <a:graphicFrameLocks noGrp="1"/>
          </p:cNvGraphicFramePr>
          <p:nvPr/>
        </p:nvGraphicFramePr>
        <p:xfrm>
          <a:off x="609600" y="1244600"/>
          <a:ext cx="10966450" cy="3636960"/>
        </p:xfrm>
        <a:graphic>
          <a:graphicData uri="http://schemas.openxmlformats.org/drawingml/2006/table">
            <a:tbl>
              <a:tblPr firstRow="1" bandRow="1">
                <a:tableStyleId>{5C22544A-7EE6-4342-B048-85BDC9FD1C3A}</a:tableStyleId>
              </a:tblPr>
              <a:tblGrid>
                <a:gridCol w="1457325"/>
                <a:gridCol w="7370366"/>
                <a:gridCol w="879475"/>
                <a:gridCol w="125928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Coco Robotics Coco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 발표. 보도 배달로봇 자율화. 학습 스택으로 Isaac Sim·Isaac Lab·Omniverse·Cosmos, 함대 운용 데이터와 사람 개입 피드백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S.7, B.6d</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발표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RIVR (구 Swiss-Mile)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ETH RSL 스핀오프 바퀴·다리 배달로봇. 창업자 다섯(Hutter 포함). 연구 때는 ANYmal, 법인 뒤 Unitree B2 기반, RIVR TWO(2026-03, 55 L)는 자체 설계. RIVR ONE 공식 14 km/h·적재 30 kg 이상·1회 충전 30 km 이상, 계단 보행. 오스틴(Veho)·취리히(Just Eat) 감독 아래 시범 배송(2025), 2026-03-19 Amazon 인수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공식</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5"/>
                        </a:rPr>
                        <a:t>기사</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6"/>
                        </a:rPr>
                        <a:t>기사</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Skild AI (Skild Brain, S1)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Pathak·Gupta 창업(2023). 몸체 무관 2층 로봇 두뇌, 시연 영상 한 편을 맥락에 넣는 조작 모델 S1(2026-08). 수치는 사내 벤치마크(사람 개입 복구를 허용한 단계별 누적 성공률), 가중치·논문 없음. 기업가치 140억 달러 이상(2026-01), ARR 1억 달러(자체 발표)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S1</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Skild Brain</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9"/>
                        </a:rPr>
                        <a:t>영상 보행</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Boston Dynamics Spot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스테레오 깊이 5쌍, 학습 기반 계단 분류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공식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Boston Dynamics Atlas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ToF + 스테레오, 다중 평면 분할 매핑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블로그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ANYbotics ANYmal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360° LiDAR + 깊이 카메라 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공식</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Unitree Go2 / G1·H1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Go2는 4D LiDAR L2(360° × 96°)와 광각 카메라, EDU 판에만 깊이 카메라(공식 페이지, 2026-10-07). 같은 페이지의 2026-01 보관본은 L1(360° × 90°)이었다. G1·H1은 깊이 카메라 + 3D LiDAR. 공개 SDK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 A.8, B.16.5, 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Go2</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4"/>
                        </a:rPr>
                        <a:t>Go2 2026-01 보관본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5"/>
                        </a:rPr>
                        <a:t>G1</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6"/>
                        </a:rPr>
                        <a:t>H1</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7"/>
                        </a:rPr>
                        <a:t>SDK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Figure 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6 + 손바닥 카메라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공식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1X NEO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스테레오 어안 2 + Jetson Thor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공식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Figure Project Go-Big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1인칭 영상만으로 영상·언어 → SE(2) 속도 내비게이션(2025-09)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공식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Figure 02 RL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시뮬레이션 RL로 배운 끝에서 끝 보행 정책을 도메인 무작위화와 고주파 토크 되먹임으로 Figure 02 전체에 그대로 올렸다고 밝혔다. 수치 없음(2025-03)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1"/>
                        </a:rPr>
                        <a:t>공식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Figure Helix 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행동 데이터 사전학습, 처음 보는 30가구 조작 56%(2026-09)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2"/>
                        </a:rPr>
                        <a:t>공식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Sunday ACT-1 (Memo)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장갑 시연으로 학습, 3D 지도 조건 내비게이션 + 조작(2025-11)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3"/>
                        </a:rPr>
                        <a:t>블로그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Flexion Reflect v1.0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 임무 → VLA·RL 기술 → 전신 제어(Reflex), 16단계 임무 90%(2026-06)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A.8.1, B.16.3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4"/>
                        </a:rPr>
                        <a:t>공식</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Niantic Spatial·Flexion·NVIDIA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360° 카메라 → 3DGS + 충돌 메시 → NuRec USDZ, RGB 내비 정책이 깊이와 대등(2026-07)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25"/>
                        </a:rPr>
                        <a:t>블로그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26"/>
                        </a:rPr>
                        <a:t>영상</a:t>
                      </a:r>
                    </a:p>
                  </a:txBody>
                  <a:tcPr marL="63500" marR="63500" marT="12700" marB="12700">
                    <a:solidFill>
                      <a:srgbClr val="FFFDF8"/>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D.10 벤더·산업 자료 (PR 색채 주의)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107 / 109</a:t>
            </a:r>
          </a:p>
        </p:txBody>
      </p:sp>
      <p:graphicFrame>
        <p:nvGraphicFramePr>
          <p:cNvPr id="5" name="Table 4"/>
          <p:cNvGraphicFramePr>
            <a:graphicFrameLocks noGrp="1"/>
          </p:cNvGraphicFramePr>
          <p:nvPr/>
        </p:nvGraphicFramePr>
        <p:xfrm>
          <a:off x="609600" y="1244600"/>
          <a:ext cx="10966450" cy="833040"/>
        </p:xfrm>
        <a:graphic>
          <a:graphicData uri="http://schemas.openxmlformats.org/drawingml/2006/table">
            <a:tbl>
              <a:tblPr firstRow="1" bandRow="1">
                <a:tableStyleId>{5C22544A-7EE6-4342-B048-85BDC9FD1C3A}</a:tableStyleId>
              </a:tblPr>
              <a:tblGrid>
                <a:gridCol w="1457325"/>
                <a:gridCol w="7370366"/>
                <a:gridCol w="879475"/>
                <a:gridCol w="125928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RealSense + LimX Dynamics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 cuVSLAM 휴머노이드 자율 내비게이션(GTC 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A.8.1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발표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Dyna Robotics DYNA-2.1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 발표. 조향 바퀴 네 개 바닥의 반휴머노이드 Taku, VL 오케스트레이터 + DYNA-2 정책(5 Hz) + RL 전신 제어기(100 Hz). 호텔 세탁 1시간 연속, 사람 영상 100만 시간 사전학습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A.8.1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블로그</a:t>
                      </a:r>
                    </a:p>
                  </a:txBody>
                  <a:tcPr marL="63500" marR="63500" marT="12700" marB="12700">
                    <a:solidFill>
                      <a:srgbClr val="F3F0E8"/>
                    </a:solidFill>
                  </a:tcPr>
                </a:tc>
              </a:tr>
            </a:tbl>
          </a:graphicData>
        </a:graphic>
      </p:graphicFrame>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D.12 IROS 2026 수확 (개요 문서 "학회 수확")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108 / 109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채택 논문 1,929편 가운데 travplan의 열린 질문에 걸리는 것이다. 괄호 안은 논문 번호다.</a:t>
            </a:r>
          </a:p>
        </p:txBody>
      </p:sp>
      <p:graphicFrame>
        <p:nvGraphicFramePr>
          <p:cNvPr id="6" name="Table 5"/>
          <p:cNvGraphicFramePr>
            <a:graphicFrameLocks noGrp="1"/>
          </p:cNvGraphicFramePr>
          <p:nvPr/>
        </p:nvGraphicFramePr>
        <p:xfrm>
          <a:off x="609600" y="1549995"/>
          <a:ext cx="10966450" cy="3014184"/>
        </p:xfrm>
        <a:graphic>
          <a:graphicData uri="http://schemas.openxmlformats.org/drawingml/2006/table">
            <a:tbl>
              <a:tblPr firstRow="1" bandRow="1">
                <a:tableStyleId>{5C22544A-7EE6-4342-B048-85BDC9FD1C3A}</a:tableStyleId>
              </a:tblPr>
              <a:tblGrid>
                <a:gridCol w="2154833"/>
                <a:gridCol w="2215753"/>
                <a:gridCol w="5488186"/>
                <a:gridCol w="572889"/>
                <a:gridCol w="5347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저자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요약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본문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TNT (508)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Pan, Datar, Xiao 등 (GMU)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못 갈 것 같은 바위 지형을 지난 주행의 기울기·속도 어긋남·자세 예측 오차로 다시 매긴다. 한 코스 10회에서 성공 9/10(TNT 없는 MPPI 6/10), 코드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논문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Remember Your Driving Feel (1304)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Xie 등 (NUDT)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POLT. 고유 감각으로 traversability를 주행 중에 배우고, 동적 메모리로 오프라인 물리 prior와 합친다. 2026-10-26 현재 본문 미공개(초록만)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색인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TravKAN (2427)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Fusaro, Mosco, Li, Pretto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Kolmogorov–Arnold 망으로 빠르고 해석 가능한 traversability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 A.10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색인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Observation-Conditioned Rollout Allocation (3312)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Diaz-Pichardo, Mandow, Vázquez-Martín (말라가 대학)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OCRA. 좁은 고도 지도에서 학습한 정책이 진행 방향 seed 사이에 rollout 192개를 나눈다. 균일 배분보다 주행 거리 12–16 %, 위반 20–49 % 감소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원고</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MSC (3480)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Park, Lee, Lim, Choi, Kim (KAIST)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수동 캐스터를 단 차동구동 AMR의 두 층 제어. RL 실행 층이 캐스터 상태와 분산을 예측하고, NMPC가 그 분산으로 비용 가중치를 바꾼다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논문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RayOcc (1720)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Kim, Lee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가우시안 혼합 세기로 가림 인지 ray occupancy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 A.5</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색인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OGM-CBF (3618)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Raja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시야 밖 장애물을 기억하는 점유 격자 기반 CBF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 C</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색인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Streaming Gaussian Encoding (2962)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Luz, Nürnberg, Miron, Valada (Freiburg, Bosch)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SGE. 가우시안 8,192개의 장면 상태에 관측 신뢰도를 쌓아 가려진 정적 구조를 유지하는 4D panoptic occupancy 추적. Best Paper·Best Student Paper 결선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8"/>
                        </a:rPr>
                        <a:t>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OccTrack360 (1298)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Lin, Luo, Yang 등 (후난 대학)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KITTI-360 측면 어안 2대의 4D panoptic occupancy 추적 벤치마크. 가림 마스크와 어안 시야 마스크 밖의 칸을 학습과 평가에서 뺀다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개요</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논문</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10"/>
                        </a:rPr>
                        <a:t>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PA-MPPI (68)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Zhai, Reiter, Scaramuzza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인식을 아는 MPPI, 미지 환경 쿼드로터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개요, E.1</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색인</a:t>
                      </a:r>
                    </a:p>
                  </a:txBody>
                  <a:tcPr marL="63500" marR="63500" marT="12700" marB="12700">
                    <a:solidFill>
                      <a:srgbClr val="F3F0E8"/>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참고문헌 · 로코모션·데이터·산업</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D.11 기타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참고문헌 (docs/research-references.md)    109 / 109</a:t>
            </a:r>
          </a:p>
        </p:txBody>
      </p:sp>
      <p:sp>
        <p:nvSpPr>
          <p:cNvPr id="5" name="TextBox 4"/>
          <p:cNvSpPr txBox="1"/>
          <p:nvPr/>
        </p:nvSpPr>
        <p:spPr>
          <a:xfrm>
            <a:off x="609600" y="1244600"/>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사용자 Notion 리서치 허브 — </a:t>
            </a:r>
            <a:r>
              <a:rPr sz="1050" b="0" i="0">
                <a:solidFill>
                  <a:srgbClr val="1D4ED8"/>
                </a:solidFill>
                <a:latin typeface="Arial"/>
                <a:ea typeface="Malgun Gothic"/>
                <a:cs typeface="Malgun Gothic"/>
                <a:hlinkClick r:id="rId3"/>
              </a:rPr>
              <a:t>VLA/E2E/Learning-based planning — Mobile robot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Cuturi, </a:t>
            </a:r>
            <a:r>
              <a:rPr sz="1050" b="0" i="1">
                <a:solidFill>
                  <a:srgbClr val="16213A"/>
                </a:solidFill>
                <a:latin typeface="Arial"/>
                <a:ea typeface="Malgun Gothic"/>
                <a:cs typeface="Malgun Gothic"/>
              </a:rPr>
              <a:t>Sinkhorn Distances: Lightspeed Computation of Optimal Transport</a:t>
            </a:r>
            <a:r>
              <a:rPr sz="1050" b="0" i="0">
                <a:solidFill>
                  <a:srgbClr val="16213A"/>
                </a:solidFill>
                <a:latin typeface="Arial"/>
                <a:ea typeface="Malgun Gothic"/>
                <a:cs typeface="Malgun Gothic"/>
              </a:rPr>
              <a:t>, NeurIPS 2013 — </a:t>
            </a:r>
            <a:r>
              <a:rPr sz="1050" b="0" i="0">
                <a:solidFill>
                  <a:srgbClr val="1D4ED8"/>
                </a:solidFill>
                <a:latin typeface="Arial"/>
                <a:ea typeface="Malgun Gothic"/>
                <a:cs typeface="Malgun Gothic"/>
                <a:hlinkClick r:id="rId4"/>
              </a:rPr>
              <a:t>논문</a:t>
            </a:r>
            <a:r>
              <a:rPr sz="1050" b="0" i="0">
                <a:solidFill>
                  <a:srgbClr val="16213A"/>
                </a:solidFill>
                <a:latin typeface="Arial"/>
                <a:ea typeface="Malgun Gothic"/>
                <a:cs typeface="Malgun Gothic"/>
              </a:rPr>
              <a:t>. 엔트로피 정규화 OT와 Sinkhorn–Knopp 반복의 출처 — 배경 0.2b의 ①과 ⑥이 이 반복을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Peyré·Cuturi, </a:t>
            </a:r>
            <a:r>
              <a:rPr sz="1050" b="0" i="1">
                <a:solidFill>
                  <a:srgbClr val="16213A"/>
                </a:solidFill>
                <a:latin typeface="Arial"/>
                <a:ea typeface="Malgun Gothic"/>
                <a:cs typeface="Malgun Gothic"/>
              </a:rPr>
              <a:t>Computational Optimal Transport</a:t>
            </a:r>
            <a:r>
              <a:rPr sz="1050" b="0" i="0">
                <a:solidFill>
                  <a:srgbClr val="16213A"/>
                </a:solidFill>
                <a:latin typeface="Arial"/>
                <a:ea typeface="Malgun Gothic"/>
                <a:cs typeface="Malgun Gothic"/>
              </a:rPr>
              <a:t>, 2019 — </a:t>
            </a:r>
            <a:r>
              <a:rPr sz="1050" b="0" i="0">
                <a:solidFill>
                  <a:srgbClr val="1D4ED8"/>
                </a:solidFill>
                <a:latin typeface="Arial"/>
                <a:ea typeface="Malgun Gothic"/>
                <a:cs typeface="Malgun Gothic"/>
                <a:hlinkClick r:id="rId5"/>
              </a:rPr>
              <a:t>논문</a:t>
            </a:r>
            <a:r>
              <a:rPr sz="1050" b="0" i="0">
                <a:solidFill>
                  <a:srgbClr val="16213A"/>
                </a:solidFill>
                <a:latin typeface="Arial"/>
                <a:ea typeface="Malgun Gothic"/>
                <a:cs typeface="Malgun Gothic"/>
              </a:rPr>
              <a:t>. Monge·Kantorovich·Wasserstein·Sinkhorn을 한자리에 모은 교과서 — "OT"가 뜻하는 여섯 가지를 가를 때의 출처(배경 0.2b)</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KAIST Urban Robotics Lab 연구자 페이지 — </a:t>
            </a:r>
            <a:r>
              <a:rPr sz="1050" b="0" i="0">
                <a:solidFill>
                  <a:srgbClr val="1D4ED8"/>
                </a:solidFill>
                <a:latin typeface="Arial"/>
                <a:ea typeface="Malgun Gothic"/>
                <a:cs typeface="Malgun Gothic"/>
                <a:hlinkClick r:id="rId6"/>
              </a:rPr>
              <a:t>Jiwon Park</a:t>
            </a:r>
            <a:r>
              <a:rPr sz="1050" b="0" i="0">
                <a:solidFill>
                  <a:srgbClr val="16213A"/>
                </a:solidFill>
                <a:latin typeface="Arial"/>
                <a:ea typeface="Malgun Gothic"/>
                <a:cs typeface="Malgun Gothic"/>
              </a:rPr>
              <a:t>(DreamFlow), </a:t>
            </a:r>
            <a:r>
              <a:rPr sz="1050" b="0" i="0">
                <a:solidFill>
                  <a:srgbClr val="1D4ED8"/>
                </a:solidFill>
                <a:latin typeface="Arial"/>
                <a:ea typeface="Malgun Gothic"/>
                <a:cs typeface="Malgun Gothic"/>
                <a:hlinkClick r:id="rId7"/>
              </a:rPr>
              <a:t>Dongkyu Lee</a:t>
            </a:r>
            <a:r>
              <a:rPr sz="1050" b="0" i="0">
                <a:solidFill>
                  <a:srgbClr val="16213A"/>
                </a:solidFill>
                <a:latin typeface="Arial"/>
                <a:ea typeface="Malgun Gothic"/>
                <a:cs typeface="Malgun Gothic"/>
              </a:rPr>
              <a:t>(TRG-planner, DreamFlow, DreamWaQ++, DreamFLEX, TRIP; </a:t>
            </a:r>
            <a:r>
              <a:rPr sz="1050" b="1" i="0">
                <a:solidFill>
                  <a:srgbClr val="C2410C"/>
                </a:solidFill>
                <a:latin typeface="Arial"/>
                <a:ea typeface="Malgun Gothic"/>
                <a:cs typeface="Malgun Gothic"/>
              </a:rPr>
              <a:t>2025-04부터 스핀오프 </a:t>
            </a:r>
            <a:r>
              <a:rPr sz="1050" b="1" i="0">
                <a:solidFill>
                  <a:srgbClr val="C2410C"/>
                </a:solidFill>
                <a:latin typeface="Arial"/>
                <a:ea typeface="Malgun Gothic"/>
                <a:cs typeface="Malgun Gothic"/>
              </a:rPr>
              <a:t>URobotics Corp.</a:t>
            </a:r>
            <a:r>
              <a:rPr sz="1050" b="1" i="0">
                <a:solidFill>
                  <a:srgbClr val="C2410C"/>
                </a:solidFill>
                <a:latin typeface="Arial"/>
                <a:ea typeface="Malgun Gothic"/>
                <a:cs typeface="Malgun Gothic"/>
              </a:rPr>
              <a:t>의 CTO·공동창업자</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8"/>
              </a:rPr>
              <a:t>I Made Aswin Nahrendra</a:t>
            </a:r>
            <a:r>
              <a:rPr sz="1050" b="0" i="0">
                <a:solidFill>
                  <a:srgbClr val="16213A"/>
                </a:solidFill>
                <a:latin typeface="Arial"/>
                <a:ea typeface="Malgun Gothic"/>
                <a:cs typeface="Malgun Gothic"/>
              </a:rPr>
              <a:t>(</a:t>
            </a:r>
            <a:r>
              <a:rPr sz="1050" b="1" i="0">
                <a:solidFill>
                  <a:srgbClr val="C2410C"/>
                </a:solidFill>
                <a:latin typeface="Arial"/>
                <a:ea typeface="Malgun Gothic"/>
                <a:cs typeface="Malgun Gothic"/>
              </a:rPr>
              <a:t>Dream* 계열 다섯 편의 1저자 또는 공저</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같은 페이지의 </a:t>
            </a:r>
            <a:r>
              <a:rPr sz="1050" b="0" i="0">
                <a:solidFill>
                  <a:srgbClr val="1D4ED8"/>
                </a:solidFill>
                <a:latin typeface="Arial"/>
                <a:ea typeface="Malgun Gothic"/>
                <a:cs typeface="Malgun Gothic"/>
                <a:hlinkClick r:id="rId9"/>
              </a:rPr>
              <a:t>ADD - Traversability Estimation, Off-Road Autonomous Driving</a:t>
            </a:r>
            <a:r>
              <a:rPr sz="1050" b="0" i="0">
                <a:solidFill>
                  <a:srgbClr val="16213A"/>
                </a:solidFill>
                <a:latin typeface="Arial"/>
                <a:ea typeface="Malgun Gothic"/>
                <a:cs typeface="Malgun Gothic"/>
              </a:rPr>
              <a:t> 블록 — A.10·E의 출처</a:t>
            </a:r>
          </a:p>
        </p:txBody>
      </p:sp>
      <p:sp>
        <p:nvSpPr>
          <p:cNvPr id="6" name="TextBox 5"/>
          <p:cNvSpPr txBox="1"/>
          <p:nvPr/>
        </p:nvSpPr>
        <p:spPr>
          <a:xfrm>
            <a:off x="609600" y="316706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Last updated: 2026-09-25 · 관련: </a:t>
            </a:r>
            <a:r>
              <a:rPr sz="1050" b="0" i="1">
                <a:solidFill>
                  <a:srgbClr val="16213A"/>
                </a:solidFill>
                <a:latin typeface="Consolas"/>
                <a:ea typeface="Malgun Gothic"/>
                <a:cs typeface="Malgun Gothic"/>
              </a:rPr>
              <a:t>docs/prd-p2.md</a:t>
            </a:r>
            <a:r>
              <a:rPr sz="1050" b="0" i="1">
                <a:solidFill>
                  <a:srgbClr val="16213A"/>
                </a:solidFill>
                <a:latin typeface="Arial"/>
                <a:ea typeface="Malgun Gothic"/>
                <a:cs typeface="Malgun Gothic"/>
              </a:rPr>
              <a:t>, </a:t>
            </a:r>
            <a:r>
              <a:rPr sz="1050" b="0" i="1">
                <a:solidFill>
                  <a:srgbClr val="16213A"/>
                </a:solidFill>
                <a:latin typeface="Consolas"/>
                <a:ea typeface="Malgun Gothic"/>
                <a:cs typeface="Malgun Gothic"/>
              </a:rPr>
              <a:t>docs/ARCHITECTURE.md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참고문헌</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