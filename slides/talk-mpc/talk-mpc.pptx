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발표는 리서치 탭의 MPC 구축 문서(§M)를 이야기로 옮긴 것입니다. MPPI를 대체하지 않고 형제로 NMPC를 더한 과정을 설계, 최근 연구, 작업 기록 순서로 살펴봅니다. 숫자는 모두 문서의 작업 기록과 STATE에서 가져왔고 TP 번호를 달았습니다.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부분으로 나눕니다. 앞의 셋은 무엇을 어떻게 세웠는지, 넷째는 바깥 연구와 비교, 다섯째는 실제로 잰 결과입니다. 결론을 먼저 말하면, 정적·보행자 조건에서는 NMPC가 MPPI와 같아졌지만 plant 조건에서는 지연을 아는 MPPI에 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2026-09-30 사용자 결정으로 MPPI와 NMPC를 함께 개발합니다. 강점이 갈리기 때문입니다. MPPI는 미분이 필요 없어 치명 셀 같은 계단 비용을 그대로 다루고, NMPC는 제약을 명시적으로 두므로 GP 분산이나 튜브가 조일 자리가 있습니다. 벤치마크가 planner+controller 문자열이라 guidance+mpc 스택이 그대로 생기고, 기존 MPPI 결과가 기준선이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주제는 설계입니다. 모델과 OCP를 보고, 솔버 설정에서 배운 것, 마지막으로 이 문서의 핵심인 치명도를 비용에서 제약으로 옮기는 결정을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상태에 차체 twist까지 넣은 것은 변화율, 즉 가속에 box 제약을 걸기 위해서입니다. 입력은 twist 변화율이고 이것은 SmoothMPPI와 Planner D의 제어 공간과 같은 좌표계입니다. horizon은 MPPI와 똑같이 40 스텝 0.1초로 맞췄습니다. 다르면 비교가 성립하지 않기 때문입니다. 마지막 줄의 mu_d는 뒤에서 볼 GP 잔차 자리입니다.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OCP는 단순합니다. 참조와의 위치 오차를 벌하고, 횡이동·회전·가속에는 약한 페널티를 주는 선형 최소제곱 비용입니다. 종단 가중치 50이 MPPI의 ReferenceCost가 하던 진행 역할을 맡습니다. 제약은 twist와 가속의 box 제약, 그리고 노드마다 치명 셀과 보행자에 대한 반평면 두 줄입니다. 가중치 값은 코드의 MPCConfig 기본값입니다.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반평면을 넣었을 때 2/4였습니다. 예측 노드가 제약을 위반한 채 status 0으로 최적이 되고 있었습니다. 페널티만 키우거나 반복만 늘려서는 부족했고, 둘을 함께 바꿔야 4/4가 됐습니다. hard 제약은 QP가 반복 한계에 걸려 오히려 나빴습니다. 그래서 기본값은 soft 1e6과 RTI 3회입니다.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MPPI의 CostTerm들을 MPC로 옮기면 세 갈래가 됩니다. 매끄러운 것은 비용으로 남고, 치명도와 보행자는 제약으로 가고, 목표 쪽은 종단 비용이 됩니다. 핵심은 마지막 줄입니다. 거리 제약의 오프셋 rho_k가 GP 분산, 튜브, SLP가 모두 조이는 양입니다. 경사와 거칠기의 매끄러운 지형 항은 아직 넣지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MPPI는 치명 페널티 10³으로 그 샘플을 버리지만, 미분으로 푸는 MPC에는 그 길이 없습니다. CasADi가 기호 위치로 격자를 고를 수 없어서, 실무 해법 셋 가운데 소수 장애물을 파라미터로 넘기는 방법을 골랐습니다. travplan의 치명 기하는 대부분 연석 벽이라 원 대신 접평면을 씁니다. 나중에 이산 CBF 감쇠를 더해, 노드의 여유 하한이 로봇 자신의 여유에서 기하급수로 줄어들게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치명 셀을 접평면 제약으로 넣은 것이 우회가 아니라 전제라는 말을 바깥 사례로 뒷받침합니다. 영상에서는 ANYmal이 틈과 징검다리를 건너며 발을 놓을 수 있는 영역을 노드마다 볼록 제약으로 근사한 NMPC로 걷는 것을 봅니다. 지형이 만드는 비볼록 조건을 국소 볼록 근사로 바꾸는 전략은 같고, 다만 다리 로봇은 전신 자유도까지 함께 풀어 문제가 훨씬 큽니다.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AntBot 제어기의 역기구학은 미분할 수 없는 연산으로 되어 있어 최적화에 넣지 않았습니다. 대신 모듈 한계를 차체 수준의 box 제약으로 옮겼습니다. Liu 외는 조향이 ±130°로 막힌 로봇에서 불연속 평면 8개가 속도 공간을 12구역으로 나눈다고 보였습니다. travplan plant는 ±56.2°라 구역 대신 바퀴마다 실현 가능 원뿔이 생기고, 정면 보행자를 횡이동으로 비키지 못한 원인이 이것이었습니다. NMPC에 넣는다면 원뿔의 매끄러운 근사를 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 그림의 평면이 실제로 무엇을 뜻하는지 영상으로 봅니다. 영상에서는 조향 한계에 따라 평면이 만들어지는 과정, 평면을 넘을 때 바퀴가 쉬지 않고 뒤집히는 기준 제어기, 그리고 속도 벡터를 평면에서 떨어뜨려 뒤집기를 막는 보강 Planner를 차례로 봅니다. travplan plant는 조향이 ±56.2°라 사정이 다르지만, 조향 한계가 속도 공간을 자른다는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주제는 학습 잔차입니다. GP 평균을 acados에 넣는 방법이 곧 0차 근사라는 점, 희소 GP를 고른 근거, 튜브의 설계, 세 층 예측 모델, 그리고 plant를 어디서 얻는지를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 평균을 노드별 acados 파라미터로 넣으면 솔버는 그것을 상수로 봅니다. 그래서 잔차의 미분이 구조적으로 0이 되고, 이것이 바로 0차 근사입니다. 따로 구현할 것이 없었습니다. 잔차는 plant를 켜고 guidance+mppi로 2,000 샘플을 모아 배웠고, 지연이 선형이라 선형 모형도 상당히 맞았습니다. 처음에는 예측 분산에 관측 잡음을 더하지 않아 크게 과신했습니다.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구조를 일반 도구로 만든 것이 L4acados입니다. 영상에서는 Python 잔차 모델을 acados에 붙이는 틀과 GP 기반 MPC의 적용 예를 봅니다. travplan의 mpc_gp는 GP 평균을 노드별 파라미터로 넘기는 0차 방식이고, L4acados는 잔차의 민감도까지 Python에서 받아 넘길 수 있는 일반 인터페이스라는 점이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잔차 데이터로 정확 GP, SGPR, RFF를 정확도, 보정, 시간, 분포 밖의 네 축으로 쟀습니다. dvx와 dvy는 지연이 선형이라 모든 모델이 같고 차이는 d omega에서만 납니다. 정확 GP는 데이터를 다 쓰면 refresh가 제어 주기를 넘고, RFF는 빠르지만 분포 밖에서 1.9까지 튑니다. SGPR 64로 바꾸자 정확 GP에서 나던 폐루프 발산이 사라졌습니다.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 분산이든 튜브든 SLP든 결국 같은 rho_k를 정하는 장치입니다. GP는 확률이고 튜브는 유계 외란이라 그대로 잇지 못하므로, GP의 신뢰 타원체를 외란 집합으로 쓰는 것이 다리입니다. travplan은 잔차 SGPR의 분산을 노드별 조임으로 바꾸고 8 cm 상한을 두었습니다. 결과는 작업 기록에서 다시 다루지만, 측정되는 효과가 없어 기본값은 꺼져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rho_k가 실제로 얼마나 되는지 보여 주는 그림입니다. 왼쪽은 한 에피소드에서 스텝마다 계산한 노드별 튜브 폭이고, 오른쪽은 그것을 예측 시간별로 모은 중앙값과 90% 분위입니다. 4초 끝에서 중앙값 4 cm, 90% 분위는 상한 8 cm에 닿습니다. 1번 노드의 coverage는 97.4%로 보정이 맞았지만, 그 조임 폭은 작아서 실행 여유나 성공을 늘리지 못했습니다.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2026-10-01 사용자 결정으로 예측 모델을 세 층으로 쌓습니다. 잘 아는 것은 식으로 두고, 식이 못 담는 것만 배운다는 생각입니다. 지금 MPPI와 MPC는 둘 다 기구학 모델 하나로 예측하고 학습 층은 GP 잔차뿐입니다. 학습 층의 데이터는 로봇 메쉬로 돌린 시뮬레이션에서 얻으려 하고, KAIST RaiLab의 FDM 연구가 그 선례입니다.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선례를 영상으로 봅니다. 영상에서는 학습한 forward 모델로 예측한 궤적 샘플 가운데 안전한 것을 골라 사족 로봇이 장애물 사이를 지나는 것을 봅니다. 문서 M.1.3이 이 연구에서 가져오려는 것은 둘입니다. 학습 층의 출력에 위치뿐 아니라 실패 확률을 두는 것, 그리고 데이터를 실제 로봇 모델로 돌린 시뮬레이션에서 얻는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L0에서는 시뮬과 Controller가 같은 SwerveModel을 써서 모델 오차가 0입니다. 그러면 MPC는 자기 모델로 자기를 예측할 뿐이라 검증되는 것이 없습니다. Isaac Gym은 개발이 멈춰 고르지 않았고, MuJoCo 한 대부터 시작합니다. 다만 작업 기록의 plant 수치는 모두 운동학 시뮬 위의 robot/plant.py로 잰 것입니다. 관성이 임시값이어도 모델 오차를 만난 MPC의 거동은 그대로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주제는 최근 연구입니다. 2025–2026년 MPC 계열은 모델을 더 맞게 하는 쪽과 초기해를 더 좋게 하는 쪽으로 움직였습니다. 하지만 뒤에서 볼 우리 실패의 원인, 즉 지연과 명령 떨림을 정면으로 다룬 바퀴 로봇 NMPC 실험 논문은 2026-10 조사에서 찾지 못했습니다.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둘로 나눴습니다. 첫 장은 튜브와 초기해 계열입니다. 확산 초기해 MPC는 OCP 단독 성공이 10% 아래였는데 초기해를 받자 80% 안팎이 됐습니다. 강건·적응 GP-MPC는 GP 오차 상한을 스칼라 미분방정식 하나로 전파하는데, SQP 반복 한 번이 50–90 ms라 실시간과는 거리가 있습니다. 조향 제약 4WIS 계획(Liu 외)은 MPC가 아니라 배경으로만 둡니다.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모델 쪽입니다. 비평면 재귀 희소 GP는 travplan 잔차 GP와 구조가 거의 같고, 다른 점은 부호 있는 roll·pitch를 입력으로 쓴다는 것입니다. 에너지 정규화 잔차는 학습 잔차가 물리적으로 말이 안 되는 가속을 만들면 NMPC가 그것을 이용해 떨리는 명령을 낸다는 점을 짚습니다. L4acados는 acados에 학습 잔차를 꽂는 틀이고, travplan의 mpc_gp도 같은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에너지 정규화 행을 영상으로 봅니다. 영상에서는 잔차 신경망의 보정이 만드는 상대 에너지 변화에 페널티를 주어 학습한 neural MPC가 전방향 비행 로봇을 모는 것을 봅니다. travplan의 SGPR 잔차는 분포 밖에서 prior로 돌아가지만, 신경망 잔차로 바꾼다면 이 논문이 짚은 문제, 즉 NMPC가 비물리적 보정을 이용하는 일을 먼저 막아야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공통점은 넷입니다. 처음 둘은 travplan이 이미 가진 구조입니다. 셋째, 초기해를 학습 모델에서 받는 것은 NMPC가 국소해에 갇히는 약점을 겨냥합니다. 넷째는 지형을 비용의 한 항으로 두지 않고 모델이나 제약에 넣는다는 점인데, travplan이 치명도를 제약으로 옮긴 것과 같은 방향입니다.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차이는 네 축으로 정리됩니다. 잔차 학습 시점에서 travplan은 이미 온라인 쪽이지만 경사의 부호가 없습니다. 불확실성 표현에서는 TP-0069가 손으로 정한 오차 모델에 8 cm 상한을 두어 먼 노드가 보정되지 않았습니다. 최적화 방식에서는 travplan의 두 갈래가 이 축의 양쪽 끝에 있습니다. 조향 한계는 travplan plant가 ±56.2°라 다른 연구와 사정이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가져올 것 가운데 TP-0152의 실패 원인에 직접 닿는 것은 조사 밖의 고전 해법인 지연 상태 확장입니다. 명령을 상태로 두고 명령 변화율에 비용을 겁니다. Planner D 초기해는 기대할 이득이 작습니다. mpc 시간 초과 104/360 가운데 82가 설계 한계로 둔 경사로라, 판정은 경사로를 뺀 시간 초과 22/270으로 합니다. 이 순서는 아직 TODO에 넣지 않은 후보입니다.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주제는 우리가 실제로 만들고 잰 것입니다. 2026-09-29 첫 폐루프부터 10-04 plant 비교까지, 단계별 게이트를 따라갑니다. 중간에 틀린 해석을 정정한 곳이 여러 번 있고, 그것도 함께 보여 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단계는 넷이고 각 단계에 미리 정한 게이트가 있었습니다. 0단계는 처음에 6/12로 미달했다가, 이틀 뒤 명령 수정으로 40/40에 닿았습니다. 2단계 GP 평균은 오프라인 게이트를 넘었지만, 그 plant 이득의 상당 부분은 GP가 아니라 명령 수정이었습니다. 3단계 분산 튜브는 측정되는 효과가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측정에서 MPC는 6/12, 실패는 전부 치명 실패였습니다. 평평한 slope_crossfall에서는 MPPI와 같았고 curb_ramp에서는 전멸했습니다. 이유는 숨어 있지 않습니다. 0단계 MPC에는 지형 항이 하나도 없어서, Guidance 경로가 연석 면을 스치면 그대로 들어갔습니다. 대신 제어 시간과 jerk는 이미 MPPI보다 나았습니다.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노드마다 접평면 하나를 걸자 9/12가 됐습니다. curb_ramp에서는 램프 틈을 통과하고 bumps_potholes에서는 블록 사이를 MPPI와 비슷한 선으로 지납니다. 남은 세 실패는 제어 시간 상위 셋과 정확히 같았고 QP가 반복 한계(status 3)로 끝났습니다. 그래서 솔버 문제라고 적었는데, 이것은 다음 장에서 정정합니다.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실패한 에피소드를 스텝마다 계측하자 세 실패가 모두 제약의 구멍이었습니다. QP 반복 한계는 원인이 아니라 증상이었습니다. 네 번째 구멍은 코드 리뷰가 찾았는데, 이것을 막기 전의 40/40은 한쪽 면의 낙관 덕분에 틈이 넓어 보였던 결과였습니다. 정확한 기하로는 38/40이었고, 여유를 스윕해도 40/40을 내는 값은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보행자는 지형과 같은 방식으로, 노드마다 그 시각의 가장 가까운 보행자 원판에 접평면을 겁니다. 처음 horizon 4초 전체에 걸었더니 원판이 통로를 막아 MPC가 물러나다 블록에 닿았습니다. 그래서 자라는 원판은 앞 2초에만 제약으로 걸고 나머지는 재계획에 맡깁니다. slack을 낮추면 보행자를 스쳐서 가중치는 지형과 같게 둡니다. MPC는 여유를 경계까지 써서 MPPI보다 보행자에게 바짝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오프라인 GP는 게이트를 넘었지만 MPC에 넣자 폐루프가 0/12로 무너졌습니다. SGPR로 발산은 멈췄고, 남은 원인 둘을 찾았습니다. 첫째, 이미 지연을 반영한 twist를 명령으로 보내 plant가 한 번 더 지연시켰습니다. 둘째, 학습 데이터가 MPC가 계획하는 속도를 덮지 못했습니다. 명령을 고친 것이 주된 원인이었고, 데이터는 분산을 믿을 만하게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명목 분기가 구간 평균 twist를 보내고 있었는데, 시뮬레이터는 받은 명령을 그대로 새 twist로 씁니다. 그래서 계획한 가속의 절반만 실현됐습니다. 실패한 아홉 장면 모두 실현 대 계획 비의 중앙값이 정확히 0.50이었습니다. 다음 노드 twist로 바꾸자 정적 실패가 모두 사라졌고, 대가로 jerk가 두 배가 됐습니다. 명령만 고친 mpc도 plant 44/48이라, 앞 장의 GP 이득 상당 부분은 이 명령 차이였습니다.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명령을 고친 뒤 여러 장치를 더했고, 모두 미리 정한 기준으로 판정했습니다. 부드러운 여유 행과 분산 튜브는 여유나 보정은 개선했지만 성공 수를 늘리지 못했습니다. MPPI 쪽 확률 제약은 두 Controller가 잔차 GP와 치명 거리장을 공유해서 이 문서에 기록했습니다. GP 평균을 MPPI rollout에 넣으면 램프 치명 실패가 사라졌고, 이것이 남은 실패의 원인이 지연 편향이라는 가설을 뒷받침했습니다.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MPPI rollout에 plant의 지연을 넣은 mppi_plant_lag가 레벨 3 치명을 55에서 4로 줄였습니다. 같은 조건에서 NMPC 갈래는 plant를 모르는 명목 MPPI와 비슷합니다. 짝 비교 차이는 잡음 바닥을 넘고, 치명 실패가 늘면 채택하지 않는다는 원칙에도 걸립니다. 잔차 GP도 차이를 메우지 못했는데, 당시에는 레벨 0에서 맞춘 GP가 레벨 3 지형에 듣지 않는 것으로 봤지만, 온라인 버퍼가 레벨 3 데이터로 차므로 문서는 입력 표현과 고정 하이퍼파라미터를 원인 후보로 고쳐 적었습니다. 참고로 guidance와 NMPC는 결정적이라 guidance 줄은 같은 40 에피소드를 세 번 센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공정한 비교를 위해 mppi_plant_lag와 같은 정보를 가진 NMPC를 만들었습니다. 가속 box에 a를 곱하고 명령에서 지연을 되돌리면, 지연만 있는 plant에서 계획한 twist가 그대로 실현됩니다. 그런데 치명이 늘었습니다. 지연 모델은 맞았지만, 지연이 bang-bang 계획을 걸러 주던 필터 역할까지 없어졌기 때문입니다. 가속 비용을 키우면 떨림은 줄었지만 회피가 굼떠져 치명이 더 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NMPC 갈래는 제약을 조일 자리를 만드는 목적은 이뤘고 정적·보행자 조건에서 MPPI와 같아졌습니다. 그러나 plant 조건에서는 지연을 아는 MPPI보다 치명이 여덟 배 많아 배포 Controller는 mppi_plant_lag입니다. STATE의 판단은 NMPC 갈래를 멈추고, 이어 간다면 지연 상태 모델을 먼저 하는 것입니다. 배포 Controller가 MPPI라서 우선순위는 보행자와 인식 뒤입니다.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인용한 연구의 목록입니다. 저자와 학회는 리서치 문서에 적힌 그대로이고, 표에 이름만 있는 세 연구는 Controller 문서 E.6과 E.7에 자세히 있습니다. travplan 수치의 출처는 MPC 문서의 작업 기록과 STATE입니다.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www.youtube.com/watch?v=v6MhPl2ICsc"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hyperlink" Target="https://www.youtube.com/watch?v=8l9s2Wb_vec"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www.youtube.com/watch?v=6tnhRnJSwW4"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hyperlink" Target="https://www.youtube.com/watch?v=-UTEL6zHNv4"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hyperlink" Target="https://www.youtube.com/watch?v=E3XG979NXHk"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TRAVPLAN · 챕터 발표 · MPC 구축 (§M)</a:t>
            </a:r>
          </a:p>
        </p:txBody>
      </p:sp>
      <p:sp>
        <p:nvSpPr>
          <p:cNvPr id="3" name="TextBox 2"/>
          <p:cNvSpPr txBox="1"/>
          <p:nvPr/>
        </p:nvSpPr>
        <p:spPr>
          <a:xfrm>
            <a:off x="812800" y="2454077"/>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MPPI 옆에</a:t>
            </a:r>
          </a:p>
          <a:p>
            <a:pPr>
              <a:lnSpc>
                <a:spcPct val="105800"/>
              </a:lnSpc>
            </a:pPr>
            <a:r>
              <a:rPr sz="4600" b="1" i="0">
                <a:solidFill>
                  <a:srgbClr val="F4F1EA"/>
                </a:solidFill>
                <a:latin typeface="Arial"/>
                <a:ea typeface="Malgun Gothic"/>
                <a:cs typeface="Malgun Gothic"/>
              </a:rPr>
              <a:t>acados NMPC를 세우다</a:t>
            </a:r>
          </a:p>
        </p:txBody>
      </p:sp>
      <p:sp>
        <p:nvSpPr>
          <p:cNvPr id="4" name="TextBox 3"/>
          <p:cNvSpPr txBox="1"/>
          <p:nvPr/>
        </p:nvSpPr>
        <p:spPr>
          <a:xfrm>
            <a:off x="812800" y="397033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치명 셀 제약, 0차 GP 잔차, 튜브 — 그리고 plant에서 잰 결과</a:t>
            </a:r>
          </a:p>
        </p:txBody>
      </p:sp>
      <p:sp>
        <p:nvSpPr>
          <p:cNvPr id="5" name="Rounded Rectangle 4"/>
          <p:cNvSpPr/>
          <p:nvPr/>
        </p:nvSpPr>
        <p:spPr>
          <a:xfrm>
            <a:off x="812800" y="5765800"/>
            <a:ext cx="487958"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24021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§M</a:t>
            </a:r>
          </a:p>
        </p:txBody>
      </p:sp>
      <p:sp>
        <p:nvSpPr>
          <p:cNvPr id="7" name="Rounded Rectangle 6"/>
          <p:cNvSpPr/>
          <p:nvPr/>
        </p:nvSpPr>
        <p:spPr>
          <a:xfrm>
            <a:off x="1402358" y="5765800"/>
            <a:ext cx="1688505"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1542058" y="5816600"/>
            <a:ext cx="1476778"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TP-0070 → TP-0152</a:t>
            </a:r>
          </a:p>
        </p:txBody>
      </p:sp>
      <p:sp>
        <p:nvSpPr>
          <p:cNvPr id="9" name="Rounded Rectangle 8"/>
          <p:cNvSpPr/>
          <p:nvPr/>
        </p:nvSpPr>
        <p:spPr>
          <a:xfrm>
            <a:off x="3192462" y="5765800"/>
            <a:ext cx="1234976"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332162" y="5816600"/>
            <a:ext cx="1009643"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acados v0.3.4</a:t>
            </a:r>
          </a:p>
        </p:txBody>
      </p:sp>
      <p:sp>
        <p:nvSpPr>
          <p:cNvPr id="11" name="Rounded Rectangle 10"/>
          <p:cNvSpPr/>
          <p:nvPr/>
        </p:nvSpPr>
        <p:spPr>
          <a:xfrm>
            <a:off x="4529038" y="5765800"/>
            <a:ext cx="1213941"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4668738" y="5816600"/>
            <a:ext cx="987978"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최근 연구 13편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설계에서 시작해 plant 비교의 판정으로 끝난다</a:t>
            </a:r>
          </a:p>
        </p:txBody>
      </p:sp>
      <p:sp>
        <p:nvSpPr>
          <p:cNvPr id="4" name="Rounded Rectangle 3"/>
          <p:cNvSpPr/>
          <p:nvPr/>
        </p:nvSpPr>
        <p:spPr>
          <a:xfrm>
            <a:off x="711200" y="1361678"/>
            <a:ext cx="3488234"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25400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왜 두 갈래인가</a:t>
            </a:r>
          </a:p>
        </p:txBody>
      </p:sp>
      <p:sp>
        <p:nvSpPr>
          <p:cNvPr id="12" name="TextBox 11"/>
          <p:cNvSpPr txBox="1"/>
          <p:nvPr/>
        </p:nvSpPr>
        <p:spPr>
          <a:xfrm>
            <a:off x="927100"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MPPI와 NMPC가 잘 다루는 것</a:t>
            </a:r>
          </a:p>
        </p:txBody>
      </p:sp>
      <p:sp>
        <p:nvSpPr>
          <p:cNvPr id="13" name="Rounded Rectangle 12"/>
          <p:cNvSpPr/>
          <p:nvPr/>
        </p:nvSpPr>
        <p:spPr>
          <a:xfrm>
            <a:off x="4351834" y="1361678"/>
            <a:ext cx="3488234"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4351834" y="249316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137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4567734" y="1507728"/>
            <a:ext cx="254000"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4656634"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2</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설계</a:t>
            </a:r>
          </a:p>
        </p:txBody>
      </p:sp>
      <p:sp>
        <p:nvSpPr>
          <p:cNvPr id="21" name="TextBox 20"/>
          <p:cNvSpPr txBox="1"/>
          <p:nvPr/>
        </p:nvSpPr>
        <p:spPr>
          <a:xfrm>
            <a:off x="4567734"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twist 모델, OCP, 솔버, 치명 셀 제약</a:t>
            </a:r>
          </a:p>
        </p:txBody>
      </p:sp>
      <p:sp>
        <p:nvSpPr>
          <p:cNvPr id="22" name="Rounded Rectangle 21"/>
          <p:cNvSpPr/>
          <p:nvPr/>
        </p:nvSpPr>
        <p:spPr>
          <a:xfrm>
            <a:off x="7992467" y="1361678"/>
            <a:ext cx="3488234"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992467" y="249316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137841"/>
          </a:xfrm>
          <a:prstGeom prst="roundRect">
            <a:avLst>
              <a:gd name="adj" fmla="val 50000"/>
            </a:avLst>
          </a:prstGeom>
          <a:solidFill>
            <a:srgbClr val="1D4ED8"/>
          </a:solidFill>
          <a:ln>
            <a:noFill/>
          </a:ln>
        </p:spPr>
        <p:txBody>
          <a:bodyPr rtlCol="0" anchor="ctr"/>
          <a:lstStyle/>
          <a:p>
            <a:pPr algn="ctr"/>
          </a:p>
        </p:txBody>
      </p:sp>
      <p:sp>
        <p:nvSpPr>
          <p:cNvPr id="27" name="Rounded Rectangle 26"/>
          <p:cNvSpPr/>
          <p:nvPr/>
        </p:nvSpPr>
        <p:spPr>
          <a:xfrm>
            <a:off x="8208367" y="1507728"/>
            <a:ext cx="254000" cy="241300"/>
          </a:xfrm>
          <a:prstGeom prst="roundRect">
            <a:avLst>
              <a:gd name="adj" fmla="val 50000"/>
            </a:avLst>
          </a:prstGeom>
          <a:solidFill>
            <a:srgbClr val="DBE5FB"/>
          </a:solidFill>
          <a:ln>
            <a:noFill/>
          </a:ln>
        </p:spPr>
        <p:txBody>
          <a:bodyPr rtlCol="0" anchor="ctr"/>
          <a:lstStyle/>
          <a:p>
            <a:pPr algn="ctr"/>
          </a:p>
        </p:txBody>
      </p:sp>
      <p:sp>
        <p:nvSpPr>
          <p:cNvPr id="28" name="TextBox 27"/>
          <p:cNvSpPr txBox="1"/>
          <p:nvPr/>
        </p:nvSpPr>
        <p:spPr>
          <a:xfrm>
            <a:off x="8297267" y="1533128"/>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3</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GP·튜브·시뮬 리그</a:t>
            </a:r>
          </a:p>
        </p:txBody>
      </p:sp>
      <p:sp>
        <p:nvSpPr>
          <p:cNvPr id="30" name="TextBox 29"/>
          <p:cNvSpPr txBox="1"/>
          <p:nvPr/>
        </p:nvSpPr>
        <p:spPr>
          <a:xfrm>
            <a:off x="8208367"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0차 GP 잔차, 희소 GP, 튜브, plant</a:t>
            </a:r>
          </a:p>
        </p:txBody>
      </p:sp>
      <p:sp>
        <p:nvSpPr>
          <p:cNvPr id="31" name="Rounded Rectangle 30"/>
          <p:cNvSpPr/>
          <p:nvPr/>
        </p:nvSpPr>
        <p:spPr>
          <a:xfrm>
            <a:off x="711200" y="2651919"/>
            <a:ext cx="3488234" cy="1137841"/>
          </a:xfrm>
          <a:prstGeom prst="roundRect">
            <a:avLst>
              <a:gd name="adj" fmla="val 6696"/>
            </a:avLst>
          </a:prstGeom>
          <a:solidFill>
            <a:srgbClr val="FFFDF8"/>
          </a:solidFill>
          <a:ln>
            <a:noFill/>
          </a:ln>
        </p:spPr>
        <p:txBody>
          <a:bodyPr rtlCol="0" anchor="ctr"/>
          <a:lstStyle/>
          <a:p>
            <a:pPr algn="ctr"/>
          </a:p>
        </p:txBody>
      </p:sp>
      <p:sp>
        <p:nvSpPr>
          <p:cNvPr id="32" name="Rectangle 31"/>
          <p:cNvSpPr/>
          <p:nvPr/>
        </p:nvSpPr>
        <p:spPr>
          <a:xfrm>
            <a:off x="711200" y="2651919"/>
            <a:ext cx="3488234" cy="6350"/>
          </a:xfrm>
          <a:prstGeom prst="rect">
            <a:avLst/>
          </a:prstGeom>
          <a:solidFill>
            <a:srgbClr val="D9D4C7"/>
          </a:solidFill>
          <a:ln>
            <a:noFill/>
          </a:ln>
        </p:spPr>
        <p:txBody>
          <a:bodyPr rtlCol="0" anchor="ctr"/>
          <a:lstStyle/>
          <a:p>
            <a:pPr algn="ctr"/>
          </a:p>
        </p:txBody>
      </p:sp>
      <p:sp>
        <p:nvSpPr>
          <p:cNvPr id="33" name="Rectangle 32"/>
          <p:cNvSpPr/>
          <p:nvPr/>
        </p:nvSpPr>
        <p:spPr>
          <a:xfrm>
            <a:off x="4193084" y="2651919"/>
            <a:ext cx="6350" cy="1137841"/>
          </a:xfrm>
          <a:prstGeom prst="rect">
            <a:avLst/>
          </a:prstGeom>
          <a:solidFill>
            <a:srgbClr val="D9D4C7"/>
          </a:solidFill>
          <a:ln>
            <a:noFill/>
          </a:ln>
        </p:spPr>
        <p:txBody>
          <a:bodyPr rtlCol="0" anchor="ctr"/>
          <a:lstStyle/>
          <a:p>
            <a:pPr algn="ctr"/>
          </a:p>
        </p:txBody>
      </p:sp>
      <p:sp>
        <p:nvSpPr>
          <p:cNvPr id="34" name="Rectangle 33"/>
          <p:cNvSpPr/>
          <p:nvPr/>
        </p:nvSpPr>
        <p:spPr>
          <a:xfrm>
            <a:off x="711200" y="3783409"/>
            <a:ext cx="3488234"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2651919"/>
            <a:ext cx="50800" cy="1137841"/>
          </a:xfrm>
          <a:prstGeom prst="roundRect">
            <a:avLst>
              <a:gd name="adj" fmla="val 50000"/>
            </a:avLst>
          </a:prstGeom>
          <a:solidFill>
            <a:srgbClr val="1D4ED8"/>
          </a:solidFill>
          <a:ln>
            <a:noFill/>
          </a:ln>
        </p:spPr>
        <p:txBody>
          <a:bodyPr rtlCol="0" anchor="ctr"/>
          <a:lstStyle/>
          <a:p>
            <a:pPr algn="ctr"/>
          </a:p>
        </p:txBody>
      </p:sp>
      <p:sp>
        <p:nvSpPr>
          <p:cNvPr id="36" name="Rounded Rectangle 35"/>
          <p:cNvSpPr/>
          <p:nvPr/>
        </p:nvSpPr>
        <p:spPr>
          <a:xfrm>
            <a:off x="927100" y="2797969"/>
            <a:ext cx="254000" cy="241300"/>
          </a:xfrm>
          <a:prstGeom prst="roundRect">
            <a:avLst>
              <a:gd name="adj" fmla="val 50000"/>
            </a:avLst>
          </a:prstGeom>
          <a:solidFill>
            <a:srgbClr val="DBE5FB"/>
          </a:solidFill>
          <a:ln>
            <a:noFill/>
          </a:ln>
        </p:spPr>
        <p:txBody>
          <a:bodyPr rtlCol="0" anchor="ctr"/>
          <a:lstStyle/>
          <a:p>
            <a:pPr algn="ctr"/>
          </a:p>
        </p:txBody>
      </p:sp>
      <p:sp>
        <p:nvSpPr>
          <p:cNvPr id="37" name="TextBox 36"/>
          <p:cNvSpPr txBox="1"/>
          <p:nvPr/>
        </p:nvSpPr>
        <p:spPr>
          <a:xfrm>
            <a:off x="1016000" y="2823369"/>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4</a:t>
            </a:r>
          </a:p>
        </p:txBody>
      </p:sp>
      <p:sp>
        <p:nvSpPr>
          <p:cNvPr id="38" name="TextBox 37"/>
          <p:cNvSpPr txBox="1"/>
          <p:nvPr/>
        </p:nvSpPr>
        <p:spPr>
          <a:xfrm>
            <a:off x="927100" y="311546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최근 연구 비교</a:t>
            </a:r>
          </a:p>
        </p:txBody>
      </p:sp>
      <p:sp>
        <p:nvSpPr>
          <p:cNvPr id="39" name="TextBox 38"/>
          <p:cNvSpPr txBox="1"/>
          <p:nvPr/>
        </p:nvSpPr>
        <p:spPr>
          <a:xfrm>
            <a:off x="927100" y="342274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2025–2026 13편의 공통점과 차이점</a:t>
            </a:r>
          </a:p>
        </p:txBody>
      </p:sp>
      <p:sp>
        <p:nvSpPr>
          <p:cNvPr id="40" name="Rounded Rectangle 39"/>
          <p:cNvSpPr/>
          <p:nvPr/>
        </p:nvSpPr>
        <p:spPr>
          <a:xfrm>
            <a:off x="4351834" y="2651919"/>
            <a:ext cx="3488234" cy="1137841"/>
          </a:xfrm>
          <a:prstGeom prst="roundRect">
            <a:avLst>
              <a:gd name="adj" fmla="val 6696"/>
            </a:avLst>
          </a:prstGeom>
          <a:solidFill>
            <a:srgbClr val="FFFDF8"/>
          </a:solidFill>
          <a:ln>
            <a:noFill/>
          </a:ln>
        </p:spPr>
        <p:txBody>
          <a:bodyPr rtlCol="0" anchor="ctr"/>
          <a:lstStyle/>
          <a:p>
            <a:pPr algn="ctr"/>
          </a:p>
        </p:txBody>
      </p:sp>
      <p:sp>
        <p:nvSpPr>
          <p:cNvPr id="41" name="Rectangle 40"/>
          <p:cNvSpPr/>
          <p:nvPr/>
        </p:nvSpPr>
        <p:spPr>
          <a:xfrm>
            <a:off x="4351834" y="2651919"/>
            <a:ext cx="3488234" cy="6350"/>
          </a:xfrm>
          <a:prstGeom prst="rect">
            <a:avLst/>
          </a:prstGeom>
          <a:solidFill>
            <a:srgbClr val="D9D4C7"/>
          </a:solidFill>
          <a:ln>
            <a:noFill/>
          </a:ln>
        </p:spPr>
        <p:txBody>
          <a:bodyPr rtlCol="0" anchor="ctr"/>
          <a:lstStyle/>
          <a:p>
            <a:pPr algn="ctr"/>
          </a:p>
        </p:txBody>
      </p:sp>
      <p:sp>
        <p:nvSpPr>
          <p:cNvPr id="42" name="Rectangle 41"/>
          <p:cNvSpPr/>
          <p:nvPr/>
        </p:nvSpPr>
        <p:spPr>
          <a:xfrm>
            <a:off x="7833717" y="2651919"/>
            <a:ext cx="6350" cy="1137841"/>
          </a:xfrm>
          <a:prstGeom prst="rect">
            <a:avLst/>
          </a:prstGeom>
          <a:solidFill>
            <a:srgbClr val="D9D4C7"/>
          </a:solidFill>
          <a:ln>
            <a:noFill/>
          </a:ln>
        </p:spPr>
        <p:txBody>
          <a:bodyPr rtlCol="0" anchor="ctr"/>
          <a:lstStyle/>
          <a:p>
            <a:pPr algn="ctr"/>
          </a:p>
        </p:txBody>
      </p:sp>
      <p:sp>
        <p:nvSpPr>
          <p:cNvPr id="43" name="Rectangle 42"/>
          <p:cNvSpPr/>
          <p:nvPr/>
        </p:nvSpPr>
        <p:spPr>
          <a:xfrm>
            <a:off x="4351834" y="3783409"/>
            <a:ext cx="3488234" cy="6350"/>
          </a:xfrm>
          <a:prstGeom prst="rect">
            <a:avLst/>
          </a:prstGeom>
          <a:solidFill>
            <a:srgbClr val="D9D4C7"/>
          </a:solidFill>
          <a:ln>
            <a:noFill/>
          </a:ln>
        </p:spPr>
        <p:txBody>
          <a:bodyPr rtlCol="0" anchor="ctr"/>
          <a:lstStyle/>
          <a:p>
            <a:pPr algn="ctr"/>
          </a:p>
        </p:txBody>
      </p:sp>
      <p:sp>
        <p:nvSpPr>
          <p:cNvPr id="44" name="Rounded Rectangle 43"/>
          <p:cNvSpPr/>
          <p:nvPr/>
        </p:nvSpPr>
        <p:spPr>
          <a:xfrm>
            <a:off x="4351834" y="2651919"/>
            <a:ext cx="50800" cy="1137841"/>
          </a:xfrm>
          <a:prstGeom prst="roundRect">
            <a:avLst>
              <a:gd name="adj" fmla="val 50000"/>
            </a:avLst>
          </a:prstGeom>
          <a:solidFill>
            <a:srgbClr val="15803D"/>
          </a:solidFill>
          <a:ln>
            <a:noFill/>
          </a:ln>
        </p:spPr>
        <p:txBody>
          <a:bodyPr rtlCol="0" anchor="ctr"/>
          <a:lstStyle/>
          <a:p>
            <a:pPr algn="ctr"/>
          </a:p>
        </p:txBody>
      </p:sp>
      <p:sp>
        <p:nvSpPr>
          <p:cNvPr id="45" name="Rounded Rectangle 44"/>
          <p:cNvSpPr/>
          <p:nvPr/>
        </p:nvSpPr>
        <p:spPr>
          <a:xfrm>
            <a:off x="4567734" y="2797969"/>
            <a:ext cx="254000" cy="241300"/>
          </a:xfrm>
          <a:prstGeom prst="roundRect">
            <a:avLst>
              <a:gd name="adj" fmla="val 50000"/>
            </a:avLst>
          </a:prstGeom>
          <a:solidFill>
            <a:srgbClr val="D7EFDD"/>
          </a:solidFill>
          <a:ln>
            <a:noFill/>
          </a:ln>
        </p:spPr>
        <p:txBody>
          <a:bodyPr rtlCol="0" anchor="ctr"/>
          <a:lstStyle/>
          <a:p>
            <a:pPr algn="ctr"/>
          </a:p>
        </p:txBody>
      </p:sp>
      <p:sp>
        <p:nvSpPr>
          <p:cNvPr id="46" name="TextBox 45"/>
          <p:cNvSpPr txBox="1"/>
          <p:nvPr/>
        </p:nvSpPr>
        <p:spPr>
          <a:xfrm>
            <a:off x="4656634" y="2823369"/>
            <a:ext cx="10388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5</a:t>
            </a:r>
          </a:p>
        </p:txBody>
      </p:sp>
      <p:sp>
        <p:nvSpPr>
          <p:cNvPr id="47" name="TextBox 46"/>
          <p:cNvSpPr txBox="1"/>
          <p:nvPr/>
        </p:nvSpPr>
        <p:spPr>
          <a:xfrm>
            <a:off x="4567734" y="311546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작업 기록</a:t>
            </a:r>
          </a:p>
        </p:txBody>
      </p:sp>
      <p:sp>
        <p:nvSpPr>
          <p:cNvPr id="48" name="TextBox 47"/>
          <p:cNvSpPr txBox="1"/>
          <p:nvPr/>
        </p:nvSpPr>
        <p:spPr>
          <a:xfrm>
            <a:off x="4567734" y="342274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0단계 6/12 → 정적 40/40 → plant 비교</a:t>
            </a:r>
          </a:p>
        </p:txBody>
      </p:sp>
      <p:sp>
        <p:nvSpPr>
          <p:cNvPr id="49" name="Rounded Rectangle 48"/>
          <p:cNvSpPr/>
          <p:nvPr/>
        </p:nvSpPr>
        <p:spPr>
          <a:xfrm>
            <a:off x="7992467" y="2651919"/>
            <a:ext cx="3488234" cy="1137841"/>
          </a:xfrm>
          <a:prstGeom prst="roundRect">
            <a:avLst>
              <a:gd name="adj" fmla="val 6696"/>
            </a:avLst>
          </a:prstGeom>
          <a:solidFill>
            <a:srgbClr val="FFFDF8"/>
          </a:solidFill>
          <a:ln>
            <a:noFill/>
          </a:ln>
        </p:spPr>
        <p:txBody>
          <a:bodyPr rtlCol="0" anchor="ctr"/>
          <a:lstStyle/>
          <a:p>
            <a:pPr algn="ctr"/>
          </a:p>
        </p:txBody>
      </p:sp>
      <p:sp>
        <p:nvSpPr>
          <p:cNvPr id="50" name="Rectangle 49"/>
          <p:cNvSpPr/>
          <p:nvPr/>
        </p:nvSpPr>
        <p:spPr>
          <a:xfrm>
            <a:off x="7992467" y="2651919"/>
            <a:ext cx="3488234" cy="6350"/>
          </a:xfrm>
          <a:prstGeom prst="rect">
            <a:avLst/>
          </a:prstGeom>
          <a:solidFill>
            <a:srgbClr val="D9D4C7"/>
          </a:solidFill>
          <a:ln>
            <a:noFill/>
          </a:ln>
        </p:spPr>
        <p:txBody>
          <a:bodyPr rtlCol="0" anchor="ctr"/>
          <a:lstStyle/>
          <a:p>
            <a:pPr algn="ctr"/>
          </a:p>
        </p:txBody>
      </p:sp>
      <p:sp>
        <p:nvSpPr>
          <p:cNvPr id="51" name="Rectangle 50"/>
          <p:cNvSpPr/>
          <p:nvPr/>
        </p:nvSpPr>
        <p:spPr>
          <a:xfrm>
            <a:off x="11474351" y="2651919"/>
            <a:ext cx="6350" cy="1137841"/>
          </a:xfrm>
          <a:prstGeom prst="rect">
            <a:avLst/>
          </a:prstGeom>
          <a:solidFill>
            <a:srgbClr val="D9D4C7"/>
          </a:solidFill>
          <a:ln>
            <a:noFill/>
          </a:ln>
        </p:spPr>
        <p:txBody>
          <a:bodyPr rtlCol="0" anchor="ctr"/>
          <a:lstStyle/>
          <a:p>
            <a:pPr algn="ctr"/>
          </a:p>
        </p:txBody>
      </p:sp>
      <p:sp>
        <p:nvSpPr>
          <p:cNvPr id="52" name="Rectangle 51"/>
          <p:cNvSpPr/>
          <p:nvPr/>
        </p:nvSpPr>
        <p:spPr>
          <a:xfrm>
            <a:off x="7992467" y="3783409"/>
            <a:ext cx="3488234" cy="6350"/>
          </a:xfrm>
          <a:prstGeom prst="rect">
            <a:avLst/>
          </a:prstGeom>
          <a:solidFill>
            <a:srgbClr val="D9D4C7"/>
          </a:solidFill>
          <a:ln>
            <a:noFill/>
          </a:ln>
        </p:spPr>
        <p:txBody>
          <a:bodyPr rtlCol="0" anchor="ctr"/>
          <a:lstStyle/>
          <a:p>
            <a:pPr algn="ctr"/>
          </a:p>
        </p:txBody>
      </p:sp>
      <p:sp>
        <p:nvSpPr>
          <p:cNvPr id="53" name="Rounded Rectangle 52"/>
          <p:cNvSpPr/>
          <p:nvPr/>
        </p:nvSpPr>
        <p:spPr>
          <a:xfrm>
            <a:off x="7992467" y="2651919"/>
            <a:ext cx="50800" cy="1137841"/>
          </a:xfrm>
          <a:prstGeom prst="roundRect">
            <a:avLst>
              <a:gd name="adj" fmla="val 50000"/>
            </a:avLst>
          </a:prstGeom>
          <a:solidFill>
            <a:srgbClr val="15803D"/>
          </a:solidFill>
          <a:ln>
            <a:noFill/>
          </a:ln>
        </p:spPr>
        <p:txBody>
          <a:bodyPr rtlCol="0" anchor="ctr"/>
          <a:lstStyle/>
          <a:p>
            <a:pPr algn="ctr"/>
          </a:p>
        </p:txBody>
      </p:sp>
      <p:sp>
        <p:nvSpPr>
          <p:cNvPr id="54" name="Rounded Rectangle 53"/>
          <p:cNvSpPr/>
          <p:nvPr/>
        </p:nvSpPr>
        <p:spPr>
          <a:xfrm>
            <a:off x="8208367" y="2797969"/>
            <a:ext cx="254000" cy="241300"/>
          </a:xfrm>
          <a:prstGeom prst="roundRect">
            <a:avLst>
              <a:gd name="adj" fmla="val 50000"/>
            </a:avLst>
          </a:prstGeom>
          <a:solidFill>
            <a:srgbClr val="D7EFDD"/>
          </a:solidFill>
          <a:ln>
            <a:noFill/>
          </a:ln>
        </p:spPr>
        <p:txBody>
          <a:bodyPr rtlCol="0" anchor="ctr"/>
          <a:lstStyle/>
          <a:p>
            <a:pPr algn="ctr"/>
          </a:p>
        </p:txBody>
      </p:sp>
      <p:sp>
        <p:nvSpPr>
          <p:cNvPr id="55" name="TextBox 54"/>
          <p:cNvSpPr txBox="1"/>
          <p:nvPr/>
        </p:nvSpPr>
        <p:spPr>
          <a:xfrm>
            <a:off x="8297267" y="2823369"/>
            <a:ext cx="10388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6</a:t>
            </a:r>
          </a:p>
        </p:txBody>
      </p:sp>
      <p:sp>
        <p:nvSpPr>
          <p:cNvPr id="56" name="TextBox 55"/>
          <p:cNvSpPr txBox="1"/>
          <p:nvPr/>
        </p:nvSpPr>
        <p:spPr>
          <a:xfrm>
            <a:off x="8208367" y="311546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정리와 다음</a:t>
            </a:r>
          </a:p>
        </p:txBody>
      </p:sp>
      <p:sp>
        <p:nvSpPr>
          <p:cNvPr id="57" name="TextBox 56"/>
          <p:cNvSpPr txBox="1"/>
          <p:nvPr/>
        </p:nvSpPr>
        <p:spPr>
          <a:xfrm>
            <a:off x="8208367" y="342274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지연 상태 NMPC, 부호 있는 경사 GP</a:t>
            </a:r>
          </a:p>
        </p:txBody>
      </p:sp>
      <p:sp>
        <p:nvSpPr>
          <p:cNvPr id="58" name="Rounded Rectangle 57"/>
          <p:cNvSpPr/>
          <p:nvPr/>
        </p:nvSpPr>
        <p:spPr>
          <a:xfrm>
            <a:off x="711200" y="3967559"/>
            <a:ext cx="1861641" cy="937220"/>
          </a:xfrm>
          <a:prstGeom prst="roundRect">
            <a:avLst>
              <a:gd name="adj" fmla="val 6775"/>
            </a:avLst>
          </a:prstGeom>
          <a:solidFill>
            <a:srgbClr val="FFFDF8"/>
          </a:solidFill>
          <a:ln>
            <a:noFill/>
          </a:ln>
        </p:spPr>
        <p:txBody>
          <a:bodyPr rtlCol="0" anchor="ctr"/>
          <a:lstStyle/>
          <a:p>
            <a:pPr algn="ctr"/>
          </a:p>
        </p:txBody>
      </p:sp>
      <p:sp>
        <p:nvSpPr>
          <p:cNvPr id="59" name="Rectangle 58"/>
          <p:cNvSpPr/>
          <p:nvPr/>
        </p:nvSpPr>
        <p:spPr>
          <a:xfrm>
            <a:off x="711200" y="3967559"/>
            <a:ext cx="1861641" cy="38100"/>
          </a:xfrm>
          <a:prstGeom prst="rect">
            <a:avLst/>
          </a:prstGeom>
          <a:solidFill>
            <a:srgbClr val="C2410C"/>
          </a:solidFill>
          <a:ln>
            <a:noFill/>
          </a:ln>
        </p:spPr>
        <p:txBody>
          <a:bodyPr rtlCol="0" anchor="ctr"/>
          <a:lstStyle/>
          <a:p>
            <a:pPr algn="ctr"/>
          </a:p>
        </p:txBody>
      </p:sp>
      <p:sp>
        <p:nvSpPr>
          <p:cNvPr id="60" name="Rectangle 59"/>
          <p:cNvSpPr/>
          <p:nvPr/>
        </p:nvSpPr>
        <p:spPr>
          <a:xfrm>
            <a:off x="2566491" y="3967559"/>
            <a:ext cx="6350" cy="937220"/>
          </a:xfrm>
          <a:prstGeom prst="rect">
            <a:avLst/>
          </a:prstGeom>
          <a:solidFill>
            <a:srgbClr val="D9D4C7"/>
          </a:solidFill>
          <a:ln>
            <a:noFill/>
          </a:ln>
        </p:spPr>
        <p:txBody>
          <a:bodyPr rtlCol="0" anchor="ctr"/>
          <a:lstStyle/>
          <a:p>
            <a:pPr algn="ctr"/>
          </a:p>
        </p:txBody>
      </p:sp>
      <p:sp>
        <p:nvSpPr>
          <p:cNvPr id="61" name="Rectangle 60"/>
          <p:cNvSpPr/>
          <p:nvPr/>
        </p:nvSpPr>
        <p:spPr>
          <a:xfrm>
            <a:off x="711200" y="4898430"/>
            <a:ext cx="1861641" cy="6350"/>
          </a:xfrm>
          <a:prstGeom prst="rect">
            <a:avLst/>
          </a:prstGeom>
          <a:solidFill>
            <a:srgbClr val="D9D4C7"/>
          </a:solidFill>
          <a:ln>
            <a:noFill/>
          </a:ln>
        </p:spPr>
        <p:txBody>
          <a:bodyPr rtlCol="0" anchor="ctr"/>
          <a:lstStyle/>
          <a:p>
            <a:pPr algn="ctr"/>
          </a:p>
        </p:txBody>
      </p:sp>
      <p:sp>
        <p:nvSpPr>
          <p:cNvPr id="62" name="Rectangle 61"/>
          <p:cNvSpPr/>
          <p:nvPr/>
        </p:nvSpPr>
        <p:spPr>
          <a:xfrm>
            <a:off x="711200" y="3967559"/>
            <a:ext cx="6350" cy="937220"/>
          </a:xfrm>
          <a:prstGeom prst="rect">
            <a:avLst/>
          </a:prstGeom>
          <a:solidFill>
            <a:srgbClr val="D9D4C7"/>
          </a:solidFill>
          <a:ln>
            <a:noFill/>
          </a:ln>
        </p:spPr>
        <p:txBody>
          <a:bodyPr rtlCol="0" anchor="ctr"/>
          <a:lstStyle/>
          <a:p>
            <a:pPr algn="ctr"/>
          </a:p>
        </p:txBody>
      </p:sp>
      <p:sp>
        <p:nvSpPr>
          <p:cNvPr id="63" name="TextBox 62"/>
          <p:cNvSpPr txBox="1"/>
          <p:nvPr/>
        </p:nvSpPr>
        <p:spPr>
          <a:xfrm>
            <a:off x="831850" y="4107259"/>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6/12</a:t>
            </a:r>
          </a:p>
        </p:txBody>
      </p:sp>
      <p:sp>
        <p:nvSpPr>
          <p:cNvPr id="64" name="TextBox 63"/>
          <p:cNvSpPr txBox="1"/>
          <p:nvPr/>
        </p:nvSpPr>
        <p:spPr>
          <a:xfrm>
            <a:off x="831850" y="4405709"/>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0단계, 지형 없음 (TP-0070)</a:t>
            </a:r>
          </a:p>
        </p:txBody>
      </p:sp>
      <p:sp>
        <p:nvSpPr>
          <p:cNvPr id="65" name="TextBox 64"/>
          <p:cNvSpPr txBox="1"/>
          <p:nvPr/>
        </p:nvSpPr>
        <p:spPr>
          <a:xfrm>
            <a:off x="2661741" y="426472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66" name="Rounded Rectangle 65"/>
          <p:cNvSpPr/>
          <p:nvPr/>
        </p:nvSpPr>
        <p:spPr>
          <a:xfrm>
            <a:off x="2938165" y="3967559"/>
            <a:ext cx="1861741" cy="937220"/>
          </a:xfrm>
          <a:prstGeom prst="roundRect">
            <a:avLst>
              <a:gd name="adj" fmla="val 6775"/>
            </a:avLst>
          </a:prstGeom>
          <a:solidFill>
            <a:srgbClr val="FFFDF8"/>
          </a:solidFill>
          <a:ln>
            <a:noFill/>
          </a:ln>
        </p:spPr>
        <p:txBody>
          <a:bodyPr rtlCol="0" anchor="ctr"/>
          <a:lstStyle/>
          <a:p>
            <a:pPr algn="ctr"/>
          </a:p>
        </p:txBody>
      </p:sp>
      <p:sp>
        <p:nvSpPr>
          <p:cNvPr id="67" name="Rectangle 66"/>
          <p:cNvSpPr/>
          <p:nvPr/>
        </p:nvSpPr>
        <p:spPr>
          <a:xfrm>
            <a:off x="2938165" y="3967559"/>
            <a:ext cx="1861741" cy="38100"/>
          </a:xfrm>
          <a:prstGeom prst="rect">
            <a:avLst/>
          </a:prstGeom>
          <a:solidFill>
            <a:srgbClr val="C2410C"/>
          </a:solidFill>
          <a:ln>
            <a:noFill/>
          </a:ln>
        </p:spPr>
        <p:txBody>
          <a:bodyPr rtlCol="0" anchor="ctr"/>
          <a:lstStyle/>
          <a:p>
            <a:pPr algn="ctr"/>
          </a:p>
        </p:txBody>
      </p:sp>
      <p:sp>
        <p:nvSpPr>
          <p:cNvPr id="68" name="Rectangle 67"/>
          <p:cNvSpPr/>
          <p:nvPr/>
        </p:nvSpPr>
        <p:spPr>
          <a:xfrm>
            <a:off x="4793555" y="3967559"/>
            <a:ext cx="6350" cy="937220"/>
          </a:xfrm>
          <a:prstGeom prst="rect">
            <a:avLst/>
          </a:prstGeom>
          <a:solidFill>
            <a:srgbClr val="D9D4C7"/>
          </a:solidFill>
          <a:ln>
            <a:noFill/>
          </a:ln>
        </p:spPr>
        <p:txBody>
          <a:bodyPr rtlCol="0" anchor="ctr"/>
          <a:lstStyle/>
          <a:p>
            <a:pPr algn="ctr"/>
          </a:p>
        </p:txBody>
      </p:sp>
      <p:sp>
        <p:nvSpPr>
          <p:cNvPr id="69" name="Rectangle 68"/>
          <p:cNvSpPr/>
          <p:nvPr/>
        </p:nvSpPr>
        <p:spPr>
          <a:xfrm>
            <a:off x="2938165" y="4898430"/>
            <a:ext cx="1861741" cy="6350"/>
          </a:xfrm>
          <a:prstGeom prst="rect">
            <a:avLst/>
          </a:prstGeom>
          <a:solidFill>
            <a:srgbClr val="D9D4C7"/>
          </a:solidFill>
          <a:ln>
            <a:noFill/>
          </a:ln>
        </p:spPr>
        <p:txBody>
          <a:bodyPr rtlCol="0" anchor="ctr"/>
          <a:lstStyle/>
          <a:p>
            <a:pPr algn="ctr"/>
          </a:p>
        </p:txBody>
      </p:sp>
      <p:sp>
        <p:nvSpPr>
          <p:cNvPr id="70" name="Rectangle 69"/>
          <p:cNvSpPr/>
          <p:nvPr/>
        </p:nvSpPr>
        <p:spPr>
          <a:xfrm>
            <a:off x="2938165" y="3967559"/>
            <a:ext cx="6350" cy="937220"/>
          </a:xfrm>
          <a:prstGeom prst="rect">
            <a:avLst/>
          </a:prstGeom>
          <a:solidFill>
            <a:srgbClr val="D9D4C7"/>
          </a:solidFill>
          <a:ln>
            <a:noFill/>
          </a:ln>
        </p:spPr>
        <p:txBody>
          <a:bodyPr rtlCol="0" anchor="ctr"/>
          <a:lstStyle/>
          <a:p>
            <a:pPr algn="ctr"/>
          </a:p>
        </p:txBody>
      </p:sp>
      <p:sp>
        <p:nvSpPr>
          <p:cNvPr id="71" name="TextBox 70"/>
          <p:cNvSpPr txBox="1"/>
          <p:nvPr/>
        </p:nvSpPr>
        <p:spPr>
          <a:xfrm>
            <a:off x="3058815" y="4107259"/>
            <a:ext cx="1694454"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9/12</a:t>
            </a:r>
          </a:p>
        </p:txBody>
      </p:sp>
      <p:sp>
        <p:nvSpPr>
          <p:cNvPr id="72" name="TextBox 71"/>
          <p:cNvSpPr txBox="1"/>
          <p:nvPr/>
        </p:nvSpPr>
        <p:spPr>
          <a:xfrm>
            <a:off x="3058815" y="4405709"/>
            <a:ext cx="169445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치명 셀 제약 (TP-0071)</a:t>
            </a:r>
          </a:p>
        </p:txBody>
      </p:sp>
      <p:sp>
        <p:nvSpPr>
          <p:cNvPr id="73" name="TextBox 72"/>
          <p:cNvSpPr txBox="1"/>
          <p:nvPr/>
        </p:nvSpPr>
        <p:spPr>
          <a:xfrm>
            <a:off x="4888805" y="426472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74" name="Rounded Rectangle 73"/>
          <p:cNvSpPr/>
          <p:nvPr/>
        </p:nvSpPr>
        <p:spPr>
          <a:xfrm>
            <a:off x="5165229" y="3967559"/>
            <a:ext cx="1861641" cy="937220"/>
          </a:xfrm>
          <a:prstGeom prst="roundRect">
            <a:avLst>
              <a:gd name="adj" fmla="val 6775"/>
            </a:avLst>
          </a:prstGeom>
          <a:solidFill>
            <a:srgbClr val="FFFDF8"/>
          </a:solidFill>
          <a:ln>
            <a:noFill/>
          </a:ln>
        </p:spPr>
        <p:txBody>
          <a:bodyPr rtlCol="0" anchor="ctr"/>
          <a:lstStyle/>
          <a:p>
            <a:pPr algn="ctr"/>
          </a:p>
        </p:txBody>
      </p:sp>
      <p:sp>
        <p:nvSpPr>
          <p:cNvPr id="75" name="Rectangle 74"/>
          <p:cNvSpPr/>
          <p:nvPr/>
        </p:nvSpPr>
        <p:spPr>
          <a:xfrm>
            <a:off x="5165229" y="3967559"/>
            <a:ext cx="1861641" cy="38100"/>
          </a:xfrm>
          <a:prstGeom prst="rect">
            <a:avLst/>
          </a:prstGeom>
          <a:solidFill>
            <a:srgbClr val="C2410C"/>
          </a:solidFill>
          <a:ln>
            <a:noFill/>
          </a:ln>
        </p:spPr>
        <p:txBody>
          <a:bodyPr rtlCol="0" anchor="ctr"/>
          <a:lstStyle/>
          <a:p>
            <a:pPr algn="ctr"/>
          </a:p>
        </p:txBody>
      </p:sp>
      <p:sp>
        <p:nvSpPr>
          <p:cNvPr id="76" name="Rectangle 75"/>
          <p:cNvSpPr/>
          <p:nvPr/>
        </p:nvSpPr>
        <p:spPr>
          <a:xfrm>
            <a:off x="7020520" y="3967559"/>
            <a:ext cx="6350" cy="937220"/>
          </a:xfrm>
          <a:prstGeom prst="rect">
            <a:avLst/>
          </a:prstGeom>
          <a:solidFill>
            <a:srgbClr val="D9D4C7"/>
          </a:solidFill>
          <a:ln>
            <a:noFill/>
          </a:ln>
        </p:spPr>
        <p:txBody>
          <a:bodyPr rtlCol="0" anchor="ctr"/>
          <a:lstStyle/>
          <a:p>
            <a:pPr algn="ctr"/>
          </a:p>
        </p:txBody>
      </p:sp>
      <p:sp>
        <p:nvSpPr>
          <p:cNvPr id="77" name="Rectangle 76"/>
          <p:cNvSpPr/>
          <p:nvPr/>
        </p:nvSpPr>
        <p:spPr>
          <a:xfrm>
            <a:off x="5165229" y="4898430"/>
            <a:ext cx="1861641" cy="6350"/>
          </a:xfrm>
          <a:prstGeom prst="rect">
            <a:avLst/>
          </a:prstGeom>
          <a:solidFill>
            <a:srgbClr val="D9D4C7"/>
          </a:solidFill>
          <a:ln>
            <a:noFill/>
          </a:ln>
        </p:spPr>
        <p:txBody>
          <a:bodyPr rtlCol="0" anchor="ctr"/>
          <a:lstStyle/>
          <a:p>
            <a:pPr algn="ctr"/>
          </a:p>
        </p:txBody>
      </p:sp>
      <p:sp>
        <p:nvSpPr>
          <p:cNvPr id="78" name="Rectangle 77"/>
          <p:cNvSpPr/>
          <p:nvPr/>
        </p:nvSpPr>
        <p:spPr>
          <a:xfrm>
            <a:off x="5165229" y="3967559"/>
            <a:ext cx="6350" cy="937220"/>
          </a:xfrm>
          <a:prstGeom prst="rect">
            <a:avLst/>
          </a:prstGeom>
          <a:solidFill>
            <a:srgbClr val="D9D4C7"/>
          </a:solidFill>
          <a:ln>
            <a:noFill/>
          </a:ln>
        </p:spPr>
        <p:txBody>
          <a:bodyPr rtlCol="0" anchor="ctr"/>
          <a:lstStyle/>
          <a:p>
            <a:pPr algn="ctr"/>
          </a:p>
        </p:txBody>
      </p:sp>
      <p:sp>
        <p:nvSpPr>
          <p:cNvPr id="79" name="TextBox 78"/>
          <p:cNvSpPr txBox="1"/>
          <p:nvPr/>
        </p:nvSpPr>
        <p:spPr>
          <a:xfrm>
            <a:off x="5285879" y="4107259"/>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38/40</a:t>
            </a:r>
          </a:p>
        </p:txBody>
      </p:sp>
      <p:sp>
        <p:nvSpPr>
          <p:cNvPr id="80" name="TextBox 79"/>
          <p:cNvSpPr txBox="1"/>
          <p:nvPr/>
        </p:nvSpPr>
        <p:spPr>
          <a:xfrm>
            <a:off x="5285879" y="4405709"/>
            <a:ext cx="169435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제약의 구멍 + CBF (TP-0093)</a:t>
            </a:r>
          </a:p>
        </p:txBody>
      </p:sp>
      <p:sp>
        <p:nvSpPr>
          <p:cNvPr id="81" name="TextBox 80"/>
          <p:cNvSpPr txBox="1"/>
          <p:nvPr/>
        </p:nvSpPr>
        <p:spPr>
          <a:xfrm>
            <a:off x="7115770" y="426472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82" name="Rounded Rectangle 81"/>
          <p:cNvSpPr/>
          <p:nvPr/>
        </p:nvSpPr>
        <p:spPr>
          <a:xfrm>
            <a:off x="7392194" y="3967559"/>
            <a:ext cx="1861641" cy="937220"/>
          </a:xfrm>
          <a:prstGeom prst="roundRect">
            <a:avLst>
              <a:gd name="adj" fmla="val 6775"/>
            </a:avLst>
          </a:prstGeom>
          <a:solidFill>
            <a:srgbClr val="FFFDF8"/>
          </a:solidFill>
          <a:ln>
            <a:noFill/>
          </a:ln>
        </p:spPr>
        <p:txBody>
          <a:bodyPr rtlCol="0" anchor="ctr"/>
          <a:lstStyle/>
          <a:p>
            <a:pPr algn="ctr"/>
          </a:p>
        </p:txBody>
      </p:sp>
      <p:sp>
        <p:nvSpPr>
          <p:cNvPr id="83" name="Rectangle 82"/>
          <p:cNvSpPr/>
          <p:nvPr/>
        </p:nvSpPr>
        <p:spPr>
          <a:xfrm>
            <a:off x="7392194" y="3967559"/>
            <a:ext cx="1861641" cy="38100"/>
          </a:xfrm>
          <a:prstGeom prst="rect">
            <a:avLst/>
          </a:prstGeom>
          <a:solidFill>
            <a:srgbClr val="C2410C"/>
          </a:solidFill>
          <a:ln>
            <a:noFill/>
          </a:ln>
        </p:spPr>
        <p:txBody>
          <a:bodyPr rtlCol="0" anchor="ctr"/>
          <a:lstStyle/>
          <a:p>
            <a:pPr algn="ctr"/>
          </a:p>
        </p:txBody>
      </p:sp>
      <p:sp>
        <p:nvSpPr>
          <p:cNvPr id="84" name="Rectangle 83"/>
          <p:cNvSpPr/>
          <p:nvPr/>
        </p:nvSpPr>
        <p:spPr>
          <a:xfrm>
            <a:off x="9247485" y="3967559"/>
            <a:ext cx="6350" cy="937220"/>
          </a:xfrm>
          <a:prstGeom prst="rect">
            <a:avLst/>
          </a:prstGeom>
          <a:solidFill>
            <a:srgbClr val="D9D4C7"/>
          </a:solidFill>
          <a:ln>
            <a:noFill/>
          </a:ln>
        </p:spPr>
        <p:txBody>
          <a:bodyPr rtlCol="0" anchor="ctr"/>
          <a:lstStyle/>
          <a:p>
            <a:pPr algn="ctr"/>
          </a:p>
        </p:txBody>
      </p:sp>
      <p:sp>
        <p:nvSpPr>
          <p:cNvPr id="85" name="Rectangle 84"/>
          <p:cNvSpPr/>
          <p:nvPr/>
        </p:nvSpPr>
        <p:spPr>
          <a:xfrm>
            <a:off x="7392194" y="4898430"/>
            <a:ext cx="1861641" cy="6350"/>
          </a:xfrm>
          <a:prstGeom prst="rect">
            <a:avLst/>
          </a:prstGeom>
          <a:solidFill>
            <a:srgbClr val="D9D4C7"/>
          </a:solidFill>
          <a:ln>
            <a:noFill/>
          </a:ln>
        </p:spPr>
        <p:txBody>
          <a:bodyPr rtlCol="0" anchor="ctr"/>
          <a:lstStyle/>
          <a:p>
            <a:pPr algn="ctr"/>
          </a:p>
        </p:txBody>
      </p:sp>
      <p:sp>
        <p:nvSpPr>
          <p:cNvPr id="86" name="Rectangle 85"/>
          <p:cNvSpPr/>
          <p:nvPr/>
        </p:nvSpPr>
        <p:spPr>
          <a:xfrm>
            <a:off x="7392194" y="3967559"/>
            <a:ext cx="6350" cy="937220"/>
          </a:xfrm>
          <a:prstGeom prst="rect">
            <a:avLst/>
          </a:prstGeom>
          <a:solidFill>
            <a:srgbClr val="D9D4C7"/>
          </a:solidFill>
          <a:ln>
            <a:noFill/>
          </a:ln>
        </p:spPr>
        <p:txBody>
          <a:bodyPr rtlCol="0" anchor="ctr"/>
          <a:lstStyle/>
          <a:p>
            <a:pPr algn="ctr"/>
          </a:p>
        </p:txBody>
      </p:sp>
      <p:sp>
        <p:nvSpPr>
          <p:cNvPr id="87" name="TextBox 86"/>
          <p:cNvSpPr txBox="1"/>
          <p:nvPr/>
        </p:nvSpPr>
        <p:spPr>
          <a:xfrm>
            <a:off x="7512844" y="4107259"/>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40/40</a:t>
            </a:r>
          </a:p>
        </p:txBody>
      </p:sp>
      <p:sp>
        <p:nvSpPr>
          <p:cNvPr id="88" name="TextBox 87"/>
          <p:cNvSpPr txBox="1"/>
          <p:nvPr/>
        </p:nvSpPr>
        <p:spPr>
          <a:xfrm>
            <a:off x="7512844" y="4405709"/>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명령 수정 (TP-0122)</a:t>
            </a:r>
          </a:p>
        </p:txBody>
      </p:sp>
      <p:sp>
        <p:nvSpPr>
          <p:cNvPr id="89" name="TextBox 88"/>
          <p:cNvSpPr txBox="1"/>
          <p:nvPr/>
        </p:nvSpPr>
        <p:spPr>
          <a:xfrm>
            <a:off x="9342735" y="426472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90" name="Rounded Rectangle 89"/>
          <p:cNvSpPr/>
          <p:nvPr/>
        </p:nvSpPr>
        <p:spPr>
          <a:xfrm>
            <a:off x="9619159" y="3967559"/>
            <a:ext cx="1861641" cy="937220"/>
          </a:xfrm>
          <a:prstGeom prst="roundRect">
            <a:avLst>
              <a:gd name="adj" fmla="val 6775"/>
            </a:avLst>
          </a:prstGeom>
          <a:solidFill>
            <a:srgbClr val="FFFDF8"/>
          </a:solidFill>
          <a:ln>
            <a:noFill/>
          </a:ln>
        </p:spPr>
        <p:txBody>
          <a:bodyPr rtlCol="0" anchor="ctr"/>
          <a:lstStyle/>
          <a:p>
            <a:pPr algn="ctr"/>
          </a:p>
        </p:txBody>
      </p:sp>
      <p:sp>
        <p:nvSpPr>
          <p:cNvPr id="91" name="Rectangle 90"/>
          <p:cNvSpPr/>
          <p:nvPr/>
        </p:nvSpPr>
        <p:spPr>
          <a:xfrm>
            <a:off x="9619159" y="3967559"/>
            <a:ext cx="1861641" cy="38100"/>
          </a:xfrm>
          <a:prstGeom prst="rect">
            <a:avLst/>
          </a:prstGeom>
          <a:solidFill>
            <a:srgbClr val="C2410C"/>
          </a:solidFill>
          <a:ln>
            <a:noFill/>
          </a:ln>
        </p:spPr>
        <p:txBody>
          <a:bodyPr rtlCol="0" anchor="ctr"/>
          <a:lstStyle/>
          <a:p>
            <a:pPr algn="ctr"/>
          </a:p>
        </p:txBody>
      </p:sp>
      <p:sp>
        <p:nvSpPr>
          <p:cNvPr id="92" name="Rectangle 91"/>
          <p:cNvSpPr/>
          <p:nvPr/>
        </p:nvSpPr>
        <p:spPr>
          <a:xfrm>
            <a:off x="11474450" y="3967559"/>
            <a:ext cx="6350" cy="937220"/>
          </a:xfrm>
          <a:prstGeom prst="rect">
            <a:avLst/>
          </a:prstGeom>
          <a:solidFill>
            <a:srgbClr val="D9D4C7"/>
          </a:solidFill>
          <a:ln>
            <a:noFill/>
          </a:ln>
        </p:spPr>
        <p:txBody>
          <a:bodyPr rtlCol="0" anchor="ctr"/>
          <a:lstStyle/>
          <a:p>
            <a:pPr algn="ctr"/>
          </a:p>
        </p:txBody>
      </p:sp>
      <p:sp>
        <p:nvSpPr>
          <p:cNvPr id="93" name="Rectangle 92"/>
          <p:cNvSpPr/>
          <p:nvPr/>
        </p:nvSpPr>
        <p:spPr>
          <a:xfrm>
            <a:off x="9619159" y="4898430"/>
            <a:ext cx="1861641" cy="6350"/>
          </a:xfrm>
          <a:prstGeom prst="rect">
            <a:avLst/>
          </a:prstGeom>
          <a:solidFill>
            <a:srgbClr val="D9D4C7"/>
          </a:solidFill>
          <a:ln>
            <a:noFill/>
          </a:ln>
        </p:spPr>
        <p:txBody>
          <a:bodyPr rtlCol="0" anchor="ctr"/>
          <a:lstStyle/>
          <a:p>
            <a:pPr algn="ctr"/>
          </a:p>
        </p:txBody>
      </p:sp>
      <p:sp>
        <p:nvSpPr>
          <p:cNvPr id="94" name="Rectangle 93"/>
          <p:cNvSpPr/>
          <p:nvPr/>
        </p:nvSpPr>
        <p:spPr>
          <a:xfrm>
            <a:off x="9619159" y="3967559"/>
            <a:ext cx="6350" cy="937220"/>
          </a:xfrm>
          <a:prstGeom prst="rect">
            <a:avLst/>
          </a:prstGeom>
          <a:solidFill>
            <a:srgbClr val="D9D4C7"/>
          </a:solidFill>
          <a:ln>
            <a:noFill/>
          </a:ln>
        </p:spPr>
        <p:txBody>
          <a:bodyPr rtlCol="0" anchor="ctr"/>
          <a:lstStyle/>
          <a:p>
            <a:pPr algn="ctr"/>
          </a:p>
        </p:txBody>
      </p:sp>
      <p:sp>
        <p:nvSpPr>
          <p:cNvPr id="95" name="TextBox 94"/>
          <p:cNvSpPr txBox="1"/>
          <p:nvPr/>
        </p:nvSpPr>
        <p:spPr>
          <a:xfrm>
            <a:off x="9739809" y="4107259"/>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222/360</a:t>
            </a:r>
          </a:p>
        </p:txBody>
      </p:sp>
      <p:sp>
        <p:nvSpPr>
          <p:cNvPr id="96" name="TextBox 95"/>
          <p:cNvSpPr txBox="1"/>
          <p:nvPr/>
        </p:nvSpPr>
        <p:spPr>
          <a:xfrm>
            <a:off x="9739809" y="4405709"/>
            <a:ext cx="169435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plant 레벨 3, 치명 34 (TP-0152)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왜 두 갈래인가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MPPI는 비평활 비용을, NMPC는 제약을 잘 다룬다</a:t>
            </a:r>
          </a:p>
        </p:txBody>
      </p:sp>
      <p:sp>
        <p:nvSpPr>
          <p:cNvPr id="4" name="Rounded Rectangle 3"/>
          <p:cNvSpPr/>
          <p:nvPr/>
        </p:nvSpPr>
        <p:spPr>
          <a:xfrm>
            <a:off x="711200" y="1361678"/>
            <a:ext cx="5257800" cy="1706761"/>
          </a:xfrm>
          <a:prstGeom prst="roundRect">
            <a:avLst>
              <a:gd name="adj" fmla="val 4464"/>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706761"/>
          </a:xfrm>
          <a:prstGeom prst="rect">
            <a:avLst/>
          </a:prstGeom>
          <a:solidFill>
            <a:srgbClr val="D9D4C7"/>
          </a:solidFill>
          <a:ln>
            <a:noFill/>
          </a:ln>
        </p:spPr>
        <p:txBody>
          <a:bodyPr rtlCol="0" anchor="ctr"/>
          <a:lstStyle/>
          <a:p>
            <a:pPr algn="ctr"/>
          </a:p>
        </p:txBody>
      </p:sp>
      <p:sp>
        <p:nvSpPr>
          <p:cNvPr id="7" name="Rectangle 6"/>
          <p:cNvSpPr/>
          <p:nvPr/>
        </p:nvSpPr>
        <p:spPr>
          <a:xfrm>
            <a:off x="711200" y="306208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706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497979"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3551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MPPI</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샘플로 절벽 비용을 넘는다</a:t>
            </a:r>
          </a:p>
        </p:txBody>
      </p:sp>
      <p:sp>
        <p:nvSpPr>
          <p:cNvPr id="12" name="TextBox 11"/>
          <p:cNvSpPr txBox="1"/>
          <p:nvPr/>
        </p:nvSpPr>
        <p:spPr>
          <a:xfrm>
            <a:off x="965200" y="213250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치명 셀·이진 충돌을 그대로 쓴다</a:t>
            </a:r>
          </a:p>
        </p:txBody>
      </p:sp>
      <p:sp>
        <p:nvSpPr>
          <p:cNvPr id="13" name="TextBox 12"/>
          <p:cNvSpPr txBox="1"/>
          <p:nvPr/>
        </p:nvSpPr>
        <p:spPr>
          <a:xfrm>
            <a:off x="965200" y="241696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Jacobian이 필요 없다</a:t>
            </a:r>
          </a:p>
        </p:txBody>
      </p:sp>
      <p:sp>
        <p:nvSpPr>
          <p:cNvPr id="14" name="TextBox 13"/>
          <p:cNvSpPr txBox="1"/>
          <p:nvPr/>
        </p:nvSpPr>
        <p:spPr>
          <a:xfrm>
            <a:off x="965200" y="270142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확률 제약에 GP 분산을 쓴다(E.10)</a:t>
            </a:r>
          </a:p>
        </p:txBody>
      </p:sp>
      <p:sp>
        <p:nvSpPr>
          <p:cNvPr id="15" name="Rounded Rectangle 14"/>
          <p:cNvSpPr/>
          <p:nvPr/>
        </p:nvSpPr>
        <p:spPr>
          <a:xfrm>
            <a:off x="6223000" y="1361678"/>
            <a:ext cx="5257800" cy="1706761"/>
          </a:xfrm>
          <a:prstGeom prst="roundRect">
            <a:avLst>
              <a:gd name="adj" fmla="val 4464"/>
            </a:avLst>
          </a:prstGeom>
          <a:solidFill>
            <a:srgbClr val="FFFDF8"/>
          </a:solidFill>
          <a:ln>
            <a:noFill/>
          </a:ln>
        </p:spPr>
        <p:txBody>
          <a:bodyPr rtlCol="0" anchor="ctr"/>
          <a:lstStyle/>
          <a:p>
            <a:pPr algn="ctr"/>
          </a:p>
        </p:txBody>
      </p:sp>
      <p:sp>
        <p:nvSpPr>
          <p:cNvPr id="16" name="Rectangle 15"/>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1361678"/>
            <a:ext cx="6350" cy="1706761"/>
          </a:xfrm>
          <a:prstGeom prst="rect">
            <a:avLst/>
          </a:prstGeom>
          <a:solidFill>
            <a:srgbClr val="D9D4C7"/>
          </a:solidFill>
          <a:ln>
            <a:noFill/>
          </a:ln>
        </p:spPr>
        <p:txBody>
          <a:bodyPr rtlCol="0" anchor="ctr"/>
          <a:lstStyle/>
          <a:p>
            <a:pPr algn="ctr"/>
          </a:p>
        </p:txBody>
      </p:sp>
      <p:sp>
        <p:nvSpPr>
          <p:cNvPr id="18" name="Rectangle 17"/>
          <p:cNvSpPr/>
          <p:nvPr/>
        </p:nvSpPr>
        <p:spPr>
          <a:xfrm>
            <a:off x="6223000" y="3062089"/>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1361678"/>
            <a:ext cx="50800" cy="170676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438900" y="1507728"/>
            <a:ext cx="1069479"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527800" y="1533128"/>
            <a:ext cx="94382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NMPC (acados)</a:t>
            </a:r>
          </a:p>
        </p:txBody>
      </p:sp>
      <p:sp>
        <p:nvSpPr>
          <p:cNvPr id="22" name="TextBox 21"/>
          <p:cNvSpPr txBox="1"/>
          <p:nvPr/>
        </p:nvSpPr>
        <p:spPr>
          <a:xfrm>
            <a:off x="64389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제약을 조이는 자리가 있다</a:t>
            </a:r>
          </a:p>
        </p:txBody>
      </p:sp>
      <p:sp>
        <p:nvSpPr>
          <p:cNvPr id="23" name="TextBox 22"/>
          <p:cNvSpPr txBox="1"/>
          <p:nvPr/>
        </p:nvSpPr>
        <p:spPr>
          <a:xfrm>
            <a:off x="6477000" y="213250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hard 제약과 slack</a:t>
            </a:r>
          </a:p>
        </p:txBody>
      </p:sp>
      <p:sp>
        <p:nvSpPr>
          <p:cNvPr id="24" name="TextBox 23"/>
          <p:cNvSpPr txBox="1"/>
          <p:nvPr/>
        </p:nvSpPr>
        <p:spPr>
          <a:xfrm>
            <a:off x="6477000" y="241696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튜브로 제약을 조인다</a:t>
            </a:r>
          </a:p>
        </p:txBody>
      </p:sp>
      <p:sp>
        <p:nvSpPr>
          <p:cNvPr id="25" name="TextBox 24"/>
          <p:cNvSpPr txBox="1"/>
          <p:nvPr/>
        </p:nvSpPr>
        <p:spPr>
          <a:xfrm>
            <a:off x="6477000" y="270142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0차 GP 잔차(TP-0070·0071)</a:t>
            </a:r>
          </a:p>
        </p:txBody>
      </p:sp>
      <p:sp>
        <p:nvSpPr>
          <p:cNvPr id="26" name="TextBox 25"/>
          <p:cNvSpPr txBox="1"/>
          <p:nvPr/>
        </p:nvSpPr>
        <p:spPr>
          <a:xfrm>
            <a:off x="711200" y="3246239"/>
            <a:ext cx="11118088" cy="360362"/>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둘은 같은 </a:t>
            </a:r>
            <a:r>
              <a:rPr sz="1050" b="0" i="0">
                <a:solidFill>
                  <a:srgbClr val="7C2D12"/>
                </a:solidFill>
                <a:latin typeface="Consolas"/>
                <a:ea typeface="Malgun Gothic"/>
                <a:cs typeface="Malgun Gothic"/>
              </a:rPr>
              <a:t>Controller</a:t>
            </a:r>
            <a:r>
              <a:rPr sz="1250" b="0" i="0">
                <a:solidFill>
                  <a:srgbClr val="16213A"/>
                </a:solidFill>
                <a:latin typeface="Arial"/>
                <a:ea typeface="Malgun Gothic"/>
                <a:cs typeface="Malgun Gothic"/>
              </a:rPr>
              <a:t> 프로토콜이고 같은 벤치마크(</a:t>
            </a:r>
            <a:r>
              <a:rPr sz="1050" b="0" i="0">
                <a:solidFill>
                  <a:srgbClr val="7C2D12"/>
                </a:solidFill>
                <a:latin typeface="Consolas"/>
                <a:ea typeface="Malgun Gothic"/>
                <a:cs typeface="Malgun Gothic"/>
              </a:rPr>
              <a:t>guidance+mppi</a:t>
            </a:r>
            <a:r>
              <a:rPr sz="1250" b="0" i="0">
                <a:solidFill>
                  <a:srgbClr val="16213A"/>
                </a:solidFill>
                <a:latin typeface="Arial"/>
                <a:ea typeface="Malgun Gothic"/>
                <a:cs typeface="Malgun Gothic"/>
              </a:rPr>
              <a:t>, </a:t>
            </a:r>
            <a:r>
              <a:rPr sz="1050" b="0" i="0">
                <a:solidFill>
                  <a:srgbClr val="7C2D12"/>
                </a:solidFill>
                <a:latin typeface="Consolas"/>
                <a:ea typeface="Malgun Gothic"/>
                <a:cs typeface="Malgun Gothic"/>
              </a:rPr>
              <a:t>guidance+mpc</a:t>
            </a:r>
            <a:r>
              <a:rPr sz="1250" b="0" i="0">
                <a:solidFill>
                  <a:srgbClr val="16213A"/>
                </a:solidFill>
                <a:latin typeface="Arial"/>
                <a:ea typeface="Malgun Gothic"/>
                <a:cs typeface="Malgun Gothic"/>
              </a:rPr>
              <a:t>)에서 비교한다. 잔차 GP(</a:t>
            </a:r>
            <a:r>
              <a:rPr sz="1050" b="0" i="0">
                <a:solidFill>
                  <a:srgbClr val="7C2D12"/>
                </a:solidFill>
                <a:latin typeface="Consolas"/>
                <a:ea typeface="Malgun Gothic"/>
                <a:cs typeface="Malgun Gothic"/>
              </a:rPr>
              <a:t>control/acados_mpc/gp.py</a:t>
            </a:r>
            <a:r>
              <a:rPr sz="1250" b="0" i="0">
                <a:solidFill>
                  <a:srgbClr val="16213A"/>
                </a:solidFill>
                <a:latin typeface="Arial"/>
                <a:ea typeface="Malgun Gothic"/>
                <a:cs typeface="Malgun Gothic"/>
              </a:rPr>
              <a:t>)는 둘이 공유한다.</a:t>
            </a:r>
          </a:p>
        </p:txBody>
      </p:sp>
      <p:sp>
        <p:nvSpPr>
          <p:cNvPr id="27" name="Rounded Rectangle 26"/>
          <p:cNvSpPr/>
          <p:nvPr/>
        </p:nvSpPr>
        <p:spPr>
          <a:xfrm>
            <a:off x="711200" y="3671689"/>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28" name="Picture 27" descr="image.jpg"/>
          <p:cNvPicPr>
            <a:picLocks noChangeAspect="1"/>
          </p:cNvPicPr>
          <p:nvPr/>
        </p:nvPicPr>
        <p:blipFill>
          <a:blip r:embed="rId2"/>
          <a:stretch>
            <a:fillRect/>
          </a:stretch>
        </p:blipFill>
        <p:spPr>
          <a:xfrm>
            <a:off x="2931548" y="3671689"/>
            <a:ext cx="6328904" cy="1905000"/>
          </a:xfrm>
          <a:prstGeom prst="rect">
            <a:avLst/>
          </a:prstGeom>
        </p:spPr>
      </p:pic>
      <p:sp>
        <p:nvSpPr>
          <p:cNvPr id="29" name="TextBox 28"/>
          <p:cNvSpPr txBox="1"/>
          <p:nvPr/>
        </p:nvSpPr>
        <p:spPr>
          <a:xfrm>
            <a:off x="711200" y="5640189"/>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세 조건에서 Controller별 성공 비율. 파랑 MPPI 계열, 주황 MPC 계열 (TP-0076, 명령 수정 전)</a:t>
            </a:r>
          </a:p>
        </p:txBody>
      </p:sp>
      <p:sp>
        <p:nvSpPr>
          <p:cNvPr id="30" name="Rounded Rectangle 29"/>
          <p:cNvSpPr/>
          <p:nvPr/>
        </p:nvSpPr>
        <p:spPr>
          <a:xfrm>
            <a:off x="711200" y="5995789"/>
            <a:ext cx="10769600" cy="502543"/>
          </a:xfrm>
          <a:prstGeom prst="roundRect">
            <a:avLst>
              <a:gd name="adj" fmla="val 15162"/>
            </a:avLst>
          </a:prstGeom>
          <a:solidFill>
            <a:srgbClr val="16213A"/>
          </a:solidFill>
          <a:ln>
            <a:noFill/>
          </a:ln>
        </p:spPr>
        <p:txBody>
          <a:bodyPr rtlCol="0" anchor="ctr"/>
          <a:lstStyle/>
          <a:p>
            <a:pPr algn="ctr"/>
          </a:p>
        </p:txBody>
      </p:sp>
      <p:sp>
        <p:nvSpPr>
          <p:cNvPr id="31" name="TextBox 30"/>
          <p:cNvSpPr txBox="1"/>
          <p:nvPr/>
        </p:nvSpPr>
        <p:spPr>
          <a:xfrm>
            <a:off x="889000" y="612278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목적은 성능이 아니라, GP 잔차·0차 근사·튜브로 </a:t>
            </a:r>
            <a:r>
              <a:rPr sz="1300" b="1" i="0">
                <a:solidFill>
                  <a:srgbClr val="F59E5B"/>
                </a:solidFill>
                <a:latin typeface="Arial"/>
                <a:ea typeface="Malgun Gothic"/>
                <a:cs typeface="Malgun Gothic"/>
              </a:rPr>
              <a:t>조일 제약</a:t>
            </a:r>
            <a:r>
              <a:rPr sz="1300" b="0" i="0">
                <a:solidFill>
                  <a:srgbClr val="F4F1EA"/>
                </a:solidFill>
                <a:latin typeface="Arial"/>
                <a:ea typeface="Malgun Gothic"/>
                <a:cs typeface="Malgun Gothic"/>
              </a:rPr>
              <a:t>을 만드는 것이다.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62919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설계 (M.1)</a:t>
            </a:r>
          </a:p>
        </p:txBody>
      </p:sp>
      <p:sp>
        <p:nvSpPr>
          <p:cNvPr id="3" name="TextBox 2"/>
          <p:cNvSpPr txBox="1"/>
          <p:nvPr/>
        </p:nvSpPr>
        <p:spPr>
          <a:xfrm>
            <a:off x="812800" y="3067348"/>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OCP를 어떻게 세우나</a:t>
            </a:r>
          </a:p>
        </p:txBody>
      </p:sp>
      <p:sp>
        <p:nvSpPr>
          <p:cNvPr id="4" name="TextBox 3"/>
          <p:cNvSpPr txBox="1"/>
          <p:nvPr/>
        </p:nvSpPr>
        <p:spPr>
          <a:xfrm>
            <a:off x="812800" y="391566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스워브 twist 모델, 추종 비용, 솔버 설정, 그리고 치명 셀을 제약으로 옮기는 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 · 모델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twist를 상태에 두어 가속에 box 제약을 건다</a:t>
            </a:r>
          </a:p>
        </p:txBody>
      </p:sp>
      <p:graphicFrame>
        <p:nvGraphicFramePr>
          <p:cNvPr id="4" name="Table 3"/>
          <p:cNvGraphicFramePr>
            <a:graphicFrameLocks noGrp="1"/>
          </p:cNvGraphicFramePr>
          <p:nvPr/>
        </p:nvGraphicFramePr>
        <p:xfrm>
          <a:off x="711200" y="1361678"/>
          <a:ext cx="5257800" cy="1295063"/>
        </p:xfrm>
        <a:graphic>
          <a:graphicData uri="http://schemas.openxmlformats.org/drawingml/2006/table">
            <a:tbl>
              <a:tblPr firstRow="0" bandRow="0">
                <a:tableStyleId>{5C22544A-7EE6-4342-B048-85BDC9FD1C3A}</a:tableStyleId>
              </a:tblPr>
              <a:tblGrid>
                <a:gridCol w="1269206"/>
                <a:gridCol w="3988594"/>
              </a:tblGrid>
              <a:tr h="263634">
                <a:tc>
                  <a:txBody>
                    <a:bodyPr wrap="square"/>
                    <a:lstStyle/>
                    <a:p>
                      <a:r>
                        <a:rPr sz="1000" b="1" i="0">
                          <a:solidFill>
                            <a:srgbClr val="F4F1EA"/>
                          </a:solidFill>
                          <a:latin typeface="Arial"/>
                          <a:ea typeface="Malgun Gothic"/>
                          <a:cs typeface="Malgun Gothic"/>
                        </a:rPr>
                        <a:t>항목</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값</a:t>
                      </a:r>
                    </a:p>
                  </a:txBody>
                  <a:tcPr marL="76200" marR="76200" marT="25400" marB="25400">
                    <a:solidFill>
                      <a:srgbClr val="16213A"/>
                    </a:solidFill>
                  </a:tcPr>
                </a:tc>
              </a:tr>
              <a:tr h="261526">
                <a:tc>
                  <a:txBody>
                    <a:bodyPr wrap="square"/>
                    <a:lstStyle/>
                    <a:p>
                      <a:r>
                        <a:rPr sz="1000" b="0" i="0">
                          <a:solidFill>
                            <a:srgbClr val="16213A"/>
                          </a:solidFill>
                          <a:latin typeface="Arial"/>
                          <a:ea typeface="Malgun Gothic"/>
                          <a:cs typeface="Malgun Gothic"/>
                        </a:rPr>
                        <a:t>상태</a:t>
                      </a:r>
                    </a:p>
                  </a:txBody>
                  <a:tcPr marL="76200" marR="76200" marT="25400" marB="25400">
                    <a:solidFill>
                      <a:srgbClr val="F1EDE4"/>
                    </a:solidFill>
                  </a:tcPr>
                </a:tc>
                <a:tc>
                  <a:txBody>
                    <a:bodyPr wrap="square"/>
                    <a:lstStyle/>
                    <a:p>
                      <a:r>
                        <a:rPr sz="1000" b="0" i="1">
                          <a:solidFill>
                            <a:srgbClr val="16213A"/>
                          </a:solidFill>
                          <a:latin typeface="Arial"/>
                          <a:ea typeface="Malgun Gothic"/>
                          <a:cs typeface="Malgun Gothic"/>
                        </a:rPr>
                        <a:t>z = (x, y, θ, vₓ, v_y, ω)</a:t>
                      </a:r>
                      <a:r>
                        <a:rPr sz="1000" b="0" i="0">
                          <a:solidFill>
                            <a:srgbClr val="16213A"/>
                          </a:solidFill>
                          <a:latin typeface="Arial"/>
                          <a:ea typeface="Malgun Gothic"/>
                          <a:cs typeface="Malgun Gothic"/>
                        </a:rPr>
                        <a:t> — 6</a:t>
                      </a:r>
                    </a:p>
                  </a:txBody>
                  <a:tcPr marL="76200" marR="76200" marT="25400" marB="25400">
                    <a:solidFill>
                      <a:srgbClr val="F1EDE4"/>
                    </a:solidFill>
                  </a:tcPr>
                </a:tc>
              </a:tr>
              <a:tr h="261526">
                <a:tc>
                  <a:txBody>
                    <a:bodyPr wrap="square"/>
                    <a:lstStyle/>
                    <a:p>
                      <a:r>
                        <a:rPr sz="1000" b="0" i="0">
                          <a:solidFill>
                            <a:srgbClr val="16213A"/>
                          </a:solidFill>
                          <a:latin typeface="Arial"/>
                          <a:ea typeface="Malgun Gothic"/>
                          <a:cs typeface="Malgun Gothic"/>
                        </a:rPr>
                        <a:t>입력</a:t>
                      </a:r>
                    </a:p>
                  </a:txBody>
                  <a:tcPr marL="76200" marR="76200" marT="25400" marB="25400">
                    <a:solidFill>
                      <a:srgbClr val="FFFDF8"/>
                    </a:solidFill>
                  </a:tcPr>
                </a:tc>
                <a:tc>
                  <a:txBody>
                    <a:bodyPr wrap="square"/>
                    <a:lstStyle/>
                    <a:p>
                      <a:r>
                        <a:rPr sz="1000" b="0" i="1">
                          <a:solidFill>
                            <a:srgbClr val="16213A"/>
                          </a:solidFill>
                          <a:latin typeface="Arial"/>
                          <a:ea typeface="Malgun Gothic"/>
                          <a:cs typeface="Malgun Gothic"/>
                        </a:rPr>
                        <a:t>u = (aₓ, a_y, α_z)</a:t>
                      </a:r>
                      <a:r>
                        <a:rPr sz="1000" b="0" i="0">
                          <a:solidFill>
                            <a:srgbClr val="16213A"/>
                          </a:solidFill>
                          <a:latin typeface="Arial"/>
                          <a:ea typeface="Malgun Gothic"/>
                          <a:cs typeface="Malgun Gothic"/>
                        </a:rPr>
                        <a:t> — twist 변화율</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horizon</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40 × 0.1 s = 4 s (MPPI와 같다)</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솔버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acados SQP-RTI, HPIPM, ERK</a:t>
                      </a:r>
                    </a:p>
                  </a:txBody>
                  <a:tcPr marL="76200" marR="76200" marT="25400" marB="25400">
                    <a:solidFill>
                      <a:srgbClr val="FFFDF8"/>
                    </a:solidFill>
                  </a:tcPr>
                </a:tc>
              </a:tr>
            </a:tbl>
          </a:graphicData>
        </a:graphic>
      </p:graphicFrame>
      <p:sp>
        <p:nvSpPr>
          <p:cNvPr id="5" name="Rounded Rectangle 4"/>
          <p:cNvSpPr/>
          <p:nvPr/>
        </p:nvSpPr>
        <p:spPr>
          <a:xfrm>
            <a:off x="6223000" y="1361678"/>
            <a:ext cx="5257800" cy="1396206"/>
          </a:xfrm>
          <a:prstGeom prst="roundRect">
            <a:avLst>
              <a:gd name="adj" fmla="val 3638"/>
            </a:avLst>
          </a:prstGeom>
          <a:solidFill>
            <a:srgbClr val="FFFDF8"/>
          </a:solidFill>
          <a:ln>
            <a:noFill/>
          </a:ln>
        </p:spPr>
        <p:txBody>
          <a:bodyPr rtlCol="0" anchor="ctr"/>
          <a:lstStyle/>
          <a:p>
            <a:pPr algn="ctr"/>
          </a:p>
        </p:txBody>
      </p:sp>
      <p:sp>
        <p:nvSpPr>
          <p:cNvPr id="6" name="Rounded Rectangle 5"/>
          <p:cNvSpPr/>
          <p:nvPr/>
        </p:nvSpPr>
        <p:spPr>
          <a:xfrm>
            <a:off x="6223000" y="1361678"/>
            <a:ext cx="38100" cy="1396206"/>
          </a:xfrm>
          <a:prstGeom prst="roundRect">
            <a:avLst>
              <a:gd name="adj" fmla="val 50000"/>
            </a:avLst>
          </a:prstGeom>
          <a:solidFill>
            <a:srgbClr val="C2410C"/>
          </a:solidFill>
          <a:ln>
            <a:noFill/>
          </a:ln>
        </p:spPr>
        <p:txBody>
          <a:bodyPr rtlCol="0" anchor="ctr"/>
          <a:lstStyle/>
          <a:p>
            <a:pPr algn="ctr"/>
          </a:p>
        </p:txBody>
      </p:sp>
      <p:pic>
        <p:nvPicPr>
          <p:cNvPr id="7" name="Picture 6" descr="image.png"/>
          <p:cNvPicPr>
            <a:picLocks noChangeAspect="1"/>
          </p:cNvPicPr>
          <p:nvPr/>
        </p:nvPicPr>
        <p:blipFill>
          <a:blip r:embed="rId2"/>
          <a:stretch>
            <a:fillRect/>
          </a:stretch>
        </p:blipFill>
        <p:spPr>
          <a:xfrm>
            <a:off x="6413500" y="1450578"/>
            <a:ext cx="4921250" cy="1224756"/>
          </a:xfrm>
          <a:prstGeom prst="rect">
            <a:avLst/>
          </a:prstGeom>
        </p:spPr>
      </p:pic>
      <p:sp>
        <p:nvSpPr>
          <p:cNvPr id="8" name="TextBox 7"/>
          <p:cNvSpPr txBox="1"/>
          <p:nvPr/>
        </p:nvSpPr>
        <p:spPr>
          <a:xfrm>
            <a:off x="6223000" y="2872184"/>
            <a:ext cx="5440934" cy="295250"/>
          </a:xfrm>
          <a:prstGeom prst="rect">
            <a:avLst/>
          </a:prstGeom>
          <a:noFill/>
        </p:spPr>
        <p:txBody>
          <a:bodyPr wrap="square" lIns="0" rIns="0" tIns="0" bIns="0" anchor="t">
            <a:normAutofit/>
          </a:bodyPr>
          <a:lstStyle/>
          <a:p>
            <a:pPr>
              <a:lnSpc>
                <a:spcPct val="128800"/>
              </a:lnSpc>
            </a:pPr>
            <a:r>
              <a:rPr sz="1050" b="0" i="1">
                <a:solidFill>
                  <a:srgbClr val="5A6478"/>
                </a:solidFill>
                <a:latin typeface="Arial"/>
                <a:ea typeface="Malgun Gothic"/>
                <a:cs typeface="Malgun Gothic"/>
              </a:rPr>
              <a:t>μ_d</a:t>
            </a:r>
            <a:r>
              <a:rPr sz="1050" b="0" i="0">
                <a:solidFill>
                  <a:srgbClr val="5A6478"/>
                </a:solidFill>
                <a:latin typeface="Arial"/>
                <a:ea typeface="Malgun Gothic"/>
                <a:cs typeface="Malgun Gothic"/>
              </a:rPr>
              <a:t>: GP 잔차 평균(파라미터). </a:t>
            </a:r>
            <a:r>
              <a:rPr sz="900" b="0" i="0">
                <a:solidFill>
                  <a:srgbClr val="7C2D12"/>
                </a:solidFill>
                <a:latin typeface="Consolas"/>
                <a:ea typeface="Malgun Gothic"/>
                <a:cs typeface="Malgun Gothic"/>
              </a:rPr>
              <a:t>control/acados_mpc/model.py</a:t>
            </a:r>
          </a:p>
        </p:txBody>
      </p:sp>
      <p:sp>
        <p:nvSpPr>
          <p:cNvPr id="9" name="Rounded Rectangle 8"/>
          <p:cNvSpPr/>
          <p:nvPr/>
        </p:nvSpPr>
        <p:spPr>
          <a:xfrm>
            <a:off x="711200" y="3245545"/>
            <a:ext cx="3488234" cy="820341"/>
          </a:xfrm>
          <a:prstGeom prst="roundRect">
            <a:avLst>
              <a:gd name="adj" fmla="val 9288"/>
            </a:avLst>
          </a:prstGeom>
          <a:solidFill>
            <a:srgbClr val="FFFDF8"/>
          </a:solidFill>
          <a:ln>
            <a:noFill/>
          </a:ln>
        </p:spPr>
        <p:txBody>
          <a:bodyPr rtlCol="0" anchor="ctr"/>
          <a:lstStyle/>
          <a:p>
            <a:pPr algn="ctr"/>
          </a:p>
        </p:txBody>
      </p:sp>
      <p:sp>
        <p:nvSpPr>
          <p:cNvPr id="10" name="Rectangle 9"/>
          <p:cNvSpPr/>
          <p:nvPr/>
        </p:nvSpPr>
        <p:spPr>
          <a:xfrm>
            <a:off x="711200" y="3245545"/>
            <a:ext cx="3488234" cy="6350"/>
          </a:xfrm>
          <a:prstGeom prst="rect">
            <a:avLst/>
          </a:prstGeom>
          <a:solidFill>
            <a:srgbClr val="D9D4C7"/>
          </a:solidFill>
          <a:ln>
            <a:noFill/>
          </a:ln>
        </p:spPr>
        <p:txBody>
          <a:bodyPr rtlCol="0" anchor="ctr"/>
          <a:lstStyle/>
          <a:p>
            <a:pPr algn="ctr"/>
          </a:p>
        </p:txBody>
      </p:sp>
      <p:sp>
        <p:nvSpPr>
          <p:cNvPr id="11" name="Rectangle 10"/>
          <p:cNvSpPr/>
          <p:nvPr/>
        </p:nvSpPr>
        <p:spPr>
          <a:xfrm>
            <a:off x="4193084" y="3245545"/>
            <a:ext cx="6350" cy="820341"/>
          </a:xfrm>
          <a:prstGeom prst="rect">
            <a:avLst/>
          </a:prstGeom>
          <a:solidFill>
            <a:srgbClr val="D9D4C7"/>
          </a:solidFill>
          <a:ln>
            <a:noFill/>
          </a:ln>
        </p:spPr>
        <p:txBody>
          <a:bodyPr rtlCol="0" anchor="ctr"/>
          <a:lstStyle/>
          <a:p>
            <a:pPr algn="ctr"/>
          </a:p>
        </p:txBody>
      </p:sp>
      <p:sp>
        <p:nvSpPr>
          <p:cNvPr id="12" name="Rectangle 11"/>
          <p:cNvSpPr/>
          <p:nvPr/>
        </p:nvSpPr>
        <p:spPr>
          <a:xfrm>
            <a:off x="711200" y="4059535"/>
            <a:ext cx="3488234" cy="6350"/>
          </a:xfrm>
          <a:prstGeom prst="rect">
            <a:avLst/>
          </a:prstGeom>
          <a:solidFill>
            <a:srgbClr val="D9D4C7"/>
          </a:solidFill>
          <a:ln>
            <a:noFill/>
          </a:ln>
        </p:spPr>
        <p:txBody>
          <a:bodyPr rtlCol="0" anchor="ctr"/>
          <a:lstStyle/>
          <a:p>
            <a:pPr algn="ctr"/>
          </a:p>
        </p:txBody>
      </p:sp>
      <p:sp>
        <p:nvSpPr>
          <p:cNvPr id="13" name="Rounded Rectangle 12"/>
          <p:cNvSpPr/>
          <p:nvPr/>
        </p:nvSpPr>
        <p:spPr>
          <a:xfrm>
            <a:off x="711200" y="3245545"/>
            <a:ext cx="50800" cy="820341"/>
          </a:xfrm>
          <a:prstGeom prst="roundRect">
            <a:avLst>
              <a:gd name="adj" fmla="val 50000"/>
            </a:avLst>
          </a:prstGeom>
          <a:solidFill>
            <a:srgbClr val="9AA6BC"/>
          </a:solidFill>
          <a:ln>
            <a:noFill/>
          </a:ln>
        </p:spPr>
        <p:txBody>
          <a:bodyPr rtlCol="0" anchor="ctr"/>
          <a:lstStyle/>
          <a:p>
            <a:pPr algn="ctr"/>
          </a:p>
        </p:txBody>
      </p:sp>
      <p:sp>
        <p:nvSpPr>
          <p:cNvPr id="14" name="TextBox 13"/>
          <p:cNvSpPr txBox="1"/>
          <p:nvPr/>
        </p:nvSpPr>
        <p:spPr>
          <a:xfrm>
            <a:off x="927100" y="3391595"/>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모델에 없는 것 ①</a:t>
            </a:r>
          </a:p>
        </p:txBody>
      </p:sp>
      <p:sp>
        <p:nvSpPr>
          <p:cNvPr id="15" name="TextBox 14"/>
          <p:cNvSpPr txBox="1"/>
          <p:nvPr/>
        </p:nvSpPr>
        <p:spPr>
          <a:xfrm>
            <a:off x="927100" y="3698875"/>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모듈 역기구학. 차체 box 제약으로 옮긴다.</a:t>
            </a:r>
          </a:p>
        </p:txBody>
      </p:sp>
      <p:sp>
        <p:nvSpPr>
          <p:cNvPr id="16" name="Rounded Rectangle 15"/>
          <p:cNvSpPr/>
          <p:nvPr/>
        </p:nvSpPr>
        <p:spPr>
          <a:xfrm>
            <a:off x="4351834" y="3245545"/>
            <a:ext cx="3488234" cy="820341"/>
          </a:xfrm>
          <a:prstGeom prst="roundRect">
            <a:avLst>
              <a:gd name="adj" fmla="val 9288"/>
            </a:avLst>
          </a:prstGeom>
          <a:solidFill>
            <a:srgbClr val="FFFDF8"/>
          </a:solidFill>
          <a:ln>
            <a:noFill/>
          </a:ln>
        </p:spPr>
        <p:txBody>
          <a:bodyPr rtlCol="0" anchor="ctr"/>
          <a:lstStyle/>
          <a:p>
            <a:pPr algn="ctr"/>
          </a:p>
        </p:txBody>
      </p:sp>
      <p:sp>
        <p:nvSpPr>
          <p:cNvPr id="17" name="Rectangle 16"/>
          <p:cNvSpPr/>
          <p:nvPr/>
        </p:nvSpPr>
        <p:spPr>
          <a:xfrm>
            <a:off x="4351834" y="3245545"/>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3245545"/>
            <a:ext cx="6350" cy="820341"/>
          </a:xfrm>
          <a:prstGeom prst="rect">
            <a:avLst/>
          </a:prstGeom>
          <a:solidFill>
            <a:srgbClr val="D9D4C7"/>
          </a:solidFill>
          <a:ln>
            <a:noFill/>
          </a:ln>
        </p:spPr>
        <p:txBody>
          <a:bodyPr rtlCol="0" anchor="ctr"/>
          <a:lstStyle/>
          <a:p>
            <a:pPr algn="ctr"/>
          </a:p>
        </p:txBody>
      </p:sp>
      <p:sp>
        <p:nvSpPr>
          <p:cNvPr id="19" name="Rectangle 18"/>
          <p:cNvSpPr/>
          <p:nvPr/>
        </p:nvSpPr>
        <p:spPr>
          <a:xfrm>
            <a:off x="4351834" y="4059535"/>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3245545"/>
            <a:ext cx="50800" cy="820341"/>
          </a:xfrm>
          <a:prstGeom prst="roundRect">
            <a:avLst>
              <a:gd name="adj" fmla="val 50000"/>
            </a:avLst>
          </a:prstGeom>
          <a:solidFill>
            <a:srgbClr val="9AA6BC"/>
          </a:solidFill>
          <a:ln>
            <a:noFill/>
          </a:ln>
        </p:spPr>
        <p:txBody>
          <a:bodyPr rtlCol="0" anchor="ctr"/>
          <a:lstStyle/>
          <a:p>
            <a:pPr algn="ctr"/>
          </a:p>
        </p:txBody>
      </p:sp>
      <p:sp>
        <p:nvSpPr>
          <p:cNvPr id="21" name="TextBox 20"/>
          <p:cNvSpPr txBox="1"/>
          <p:nvPr/>
        </p:nvSpPr>
        <p:spPr>
          <a:xfrm>
            <a:off x="4567734" y="3391595"/>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모델에 없는 것 ②</a:t>
            </a:r>
          </a:p>
        </p:txBody>
      </p:sp>
      <p:sp>
        <p:nvSpPr>
          <p:cNvPr id="22" name="TextBox 21"/>
          <p:cNvSpPr txBox="1"/>
          <p:nvPr/>
        </p:nvSpPr>
        <p:spPr>
          <a:xfrm>
            <a:off x="4567734" y="3698875"/>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액추에이터 지연과 지형 슬립. plant가 만든다.</a:t>
            </a:r>
          </a:p>
        </p:txBody>
      </p:sp>
      <p:sp>
        <p:nvSpPr>
          <p:cNvPr id="23" name="Rounded Rectangle 22"/>
          <p:cNvSpPr/>
          <p:nvPr/>
        </p:nvSpPr>
        <p:spPr>
          <a:xfrm>
            <a:off x="7992467" y="3245545"/>
            <a:ext cx="3488234" cy="820341"/>
          </a:xfrm>
          <a:prstGeom prst="roundRect">
            <a:avLst>
              <a:gd name="adj" fmla="val 9288"/>
            </a:avLst>
          </a:prstGeom>
          <a:solidFill>
            <a:srgbClr val="FFFDF8"/>
          </a:solidFill>
          <a:ln>
            <a:noFill/>
          </a:ln>
        </p:spPr>
        <p:txBody>
          <a:bodyPr rtlCol="0" anchor="ctr"/>
          <a:lstStyle/>
          <a:p>
            <a:pPr algn="ctr"/>
          </a:p>
        </p:txBody>
      </p:sp>
      <p:sp>
        <p:nvSpPr>
          <p:cNvPr id="24" name="Rectangle 23"/>
          <p:cNvSpPr/>
          <p:nvPr/>
        </p:nvSpPr>
        <p:spPr>
          <a:xfrm>
            <a:off x="7992467" y="3245545"/>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3245545"/>
            <a:ext cx="6350" cy="820341"/>
          </a:xfrm>
          <a:prstGeom prst="rect">
            <a:avLst/>
          </a:prstGeom>
          <a:solidFill>
            <a:srgbClr val="D9D4C7"/>
          </a:solidFill>
          <a:ln>
            <a:noFill/>
          </a:ln>
        </p:spPr>
        <p:txBody>
          <a:bodyPr rtlCol="0" anchor="ctr"/>
          <a:lstStyle/>
          <a:p>
            <a:pPr algn="ctr"/>
          </a:p>
        </p:txBody>
      </p:sp>
      <p:sp>
        <p:nvSpPr>
          <p:cNvPr id="26" name="Rectangle 25"/>
          <p:cNvSpPr/>
          <p:nvPr/>
        </p:nvSpPr>
        <p:spPr>
          <a:xfrm>
            <a:off x="7992467" y="4059535"/>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3245545"/>
            <a:ext cx="50800" cy="820341"/>
          </a:xfrm>
          <a:prstGeom prst="roundRect">
            <a:avLst>
              <a:gd name="adj" fmla="val 50000"/>
            </a:avLst>
          </a:prstGeom>
          <a:solidFill>
            <a:srgbClr val="9AA6BC"/>
          </a:solidFill>
          <a:ln>
            <a:noFill/>
          </a:ln>
        </p:spPr>
        <p:txBody>
          <a:bodyPr rtlCol="0" anchor="ctr"/>
          <a:lstStyle/>
          <a:p>
            <a:pPr algn="ctr"/>
          </a:p>
        </p:txBody>
      </p:sp>
      <p:sp>
        <p:nvSpPr>
          <p:cNvPr id="28" name="TextBox 27"/>
          <p:cNvSpPr txBox="1"/>
          <p:nvPr/>
        </p:nvSpPr>
        <p:spPr>
          <a:xfrm>
            <a:off x="8208367" y="3391595"/>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그 차이는</a:t>
            </a:r>
          </a:p>
        </p:txBody>
      </p:sp>
      <p:sp>
        <p:nvSpPr>
          <p:cNvPr id="29" name="TextBox 28"/>
          <p:cNvSpPr txBox="1"/>
          <p:nvPr/>
        </p:nvSpPr>
        <p:spPr>
          <a:xfrm>
            <a:off x="8208367" y="3698875"/>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잔차 </a:t>
            </a:r>
            <a:r>
              <a:rPr sz="1150" b="0" i="1">
                <a:solidFill>
                  <a:srgbClr val="16213A"/>
                </a:solidFill>
                <a:latin typeface="Arial"/>
                <a:ea typeface="Malgun Gothic"/>
                <a:cs typeface="Malgun Gothic"/>
              </a:rPr>
              <a:t>μ_d</a:t>
            </a:r>
            <a:r>
              <a:rPr sz="1150" b="0" i="0">
                <a:solidFill>
                  <a:srgbClr val="16213A"/>
                </a:solidFill>
                <a:latin typeface="Arial"/>
                <a:ea typeface="Malgun Gothic"/>
                <a:cs typeface="Malgun Gothic"/>
              </a:rPr>
              <a:t>가 흡수한다(TP-0068).</a:t>
            </a:r>
          </a:p>
        </p:txBody>
      </p:sp>
      <p:sp>
        <p:nvSpPr>
          <p:cNvPr id="30" name="Rounded Rectangle 29"/>
          <p:cNvSpPr/>
          <p:nvPr/>
        </p:nvSpPr>
        <p:spPr>
          <a:xfrm>
            <a:off x="711200" y="4243685"/>
            <a:ext cx="10769600" cy="502543"/>
          </a:xfrm>
          <a:prstGeom prst="roundRect">
            <a:avLst>
              <a:gd name="adj" fmla="val 15162"/>
            </a:avLst>
          </a:prstGeom>
          <a:solidFill>
            <a:srgbClr val="16213A"/>
          </a:solidFill>
          <a:ln>
            <a:noFill/>
          </a:ln>
        </p:spPr>
        <p:txBody>
          <a:bodyPr rtlCol="0" anchor="ctr"/>
          <a:lstStyle/>
          <a:p>
            <a:pPr algn="ctr"/>
          </a:p>
        </p:txBody>
      </p:sp>
      <p:sp>
        <p:nvSpPr>
          <p:cNvPr id="31" name="TextBox 30"/>
          <p:cNvSpPr txBox="1"/>
          <p:nvPr/>
        </p:nvSpPr>
        <p:spPr>
          <a:xfrm>
            <a:off x="889000" y="437068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입력 좌표계가 SmoothMPPI·Planner D와 같아서, horizon이 같으면 비교가 성립한다.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 · OCP</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추종 비용은 선형 최소제곱, 장애물은 노드마다 반평면이다</a:t>
            </a:r>
          </a:p>
        </p:txBody>
      </p:sp>
      <p:sp>
        <p:nvSpPr>
          <p:cNvPr id="4" name="Rounded Rectangle 3"/>
          <p:cNvSpPr/>
          <p:nvPr/>
        </p:nvSpPr>
        <p:spPr>
          <a:xfrm>
            <a:off x="711200" y="1361678"/>
            <a:ext cx="10769600" cy="803870"/>
          </a:xfrm>
          <a:prstGeom prst="roundRect">
            <a:avLst>
              <a:gd name="adj" fmla="val 6319"/>
            </a:avLst>
          </a:prstGeom>
          <a:solidFill>
            <a:srgbClr val="FFFDF8"/>
          </a:solidFill>
          <a:ln>
            <a:noFill/>
          </a:ln>
        </p:spPr>
        <p:txBody>
          <a:bodyPr rtlCol="0" anchor="ctr"/>
          <a:lstStyle/>
          <a:p>
            <a:pPr algn="ctr"/>
          </a:p>
        </p:txBody>
      </p:sp>
      <p:sp>
        <p:nvSpPr>
          <p:cNvPr id="5" name="Rounded Rectangle 4"/>
          <p:cNvSpPr/>
          <p:nvPr/>
        </p:nvSpPr>
        <p:spPr>
          <a:xfrm>
            <a:off x="711200" y="1361678"/>
            <a:ext cx="38100" cy="80387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632420"/>
          </a:xfrm>
          <a:prstGeom prst="rect">
            <a:avLst/>
          </a:prstGeom>
        </p:spPr>
      </p:pic>
      <p:sp>
        <p:nvSpPr>
          <p:cNvPr id="7" name="Rounded Rectangle 6"/>
          <p:cNvSpPr/>
          <p:nvPr/>
        </p:nvSpPr>
        <p:spPr>
          <a:xfrm>
            <a:off x="711200" y="2343348"/>
            <a:ext cx="10769600" cy="432594"/>
          </a:xfrm>
          <a:prstGeom prst="roundRect">
            <a:avLst>
              <a:gd name="adj" fmla="val 11743"/>
            </a:avLst>
          </a:prstGeom>
          <a:solidFill>
            <a:srgbClr val="FFFDF8"/>
          </a:solidFill>
          <a:ln>
            <a:noFill/>
          </a:ln>
        </p:spPr>
        <p:txBody>
          <a:bodyPr rtlCol="0" anchor="ctr"/>
          <a:lstStyle/>
          <a:p>
            <a:pPr algn="ctr"/>
          </a:p>
        </p:txBody>
      </p:sp>
      <p:sp>
        <p:nvSpPr>
          <p:cNvPr id="8" name="Rounded Rectangle 7"/>
          <p:cNvSpPr/>
          <p:nvPr/>
        </p:nvSpPr>
        <p:spPr>
          <a:xfrm>
            <a:off x="711200" y="2343348"/>
            <a:ext cx="38100" cy="432594"/>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2432248"/>
            <a:ext cx="10433050" cy="261144"/>
          </a:xfrm>
          <a:prstGeom prst="rect">
            <a:avLst/>
          </a:prstGeom>
        </p:spPr>
      </p:pic>
      <p:sp>
        <p:nvSpPr>
          <p:cNvPr id="10" name="Rounded Rectangle 9"/>
          <p:cNvSpPr/>
          <p:nvPr/>
        </p:nvSpPr>
        <p:spPr>
          <a:xfrm>
            <a:off x="711200" y="2953742"/>
            <a:ext cx="3488234" cy="1041301"/>
          </a:xfrm>
          <a:prstGeom prst="roundRect">
            <a:avLst>
              <a:gd name="adj" fmla="val 7317"/>
            </a:avLst>
          </a:prstGeom>
          <a:solidFill>
            <a:srgbClr val="FFFDF8"/>
          </a:solidFill>
          <a:ln>
            <a:noFill/>
          </a:ln>
        </p:spPr>
        <p:txBody>
          <a:bodyPr rtlCol="0" anchor="ctr"/>
          <a:lstStyle/>
          <a:p>
            <a:pPr algn="ctr"/>
          </a:p>
        </p:txBody>
      </p:sp>
      <p:sp>
        <p:nvSpPr>
          <p:cNvPr id="11" name="Rectangle 10"/>
          <p:cNvSpPr/>
          <p:nvPr/>
        </p:nvSpPr>
        <p:spPr>
          <a:xfrm>
            <a:off x="711200" y="2953742"/>
            <a:ext cx="3488234" cy="6350"/>
          </a:xfrm>
          <a:prstGeom prst="rect">
            <a:avLst/>
          </a:prstGeom>
          <a:solidFill>
            <a:srgbClr val="D9D4C7"/>
          </a:solidFill>
          <a:ln>
            <a:noFill/>
          </a:ln>
        </p:spPr>
        <p:txBody>
          <a:bodyPr rtlCol="0" anchor="ctr"/>
          <a:lstStyle/>
          <a:p>
            <a:pPr algn="ctr"/>
          </a:p>
        </p:txBody>
      </p:sp>
      <p:sp>
        <p:nvSpPr>
          <p:cNvPr id="12" name="Rectangle 11"/>
          <p:cNvSpPr/>
          <p:nvPr/>
        </p:nvSpPr>
        <p:spPr>
          <a:xfrm>
            <a:off x="4193084" y="2953742"/>
            <a:ext cx="6350" cy="1041301"/>
          </a:xfrm>
          <a:prstGeom prst="rect">
            <a:avLst/>
          </a:prstGeom>
          <a:solidFill>
            <a:srgbClr val="D9D4C7"/>
          </a:solidFill>
          <a:ln>
            <a:noFill/>
          </a:ln>
        </p:spPr>
        <p:txBody>
          <a:bodyPr rtlCol="0" anchor="ctr"/>
          <a:lstStyle/>
          <a:p>
            <a:pPr algn="ctr"/>
          </a:p>
        </p:txBody>
      </p:sp>
      <p:sp>
        <p:nvSpPr>
          <p:cNvPr id="13" name="Rectangle 12"/>
          <p:cNvSpPr/>
          <p:nvPr/>
        </p:nvSpPr>
        <p:spPr>
          <a:xfrm>
            <a:off x="711200" y="3988693"/>
            <a:ext cx="3488234"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2953742"/>
            <a:ext cx="50800" cy="1041301"/>
          </a:xfrm>
          <a:prstGeom prst="roundRect">
            <a:avLst>
              <a:gd name="adj" fmla="val 50000"/>
            </a:avLst>
          </a:prstGeom>
          <a:solidFill>
            <a:srgbClr val="1D4ED8"/>
          </a:solidFill>
          <a:ln>
            <a:noFill/>
          </a:ln>
        </p:spPr>
        <p:txBody>
          <a:bodyPr rtlCol="0" anchor="ctr"/>
          <a:lstStyle/>
          <a:p>
            <a:pPr algn="ctr"/>
          </a:p>
        </p:txBody>
      </p:sp>
      <p:sp>
        <p:nvSpPr>
          <p:cNvPr id="15" name="TextBox 14"/>
          <p:cNvSpPr txBox="1"/>
          <p:nvPr/>
        </p:nvSpPr>
        <p:spPr>
          <a:xfrm>
            <a:off x="927100" y="3099792"/>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추종 비용</a:t>
            </a:r>
          </a:p>
        </p:txBody>
      </p:sp>
      <p:sp>
        <p:nvSpPr>
          <p:cNvPr id="16" name="TextBox 15"/>
          <p:cNvSpPr txBox="1"/>
          <p:nvPr/>
        </p:nvSpPr>
        <p:spPr>
          <a:xfrm>
            <a:off x="927100" y="3407073"/>
            <a:ext cx="3219310"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y = (x, y, v_y, ω, a)</a:t>
            </a:r>
            <a:r>
              <a:rPr sz="1150" b="0" i="0">
                <a:solidFill>
                  <a:srgbClr val="16213A"/>
                </a:solidFill>
                <a:latin typeface="Arial"/>
                <a:ea typeface="Malgun Gothic"/>
                <a:cs typeface="Malgun Gothic"/>
              </a:rPr>
              <a:t>. </a:t>
            </a:r>
            <a:r>
              <a:rPr sz="1150" b="0" i="1">
                <a:solidFill>
                  <a:srgbClr val="16213A"/>
                </a:solidFill>
                <a:latin typeface="Arial"/>
                <a:ea typeface="Malgun Gothic"/>
                <a:cs typeface="Malgun Gothic"/>
              </a:rPr>
              <a:t>W = diag(10, 10, 0.1, 0.1, 0.05, 0.05, 0.02)</a:t>
            </a:r>
          </a:p>
        </p:txBody>
      </p:sp>
      <p:sp>
        <p:nvSpPr>
          <p:cNvPr id="17" name="Rounded Rectangle 16"/>
          <p:cNvSpPr/>
          <p:nvPr/>
        </p:nvSpPr>
        <p:spPr>
          <a:xfrm>
            <a:off x="4351834" y="2953742"/>
            <a:ext cx="3488234" cy="1041301"/>
          </a:xfrm>
          <a:prstGeom prst="roundRect">
            <a:avLst>
              <a:gd name="adj" fmla="val 7317"/>
            </a:avLst>
          </a:prstGeom>
          <a:solidFill>
            <a:srgbClr val="FFFDF8"/>
          </a:solidFill>
          <a:ln>
            <a:noFill/>
          </a:ln>
        </p:spPr>
        <p:txBody>
          <a:bodyPr rtlCol="0" anchor="ctr"/>
          <a:lstStyle/>
          <a:p>
            <a:pPr algn="ctr"/>
          </a:p>
        </p:txBody>
      </p:sp>
      <p:sp>
        <p:nvSpPr>
          <p:cNvPr id="18" name="Rectangle 17"/>
          <p:cNvSpPr/>
          <p:nvPr/>
        </p:nvSpPr>
        <p:spPr>
          <a:xfrm>
            <a:off x="4351834" y="2953742"/>
            <a:ext cx="3488234" cy="6350"/>
          </a:xfrm>
          <a:prstGeom prst="rect">
            <a:avLst/>
          </a:prstGeom>
          <a:solidFill>
            <a:srgbClr val="D9D4C7"/>
          </a:solidFill>
          <a:ln>
            <a:noFill/>
          </a:ln>
        </p:spPr>
        <p:txBody>
          <a:bodyPr rtlCol="0" anchor="ctr"/>
          <a:lstStyle/>
          <a:p>
            <a:pPr algn="ctr"/>
          </a:p>
        </p:txBody>
      </p:sp>
      <p:sp>
        <p:nvSpPr>
          <p:cNvPr id="19" name="Rectangle 18"/>
          <p:cNvSpPr/>
          <p:nvPr/>
        </p:nvSpPr>
        <p:spPr>
          <a:xfrm>
            <a:off x="7833717" y="2953742"/>
            <a:ext cx="6350" cy="1041301"/>
          </a:xfrm>
          <a:prstGeom prst="rect">
            <a:avLst/>
          </a:prstGeom>
          <a:solidFill>
            <a:srgbClr val="D9D4C7"/>
          </a:solidFill>
          <a:ln>
            <a:noFill/>
          </a:ln>
        </p:spPr>
        <p:txBody>
          <a:bodyPr rtlCol="0" anchor="ctr"/>
          <a:lstStyle/>
          <a:p>
            <a:pPr algn="ctr"/>
          </a:p>
        </p:txBody>
      </p:sp>
      <p:sp>
        <p:nvSpPr>
          <p:cNvPr id="20" name="Rectangle 19"/>
          <p:cNvSpPr/>
          <p:nvPr/>
        </p:nvSpPr>
        <p:spPr>
          <a:xfrm>
            <a:off x="4351834" y="3988693"/>
            <a:ext cx="3488234" cy="6350"/>
          </a:xfrm>
          <a:prstGeom prst="rect">
            <a:avLst/>
          </a:prstGeom>
          <a:solidFill>
            <a:srgbClr val="D9D4C7"/>
          </a:solidFill>
          <a:ln>
            <a:noFill/>
          </a:ln>
        </p:spPr>
        <p:txBody>
          <a:bodyPr rtlCol="0" anchor="ctr"/>
          <a:lstStyle/>
          <a:p>
            <a:pPr algn="ctr"/>
          </a:p>
        </p:txBody>
      </p:sp>
      <p:sp>
        <p:nvSpPr>
          <p:cNvPr id="21" name="Rounded Rectangle 20"/>
          <p:cNvSpPr/>
          <p:nvPr/>
        </p:nvSpPr>
        <p:spPr>
          <a:xfrm>
            <a:off x="4351834" y="2953742"/>
            <a:ext cx="50800" cy="1041301"/>
          </a:xfrm>
          <a:prstGeom prst="roundRect">
            <a:avLst>
              <a:gd name="adj" fmla="val 50000"/>
            </a:avLst>
          </a:prstGeom>
          <a:solidFill>
            <a:srgbClr val="1D4ED8"/>
          </a:solidFill>
          <a:ln>
            <a:noFill/>
          </a:ln>
        </p:spPr>
        <p:txBody>
          <a:bodyPr rtlCol="0" anchor="ctr"/>
          <a:lstStyle/>
          <a:p>
            <a:pPr algn="ctr"/>
          </a:p>
        </p:txBody>
      </p:sp>
      <p:sp>
        <p:nvSpPr>
          <p:cNvPr id="22" name="TextBox 21"/>
          <p:cNvSpPr txBox="1"/>
          <p:nvPr/>
        </p:nvSpPr>
        <p:spPr>
          <a:xfrm>
            <a:off x="4567734" y="3099792"/>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종단 = 진행</a:t>
            </a:r>
          </a:p>
        </p:txBody>
      </p:sp>
      <p:sp>
        <p:nvSpPr>
          <p:cNvPr id="23" name="TextBox 22"/>
          <p:cNvSpPr txBox="1"/>
          <p:nvPr/>
        </p:nvSpPr>
        <p:spPr>
          <a:xfrm>
            <a:off x="4567734" y="3407073"/>
            <a:ext cx="3219310"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Wₑ = 50</a:t>
            </a:r>
            <a:r>
              <a:rPr sz="1150" b="0" i="0">
                <a:solidFill>
                  <a:srgbClr val="16213A"/>
                </a:solidFill>
                <a:latin typeface="Arial"/>
                <a:ea typeface="Malgun Gothic"/>
                <a:cs typeface="Malgun Gothic"/>
              </a:rPr>
              <a:t>이 MPPI </a:t>
            </a:r>
            <a:r>
              <a:rPr sz="1000" b="0" i="0">
                <a:solidFill>
                  <a:srgbClr val="7C2D12"/>
                </a:solidFill>
                <a:latin typeface="Consolas"/>
                <a:ea typeface="Malgun Gothic"/>
                <a:cs typeface="Malgun Gothic"/>
              </a:rPr>
              <a:t>ReferenceCost</a:t>
            </a:r>
            <a:r>
              <a:rPr sz="1150" b="0" i="0">
                <a:solidFill>
                  <a:srgbClr val="16213A"/>
                </a:solidFill>
                <a:latin typeface="Arial"/>
                <a:ea typeface="Malgun Gothic"/>
                <a:cs typeface="Malgun Gothic"/>
              </a:rPr>
              <a:t>의 진행 역할을 맡는다.</a:t>
            </a:r>
          </a:p>
        </p:txBody>
      </p:sp>
      <p:sp>
        <p:nvSpPr>
          <p:cNvPr id="24" name="Rounded Rectangle 23"/>
          <p:cNvSpPr/>
          <p:nvPr/>
        </p:nvSpPr>
        <p:spPr>
          <a:xfrm>
            <a:off x="7992467" y="2953742"/>
            <a:ext cx="3488234" cy="1041301"/>
          </a:xfrm>
          <a:prstGeom prst="roundRect">
            <a:avLst>
              <a:gd name="adj" fmla="val 7317"/>
            </a:avLst>
          </a:prstGeom>
          <a:solidFill>
            <a:srgbClr val="FFFDF8"/>
          </a:solidFill>
          <a:ln>
            <a:noFill/>
          </a:ln>
        </p:spPr>
        <p:txBody>
          <a:bodyPr rtlCol="0" anchor="ctr"/>
          <a:lstStyle/>
          <a:p>
            <a:pPr algn="ctr"/>
          </a:p>
        </p:txBody>
      </p:sp>
      <p:sp>
        <p:nvSpPr>
          <p:cNvPr id="25" name="Rectangle 24"/>
          <p:cNvSpPr/>
          <p:nvPr/>
        </p:nvSpPr>
        <p:spPr>
          <a:xfrm>
            <a:off x="7992467" y="2953742"/>
            <a:ext cx="3488234" cy="6350"/>
          </a:xfrm>
          <a:prstGeom prst="rect">
            <a:avLst/>
          </a:prstGeom>
          <a:solidFill>
            <a:srgbClr val="D9D4C7"/>
          </a:solidFill>
          <a:ln>
            <a:noFill/>
          </a:ln>
        </p:spPr>
        <p:txBody>
          <a:bodyPr rtlCol="0" anchor="ctr"/>
          <a:lstStyle/>
          <a:p>
            <a:pPr algn="ctr"/>
          </a:p>
        </p:txBody>
      </p:sp>
      <p:sp>
        <p:nvSpPr>
          <p:cNvPr id="26" name="Rectangle 25"/>
          <p:cNvSpPr/>
          <p:nvPr/>
        </p:nvSpPr>
        <p:spPr>
          <a:xfrm>
            <a:off x="11474351" y="2953742"/>
            <a:ext cx="6350" cy="1041301"/>
          </a:xfrm>
          <a:prstGeom prst="rect">
            <a:avLst/>
          </a:prstGeom>
          <a:solidFill>
            <a:srgbClr val="D9D4C7"/>
          </a:solidFill>
          <a:ln>
            <a:noFill/>
          </a:ln>
        </p:spPr>
        <p:txBody>
          <a:bodyPr rtlCol="0" anchor="ctr"/>
          <a:lstStyle/>
          <a:p>
            <a:pPr algn="ctr"/>
          </a:p>
        </p:txBody>
      </p:sp>
      <p:sp>
        <p:nvSpPr>
          <p:cNvPr id="27" name="Rectangle 26"/>
          <p:cNvSpPr/>
          <p:nvPr/>
        </p:nvSpPr>
        <p:spPr>
          <a:xfrm>
            <a:off x="7992467" y="3988693"/>
            <a:ext cx="3488234" cy="6350"/>
          </a:xfrm>
          <a:prstGeom prst="rect">
            <a:avLst/>
          </a:prstGeom>
          <a:solidFill>
            <a:srgbClr val="D9D4C7"/>
          </a:solidFill>
          <a:ln>
            <a:noFill/>
          </a:ln>
        </p:spPr>
        <p:txBody>
          <a:bodyPr rtlCol="0" anchor="ctr"/>
          <a:lstStyle/>
          <a:p>
            <a:pPr algn="ctr"/>
          </a:p>
        </p:txBody>
      </p:sp>
      <p:sp>
        <p:nvSpPr>
          <p:cNvPr id="28" name="Rounded Rectangle 27"/>
          <p:cNvSpPr/>
          <p:nvPr/>
        </p:nvSpPr>
        <p:spPr>
          <a:xfrm>
            <a:off x="7992467" y="2953742"/>
            <a:ext cx="50800" cy="1041301"/>
          </a:xfrm>
          <a:prstGeom prst="roundRect">
            <a:avLst>
              <a:gd name="adj" fmla="val 50000"/>
            </a:avLst>
          </a:prstGeom>
          <a:solidFill>
            <a:srgbClr val="C2410C"/>
          </a:solidFill>
          <a:ln>
            <a:noFill/>
          </a:ln>
        </p:spPr>
        <p:txBody>
          <a:bodyPr rtlCol="0" anchor="ctr"/>
          <a:lstStyle/>
          <a:p>
            <a:pPr algn="ctr"/>
          </a:p>
        </p:txBody>
      </p:sp>
      <p:sp>
        <p:nvSpPr>
          <p:cNvPr id="29" name="TextBox 28"/>
          <p:cNvSpPr txBox="1"/>
          <p:nvPr/>
        </p:nvSpPr>
        <p:spPr>
          <a:xfrm>
            <a:off x="8208367" y="3099792"/>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반평면 두 줄</a:t>
            </a:r>
          </a:p>
        </p:txBody>
      </p:sp>
      <p:sp>
        <p:nvSpPr>
          <p:cNvPr id="30" name="TextBox 29"/>
          <p:cNvSpPr txBox="1"/>
          <p:nvPr/>
        </p:nvSpPr>
        <p:spPr>
          <a:xfrm>
            <a:off x="8208367" y="3407073"/>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치명 셀(행 0)과 그 시각의 보행자(행 1). 모두 slack을 둔다.</a:t>
            </a:r>
          </a:p>
        </p:txBody>
      </p:sp>
      <p:sp>
        <p:nvSpPr>
          <p:cNvPr id="31" name="Rounded Rectangle 30"/>
          <p:cNvSpPr/>
          <p:nvPr/>
        </p:nvSpPr>
        <p:spPr>
          <a:xfrm>
            <a:off x="711200" y="4172843"/>
            <a:ext cx="5257800" cy="1041301"/>
          </a:xfrm>
          <a:prstGeom prst="roundRect">
            <a:avLst>
              <a:gd name="adj" fmla="val 7317"/>
            </a:avLst>
          </a:prstGeom>
          <a:solidFill>
            <a:srgbClr val="FFFDF8"/>
          </a:solidFill>
          <a:ln>
            <a:noFill/>
          </a:ln>
        </p:spPr>
        <p:txBody>
          <a:bodyPr rtlCol="0" anchor="ctr"/>
          <a:lstStyle/>
          <a:p>
            <a:pPr algn="ctr"/>
          </a:p>
        </p:txBody>
      </p:sp>
      <p:sp>
        <p:nvSpPr>
          <p:cNvPr id="32" name="Rectangle 31"/>
          <p:cNvSpPr/>
          <p:nvPr/>
        </p:nvSpPr>
        <p:spPr>
          <a:xfrm>
            <a:off x="711200" y="4172843"/>
            <a:ext cx="5257800" cy="6350"/>
          </a:xfrm>
          <a:prstGeom prst="rect">
            <a:avLst/>
          </a:prstGeom>
          <a:solidFill>
            <a:srgbClr val="D9D4C7"/>
          </a:solidFill>
          <a:ln>
            <a:noFill/>
          </a:ln>
        </p:spPr>
        <p:txBody>
          <a:bodyPr rtlCol="0" anchor="ctr"/>
          <a:lstStyle/>
          <a:p>
            <a:pPr algn="ctr"/>
          </a:p>
        </p:txBody>
      </p:sp>
      <p:sp>
        <p:nvSpPr>
          <p:cNvPr id="33" name="Rectangle 32"/>
          <p:cNvSpPr/>
          <p:nvPr/>
        </p:nvSpPr>
        <p:spPr>
          <a:xfrm>
            <a:off x="5962650" y="4172843"/>
            <a:ext cx="6350" cy="1041301"/>
          </a:xfrm>
          <a:prstGeom prst="rect">
            <a:avLst/>
          </a:prstGeom>
          <a:solidFill>
            <a:srgbClr val="D9D4C7"/>
          </a:solidFill>
          <a:ln>
            <a:noFill/>
          </a:ln>
        </p:spPr>
        <p:txBody>
          <a:bodyPr rtlCol="0" anchor="ctr"/>
          <a:lstStyle/>
          <a:p>
            <a:pPr algn="ctr"/>
          </a:p>
        </p:txBody>
      </p:sp>
      <p:sp>
        <p:nvSpPr>
          <p:cNvPr id="34" name="Rectangle 33"/>
          <p:cNvSpPr/>
          <p:nvPr/>
        </p:nvSpPr>
        <p:spPr>
          <a:xfrm>
            <a:off x="711200" y="5207794"/>
            <a:ext cx="52578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4172843"/>
            <a:ext cx="50800" cy="1041301"/>
          </a:xfrm>
          <a:prstGeom prst="roundRect">
            <a:avLst>
              <a:gd name="adj" fmla="val 50000"/>
            </a:avLst>
          </a:prstGeom>
          <a:solidFill>
            <a:srgbClr val="9AA6BC"/>
          </a:solidFill>
          <a:ln>
            <a:noFill/>
          </a:ln>
        </p:spPr>
        <p:txBody>
          <a:bodyPr rtlCol="0" anchor="ctr"/>
          <a:lstStyle/>
          <a:p>
            <a:pPr algn="ctr"/>
          </a:p>
        </p:txBody>
      </p:sp>
      <p:sp>
        <p:nvSpPr>
          <p:cNvPr id="36" name="TextBox 35"/>
          <p:cNvSpPr txBox="1"/>
          <p:nvPr/>
        </p:nvSpPr>
        <p:spPr>
          <a:xfrm>
            <a:off x="927100" y="4318893"/>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참조 만들기</a:t>
            </a:r>
          </a:p>
        </p:txBody>
      </p:sp>
      <p:sp>
        <p:nvSpPr>
          <p:cNvPr id="37" name="TextBox 36"/>
          <p:cNvSpPr txBox="1"/>
          <p:nvPr/>
        </p:nvSpPr>
        <p:spPr>
          <a:xfrm>
            <a:off x="927100" y="4626173"/>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Guidance 경로는 </a:t>
            </a:r>
            <a:r>
              <a:rPr sz="1150" b="0" i="1">
                <a:solidFill>
                  <a:srgbClr val="16213A"/>
                </a:solidFill>
                <a:latin typeface="Arial"/>
                <a:ea typeface="Malgun Gothic"/>
                <a:cs typeface="Malgun Gothic"/>
              </a:rPr>
              <a:t>v_(des) = 1.0</a:t>
            </a:r>
            <a:r>
              <a:rPr sz="1150" b="0" i="0">
                <a:solidFill>
                  <a:srgbClr val="16213A"/>
                </a:solidFill>
                <a:latin typeface="Arial"/>
                <a:ea typeface="Malgun Gothic"/>
                <a:cs typeface="Malgun Gothic"/>
              </a:rPr>
              <a:t> m/s로 시간을 매기고, Planner D는 시간 인덱스를 그대로 쓴다.</a:t>
            </a:r>
          </a:p>
        </p:txBody>
      </p:sp>
      <p:sp>
        <p:nvSpPr>
          <p:cNvPr id="38" name="Rounded Rectangle 37"/>
          <p:cNvSpPr/>
          <p:nvPr/>
        </p:nvSpPr>
        <p:spPr>
          <a:xfrm>
            <a:off x="6223000" y="4172843"/>
            <a:ext cx="5257800" cy="1041301"/>
          </a:xfrm>
          <a:prstGeom prst="roundRect">
            <a:avLst>
              <a:gd name="adj" fmla="val 7317"/>
            </a:avLst>
          </a:prstGeom>
          <a:solidFill>
            <a:srgbClr val="FFFDF8"/>
          </a:solidFill>
          <a:ln>
            <a:noFill/>
          </a:ln>
        </p:spPr>
        <p:txBody>
          <a:bodyPr rtlCol="0" anchor="ctr"/>
          <a:lstStyle/>
          <a:p>
            <a:pPr algn="ctr"/>
          </a:p>
        </p:txBody>
      </p:sp>
      <p:sp>
        <p:nvSpPr>
          <p:cNvPr id="39" name="Rectangle 38"/>
          <p:cNvSpPr/>
          <p:nvPr/>
        </p:nvSpPr>
        <p:spPr>
          <a:xfrm>
            <a:off x="6223000" y="4172843"/>
            <a:ext cx="5257800" cy="6350"/>
          </a:xfrm>
          <a:prstGeom prst="rect">
            <a:avLst/>
          </a:prstGeom>
          <a:solidFill>
            <a:srgbClr val="D9D4C7"/>
          </a:solidFill>
          <a:ln>
            <a:noFill/>
          </a:ln>
        </p:spPr>
        <p:txBody>
          <a:bodyPr rtlCol="0" anchor="ctr"/>
          <a:lstStyle/>
          <a:p>
            <a:pPr algn="ctr"/>
          </a:p>
        </p:txBody>
      </p:sp>
      <p:sp>
        <p:nvSpPr>
          <p:cNvPr id="40" name="Rectangle 39"/>
          <p:cNvSpPr/>
          <p:nvPr/>
        </p:nvSpPr>
        <p:spPr>
          <a:xfrm>
            <a:off x="11474450" y="4172843"/>
            <a:ext cx="6350" cy="1041301"/>
          </a:xfrm>
          <a:prstGeom prst="rect">
            <a:avLst/>
          </a:prstGeom>
          <a:solidFill>
            <a:srgbClr val="D9D4C7"/>
          </a:solidFill>
          <a:ln>
            <a:noFill/>
          </a:ln>
        </p:spPr>
        <p:txBody>
          <a:bodyPr rtlCol="0" anchor="ctr"/>
          <a:lstStyle/>
          <a:p>
            <a:pPr algn="ctr"/>
          </a:p>
        </p:txBody>
      </p:sp>
      <p:sp>
        <p:nvSpPr>
          <p:cNvPr id="41" name="Rectangle 40"/>
          <p:cNvSpPr/>
          <p:nvPr/>
        </p:nvSpPr>
        <p:spPr>
          <a:xfrm>
            <a:off x="6223000" y="5207794"/>
            <a:ext cx="5257800" cy="6350"/>
          </a:xfrm>
          <a:prstGeom prst="rect">
            <a:avLst/>
          </a:prstGeom>
          <a:solidFill>
            <a:srgbClr val="D9D4C7"/>
          </a:solidFill>
          <a:ln>
            <a:noFill/>
          </a:ln>
        </p:spPr>
        <p:txBody>
          <a:bodyPr rtlCol="0" anchor="ctr"/>
          <a:lstStyle/>
          <a:p>
            <a:pPr algn="ctr"/>
          </a:p>
        </p:txBody>
      </p:sp>
      <p:sp>
        <p:nvSpPr>
          <p:cNvPr id="42" name="Rounded Rectangle 41"/>
          <p:cNvSpPr/>
          <p:nvPr/>
        </p:nvSpPr>
        <p:spPr>
          <a:xfrm>
            <a:off x="6223000" y="4172843"/>
            <a:ext cx="50800" cy="1041301"/>
          </a:xfrm>
          <a:prstGeom prst="roundRect">
            <a:avLst>
              <a:gd name="adj" fmla="val 50000"/>
            </a:avLst>
          </a:prstGeom>
          <a:solidFill>
            <a:srgbClr val="9AA6BC"/>
          </a:solidFill>
          <a:ln>
            <a:noFill/>
          </a:ln>
        </p:spPr>
        <p:txBody>
          <a:bodyPr rtlCol="0" anchor="ctr"/>
          <a:lstStyle/>
          <a:p>
            <a:pPr algn="ctr"/>
          </a:p>
        </p:txBody>
      </p:sp>
      <p:sp>
        <p:nvSpPr>
          <p:cNvPr id="43" name="TextBox 42"/>
          <p:cNvSpPr txBox="1"/>
          <p:nvPr/>
        </p:nvSpPr>
        <p:spPr>
          <a:xfrm>
            <a:off x="6438900" y="4318893"/>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slack 가중치</a:t>
            </a:r>
          </a:p>
        </p:txBody>
      </p:sp>
      <p:sp>
        <p:nvSpPr>
          <p:cNvPr id="44" name="TextBox 43"/>
          <p:cNvSpPr txBox="1"/>
          <p:nvPr/>
        </p:nvSpPr>
        <p:spPr>
          <a:xfrm>
            <a:off x="6438900" y="4626173"/>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장애물·보행자 행 1e6, twist box 1e5. 나쁜 초기해가 문제를 infeasible하게 만들지 않게 한다.</a:t>
            </a:r>
          </a:p>
        </p:txBody>
      </p:sp>
      <p:sp>
        <p:nvSpPr>
          <p:cNvPr id="45" name="TextBox 44"/>
          <p:cNvSpPr txBox="1"/>
          <p:nvPr/>
        </p:nvSpPr>
        <p:spPr>
          <a:xfrm>
            <a:off x="711200" y="5391944"/>
            <a:ext cx="11118088"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비용 형식 LINEAR_LS, 가중치는 </a:t>
            </a:r>
            <a:r>
              <a:rPr sz="900" b="0" i="0">
                <a:solidFill>
                  <a:srgbClr val="7C2D12"/>
                </a:solidFill>
                <a:latin typeface="Consolas"/>
                <a:ea typeface="Malgun Gothic"/>
                <a:cs typeface="Malgun Gothic"/>
              </a:rPr>
              <a:t>MPCConfig</a:t>
            </a:r>
            <a:r>
              <a:rPr sz="1050" b="0" i="0">
                <a:solidFill>
                  <a:srgbClr val="5A6478"/>
                </a:solidFill>
                <a:latin typeface="Arial"/>
                <a:ea typeface="Malgun Gothic"/>
                <a:cs typeface="Malgun Gothic"/>
              </a:rPr>
              <a:t> 기본값(</a:t>
            </a:r>
            <a:r>
              <a:rPr sz="900" b="0" i="0">
                <a:solidFill>
                  <a:srgbClr val="7C2D12"/>
                </a:solidFill>
                <a:latin typeface="Consolas"/>
                <a:ea typeface="Malgun Gothic"/>
                <a:cs typeface="Malgun Gothic"/>
              </a:rPr>
              <a:t>control/acados_mpc/ocp.py</a:t>
            </a:r>
            <a:r>
              <a:rPr sz="1050" b="0" i="0">
                <a:solidFill>
                  <a:srgbClr val="5A6478"/>
                </a:solidFill>
                <a:latin typeface="Arial"/>
                <a:ea typeface="Malgun Gothic"/>
                <a:cs typeface="Malgun Gothic"/>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M.3.5 · 솔버 설정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페널티 1e6과 RTI 3회가 함께여야 접평면 제약이 선다</a:t>
            </a:r>
          </a:p>
        </p:txBody>
      </p:sp>
      <p:graphicFrame>
        <p:nvGraphicFramePr>
          <p:cNvPr id="4" name="Table 3"/>
          <p:cNvGraphicFramePr>
            <a:graphicFrameLocks noGrp="1"/>
          </p:cNvGraphicFramePr>
          <p:nvPr/>
        </p:nvGraphicFramePr>
        <p:xfrm>
          <a:off x="711200" y="1361678"/>
          <a:ext cx="5257800" cy="1538625"/>
        </p:xfrm>
        <a:graphic>
          <a:graphicData uri="http://schemas.openxmlformats.org/drawingml/2006/table">
            <a:tbl>
              <a:tblPr firstRow="0" bandRow="0">
                <a:tableStyleId>{5C22544A-7EE6-4342-B048-85BDC9FD1C3A}</a:tableStyleId>
              </a:tblPr>
              <a:tblGrid>
                <a:gridCol w="3053259"/>
                <a:gridCol w="2204541"/>
              </a:tblGrid>
              <a:tr h="263634">
                <a:tc>
                  <a:txBody>
                    <a:bodyPr wrap="square"/>
                    <a:lstStyle/>
                    <a:p>
                      <a:r>
                        <a:rPr sz="1000" b="1" i="0">
                          <a:solidFill>
                            <a:srgbClr val="F4F1EA"/>
                          </a:solidFill>
                          <a:latin typeface="Arial"/>
                          <a:ea typeface="Malgun Gothic"/>
                          <a:cs typeface="Malgun Gothic"/>
                        </a:rPr>
                        <a:t>변형 (seed 0, 4 시나리오)</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성공</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느슨한 페널티 1e4, RTI 1회</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2/4</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페널티만 1e6</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2/4</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RTI만 3회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3/4</a:t>
                      </a:r>
                    </a:p>
                  </a:txBody>
                  <a:tcPr marL="76200" marR="76200" marT="25400" marB="25400">
                    <a:solidFill>
                      <a:srgbClr val="F1EDE4"/>
                    </a:solidFill>
                  </a:tcPr>
                </a:tc>
              </a:tr>
              <a:tr h="255538">
                <a:tc>
                  <a:txBody>
                    <a:bodyPr wrap="square"/>
                    <a:lstStyle/>
                    <a:p>
                      <a:r>
                        <a:rPr sz="1000" b="1" i="0">
                          <a:solidFill>
                            <a:srgbClr val="16213A"/>
                          </a:solidFill>
                          <a:latin typeface="Arial"/>
                          <a:ea typeface="Malgun Gothic"/>
                          <a:cs typeface="Malgun Gothic"/>
                        </a:rPr>
                        <a:t>페널티 1e6 + RTI 3회</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4/4</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hard 제약</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2/4 (QP status 3)</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1041301"/>
          </a:xfrm>
          <a:prstGeom prst="roundRect">
            <a:avLst>
              <a:gd name="adj" fmla="val 7317"/>
            </a:avLst>
          </a:prstGeom>
          <a:solidFill>
            <a:srgbClr val="FFFDF8"/>
          </a:solidFill>
          <a:ln>
            <a:noFill/>
          </a:ln>
        </p:spPr>
        <p:txBody>
          <a:bodyPr rtlCol="0" anchor="ctr"/>
          <a:lstStyle/>
          <a:p>
            <a:pPr algn="ctr"/>
          </a:p>
        </p:txBody>
      </p:sp>
      <p:sp>
        <p:nvSpPr>
          <p:cNvPr id="6" name="Rectangle 5"/>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1361678"/>
            <a:ext cx="6350" cy="1041301"/>
          </a:xfrm>
          <a:prstGeom prst="rect">
            <a:avLst/>
          </a:prstGeom>
          <a:solidFill>
            <a:srgbClr val="D9D4C7"/>
          </a:solidFill>
          <a:ln>
            <a:noFill/>
          </a:ln>
        </p:spPr>
        <p:txBody>
          <a:bodyPr rtlCol="0" anchor="ctr"/>
          <a:lstStyle/>
          <a:p>
            <a:pPr algn="ctr"/>
          </a:p>
        </p:txBody>
      </p:sp>
      <p:sp>
        <p:nvSpPr>
          <p:cNvPr id="8" name="Rectangle 7"/>
          <p:cNvSpPr/>
          <p:nvPr/>
        </p:nvSpPr>
        <p:spPr>
          <a:xfrm>
            <a:off x="6223000" y="2396629"/>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6223000" y="1361678"/>
            <a:ext cx="50800" cy="1041301"/>
          </a:xfrm>
          <a:prstGeom prst="roundRect">
            <a:avLst>
              <a:gd name="adj" fmla="val 50000"/>
            </a:avLst>
          </a:prstGeom>
          <a:solidFill>
            <a:srgbClr val="C2410C"/>
          </a:solidFill>
          <a:ln>
            <a:noFill/>
          </a:ln>
        </p:spPr>
        <p:txBody>
          <a:bodyPr rtlCol="0" anchor="ctr"/>
          <a:lstStyle/>
          <a:p>
            <a:pPr algn="ctr"/>
          </a:p>
        </p:txBody>
      </p:sp>
      <p:sp>
        <p:nvSpPr>
          <p:cNvPr id="10" name="TextBox 9"/>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접평면은 iterate에 따라 달라진다</a:t>
            </a:r>
          </a:p>
        </p:txBody>
      </p:sp>
      <p:sp>
        <p:nvSpPr>
          <p:cNvPr id="11" name="TextBox 10"/>
          <p:cNvSpPr txBox="1"/>
          <p:nvPr/>
        </p:nvSpPr>
        <p:spPr>
          <a:xfrm>
            <a:off x="6438900" y="18150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RTI는 호출당 Newton 스텝 한 번이다. 노드가 움직이면 접평면도 바뀌므로 반복을 늘려야 제약과 해가 만난다.</a:t>
            </a:r>
          </a:p>
        </p:txBody>
      </p:sp>
      <p:sp>
        <p:nvSpPr>
          <p:cNvPr id="12" name="TextBox 11"/>
          <p:cNvSpPr txBox="1"/>
          <p:nvPr/>
        </p:nvSpPr>
        <p:spPr>
          <a:xfrm>
            <a:off x="6223000" y="25172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HPIPM 부분 condensing(N=5), Gauss-Newton, 리셋 뒤 첫 풀이는 RTI 5회</a:t>
            </a:r>
          </a:p>
        </p:txBody>
      </p:sp>
      <p:sp>
        <p:nvSpPr>
          <p:cNvPr id="13" name="Rounded Rectangle 12"/>
          <p:cNvSpPr/>
          <p:nvPr/>
        </p:nvSpPr>
        <p:spPr>
          <a:xfrm>
            <a:off x="711200" y="3349625"/>
            <a:ext cx="2418358" cy="741660"/>
          </a:xfrm>
          <a:prstGeom prst="roundRect">
            <a:avLst>
              <a:gd name="adj" fmla="val 8561"/>
            </a:avLst>
          </a:prstGeom>
          <a:solidFill>
            <a:srgbClr val="FFFDF8"/>
          </a:solidFill>
          <a:ln>
            <a:noFill/>
          </a:ln>
        </p:spPr>
        <p:txBody>
          <a:bodyPr rtlCol="0" anchor="ctr"/>
          <a:lstStyle/>
          <a:p>
            <a:pPr algn="ctr"/>
          </a:p>
        </p:txBody>
      </p:sp>
      <p:sp>
        <p:nvSpPr>
          <p:cNvPr id="14" name="Rectangle 13"/>
          <p:cNvSpPr/>
          <p:nvPr/>
        </p:nvSpPr>
        <p:spPr>
          <a:xfrm>
            <a:off x="711200" y="3349625"/>
            <a:ext cx="2418358" cy="38100"/>
          </a:xfrm>
          <a:prstGeom prst="rect">
            <a:avLst/>
          </a:prstGeom>
          <a:solidFill>
            <a:srgbClr val="C2410C"/>
          </a:solidFill>
          <a:ln>
            <a:noFill/>
          </a:ln>
        </p:spPr>
        <p:txBody>
          <a:bodyPr rtlCol="0" anchor="ctr"/>
          <a:lstStyle/>
          <a:p>
            <a:pPr algn="ctr"/>
          </a:p>
        </p:txBody>
      </p:sp>
      <p:sp>
        <p:nvSpPr>
          <p:cNvPr id="15" name="Rectangle 14"/>
          <p:cNvSpPr/>
          <p:nvPr/>
        </p:nvSpPr>
        <p:spPr>
          <a:xfrm>
            <a:off x="3123208" y="3349625"/>
            <a:ext cx="6350" cy="741660"/>
          </a:xfrm>
          <a:prstGeom prst="rect">
            <a:avLst/>
          </a:prstGeom>
          <a:solidFill>
            <a:srgbClr val="D9D4C7"/>
          </a:solidFill>
          <a:ln>
            <a:noFill/>
          </a:ln>
        </p:spPr>
        <p:txBody>
          <a:bodyPr rtlCol="0" anchor="ctr"/>
          <a:lstStyle/>
          <a:p>
            <a:pPr algn="ctr"/>
          </a:p>
        </p:txBody>
      </p:sp>
      <p:sp>
        <p:nvSpPr>
          <p:cNvPr id="16" name="Rectangle 15"/>
          <p:cNvSpPr/>
          <p:nvPr/>
        </p:nvSpPr>
        <p:spPr>
          <a:xfrm>
            <a:off x="711200" y="4084935"/>
            <a:ext cx="2418358" cy="6350"/>
          </a:xfrm>
          <a:prstGeom prst="rect">
            <a:avLst/>
          </a:prstGeom>
          <a:solidFill>
            <a:srgbClr val="D9D4C7"/>
          </a:solidFill>
          <a:ln>
            <a:noFill/>
          </a:ln>
        </p:spPr>
        <p:txBody>
          <a:bodyPr rtlCol="0" anchor="ctr"/>
          <a:lstStyle/>
          <a:p>
            <a:pPr algn="ctr"/>
          </a:p>
        </p:txBody>
      </p:sp>
      <p:sp>
        <p:nvSpPr>
          <p:cNvPr id="17" name="Rectangle 16"/>
          <p:cNvSpPr/>
          <p:nvPr/>
        </p:nvSpPr>
        <p:spPr>
          <a:xfrm>
            <a:off x="711200" y="3349625"/>
            <a:ext cx="6350" cy="741660"/>
          </a:xfrm>
          <a:prstGeom prst="rect">
            <a:avLst/>
          </a:prstGeom>
          <a:solidFill>
            <a:srgbClr val="D9D4C7"/>
          </a:solidFill>
          <a:ln>
            <a:noFill/>
          </a:ln>
        </p:spPr>
        <p:txBody>
          <a:bodyPr rtlCol="0" anchor="ctr"/>
          <a:lstStyle/>
          <a:p>
            <a:pPr algn="ctr"/>
          </a:p>
        </p:txBody>
      </p:sp>
      <p:sp>
        <p:nvSpPr>
          <p:cNvPr id="18" name="TextBox 17"/>
          <p:cNvSpPr txBox="1"/>
          <p:nvPr/>
        </p:nvSpPr>
        <p:spPr>
          <a:xfrm>
            <a:off x="831850" y="3489325"/>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EDT</a:t>
            </a:r>
          </a:p>
        </p:txBody>
      </p:sp>
      <p:sp>
        <p:nvSpPr>
          <p:cNvPr id="19" name="TextBox 18"/>
          <p:cNvSpPr txBox="1"/>
          <p:nvPr/>
        </p:nvSpPr>
        <p:spPr>
          <a:xfrm>
            <a:off x="831850" y="3787775"/>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가장 가까운 치명 셀을 수치로</a:t>
            </a:r>
          </a:p>
        </p:txBody>
      </p:sp>
      <p:sp>
        <p:nvSpPr>
          <p:cNvPr id="20" name="TextBox 19"/>
          <p:cNvSpPr txBox="1"/>
          <p:nvPr/>
        </p:nvSpPr>
        <p:spPr>
          <a:xfrm>
            <a:off x="3218458" y="354895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1" name="Rounded Rectangle 20"/>
          <p:cNvSpPr/>
          <p:nvPr/>
        </p:nvSpPr>
        <p:spPr>
          <a:xfrm>
            <a:off x="3494881" y="3349625"/>
            <a:ext cx="2418457" cy="741660"/>
          </a:xfrm>
          <a:prstGeom prst="roundRect">
            <a:avLst>
              <a:gd name="adj" fmla="val 8561"/>
            </a:avLst>
          </a:prstGeom>
          <a:solidFill>
            <a:srgbClr val="FFFDF8"/>
          </a:solidFill>
          <a:ln>
            <a:noFill/>
          </a:ln>
        </p:spPr>
        <p:txBody>
          <a:bodyPr rtlCol="0" anchor="ctr"/>
          <a:lstStyle/>
          <a:p>
            <a:pPr algn="ctr"/>
          </a:p>
        </p:txBody>
      </p:sp>
      <p:sp>
        <p:nvSpPr>
          <p:cNvPr id="22" name="Rectangle 21"/>
          <p:cNvSpPr/>
          <p:nvPr/>
        </p:nvSpPr>
        <p:spPr>
          <a:xfrm>
            <a:off x="3494881" y="3349625"/>
            <a:ext cx="2418457" cy="38100"/>
          </a:xfrm>
          <a:prstGeom prst="rect">
            <a:avLst/>
          </a:prstGeom>
          <a:solidFill>
            <a:srgbClr val="C2410C"/>
          </a:solidFill>
          <a:ln>
            <a:noFill/>
          </a:ln>
        </p:spPr>
        <p:txBody>
          <a:bodyPr rtlCol="0" anchor="ctr"/>
          <a:lstStyle/>
          <a:p>
            <a:pPr algn="ctr"/>
          </a:p>
        </p:txBody>
      </p:sp>
      <p:sp>
        <p:nvSpPr>
          <p:cNvPr id="23" name="Rectangle 22"/>
          <p:cNvSpPr/>
          <p:nvPr/>
        </p:nvSpPr>
        <p:spPr>
          <a:xfrm>
            <a:off x="5906988" y="3349625"/>
            <a:ext cx="6350" cy="741660"/>
          </a:xfrm>
          <a:prstGeom prst="rect">
            <a:avLst/>
          </a:prstGeom>
          <a:solidFill>
            <a:srgbClr val="D9D4C7"/>
          </a:solidFill>
          <a:ln>
            <a:noFill/>
          </a:ln>
        </p:spPr>
        <p:txBody>
          <a:bodyPr rtlCol="0" anchor="ctr"/>
          <a:lstStyle/>
          <a:p>
            <a:pPr algn="ctr"/>
          </a:p>
        </p:txBody>
      </p:sp>
      <p:sp>
        <p:nvSpPr>
          <p:cNvPr id="24" name="Rectangle 23"/>
          <p:cNvSpPr/>
          <p:nvPr/>
        </p:nvSpPr>
        <p:spPr>
          <a:xfrm>
            <a:off x="3494881" y="4084935"/>
            <a:ext cx="2418457" cy="6350"/>
          </a:xfrm>
          <a:prstGeom prst="rect">
            <a:avLst/>
          </a:prstGeom>
          <a:solidFill>
            <a:srgbClr val="D9D4C7"/>
          </a:solidFill>
          <a:ln>
            <a:noFill/>
          </a:ln>
        </p:spPr>
        <p:txBody>
          <a:bodyPr rtlCol="0" anchor="ctr"/>
          <a:lstStyle/>
          <a:p>
            <a:pPr algn="ctr"/>
          </a:p>
        </p:txBody>
      </p:sp>
      <p:sp>
        <p:nvSpPr>
          <p:cNvPr id="25" name="Rectangle 24"/>
          <p:cNvSpPr/>
          <p:nvPr/>
        </p:nvSpPr>
        <p:spPr>
          <a:xfrm>
            <a:off x="3494881" y="3349625"/>
            <a:ext cx="6350" cy="741660"/>
          </a:xfrm>
          <a:prstGeom prst="rect">
            <a:avLst/>
          </a:prstGeom>
          <a:solidFill>
            <a:srgbClr val="D9D4C7"/>
          </a:solidFill>
          <a:ln>
            <a:noFill/>
          </a:ln>
        </p:spPr>
        <p:txBody>
          <a:bodyPr rtlCol="0" anchor="ctr"/>
          <a:lstStyle/>
          <a:p>
            <a:pPr algn="ctr"/>
          </a:p>
        </p:txBody>
      </p:sp>
      <p:sp>
        <p:nvSpPr>
          <p:cNvPr id="26" name="TextBox 25"/>
          <p:cNvSpPr txBox="1"/>
          <p:nvPr/>
        </p:nvSpPr>
        <p:spPr>
          <a:xfrm>
            <a:off x="3615531" y="3489325"/>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접평면</a:t>
            </a:r>
          </a:p>
        </p:txBody>
      </p:sp>
      <p:sp>
        <p:nvSpPr>
          <p:cNvPr id="27" name="TextBox 26"/>
          <p:cNvSpPr txBox="1"/>
          <p:nvPr/>
        </p:nvSpPr>
        <p:spPr>
          <a:xfrm>
            <a:off x="3615531" y="3787775"/>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노드별 </a:t>
            </a:r>
            <a:r>
              <a:rPr sz="1050" b="0" i="1">
                <a:solidFill>
                  <a:srgbClr val="16213A"/>
                </a:solidFill>
                <a:latin typeface="Arial"/>
                <a:ea typeface="Malgun Gothic"/>
                <a:cs typeface="Malgun Gothic"/>
              </a:rPr>
              <a:t>nₖ, bₖ</a:t>
            </a:r>
            <a:r>
              <a:rPr sz="1050" b="0" i="0">
                <a:solidFill>
                  <a:srgbClr val="16213A"/>
                </a:solidFill>
                <a:latin typeface="Arial"/>
                <a:ea typeface="Malgun Gothic"/>
                <a:cs typeface="Malgun Gothic"/>
              </a:rPr>
              <a:t>를 파라미터로</a:t>
            </a:r>
          </a:p>
        </p:txBody>
      </p:sp>
      <p:sp>
        <p:nvSpPr>
          <p:cNvPr id="28" name="TextBox 27"/>
          <p:cNvSpPr txBox="1"/>
          <p:nvPr/>
        </p:nvSpPr>
        <p:spPr>
          <a:xfrm>
            <a:off x="6002238" y="354895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9" name="Rounded Rectangle 28"/>
          <p:cNvSpPr/>
          <p:nvPr/>
        </p:nvSpPr>
        <p:spPr>
          <a:xfrm>
            <a:off x="6278662" y="3349625"/>
            <a:ext cx="2418358" cy="741660"/>
          </a:xfrm>
          <a:prstGeom prst="roundRect">
            <a:avLst>
              <a:gd name="adj" fmla="val 8561"/>
            </a:avLst>
          </a:prstGeom>
          <a:solidFill>
            <a:srgbClr val="FFFDF8"/>
          </a:solidFill>
          <a:ln>
            <a:noFill/>
          </a:ln>
        </p:spPr>
        <p:txBody>
          <a:bodyPr rtlCol="0" anchor="ctr"/>
          <a:lstStyle/>
          <a:p>
            <a:pPr algn="ctr"/>
          </a:p>
        </p:txBody>
      </p:sp>
      <p:sp>
        <p:nvSpPr>
          <p:cNvPr id="30" name="Rectangle 29"/>
          <p:cNvSpPr/>
          <p:nvPr/>
        </p:nvSpPr>
        <p:spPr>
          <a:xfrm>
            <a:off x="6278662" y="3349625"/>
            <a:ext cx="2418358" cy="38100"/>
          </a:xfrm>
          <a:prstGeom prst="rect">
            <a:avLst/>
          </a:prstGeom>
          <a:solidFill>
            <a:srgbClr val="C2410C"/>
          </a:solidFill>
          <a:ln>
            <a:noFill/>
          </a:ln>
        </p:spPr>
        <p:txBody>
          <a:bodyPr rtlCol="0" anchor="ctr"/>
          <a:lstStyle/>
          <a:p>
            <a:pPr algn="ctr"/>
          </a:p>
        </p:txBody>
      </p:sp>
      <p:sp>
        <p:nvSpPr>
          <p:cNvPr id="31" name="Rectangle 30"/>
          <p:cNvSpPr/>
          <p:nvPr/>
        </p:nvSpPr>
        <p:spPr>
          <a:xfrm>
            <a:off x="8690670" y="3349625"/>
            <a:ext cx="6350" cy="741660"/>
          </a:xfrm>
          <a:prstGeom prst="rect">
            <a:avLst/>
          </a:prstGeom>
          <a:solidFill>
            <a:srgbClr val="D9D4C7"/>
          </a:solidFill>
          <a:ln>
            <a:noFill/>
          </a:ln>
        </p:spPr>
        <p:txBody>
          <a:bodyPr rtlCol="0" anchor="ctr"/>
          <a:lstStyle/>
          <a:p>
            <a:pPr algn="ctr"/>
          </a:p>
        </p:txBody>
      </p:sp>
      <p:sp>
        <p:nvSpPr>
          <p:cNvPr id="32" name="Rectangle 31"/>
          <p:cNvSpPr/>
          <p:nvPr/>
        </p:nvSpPr>
        <p:spPr>
          <a:xfrm>
            <a:off x="6278662" y="4084935"/>
            <a:ext cx="2418358" cy="6350"/>
          </a:xfrm>
          <a:prstGeom prst="rect">
            <a:avLst/>
          </a:prstGeom>
          <a:solidFill>
            <a:srgbClr val="D9D4C7"/>
          </a:solidFill>
          <a:ln>
            <a:noFill/>
          </a:ln>
        </p:spPr>
        <p:txBody>
          <a:bodyPr rtlCol="0" anchor="ctr"/>
          <a:lstStyle/>
          <a:p>
            <a:pPr algn="ctr"/>
          </a:p>
        </p:txBody>
      </p:sp>
      <p:sp>
        <p:nvSpPr>
          <p:cNvPr id="33" name="Rectangle 32"/>
          <p:cNvSpPr/>
          <p:nvPr/>
        </p:nvSpPr>
        <p:spPr>
          <a:xfrm>
            <a:off x="6278662" y="3349625"/>
            <a:ext cx="6350" cy="741660"/>
          </a:xfrm>
          <a:prstGeom prst="rect">
            <a:avLst/>
          </a:prstGeom>
          <a:solidFill>
            <a:srgbClr val="D9D4C7"/>
          </a:solidFill>
          <a:ln>
            <a:noFill/>
          </a:ln>
        </p:spPr>
        <p:txBody>
          <a:bodyPr rtlCol="0" anchor="ctr"/>
          <a:lstStyle/>
          <a:p>
            <a:pPr algn="ctr"/>
          </a:p>
        </p:txBody>
      </p:sp>
      <p:sp>
        <p:nvSpPr>
          <p:cNvPr id="34" name="TextBox 33"/>
          <p:cNvSpPr txBox="1"/>
          <p:nvPr/>
        </p:nvSpPr>
        <p:spPr>
          <a:xfrm>
            <a:off x="6399312" y="3489325"/>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RTI 1회</a:t>
            </a:r>
          </a:p>
        </p:txBody>
      </p:sp>
      <p:sp>
        <p:nvSpPr>
          <p:cNvPr id="35" name="TextBox 34"/>
          <p:cNvSpPr txBox="1"/>
          <p:nvPr/>
        </p:nvSpPr>
        <p:spPr>
          <a:xfrm>
            <a:off x="6399312" y="3787775"/>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Newton 스텝 한 번, 노드가 움직인다</a:t>
            </a:r>
          </a:p>
        </p:txBody>
      </p:sp>
      <p:sp>
        <p:nvSpPr>
          <p:cNvPr id="36" name="TextBox 35"/>
          <p:cNvSpPr txBox="1"/>
          <p:nvPr/>
        </p:nvSpPr>
        <p:spPr>
          <a:xfrm>
            <a:off x="8785920" y="354895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7" name="Rounded Rectangle 36"/>
          <p:cNvSpPr/>
          <p:nvPr/>
        </p:nvSpPr>
        <p:spPr>
          <a:xfrm>
            <a:off x="9062343" y="3349625"/>
            <a:ext cx="2418457" cy="741660"/>
          </a:xfrm>
          <a:prstGeom prst="roundRect">
            <a:avLst>
              <a:gd name="adj" fmla="val 8561"/>
            </a:avLst>
          </a:prstGeom>
          <a:solidFill>
            <a:srgbClr val="FFFDF8"/>
          </a:solidFill>
          <a:ln>
            <a:noFill/>
          </a:ln>
        </p:spPr>
        <p:txBody>
          <a:bodyPr rtlCol="0" anchor="ctr"/>
          <a:lstStyle/>
          <a:p>
            <a:pPr algn="ctr"/>
          </a:p>
        </p:txBody>
      </p:sp>
      <p:sp>
        <p:nvSpPr>
          <p:cNvPr id="38" name="Rectangle 37"/>
          <p:cNvSpPr/>
          <p:nvPr/>
        </p:nvSpPr>
        <p:spPr>
          <a:xfrm>
            <a:off x="9062343" y="3349625"/>
            <a:ext cx="2418457" cy="38100"/>
          </a:xfrm>
          <a:prstGeom prst="rect">
            <a:avLst/>
          </a:prstGeom>
          <a:solidFill>
            <a:srgbClr val="C2410C"/>
          </a:solidFill>
          <a:ln>
            <a:noFill/>
          </a:ln>
        </p:spPr>
        <p:txBody>
          <a:bodyPr rtlCol="0" anchor="ctr"/>
          <a:lstStyle/>
          <a:p>
            <a:pPr algn="ctr"/>
          </a:p>
        </p:txBody>
      </p:sp>
      <p:sp>
        <p:nvSpPr>
          <p:cNvPr id="39" name="Rectangle 38"/>
          <p:cNvSpPr/>
          <p:nvPr/>
        </p:nvSpPr>
        <p:spPr>
          <a:xfrm>
            <a:off x="11474450" y="3349625"/>
            <a:ext cx="6350" cy="741660"/>
          </a:xfrm>
          <a:prstGeom prst="rect">
            <a:avLst/>
          </a:prstGeom>
          <a:solidFill>
            <a:srgbClr val="D9D4C7"/>
          </a:solidFill>
          <a:ln>
            <a:noFill/>
          </a:ln>
        </p:spPr>
        <p:txBody>
          <a:bodyPr rtlCol="0" anchor="ctr"/>
          <a:lstStyle/>
          <a:p>
            <a:pPr algn="ctr"/>
          </a:p>
        </p:txBody>
      </p:sp>
      <p:sp>
        <p:nvSpPr>
          <p:cNvPr id="40" name="Rectangle 39"/>
          <p:cNvSpPr/>
          <p:nvPr/>
        </p:nvSpPr>
        <p:spPr>
          <a:xfrm>
            <a:off x="9062343" y="4084935"/>
            <a:ext cx="2418457" cy="6350"/>
          </a:xfrm>
          <a:prstGeom prst="rect">
            <a:avLst/>
          </a:prstGeom>
          <a:solidFill>
            <a:srgbClr val="D9D4C7"/>
          </a:solidFill>
          <a:ln>
            <a:noFill/>
          </a:ln>
        </p:spPr>
        <p:txBody>
          <a:bodyPr rtlCol="0" anchor="ctr"/>
          <a:lstStyle/>
          <a:p>
            <a:pPr algn="ctr"/>
          </a:p>
        </p:txBody>
      </p:sp>
      <p:sp>
        <p:nvSpPr>
          <p:cNvPr id="41" name="Rectangle 40"/>
          <p:cNvSpPr/>
          <p:nvPr/>
        </p:nvSpPr>
        <p:spPr>
          <a:xfrm>
            <a:off x="9062343" y="3349625"/>
            <a:ext cx="6350" cy="741660"/>
          </a:xfrm>
          <a:prstGeom prst="rect">
            <a:avLst/>
          </a:prstGeom>
          <a:solidFill>
            <a:srgbClr val="D9D4C7"/>
          </a:solidFill>
          <a:ln>
            <a:noFill/>
          </a:ln>
        </p:spPr>
        <p:txBody>
          <a:bodyPr rtlCol="0" anchor="ctr"/>
          <a:lstStyle/>
          <a:p>
            <a:pPr algn="ctr"/>
          </a:p>
        </p:txBody>
      </p:sp>
      <p:sp>
        <p:nvSpPr>
          <p:cNvPr id="42" name="TextBox 41"/>
          <p:cNvSpPr txBox="1"/>
          <p:nvPr/>
        </p:nvSpPr>
        <p:spPr>
          <a:xfrm>
            <a:off x="9182993" y="3489325"/>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다시 접평면</a:t>
            </a:r>
          </a:p>
        </p:txBody>
      </p:sp>
      <p:sp>
        <p:nvSpPr>
          <p:cNvPr id="43" name="TextBox 42"/>
          <p:cNvSpPr txBox="1"/>
          <p:nvPr/>
        </p:nvSpPr>
        <p:spPr>
          <a:xfrm>
            <a:off x="9182993" y="3787775"/>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3회 반복해 제약과 해가 만난다</a:t>
            </a:r>
          </a:p>
        </p:txBody>
      </p:sp>
      <p:sp>
        <p:nvSpPr>
          <p:cNvPr id="44" name="Rounded Rectangle 43"/>
          <p:cNvSpPr/>
          <p:nvPr/>
        </p:nvSpPr>
        <p:spPr>
          <a:xfrm>
            <a:off x="711200" y="4269085"/>
            <a:ext cx="10769600" cy="502543"/>
          </a:xfrm>
          <a:prstGeom prst="roundRect">
            <a:avLst>
              <a:gd name="adj" fmla="val 15162"/>
            </a:avLst>
          </a:prstGeom>
          <a:solidFill>
            <a:srgbClr val="16213A"/>
          </a:solidFill>
          <a:ln>
            <a:noFill/>
          </a:ln>
        </p:spPr>
        <p:txBody>
          <a:bodyPr rtlCol="0" anchor="ctr"/>
          <a:lstStyle/>
          <a:p>
            <a:pPr algn="ctr"/>
          </a:p>
        </p:txBody>
      </p:sp>
      <p:sp>
        <p:nvSpPr>
          <p:cNvPr id="45" name="TextBox 44"/>
          <p:cNvSpPr txBox="1"/>
          <p:nvPr/>
        </p:nvSpPr>
        <p:spPr>
          <a:xfrm>
            <a:off x="889000" y="439608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풀리지 않는 QP가 내는 것은 안전이 아니라 무작위 명령이다. 그래서 모든 행을 soft로 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M.1.1 · 비용 옮기기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MPPI 비용 항은 MPC에서 비용·제약·종단으로 갈라진다</a:t>
            </a:r>
          </a:p>
        </p:txBody>
      </p:sp>
      <p:graphicFrame>
        <p:nvGraphicFramePr>
          <p:cNvPr id="4" name="Table 3"/>
          <p:cNvGraphicFramePr>
            <a:graphicFrameLocks noGrp="1"/>
          </p:cNvGraphicFramePr>
          <p:nvPr/>
        </p:nvGraphicFramePr>
        <p:xfrm>
          <a:off x="711200" y="1361678"/>
          <a:ext cx="10769600" cy="1800151"/>
        </p:xfrm>
        <a:graphic>
          <a:graphicData uri="http://schemas.openxmlformats.org/drawingml/2006/table">
            <a:tbl>
              <a:tblPr firstRow="0" bandRow="0">
                <a:tableStyleId>{5C22544A-7EE6-4342-B048-85BDC9FD1C3A}</a:tableStyleId>
              </a:tblPr>
              <a:tblGrid>
                <a:gridCol w="3302298"/>
                <a:gridCol w="2920702"/>
                <a:gridCol w="4546600"/>
              </a:tblGrid>
              <a:tr h="263634">
                <a:tc>
                  <a:txBody>
                    <a:bodyPr wrap="square"/>
                    <a:lstStyle/>
                    <a:p>
                      <a:r>
                        <a:rPr sz="1000" b="1" i="0">
                          <a:solidFill>
                            <a:srgbClr val="F4F1EA"/>
                          </a:solidFill>
                          <a:latin typeface="Arial"/>
                          <a:ea typeface="Malgun Gothic"/>
                          <a:cs typeface="Malgun Gothic"/>
                        </a:rPr>
                        <a:t>MPPI 비용 항</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MPC에서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주의</a:t>
                      </a:r>
                    </a:p>
                  </a:txBody>
                  <a:tcPr marL="76200" marR="76200" marT="25400" marB="25400">
                    <a:solidFill>
                      <a:srgbClr val="16213A"/>
                    </a:solidFill>
                  </a:tcPr>
                </a:tc>
              </a:tr>
              <a:tr h="255538">
                <a:tc>
                  <a:txBody>
                    <a:bodyPr wrap="square"/>
                    <a:lstStyle/>
                    <a:p>
                      <a:r>
                        <a:rPr sz="850" b="0" i="0">
                          <a:solidFill>
                            <a:srgbClr val="7C2D12"/>
                          </a:solidFill>
                          <a:latin typeface="Consolas"/>
                          <a:ea typeface="Malgun Gothic"/>
                          <a:cs typeface="Malgun Gothic"/>
                        </a:rPr>
                        <a:t>ReferenceCost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참조 추종 2차 비용 또는 진행도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Planner D는 시간 인덱스, Guidance는 경로만 준다</a:t>
                      </a:r>
                    </a:p>
                  </a:txBody>
                  <a:tcPr marL="76200" marR="76200" marT="25400" marB="25400">
                    <a:solidFill>
                      <a:srgbClr val="F1EDE4"/>
                    </a:solidFill>
                  </a:tcPr>
                </a:tc>
              </a:tr>
              <a:tr h="255538">
                <a:tc>
                  <a:txBody>
                    <a:bodyPr wrap="square"/>
                    <a:lstStyle/>
                    <a:p>
                      <a:r>
                        <a:rPr sz="850" b="0" i="0">
                          <a:solidFill>
                            <a:srgbClr val="7C2D12"/>
                          </a:solidFill>
                          <a:latin typeface="Consolas"/>
                          <a:ea typeface="Malgun Gothic"/>
                          <a:cs typeface="Malgun Gothic"/>
                        </a:rPr>
                        <a:t>TraversabilityCost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매끄러운 항만(경사·거칠기)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치명도는 빠져 제약으로 간다</a:t>
                      </a:r>
                    </a:p>
                  </a:txBody>
                  <a:tcPr marL="76200" marR="76200" marT="25400" marB="25400">
                    <a:solidFill>
                      <a:srgbClr val="FFFDF8"/>
                    </a:solidFill>
                  </a:tcPr>
                </a:tc>
              </a:tr>
              <a:tr h="255538">
                <a:tc>
                  <a:txBody>
                    <a:bodyPr wrap="square"/>
                    <a:lstStyle/>
                    <a:p>
                      <a:r>
                        <a:rPr sz="850" b="0" i="0">
                          <a:solidFill>
                            <a:srgbClr val="7C2D12"/>
                          </a:solidFill>
                          <a:latin typeface="Consolas"/>
                          <a:ea typeface="Malgun Gothic"/>
                          <a:cs typeface="Malgun Gothic"/>
                        </a:rPr>
                        <a:t>RiskCost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보행자 → 제약, σ → 제약 조이기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σ가 비용으로 남으면 GP·튜브가 붙을 데가 없다</a:t>
                      </a:r>
                    </a:p>
                  </a:txBody>
                  <a:tcPr marL="76200" marR="76200" marT="25400" marB="25400">
                    <a:solidFill>
                      <a:srgbClr val="F1EDE4"/>
                    </a:solidFill>
                  </a:tcPr>
                </a:tc>
              </a:tr>
              <a:tr h="255538">
                <a:tc>
                  <a:txBody>
                    <a:bodyPr wrap="square"/>
                    <a:lstStyle/>
                    <a:p>
                      <a:r>
                        <a:rPr sz="850" b="0" i="0">
                          <a:solidFill>
                            <a:srgbClr val="7C2D12"/>
                          </a:solidFill>
                          <a:latin typeface="Consolas"/>
                          <a:ea typeface="Malgun Gothic"/>
                          <a:cs typeface="Malgun Gothic"/>
                        </a:rPr>
                        <a:t>AttitudeCost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roll/pitch 제약</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지도 보간이 매끄러워야 한다</a:t>
                      </a:r>
                    </a:p>
                  </a:txBody>
                  <a:tcPr marL="76200" marR="76200" marT="25400" marB="25400">
                    <a:solidFill>
                      <a:srgbClr val="FFFDF8"/>
                    </a:solidFill>
                  </a:tcPr>
                </a:tc>
              </a:tr>
              <a:tr h="255538">
                <a:tc>
                  <a:txBody>
                    <a:bodyPr wrap="square"/>
                    <a:lstStyle/>
                    <a:p>
                      <a:r>
                        <a:rPr sz="850" b="0" i="0">
                          <a:solidFill>
                            <a:srgbClr val="7C2D12"/>
                          </a:solidFill>
                          <a:latin typeface="Consolas"/>
                          <a:ea typeface="Malgun Gothic"/>
                          <a:cs typeface="Malgun Gothic"/>
                        </a:rPr>
                        <a:t>ControlCost</a:t>
                      </a:r>
                      <a:r>
                        <a:rPr sz="1000" b="0" i="0">
                          <a:solidFill>
                            <a:srgbClr val="16213A"/>
                          </a:solidFill>
                          <a:latin typeface="Arial"/>
                          <a:ea typeface="Malgun Gothic"/>
                          <a:cs typeface="Malgun Gothic"/>
                        </a:rPr>
                        <a:t> · </a:t>
                      </a:r>
                      <a:r>
                        <a:rPr sz="850" b="0" i="0">
                          <a:solidFill>
                            <a:srgbClr val="7C2D12"/>
                          </a:solidFill>
                          <a:latin typeface="Consolas"/>
                          <a:ea typeface="Malgun Gothic"/>
                          <a:cs typeface="Malgun Gothic"/>
                        </a:rPr>
                        <a:t>GoalApproachCost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입력 2차 비용 · 종단 비용</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그대로</a:t>
                      </a:r>
                    </a:p>
                  </a:txBody>
                  <a:tcPr marL="76200" marR="76200" marT="25400" marB="25400">
                    <a:solidFill>
                      <a:srgbClr val="F1EDE4"/>
                    </a:solidFill>
                  </a:tcPr>
                </a:tc>
              </a:tr>
              <a:tr h="258827">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신설: 거리 제약 </a:t>
                      </a:r>
                      <a:r>
                        <a:rPr sz="1000" b="1" i="1">
                          <a:solidFill>
                            <a:srgbClr val="14532D"/>
                          </a:solidFill>
                          <a:latin typeface="Arial"/>
                          <a:ea typeface="Malgun Gothic"/>
                          <a:cs typeface="Malgun Gothic"/>
                        </a:rPr>
                        <a:t>d(x) - r ≥ ρₖ</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세 기법이 모두 여기 붙는다</a:t>
                      </a:r>
                    </a:p>
                  </a:txBody>
                  <a:tcPr marL="76200" marR="76200" marT="25400" marB="25400">
                    <a:solidFill>
                      <a:srgbClr val="FFFDF8"/>
                    </a:solidFill>
                  </a:tcPr>
                </a:tc>
              </a:tr>
            </a:tbl>
          </a:graphicData>
        </a:graphic>
      </p:graphicFrame>
      <p:sp>
        <p:nvSpPr>
          <p:cNvPr id="5" name="Rounded Rectangle 4"/>
          <p:cNvSpPr/>
          <p:nvPr/>
        </p:nvSpPr>
        <p:spPr>
          <a:xfrm>
            <a:off x="711200" y="3657302"/>
            <a:ext cx="5257800" cy="820341"/>
          </a:xfrm>
          <a:prstGeom prst="roundRect">
            <a:avLst>
              <a:gd name="adj" fmla="val 9288"/>
            </a:avLst>
          </a:prstGeom>
          <a:solidFill>
            <a:srgbClr val="FFFDF8"/>
          </a:solidFill>
          <a:ln>
            <a:noFill/>
          </a:ln>
        </p:spPr>
        <p:txBody>
          <a:bodyPr rtlCol="0" anchor="ctr"/>
          <a:lstStyle/>
          <a:p>
            <a:pPr algn="ctr"/>
          </a:p>
        </p:txBody>
      </p:sp>
      <p:sp>
        <p:nvSpPr>
          <p:cNvPr id="6" name="Rectangle 5"/>
          <p:cNvSpPr/>
          <p:nvPr/>
        </p:nvSpPr>
        <p:spPr>
          <a:xfrm>
            <a:off x="711200" y="3657302"/>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3657302"/>
            <a:ext cx="6350" cy="820341"/>
          </a:xfrm>
          <a:prstGeom prst="rect">
            <a:avLst/>
          </a:prstGeom>
          <a:solidFill>
            <a:srgbClr val="D9D4C7"/>
          </a:solidFill>
          <a:ln>
            <a:noFill/>
          </a:ln>
        </p:spPr>
        <p:txBody>
          <a:bodyPr rtlCol="0" anchor="ctr"/>
          <a:lstStyle/>
          <a:p>
            <a:pPr algn="ctr"/>
          </a:p>
        </p:txBody>
      </p:sp>
      <p:sp>
        <p:nvSpPr>
          <p:cNvPr id="8" name="Rectangle 7"/>
          <p:cNvSpPr/>
          <p:nvPr/>
        </p:nvSpPr>
        <p:spPr>
          <a:xfrm>
            <a:off x="711200" y="4471293"/>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657302"/>
            <a:ext cx="50800" cy="820341"/>
          </a:xfrm>
          <a:prstGeom prst="roundRect">
            <a:avLst>
              <a:gd name="adj" fmla="val 50000"/>
            </a:avLst>
          </a:prstGeom>
          <a:solidFill>
            <a:srgbClr val="15803D"/>
          </a:solidFill>
          <a:ln>
            <a:noFill/>
          </a:ln>
        </p:spPr>
        <p:txBody>
          <a:bodyPr rtlCol="0" anchor="ctr"/>
          <a:lstStyle/>
          <a:p>
            <a:pPr algn="ctr"/>
          </a:p>
        </p:txBody>
      </p:sp>
      <p:sp>
        <p:nvSpPr>
          <p:cNvPr id="10" name="TextBox 9"/>
          <p:cNvSpPr txBox="1"/>
          <p:nvPr/>
        </p:nvSpPr>
        <p:spPr>
          <a:xfrm>
            <a:off x="927100" y="3803352"/>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비용으로 남는 것</a:t>
            </a:r>
          </a:p>
        </p:txBody>
      </p:sp>
      <p:sp>
        <p:nvSpPr>
          <p:cNvPr id="11" name="TextBox 10"/>
          <p:cNvSpPr txBox="1"/>
          <p:nvPr/>
        </p:nvSpPr>
        <p:spPr>
          <a:xfrm>
            <a:off x="927100" y="4110633"/>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매끄럽고 미분할 수 있는 것: 추종, 입력, 종단.</a:t>
            </a:r>
          </a:p>
        </p:txBody>
      </p:sp>
      <p:sp>
        <p:nvSpPr>
          <p:cNvPr id="12" name="Rounded Rectangle 11"/>
          <p:cNvSpPr/>
          <p:nvPr/>
        </p:nvSpPr>
        <p:spPr>
          <a:xfrm>
            <a:off x="6223000" y="3657302"/>
            <a:ext cx="5257800" cy="820341"/>
          </a:xfrm>
          <a:prstGeom prst="roundRect">
            <a:avLst>
              <a:gd name="adj" fmla="val 9288"/>
            </a:avLst>
          </a:prstGeom>
          <a:solidFill>
            <a:srgbClr val="FFFDF8"/>
          </a:solidFill>
          <a:ln>
            <a:noFill/>
          </a:ln>
        </p:spPr>
        <p:txBody>
          <a:bodyPr rtlCol="0" anchor="ctr"/>
          <a:lstStyle/>
          <a:p>
            <a:pPr algn="ctr"/>
          </a:p>
        </p:txBody>
      </p:sp>
      <p:sp>
        <p:nvSpPr>
          <p:cNvPr id="13" name="Rectangle 12"/>
          <p:cNvSpPr/>
          <p:nvPr/>
        </p:nvSpPr>
        <p:spPr>
          <a:xfrm>
            <a:off x="6223000" y="3657302"/>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3657302"/>
            <a:ext cx="6350" cy="820341"/>
          </a:xfrm>
          <a:prstGeom prst="rect">
            <a:avLst/>
          </a:prstGeom>
          <a:solidFill>
            <a:srgbClr val="D9D4C7"/>
          </a:solidFill>
          <a:ln>
            <a:noFill/>
          </a:ln>
        </p:spPr>
        <p:txBody>
          <a:bodyPr rtlCol="0" anchor="ctr"/>
          <a:lstStyle/>
          <a:p>
            <a:pPr algn="ctr"/>
          </a:p>
        </p:txBody>
      </p:sp>
      <p:sp>
        <p:nvSpPr>
          <p:cNvPr id="15" name="Rectangle 14"/>
          <p:cNvSpPr/>
          <p:nvPr/>
        </p:nvSpPr>
        <p:spPr>
          <a:xfrm>
            <a:off x="6223000" y="4471293"/>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223000" y="3657302"/>
            <a:ext cx="50800" cy="820341"/>
          </a:xfrm>
          <a:prstGeom prst="roundRect">
            <a:avLst>
              <a:gd name="adj" fmla="val 50000"/>
            </a:avLst>
          </a:prstGeom>
          <a:solidFill>
            <a:srgbClr val="C2410C"/>
          </a:solidFill>
          <a:ln>
            <a:noFill/>
          </a:ln>
        </p:spPr>
        <p:txBody>
          <a:bodyPr rtlCol="0" anchor="ctr"/>
          <a:lstStyle/>
          <a:p>
            <a:pPr algn="ctr"/>
          </a:p>
        </p:txBody>
      </p:sp>
      <p:sp>
        <p:nvSpPr>
          <p:cNvPr id="17" name="TextBox 16"/>
          <p:cNvSpPr txBox="1"/>
          <p:nvPr/>
        </p:nvSpPr>
        <p:spPr>
          <a:xfrm>
            <a:off x="6438900" y="3803352"/>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제약으로 가는 것</a:t>
            </a:r>
          </a:p>
        </p:txBody>
      </p:sp>
      <p:sp>
        <p:nvSpPr>
          <p:cNvPr id="18" name="TextBox 17"/>
          <p:cNvSpPr txBox="1"/>
          <p:nvPr/>
        </p:nvSpPr>
        <p:spPr>
          <a:xfrm>
            <a:off x="6438900" y="4110633"/>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계단처럼 끊기는 것: 치명 셀, 보행자, 자세 한계.</a:t>
            </a:r>
          </a:p>
        </p:txBody>
      </p:sp>
      <p:sp>
        <p:nvSpPr>
          <p:cNvPr id="19" name="Rounded Rectangle 18"/>
          <p:cNvSpPr/>
          <p:nvPr/>
        </p:nvSpPr>
        <p:spPr>
          <a:xfrm>
            <a:off x="711200" y="4655443"/>
            <a:ext cx="10769600" cy="502543"/>
          </a:xfrm>
          <a:prstGeom prst="roundRect">
            <a:avLst>
              <a:gd name="adj" fmla="val 15162"/>
            </a:avLst>
          </a:prstGeom>
          <a:solidFill>
            <a:srgbClr val="16213A"/>
          </a:solidFill>
          <a:ln>
            <a:noFill/>
          </a:ln>
        </p:spPr>
        <p:txBody>
          <a:bodyPr rtlCol="0" anchor="ctr"/>
          <a:lstStyle/>
          <a:p>
            <a:pPr algn="ctr"/>
          </a:p>
        </p:txBody>
      </p:sp>
      <p:sp>
        <p:nvSpPr>
          <p:cNvPr id="20" name="TextBox 19"/>
          <p:cNvSpPr txBox="1"/>
          <p:nvPr/>
        </p:nvSpPr>
        <p:spPr>
          <a:xfrm>
            <a:off x="889000" y="478244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경사·거칠기의 매끄러운 지형 항은 아직 없다. 치명 셀 근처 여유는 부드러운 여유 행(TP-0117)이 맡는다.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M.1.2 · M.3.4 · 치명 셀 제약</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gradient가 없는 치명 셀은 비용이 아니라 제약으로 넣는다</a:t>
            </a:r>
          </a:p>
        </p:txBody>
      </p:sp>
      <p:sp>
        <p:nvSpPr>
          <p:cNvPr id="4" name="TextBox 3"/>
          <p:cNvSpPr txBox="1"/>
          <p:nvPr/>
        </p:nvSpPr>
        <p:spPr>
          <a:xfrm>
            <a:off x="711200" y="1361678"/>
            <a:ext cx="5440934" cy="669925"/>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치명 셀(cost ≥ 0.95)은 계단이라 미분이 없다. MPPI는 샘플로 넘지만 MPC는 절벽에서 죽는다.</a:t>
            </a:r>
          </a:p>
        </p:txBody>
      </p:sp>
      <p:sp>
        <p:nvSpPr>
          <p:cNvPr id="5" name="TextBox 4"/>
          <p:cNvSpPr txBox="1"/>
          <p:nvPr/>
        </p:nvSpPr>
        <p:spPr>
          <a:xfrm>
            <a:off x="711200" y="1971278"/>
            <a:ext cx="5440934" cy="669925"/>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CasADi는 기호 인덱스로 격자를 읽지 못한다. 그래서 매 스텝 EDT로 가장 가까운 치명 셀을 </a:t>
            </a:r>
            <a:r>
              <a:rPr sz="1250" b="1" i="0">
                <a:solidFill>
                  <a:srgbClr val="16213A"/>
                </a:solidFill>
                <a:latin typeface="Arial"/>
                <a:ea typeface="Malgun Gothic"/>
                <a:cs typeface="Malgun Gothic"/>
              </a:rPr>
              <a:t>수치로</a:t>
            </a:r>
            <a:r>
              <a:rPr sz="1250" b="0" i="0">
                <a:solidFill>
                  <a:srgbClr val="16213A"/>
                </a:solidFill>
                <a:latin typeface="Arial"/>
                <a:ea typeface="Malgun Gothic"/>
                <a:cs typeface="Malgun Gothic"/>
              </a:rPr>
              <a:t> 찾아 접평면을 파라미터로 넘긴다.</a:t>
            </a:r>
          </a:p>
        </p:txBody>
      </p:sp>
      <p:sp>
        <p:nvSpPr>
          <p:cNvPr id="6" name="TextBox 5"/>
          <p:cNvSpPr txBox="1"/>
          <p:nvPr/>
        </p:nvSpPr>
        <p:spPr>
          <a:xfrm>
            <a:off x="711200" y="2580878"/>
            <a:ext cx="5440934"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EDT 2.5 ms, 41노드 조회 0.27 ms. 노드마다 따로라 좁은 틈도 표현된다.</a:t>
            </a:r>
          </a:p>
        </p:txBody>
      </p:sp>
      <p:sp>
        <p:nvSpPr>
          <p:cNvPr id="7" name="Rounded Rectangle 6"/>
          <p:cNvSpPr/>
          <p:nvPr/>
        </p:nvSpPr>
        <p:spPr>
          <a:xfrm>
            <a:off x="6223000" y="1361678"/>
            <a:ext cx="5257800" cy="432594"/>
          </a:xfrm>
          <a:prstGeom prst="roundRect">
            <a:avLst>
              <a:gd name="adj" fmla="val 11743"/>
            </a:avLst>
          </a:prstGeom>
          <a:solidFill>
            <a:srgbClr val="FFFDF8"/>
          </a:solidFill>
          <a:ln>
            <a:noFill/>
          </a:ln>
        </p:spPr>
        <p:txBody>
          <a:bodyPr rtlCol="0" anchor="ctr"/>
          <a:lstStyle/>
          <a:p>
            <a:pPr algn="ctr"/>
          </a:p>
        </p:txBody>
      </p:sp>
      <p:sp>
        <p:nvSpPr>
          <p:cNvPr id="8" name="Rounded Rectangle 7"/>
          <p:cNvSpPr/>
          <p:nvPr/>
        </p:nvSpPr>
        <p:spPr>
          <a:xfrm>
            <a:off x="6223000" y="1361678"/>
            <a:ext cx="38100" cy="432594"/>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2"/>
          <a:stretch>
            <a:fillRect/>
          </a:stretch>
        </p:blipFill>
        <p:spPr>
          <a:xfrm>
            <a:off x="6413500" y="1450578"/>
            <a:ext cx="4921250" cy="261144"/>
          </a:xfrm>
          <a:prstGeom prst="rect">
            <a:avLst/>
          </a:prstGeom>
        </p:spPr>
      </p:pic>
      <p:sp>
        <p:nvSpPr>
          <p:cNvPr id="10" name="TextBox 9"/>
          <p:cNvSpPr txBox="1"/>
          <p:nvPr/>
        </p:nvSpPr>
        <p:spPr>
          <a:xfrm>
            <a:off x="6223000" y="1908572"/>
            <a:ext cx="5440934" cy="295250"/>
          </a:xfrm>
          <a:prstGeom prst="rect">
            <a:avLst/>
          </a:prstGeom>
          <a:noFill/>
        </p:spPr>
        <p:txBody>
          <a:bodyPr wrap="square" lIns="0" rIns="0" tIns="0" bIns="0" anchor="t">
            <a:normAutofit/>
          </a:bodyPr>
          <a:lstStyle/>
          <a:p>
            <a:pPr>
              <a:lnSpc>
                <a:spcPct val="128800"/>
              </a:lnSpc>
            </a:pPr>
            <a:r>
              <a:rPr sz="1050" b="0" i="1">
                <a:solidFill>
                  <a:srgbClr val="16213A"/>
                </a:solidFill>
                <a:latin typeface="Arial"/>
                <a:ea typeface="Malgun Gothic"/>
                <a:cs typeface="Malgun Gothic"/>
              </a:rPr>
              <a:t>Δ</a:t>
            </a:r>
            <a:r>
              <a:rPr sz="1050" b="0" i="0">
                <a:solidFill>
                  <a:srgbClr val="16213A"/>
                </a:solidFill>
                <a:latin typeface="Arial"/>
                <a:ea typeface="Malgun Gothic"/>
                <a:cs typeface="Malgun Gothic"/>
              </a:rPr>
              <a:t> 셀 크기,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 여유, </a:t>
            </a:r>
            <a:r>
              <a:rPr sz="1050" b="0" i="1">
                <a:solidFill>
                  <a:srgbClr val="16213A"/>
                </a:solidFill>
                <a:latin typeface="Arial"/>
                <a:ea typeface="Malgun Gothic"/>
                <a:cs typeface="Malgun Gothic"/>
              </a:rPr>
              <a:t>γ = 0.2</a:t>
            </a:r>
            <a:r>
              <a:rPr sz="1050" b="0" i="0">
                <a:solidFill>
                  <a:srgbClr val="16213A"/>
                </a:solidFill>
                <a:latin typeface="Arial"/>
                <a:ea typeface="Malgun Gothic"/>
                <a:cs typeface="Malgun Gothic"/>
              </a:rPr>
              <a:t>: 이산 CBF 감쇠(TP-0093). 벽에 붙기 전에 감속한다.</a:t>
            </a:r>
          </a:p>
        </p:txBody>
      </p:sp>
      <p:sp>
        <p:nvSpPr>
          <p:cNvPr id="11" name="Rounded Rectangle 10"/>
          <p:cNvSpPr/>
          <p:nvPr/>
        </p:nvSpPr>
        <p:spPr>
          <a:xfrm>
            <a:off x="711200" y="2954238"/>
            <a:ext cx="3488234" cy="1358801"/>
          </a:xfrm>
          <a:prstGeom prst="roundRect">
            <a:avLst>
              <a:gd name="adj" fmla="val 5607"/>
            </a:avLst>
          </a:prstGeom>
          <a:solidFill>
            <a:srgbClr val="FFFDF8"/>
          </a:solidFill>
          <a:ln>
            <a:noFill/>
          </a:ln>
        </p:spPr>
        <p:txBody>
          <a:bodyPr rtlCol="0" anchor="ctr"/>
          <a:lstStyle/>
          <a:p>
            <a:pPr algn="ctr"/>
          </a:p>
        </p:txBody>
      </p:sp>
      <p:sp>
        <p:nvSpPr>
          <p:cNvPr id="12" name="Rectangle 11"/>
          <p:cNvSpPr/>
          <p:nvPr/>
        </p:nvSpPr>
        <p:spPr>
          <a:xfrm>
            <a:off x="711200" y="2954238"/>
            <a:ext cx="3488234" cy="6350"/>
          </a:xfrm>
          <a:prstGeom prst="rect">
            <a:avLst/>
          </a:prstGeom>
          <a:solidFill>
            <a:srgbClr val="D9D4C7"/>
          </a:solidFill>
          <a:ln>
            <a:noFill/>
          </a:ln>
        </p:spPr>
        <p:txBody>
          <a:bodyPr rtlCol="0" anchor="ctr"/>
          <a:lstStyle/>
          <a:p>
            <a:pPr algn="ctr"/>
          </a:p>
        </p:txBody>
      </p:sp>
      <p:sp>
        <p:nvSpPr>
          <p:cNvPr id="13" name="Rectangle 12"/>
          <p:cNvSpPr/>
          <p:nvPr/>
        </p:nvSpPr>
        <p:spPr>
          <a:xfrm>
            <a:off x="4193084" y="2954238"/>
            <a:ext cx="6350" cy="1358801"/>
          </a:xfrm>
          <a:prstGeom prst="rect">
            <a:avLst/>
          </a:prstGeom>
          <a:solidFill>
            <a:srgbClr val="D9D4C7"/>
          </a:solidFill>
          <a:ln>
            <a:noFill/>
          </a:ln>
        </p:spPr>
        <p:txBody>
          <a:bodyPr rtlCol="0" anchor="ctr"/>
          <a:lstStyle/>
          <a:p>
            <a:pPr algn="ctr"/>
          </a:p>
        </p:txBody>
      </p:sp>
      <p:sp>
        <p:nvSpPr>
          <p:cNvPr id="14" name="Rectangle 13"/>
          <p:cNvSpPr/>
          <p:nvPr/>
        </p:nvSpPr>
        <p:spPr>
          <a:xfrm>
            <a:off x="711200" y="4306689"/>
            <a:ext cx="3488234" cy="6350"/>
          </a:xfrm>
          <a:prstGeom prst="rect">
            <a:avLst/>
          </a:prstGeom>
          <a:solidFill>
            <a:srgbClr val="D9D4C7"/>
          </a:solidFill>
          <a:ln>
            <a:noFill/>
          </a:ln>
        </p:spPr>
        <p:txBody>
          <a:bodyPr rtlCol="0" anchor="ctr"/>
          <a:lstStyle/>
          <a:p>
            <a:pPr algn="ctr"/>
          </a:p>
        </p:txBody>
      </p:sp>
      <p:sp>
        <p:nvSpPr>
          <p:cNvPr id="15" name="Rounded Rectangle 14"/>
          <p:cNvSpPr/>
          <p:nvPr/>
        </p:nvSpPr>
        <p:spPr>
          <a:xfrm>
            <a:off x="711200" y="2954238"/>
            <a:ext cx="50800" cy="1358801"/>
          </a:xfrm>
          <a:prstGeom prst="roundRect">
            <a:avLst>
              <a:gd name="adj" fmla="val 50000"/>
            </a:avLst>
          </a:prstGeom>
          <a:solidFill>
            <a:srgbClr val="C2410C"/>
          </a:solidFill>
          <a:ln>
            <a:noFill/>
          </a:ln>
        </p:spPr>
        <p:txBody>
          <a:bodyPr rtlCol="0" anchor="ctr"/>
          <a:lstStyle/>
          <a:p>
            <a:pPr algn="ctr"/>
          </a:p>
        </p:txBody>
      </p:sp>
      <p:sp>
        <p:nvSpPr>
          <p:cNvPr id="16" name="Rounded Rectangle 15"/>
          <p:cNvSpPr/>
          <p:nvPr/>
        </p:nvSpPr>
        <p:spPr>
          <a:xfrm>
            <a:off x="927100" y="3100288"/>
            <a:ext cx="404416" cy="241300"/>
          </a:xfrm>
          <a:prstGeom prst="roundRect">
            <a:avLst>
              <a:gd name="adj" fmla="val 50000"/>
            </a:avLst>
          </a:prstGeom>
          <a:solidFill>
            <a:srgbClr val="FDE7C8"/>
          </a:solidFill>
          <a:ln>
            <a:noFill/>
          </a:ln>
        </p:spPr>
        <p:txBody>
          <a:bodyPr rtlCol="0" anchor="ctr"/>
          <a:lstStyle/>
          <a:p>
            <a:pPr algn="ctr"/>
          </a:p>
        </p:txBody>
      </p:sp>
      <p:sp>
        <p:nvSpPr>
          <p:cNvPr id="17" name="TextBox 16"/>
          <p:cNvSpPr txBox="1"/>
          <p:nvPr/>
        </p:nvSpPr>
        <p:spPr>
          <a:xfrm>
            <a:off x="1016000" y="312568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채택</a:t>
            </a:r>
          </a:p>
        </p:txBody>
      </p:sp>
      <p:sp>
        <p:nvSpPr>
          <p:cNvPr id="18" name="TextBox 17"/>
          <p:cNvSpPr txBox="1"/>
          <p:nvPr/>
        </p:nvSpPr>
        <p:spPr>
          <a:xfrm>
            <a:off x="927100" y="341778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소수 장애물을 파라미터로</a:t>
            </a:r>
          </a:p>
        </p:txBody>
      </p:sp>
      <p:sp>
        <p:nvSpPr>
          <p:cNvPr id="19" name="TextBox 18"/>
          <p:cNvSpPr txBox="1"/>
          <p:nvPr/>
        </p:nvSpPr>
        <p:spPr>
          <a:xfrm>
            <a:off x="927100" y="372506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Zeilinger 그룹 방식. travplan은 원 대신 노드별 접평면</a:t>
            </a:r>
          </a:p>
        </p:txBody>
      </p:sp>
      <p:sp>
        <p:nvSpPr>
          <p:cNvPr id="20" name="Rounded Rectangle 19"/>
          <p:cNvSpPr/>
          <p:nvPr/>
        </p:nvSpPr>
        <p:spPr>
          <a:xfrm>
            <a:off x="4351834" y="2954238"/>
            <a:ext cx="3488234" cy="1358801"/>
          </a:xfrm>
          <a:prstGeom prst="roundRect">
            <a:avLst>
              <a:gd name="adj" fmla="val 5607"/>
            </a:avLst>
          </a:prstGeom>
          <a:solidFill>
            <a:srgbClr val="FFFDF8"/>
          </a:solidFill>
          <a:ln>
            <a:noFill/>
          </a:ln>
        </p:spPr>
        <p:txBody>
          <a:bodyPr rtlCol="0" anchor="ctr"/>
          <a:lstStyle/>
          <a:p>
            <a:pPr algn="ctr"/>
          </a:p>
        </p:txBody>
      </p:sp>
      <p:sp>
        <p:nvSpPr>
          <p:cNvPr id="21" name="Rectangle 20"/>
          <p:cNvSpPr/>
          <p:nvPr/>
        </p:nvSpPr>
        <p:spPr>
          <a:xfrm>
            <a:off x="4351834" y="2954238"/>
            <a:ext cx="3488234" cy="6350"/>
          </a:xfrm>
          <a:prstGeom prst="rect">
            <a:avLst/>
          </a:prstGeom>
          <a:solidFill>
            <a:srgbClr val="D9D4C7"/>
          </a:solidFill>
          <a:ln>
            <a:noFill/>
          </a:ln>
        </p:spPr>
        <p:txBody>
          <a:bodyPr rtlCol="0" anchor="ctr"/>
          <a:lstStyle/>
          <a:p>
            <a:pPr algn="ctr"/>
          </a:p>
        </p:txBody>
      </p:sp>
      <p:sp>
        <p:nvSpPr>
          <p:cNvPr id="22" name="Rectangle 21"/>
          <p:cNvSpPr/>
          <p:nvPr/>
        </p:nvSpPr>
        <p:spPr>
          <a:xfrm>
            <a:off x="7833717" y="2954238"/>
            <a:ext cx="6350" cy="1358801"/>
          </a:xfrm>
          <a:prstGeom prst="rect">
            <a:avLst/>
          </a:prstGeom>
          <a:solidFill>
            <a:srgbClr val="D9D4C7"/>
          </a:solidFill>
          <a:ln>
            <a:noFill/>
          </a:ln>
        </p:spPr>
        <p:txBody>
          <a:bodyPr rtlCol="0" anchor="ctr"/>
          <a:lstStyle/>
          <a:p>
            <a:pPr algn="ctr"/>
          </a:p>
        </p:txBody>
      </p:sp>
      <p:sp>
        <p:nvSpPr>
          <p:cNvPr id="23" name="Rectangle 22"/>
          <p:cNvSpPr/>
          <p:nvPr/>
        </p:nvSpPr>
        <p:spPr>
          <a:xfrm>
            <a:off x="4351834" y="4306689"/>
            <a:ext cx="3488234" cy="6350"/>
          </a:xfrm>
          <a:prstGeom prst="rect">
            <a:avLst/>
          </a:prstGeom>
          <a:solidFill>
            <a:srgbClr val="D9D4C7"/>
          </a:solidFill>
          <a:ln>
            <a:noFill/>
          </a:ln>
        </p:spPr>
        <p:txBody>
          <a:bodyPr rtlCol="0" anchor="ctr"/>
          <a:lstStyle/>
          <a:p>
            <a:pPr algn="ctr"/>
          </a:p>
        </p:txBody>
      </p:sp>
      <p:sp>
        <p:nvSpPr>
          <p:cNvPr id="24" name="Rounded Rectangle 23"/>
          <p:cNvSpPr/>
          <p:nvPr/>
        </p:nvSpPr>
        <p:spPr>
          <a:xfrm>
            <a:off x="4351834" y="2954238"/>
            <a:ext cx="50800" cy="1358801"/>
          </a:xfrm>
          <a:prstGeom prst="roundRect">
            <a:avLst>
              <a:gd name="adj" fmla="val 50000"/>
            </a:avLst>
          </a:prstGeom>
          <a:solidFill>
            <a:srgbClr val="9AA6BC"/>
          </a:solidFill>
          <a:ln>
            <a:noFill/>
          </a:ln>
        </p:spPr>
        <p:txBody>
          <a:bodyPr rtlCol="0" anchor="ctr"/>
          <a:lstStyle/>
          <a:p>
            <a:pPr algn="ctr"/>
          </a:p>
        </p:txBody>
      </p:sp>
      <p:sp>
        <p:nvSpPr>
          <p:cNvPr id="25" name="TextBox 24"/>
          <p:cNvSpPr txBox="1"/>
          <p:nvPr/>
        </p:nvSpPr>
        <p:spPr>
          <a:xfrm>
            <a:off x="4567734" y="310028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매끄러운 함수 근사</a:t>
            </a:r>
          </a:p>
        </p:txBody>
      </p:sp>
      <p:sp>
        <p:nvSpPr>
          <p:cNvPr id="26" name="TextBox 25"/>
          <p:cNvSpPr txBox="1"/>
          <p:nvPr/>
        </p:nvSpPr>
        <p:spPr>
          <a:xfrm>
            <a:off x="4567734" y="34075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지역 비용장을 다항식·RBF로</a:t>
            </a:r>
          </a:p>
        </p:txBody>
      </p:sp>
      <p:sp>
        <p:nvSpPr>
          <p:cNvPr id="27" name="Rounded Rectangle 26"/>
          <p:cNvSpPr/>
          <p:nvPr/>
        </p:nvSpPr>
        <p:spPr>
          <a:xfrm>
            <a:off x="7992467" y="2954238"/>
            <a:ext cx="3488234" cy="1358801"/>
          </a:xfrm>
          <a:prstGeom prst="roundRect">
            <a:avLst>
              <a:gd name="adj" fmla="val 5607"/>
            </a:avLst>
          </a:prstGeom>
          <a:solidFill>
            <a:srgbClr val="FFFDF8"/>
          </a:solidFill>
          <a:ln>
            <a:noFill/>
          </a:ln>
        </p:spPr>
        <p:txBody>
          <a:bodyPr rtlCol="0" anchor="ctr"/>
          <a:lstStyle/>
          <a:p>
            <a:pPr algn="ctr"/>
          </a:p>
        </p:txBody>
      </p:sp>
      <p:sp>
        <p:nvSpPr>
          <p:cNvPr id="28" name="Rectangle 27"/>
          <p:cNvSpPr/>
          <p:nvPr/>
        </p:nvSpPr>
        <p:spPr>
          <a:xfrm>
            <a:off x="7992467" y="2954238"/>
            <a:ext cx="3488234" cy="6350"/>
          </a:xfrm>
          <a:prstGeom prst="rect">
            <a:avLst/>
          </a:prstGeom>
          <a:solidFill>
            <a:srgbClr val="D9D4C7"/>
          </a:solidFill>
          <a:ln>
            <a:noFill/>
          </a:ln>
        </p:spPr>
        <p:txBody>
          <a:bodyPr rtlCol="0" anchor="ctr"/>
          <a:lstStyle/>
          <a:p>
            <a:pPr algn="ctr"/>
          </a:p>
        </p:txBody>
      </p:sp>
      <p:sp>
        <p:nvSpPr>
          <p:cNvPr id="29" name="Rectangle 28"/>
          <p:cNvSpPr/>
          <p:nvPr/>
        </p:nvSpPr>
        <p:spPr>
          <a:xfrm>
            <a:off x="11474351" y="2954238"/>
            <a:ext cx="6350" cy="1358801"/>
          </a:xfrm>
          <a:prstGeom prst="rect">
            <a:avLst/>
          </a:prstGeom>
          <a:solidFill>
            <a:srgbClr val="D9D4C7"/>
          </a:solidFill>
          <a:ln>
            <a:noFill/>
          </a:ln>
        </p:spPr>
        <p:txBody>
          <a:bodyPr rtlCol="0" anchor="ctr"/>
          <a:lstStyle/>
          <a:p>
            <a:pPr algn="ctr"/>
          </a:p>
        </p:txBody>
      </p:sp>
      <p:sp>
        <p:nvSpPr>
          <p:cNvPr id="30" name="Rectangle 29"/>
          <p:cNvSpPr/>
          <p:nvPr/>
        </p:nvSpPr>
        <p:spPr>
          <a:xfrm>
            <a:off x="7992467" y="4306689"/>
            <a:ext cx="3488234" cy="6350"/>
          </a:xfrm>
          <a:prstGeom prst="rect">
            <a:avLst/>
          </a:prstGeom>
          <a:solidFill>
            <a:srgbClr val="D9D4C7"/>
          </a:solidFill>
          <a:ln>
            <a:noFill/>
          </a:ln>
        </p:spPr>
        <p:txBody>
          <a:bodyPr rtlCol="0" anchor="ctr"/>
          <a:lstStyle/>
          <a:p>
            <a:pPr algn="ctr"/>
          </a:p>
        </p:txBody>
      </p:sp>
      <p:sp>
        <p:nvSpPr>
          <p:cNvPr id="31" name="Rounded Rectangle 30"/>
          <p:cNvSpPr/>
          <p:nvPr/>
        </p:nvSpPr>
        <p:spPr>
          <a:xfrm>
            <a:off x="7992467" y="2954238"/>
            <a:ext cx="50800" cy="1358801"/>
          </a:xfrm>
          <a:prstGeom prst="roundRect">
            <a:avLst>
              <a:gd name="adj" fmla="val 50000"/>
            </a:avLst>
          </a:prstGeom>
          <a:solidFill>
            <a:srgbClr val="9AA6BC"/>
          </a:solidFill>
          <a:ln>
            <a:noFill/>
          </a:ln>
        </p:spPr>
        <p:txBody>
          <a:bodyPr rtlCol="0" anchor="ctr"/>
          <a:lstStyle/>
          <a:p>
            <a:pPr algn="ctr"/>
          </a:p>
        </p:txBody>
      </p:sp>
      <p:sp>
        <p:nvSpPr>
          <p:cNvPr id="32" name="TextBox 31"/>
          <p:cNvSpPr txBox="1"/>
          <p:nvPr/>
        </p:nvSpPr>
        <p:spPr>
          <a:xfrm>
            <a:off x="8208367" y="310028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격자 고정 코드 생성</a:t>
            </a:r>
          </a:p>
        </p:txBody>
      </p:sp>
      <p:sp>
        <p:nvSpPr>
          <p:cNvPr id="33" name="TextBox 32"/>
          <p:cNvSpPr txBox="1"/>
          <p:nvPr/>
        </p:nvSpPr>
        <p:spPr>
          <a:xfrm>
            <a:off x="8208367" y="3407569"/>
            <a:ext cx="3219310" cy="3270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ca.interpolant</a:t>
            </a:r>
            <a:r>
              <a:rPr sz="1150" b="0" i="0">
                <a:solidFill>
                  <a:srgbClr val="16213A"/>
                </a:solidFill>
                <a:latin typeface="Arial"/>
                <a:ea typeface="Malgun Gothic"/>
                <a:cs typeface="Malgun Gothic"/>
              </a:rPr>
              <a:t>. 정적 지도에만 쓴다</a:t>
            </a:r>
          </a:p>
        </p:txBody>
      </p:sp>
      <p:sp>
        <p:nvSpPr>
          <p:cNvPr id="34" name="Rounded Rectangle 33"/>
          <p:cNvSpPr/>
          <p:nvPr/>
        </p:nvSpPr>
        <p:spPr>
          <a:xfrm>
            <a:off x="711200" y="4490839"/>
            <a:ext cx="10769600" cy="502543"/>
          </a:xfrm>
          <a:prstGeom prst="roundRect">
            <a:avLst>
              <a:gd name="adj" fmla="val 15162"/>
            </a:avLst>
          </a:prstGeom>
          <a:solidFill>
            <a:srgbClr val="16213A"/>
          </a:solidFill>
          <a:ln>
            <a:noFill/>
          </a:ln>
        </p:spPr>
        <p:txBody>
          <a:bodyPr rtlCol="0" anchor="ctr"/>
          <a:lstStyle/>
          <a:p>
            <a:pPr algn="ctr"/>
          </a:p>
        </p:txBody>
      </p:sp>
      <p:sp>
        <p:nvSpPr>
          <p:cNvPr id="35" name="TextBox 34"/>
          <p:cNvSpPr txBox="1"/>
          <p:nvPr/>
        </p:nvSpPr>
        <p:spPr>
          <a:xfrm>
            <a:off x="889000" y="461783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이것은 우회가 아니라 전제다. 조일 제약이 없으면 GP 분산도 튜브도 쓸 자리가 없다.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M.1.2 · 치명 셀 제약 · 바깥 실례</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지형 조건을 노드마다 볼록 제약으로 근사하는 같은 전략이 다리 로봇 NMPC에도 있다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틈·경사·징검다리를 건너는 ANYmal. foothold가 놓일 수 있는 영역을 노드마다 볼록 부등식 제약으로 근사해 온라인 MPC에 넣는다 (Robotic Systems Lab: Legged Robotics at ETH Zürich)</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910556"/>
            <a:ext cx="1182588"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935956"/>
            <a:ext cx="106033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travplan과 같은 점</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비볼록 → 노드별 볼록 부등식</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foothold가 놓일 수 있는 영역을 예측 노드마다 볼록 부등식으로 근사해 온라인 MPC에 넣는다. travplan의 노드별 접평면과 같은 자리다.</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9AA6BC"/>
          </a:solidFill>
          <a:ln>
            <a:noFill/>
          </a:ln>
        </p:spPr>
        <p:txBody>
          <a:bodyPr rtlCol="0" anchor="ctr"/>
          <a:lstStyle/>
          <a:p>
            <a:pPr algn="ctr"/>
          </a:p>
        </p:txBody>
      </p:sp>
      <p:sp>
        <p:nvSpPr>
          <p:cNvPr id="21" name="Rounded Rectangle 20"/>
          <p:cNvSpPr/>
          <p:nvPr/>
        </p:nvSpPr>
        <p:spPr>
          <a:xfrm>
            <a:off x="8191500" y="3604617"/>
            <a:ext cx="547688" cy="241300"/>
          </a:xfrm>
          <a:prstGeom prst="roundRect">
            <a:avLst>
              <a:gd name="adj" fmla="val 50000"/>
            </a:avLst>
          </a:prstGeom>
          <a:solidFill>
            <a:srgbClr val="ECE8DF"/>
          </a:solidFill>
          <a:ln>
            <a:noFill/>
          </a:ln>
        </p:spPr>
        <p:txBody>
          <a:bodyPr rtlCol="0" anchor="ctr"/>
          <a:lstStyle/>
          <a:p>
            <a:pPr algn="ctr"/>
          </a:p>
        </p:txBody>
      </p:sp>
      <p:sp>
        <p:nvSpPr>
          <p:cNvPr id="22" name="TextBox 21"/>
          <p:cNvSpPr txBox="1"/>
          <p:nvPr/>
        </p:nvSpPr>
        <p:spPr>
          <a:xfrm>
            <a:off x="8280400" y="3630017"/>
            <a:ext cx="40638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다른 점</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전신 자유도, 다리</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발 놓기·충돌 회피·동역학을 한 OCP로 푼다. travplan은 차체 twist 6상태뿐이라 문제가 훨씬 작다.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Grandia 외, “Perceptive Locomotion through Nonlinear Model Predictive Control”, T-RO 2023 — arXiv:2208.08373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 · 모듈 한계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모듈 역기구학은 넣지 않고, 차체 box 제약으로 옮긴다</a:t>
            </a:r>
          </a:p>
        </p:txBody>
      </p:sp>
      <p:sp>
        <p:nvSpPr>
          <p:cNvPr id="4" name="Rounded Rectangle 3"/>
          <p:cNvSpPr/>
          <p:nvPr/>
        </p:nvSpPr>
        <p:spPr>
          <a:xfrm>
            <a:off x="711200" y="1361678"/>
            <a:ext cx="5257800" cy="1041301"/>
          </a:xfrm>
          <a:prstGeom prst="roundRect">
            <a:avLst>
              <a:gd name="adj" fmla="val 7317"/>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41301"/>
          </a:xfrm>
          <a:prstGeom prst="rect">
            <a:avLst/>
          </a:prstGeom>
          <a:solidFill>
            <a:srgbClr val="D9D4C7"/>
          </a:solidFill>
          <a:ln>
            <a:noFill/>
          </a:ln>
        </p:spPr>
        <p:txBody>
          <a:bodyPr rtlCol="0" anchor="ctr"/>
          <a:lstStyle/>
          <a:p>
            <a:pPr algn="ctr"/>
          </a:p>
        </p:txBody>
      </p:sp>
      <p:sp>
        <p:nvSpPr>
          <p:cNvPr id="7" name="Rectangle 6"/>
          <p:cNvSpPr/>
          <p:nvPr/>
        </p:nvSpPr>
        <p:spPr>
          <a:xfrm>
            <a:off x="711200" y="239662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41301"/>
          </a:xfrm>
          <a:prstGeom prst="roundRect">
            <a:avLst>
              <a:gd name="adj" fmla="val 50000"/>
            </a:avLst>
          </a:prstGeom>
          <a:solidFill>
            <a:srgbClr val="9AA6BC"/>
          </a:solidFill>
          <a:ln>
            <a:noFill/>
          </a:ln>
        </p:spPr>
        <p:txBody>
          <a:bodyPr rtlCol="0" anchor="ctr"/>
          <a:lstStyle/>
          <a:p>
            <a:pPr algn="ctr"/>
          </a:p>
        </p:txBody>
      </p:sp>
      <p:sp>
        <p:nvSpPr>
          <p:cNvPr id="9" name="TextBox 8"/>
          <p:cNvSpPr txBox="1"/>
          <p:nvPr/>
        </p:nvSpPr>
        <p:spPr>
          <a:xfrm>
            <a:off x="9271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IK는 비평활이다</a:t>
            </a:r>
          </a:p>
        </p:txBody>
      </p:sp>
      <p:sp>
        <p:nvSpPr>
          <p:cNvPr id="10" name="TextBox 9"/>
          <p:cNvSpPr txBox="1"/>
          <p:nvPr/>
        </p:nvSpPr>
        <p:spPr>
          <a:xfrm>
            <a:off x="927100" y="1815009"/>
            <a:ext cx="5041964" cy="6032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atan2</a:t>
            </a:r>
            <a:r>
              <a:rPr sz="1150" b="0" i="0">
                <a:solidFill>
                  <a:srgbClr val="16213A"/>
                </a:solidFill>
                <a:latin typeface="Arial"/>
                <a:ea typeface="Malgun Gothic"/>
                <a:cs typeface="Malgun Gothic"/>
              </a:rPr>
              <a:t>, 모듈 반전, 클램프, 고정점 반복 3회. 넣으면 SQP가 죽는다. 비동축 오차는 6 mm/s로 작아 잔차가 흡수한다.</a:t>
            </a:r>
          </a:p>
        </p:txBody>
      </p:sp>
      <p:sp>
        <p:nvSpPr>
          <p:cNvPr id="11" name="Rounded Rectangle 10"/>
          <p:cNvSpPr/>
          <p:nvPr/>
        </p:nvSpPr>
        <p:spPr>
          <a:xfrm>
            <a:off x="711200" y="2517279"/>
            <a:ext cx="5257800" cy="1041301"/>
          </a:xfrm>
          <a:prstGeom prst="roundRect">
            <a:avLst>
              <a:gd name="adj" fmla="val 7317"/>
            </a:avLst>
          </a:prstGeom>
          <a:solidFill>
            <a:srgbClr val="FFFDF8"/>
          </a:solidFill>
          <a:ln>
            <a:noFill/>
          </a:ln>
        </p:spPr>
        <p:txBody>
          <a:bodyPr rtlCol="0" anchor="ctr"/>
          <a:lstStyle/>
          <a:p>
            <a:pPr algn="ctr"/>
          </a:p>
        </p:txBody>
      </p:sp>
      <p:sp>
        <p:nvSpPr>
          <p:cNvPr id="12" name="Rectangle 11"/>
          <p:cNvSpPr/>
          <p:nvPr/>
        </p:nvSpPr>
        <p:spPr>
          <a:xfrm>
            <a:off x="711200" y="2517279"/>
            <a:ext cx="5257800" cy="6350"/>
          </a:xfrm>
          <a:prstGeom prst="rect">
            <a:avLst/>
          </a:prstGeom>
          <a:solidFill>
            <a:srgbClr val="D9D4C7"/>
          </a:solidFill>
          <a:ln>
            <a:noFill/>
          </a:ln>
        </p:spPr>
        <p:txBody>
          <a:bodyPr rtlCol="0" anchor="ctr"/>
          <a:lstStyle/>
          <a:p>
            <a:pPr algn="ctr"/>
          </a:p>
        </p:txBody>
      </p:sp>
      <p:sp>
        <p:nvSpPr>
          <p:cNvPr id="13" name="Rectangle 12"/>
          <p:cNvSpPr/>
          <p:nvPr/>
        </p:nvSpPr>
        <p:spPr>
          <a:xfrm>
            <a:off x="5962650" y="2517279"/>
            <a:ext cx="6350" cy="1041301"/>
          </a:xfrm>
          <a:prstGeom prst="rect">
            <a:avLst/>
          </a:prstGeom>
          <a:solidFill>
            <a:srgbClr val="D9D4C7"/>
          </a:solidFill>
          <a:ln>
            <a:noFill/>
          </a:ln>
        </p:spPr>
        <p:txBody>
          <a:bodyPr rtlCol="0" anchor="ctr"/>
          <a:lstStyle/>
          <a:p>
            <a:pPr algn="ctr"/>
          </a:p>
        </p:txBody>
      </p:sp>
      <p:sp>
        <p:nvSpPr>
          <p:cNvPr id="14" name="Rectangle 13"/>
          <p:cNvSpPr/>
          <p:nvPr/>
        </p:nvSpPr>
        <p:spPr>
          <a:xfrm>
            <a:off x="711200" y="3552230"/>
            <a:ext cx="52578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711200" y="2517279"/>
            <a:ext cx="50800" cy="1041301"/>
          </a:xfrm>
          <a:prstGeom prst="roundRect">
            <a:avLst>
              <a:gd name="adj" fmla="val 50000"/>
            </a:avLst>
          </a:prstGeom>
          <a:solidFill>
            <a:srgbClr val="C2410C"/>
          </a:solidFill>
          <a:ln>
            <a:noFill/>
          </a:ln>
        </p:spPr>
        <p:txBody>
          <a:bodyPr rtlCol="0" anchor="ctr"/>
          <a:lstStyle/>
          <a:p>
            <a:pPr algn="ctr"/>
          </a:p>
        </p:txBody>
      </p:sp>
      <p:sp>
        <p:nvSpPr>
          <p:cNvPr id="16" name="TextBox 15"/>
          <p:cNvSpPr txBox="1"/>
          <p:nvPr/>
        </p:nvSpPr>
        <p:spPr>
          <a:xfrm>
            <a:off x="927100" y="2663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조향 ±56.2°가 원뿔을 만든다</a:t>
            </a:r>
          </a:p>
        </p:txBody>
      </p:sp>
      <p:sp>
        <p:nvSpPr>
          <p:cNvPr id="17" name="TextBox 16"/>
          <p:cNvSpPr txBox="1"/>
          <p:nvPr/>
        </p:nvSpPr>
        <p:spPr>
          <a:xfrm>
            <a:off x="927100" y="29706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바퀴마다 </a:t>
            </a:r>
            <a:r>
              <a:rPr sz="1150" b="0" i="1">
                <a:solidFill>
                  <a:srgbClr val="16213A"/>
                </a:solidFill>
                <a:latin typeface="Arial"/>
                <a:ea typeface="Malgun Gothic"/>
                <a:cs typeface="Malgun Gothic"/>
              </a:rPr>
              <a:t>|v_(iy)| ≤ tanδₘₐₓ|vᵢₓ|</a:t>
            </a:r>
            <a:r>
              <a:rPr sz="1150" b="0" i="0">
                <a:solidFill>
                  <a:srgbClr val="16213A"/>
                </a:solidFill>
                <a:latin typeface="Arial"/>
                <a:ea typeface="Malgun Gothic"/>
                <a:cs typeface="Malgun Gothic"/>
              </a:rPr>
              <a:t>. 차체 축에서 56.2°–123.8° 방향은 못 낸다(TP-0162). NMPC는 이 원뿔을 모른다.</a:t>
            </a:r>
          </a:p>
        </p:txBody>
      </p:sp>
      <p:sp>
        <p:nvSpPr>
          <p:cNvPr id="18" name="Rounded Rectangle 17"/>
          <p:cNvSpPr/>
          <p:nvPr/>
        </p:nvSpPr>
        <p:spPr>
          <a:xfrm>
            <a:off x="6223000" y="1361678"/>
            <a:ext cx="5257800" cy="3556000"/>
          </a:xfrm>
          <a:prstGeom prst="roundRect">
            <a:avLst>
              <a:gd name="adj" fmla="val 1428"/>
            </a:avLst>
          </a:prstGeom>
          <a:solidFill>
            <a:srgbClr val="FFFFFF"/>
          </a:solidFill>
          <a:ln w="6350">
            <a:solidFill>
              <a:srgbClr val="D9D4C7"/>
            </a:solidFill>
          </a:ln>
        </p:spPr>
        <p:txBody>
          <a:bodyPr rtlCol="0" anchor="ctr"/>
          <a:lstStyle/>
          <a:p>
            <a:pPr algn="ctr"/>
          </a:p>
        </p:txBody>
      </p:sp>
      <p:pic>
        <p:nvPicPr>
          <p:cNvPr id="19" name="Picture 18" descr="image.jpg"/>
          <p:cNvPicPr>
            <a:picLocks noChangeAspect="1"/>
          </p:cNvPicPr>
          <p:nvPr/>
        </p:nvPicPr>
        <p:blipFill>
          <a:blip r:embed="rId2"/>
          <a:stretch>
            <a:fillRect/>
          </a:stretch>
        </p:blipFill>
        <p:spPr>
          <a:xfrm>
            <a:off x="6564667" y="1361678"/>
            <a:ext cx="4574466" cy="3556000"/>
          </a:xfrm>
          <a:prstGeom prst="rect">
            <a:avLst/>
          </a:prstGeom>
        </p:spPr>
      </p:pic>
      <p:sp>
        <p:nvSpPr>
          <p:cNvPr id="20" name="TextBox 19"/>
          <p:cNvSpPr txBox="1"/>
          <p:nvPr/>
        </p:nvSpPr>
        <p:spPr>
          <a:xfrm>
            <a:off x="6223000" y="4981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조향 한계 ±2π/3이 속도 공간을 자르는 불연속 평면 — Liu 외, ICAR 2025 [1]</a:t>
            </a:r>
          </a:p>
        </p:txBody>
      </p:sp>
      <p:sp>
        <p:nvSpPr>
          <p:cNvPr id="21" name="Rectangle 20"/>
          <p:cNvSpPr/>
          <p:nvPr/>
        </p:nvSpPr>
        <p:spPr>
          <a:xfrm>
            <a:off x="711200" y="6424315"/>
            <a:ext cx="10769600" cy="230485"/>
          </a:xfrm>
          <a:prstGeom prst="rect">
            <a:avLst/>
          </a:prstGeom>
          <a:noFill/>
          <a:ln>
            <a:noFill/>
          </a:ln>
        </p:spPr>
        <p:txBody>
          <a:bodyPr rtlCol="0" anchor="ctr"/>
          <a:lstStyle/>
          <a:p>
            <a:pPr algn="ctr"/>
          </a:p>
        </p:txBody>
      </p:sp>
      <p:sp>
        <p:nvSpPr>
          <p:cNvPr id="22" name="Rectangle 2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3" name="TextBox 2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Liu 외, ICAR 2025 — arXiv:2510.19054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 · 모듈 한계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불연속 평면을 넘으면 바퀴가 뒤집히고, 평면을 피하는 Planner가 그것을 막는다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조향 한계가 만드는 불연속 평면(0:00–0:07), 평면을 넘을 때 바퀴가 쉬지 않고 뒤집히는 기준 제어기(0:07–0:25), 속도 벡터를 평면에서 떨어뜨려 뒤집기를 막는 보강 Planner(0:25–0:41) (Nokia Bell Labs)</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910556"/>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935956"/>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wheel thrashing</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평면을 넘으면 바퀴를 뒤집어야 한다. 순수 DWA는 실물 미로에서 바퀴가 쉬지 않고 왔다 갔다 해 시험을 중단했다 [1].</a:t>
            </a:r>
          </a:p>
        </p:txBody>
      </p:sp>
      <p:sp>
        <p:nvSpPr>
          <p:cNvPr id="16" name="Rounded Rectangle 15"/>
          <p:cNvSpPr/>
          <p:nvPr/>
        </p:nvSpPr>
        <p:spPr>
          <a:xfrm>
            <a:off x="7975600" y="3458567"/>
            <a:ext cx="3505200" cy="1272480"/>
          </a:xfrm>
          <a:prstGeom prst="roundRect">
            <a:avLst>
              <a:gd name="adj" fmla="val 5988"/>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272480"/>
          </a:xfrm>
          <a:prstGeom prst="rect">
            <a:avLst/>
          </a:prstGeom>
          <a:solidFill>
            <a:srgbClr val="D9D4C7"/>
          </a:solidFill>
          <a:ln>
            <a:noFill/>
          </a:ln>
        </p:spPr>
        <p:txBody>
          <a:bodyPr rtlCol="0" anchor="ctr"/>
          <a:lstStyle/>
          <a:p>
            <a:pPr algn="ctr"/>
          </a:p>
        </p:txBody>
      </p:sp>
      <p:sp>
        <p:nvSpPr>
          <p:cNvPr id="19" name="Rectangle 18"/>
          <p:cNvSpPr/>
          <p:nvPr/>
        </p:nvSpPr>
        <p:spPr>
          <a:xfrm>
            <a:off x="7975600" y="472469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272480"/>
          </a:xfrm>
          <a:prstGeom prst="roundRect">
            <a:avLst>
              <a:gd name="adj" fmla="val 50000"/>
            </a:avLst>
          </a:prstGeom>
          <a:solidFill>
            <a:srgbClr val="9AA6BC"/>
          </a:solidFill>
          <a:ln>
            <a:noFill/>
          </a:ln>
        </p:spPr>
        <p:txBody>
          <a:bodyPr rtlCol="0" anchor="ctr"/>
          <a:lstStyle/>
          <a:p>
            <a:pPr algn="ctr"/>
          </a:p>
        </p:txBody>
      </p:sp>
      <p:sp>
        <p:nvSpPr>
          <p:cNvPr id="21" name="Rounded Rectangle 20"/>
          <p:cNvSpPr/>
          <p:nvPr/>
        </p:nvSpPr>
        <p:spPr>
          <a:xfrm>
            <a:off x="8191500" y="3604617"/>
            <a:ext cx="1009352" cy="241300"/>
          </a:xfrm>
          <a:prstGeom prst="roundRect">
            <a:avLst>
              <a:gd name="adj" fmla="val 50000"/>
            </a:avLst>
          </a:prstGeom>
          <a:solidFill>
            <a:srgbClr val="ECE8DF"/>
          </a:solidFill>
          <a:ln>
            <a:noFill/>
          </a:ln>
        </p:spPr>
        <p:txBody>
          <a:bodyPr rtlCol="0" anchor="ctr"/>
          <a:lstStyle/>
          <a:p>
            <a:pPr algn="ctr"/>
          </a:p>
        </p:txBody>
      </p:sp>
      <p:sp>
        <p:nvSpPr>
          <p:cNvPr id="22" name="TextBox 21"/>
          <p:cNvSpPr txBox="1"/>
          <p:nvPr/>
        </p:nvSpPr>
        <p:spPr>
          <a:xfrm>
            <a:off x="8280400" y="3630017"/>
            <a:ext cx="881899"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travplan에서는</a:t>
            </a:r>
          </a:p>
        </p:txBody>
      </p:sp>
      <p:sp>
        <p:nvSpPr>
          <p:cNvPr id="23" name="TextBox 22"/>
          <p:cNvSpPr txBox="1"/>
          <p:nvPr/>
        </p:nvSpPr>
        <p:spPr>
          <a:xfrm>
            <a:off x="8191500" y="392211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plant 조향 ±56.2°는 90°보다 좁아 구역 대신 바퀴마다 실현 가능 원뿔이 생긴다(TP-0162). NMPC는 이 원뿔을 모른다.</a:t>
            </a:r>
          </a:p>
        </p:txBody>
      </p:sp>
      <p:sp>
        <p:nvSpPr>
          <p:cNvPr id="24" name="Rectangle 23"/>
          <p:cNvSpPr/>
          <p:nvPr/>
        </p:nvSpPr>
        <p:spPr>
          <a:xfrm>
            <a:off x="711200" y="6424315"/>
            <a:ext cx="10769600" cy="230485"/>
          </a:xfrm>
          <a:prstGeom prst="rect">
            <a:avLst/>
          </a:prstGeom>
          <a:noFill/>
          <a:ln>
            <a:noFill/>
          </a:ln>
        </p:spPr>
        <p:txBody>
          <a:bodyPr rtlCol="0" anchor="ctr"/>
          <a:lstStyle/>
          <a:p>
            <a:pPr algn="ctr"/>
          </a:p>
        </p:txBody>
      </p:sp>
      <p:sp>
        <p:nvSpPr>
          <p:cNvPr id="25" name="Rectangle 2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6" name="TextBox 2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Liu 외, ICAR 2025 — arXiv:2510.19054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62919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GP 잔차 · 튜브 · 시뮬 리그</a:t>
            </a:r>
          </a:p>
        </p:txBody>
      </p:sp>
      <p:sp>
        <p:nvSpPr>
          <p:cNvPr id="3" name="TextBox 2"/>
          <p:cNvSpPr txBox="1"/>
          <p:nvPr/>
        </p:nvSpPr>
        <p:spPr>
          <a:xfrm>
            <a:off x="812800" y="3067348"/>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모델 오차를 어디서 얻고 어떻게 넣나</a:t>
            </a:r>
          </a:p>
        </p:txBody>
      </p:sp>
      <p:sp>
        <p:nvSpPr>
          <p:cNvPr id="4" name="TextBox 3"/>
          <p:cNvSpPr txBox="1"/>
          <p:nvPr/>
        </p:nvSpPr>
        <p:spPr>
          <a:xfrm>
            <a:off x="812800" y="391566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GP 평균은 파라미터로, 분산은 제약의 오프셋으로. 그 전에 배울 오차가 있는 plant가 필요하다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M.3.6 · GP 잔차</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GP 평균을 노드별 파라미터로 넣으면 0차 근사가 공짜로 선다</a:t>
            </a:r>
          </a:p>
        </p:txBody>
      </p:sp>
      <p:sp>
        <p:nvSpPr>
          <p:cNvPr id="4" name="Rounded Rectangle 3"/>
          <p:cNvSpPr/>
          <p:nvPr/>
        </p:nvSpPr>
        <p:spPr>
          <a:xfrm>
            <a:off x="711200" y="1361678"/>
            <a:ext cx="52578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59060"/>
          </a:xfrm>
          <a:prstGeom prst="rect">
            <a:avLst/>
          </a:prstGeom>
        </p:spPr>
      </p:pic>
      <p:sp>
        <p:nvSpPr>
          <p:cNvPr id="7" name="Rounded Rectangle 6"/>
          <p:cNvSpPr/>
          <p:nvPr/>
        </p:nvSpPr>
        <p:spPr>
          <a:xfrm>
            <a:off x="711200" y="1906488"/>
            <a:ext cx="5257800" cy="759222"/>
          </a:xfrm>
          <a:prstGeom prst="roundRect">
            <a:avLst>
              <a:gd name="adj" fmla="val 6691"/>
            </a:avLst>
          </a:prstGeom>
          <a:solidFill>
            <a:srgbClr val="FFFDF8"/>
          </a:solidFill>
          <a:ln>
            <a:noFill/>
          </a:ln>
        </p:spPr>
        <p:txBody>
          <a:bodyPr rtlCol="0" anchor="ctr"/>
          <a:lstStyle/>
          <a:p>
            <a:pPr algn="ctr"/>
          </a:p>
        </p:txBody>
      </p:sp>
      <p:sp>
        <p:nvSpPr>
          <p:cNvPr id="8" name="Rounded Rectangle 7"/>
          <p:cNvSpPr/>
          <p:nvPr/>
        </p:nvSpPr>
        <p:spPr>
          <a:xfrm>
            <a:off x="711200" y="1906488"/>
            <a:ext cx="38100" cy="759222"/>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1995388"/>
            <a:ext cx="4921250" cy="587772"/>
          </a:xfrm>
          <a:prstGeom prst="rect">
            <a:avLst/>
          </a:prstGeom>
        </p:spPr>
      </p:pic>
      <p:sp>
        <p:nvSpPr>
          <p:cNvPr id="10" name="TextBox 9"/>
          <p:cNvSpPr txBox="1"/>
          <p:nvPr/>
        </p:nvSpPr>
        <p:spPr>
          <a:xfrm>
            <a:off x="711200" y="2780010"/>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탐색 방향은 </a:t>
            </a:r>
            <a:r>
              <a:rPr sz="1050" b="0" i="1">
                <a:solidFill>
                  <a:srgbClr val="16213A"/>
                </a:solidFill>
                <a:latin typeface="Arial"/>
                <a:ea typeface="Malgun Gothic"/>
                <a:cs typeface="Malgun Gothic"/>
              </a:rPr>
              <a:t>f_(swerve)</a:t>
            </a:r>
            <a:r>
              <a:rPr sz="1050" b="0" i="0">
                <a:solidFill>
                  <a:srgbClr val="16213A"/>
                </a:solidFill>
                <a:latin typeface="Arial"/>
                <a:ea typeface="Malgun Gothic"/>
                <a:cs typeface="Malgun Gothic"/>
              </a:rPr>
              <a:t>의 미분만 쓰고, 전방 시뮬레이션에는 </a:t>
            </a:r>
            <a:r>
              <a:rPr sz="1050" b="0" i="1">
                <a:solidFill>
                  <a:srgbClr val="16213A"/>
                </a:solidFill>
                <a:latin typeface="Arial"/>
                <a:ea typeface="Malgun Gothic"/>
                <a:cs typeface="Malgun Gothic"/>
              </a:rPr>
              <a:t>μ_d</a:t>
            </a:r>
            <a:r>
              <a:rPr sz="1050" b="0" i="0">
                <a:solidFill>
                  <a:srgbClr val="16213A"/>
                </a:solidFill>
                <a:latin typeface="Arial"/>
                <a:ea typeface="Malgun Gothic"/>
                <a:cs typeface="Malgun Gothic"/>
              </a:rPr>
              <a:t>가 그대로 들어간다.</a:t>
            </a:r>
          </a:p>
        </p:txBody>
      </p:sp>
      <p:sp>
        <p:nvSpPr>
          <p:cNvPr id="11" name="Rounded Rectangle 10"/>
          <p:cNvSpPr/>
          <p:nvPr/>
        </p:nvSpPr>
        <p:spPr>
          <a:xfrm>
            <a:off x="6223000" y="1361678"/>
            <a:ext cx="5257800" cy="1389261"/>
          </a:xfrm>
          <a:prstGeom prst="roundRect">
            <a:avLst>
              <a:gd name="adj" fmla="val 5484"/>
            </a:avLst>
          </a:prstGeom>
          <a:solidFill>
            <a:srgbClr val="FFFDF8"/>
          </a:solidFill>
          <a:ln>
            <a:noFill/>
          </a:ln>
        </p:spPr>
        <p:txBody>
          <a:bodyPr rtlCol="0" anchor="ctr"/>
          <a:lstStyle/>
          <a:p>
            <a:pPr algn="ctr"/>
          </a:p>
        </p:txBody>
      </p:sp>
      <p:sp>
        <p:nvSpPr>
          <p:cNvPr id="12" name="Rectangle 11"/>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1389261"/>
          </a:xfrm>
          <a:prstGeom prst="rect">
            <a:avLst/>
          </a:prstGeom>
          <a:solidFill>
            <a:srgbClr val="D9D4C7"/>
          </a:solidFill>
          <a:ln>
            <a:noFill/>
          </a:ln>
        </p:spPr>
        <p:txBody>
          <a:bodyPr rtlCol="0" anchor="ctr"/>
          <a:lstStyle/>
          <a:p>
            <a:pPr algn="ctr"/>
          </a:p>
        </p:txBody>
      </p:sp>
      <p:sp>
        <p:nvSpPr>
          <p:cNvPr id="14" name="Rectangle 13"/>
          <p:cNvSpPr/>
          <p:nvPr/>
        </p:nvSpPr>
        <p:spPr>
          <a:xfrm>
            <a:off x="6223000" y="2744589"/>
            <a:ext cx="52578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223000" y="1361678"/>
            <a:ext cx="50800" cy="138926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plant가 만드는 오차 (크기 순)</a:t>
            </a:r>
          </a:p>
        </p:txBody>
      </p:sp>
      <p:sp>
        <p:nvSpPr>
          <p:cNvPr id="17" name="TextBox 16"/>
          <p:cNvSpPr txBox="1"/>
          <p:nvPr/>
        </p:nvSpPr>
        <p:spPr>
          <a:xfrm>
            <a:off x="6477000" y="181500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액추에이터 1차 지연, τ = 0.2 s</a:t>
            </a:r>
          </a:p>
        </p:txBody>
      </p:sp>
      <p:sp>
        <p:nvSpPr>
          <p:cNvPr id="18" name="TextBox 17"/>
          <p:cNvSpPr txBox="1"/>
          <p:nvPr/>
        </p:nvSpPr>
        <p:spPr>
          <a:xfrm>
            <a:off x="6477000" y="209946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모듈 기구학: 조향 한계·반전·스크럽</a:t>
            </a:r>
          </a:p>
        </p:txBody>
      </p:sp>
      <p:sp>
        <p:nvSpPr>
          <p:cNvPr id="19" name="TextBox 18"/>
          <p:cNvSpPr txBox="1"/>
          <p:nvPr/>
        </p:nvSpPr>
        <p:spPr>
          <a:xfrm>
            <a:off x="6477000" y="238392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지형 슬립: twist를 </a:t>
            </a:r>
            <a:r>
              <a:rPr sz="1150" b="0" i="1">
                <a:solidFill>
                  <a:srgbClr val="16213A"/>
                </a:solidFill>
                <a:latin typeface="Arial"/>
                <a:ea typeface="Malgun Gothic"/>
                <a:cs typeface="Malgun Gothic"/>
              </a:rPr>
              <a:t>(1-s)</a:t>
            </a:r>
            <a:r>
              <a:rPr sz="1150" b="0" i="0">
                <a:solidFill>
                  <a:srgbClr val="16213A"/>
                </a:solidFill>
                <a:latin typeface="Arial"/>
                <a:ea typeface="Malgun Gothic"/>
                <a:cs typeface="Malgun Gothic"/>
              </a:rPr>
              <a:t>배</a:t>
            </a:r>
          </a:p>
        </p:txBody>
      </p:sp>
      <p:sp>
        <p:nvSpPr>
          <p:cNvPr id="20" name="TextBox 19"/>
          <p:cNvSpPr txBox="1"/>
          <p:nvPr/>
        </p:nvSpPr>
        <p:spPr>
          <a:xfrm>
            <a:off x="6223000" y="286523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명목 대비 RMSE 66–78% 감소. 첫 시도는 95% coverage 0.35였다(관측 잡음 </a:t>
            </a:r>
            <a:r>
              <a:rPr sz="1050" b="0" i="1">
                <a:solidFill>
                  <a:srgbClr val="16213A"/>
                </a:solidFill>
                <a:latin typeface="Arial"/>
                <a:ea typeface="Malgun Gothic"/>
                <a:cs typeface="Malgun Gothic"/>
              </a:rPr>
              <a:t>σₙ²</a:t>
            </a:r>
            <a:r>
              <a:rPr sz="1050" b="0" i="0">
                <a:solidFill>
                  <a:srgbClr val="16213A"/>
                </a:solidFill>
                <a:latin typeface="Arial"/>
                <a:ea typeface="Malgun Gothic"/>
                <a:cs typeface="Malgun Gothic"/>
              </a:rPr>
              <a:t>을 빠뜨림).</a:t>
            </a:r>
          </a:p>
        </p:txBody>
      </p:sp>
      <p:graphicFrame>
        <p:nvGraphicFramePr>
          <p:cNvPr id="21" name="Table 20"/>
          <p:cNvGraphicFramePr>
            <a:graphicFrameLocks noGrp="1"/>
          </p:cNvGraphicFramePr>
          <p:nvPr/>
        </p:nvGraphicFramePr>
        <p:xfrm>
          <a:off x="711200" y="3434159"/>
          <a:ext cx="10769601" cy="772011"/>
        </p:xfrm>
        <a:graphic>
          <a:graphicData uri="http://schemas.openxmlformats.org/drawingml/2006/table">
            <a:tbl>
              <a:tblPr firstRow="0" bandRow="0">
                <a:tableStyleId>{5C22544A-7EE6-4342-B048-85BDC9FD1C3A}</a:tableStyleId>
              </a:tblPr>
              <a:tblGrid>
                <a:gridCol w="5049738"/>
                <a:gridCol w="1906588"/>
                <a:gridCol w="1906588"/>
                <a:gridCol w="1906687"/>
              </a:tblGrid>
              <a:tr h="263634">
                <a:tc>
                  <a:txBody>
                    <a:bodyPr wrap="square"/>
                    <a:lstStyle/>
                    <a:p>
                      <a:r>
                        <a:rPr sz="1000" b="1" i="0">
                          <a:solidFill>
                            <a:srgbClr val="F4F1EA"/>
                          </a:solidFill>
                          <a:latin typeface="Arial"/>
                          <a:ea typeface="Malgun Gothic"/>
                          <a:cs typeface="Malgun Gothic"/>
                        </a:rPr>
                        <a:t>잔차 (plant + guidance+mppi, 2,000 샘플)</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dv_x</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dv_y</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dω</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|d| 평균 / 최대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0.048 / 0.167</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0.021 / 0.107</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0.052 / 0.281</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선형모형 R²</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0.708</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0.951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0.888</a:t>
                      </a:r>
                    </a:p>
                  </a:txBody>
                  <a:tcPr marL="76200" marR="76200" marT="25400" marB="25400">
                    <a:solidFill>
                      <a:srgbClr val="FFFDF8"/>
                    </a:solidFill>
                  </a:tcPr>
                </a:tc>
              </a:tr>
            </a:tbl>
          </a:graphicData>
        </a:graphic>
      </p:graphicFrame>
      <p:sp>
        <p:nvSpPr>
          <p:cNvPr id="22" name="Rounded Rectangle 21"/>
          <p:cNvSpPr/>
          <p:nvPr/>
        </p:nvSpPr>
        <p:spPr>
          <a:xfrm>
            <a:off x="711200" y="4520208"/>
            <a:ext cx="10769600" cy="502543"/>
          </a:xfrm>
          <a:prstGeom prst="roundRect">
            <a:avLst>
              <a:gd name="adj" fmla="val 15162"/>
            </a:avLst>
          </a:prstGeom>
          <a:solidFill>
            <a:srgbClr val="16213A"/>
          </a:solidFill>
          <a:ln>
            <a:noFill/>
          </a:ln>
        </p:spPr>
        <p:txBody>
          <a:bodyPr rtlCol="0" anchor="ctr"/>
          <a:lstStyle/>
          <a:p>
            <a:pPr algn="ctr"/>
          </a:p>
        </p:txBody>
      </p:sp>
      <p:sp>
        <p:nvSpPr>
          <p:cNvPr id="23" name="TextBox 22"/>
          <p:cNvSpPr txBox="1"/>
          <p:nvPr/>
        </p:nvSpPr>
        <p:spPr>
          <a:xfrm>
            <a:off x="889000" y="464720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TP-0071에서 반평면용으로 만든 파라미터 전달 구조가 그대로 0차 GP-MPC가 됐다.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M.3.6 · GP 잔차 · 같은 구조의 도구</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L4acados는 travplan의 mpc_gp와 같은 구조로 Python 잔차를 acados에 꽂는다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L4acados: 신경망·GP 같은 Python 잔차 모델을 실시간 최적 제어 소프트웨어 acados에 잇는 틀. GP 기반 MPC에 적용했다 (IDSC - Intelligent Control Systems)</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547688"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같은 점</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0차 GP-MPC</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 평균을 파라미터로 넘기고 명목 모델의 미분으로 탐색한다. travplan은 TP-0071의 파라미터 전달 구조를 그대로 썼다.</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9AA6BC"/>
          </a:solidFill>
          <a:ln>
            <a:noFill/>
          </a:ln>
        </p:spPr>
        <p:txBody>
          <a:bodyPr rtlCol="0" anchor="ctr"/>
          <a:lstStyle/>
          <a:p>
            <a:pPr algn="ctr"/>
          </a:p>
        </p:txBody>
      </p:sp>
      <p:sp>
        <p:nvSpPr>
          <p:cNvPr id="21" name="Rounded Rectangle 20"/>
          <p:cNvSpPr/>
          <p:nvPr/>
        </p:nvSpPr>
        <p:spPr>
          <a:xfrm>
            <a:off x="8191500" y="3604617"/>
            <a:ext cx="547688" cy="241300"/>
          </a:xfrm>
          <a:prstGeom prst="roundRect">
            <a:avLst>
              <a:gd name="adj" fmla="val 50000"/>
            </a:avLst>
          </a:prstGeom>
          <a:solidFill>
            <a:srgbClr val="ECE8DF"/>
          </a:solidFill>
          <a:ln>
            <a:noFill/>
          </a:ln>
        </p:spPr>
        <p:txBody>
          <a:bodyPr rtlCol="0" anchor="ctr"/>
          <a:lstStyle/>
          <a:p>
            <a:pPr algn="ctr"/>
          </a:p>
        </p:txBody>
      </p:sp>
      <p:sp>
        <p:nvSpPr>
          <p:cNvPr id="22" name="TextBox 21"/>
          <p:cNvSpPr txBox="1"/>
          <p:nvPr/>
        </p:nvSpPr>
        <p:spPr>
          <a:xfrm>
            <a:off x="8280400" y="3630017"/>
            <a:ext cx="40638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다른 점</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일반 잔차 인터페이스</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L4acados는 Python 모델과 그 민감도를 받는 일반 틀이다. travplan은 SGPR 잔차 하나를 손으로 꽂았다(</a:t>
            </a:r>
            <a:r>
              <a:rPr sz="1000" b="0" i="0">
                <a:solidFill>
                  <a:srgbClr val="7C2D12"/>
                </a:solidFill>
                <a:latin typeface="Consolas"/>
                <a:ea typeface="Malgun Gothic"/>
                <a:cs typeface="Malgun Gothic"/>
              </a:rPr>
              <a:t>control/acados_mpc/gp.py</a:t>
            </a:r>
            <a:r>
              <a:rPr sz="1150" b="0" i="0">
                <a:solidFill>
                  <a:srgbClr val="16213A"/>
                </a:solidFill>
                <a:latin typeface="Arial"/>
                <a:ea typeface="Malgun Gothic"/>
                <a:cs typeface="Malgun Gothic"/>
              </a:rPr>
              <a:t>).</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L4acados — Lahr 외, IEEE TCST — arXiv:2411.19258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M.3.8 · M.3.9 · 희소 GP</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SGPR inducing point 64만 네 축을 모두 통과한다</a:t>
            </a:r>
          </a:p>
        </p:txBody>
      </p:sp>
      <p:graphicFrame>
        <p:nvGraphicFramePr>
          <p:cNvPr id="4" name="Table 3"/>
          <p:cNvGraphicFramePr>
            <a:graphicFrameLocks noGrp="1"/>
          </p:cNvGraphicFramePr>
          <p:nvPr/>
        </p:nvGraphicFramePr>
        <p:xfrm>
          <a:off x="711200" y="1361678"/>
          <a:ext cx="10769599" cy="1544613"/>
        </p:xfrm>
        <a:graphic>
          <a:graphicData uri="http://schemas.openxmlformats.org/drawingml/2006/table">
            <a:tbl>
              <a:tblPr firstRow="0" bandRow="0">
                <a:tableStyleId>{5C22544A-7EE6-4342-B048-85BDC9FD1C3A}</a:tableStyleId>
              </a:tblPr>
              <a:tblGrid>
                <a:gridCol w="3507085"/>
                <a:gridCol w="1619845"/>
                <a:gridCol w="1815207"/>
                <a:gridCol w="1574403"/>
                <a:gridCol w="2253059"/>
              </a:tblGrid>
              <a:tr h="269622">
                <a:tc>
                  <a:txBody>
                    <a:bodyPr wrap="square"/>
                    <a:lstStyle/>
                    <a:p>
                      <a:r>
                        <a:rPr sz="1000" b="1" i="0">
                          <a:solidFill>
                            <a:srgbClr val="F4F1EA"/>
                          </a:solidFill>
                          <a:latin typeface="Arial"/>
                          <a:ea typeface="Malgun Gothic"/>
                          <a:cs typeface="Malgun Gothic"/>
                        </a:rPr>
                        <a:t>모델 (훈련 1,400)</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refresh</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41노드 예측</a:t>
                      </a:r>
                    </a:p>
                  </a:txBody>
                  <a:tcPr marL="76200" marR="76200" marT="25400" marB="25400">
                    <a:solidFill>
                      <a:srgbClr val="16213A"/>
                    </a:solidFill>
                  </a:tcPr>
                </a:tc>
                <a:tc>
                  <a:txBody>
                    <a:bodyPr wrap="square"/>
                    <a:lstStyle/>
                    <a:p>
                      <a:r>
                        <a:rPr sz="1000" b="1" i="1">
                          <a:solidFill>
                            <a:srgbClr val="F4F1EA"/>
                          </a:solidFill>
                          <a:latin typeface="Arial"/>
                          <a:ea typeface="Malgun Gothic"/>
                          <a:cs typeface="Malgun Gothic"/>
                        </a:rPr>
                        <a:t>dω</a:t>
                      </a:r>
                      <a:r>
                        <a:rPr sz="1000" b="1" i="0">
                          <a:solidFill>
                            <a:srgbClr val="F4F1EA"/>
                          </a:solidFill>
                          <a:latin typeface="Arial"/>
                          <a:ea typeface="Malgun Gothic"/>
                          <a:cs typeface="Malgun Gothic"/>
                        </a:rPr>
                        <a:t> RMSE</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분포 밖 최대 |μ|</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정확 GP 400점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4.5 ms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0.72 ms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0.0233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0.4</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정확 GP 1400점</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121.8 ms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4.75 ms</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0.0190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0.6</a:t>
                      </a:r>
                    </a:p>
                  </a:txBody>
                  <a:tcPr marL="76200" marR="76200" marT="25400" marB="25400">
                    <a:solidFill>
                      <a:srgbClr val="FFFDF8"/>
                    </a:solidFill>
                  </a:tcPr>
                </a:tc>
              </a:tr>
              <a:tr h="255538">
                <a:tc>
                  <a:txBody>
                    <a:bodyPr wrap="square"/>
                    <a:lstStyle/>
                    <a:p>
                      <a:r>
                        <a:rPr sz="1000" b="1" i="0">
                          <a:solidFill>
                            <a:srgbClr val="16213A"/>
                          </a:solidFill>
                          <a:latin typeface="Arial"/>
                          <a:ea typeface="Malgun Gothic"/>
                          <a:cs typeface="Malgun Gothic"/>
                        </a:rPr>
                        <a:t>SGPR inducing point 64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5.5 ms</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0.36 ms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0.0223</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0.4</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RFF 특징 128</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2.4 ms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0.21 ms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0.0208</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1.9</a:t>
                      </a:r>
                    </a:p>
                  </a:txBody>
                  <a:tcPr marL="76200" marR="76200" marT="25400" marB="25400">
                    <a:solidFill>
                      <a:srgbClr val="FFFDF8"/>
                    </a:solidFill>
                  </a:tcPr>
                </a:tc>
              </a:tr>
              <a:tr h="252839">
                <a:tc>
                  <a:txBody>
                    <a:bodyPr wrap="square"/>
                    <a:lstStyle/>
                    <a:p>
                      <a:r>
                        <a:rPr sz="1000" b="0" i="1">
                          <a:solidFill>
                            <a:srgbClr val="16213A"/>
                          </a:solidFill>
                          <a:latin typeface="Arial"/>
                          <a:ea typeface="Malgun Gothic"/>
                          <a:cs typeface="Malgun Gothic"/>
                        </a:rPr>
                        <a:t>선형 기준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0.0241</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r>
            </a:tbl>
          </a:graphicData>
        </a:graphic>
      </p:graphicFrame>
      <p:sp>
        <p:nvSpPr>
          <p:cNvPr id="5" name="Rounded Rectangle 4"/>
          <p:cNvSpPr/>
          <p:nvPr/>
        </p:nvSpPr>
        <p:spPr>
          <a:xfrm>
            <a:off x="711200" y="3356670"/>
            <a:ext cx="5308600" cy="820341"/>
          </a:xfrm>
          <a:prstGeom prst="roundRect">
            <a:avLst>
              <a:gd name="adj" fmla="val 9288"/>
            </a:avLst>
          </a:prstGeom>
          <a:solidFill>
            <a:srgbClr val="FFFDF8"/>
          </a:solidFill>
          <a:ln>
            <a:noFill/>
          </a:ln>
        </p:spPr>
        <p:txBody>
          <a:bodyPr rtlCol="0" anchor="ctr"/>
          <a:lstStyle/>
          <a:p>
            <a:pPr algn="ctr"/>
          </a:p>
        </p:txBody>
      </p:sp>
      <p:sp>
        <p:nvSpPr>
          <p:cNvPr id="6" name="Rectangle 5"/>
          <p:cNvSpPr/>
          <p:nvPr/>
        </p:nvSpPr>
        <p:spPr>
          <a:xfrm>
            <a:off x="711200" y="3356670"/>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3356670"/>
            <a:ext cx="6350" cy="820341"/>
          </a:xfrm>
          <a:prstGeom prst="rect">
            <a:avLst/>
          </a:prstGeom>
          <a:solidFill>
            <a:srgbClr val="D9D4C7"/>
          </a:solidFill>
          <a:ln>
            <a:noFill/>
          </a:ln>
        </p:spPr>
        <p:txBody>
          <a:bodyPr rtlCol="0" anchor="ctr"/>
          <a:lstStyle/>
          <a:p>
            <a:pPr algn="ctr"/>
          </a:p>
        </p:txBody>
      </p:sp>
      <p:sp>
        <p:nvSpPr>
          <p:cNvPr id="8" name="Rectangle 7"/>
          <p:cNvSpPr/>
          <p:nvPr/>
        </p:nvSpPr>
        <p:spPr>
          <a:xfrm>
            <a:off x="711200" y="4170660"/>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356670"/>
            <a:ext cx="50800" cy="820341"/>
          </a:xfrm>
          <a:prstGeom prst="roundRect">
            <a:avLst>
              <a:gd name="adj" fmla="val 50000"/>
            </a:avLst>
          </a:prstGeom>
          <a:solidFill>
            <a:srgbClr val="1D4ED8"/>
          </a:solidFill>
          <a:ln>
            <a:noFill/>
          </a:ln>
        </p:spPr>
        <p:txBody>
          <a:bodyPr rtlCol="0" anchor="ctr"/>
          <a:lstStyle/>
          <a:p>
            <a:pPr algn="ctr"/>
          </a:p>
        </p:txBody>
      </p:sp>
      <p:sp>
        <p:nvSpPr>
          <p:cNvPr id="10" name="TextBox 9"/>
          <p:cNvSpPr txBox="1"/>
          <p:nvPr/>
        </p:nvSpPr>
        <p:spPr>
          <a:xfrm>
            <a:off x="927100" y="3502720"/>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① 정확도 · ③ 시간</a:t>
            </a:r>
          </a:p>
        </p:txBody>
      </p:sp>
      <p:sp>
        <p:nvSpPr>
          <p:cNvPr id="11" name="TextBox 10"/>
          <p:cNvSpPr txBox="1"/>
          <p:nvPr/>
        </p:nvSpPr>
        <p:spPr>
          <a:xfrm>
            <a:off x="927100" y="381000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차이는 </a:t>
            </a:r>
            <a:r>
              <a:rPr sz="1150" b="0" i="1">
                <a:solidFill>
                  <a:srgbClr val="16213A"/>
                </a:solidFill>
                <a:latin typeface="Arial"/>
                <a:ea typeface="Malgun Gothic"/>
                <a:cs typeface="Malgun Gothic"/>
              </a:rPr>
              <a:t>dω</a:t>
            </a:r>
            <a:r>
              <a:rPr sz="1150" b="0" i="0">
                <a:solidFill>
                  <a:srgbClr val="16213A"/>
                </a:solidFill>
                <a:latin typeface="Arial"/>
                <a:ea typeface="Malgun Gothic"/>
                <a:cs typeface="Malgun Gothic"/>
              </a:rPr>
              <a:t>에서만 난다. SGPR 64는 1,400점을 다 쓰면서 주기 안에 든다.</a:t>
            </a:r>
          </a:p>
        </p:txBody>
      </p:sp>
      <p:sp>
        <p:nvSpPr>
          <p:cNvPr id="12" name="Rounded Rectangle 11"/>
          <p:cNvSpPr/>
          <p:nvPr/>
        </p:nvSpPr>
        <p:spPr>
          <a:xfrm>
            <a:off x="6172200" y="3356670"/>
            <a:ext cx="5308600" cy="820341"/>
          </a:xfrm>
          <a:prstGeom prst="roundRect">
            <a:avLst>
              <a:gd name="adj" fmla="val 9288"/>
            </a:avLst>
          </a:prstGeom>
          <a:solidFill>
            <a:srgbClr val="FFFDF8"/>
          </a:solidFill>
          <a:ln>
            <a:noFill/>
          </a:ln>
        </p:spPr>
        <p:txBody>
          <a:bodyPr rtlCol="0" anchor="ctr"/>
          <a:lstStyle/>
          <a:p>
            <a:pPr algn="ctr"/>
          </a:p>
        </p:txBody>
      </p:sp>
      <p:sp>
        <p:nvSpPr>
          <p:cNvPr id="13" name="Rectangle 12"/>
          <p:cNvSpPr/>
          <p:nvPr/>
        </p:nvSpPr>
        <p:spPr>
          <a:xfrm>
            <a:off x="6172200" y="3356670"/>
            <a:ext cx="53086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3356670"/>
            <a:ext cx="6350" cy="820341"/>
          </a:xfrm>
          <a:prstGeom prst="rect">
            <a:avLst/>
          </a:prstGeom>
          <a:solidFill>
            <a:srgbClr val="D9D4C7"/>
          </a:solidFill>
          <a:ln>
            <a:noFill/>
          </a:ln>
        </p:spPr>
        <p:txBody>
          <a:bodyPr rtlCol="0" anchor="ctr"/>
          <a:lstStyle/>
          <a:p>
            <a:pPr algn="ctr"/>
          </a:p>
        </p:txBody>
      </p:sp>
      <p:sp>
        <p:nvSpPr>
          <p:cNvPr id="15" name="Rectangle 14"/>
          <p:cNvSpPr/>
          <p:nvPr/>
        </p:nvSpPr>
        <p:spPr>
          <a:xfrm>
            <a:off x="6172200" y="4170660"/>
            <a:ext cx="53086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172200" y="3356670"/>
            <a:ext cx="50800" cy="820341"/>
          </a:xfrm>
          <a:prstGeom prst="roundRect">
            <a:avLst>
              <a:gd name="adj" fmla="val 50000"/>
            </a:avLst>
          </a:prstGeom>
          <a:solidFill>
            <a:srgbClr val="1D4ED8"/>
          </a:solidFill>
          <a:ln>
            <a:noFill/>
          </a:ln>
        </p:spPr>
        <p:txBody>
          <a:bodyPr rtlCol="0" anchor="ctr"/>
          <a:lstStyle/>
          <a:p>
            <a:pPr algn="ctr"/>
          </a:p>
        </p:txBody>
      </p:sp>
      <p:sp>
        <p:nvSpPr>
          <p:cNvPr id="17" name="TextBox 16"/>
          <p:cNvSpPr txBox="1"/>
          <p:nvPr/>
        </p:nvSpPr>
        <p:spPr>
          <a:xfrm>
            <a:off x="6388100" y="3502720"/>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② 보정 · ④ 분포 밖</a:t>
            </a:r>
          </a:p>
        </p:txBody>
      </p:sp>
      <p:sp>
        <p:nvSpPr>
          <p:cNvPr id="18" name="TextBox 17"/>
          <p:cNvSpPr txBox="1"/>
          <p:nvPr/>
        </p:nvSpPr>
        <p:spPr>
          <a:xfrm>
            <a:off x="6388100" y="381000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SGPR은 보수적이고 데이터에서 멀면 prior로 돌아간다. RFF는 1.9까지 튄다.</a:t>
            </a:r>
          </a:p>
        </p:txBody>
      </p:sp>
      <p:sp>
        <p:nvSpPr>
          <p:cNvPr id="19" name="Rounded Rectangle 18"/>
          <p:cNvSpPr/>
          <p:nvPr/>
        </p:nvSpPr>
        <p:spPr>
          <a:xfrm>
            <a:off x="711200" y="4354810"/>
            <a:ext cx="10769600" cy="502543"/>
          </a:xfrm>
          <a:prstGeom prst="roundRect">
            <a:avLst>
              <a:gd name="adj" fmla="val 15162"/>
            </a:avLst>
          </a:prstGeom>
          <a:solidFill>
            <a:srgbClr val="16213A"/>
          </a:solidFill>
          <a:ln>
            <a:noFill/>
          </a:ln>
        </p:spPr>
        <p:txBody>
          <a:bodyPr rtlCol="0" anchor="ctr"/>
          <a:lstStyle/>
          <a:p>
            <a:pPr algn="ctr"/>
          </a:p>
        </p:txBody>
      </p:sp>
      <p:sp>
        <p:nvSpPr>
          <p:cNvPr id="20" name="TextBox 19"/>
          <p:cNvSpPr txBox="1"/>
          <p:nvPr/>
        </p:nvSpPr>
        <p:spPr>
          <a:xfrm>
            <a:off x="889000" y="448181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정확 GP를 SGPR 64로 바꾼 것만으로 폐루프 발산(0/12)이 멈췄다. 아이디어가 아니라 근사의 문제였다.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M.1.2 · M.3.18 · 튜브</a:t>
            </a:r>
          </a:p>
        </p:txBody>
      </p:sp>
      <p:sp>
        <p:nvSpPr>
          <p:cNvPr id="3" name="TextBox 2"/>
          <p:cNvSpPr txBox="1"/>
          <p:nvPr/>
        </p:nvSpPr>
        <p:spPr>
          <a:xfrm>
            <a:off x="711200" y="781050"/>
            <a:ext cx="11118088" cy="634206"/>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튜브는 반평면의 오프셋 </a:t>
            </a:r>
            <a:r>
              <a:rPr sz="2500" b="1" i="1">
                <a:solidFill>
                  <a:srgbClr val="16213A"/>
                </a:solidFill>
                <a:latin typeface="Arial"/>
                <a:ea typeface="Malgun Gothic"/>
                <a:cs typeface="Malgun Gothic"/>
              </a:rPr>
              <a:t>ρₖ</a:t>
            </a:r>
            <a:r>
              <a:rPr sz="2500" b="1" i="0">
                <a:solidFill>
                  <a:srgbClr val="16213A"/>
                </a:solidFill>
                <a:latin typeface="Arial"/>
                <a:ea typeface="Malgun Gothic"/>
                <a:cs typeface="Malgun Gothic"/>
              </a:rPr>
              <a:t> 하나를 조이는 일이다</a:t>
            </a:r>
          </a:p>
        </p:txBody>
      </p:sp>
      <p:sp>
        <p:nvSpPr>
          <p:cNvPr id="4" name="Rounded Rectangle 3"/>
          <p:cNvSpPr/>
          <p:nvPr/>
        </p:nvSpPr>
        <p:spPr>
          <a:xfrm>
            <a:off x="711200" y="1425575"/>
            <a:ext cx="10769600" cy="851098"/>
          </a:xfrm>
          <a:prstGeom prst="roundRect">
            <a:avLst>
              <a:gd name="adj" fmla="val 5968"/>
            </a:avLst>
          </a:prstGeom>
          <a:solidFill>
            <a:srgbClr val="FFFDF8"/>
          </a:solidFill>
          <a:ln>
            <a:noFill/>
          </a:ln>
        </p:spPr>
        <p:txBody>
          <a:bodyPr rtlCol="0" anchor="ctr"/>
          <a:lstStyle/>
          <a:p>
            <a:pPr algn="ctr"/>
          </a:p>
        </p:txBody>
      </p:sp>
      <p:sp>
        <p:nvSpPr>
          <p:cNvPr id="5" name="Rounded Rectangle 4"/>
          <p:cNvSpPr/>
          <p:nvPr/>
        </p:nvSpPr>
        <p:spPr>
          <a:xfrm>
            <a:off x="711200" y="1425575"/>
            <a:ext cx="38100" cy="851098"/>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514475"/>
            <a:ext cx="10433050" cy="679648"/>
          </a:xfrm>
          <a:prstGeom prst="rect">
            <a:avLst/>
          </a:prstGeom>
        </p:spPr>
      </p:pic>
      <p:sp>
        <p:nvSpPr>
          <p:cNvPr id="7" name="Rounded Rectangle 6"/>
          <p:cNvSpPr/>
          <p:nvPr/>
        </p:nvSpPr>
        <p:spPr>
          <a:xfrm>
            <a:off x="711200" y="2454473"/>
            <a:ext cx="52578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2454473"/>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2454473"/>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3499644"/>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454473"/>
            <a:ext cx="50800" cy="105152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2600523"/>
            <a:ext cx="1552476"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2625923"/>
            <a:ext cx="144131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 구현 (TP-0069)</a:t>
            </a:r>
          </a:p>
        </p:txBody>
      </p:sp>
      <p:sp>
        <p:nvSpPr>
          <p:cNvPr id="14" name="TextBox 13"/>
          <p:cNvSpPr txBox="1"/>
          <p:nvPr/>
        </p:nvSpPr>
        <p:spPr>
          <a:xfrm>
            <a:off x="927100" y="2918023"/>
            <a:ext cx="5041964"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tₖ = min(zσₖ, 0.08 m)</a:t>
            </a:r>
            <a:r>
              <a:rPr sz="1150" b="0" i="0">
                <a:solidFill>
                  <a:srgbClr val="16213A"/>
                </a:solidFill>
                <a:latin typeface="Arial"/>
                <a:ea typeface="Malgun Gothic"/>
                <a:cs typeface="Malgun Gothic"/>
              </a:rPr>
              <a:t>, </a:t>
            </a:r>
            <a:r>
              <a:rPr sz="1150" b="0" i="1">
                <a:solidFill>
                  <a:srgbClr val="16213A"/>
                </a:solidFill>
                <a:latin typeface="Arial"/>
                <a:ea typeface="Malgun Gothic"/>
                <a:cs typeface="Malgun Gothic"/>
              </a:rPr>
              <a:t>z = Φ⁻¹(0.95)</a:t>
            </a:r>
            <a:r>
              <a:rPr sz="1150" b="0" i="0">
                <a:solidFill>
                  <a:srgbClr val="16213A"/>
                </a:solidFill>
                <a:latin typeface="Arial"/>
                <a:ea typeface="Malgun Gothic"/>
                <a:cs typeface="Malgun Gothic"/>
              </a:rPr>
              <a:t>. 파라미터라 0차이고 코드 생성을 다시 하지 않는다.</a:t>
            </a:r>
          </a:p>
        </p:txBody>
      </p:sp>
      <p:sp>
        <p:nvSpPr>
          <p:cNvPr id="15" name="Rounded Rectangle 14"/>
          <p:cNvSpPr/>
          <p:nvPr/>
        </p:nvSpPr>
        <p:spPr>
          <a:xfrm>
            <a:off x="6223000" y="2454473"/>
            <a:ext cx="52578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223000" y="2454473"/>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454473"/>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223000" y="3499644"/>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2454473"/>
            <a:ext cx="50800" cy="105152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6438900" y="2600523"/>
            <a:ext cx="660995"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6527800" y="2625923"/>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다리 놓기</a:t>
            </a:r>
          </a:p>
        </p:txBody>
      </p:sp>
      <p:sp>
        <p:nvSpPr>
          <p:cNvPr id="22" name="TextBox 21"/>
          <p:cNvSpPr txBox="1"/>
          <p:nvPr/>
        </p:nvSpPr>
        <p:spPr>
          <a:xfrm>
            <a:off x="6438900" y="2918023"/>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GP는 확률, 튜브는 유계 외란이다. GP의 β-신뢰 타원체를 외란 집합으로 쓴다(Koller 2018). 실무는 </a:t>
            </a:r>
            <a:r>
              <a:rPr sz="1150" b="1" i="0">
                <a:solidFill>
                  <a:srgbClr val="16213A"/>
                </a:solidFill>
                <a:latin typeface="Arial"/>
                <a:ea typeface="Malgun Gothic"/>
                <a:cs typeface="Malgun Gothic"/>
              </a:rPr>
              <a:t>고정 반경 튜브부터</a:t>
            </a:r>
            <a:r>
              <a:rPr sz="1150" b="0" i="0">
                <a:solidFill>
                  <a:srgbClr val="16213A"/>
                </a:solidFill>
                <a:latin typeface="Arial"/>
                <a:ea typeface="Malgun Gothic"/>
                <a:cs typeface="Malgun Gothic"/>
              </a:rPr>
              <a:t>.</a:t>
            </a:r>
          </a:p>
        </p:txBody>
      </p:sp>
      <p:sp>
        <p:nvSpPr>
          <p:cNvPr id="23" name="Rounded Rectangle 22"/>
          <p:cNvSpPr/>
          <p:nvPr/>
        </p:nvSpPr>
        <p:spPr>
          <a:xfrm>
            <a:off x="711200" y="3683794"/>
            <a:ext cx="10769600" cy="438944"/>
          </a:xfrm>
          <a:prstGeom prst="roundRect">
            <a:avLst>
              <a:gd name="adj" fmla="val 11573"/>
            </a:avLst>
          </a:prstGeom>
          <a:solidFill>
            <a:srgbClr val="FFFDF8"/>
          </a:solidFill>
          <a:ln>
            <a:noFill/>
          </a:ln>
        </p:spPr>
        <p:txBody>
          <a:bodyPr rtlCol="0" anchor="ctr"/>
          <a:lstStyle/>
          <a:p>
            <a:pPr algn="ctr"/>
          </a:p>
        </p:txBody>
      </p:sp>
      <p:sp>
        <p:nvSpPr>
          <p:cNvPr id="24" name="Rounded Rectangle 23"/>
          <p:cNvSpPr/>
          <p:nvPr/>
        </p:nvSpPr>
        <p:spPr>
          <a:xfrm>
            <a:off x="711200" y="3683794"/>
            <a:ext cx="38100" cy="438944"/>
          </a:xfrm>
          <a:prstGeom prst="roundRect">
            <a:avLst>
              <a:gd name="adj" fmla="val 50000"/>
            </a:avLst>
          </a:prstGeom>
          <a:solidFill>
            <a:srgbClr val="C2410C"/>
          </a:solidFill>
          <a:ln>
            <a:noFill/>
          </a:ln>
        </p:spPr>
        <p:txBody>
          <a:bodyPr rtlCol="0" anchor="ctr"/>
          <a:lstStyle/>
          <a:p>
            <a:pPr algn="ctr"/>
          </a:p>
        </p:txBody>
      </p:sp>
      <p:pic>
        <p:nvPicPr>
          <p:cNvPr id="25" name="Picture 24" descr="image.png"/>
          <p:cNvPicPr>
            <a:picLocks noChangeAspect="1"/>
          </p:cNvPicPr>
          <p:nvPr/>
        </p:nvPicPr>
        <p:blipFill>
          <a:blip r:embed="rId3"/>
          <a:stretch>
            <a:fillRect/>
          </a:stretch>
        </p:blipFill>
        <p:spPr>
          <a:xfrm>
            <a:off x="901700" y="3772694"/>
            <a:ext cx="10433050" cy="267494"/>
          </a:xfrm>
          <a:prstGeom prst="rect">
            <a:avLst/>
          </a:prstGeom>
        </p:spPr>
      </p:pic>
      <p:sp>
        <p:nvSpPr>
          <p:cNvPr id="26" name="TextBox 25"/>
          <p:cNvSpPr txBox="1"/>
          <p:nvPr/>
        </p:nvSpPr>
        <p:spPr>
          <a:xfrm>
            <a:off x="711200" y="4300538"/>
            <a:ext cx="1111808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먼 노드까지 보장되는 튜브를 상태 하나로 얻는다. 보장은 상수가 오프라인 LMI에서 나올 때만 선다.</a:t>
            </a:r>
          </a:p>
        </p:txBody>
      </p:sp>
      <p:sp>
        <p:nvSpPr>
          <p:cNvPr id="27" name="Rounded Rectangle 26"/>
          <p:cNvSpPr/>
          <p:nvPr/>
        </p:nvSpPr>
        <p:spPr>
          <a:xfrm>
            <a:off x="711200" y="4673898"/>
            <a:ext cx="10769600" cy="502543"/>
          </a:xfrm>
          <a:prstGeom prst="roundRect">
            <a:avLst>
              <a:gd name="adj" fmla="val 15162"/>
            </a:avLst>
          </a:prstGeom>
          <a:solidFill>
            <a:srgbClr val="16213A"/>
          </a:solidFill>
          <a:ln>
            <a:noFill/>
          </a:ln>
        </p:spPr>
        <p:txBody>
          <a:bodyPr rtlCol="0" anchor="ctr"/>
          <a:lstStyle/>
          <a:p>
            <a:pPr algn="ctr"/>
          </a:p>
        </p:txBody>
      </p:sp>
      <p:sp>
        <p:nvSpPr>
          <p:cNvPr id="28" name="TextBox 27"/>
          <p:cNvSpPr txBox="1"/>
          <p:nvPr/>
        </p:nvSpPr>
        <p:spPr>
          <a:xfrm>
            <a:off x="889000" y="48008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1번 노드 coverage 97.4%로 보정은 맞았지만, 실행 여유도 성공도 늘지 않았다(선택 스택 mpc_gpcc).</a:t>
            </a:r>
          </a:p>
        </p:txBody>
      </p:sp>
      <p:sp>
        <p:nvSpPr>
          <p:cNvPr id="29" name="Rectangle 28"/>
          <p:cNvSpPr/>
          <p:nvPr/>
        </p:nvSpPr>
        <p:spPr>
          <a:xfrm>
            <a:off x="711200" y="6424315"/>
            <a:ext cx="10769600" cy="230485"/>
          </a:xfrm>
          <a:prstGeom prst="rect">
            <a:avLst/>
          </a:prstGeom>
          <a:noFill/>
          <a:ln>
            <a:noFill/>
          </a:ln>
        </p:spPr>
        <p:txBody>
          <a:bodyPr rtlCol="0" anchor="ctr"/>
          <a:lstStyle/>
          <a:p>
            <a:pPr algn="ctr"/>
          </a:p>
        </p:txBody>
      </p:sp>
      <p:sp>
        <p:nvSpPr>
          <p:cNvPr id="30" name="Rectangle 2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1" name="TextBox 3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[5] Dubied 외, Automatica 2026 — arXiv:2507.02098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M.3.18 · TP-0069 · 튜브 폭</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SGPR 분산에서 나온 튜브는 4 s 끝에서 중앙값 4 cm, 90% 분위 8 cm(상한)다</a:t>
            </a:r>
          </a:p>
        </p:txBody>
      </p:sp>
      <p:sp>
        <p:nvSpPr>
          <p:cNvPr id="4" name="Rounded Rectangle 3"/>
          <p:cNvSpPr/>
          <p:nvPr/>
        </p:nvSpPr>
        <p:spPr>
          <a:xfrm>
            <a:off x="711200" y="1764506"/>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888169" y="1764506"/>
            <a:ext cx="8415663" cy="2095500"/>
          </a:xfrm>
          <a:prstGeom prst="rect">
            <a:avLst/>
          </a:prstGeom>
        </p:spPr>
      </p:pic>
      <p:sp>
        <p:nvSpPr>
          <p:cNvPr id="6" name="TextBox 5"/>
          <p:cNvSpPr txBox="1"/>
          <p:nvPr/>
        </p:nvSpPr>
        <p:spPr>
          <a:xfrm>
            <a:off x="711200" y="3923506"/>
            <a:ext cx="11118088" cy="282476"/>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plant curb_ramp s0(도달)에서 스텝마다 계산한 노드별 튜브 폭 </a:t>
            </a:r>
            <a:r>
              <a:rPr sz="950" b="0" i="1">
                <a:solidFill>
                  <a:srgbClr val="5A6478"/>
                </a:solidFill>
                <a:latin typeface="Arial"/>
                <a:ea typeface="Malgun Gothic"/>
                <a:cs typeface="Malgun Gothic"/>
              </a:rPr>
              <a:t>tₖ</a:t>
            </a:r>
            <a:r>
              <a:rPr sz="950" b="0" i="0">
                <a:solidFill>
                  <a:srgbClr val="5A6478"/>
                </a:solidFill>
                <a:latin typeface="Arial"/>
                <a:ea typeface="Malgun Gothic"/>
                <a:cs typeface="Malgun Gothic"/>
              </a:rPr>
              <a:t>, (b) 예측 시간별 중앙값과 90% 분위. 빨리 달릴 때 넓다 (TP-0069)</a:t>
            </a:r>
          </a:p>
        </p:txBody>
      </p:sp>
      <p:sp>
        <p:nvSpPr>
          <p:cNvPr id="7" name="Rounded Rectangle 6"/>
          <p:cNvSpPr/>
          <p:nvPr/>
        </p:nvSpPr>
        <p:spPr>
          <a:xfrm>
            <a:off x="711200" y="4286647"/>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286647"/>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286647"/>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31817"/>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286647"/>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432697"/>
            <a:ext cx="847527"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458097"/>
            <a:ext cx="715218"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(a) 노드별 폭</a:t>
            </a:r>
          </a:p>
        </p:txBody>
      </p:sp>
      <p:sp>
        <p:nvSpPr>
          <p:cNvPr id="14" name="TextBox 13"/>
          <p:cNvSpPr txBox="1"/>
          <p:nvPr/>
        </p:nvSpPr>
        <p:spPr>
          <a:xfrm>
            <a:off x="927100" y="4750197"/>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세로축이 예측 노드 k, 가로축이 시각이다. 먼 노드일수록, 빨리 달릴 때일수록 진하다. 분산이 horizon을 따라 자라는 모습이다.</a:t>
            </a:r>
          </a:p>
        </p:txBody>
      </p:sp>
      <p:sp>
        <p:nvSpPr>
          <p:cNvPr id="15" name="Rounded Rectangle 14"/>
          <p:cNvSpPr/>
          <p:nvPr/>
        </p:nvSpPr>
        <p:spPr>
          <a:xfrm>
            <a:off x="6172200" y="4286647"/>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286647"/>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286647"/>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331817"/>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286647"/>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432697"/>
            <a:ext cx="965994"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458097"/>
            <a:ext cx="83724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(b) 예측 시간별</a:t>
            </a:r>
          </a:p>
        </p:txBody>
      </p:sp>
      <p:sp>
        <p:nvSpPr>
          <p:cNvPr id="22" name="TextBox 21"/>
          <p:cNvSpPr txBox="1"/>
          <p:nvPr/>
        </p:nvSpPr>
        <p:spPr>
          <a:xfrm>
            <a:off x="6388100" y="4750197"/>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상한 8 cm는 90% 분위가 4 s 끝에서 닿는 값이다. 1번 노드 coverage 97.4%로 보정은 맞았지만, 실행 여유도 성공도 늘지 않았다.</a:t>
            </a:r>
          </a:p>
        </p:txBody>
      </p:sp>
      <p:sp>
        <p:nvSpPr>
          <p:cNvPr id="23" name="Rounded Rectangle 22"/>
          <p:cNvSpPr/>
          <p:nvPr/>
        </p:nvSpPr>
        <p:spPr>
          <a:xfrm>
            <a:off x="711200" y="5515967"/>
            <a:ext cx="10769600" cy="751086"/>
          </a:xfrm>
          <a:prstGeom prst="roundRect">
            <a:avLst>
              <a:gd name="adj" fmla="val 10145"/>
            </a:avLst>
          </a:prstGeom>
          <a:solidFill>
            <a:srgbClr val="16213A"/>
          </a:solidFill>
          <a:ln>
            <a:noFill/>
          </a:ln>
        </p:spPr>
        <p:txBody>
          <a:bodyPr rtlCol="0" anchor="ctr"/>
          <a:lstStyle/>
          <a:p>
            <a:pPr algn="ctr"/>
          </a:p>
        </p:txBody>
      </p:sp>
      <p:sp>
        <p:nvSpPr>
          <p:cNvPr id="24" name="TextBox 23"/>
          <p:cNvSpPr txBox="1"/>
          <p:nvPr/>
        </p:nvSpPr>
        <p:spPr>
          <a:xfrm>
            <a:off x="889000" y="5642967"/>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먼 노드의 폭은 보정되지 않았고(90 % 분위가 상한 8 cm에 닿는다), 튜브는 계획을 조금 더 조심스럽게 만들 뿐 실제 경로를 벽에서 떼지 못했다.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M.1.3 · TP-0124–0126</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예측 모델은 기구학 → 동역학 → 학습의 세 층으로 쌓는다</a:t>
            </a:r>
          </a:p>
        </p:txBody>
      </p:sp>
      <p:graphicFrame>
        <p:nvGraphicFramePr>
          <p:cNvPr id="4" name="Table 3"/>
          <p:cNvGraphicFramePr>
            <a:graphicFrameLocks noGrp="1"/>
          </p:cNvGraphicFramePr>
          <p:nvPr/>
        </p:nvGraphicFramePr>
        <p:xfrm>
          <a:off x="711200" y="1361678"/>
          <a:ext cx="10769599" cy="1027549"/>
        </p:xfrm>
        <a:graphic>
          <a:graphicData uri="http://schemas.openxmlformats.org/drawingml/2006/table">
            <a:tbl>
              <a:tblPr firstRow="0" bandRow="0">
                <a:tableStyleId>{5C22544A-7EE6-4342-B048-85BDC9FD1C3A}</a:tableStyleId>
              </a:tblPr>
              <a:tblGrid>
                <a:gridCol w="755749"/>
                <a:gridCol w="4119066"/>
                <a:gridCol w="5894784"/>
              </a:tblGrid>
              <a:tr h="263634">
                <a:tc>
                  <a:txBody>
                    <a:bodyPr wrap="square"/>
                    <a:lstStyle/>
                    <a:p>
                      <a:r>
                        <a:rPr sz="10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travplan에서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지금</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기구학</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twist 적분 + box·가속 한계 (</a:t>
                      </a:r>
                      <a:r>
                        <a:rPr sz="850" b="0" i="0">
                          <a:solidFill>
                            <a:srgbClr val="7C2D12"/>
                          </a:solidFill>
                          <a:latin typeface="Consolas"/>
                          <a:ea typeface="Malgun Gothic"/>
                          <a:cs typeface="Malgun Gothic"/>
                        </a:rPr>
                        <a:t>SwerveModel</a:t>
                      </a:r>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MPPI·MPC 모두 이것. 기준선</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동역학</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모듈 1차 지연 + 슬립 (</a:t>
                      </a:r>
                      <a:r>
                        <a:rPr sz="850" b="0" i="0">
                          <a:solidFill>
                            <a:srgbClr val="7C2D12"/>
                          </a:solidFill>
                          <a:latin typeface="Consolas"/>
                          <a:ea typeface="Malgun Gothic"/>
                          <a:cs typeface="Malgun Gothic"/>
                        </a:rPr>
                        <a:t>SwervePlant</a:t>
                      </a:r>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MPPI 지연 rollout </a:t>
                      </a:r>
                      <a:r>
                        <a:rPr sz="850" b="0" i="0">
                          <a:solidFill>
                            <a:srgbClr val="7C2D12"/>
                          </a:solidFill>
                          <a:latin typeface="Consolas"/>
                          <a:ea typeface="Malgun Gothic"/>
                          <a:cs typeface="Malgun Gothic"/>
                        </a:rPr>
                        <a:t>mppi_plant_lag</a:t>
                      </a:r>
                      <a:r>
                        <a:rPr sz="1000" b="0" i="0">
                          <a:solidFill>
                            <a:srgbClr val="16213A"/>
                          </a:solidFill>
                          <a:latin typeface="Arial"/>
                          <a:ea typeface="Malgun Gothic"/>
                          <a:cs typeface="Malgun Gothic"/>
                        </a:rPr>
                        <a:t>(TP-0150). MPC의 </a:t>
                      </a:r>
                      <a:r>
                        <a:rPr sz="850" b="0" i="0">
                          <a:solidFill>
                            <a:srgbClr val="7C2D12"/>
                          </a:solidFill>
                          <a:latin typeface="Consolas"/>
                          <a:ea typeface="Malgun Gothic"/>
                          <a:cs typeface="Malgun Gothic"/>
                        </a:rPr>
                        <a:t>mpc_lag</a:t>
                      </a:r>
                      <a:r>
                        <a:rPr sz="1000" b="0" i="0">
                          <a:solidFill>
                            <a:srgbClr val="16213A"/>
                          </a:solidFill>
                          <a:latin typeface="Arial"/>
                          <a:ea typeface="Malgun Gothic"/>
                          <a:cs typeface="Malgun Gothic"/>
                        </a:rPr>
                        <a:t>는 선택</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학습</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GP 잔차, NN 잔차, forward dynamics 모델(FDM)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GP 잔차만(TP-0120). 같은 프로토콜로 묶는다</a:t>
                      </a:r>
                    </a:p>
                  </a:txBody>
                  <a:tcPr marL="76200" marR="76200" marT="25400" marB="25400">
                    <a:solidFill>
                      <a:srgbClr val="F1EDE4"/>
                    </a:solidFill>
                  </a:tcPr>
                </a:tc>
              </a:tr>
            </a:tbl>
          </a:graphicData>
        </a:graphic>
      </p:graphicFrame>
      <p:sp>
        <p:nvSpPr>
          <p:cNvPr id="5" name="TextBox 4"/>
          <p:cNvSpPr txBox="1"/>
          <p:nvPr/>
        </p:nvSpPr>
        <p:spPr>
          <a:xfrm>
            <a:off x="711200" y="274835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학습 층은 로봇 메쉬를 고도 지도 위에서 forward 시뮬레이션한 데이터로 자기지도 학습한다(TP-0125). 한 점의 cost로는 자세·하부 간섭·단차를 구별하지 못한다.</a:t>
            </a:r>
          </a:p>
        </p:txBody>
      </p:sp>
      <p:sp>
        <p:nvSpPr>
          <p:cNvPr id="6" name="TextBox 5"/>
          <p:cNvSpPr txBox="1"/>
          <p:nvPr/>
        </p:nvSpPr>
        <p:spPr>
          <a:xfrm>
            <a:off x="6223000" y="274835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선례: FDM + 샘플링 MPC(Kim 외, RSS 2022)는 6초 궤적 1,500개를 3 ms에 rollout한다 [10]. actuator net(Hwangbo 외, 2019) [11].</a:t>
            </a:r>
          </a:p>
        </p:txBody>
      </p:sp>
      <p:sp>
        <p:nvSpPr>
          <p:cNvPr id="7" name="Rounded Rectangle 6"/>
          <p:cNvSpPr/>
          <p:nvPr/>
        </p:nvSpPr>
        <p:spPr>
          <a:xfrm>
            <a:off x="711200" y="3317280"/>
            <a:ext cx="10769600" cy="1587500"/>
          </a:xfrm>
          <a:prstGeom prst="roundRect">
            <a:avLst>
              <a:gd name="adj" fmla="val 32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2"/>
          <a:stretch>
            <a:fillRect/>
          </a:stretch>
        </p:blipFill>
        <p:spPr>
          <a:xfrm>
            <a:off x="3676030" y="3317280"/>
            <a:ext cx="4839939" cy="1587500"/>
          </a:xfrm>
          <a:prstGeom prst="rect">
            <a:avLst/>
          </a:prstGeom>
        </p:spPr>
      </p:pic>
      <p:sp>
        <p:nvSpPr>
          <p:cNvPr id="9" name="TextBox 8"/>
          <p:cNvSpPr txBox="1"/>
          <p:nvPr/>
        </p:nvSpPr>
        <p:spPr>
          <a:xfrm>
            <a:off x="711200" y="4968280"/>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FDM 기반 안전 내비게이션: 샘플러 → FDM 예측 → 보상 가중 평균 — Kim 외, RSS 2022 [10]</a:t>
            </a:r>
          </a:p>
        </p:txBody>
      </p:sp>
      <p:sp>
        <p:nvSpPr>
          <p:cNvPr id="10" name="Rectangle 9"/>
          <p:cNvSpPr/>
          <p:nvPr/>
        </p:nvSpPr>
        <p:spPr>
          <a:xfrm>
            <a:off x="711200" y="6424315"/>
            <a:ext cx="10769600" cy="230485"/>
          </a:xfrm>
          <a:prstGeom prst="rect">
            <a:avLst/>
          </a:prstGeom>
          <a:noFill/>
          <a:ln>
            <a:noFill/>
          </a:ln>
        </p:spPr>
        <p:txBody>
          <a:bodyPr rtlCol="0" anchor="ctr"/>
          <a:lstStyle/>
          <a:p>
            <a:pPr algn="ctr"/>
          </a:p>
        </p:txBody>
      </p:sp>
      <p:sp>
        <p:nvSpPr>
          <p:cNvPr id="11" name="Rectangle 1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2" name="TextBox 1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[10] Kim, Kim, Hwangbo, RSS 2022 — arXiv:2204.08647 · [11] Hwangbo 외, Science Robotics 2019 — arXiv:1901.08652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M.1.3 · 학습 층의 선례</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RaiLab의 FDM은 학습 층이 forward 모델 전체를 맡고, 샘플 기반 MPC가 그 위에서 고른다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학습한 forward dynamics 모델(FDM)과 informed trajectory sampler로 복잡한 환경을 충돌 없이 지나는 사족 로봇 (RaiLab Kaist)</a:t>
            </a:r>
          </a:p>
        </p:txBody>
      </p:sp>
      <p:sp>
        <p:nvSpPr>
          <p:cNvPr id="7" name="Rounded Rectangle 6"/>
          <p:cNvSpPr/>
          <p:nvPr/>
        </p:nvSpPr>
        <p:spPr>
          <a:xfrm>
            <a:off x="7975600" y="1764506"/>
            <a:ext cx="3505200" cy="1800721"/>
          </a:xfrm>
          <a:prstGeom prst="roundRect">
            <a:avLst>
              <a:gd name="adj" fmla="val 4231"/>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800721"/>
          </a:xfrm>
          <a:prstGeom prst="rect">
            <a:avLst/>
          </a:prstGeom>
          <a:solidFill>
            <a:srgbClr val="D9D4C7"/>
          </a:solidFill>
          <a:ln>
            <a:noFill/>
          </a:ln>
        </p:spPr>
        <p:txBody>
          <a:bodyPr rtlCol="0" anchor="ctr"/>
          <a:lstStyle/>
          <a:p>
            <a:pPr algn="ctr"/>
          </a:p>
        </p:txBody>
      </p:sp>
      <p:sp>
        <p:nvSpPr>
          <p:cNvPr id="10" name="Rectangle 9"/>
          <p:cNvSpPr/>
          <p:nvPr/>
        </p:nvSpPr>
        <p:spPr>
          <a:xfrm>
            <a:off x="7975600" y="355887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800721"/>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8191500" y="1910556"/>
            <a:ext cx="91747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8280400" y="1935956"/>
            <a:ext cx="78726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선례가 주는 것</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전체 로봇 시뮬 데이터로 자기지도 학습</a:t>
            </a:r>
          </a:p>
        </p:txBody>
      </p:sp>
      <p:sp>
        <p:nvSpPr>
          <p:cNvPr id="15" name="TextBox 14"/>
          <p:cNvSpPr txBox="1"/>
          <p:nvPr/>
        </p:nvSpPr>
        <p:spPr>
          <a:xfrm>
            <a:off x="8191500" y="2535337"/>
            <a:ext cx="323678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전체 로봇 모델을 RaiSim 무작위 환경에서 시뮬레이션해 데이터를 모으고, FDM은 미래 위치와 충돌 확률을 낸다. travplan의 메쉬 시뮬레이터(TP-0125)가 그 자리다.</a:t>
            </a:r>
          </a:p>
        </p:txBody>
      </p:sp>
      <p:sp>
        <p:nvSpPr>
          <p:cNvPr id="16" name="Rounded Rectangle 15"/>
          <p:cNvSpPr/>
          <p:nvPr/>
        </p:nvSpPr>
        <p:spPr>
          <a:xfrm>
            <a:off x="7975600" y="3679527"/>
            <a:ext cx="3505200" cy="1493441"/>
          </a:xfrm>
          <a:prstGeom prst="roundRect">
            <a:avLst>
              <a:gd name="adj" fmla="val 5102"/>
            </a:avLst>
          </a:prstGeom>
          <a:solidFill>
            <a:srgbClr val="FFFDF8"/>
          </a:solidFill>
          <a:ln>
            <a:noFill/>
          </a:ln>
        </p:spPr>
        <p:txBody>
          <a:bodyPr rtlCol="0" anchor="ctr"/>
          <a:lstStyle/>
          <a:p>
            <a:pPr algn="ctr"/>
          </a:p>
        </p:txBody>
      </p:sp>
      <p:sp>
        <p:nvSpPr>
          <p:cNvPr id="17" name="Rectangle 16"/>
          <p:cNvSpPr/>
          <p:nvPr/>
        </p:nvSpPr>
        <p:spPr>
          <a:xfrm>
            <a:off x="7975600" y="367952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679527"/>
            <a:ext cx="6350" cy="1493441"/>
          </a:xfrm>
          <a:prstGeom prst="rect">
            <a:avLst/>
          </a:prstGeom>
          <a:solidFill>
            <a:srgbClr val="D9D4C7"/>
          </a:solidFill>
          <a:ln>
            <a:noFill/>
          </a:ln>
        </p:spPr>
        <p:txBody>
          <a:bodyPr rtlCol="0" anchor="ctr"/>
          <a:lstStyle/>
          <a:p>
            <a:pPr algn="ctr"/>
          </a:p>
        </p:txBody>
      </p:sp>
      <p:sp>
        <p:nvSpPr>
          <p:cNvPr id="19" name="Rectangle 18"/>
          <p:cNvSpPr/>
          <p:nvPr/>
        </p:nvSpPr>
        <p:spPr>
          <a:xfrm>
            <a:off x="7975600" y="516661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679527"/>
            <a:ext cx="50800" cy="1493441"/>
          </a:xfrm>
          <a:prstGeom prst="roundRect">
            <a:avLst>
              <a:gd name="adj" fmla="val 50000"/>
            </a:avLst>
          </a:prstGeom>
          <a:solidFill>
            <a:srgbClr val="9AA6BC"/>
          </a:solidFill>
          <a:ln>
            <a:noFill/>
          </a:ln>
        </p:spPr>
        <p:txBody>
          <a:bodyPr rtlCol="0" anchor="ctr"/>
          <a:lstStyle/>
          <a:p>
            <a:pPr algn="ctr"/>
          </a:p>
        </p:txBody>
      </p:sp>
      <p:sp>
        <p:nvSpPr>
          <p:cNvPr id="21" name="Rounded Rectangle 20"/>
          <p:cNvSpPr/>
          <p:nvPr/>
        </p:nvSpPr>
        <p:spPr>
          <a:xfrm>
            <a:off x="8191500" y="3825577"/>
            <a:ext cx="926009" cy="241300"/>
          </a:xfrm>
          <a:prstGeom prst="roundRect">
            <a:avLst>
              <a:gd name="adj" fmla="val 50000"/>
            </a:avLst>
          </a:prstGeom>
          <a:solidFill>
            <a:srgbClr val="ECE8DF"/>
          </a:solidFill>
          <a:ln>
            <a:noFill/>
          </a:ln>
        </p:spPr>
        <p:txBody>
          <a:bodyPr rtlCol="0" anchor="ctr"/>
          <a:lstStyle/>
          <a:p>
            <a:pPr algn="ctr"/>
          </a:p>
        </p:txBody>
      </p:sp>
      <p:sp>
        <p:nvSpPr>
          <p:cNvPr id="22" name="TextBox 21"/>
          <p:cNvSpPr txBox="1"/>
          <p:nvPr/>
        </p:nvSpPr>
        <p:spPr>
          <a:xfrm>
            <a:off x="8280400" y="3850977"/>
            <a:ext cx="796055"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travplan 지금</a:t>
            </a:r>
          </a:p>
        </p:txBody>
      </p:sp>
      <p:sp>
        <p:nvSpPr>
          <p:cNvPr id="23" name="TextBox 22"/>
          <p:cNvSpPr txBox="1"/>
          <p:nvPr/>
        </p:nvSpPr>
        <p:spPr>
          <a:xfrm>
            <a:off x="8191500" y="4143077"/>
            <a:ext cx="323678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층은 GP 잔차뿐(TP-0120). MPPI·MPC는 기구학 층 하나로 예측한다. FDM의 충돌 확률은 MPPI 확률 제약의 손으로 만든 여유를 대신할 후보다.</a:t>
            </a:r>
          </a:p>
        </p:txBody>
      </p:sp>
      <p:sp>
        <p:nvSpPr>
          <p:cNvPr id="24" name="Rectangle 23"/>
          <p:cNvSpPr/>
          <p:nvPr/>
        </p:nvSpPr>
        <p:spPr>
          <a:xfrm>
            <a:off x="711200" y="6424315"/>
            <a:ext cx="10769600" cy="230485"/>
          </a:xfrm>
          <a:prstGeom prst="rect">
            <a:avLst/>
          </a:prstGeom>
          <a:noFill/>
          <a:ln>
            <a:noFill/>
          </a:ln>
        </p:spPr>
        <p:txBody>
          <a:bodyPr rtlCol="0" anchor="ctr"/>
          <a:lstStyle/>
          <a:p>
            <a:pPr algn="ctr"/>
          </a:p>
        </p:txBody>
      </p:sp>
      <p:sp>
        <p:nvSpPr>
          <p:cNvPr id="25" name="Rectangle 2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6" name="TextBox 2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[10] Kim, Kim, Hwangbo, RSS 2022 — arXiv:2204.08647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M.2 · 시뮬 리그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plant가 MPC 모델과 같으면 아무것도 검증되지 않는다</a:t>
            </a:r>
          </a:p>
        </p:txBody>
      </p:sp>
      <p:graphicFrame>
        <p:nvGraphicFramePr>
          <p:cNvPr id="4" name="Table 3"/>
          <p:cNvGraphicFramePr>
            <a:graphicFrameLocks noGrp="1"/>
          </p:cNvGraphicFramePr>
          <p:nvPr/>
        </p:nvGraphicFramePr>
        <p:xfrm>
          <a:off x="711200" y="1361678"/>
          <a:ext cx="5257800" cy="1027549"/>
        </p:xfrm>
        <a:graphic>
          <a:graphicData uri="http://schemas.openxmlformats.org/drawingml/2006/table">
            <a:tbl>
              <a:tblPr firstRow="0" bandRow="0">
                <a:tableStyleId>{5C22544A-7EE6-4342-B048-85BDC9FD1C3A}</a:tableStyleId>
              </a:tblPr>
              <a:tblGrid>
                <a:gridCol w="410964"/>
                <a:gridCol w="2302470"/>
                <a:gridCol w="2544366"/>
              </a:tblGrid>
              <a:tr h="263634">
                <a:tc>
                  <a:txBody>
                    <a:bodyPr wrap="square"/>
                    <a:lstStyle/>
                    <a:p>
                      <a:r>
                        <a:rPr sz="10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무엇</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언제</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1000" b="1" i="0">
                          <a:solidFill>
                            <a:srgbClr val="16213A"/>
                          </a:solidFill>
                          <a:latin typeface="Arial"/>
                          <a:ea typeface="Malgun Gothic"/>
                          <a:cs typeface="Malgun Gothic"/>
                        </a:rPr>
                        <a:t>MuJoCo</a:t>
                      </a:r>
                      <a:r>
                        <a:rPr sz="1000" b="0" i="0">
                          <a:solidFill>
                            <a:srgbClr val="16213A"/>
                          </a:solidFill>
                          <a:latin typeface="Arial"/>
                          <a:ea typeface="Malgun Gothic"/>
                          <a:cs typeface="Malgun Gothic"/>
                        </a:rPr>
                        <a:t> (CPU, 1대)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MJCF 제작, 폐루프 검증</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MuJoCo Warp (GPU 배치)</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잔차 데이터 수집</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Isaac Sim 6.0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P1 폐루프, LiDAR → TravMap</a:t>
                      </a:r>
                    </a:p>
                  </a:txBody>
                  <a:tcPr marL="76200" marR="76200" marT="25400" marB="25400">
                    <a:solidFill>
                      <a:srgbClr val="F1EDE4"/>
                    </a:solidFill>
                  </a:tcPr>
                </a:tc>
              </a:tr>
            </a:tbl>
          </a:graphicData>
        </a:graphic>
      </p:graphicFrame>
      <p:sp>
        <p:nvSpPr>
          <p:cNvPr id="5" name="TextBox 4"/>
          <p:cNvSpPr txBox="1"/>
          <p:nvPr/>
        </p:nvSpPr>
        <p:spPr>
          <a:xfrm>
            <a:off x="711200" y="26848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MuJoCo 비동축 모듈 smoke: 5,000스텝 11 ms, 실시간의 938배</a:t>
            </a:r>
          </a:p>
        </p:txBody>
      </p:sp>
      <p:sp>
        <p:nvSpPr>
          <p:cNvPr id="6" name="Rounded Rectangle 5"/>
          <p:cNvSpPr/>
          <p:nvPr/>
        </p:nvSpPr>
        <p:spPr>
          <a:xfrm>
            <a:off x="6223000" y="1361678"/>
            <a:ext cx="5257800" cy="1673721"/>
          </a:xfrm>
          <a:prstGeom prst="roundRect">
            <a:avLst>
              <a:gd name="adj" fmla="val 4552"/>
            </a:avLst>
          </a:prstGeom>
          <a:solidFill>
            <a:srgbClr val="FFFDF8"/>
          </a:solidFill>
          <a:ln>
            <a:noFill/>
          </a:ln>
        </p:spPr>
        <p:txBody>
          <a:bodyPr rtlCol="0" anchor="ctr"/>
          <a:lstStyle/>
          <a:p>
            <a:pPr algn="ctr"/>
          </a:p>
        </p:txBody>
      </p:sp>
      <p:sp>
        <p:nvSpPr>
          <p:cNvPr id="7" name="Rectangle 6"/>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8" name="Rectangle 7"/>
          <p:cNvSpPr/>
          <p:nvPr/>
        </p:nvSpPr>
        <p:spPr>
          <a:xfrm>
            <a:off x="11474450" y="1361678"/>
            <a:ext cx="6350" cy="1673721"/>
          </a:xfrm>
          <a:prstGeom prst="rect">
            <a:avLst/>
          </a:prstGeom>
          <a:solidFill>
            <a:srgbClr val="D9D4C7"/>
          </a:solidFill>
          <a:ln>
            <a:noFill/>
          </a:ln>
        </p:spPr>
        <p:txBody>
          <a:bodyPr rtlCol="0" anchor="ctr"/>
          <a:lstStyle/>
          <a:p>
            <a:pPr algn="ctr"/>
          </a:p>
        </p:txBody>
      </p:sp>
      <p:sp>
        <p:nvSpPr>
          <p:cNvPr id="9" name="Rectangle 8"/>
          <p:cNvSpPr/>
          <p:nvPr/>
        </p:nvSpPr>
        <p:spPr>
          <a:xfrm>
            <a:off x="6223000" y="3029049"/>
            <a:ext cx="5257800" cy="6350"/>
          </a:xfrm>
          <a:prstGeom prst="rect">
            <a:avLst/>
          </a:prstGeom>
          <a:solidFill>
            <a:srgbClr val="D9D4C7"/>
          </a:solidFill>
          <a:ln>
            <a:noFill/>
          </a:ln>
        </p:spPr>
        <p:txBody>
          <a:bodyPr rtlCol="0" anchor="ctr"/>
          <a:lstStyle/>
          <a:p>
            <a:pPr algn="ctr"/>
          </a:p>
        </p:txBody>
      </p:sp>
      <p:sp>
        <p:nvSpPr>
          <p:cNvPr id="10" name="Rounded Rectangle 9"/>
          <p:cNvSpPr/>
          <p:nvPr/>
        </p:nvSpPr>
        <p:spPr>
          <a:xfrm>
            <a:off x="6223000" y="1361678"/>
            <a:ext cx="50800" cy="1673721"/>
          </a:xfrm>
          <a:prstGeom prst="roundRect">
            <a:avLst>
              <a:gd name="adj" fmla="val 50000"/>
            </a:avLst>
          </a:prstGeom>
          <a:solidFill>
            <a:srgbClr val="C2410C"/>
          </a:solidFill>
          <a:ln>
            <a:noFill/>
          </a:ln>
        </p:spPr>
        <p:txBody>
          <a:bodyPr rtlCol="0" anchor="ctr"/>
          <a:lstStyle/>
          <a:p>
            <a:pPr algn="ctr"/>
          </a:p>
        </p:txBody>
      </p:sp>
      <p:sp>
        <p:nvSpPr>
          <p:cNvPr id="11" name="TextBox 10"/>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URDF에 없는 것은 손으로 쓴다</a:t>
            </a:r>
          </a:p>
        </p:txBody>
      </p:sp>
      <p:sp>
        <p:nvSpPr>
          <p:cNvPr id="12" name="TextBox 11"/>
          <p:cNvSpPr txBox="1"/>
          <p:nvPr/>
        </p:nvSpPr>
        <p:spPr>
          <a:xfrm>
            <a:off x="6477000" y="181500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접촉 마찰·solref·solimp</a:t>
            </a:r>
          </a:p>
        </p:txBody>
      </p:sp>
      <p:sp>
        <p:nvSpPr>
          <p:cNvPr id="13" name="TextBox 12"/>
          <p:cNvSpPr txBox="1"/>
          <p:nvPr/>
        </p:nvSpPr>
        <p:spPr>
          <a:xfrm>
            <a:off x="6477000" y="209946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Dynamixel 액추에이터 모델</a:t>
            </a:r>
          </a:p>
        </p:txBody>
      </p:sp>
      <p:sp>
        <p:nvSpPr>
          <p:cNvPr id="14" name="TextBox 13"/>
          <p:cNvSpPr txBox="1"/>
          <p:nvPr/>
        </p:nvSpPr>
        <p:spPr>
          <a:xfrm>
            <a:off x="6477000" y="238392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관성은 placeholder 값(TP-0035)</a:t>
            </a:r>
          </a:p>
        </p:txBody>
      </p:sp>
      <p:sp>
        <p:nvSpPr>
          <p:cNvPr id="15" name="TextBox 14"/>
          <p:cNvSpPr txBox="1"/>
          <p:nvPr/>
        </p:nvSpPr>
        <p:spPr>
          <a:xfrm>
            <a:off x="6477000" y="266838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조향 범위: URDF ±90° / 제어기 ±60° / 모터 ±56.2°</a:t>
            </a:r>
          </a:p>
        </p:txBody>
      </p:sp>
      <p:sp>
        <p:nvSpPr>
          <p:cNvPr id="16" name="Rounded Rectangle 15"/>
          <p:cNvSpPr/>
          <p:nvPr/>
        </p:nvSpPr>
        <p:spPr>
          <a:xfrm>
            <a:off x="711200" y="3213199"/>
            <a:ext cx="3488234" cy="1041301"/>
          </a:xfrm>
          <a:prstGeom prst="roundRect">
            <a:avLst>
              <a:gd name="adj" fmla="val 7317"/>
            </a:avLst>
          </a:prstGeom>
          <a:solidFill>
            <a:srgbClr val="FFFDF8"/>
          </a:solidFill>
          <a:ln>
            <a:noFill/>
          </a:ln>
        </p:spPr>
        <p:txBody>
          <a:bodyPr rtlCol="0" anchor="ctr"/>
          <a:lstStyle/>
          <a:p>
            <a:pPr algn="ctr"/>
          </a:p>
        </p:txBody>
      </p:sp>
      <p:sp>
        <p:nvSpPr>
          <p:cNvPr id="17" name="Rectangle 16"/>
          <p:cNvSpPr/>
          <p:nvPr/>
        </p:nvSpPr>
        <p:spPr>
          <a:xfrm>
            <a:off x="711200" y="3213199"/>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4193084" y="3213199"/>
            <a:ext cx="6350" cy="1041301"/>
          </a:xfrm>
          <a:prstGeom prst="rect">
            <a:avLst/>
          </a:prstGeom>
          <a:solidFill>
            <a:srgbClr val="D9D4C7"/>
          </a:solidFill>
          <a:ln>
            <a:noFill/>
          </a:ln>
        </p:spPr>
        <p:txBody>
          <a:bodyPr rtlCol="0" anchor="ctr"/>
          <a:lstStyle/>
          <a:p>
            <a:pPr algn="ctr"/>
          </a:p>
        </p:txBody>
      </p:sp>
      <p:sp>
        <p:nvSpPr>
          <p:cNvPr id="19" name="Rectangle 18"/>
          <p:cNvSpPr/>
          <p:nvPr/>
        </p:nvSpPr>
        <p:spPr>
          <a:xfrm>
            <a:off x="711200" y="4248150"/>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711200" y="3213199"/>
            <a:ext cx="50800" cy="1041301"/>
          </a:xfrm>
          <a:prstGeom prst="roundRect">
            <a:avLst>
              <a:gd name="adj" fmla="val 50000"/>
            </a:avLst>
          </a:prstGeom>
          <a:solidFill>
            <a:srgbClr val="15803D"/>
          </a:solidFill>
          <a:ln>
            <a:noFill/>
          </a:ln>
        </p:spPr>
        <p:txBody>
          <a:bodyPr rtlCol="0" anchor="ctr"/>
          <a:lstStyle/>
          <a:p>
            <a:pPr algn="ctr"/>
          </a:p>
        </p:txBody>
      </p:sp>
      <p:sp>
        <p:nvSpPr>
          <p:cNvPr id="21" name="TextBox 20"/>
          <p:cNvSpPr txBox="1"/>
          <p:nvPr/>
        </p:nvSpPr>
        <p:spPr>
          <a:xfrm>
            <a:off x="927100" y="3359249"/>
            <a:ext cx="3219310" cy="339651"/>
          </a:xfrm>
          <a:prstGeom prst="rect">
            <a:avLst/>
          </a:prstGeom>
          <a:noFill/>
        </p:spPr>
        <p:txBody>
          <a:bodyPr wrap="square" lIns="0" rIns="0" tIns="0" bIns="0" anchor="t">
            <a:normAutofit/>
          </a:bodyPr>
          <a:lstStyle/>
          <a:p>
            <a:pPr>
              <a:lnSpc>
                <a:spcPct val="119600"/>
              </a:lnSpc>
            </a:pPr>
            <a:r>
              <a:rPr sz="1150" b="1" i="0">
                <a:solidFill>
                  <a:srgbClr val="7C2D12"/>
                </a:solidFill>
                <a:latin typeface="Consolas"/>
                <a:ea typeface="Malgun Gothic"/>
                <a:cs typeface="Malgun Gothic"/>
              </a:rPr>
              <a:t>robot/plant.py</a:t>
            </a:r>
          </a:p>
        </p:txBody>
      </p:sp>
      <p:sp>
        <p:nvSpPr>
          <p:cNvPr id="22" name="TextBox 21"/>
          <p:cNvSpPr txBox="1"/>
          <p:nvPr/>
        </p:nvSpPr>
        <p:spPr>
          <a:xfrm>
            <a:off x="927100" y="3666530"/>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모듈 모델 + 액추에이터 지연 + 지형 슬립. </a:t>
            </a:r>
            <a:r>
              <a:rPr sz="1000" b="0" i="0">
                <a:solidFill>
                  <a:srgbClr val="7C2D12"/>
                </a:solidFill>
                <a:latin typeface="Consolas"/>
                <a:ea typeface="Malgun Gothic"/>
                <a:cs typeface="Malgun Gothic"/>
              </a:rPr>
              <a:t>SimConfig(plant=...)</a:t>
            </a:r>
            <a:r>
              <a:rPr sz="1150" b="0" i="0">
                <a:solidFill>
                  <a:srgbClr val="16213A"/>
                </a:solidFill>
                <a:latin typeface="Arial"/>
                <a:ea typeface="Malgun Gothic"/>
                <a:cs typeface="Malgun Gothic"/>
              </a:rPr>
              <a:t>, 기본 끔</a:t>
            </a:r>
          </a:p>
        </p:txBody>
      </p:sp>
      <p:sp>
        <p:nvSpPr>
          <p:cNvPr id="23" name="Rounded Rectangle 22"/>
          <p:cNvSpPr/>
          <p:nvPr/>
        </p:nvSpPr>
        <p:spPr>
          <a:xfrm>
            <a:off x="4351834" y="3213199"/>
            <a:ext cx="3488234" cy="1041301"/>
          </a:xfrm>
          <a:prstGeom prst="roundRect">
            <a:avLst>
              <a:gd name="adj" fmla="val 7317"/>
            </a:avLst>
          </a:prstGeom>
          <a:solidFill>
            <a:srgbClr val="FFFDF8"/>
          </a:solidFill>
          <a:ln>
            <a:noFill/>
          </a:ln>
        </p:spPr>
        <p:txBody>
          <a:bodyPr rtlCol="0" anchor="ctr"/>
          <a:lstStyle/>
          <a:p>
            <a:pPr algn="ctr"/>
          </a:p>
        </p:txBody>
      </p:sp>
      <p:sp>
        <p:nvSpPr>
          <p:cNvPr id="24" name="Rectangle 23"/>
          <p:cNvSpPr/>
          <p:nvPr/>
        </p:nvSpPr>
        <p:spPr>
          <a:xfrm>
            <a:off x="4351834" y="3213199"/>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7833717" y="3213199"/>
            <a:ext cx="6350" cy="1041301"/>
          </a:xfrm>
          <a:prstGeom prst="rect">
            <a:avLst/>
          </a:prstGeom>
          <a:solidFill>
            <a:srgbClr val="D9D4C7"/>
          </a:solidFill>
          <a:ln>
            <a:noFill/>
          </a:ln>
        </p:spPr>
        <p:txBody>
          <a:bodyPr rtlCol="0" anchor="ctr"/>
          <a:lstStyle/>
          <a:p>
            <a:pPr algn="ctr"/>
          </a:p>
        </p:txBody>
      </p:sp>
      <p:sp>
        <p:nvSpPr>
          <p:cNvPr id="26" name="Rectangle 25"/>
          <p:cNvSpPr/>
          <p:nvPr/>
        </p:nvSpPr>
        <p:spPr>
          <a:xfrm>
            <a:off x="4351834" y="4248150"/>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4351834" y="3213199"/>
            <a:ext cx="50800" cy="1041301"/>
          </a:xfrm>
          <a:prstGeom prst="roundRect">
            <a:avLst>
              <a:gd name="adj" fmla="val 50000"/>
            </a:avLst>
          </a:prstGeom>
          <a:solidFill>
            <a:srgbClr val="15803D"/>
          </a:solidFill>
          <a:ln>
            <a:noFill/>
          </a:ln>
        </p:spPr>
        <p:txBody>
          <a:bodyPr rtlCol="0" anchor="ctr"/>
          <a:lstStyle/>
          <a:p>
            <a:pPr algn="ctr"/>
          </a:p>
        </p:txBody>
      </p:sp>
      <p:sp>
        <p:nvSpPr>
          <p:cNvPr id="28" name="TextBox 27"/>
          <p:cNvSpPr txBox="1"/>
          <p:nvPr/>
        </p:nvSpPr>
        <p:spPr>
          <a:xfrm>
            <a:off x="4567734" y="335924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이상 설정 검증</a:t>
            </a:r>
          </a:p>
        </p:txBody>
      </p:sp>
      <p:sp>
        <p:nvSpPr>
          <p:cNvPr id="29" name="TextBox 28"/>
          <p:cNvSpPr txBox="1"/>
          <p:nvPr/>
        </p:nvSpPr>
        <p:spPr>
          <a:xfrm>
            <a:off x="4567734" y="3666530"/>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명령을 1e-9로 재현. 기존 테스트 134개 그대로 통과</a:t>
            </a:r>
          </a:p>
        </p:txBody>
      </p:sp>
      <p:sp>
        <p:nvSpPr>
          <p:cNvPr id="30" name="Rounded Rectangle 29"/>
          <p:cNvSpPr/>
          <p:nvPr/>
        </p:nvSpPr>
        <p:spPr>
          <a:xfrm>
            <a:off x="7992467" y="3213199"/>
            <a:ext cx="3488234" cy="1041301"/>
          </a:xfrm>
          <a:prstGeom prst="roundRect">
            <a:avLst>
              <a:gd name="adj" fmla="val 7317"/>
            </a:avLst>
          </a:prstGeom>
          <a:solidFill>
            <a:srgbClr val="FFFDF8"/>
          </a:solidFill>
          <a:ln>
            <a:noFill/>
          </a:ln>
        </p:spPr>
        <p:txBody>
          <a:bodyPr rtlCol="0" anchor="ctr"/>
          <a:lstStyle/>
          <a:p>
            <a:pPr algn="ctr"/>
          </a:p>
        </p:txBody>
      </p:sp>
      <p:sp>
        <p:nvSpPr>
          <p:cNvPr id="31" name="Rectangle 30"/>
          <p:cNvSpPr/>
          <p:nvPr/>
        </p:nvSpPr>
        <p:spPr>
          <a:xfrm>
            <a:off x="7992467" y="3213199"/>
            <a:ext cx="3488234" cy="6350"/>
          </a:xfrm>
          <a:prstGeom prst="rect">
            <a:avLst/>
          </a:prstGeom>
          <a:solidFill>
            <a:srgbClr val="D9D4C7"/>
          </a:solidFill>
          <a:ln>
            <a:noFill/>
          </a:ln>
        </p:spPr>
        <p:txBody>
          <a:bodyPr rtlCol="0" anchor="ctr"/>
          <a:lstStyle/>
          <a:p>
            <a:pPr algn="ctr"/>
          </a:p>
        </p:txBody>
      </p:sp>
      <p:sp>
        <p:nvSpPr>
          <p:cNvPr id="32" name="Rectangle 31"/>
          <p:cNvSpPr/>
          <p:nvPr/>
        </p:nvSpPr>
        <p:spPr>
          <a:xfrm>
            <a:off x="11474351" y="3213199"/>
            <a:ext cx="6350" cy="1041301"/>
          </a:xfrm>
          <a:prstGeom prst="rect">
            <a:avLst/>
          </a:prstGeom>
          <a:solidFill>
            <a:srgbClr val="D9D4C7"/>
          </a:solidFill>
          <a:ln>
            <a:noFill/>
          </a:ln>
        </p:spPr>
        <p:txBody>
          <a:bodyPr rtlCol="0" anchor="ctr"/>
          <a:lstStyle/>
          <a:p>
            <a:pPr algn="ctr"/>
          </a:p>
        </p:txBody>
      </p:sp>
      <p:sp>
        <p:nvSpPr>
          <p:cNvPr id="33" name="Rectangle 32"/>
          <p:cNvSpPr/>
          <p:nvPr/>
        </p:nvSpPr>
        <p:spPr>
          <a:xfrm>
            <a:off x="7992467" y="4248150"/>
            <a:ext cx="3488234" cy="6350"/>
          </a:xfrm>
          <a:prstGeom prst="rect">
            <a:avLst/>
          </a:prstGeom>
          <a:solidFill>
            <a:srgbClr val="D9D4C7"/>
          </a:solidFill>
          <a:ln>
            <a:noFill/>
          </a:ln>
        </p:spPr>
        <p:txBody>
          <a:bodyPr rtlCol="0" anchor="ctr"/>
          <a:lstStyle/>
          <a:p>
            <a:pPr algn="ctr"/>
          </a:p>
        </p:txBody>
      </p:sp>
      <p:sp>
        <p:nvSpPr>
          <p:cNvPr id="34" name="Rounded Rectangle 33"/>
          <p:cNvSpPr/>
          <p:nvPr/>
        </p:nvSpPr>
        <p:spPr>
          <a:xfrm>
            <a:off x="7992467" y="3213199"/>
            <a:ext cx="50800" cy="1041301"/>
          </a:xfrm>
          <a:prstGeom prst="roundRect">
            <a:avLst>
              <a:gd name="adj" fmla="val 50000"/>
            </a:avLst>
          </a:prstGeom>
          <a:solidFill>
            <a:srgbClr val="15803D"/>
          </a:solidFill>
          <a:ln>
            <a:noFill/>
          </a:ln>
        </p:spPr>
        <p:txBody>
          <a:bodyPr rtlCol="0" anchor="ctr"/>
          <a:lstStyle/>
          <a:p>
            <a:pPr algn="ctr"/>
          </a:p>
        </p:txBody>
      </p:sp>
      <p:sp>
        <p:nvSpPr>
          <p:cNvPr id="35" name="TextBox 34"/>
          <p:cNvSpPr txBox="1"/>
          <p:nvPr/>
        </p:nvSpPr>
        <p:spPr>
          <a:xfrm>
            <a:off x="8208367" y="335924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스워브 plant</a:t>
            </a:r>
          </a:p>
        </p:txBody>
      </p:sp>
      <p:sp>
        <p:nvSpPr>
          <p:cNvPr id="36" name="TextBox 35"/>
          <p:cNvSpPr txBox="1"/>
          <p:nvPr/>
        </p:nvSpPr>
        <p:spPr>
          <a:xfrm>
            <a:off x="8208367" y="3666530"/>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벤치마크 </a:t>
            </a:r>
            <a:r>
              <a:rPr sz="1000" b="0" i="0">
                <a:solidFill>
                  <a:srgbClr val="7C2D12"/>
                </a:solidFill>
                <a:latin typeface="Consolas"/>
                <a:ea typeface="Malgun Gothic"/>
                <a:cs typeface="Malgun Gothic"/>
              </a:rPr>
              <a:t>--plant</a:t>
            </a:r>
            <a:r>
              <a:rPr sz="1150" b="0" i="0">
                <a:solidFill>
                  <a:srgbClr val="16213A"/>
                </a:solidFill>
                <a:latin typeface="Arial"/>
                <a:ea typeface="Malgun Gothic"/>
                <a:cs typeface="Malgun Gothic"/>
              </a:rPr>
              <a:t>. 조향 한계 ±56.2°</a:t>
            </a:r>
          </a:p>
        </p:txBody>
      </p:sp>
      <p:sp>
        <p:nvSpPr>
          <p:cNvPr id="37" name="Rounded Rectangle 36"/>
          <p:cNvSpPr/>
          <p:nvPr/>
        </p:nvSpPr>
        <p:spPr>
          <a:xfrm>
            <a:off x="711200" y="4432300"/>
            <a:ext cx="10769600" cy="502543"/>
          </a:xfrm>
          <a:prstGeom prst="roundRect">
            <a:avLst>
              <a:gd name="adj" fmla="val 15162"/>
            </a:avLst>
          </a:prstGeom>
          <a:solidFill>
            <a:srgbClr val="16213A"/>
          </a:solidFill>
          <a:ln>
            <a:noFill/>
          </a:ln>
        </p:spPr>
        <p:txBody>
          <a:bodyPr rtlCol="0" anchor="ctr"/>
          <a:lstStyle/>
          <a:p>
            <a:pPr algn="ctr"/>
          </a:p>
        </p:txBody>
      </p:sp>
      <p:sp>
        <p:nvSpPr>
          <p:cNvPr id="38" name="TextBox 37"/>
          <p:cNvSpPr txBox="1"/>
          <p:nvPr/>
        </p:nvSpPr>
        <p:spPr>
          <a:xfrm>
            <a:off x="889000" y="45593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실험의 plant는 robot/plant.py(지연·모듈·슬립)다. 목표는 정확한 AntBot이 아니라 명목과 다른 plant다.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62919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최근 연구 비교 (M.4, 2025–2026)</a:t>
            </a:r>
          </a:p>
        </p:txBody>
      </p:sp>
      <p:sp>
        <p:nvSpPr>
          <p:cNvPr id="3" name="TextBox 2"/>
          <p:cNvSpPr txBox="1"/>
          <p:nvPr/>
        </p:nvSpPr>
        <p:spPr>
          <a:xfrm>
            <a:off x="812800" y="3067348"/>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모델을 더 맞게, 초기해를 더 좋게</a:t>
            </a:r>
          </a:p>
        </p:txBody>
      </p:sp>
      <p:sp>
        <p:nvSpPr>
          <p:cNvPr id="4" name="TextBox 3"/>
          <p:cNvSpPr txBox="1"/>
          <p:nvPr/>
        </p:nvSpPr>
        <p:spPr>
          <a:xfrm>
            <a:off x="812800" y="391566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두 방향 모두 TP-0152의 실패 원인인 지연과 명령 떨림을 직접 고치지는 않는다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M.4 · 비교표 (1/2)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gradient 쪽은 잔차·튜브를, 초기해 쪽은 학습 모델을 더한다</a:t>
            </a:r>
          </a:p>
        </p:txBody>
      </p:sp>
      <p:graphicFrame>
        <p:nvGraphicFramePr>
          <p:cNvPr id="4" name="Table 3"/>
          <p:cNvGraphicFramePr>
            <a:graphicFrameLocks noGrp="1"/>
          </p:cNvGraphicFramePr>
          <p:nvPr/>
        </p:nvGraphicFramePr>
        <p:xfrm>
          <a:off x="711200" y="1361678"/>
          <a:ext cx="10769600" cy="1794163"/>
        </p:xfrm>
        <a:graphic>
          <a:graphicData uri="http://schemas.openxmlformats.org/drawingml/2006/table">
            <a:tbl>
              <a:tblPr firstRow="0" bandRow="0">
                <a:tableStyleId>{5C22544A-7EE6-4342-B048-85BDC9FD1C3A}</a:tableStyleId>
              </a:tblPr>
              <a:tblGrid>
                <a:gridCol w="3237905"/>
                <a:gridCol w="1807567"/>
                <a:gridCol w="3169146"/>
                <a:gridCol w="1343025"/>
                <a:gridCol w="1211957"/>
              </a:tblGrid>
              <a:tr h="263634">
                <a:tc>
                  <a:txBody>
                    <a:bodyPr wrap="square"/>
                    <a:lstStyle/>
                    <a:p>
                      <a:r>
                        <a:rPr sz="1000" b="1" i="0">
                          <a:solidFill>
                            <a:srgbClr val="F4F1EA"/>
                          </a:solidFill>
                          <a:latin typeface="Arial"/>
                          <a:ea typeface="Malgun Gothic"/>
                          <a:cs typeface="Malgun Gothic"/>
                        </a:rPr>
                        <a:t>연구 (연·발표)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입력·표현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최적화기</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AWOISV 필터 튜브 MPC (2025.08 · 프리프린트)</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Frenet 좌표, 회전 중심 각도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운동 모드 + 칼만 필터 오차로 튜브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LTV-MPC</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TruckSim, HIL</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확산 초기해 MPC (2026.01 · RA-L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RGB 영상의 물체 슬롯 6개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확산 초안을 SDF hard 제약 OCP가 다듬는다</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Crocoddyl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Franka 실물</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RL 유도 PAC-NMPC (2026.09 · 프리프린트)</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LiDAR 또는 깊이 영상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RL 정책 → 초기해, 가치 → 종단 비용</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샘플링(SNOPT)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1/10 랠리카 실물</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경로를 품은 MPC (2025.09 · 프리프린트)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가시성 그래프 Dijkstra 경로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앞쪽 경로 구간을 결정 변수로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NMPC</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1:28 차량</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강건·적응 GP-MPC (2025.07 · Automatica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상태, GP 오차 상한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contraction metric 위 스칼라 튜브로 GP 오차 전파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L4acados SQP</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쿼드로터 시뮬</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데이터에서 강건 MPC까지 (2025.08 · 프리프린트)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입출력 데이터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데이터에서 외란 box, SDP로 튜브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acados·ForcesPro</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쿼드로터 시뮬</a:t>
                      </a:r>
                    </a:p>
                  </a:txBody>
                  <a:tcPr marL="76200" marR="76200" marT="25400" marB="25400">
                    <a:solidFill>
                      <a:srgbClr val="FFFDF8"/>
                    </a:solidFill>
                  </a:tcPr>
                </a:tc>
              </a:tr>
            </a:tbl>
          </a:graphicData>
        </a:graphic>
      </p:graphicFrame>
      <p:sp>
        <p:nvSpPr>
          <p:cNvPr id="5" name="Rounded Rectangle 4"/>
          <p:cNvSpPr/>
          <p:nvPr/>
        </p:nvSpPr>
        <p:spPr>
          <a:xfrm>
            <a:off x="711200" y="3650258"/>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7725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초기해 쪽 연구는 OCP가 붙어야 성공했다. Planner D 궤적도 NMPC가 제약으로 다듬게 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M.4 · 비교표 (2/2)</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지형은 모델 입력이나 제약으로 들어가고, 샘플링이 비평활 모델을 rollout한다</a:t>
            </a:r>
          </a:p>
        </p:txBody>
      </p:sp>
      <p:graphicFrame>
        <p:nvGraphicFramePr>
          <p:cNvPr id="4" name="Table 3"/>
          <p:cNvGraphicFramePr>
            <a:graphicFrameLocks noGrp="1"/>
          </p:cNvGraphicFramePr>
          <p:nvPr/>
        </p:nvGraphicFramePr>
        <p:xfrm>
          <a:off x="711200" y="1764506"/>
          <a:ext cx="10769600" cy="1794163"/>
        </p:xfrm>
        <a:graphic>
          <a:graphicData uri="http://schemas.openxmlformats.org/drawingml/2006/table">
            <a:tbl>
              <a:tblPr firstRow="0" bandRow="0">
                <a:tableStyleId>{5C22544A-7EE6-4342-B048-85BDC9FD1C3A}</a:tableStyleId>
              </a:tblPr>
              <a:tblGrid>
                <a:gridCol w="3945731"/>
                <a:gridCol w="1856780"/>
                <a:gridCol w="2728516"/>
                <a:gridCol w="1114524"/>
                <a:gridCol w="1124049"/>
              </a:tblGrid>
              <a:tr h="263634">
                <a:tc>
                  <a:txBody>
                    <a:bodyPr wrap="square"/>
                    <a:lstStyle/>
                    <a:p>
                      <a:r>
                        <a:rPr sz="1000" b="1" i="0">
                          <a:solidFill>
                            <a:srgbClr val="F4F1EA"/>
                          </a:solidFill>
                          <a:latin typeface="Arial"/>
                          <a:ea typeface="Malgun Gothic"/>
                          <a:cs typeface="Malgun Gothic"/>
                        </a:rPr>
                        <a:t>연구 (연·발표)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입력·표현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최적화기</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강건 비선형 MPC 외란 피드백 (2025.09 · ICRA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상태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명목·외란 피드백·오차 상한을 함께</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SCP</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시뮬</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고속 전지형 자율주행 (2026.03 · T-RO 투고)</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고도 지도와 수치 기울기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3차원 강체 모델 + 에너지 안정 여유</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GPU 샘플링</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실차 48회</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비평면 재귀 희소 GP (2026.02 · IEEE IV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표면 법선의 roll·pitch</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roll·pitch 입력 GP 잔차, 온라인 갱신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Isaac Sim만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에너지 정규화 NN 잔차 (2026.04 · 프리프린트)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상태, 서보각, 로터 추력</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MLP 잔차에 에너지 증가 페널티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acados RTI</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틸트 쿼드로터</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전체 모델 물리 rollout (2025.06 · Sci. Robotics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고도 지도, foothold 후보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필터 뒤 RaiSim rollout으로 고른다</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샘플링 + 물리</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Raibo 실물</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L4acados (2024.11 · IEEE TCST)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상태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acados에 Python 잔차, 0차 GP-MPC</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SQP-RTI</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경주차·실차</a:t>
                      </a:r>
                    </a:p>
                  </a:txBody>
                  <a:tcPr marL="76200" marR="76200" marT="25400" marB="25400">
                    <a:solidFill>
                      <a:srgbClr val="FFFDF8"/>
                    </a:solidFill>
                  </a:tcPr>
                </a:tc>
              </a:tr>
            </a:tbl>
          </a:graphicData>
        </a:graphic>
      </p:graphicFrame>
      <p:sp>
        <p:nvSpPr>
          <p:cNvPr id="5" name="Rounded Rectangle 4"/>
          <p:cNvSpPr/>
          <p:nvPr/>
        </p:nvSpPr>
        <p:spPr>
          <a:xfrm>
            <a:off x="711200" y="4053086"/>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18008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잔차 GP 구조는 이미 같다. 새로운 것은 부호 있는 roll·pitch 입력 하나다.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M.4 · 비교표 (2/2)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에너지 정규화 잔차는 NMPC가 비물리적 가속을 이용해 떨리는 명령을 내는 것을 막는다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잔차 신경망을 보정의 상대 에너지 변화로 정규화해 학습한 neural MPC. 전방향 비행 로봇에서 시연한다 (DRAGON Lab)</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910556"/>
            <a:ext cx="547688"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935956"/>
            <a:ext cx="4063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표의 행</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잔차가 에너지를 만들면 안 된다</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잔차가 물리적으로 말이 안 되는 가속을 만들면 NMPC가 그것을 이용해 떨리는 명령을 낸다. 보정의 에너지 증가에 페널티를 주어 막는다.</a:t>
            </a:r>
          </a:p>
        </p:txBody>
      </p:sp>
      <p:sp>
        <p:nvSpPr>
          <p:cNvPr id="16" name="Rounded Rectangle 15"/>
          <p:cNvSpPr/>
          <p:nvPr/>
        </p:nvSpPr>
        <p:spPr>
          <a:xfrm>
            <a:off x="7975600" y="3458567"/>
            <a:ext cx="3505200" cy="1272480"/>
          </a:xfrm>
          <a:prstGeom prst="roundRect">
            <a:avLst>
              <a:gd name="adj" fmla="val 5988"/>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272480"/>
          </a:xfrm>
          <a:prstGeom prst="rect">
            <a:avLst/>
          </a:prstGeom>
          <a:solidFill>
            <a:srgbClr val="D9D4C7"/>
          </a:solidFill>
          <a:ln>
            <a:noFill/>
          </a:ln>
        </p:spPr>
        <p:txBody>
          <a:bodyPr rtlCol="0" anchor="ctr"/>
          <a:lstStyle/>
          <a:p>
            <a:pPr algn="ctr"/>
          </a:p>
        </p:txBody>
      </p:sp>
      <p:sp>
        <p:nvSpPr>
          <p:cNvPr id="19" name="Rectangle 18"/>
          <p:cNvSpPr/>
          <p:nvPr/>
        </p:nvSpPr>
        <p:spPr>
          <a:xfrm>
            <a:off x="7975600" y="472469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272480"/>
          </a:xfrm>
          <a:prstGeom prst="roundRect">
            <a:avLst>
              <a:gd name="adj" fmla="val 50000"/>
            </a:avLst>
          </a:prstGeom>
          <a:solidFill>
            <a:srgbClr val="9AA6BC"/>
          </a:solidFill>
          <a:ln>
            <a:noFill/>
          </a:ln>
        </p:spPr>
        <p:txBody>
          <a:bodyPr rtlCol="0" anchor="ctr"/>
          <a:lstStyle/>
          <a:p>
            <a:pPr algn="ctr"/>
          </a:p>
        </p:txBody>
      </p:sp>
      <p:sp>
        <p:nvSpPr>
          <p:cNvPr id="21" name="Rounded Rectangle 20"/>
          <p:cNvSpPr/>
          <p:nvPr/>
        </p:nvSpPr>
        <p:spPr>
          <a:xfrm>
            <a:off x="8191500" y="3604617"/>
            <a:ext cx="1009352" cy="241300"/>
          </a:xfrm>
          <a:prstGeom prst="roundRect">
            <a:avLst>
              <a:gd name="adj" fmla="val 50000"/>
            </a:avLst>
          </a:prstGeom>
          <a:solidFill>
            <a:srgbClr val="ECE8DF"/>
          </a:solidFill>
          <a:ln>
            <a:noFill/>
          </a:ln>
        </p:spPr>
        <p:txBody>
          <a:bodyPr rtlCol="0" anchor="ctr"/>
          <a:lstStyle/>
          <a:p>
            <a:pPr algn="ctr"/>
          </a:p>
        </p:txBody>
      </p:sp>
      <p:sp>
        <p:nvSpPr>
          <p:cNvPr id="22" name="TextBox 21"/>
          <p:cNvSpPr txBox="1"/>
          <p:nvPr/>
        </p:nvSpPr>
        <p:spPr>
          <a:xfrm>
            <a:off x="8280400" y="3630017"/>
            <a:ext cx="881899"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travplan에서는</a:t>
            </a:r>
          </a:p>
        </p:txBody>
      </p:sp>
      <p:sp>
        <p:nvSpPr>
          <p:cNvPr id="23" name="TextBox 22"/>
          <p:cNvSpPr txBox="1"/>
          <p:nvPr/>
        </p:nvSpPr>
        <p:spPr>
          <a:xfrm>
            <a:off x="8191500" y="392211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SGPR 잔차는 분산이 있어 분포 밖에서 prior로 돌아간다. 신경망 잔차로 바꾼다면 이런 정규화가 먼저 필요하다.</a:t>
            </a:r>
          </a:p>
        </p:txBody>
      </p:sp>
      <p:sp>
        <p:nvSpPr>
          <p:cNvPr id="24" name="Rectangle 23"/>
          <p:cNvSpPr/>
          <p:nvPr/>
        </p:nvSpPr>
        <p:spPr>
          <a:xfrm>
            <a:off x="711200" y="6424315"/>
            <a:ext cx="10769600" cy="230485"/>
          </a:xfrm>
          <a:prstGeom prst="rect">
            <a:avLst/>
          </a:prstGeom>
          <a:noFill/>
          <a:ln>
            <a:noFill/>
          </a:ln>
        </p:spPr>
        <p:txBody>
          <a:bodyPr rtlCol="0" anchor="ctr"/>
          <a:lstStyle/>
          <a:p>
            <a:pPr algn="ctr"/>
          </a:p>
        </p:txBody>
      </p:sp>
      <p:sp>
        <p:nvSpPr>
          <p:cNvPr id="25" name="Rectangle 2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6" name="TextBox 2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[9] Kübel 외, 2026 — arXiv:2604.14678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M.4 · 공통점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명목 모델에 잔차를 더하고, 그 불확실성으로 제약을 조인다</a:t>
            </a:r>
          </a:p>
        </p:txBody>
      </p:sp>
      <p:sp>
        <p:nvSpPr>
          <p:cNvPr id="4" name="Rounded Rectangle 3"/>
          <p:cNvSpPr/>
          <p:nvPr/>
        </p:nvSpPr>
        <p:spPr>
          <a:xfrm>
            <a:off x="711200" y="1361678"/>
            <a:ext cx="5308600"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25400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명목 모델 + 학습 잔차</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식으로 아는 부분은 남기고 남는 오차만 배운다. </a:t>
            </a:r>
            <a:r>
              <a:rPr sz="1000" b="0" i="0">
                <a:solidFill>
                  <a:srgbClr val="7C2D12"/>
                </a:solidFill>
                <a:latin typeface="Consolas"/>
                <a:ea typeface="Malgun Gothic"/>
                <a:cs typeface="Malgun Gothic"/>
              </a:rPr>
              <a:t>mpc_gp</a:t>
            </a:r>
            <a:r>
              <a:rPr sz="1150" b="0" i="0">
                <a:solidFill>
                  <a:srgbClr val="16213A"/>
                </a:solidFill>
                <a:latin typeface="Arial"/>
                <a:ea typeface="Malgun Gothic"/>
                <a:cs typeface="Malgun Gothic"/>
              </a:rPr>
              <a:t>도 같다.</a:t>
            </a:r>
          </a:p>
        </p:txBody>
      </p:sp>
      <p:sp>
        <p:nvSpPr>
          <p:cNvPr id="13" name="Rounded Rectangle 12"/>
          <p:cNvSpPr/>
          <p:nvPr/>
        </p:nvSpPr>
        <p:spPr>
          <a:xfrm>
            <a:off x="6172200" y="1361678"/>
            <a:ext cx="5308600"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6172200" y="249316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137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254000"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2</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불확실성으로 제약을 조인다</a:t>
            </a:r>
          </a:p>
        </p:txBody>
      </p:sp>
      <p:sp>
        <p:nvSpPr>
          <p:cNvPr id="21" name="TextBox 20"/>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 오차 상한, 외란 box, 오차 불변 집합. M.1.2의 </a:t>
            </a:r>
            <a:r>
              <a:rPr sz="1150" b="0" i="1">
                <a:solidFill>
                  <a:srgbClr val="16213A"/>
                </a:solidFill>
                <a:latin typeface="Arial"/>
                <a:ea typeface="Malgun Gothic"/>
                <a:cs typeface="Malgun Gothic"/>
              </a:rPr>
              <a:t>ρₖ</a:t>
            </a:r>
            <a:r>
              <a:rPr sz="1150" b="0" i="0">
                <a:solidFill>
                  <a:srgbClr val="16213A"/>
                </a:solidFill>
                <a:latin typeface="Arial"/>
                <a:ea typeface="Malgun Gothic"/>
                <a:cs typeface="Malgun Gothic"/>
              </a:rPr>
              <a:t> 자리다.</a:t>
            </a:r>
          </a:p>
        </p:txBody>
      </p:sp>
      <p:sp>
        <p:nvSpPr>
          <p:cNvPr id="22" name="Rounded Rectangle 21"/>
          <p:cNvSpPr/>
          <p:nvPr/>
        </p:nvSpPr>
        <p:spPr>
          <a:xfrm>
            <a:off x="711200" y="2651919"/>
            <a:ext cx="53086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11200" y="265191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651919"/>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11200" y="3783409"/>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651919"/>
            <a:ext cx="50800" cy="1137841"/>
          </a:xfrm>
          <a:prstGeom prst="roundRect">
            <a:avLst>
              <a:gd name="adj" fmla="val 50000"/>
            </a:avLst>
          </a:prstGeom>
          <a:solidFill>
            <a:srgbClr val="1D4ED8"/>
          </a:solidFill>
          <a:ln>
            <a:noFill/>
          </a:ln>
        </p:spPr>
        <p:txBody>
          <a:bodyPr rtlCol="0" anchor="ctr"/>
          <a:lstStyle/>
          <a:p>
            <a:pPr algn="ctr"/>
          </a:p>
        </p:txBody>
      </p:sp>
      <p:sp>
        <p:nvSpPr>
          <p:cNvPr id="27" name="Rounded Rectangle 26"/>
          <p:cNvSpPr/>
          <p:nvPr/>
        </p:nvSpPr>
        <p:spPr>
          <a:xfrm>
            <a:off x="927100" y="2797969"/>
            <a:ext cx="254000" cy="241300"/>
          </a:xfrm>
          <a:prstGeom prst="roundRect">
            <a:avLst>
              <a:gd name="adj" fmla="val 50000"/>
            </a:avLst>
          </a:prstGeom>
          <a:solidFill>
            <a:srgbClr val="DBE5FB"/>
          </a:solidFill>
          <a:ln>
            <a:noFill/>
          </a:ln>
        </p:spPr>
        <p:txBody>
          <a:bodyPr rtlCol="0" anchor="ctr"/>
          <a:lstStyle/>
          <a:p>
            <a:pPr algn="ctr"/>
          </a:p>
        </p:txBody>
      </p:sp>
      <p:sp>
        <p:nvSpPr>
          <p:cNvPr id="28" name="TextBox 27"/>
          <p:cNvSpPr txBox="1"/>
          <p:nvPr/>
        </p:nvSpPr>
        <p:spPr>
          <a:xfrm>
            <a:off x="1016000" y="2823369"/>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3</a:t>
            </a:r>
          </a:p>
        </p:txBody>
      </p:sp>
      <p:sp>
        <p:nvSpPr>
          <p:cNvPr id="29" name="TextBox 28"/>
          <p:cNvSpPr txBox="1"/>
          <p:nvPr/>
        </p:nvSpPr>
        <p:spPr>
          <a:xfrm>
            <a:off x="927100" y="3115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모델이 출발점을 준다</a:t>
            </a:r>
          </a:p>
        </p:txBody>
      </p:sp>
      <p:sp>
        <p:nvSpPr>
          <p:cNvPr id="30" name="TextBox 29"/>
          <p:cNvSpPr txBox="1"/>
          <p:nvPr/>
        </p:nvSpPr>
        <p:spPr>
          <a:xfrm>
            <a:off x="927100" y="3422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확산 궤적, RL 정책, 전역 경로 구간이 국소해 문제를 위에서 푼다.</a:t>
            </a:r>
          </a:p>
        </p:txBody>
      </p:sp>
      <p:sp>
        <p:nvSpPr>
          <p:cNvPr id="31" name="Rounded Rectangle 30"/>
          <p:cNvSpPr/>
          <p:nvPr/>
        </p:nvSpPr>
        <p:spPr>
          <a:xfrm>
            <a:off x="6172200" y="2651919"/>
            <a:ext cx="5308600" cy="1137841"/>
          </a:xfrm>
          <a:prstGeom prst="roundRect">
            <a:avLst>
              <a:gd name="adj" fmla="val 6696"/>
            </a:avLst>
          </a:prstGeom>
          <a:solidFill>
            <a:srgbClr val="FFFDF8"/>
          </a:solidFill>
          <a:ln>
            <a:noFill/>
          </a:ln>
        </p:spPr>
        <p:txBody>
          <a:bodyPr rtlCol="0" anchor="ctr"/>
          <a:lstStyle/>
          <a:p>
            <a:pPr algn="ctr"/>
          </a:p>
        </p:txBody>
      </p:sp>
      <p:sp>
        <p:nvSpPr>
          <p:cNvPr id="32" name="Rectangle 31"/>
          <p:cNvSpPr/>
          <p:nvPr/>
        </p:nvSpPr>
        <p:spPr>
          <a:xfrm>
            <a:off x="6172200" y="265191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651919"/>
            <a:ext cx="6350" cy="1137841"/>
          </a:xfrm>
          <a:prstGeom prst="rect">
            <a:avLst/>
          </a:prstGeom>
          <a:solidFill>
            <a:srgbClr val="D9D4C7"/>
          </a:solidFill>
          <a:ln>
            <a:noFill/>
          </a:ln>
        </p:spPr>
        <p:txBody>
          <a:bodyPr rtlCol="0" anchor="ctr"/>
          <a:lstStyle/>
          <a:p>
            <a:pPr algn="ctr"/>
          </a:p>
        </p:txBody>
      </p:sp>
      <p:sp>
        <p:nvSpPr>
          <p:cNvPr id="34" name="Rectangle 33"/>
          <p:cNvSpPr/>
          <p:nvPr/>
        </p:nvSpPr>
        <p:spPr>
          <a:xfrm>
            <a:off x="6172200" y="3783409"/>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651919"/>
            <a:ext cx="50800" cy="1137841"/>
          </a:xfrm>
          <a:prstGeom prst="roundRect">
            <a:avLst>
              <a:gd name="adj" fmla="val 50000"/>
            </a:avLst>
          </a:prstGeom>
          <a:solidFill>
            <a:srgbClr val="1D4ED8"/>
          </a:solidFill>
          <a:ln>
            <a:noFill/>
          </a:ln>
        </p:spPr>
        <p:txBody>
          <a:bodyPr rtlCol="0" anchor="ctr"/>
          <a:lstStyle/>
          <a:p>
            <a:pPr algn="ctr"/>
          </a:p>
        </p:txBody>
      </p:sp>
      <p:sp>
        <p:nvSpPr>
          <p:cNvPr id="36" name="Rounded Rectangle 35"/>
          <p:cNvSpPr/>
          <p:nvPr/>
        </p:nvSpPr>
        <p:spPr>
          <a:xfrm>
            <a:off x="6388100" y="2797969"/>
            <a:ext cx="254000" cy="241300"/>
          </a:xfrm>
          <a:prstGeom prst="roundRect">
            <a:avLst>
              <a:gd name="adj" fmla="val 50000"/>
            </a:avLst>
          </a:prstGeom>
          <a:solidFill>
            <a:srgbClr val="DBE5FB"/>
          </a:solidFill>
          <a:ln>
            <a:noFill/>
          </a:ln>
        </p:spPr>
        <p:txBody>
          <a:bodyPr rtlCol="0" anchor="ctr"/>
          <a:lstStyle/>
          <a:p>
            <a:pPr algn="ctr"/>
          </a:p>
        </p:txBody>
      </p:sp>
      <p:sp>
        <p:nvSpPr>
          <p:cNvPr id="37" name="TextBox 36"/>
          <p:cNvSpPr txBox="1"/>
          <p:nvPr/>
        </p:nvSpPr>
        <p:spPr>
          <a:xfrm>
            <a:off x="6477000" y="2823369"/>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4</a:t>
            </a:r>
          </a:p>
        </p:txBody>
      </p:sp>
      <p:sp>
        <p:nvSpPr>
          <p:cNvPr id="38" name="TextBox 37"/>
          <p:cNvSpPr txBox="1"/>
          <p:nvPr/>
        </p:nvSpPr>
        <p:spPr>
          <a:xfrm>
            <a:off x="6388100" y="3115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지형은 비용 한 항으로 남지 않는다</a:t>
            </a:r>
          </a:p>
        </p:txBody>
      </p:sp>
      <p:sp>
        <p:nvSpPr>
          <p:cNvPr id="39" name="TextBox 38"/>
          <p:cNvSpPr txBox="1"/>
          <p:nvPr/>
        </p:nvSpPr>
        <p:spPr>
          <a:xfrm>
            <a:off x="6388100" y="3422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 입력(roll·pitch), 3차원 강체 모델과 전복 제약, 물리 엔진으로 들어간다.</a:t>
            </a:r>
          </a:p>
        </p:txBody>
      </p:sp>
      <p:sp>
        <p:nvSpPr>
          <p:cNvPr id="40" name="Rounded Rectangle 39"/>
          <p:cNvSpPr/>
          <p:nvPr/>
        </p:nvSpPr>
        <p:spPr>
          <a:xfrm>
            <a:off x="711200" y="3967559"/>
            <a:ext cx="10769600" cy="1206500"/>
          </a:xfrm>
          <a:prstGeom prst="roundRect">
            <a:avLst>
              <a:gd name="adj" fmla="val 4210"/>
            </a:avLst>
          </a:prstGeom>
          <a:solidFill>
            <a:srgbClr val="FFFFFF"/>
          </a:solidFill>
          <a:ln w="6350">
            <a:solidFill>
              <a:srgbClr val="D9D4C7"/>
            </a:solidFill>
          </a:ln>
        </p:spPr>
        <p:txBody>
          <a:bodyPr rtlCol="0" anchor="ctr"/>
          <a:lstStyle/>
          <a:p>
            <a:pPr algn="ctr"/>
          </a:p>
        </p:txBody>
      </p:sp>
      <p:pic>
        <p:nvPicPr>
          <p:cNvPr id="41" name="Picture 40" descr="image.jpg"/>
          <p:cNvPicPr>
            <a:picLocks noChangeAspect="1"/>
          </p:cNvPicPr>
          <p:nvPr/>
        </p:nvPicPr>
        <p:blipFill>
          <a:blip r:embed="rId2"/>
          <a:stretch>
            <a:fillRect/>
          </a:stretch>
        </p:blipFill>
        <p:spPr>
          <a:xfrm>
            <a:off x="3088937" y="3967559"/>
            <a:ext cx="6014127" cy="1206500"/>
          </a:xfrm>
          <a:prstGeom prst="rect">
            <a:avLst/>
          </a:prstGeom>
        </p:spPr>
      </p:pic>
      <p:sp>
        <p:nvSpPr>
          <p:cNvPr id="42" name="TextBox 41"/>
          <p:cNvSpPr txBox="1"/>
          <p:nvPr/>
        </p:nvSpPr>
        <p:spPr>
          <a:xfrm>
            <a:off x="711200" y="5237559"/>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확산 초기해 + SDF hard 제약 OCP의 구조 — Haffemayer 외, RA-L 2026 [3]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M.4 ·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축에서 갈리고, travplan은 그 축마다 한쪽에 서 있다</a:t>
            </a:r>
          </a:p>
        </p:txBody>
      </p:sp>
      <p:sp>
        <p:nvSpPr>
          <p:cNvPr id="4" name="Rounded Rectangle 3"/>
          <p:cNvSpPr/>
          <p:nvPr/>
        </p:nvSpPr>
        <p:spPr>
          <a:xfrm>
            <a:off x="711200" y="1361678"/>
            <a:ext cx="5308600" cy="1041301"/>
          </a:xfrm>
          <a:prstGeom prst="roundRect">
            <a:avLst>
              <a:gd name="adj" fmla="val 731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041301"/>
          </a:xfrm>
          <a:prstGeom prst="rect">
            <a:avLst/>
          </a:prstGeom>
          <a:solidFill>
            <a:srgbClr val="D9D4C7"/>
          </a:solidFill>
          <a:ln>
            <a:noFill/>
          </a:ln>
        </p:spPr>
        <p:txBody>
          <a:bodyPr rtlCol="0" anchor="ctr"/>
          <a:lstStyle/>
          <a:p>
            <a:pPr algn="ctr"/>
          </a:p>
        </p:txBody>
      </p:sp>
      <p:sp>
        <p:nvSpPr>
          <p:cNvPr id="7" name="Rectangle 6"/>
          <p:cNvSpPr/>
          <p:nvPr/>
        </p:nvSpPr>
        <p:spPr>
          <a:xfrm>
            <a:off x="711200" y="23966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41301"/>
          </a:xfrm>
          <a:prstGeom prst="roundRect">
            <a:avLst>
              <a:gd name="adj" fmla="val 50000"/>
            </a:avLst>
          </a:prstGeom>
          <a:solidFill>
            <a:srgbClr val="9AA6BC"/>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잔차를 언제 배우나</a:t>
            </a:r>
          </a:p>
        </p:txBody>
      </p:sp>
      <p:sp>
        <p:nvSpPr>
          <p:cNvPr id="10" name="TextBox 9"/>
          <p:cNvSpPr txBox="1"/>
          <p:nvPr/>
        </p:nvSpPr>
        <p:spPr>
          <a:xfrm>
            <a:off x="927100" y="18150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오프라인 고정 vs 온라인 갱신. </a:t>
            </a:r>
            <a:r>
              <a:rPr sz="1000" b="0" i="0">
                <a:solidFill>
                  <a:srgbClr val="7C2D12"/>
                </a:solidFill>
                <a:latin typeface="Consolas"/>
                <a:ea typeface="Malgun Gothic"/>
                <a:cs typeface="Malgun Gothic"/>
              </a:rPr>
              <a:t>mpc_gp</a:t>
            </a:r>
            <a:r>
              <a:rPr sz="1150" b="0" i="0">
                <a:solidFill>
                  <a:srgbClr val="16213A"/>
                </a:solidFill>
                <a:latin typeface="Arial"/>
                <a:ea typeface="Malgun Gothic"/>
                <a:cs typeface="Malgun Gothic"/>
              </a:rPr>
              <a:t>는 온라인(ring 버퍼 200, 5 스텝마다). 경사 부호가 없고 하이퍼파라미터는 고정이다.</a:t>
            </a:r>
          </a:p>
        </p:txBody>
      </p:sp>
      <p:sp>
        <p:nvSpPr>
          <p:cNvPr id="11" name="Rounded Rectangle 10"/>
          <p:cNvSpPr/>
          <p:nvPr/>
        </p:nvSpPr>
        <p:spPr>
          <a:xfrm>
            <a:off x="6172200" y="1361678"/>
            <a:ext cx="5308600" cy="1041301"/>
          </a:xfrm>
          <a:prstGeom prst="roundRect">
            <a:avLst>
              <a:gd name="adj" fmla="val 7317"/>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1041301"/>
          </a:xfrm>
          <a:prstGeom prst="rect">
            <a:avLst/>
          </a:prstGeom>
          <a:solidFill>
            <a:srgbClr val="D9D4C7"/>
          </a:solidFill>
          <a:ln>
            <a:noFill/>
          </a:ln>
        </p:spPr>
        <p:txBody>
          <a:bodyPr rtlCol="0" anchor="ctr"/>
          <a:lstStyle/>
          <a:p>
            <a:pPr algn="ctr"/>
          </a:p>
        </p:txBody>
      </p:sp>
      <p:sp>
        <p:nvSpPr>
          <p:cNvPr id="14" name="Rectangle 13"/>
          <p:cNvSpPr/>
          <p:nvPr/>
        </p:nvSpPr>
        <p:spPr>
          <a:xfrm>
            <a:off x="6172200" y="239662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1041301"/>
          </a:xfrm>
          <a:prstGeom prst="roundRect">
            <a:avLst>
              <a:gd name="adj" fmla="val 50000"/>
            </a:avLst>
          </a:prstGeom>
          <a:solidFill>
            <a:srgbClr val="9AA6BC"/>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확률이냐 box냐</a:t>
            </a:r>
          </a:p>
        </p:txBody>
      </p:sp>
      <p:sp>
        <p:nvSpPr>
          <p:cNvPr id="17" name="TextBox 16"/>
          <p:cNvSpPr txBox="1"/>
          <p:nvPr/>
        </p:nvSpPr>
        <p:spPr>
          <a:xfrm>
            <a:off x="6388100" y="18150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확률은 신뢰도를 고르고, box는 단순하지만 크기를 데이터로 정한다. TP-0069의 먼 노드 폭은 보정되지 않았다.</a:t>
            </a:r>
          </a:p>
        </p:txBody>
      </p:sp>
      <p:sp>
        <p:nvSpPr>
          <p:cNvPr id="18" name="Rounded Rectangle 17"/>
          <p:cNvSpPr/>
          <p:nvPr/>
        </p:nvSpPr>
        <p:spPr>
          <a:xfrm>
            <a:off x="711200" y="2555379"/>
            <a:ext cx="5308600" cy="1041301"/>
          </a:xfrm>
          <a:prstGeom prst="roundRect">
            <a:avLst>
              <a:gd name="adj" fmla="val 7317"/>
            </a:avLst>
          </a:prstGeom>
          <a:solidFill>
            <a:srgbClr val="FFFDF8"/>
          </a:solidFill>
          <a:ln>
            <a:noFill/>
          </a:ln>
        </p:spPr>
        <p:txBody>
          <a:bodyPr rtlCol="0" anchor="ctr"/>
          <a:lstStyle/>
          <a:p>
            <a:pPr algn="ctr"/>
          </a:p>
        </p:txBody>
      </p:sp>
      <p:sp>
        <p:nvSpPr>
          <p:cNvPr id="19" name="Rectangle 18"/>
          <p:cNvSpPr/>
          <p:nvPr/>
        </p:nvSpPr>
        <p:spPr>
          <a:xfrm>
            <a:off x="711200" y="255537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555379"/>
            <a:ext cx="6350" cy="1041301"/>
          </a:xfrm>
          <a:prstGeom prst="rect">
            <a:avLst/>
          </a:prstGeom>
          <a:solidFill>
            <a:srgbClr val="D9D4C7"/>
          </a:solidFill>
          <a:ln>
            <a:noFill/>
          </a:ln>
        </p:spPr>
        <p:txBody>
          <a:bodyPr rtlCol="0" anchor="ctr"/>
          <a:lstStyle/>
          <a:p>
            <a:pPr algn="ctr"/>
          </a:p>
        </p:txBody>
      </p:sp>
      <p:sp>
        <p:nvSpPr>
          <p:cNvPr id="21" name="Rectangle 20"/>
          <p:cNvSpPr/>
          <p:nvPr/>
        </p:nvSpPr>
        <p:spPr>
          <a:xfrm>
            <a:off x="711200" y="3590330"/>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555379"/>
            <a:ext cx="50800" cy="1041301"/>
          </a:xfrm>
          <a:prstGeom prst="roundRect">
            <a:avLst>
              <a:gd name="adj" fmla="val 50000"/>
            </a:avLst>
          </a:prstGeom>
          <a:solidFill>
            <a:srgbClr val="9AA6BC"/>
          </a:solidFill>
          <a:ln>
            <a:noFill/>
          </a:ln>
        </p:spPr>
        <p:txBody>
          <a:bodyPr rtlCol="0" anchor="ctr"/>
          <a:lstStyle/>
          <a:p>
            <a:pPr algn="ctr"/>
          </a:p>
        </p:txBody>
      </p:sp>
      <p:sp>
        <p:nvSpPr>
          <p:cNvPr id="23" name="TextBox 22"/>
          <p:cNvSpPr txBox="1"/>
          <p:nvPr/>
        </p:nvSpPr>
        <p:spPr>
          <a:xfrm>
            <a:off x="927100" y="2701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gradient냐 샘플이냐</a:t>
            </a:r>
          </a:p>
        </p:txBody>
      </p:sp>
      <p:sp>
        <p:nvSpPr>
          <p:cNvPr id="24" name="TextBox 23"/>
          <p:cNvSpPr txBox="1"/>
          <p:nvPr/>
        </p:nvSpPr>
        <p:spPr>
          <a:xfrm>
            <a:off x="927100" y="3008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gradient는 매끄러운 모델이 필요하고, 샘플은 접촉·바퀴 이탈을 그대로 rollout한다. MPPI와 NMPC가 양쪽에 있다.</a:t>
            </a:r>
          </a:p>
        </p:txBody>
      </p:sp>
      <p:sp>
        <p:nvSpPr>
          <p:cNvPr id="25" name="Rounded Rectangle 24"/>
          <p:cNvSpPr/>
          <p:nvPr/>
        </p:nvSpPr>
        <p:spPr>
          <a:xfrm>
            <a:off x="6172200" y="2555379"/>
            <a:ext cx="5308600" cy="1041301"/>
          </a:xfrm>
          <a:prstGeom prst="roundRect">
            <a:avLst>
              <a:gd name="adj" fmla="val 7317"/>
            </a:avLst>
          </a:prstGeom>
          <a:solidFill>
            <a:srgbClr val="FFFDF8"/>
          </a:solidFill>
          <a:ln>
            <a:noFill/>
          </a:ln>
        </p:spPr>
        <p:txBody>
          <a:bodyPr rtlCol="0" anchor="ctr"/>
          <a:lstStyle/>
          <a:p>
            <a:pPr algn="ctr"/>
          </a:p>
        </p:txBody>
      </p:sp>
      <p:sp>
        <p:nvSpPr>
          <p:cNvPr id="26" name="Rectangle 25"/>
          <p:cNvSpPr/>
          <p:nvPr/>
        </p:nvSpPr>
        <p:spPr>
          <a:xfrm>
            <a:off x="6172200" y="255537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555379"/>
            <a:ext cx="6350" cy="1041301"/>
          </a:xfrm>
          <a:prstGeom prst="rect">
            <a:avLst/>
          </a:prstGeom>
          <a:solidFill>
            <a:srgbClr val="D9D4C7"/>
          </a:solidFill>
          <a:ln>
            <a:noFill/>
          </a:ln>
        </p:spPr>
        <p:txBody>
          <a:bodyPr rtlCol="0" anchor="ctr"/>
          <a:lstStyle/>
          <a:p>
            <a:pPr algn="ctr"/>
          </a:p>
        </p:txBody>
      </p:sp>
      <p:sp>
        <p:nvSpPr>
          <p:cNvPr id="28" name="Rectangle 27"/>
          <p:cNvSpPr/>
          <p:nvPr/>
        </p:nvSpPr>
        <p:spPr>
          <a:xfrm>
            <a:off x="6172200" y="3590330"/>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555379"/>
            <a:ext cx="50800" cy="1041301"/>
          </a:xfrm>
          <a:prstGeom prst="roundRect">
            <a:avLst>
              <a:gd name="adj" fmla="val 50000"/>
            </a:avLst>
          </a:prstGeom>
          <a:solidFill>
            <a:srgbClr val="9AA6BC"/>
          </a:solidFill>
          <a:ln>
            <a:noFill/>
          </a:ln>
        </p:spPr>
        <p:txBody>
          <a:bodyPr rtlCol="0" anchor="ctr"/>
          <a:lstStyle/>
          <a:p>
            <a:pPr algn="ctr"/>
          </a:p>
        </p:txBody>
      </p:sp>
      <p:sp>
        <p:nvSpPr>
          <p:cNvPr id="30" name="TextBox 29"/>
          <p:cNvSpPr txBox="1"/>
          <p:nvPr/>
        </p:nvSpPr>
        <p:spPr>
          <a:xfrm>
            <a:off x="6388100" y="2701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조향 한계를 어디서</a:t>
            </a:r>
          </a:p>
        </p:txBody>
      </p:sp>
      <p:sp>
        <p:nvSpPr>
          <p:cNvPr id="31" name="TextBox 30"/>
          <p:cNvSpPr txBox="1"/>
          <p:nvPr/>
        </p:nvSpPr>
        <p:spPr>
          <a:xfrm>
            <a:off x="6388100" y="3008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 비용(±130°), MPC 운동 모드(±90°). travplan ±56.2°는 원뿔이고, NMPC는 box만 쓴다.</a:t>
            </a:r>
          </a:p>
        </p:txBody>
      </p:sp>
      <p:sp>
        <p:nvSpPr>
          <p:cNvPr id="32" name="Rounded Rectangle 31"/>
          <p:cNvSpPr/>
          <p:nvPr/>
        </p:nvSpPr>
        <p:spPr>
          <a:xfrm>
            <a:off x="711200" y="3774480"/>
            <a:ext cx="10769600" cy="502543"/>
          </a:xfrm>
          <a:prstGeom prst="roundRect">
            <a:avLst>
              <a:gd name="adj" fmla="val 15162"/>
            </a:avLst>
          </a:prstGeom>
          <a:solidFill>
            <a:srgbClr val="16213A"/>
          </a:solidFill>
          <a:ln>
            <a:noFill/>
          </a:ln>
        </p:spPr>
        <p:txBody>
          <a:bodyPr rtlCol="0" anchor="ctr"/>
          <a:lstStyle/>
          <a:p>
            <a:pPr algn="ctr"/>
          </a:p>
        </p:txBody>
      </p:sp>
      <p:sp>
        <p:nvSpPr>
          <p:cNvPr id="33" name="TextBox 32"/>
          <p:cNvSpPr txBox="1"/>
          <p:nvPr/>
        </p:nvSpPr>
        <p:spPr>
          <a:xfrm>
            <a:off x="889000" y="390148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두 갈래가 gradient·샘플 축의 양 끝에 있으니, 같은 벤치마크의 짝 비교가 곧 이 축의 실험이다.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M.4 · travplan에 주는 의미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지연 상태 NMPC를 먼저, 학습 초기해는 마지막에 시도한다</a:t>
            </a:r>
          </a:p>
        </p:txBody>
      </p:sp>
      <p:sp>
        <p:nvSpPr>
          <p:cNvPr id="4" name="Rounded Rectangle 3"/>
          <p:cNvSpPr/>
          <p:nvPr/>
        </p:nvSpPr>
        <p:spPr>
          <a:xfrm>
            <a:off x="711200" y="1361678"/>
            <a:ext cx="5257800" cy="1968401"/>
          </a:xfrm>
          <a:prstGeom prst="roundRect">
            <a:avLst>
              <a:gd name="adj" fmla="val 3871"/>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968401"/>
          </a:xfrm>
          <a:prstGeom prst="rect">
            <a:avLst/>
          </a:prstGeom>
          <a:solidFill>
            <a:srgbClr val="D9D4C7"/>
          </a:solidFill>
          <a:ln>
            <a:noFill/>
          </a:ln>
        </p:spPr>
        <p:txBody>
          <a:bodyPr rtlCol="0" anchor="ctr"/>
          <a:lstStyle/>
          <a:p>
            <a:pPr algn="ctr"/>
          </a:p>
        </p:txBody>
      </p:sp>
      <p:sp>
        <p:nvSpPr>
          <p:cNvPr id="7" name="Rectangle 6"/>
          <p:cNvSpPr/>
          <p:nvPr/>
        </p:nvSpPr>
        <p:spPr>
          <a:xfrm>
            <a:off x="711200" y="332372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96840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시도 순서</a:t>
            </a:r>
          </a:p>
        </p:txBody>
      </p:sp>
      <p:sp>
        <p:nvSpPr>
          <p:cNvPr id="11" name="TextBox 10"/>
          <p:cNvSpPr txBox="1"/>
          <p:nvPr/>
        </p:nvSpPr>
        <p:spPr>
          <a:xfrm>
            <a:off x="965200" y="1825228"/>
            <a:ext cx="5002720" cy="327000"/>
          </a:xfrm>
          <a:prstGeom prst="rect">
            <a:avLst/>
          </a:prstGeom>
          <a:noFill/>
        </p:spPr>
        <p:txBody>
          <a:bodyPr wrap="square" lIns="0" rIns="0" tIns="0" bIns="0" anchor="t">
            <a:normAutofit/>
          </a:bodyPr>
          <a:lstStyle/>
          <a:p>
            <a:pPr marL="190500" indent="-190500">
              <a:lnSpc>
                <a:spcPct val="133400"/>
              </a:lnSpc>
              <a:buAutoNum type="arabicPeriod" startAt="1"/>
            </a:pPr>
            <a:r>
              <a:rPr sz="1150" b="1" i="0">
                <a:solidFill>
                  <a:srgbClr val="16213A"/>
                </a:solidFill>
                <a:latin typeface="Arial"/>
                <a:ea typeface="Malgun Gothic"/>
                <a:cs typeface="Malgun Gothic"/>
              </a:rPr>
              <a:t>지연 상태 NMPC</a:t>
            </a:r>
            <a:r>
              <a:rPr sz="1150" b="0" i="0">
                <a:solidFill>
                  <a:srgbClr val="16213A"/>
                </a:solidFill>
                <a:latin typeface="Arial"/>
                <a:ea typeface="Malgun Gothic"/>
                <a:cs typeface="Malgun Gothic"/>
              </a:rPr>
              <a:t> (TP-0124 MPC 쪽): 명령을 상태 3개로, 변화율에 비용</a:t>
            </a:r>
          </a:p>
        </p:txBody>
      </p:sp>
      <p:sp>
        <p:nvSpPr>
          <p:cNvPr id="12" name="TextBox 11"/>
          <p:cNvSpPr txBox="1"/>
          <p:nvPr/>
        </p:nvSpPr>
        <p:spPr>
          <a:xfrm>
            <a:off x="965200" y="2109688"/>
            <a:ext cx="5002720" cy="327000"/>
          </a:xfrm>
          <a:prstGeom prst="rect">
            <a:avLst/>
          </a:prstGeom>
          <a:noFill/>
        </p:spPr>
        <p:txBody>
          <a:bodyPr wrap="square" lIns="0" rIns="0" tIns="0" bIns="0" anchor="t">
            <a:normAutofit/>
          </a:bodyPr>
          <a:lstStyle/>
          <a:p>
            <a:pPr marL="190500" indent="-190500">
              <a:lnSpc>
                <a:spcPct val="133400"/>
              </a:lnSpc>
              <a:buAutoNum type="arabicPeriod" startAt="2"/>
            </a:pPr>
            <a:r>
              <a:rPr sz="1150" b="0" i="0">
                <a:solidFill>
                  <a:srgbClr val="16213A"/>
                </a:solidFill>
                <a:latin typeface="Arial"/>
                <a:ea typeface="Malgun Gothic"/>
                <a:cs typeface="Malgun Gothic"/>
              </a:rPr>
              <a:t>부호 있는 경사 입력 GP: 1 s 예측 오차부터</a:t>
            </a:r>
          </a:p>
        </p:txBody>
      </p:sp>
      <p:sp>
        <p:nvSpPr>
          <p:cNvPr id="13" name="TextBox 12"/>
          <p:cNvSpPr txBox="1"/>
          <p:nvPr/>
        </p:nvSpPr>
        <p:spPr>
          <a:xfrm>
            <a:off x="965200" y="2394148"/>
            <a:ext cx="5002720" cy="327000"/>
          </a:xfrm>
          <a:prstGeom prst="rect">
            <a:avLst/>
          </a:prstGeom>
          <a:noFill/>
        </p:spPr>
        <p:txBody>
          <a:bodyPr wrap="square" lIns="0" rIns="0" tIns="0" bIns="0" anchor="t">
            <a:normAutofit/>
          </a:bodyPr>
          <a:lstStyle/>
          <a:p>
            <a:pPr marL="190500" indent="-190500">
              <a:lnSpc>
                <a:spcPct val="133400"/>
              </a:lnSpc>
              <a:buAutoNum type="arabicPeriod" startAt="3"/>
            </a:pPr>
            <a:r>
              <a:rPr sz="1150" b="0" i="0">
                <a:solidFill>
                  <a:srgbClr val="16213A"/>
                </a:solidFill>
                <a:latin typeface="Arial"/>
                <a:ea typeface="Malgun Gothic"/>
                <a:cs typeface="Malgun Gothic"/>
              </a:rPr>
              <a:t>조향 원뿔의 매끄러운 근사: 저속 처리 함께</a:t>
            </a:r>
          </a:p>
        </p:txBody>
      </p:sp>
      <p:sp>
        <p:nvSpPr>
          <p:cNvPr id="14" name="TextBox 13"/>
          <p:cNvSpPr txBox="1"/>
          <p:nvPr/>
        </p:nvSpPr>
        <p:spPr>
          <a:xfrm>
            <a:off x="965200" y="2678609"/>
            <a:ext cx="5002720" cy="327000"/>
          </a:xfrm>
          <a:prstGeom prst="rect">
            <a:avLst/>
          </a:prstGeom>
          <a:noFill/>
        </p:spPr>
        <p:txBody>
          <a:bodyPr wrap="square" lIns="0" rIns="0" tIns="0" bIns="0" anchor="t">
            <a:normAutofit/>
          </a:bodyPr>
          <a:lstStyle/>
          <a:p>
            <a:pPr marL="190500" indent="-190500">
              <a:lnSpc>
                <a:spcPct val="133400"/>
              </a:lnSpc>
              <a:buAutoNum type="arabicPeriod" startAt="4"/>
            </a:pPr>
            <a:r>
              <a:rPr sz="1150" b="0" i="0">
                <a:solidFill>
                  <a:srgbClr val="16213A"/>
                </a:solidFill>
                <a:latin typeface="Arial"/>
                <a:ea typeface="Malgun Gothic"/>
                <a:cs typeface="Malgun Gothic"/>
              </a:rPr>
              <a:t>Planner D 궤적을 초기해로: 경사로 제외 시간 초과로 판정</a:t>
            </a:r>
          </a:p>
        </p:txBody>
      </p:sp>
      <p:sp>
        <p:nvSpPr>
          <p:cNvPr id="15" name="TextBox 14"/>
          <p:cNvSpPr txBox="1"/>
          <p:nvPr/>
        </p:nvSpPr>
        <p:spPr>
          <a:xfrm>
            <a:off x="965200" y="2963069"/>
            <a:ext cx="5002720" cy="327000"/>
          </a:xfrm>
          <a:prstGeom prst="rect">
            <a:avLst/>
          </a:prstGeom>
          <a:noFill/>
        </p:spPr>
        <p:txBody>
          <a:bodyPr wrap="square" lIns="0" rIns="0" tIns="0" bIns="0" anchor="t">
            <a:normAutofit/>
          </a:bodyPr>
          <a:lstStyle/>
          <a:p>
            <a:pPr marL="190500" indent="-190500">
              <a:lnSpc>
                <a:spcPct val="133400"/>
              </a:lnSpc>
              <a:buAutoNum type="arabicPeriod" startAt="5"/>
            </a:pPr>
            <a:r>
              <a:rPr sz="1150" b="0" i="0">
                <a:solidFill>
                  <a:srgbClr val="16213A"/>
                </a:solidFill>
                <a:latin typeface="Arial"/>
                <a:ea typeface="Malgun Gothic"/>
                <a:cs typeface="Malgun Gothic"/>
              </a:rPr>
              <a:t>자세 여유(ESM)를 </a:t>
            </a:r>
            <a:r>
              <a:rPr sz="1000" b="0" i="0">
                <a:solidFill>
                  <a:srgbClr val="7C2D12"/>
                </a:solidFill>
                <a:latin typeface="Consolas"/>
                <a:ea typeface="Malgun Gothic"/>
                <a:cs typeface="Malgun Gothic"/>
              </a:rPr>
              <a:t>CostTerm</a:t>
            </a:r>
            <a:r>
              <a:rPr sz="1150" b="0" i="0">
                <a:solidFill>
                  <a:srgbClr val="16213A"/>
                </a:solidFill>
                <a:latin typeface="Arial"/>
                <a:ea typeface="Malgun Gothic"/>
                <a:cs typeface="Malgun Gothic"/>
              </a:rPr>
              <a:t>으로 먼저</a:t>
            </a:r>
          </a:p>
        </p:txBody>
      </p:sp>
      <p:sp>
        <p:nvSpPr>
          <p:cNvPr id="16" name="Rounded Rectangle 15"/>
          <p:cNvSpPr/>
          <p:nvPr/>
        </p:nvSpPr>
        <p:spPr>
          <a:xfrm>
            <a:off x="6223000" y="1361678"/>
            <a:ext cx="5257800" cy="1569641"/>
          </a:xfrm>
          <a:prstGeom prst="roundRect">
            <a:avLst>
              <a:gd name="adj" fmla="val 4854"/>
            </a:avLst>
          </a:prstGeom>
          <a:solidFill>
            <a:srgbClr val="FFFDF8"/>
          </a:solidFill>
          <a:ln>
            <a:noFill/>
          </a:ln>
        </p:spPr>
        <p:txBody>
          <a:bodyPr rtlCol="0" anchor="ctr"/>
          <a:lstStyle/>
          <a:p>
            <a:pPr algn="ctr"/>
          </a:p>
        </p:txBody>
      </p:sp>
      <p:sp>
        <p:nvSpPr>
          <p:cNvPr id="17" name="Rectangle 16"/>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1361678"/>
            <a:ext cx="6350" cy="1569641"/>
          </a:xfrm>
          <a:prstGeom prst="rect">
            <a:avLst/>
          </a:prstGeom>
          <a:solidFill>
            <a:srgbClr val="D9D4C7"/>
          </a:solidFill>
          <a:ln>
            <a:noFill/>
          </a:ln>
        </p:spPr>
        <p:txBody>
          <a:bodyPr rtlCol="0" anchor="ctr"/>
          <a:lstStyle/>
          <a:p>
            <a:pPr algn="ctr"/>
          </a:p>
        </p:txBody>
      </p:sp>
      <p:sp>
        <p:nvSpPr>
          <p:cNvPr id="19" name="Rectangle 18"/>
          <p:cNvSpPr/>
          <p:nvPr/>
        </p:nvSpPr>
        <p:spPr>
          <a:xfrm>
            <a:off x="6223000" y="2924969"/>
            <a:ext cx="52578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223000" y="1361678"/>
            <a:ext cx="50800" cy="1569641"/>
          </a:xfrm>
          <a:prstGeom prst="roundRect">
            <a:avLst>
              <a:gd name="adj" fmla="val 50000"/>
            </a:avLst>
          </a:prstGeom>
          <a:solidFill>
            <a:srgbClr val="9AA6BC"/>
          </a:solidFill>
          <a:ln>
            <a:noFill/>
          </a:ln>
        </p:spPr>
        <p:txBody>
          <a:bodyPr rtlCol="0" anchor="ctr"/>
          <a:lstStyle/>
          <a:p>
            <a:pPr algn="ctr"/>
          </a:p>
        </p:txBody>
      </p:sp>
      <p:sp>
        <p:nvSpPr>
          <p:cNvPr id="21" name="Rounded Rectangle 20"/>
          <p:cNvSpPr/>
          <p:nvPr/>
        </p:nvSpPr>
        <p:spPr>
          <a:xfrm>
            <a:off x="6438900" y="1507728"/>
            <a:ext cx="1030784" cy="241300"/>
          </a:xfrm>
          <a:prstGeom prst="roundRect">
            <a:avLst>
              <a:gd name="adj" fmla="val 50000"/>
            </a:avLst>
          </a:prstGeom>
          <a:solidFill>
            <a:srgbClr val="ECE8DF"/>
          </a:solidFill>
          <a:ln>
            <a:noFill/>
          </a:ln>
        </p:spPr>
        <p:txBody>
          <a:bodyPr rtlCol="0" anchor="ctr"/>
          <a:lstStyle/>
          <a:p>
            <a:pPr algn="ctr"/>
          </a:p>
        </p:txBody>
      </p:sp>
      <p:sp>
        <p:nvSpPr>
          <p:cNvPr id="22" name="TextBox 21"/>
          <p:cNvSpPr txBox="1"/>
          <p:nvPr/>
        </p:nvSpPr>
        <p:spPr>
          <a:xfrm>
            <a:off x="6527800" y="1533128"/>
            <a:ext cx="90397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가져오지 않을 것</a:t>
            </a:r>
          </a:p>
        </p:txBody>
      </p:sp>
      <p:sp>
        <p:nvSpPr>
          <p:cNvPr id="23" name="TextBox 22"/>
          <p:cNvSpPr txBox="1"/>
          <p:nvPr/>
        </p:nvSpPr>
        <p:spPr>
          <a:xfrm>
            <a:off x="64389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contraction metric 튜브·SDP 파이프라인: 오프라인 LMI·SDP가 필요하고 실험이 쿼드로터 시뮬뿐이다.</a:t>
            </a:r>
          </a:p>
        </p:txBody>
      </p:sp>
      <p:sp>
        <p:nvSpPr>
          <p:cNvPr id="24" name="TextBox 23"/>
          <p:cNvSpPr txBox="1"/>
          <p:nvPr/>
        </p:nvSpPr>
        <p:spPr>
          <a:xfrm>
            <a:off x="6438900" y="23433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PAC-NMPC의 SNOPT: acados RTI 구조와 맞지 않는다. 학습 가치를 종단 비용으로 쓰는 부분만 따로 본다.</a:t>
            </a:r>
          </a:p>
        </p:txBody>
      </p:sp>
      <p:sp>
        <p:nvSpPr>
          <p:cNvPr id="25" name="Rounded Rectangle 24"/>
          <p:cNvSpPr/>
          <p:nvPr/>
        </p:nvSpPr>
        <p:spPr>
          <a:xfrm>
            <a:off x="711200" y="3507879"/>
            <a:ext cx="10769600" cy="502543"/>
          </a:xfrm>
          <a:prstGeom prst="roundRect">
            <a:avLst>
              <a:gd name="adj" fmla="val 15162"/>
            </a:avLst>
          </a:prstGeom>
          <a:solidFill>
            <a:srgbClr val="16213A"/>
          </a:solidFill>
          <a:ln>
            <a:noFill/>
          </a:ln>
        </p:spPr>
        <p:txBody>
          <a:bodyPr rtlCol="0" anchor="ctr"/>
          <a:lstStyle/>
          <a:p>
            <a:pPr algn="ctr"/>
          </a:p>
        </p:txBody>
      </p:sp>
      <p:sp>
        <p:nvSpPr>
          <p:cNvPr id="26" name="TextBox 25"/>
          <p:cNvSpPr txBox="1"/>
          <p:nvPr/>
        </p:nvSpPr>
        <p:spPr>
          <a:xfrm>
            <a:off x="889000" y="363487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실패 원인(bang-bang 떨림)에 직접 닿는 것은 고전 해법인 지연 상태 확장뿐이다.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62919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작업 기록 (M.3)</a:t>
            </a:r>
          </a:p>
        </p:txBody>
      </p:sp>
      <p:sp>
        <p:nvSpPr>
          <p:cNvPr id="3" name="TextBox 2"/>
          <p:cNvSpPr txBox="1"/>
          <p:nvPr/>
        </p:nvSpPr>
        <p:spPr>
          <a:xfrm>
            <a:off x="812800" y="3067348"/>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무엇을 만들고 무엇을 쟀나</a:t>
            </a:r>
          </a:p>
        </p:txBody>
      </p:sp>
      <p:sp>
        <p:nvSpPr>
          <p:cNvPr id="4" name="TextBox 3"/>
          <p:cNvSpPr txBox="1"/>
          <p:nvPr/>
        </p:nvSpPr>
        <p:spPr>
          <a:xfrm>
            <a:off x="812800" y="391566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0단계 6/12 → 정적 40/40·보행자 24/24 → plant에서 지연을 아는 MPPI에 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M.3.2 · 단계와 게이트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단계 가운데 셋은 넘었고, 분산 튜브는 효과가 없었다</a:t>
            </a:r>
          </a:p>
        </p:txBody>
      </p:sp>
      <p:graphicFrame>
        <p:nvGraphicFramePr>
          <p:cNvPr id="4" name="Table 3"/>
          <p:cNvGraphicFramePr>
            <a:graphicFrameLocks noGrp="1"/>
          </p:cNvGraphicFramePr>
          <p:nvPr/>
        </p:nvGraphicFramePr>
        <p:xfrm>
          <a:off x="711200" y="1361678"/>
          <a:ext cx="10769601" cy="1538625"/>
        </p:xfrm>
        <a:graphic>
          <a:graphicData uri="http://schemas.openxmlformats.org/drawingml/2006/table">
            <a:tbl>
              <a:tblPr firstRow="0" bandRow="0">
                <a:tableStyleId>{5C22544A-7EE6-4342-B048-85BDC9FD1C3A}</a:tableStyleId>
              </a:tblPr>
              <a:tblGrid>
                <a:gridCol w="2734072"/>
                <a:gridCol w="1327944"/>
                <a:gridCol w="3457873"/>
                <a:gridCol w="3249712"/>
              </a:tblGrid>
              <a:tr h="263634">
                <a:tc>
                  <a:txBody>
                    <a:bodyPr wrap="square"/>
                    <a:lstStyle/>
                    <a:p>
                      <a:r>
                        <a:rPr sz="1000" b="1" i="0">
                          <a:solidFill>
                            <a:srgbClr val="F4F1EA"/>
                          </a:solidFill>
                          <a:latin typeface="Arial"/>
                          <a:ea typeface="Malgun Gothic"/>
                          <a:cs typeface="Malgun Gothic"/>
                        </a:rPr>
                        <a:t>단계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TP</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통과 기준</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결과</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0 명목 MPC</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TP-0070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MPPI와 동률 40/40, &lt; 20 ms</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명령 수정 뒤 40/40, 6.4 ms</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1 치명 셀 제약 + 보행자</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TP-0071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치명 셀을 제약으로</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정적 40/40, 보행자 24/24</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 GP 평균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TP-0068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1초 예측 오차 50% 감소</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RMSE 66–78% 감소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3 분산으로 조이기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TP-0069</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성공 ≥ 11/12 유지</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효과 없음, 선택 스택</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4 PCBF 회복, 튜브·SLP</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시작 안 함</a:t>
                      </a:r>
                    </a:p>
                  </a:txBody>
                  <a:tcPr marL="76200" marR="76200" marT="25400" marB="25400">
                    <a:solidFill>
                      <a:srgbClr val="F1EDE4"/>
                    </a:solidFill>
                  </a:tcPr>
                </a:tc>
              </a:tr>
            </a:tbl>
          </a:graphicData>
        </a:graphic>
      </p:graphicFrame>
      <p:sp>
        <p:nvSpPr>
          <p:cNvPr id="5" name="TextBox 4"/>
          <p:cNvSpPr txBox="1"/>
          <p:nvPr/>
        </p:nvSpPr>
        <p:spPr>
          <a:xfrm>
            <a:off x="711200" y="3349625"/>
            <a:ext cx="1111808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툴체인: acados v0.3.4 소스 빌드, casadi 3.6.x. smoke OCP 0.087 ms/해(SQP-RTI, HPIPM). acados v0.3.4는 </a:t>
            </a:r>
            <a:r>
              <a:rPr sz="900" b="0" i="0">
                <a:solidFill>
                  <a:srgbClr val="7C2D12"/>
                </a:solidFill>
                <a:latin typeface="Consolas"/>
                <a:ea typeface="Malgun Gothic"/>
                <a:cs typeface="Malgun Gothic"/>
              </a:rPr>
              <a:t>ocp.dims.N</a:t>
            </a:r>
            <a:r>
              <a:rPr sz="1050" b="0" i="0">
                <a:solidFill>
                  <a:srgbClr val="16213A"/>
                </a:solidFill>
                <a:latin typeface="Arial"/>
                <a:ea typeface="Malgun Gothic"/>
                <a:cs typeface="Malgun Gothic"/>
              </a:rPr>
              <a:t>을 쓴다.</a:t>
            </a:r>
          </a:p>
        </p:txBody>
      </p:sp>
      <p:sp>
        <p:nvSpPr>
          <p:cNvPr id="6" name="Rounded Rectangle 5"/>
          <p:cNvSpPr/>
          <p:nvPr/>
        </p:nvSpPr>
        <p:spPr>
          <a:xfrm>
            <a:off x="711200" y="3722985"/>
            <a:ext cx="2418358" cy="937220"/>
          </a:xfrm>
          <a:prstGeom prst="roundRect">
            <a:avLst>
              <a:gd name="adj" fmla="val 6775"/>
            </a:avLst>
          </a:prstGeom>
          <a:solidFill>
            <a:srgbClr val="FFFDF8"/>
          </a:solidFill>
          <a:ln>
            <a:noFill/>
          </a:ln>
        </p:spPr>
        <p:txBody>
          <a:bodyPr rtlCol="0" anchor="ctr"/>
          <a:lstStyle/>
          <a:p>
            <a:pPr algn="ctr"/>
          </a:p>
        </p:txBody>
      </p:sp>
      <p:sp>
        <p:nvSpPr>
          <p:cNvPr id="7" name="Rectangle 6"/>
          <p:cNvSpPr/>
          <p:nvPr/>
        </p:nvSpPr>
        <p:spPr>
          <a:xfrm>
            <a:off x="711200" y="3722985"/>
            <a:ext cx="2418358" cy="38100"/>
          </a:xfrm>
          <a:prstGeom prst="rect">
            <a:avLst/>
          </a:prstGeom>
          <a:solidFill>
            <a:srgbClr val="C2410C"/>
          </a:solidFill>
          <a:ln>
            <a:noFill/>
          </a:ln>
        </p:spPr>
        <p:txBody>
          <a:bodyPr rtlCol="0" anchor="ctr"/>
          <a:lstStyle/>
          <a:p>
            <a:pPr algn="ctr"/>
          </a:p>
        </p:txBody>
      </p:sp>
      <p:sp>
        <p:nvSpPr>
          <p:cNvPr id="8" name="Rectangle 7"/>
          <p:cNvSpPr/>
          <p:nvPr/>
        </p:nvSpPr>
        <p:spPr>
          <a:xfrm>
            <a:off x="3123208" y="3722985"/>
            <a:ext cx="6350" cy="937220"/>
          </a:xfrm>
          <a:prstGeom prst="rect">
            <a:avLst/>
          </a:prstGeom>
          <a:solidFill>
            <a:srgbClr val="D9D4C7"/>
          </a:solidFill>
          <a:ln>
            <a:noFill/>
          </a:ln>
        </p:spPr>
        <p:txBody>
          <a:bodyPr rtlCol="0" anchor="ctr"/>
          <a:lstStyle/>
          <a:p>
            <a:pPr algn="ctr"/>
          </a:p>
        </p:txBody>
      </p:sp>
      <p:sp>
        <p:nvSpPr>
          <p:cNvPr id="9" name="Rectangle 8"/>
          <p:cNvSpPr/>
          <p:nvPr/>
        </p:nvSpPr>
        <p:spPr>
          <a:xfrm>
            <a:off x="711200" y="4653855"/>
            <a:ext cx="2418358" cy="6350"/>
          </a:xfrm>
          <a:prstGeom prst="rect">
            <a:avLst/>
          </a:prstGeom>
          <a:solidFill>
            <a:srgbClr val="D9D4C7"/>
          </a:solidFill>
          <a:ln>
            <a:noFill/>
          </a:ln>
        </p:spPr>
        <p:txBody>
          <a:bodyPr rtlCol="0" anchor="ctr"/>
          <a:lstStyle/>
          <a:p>
            <a:pPr algn="ctr"/>
          </a:p>
        </p:txBody>
      </p:sp>
      <p:sp>
        <p:nvSpPr>
          <p:cNvPr id="10" name="Rectangle 9"/>
          <p:cNvSpPr/>
          <p:nvPr/>
        </p:nvSpPr>
        <p:spPr>
          <a:xfrm>
            <a:off x="711200" y="3722985"/>
            <a:ext cx="6350" cy="937220"/>
          </a:xfrm>
          <a:prstGeom prst="rect">
            <a:avLst/>
          </a:prstGeom>
          <a:solidFill>
            <a:srgbClr val="D9D4C7"/>
          </a:solidFill>
          <a:ln>
            <a:noFill/>
          </a:ln>
        </p:spPr>
        <p:txBody>
          <a:bodyPr rtlCol="0" anchor="ctr"/>
          <a:lstStyle/>
          <a:p>
            <a:pPr algn="ctr"/>
          </a:p>
        </p:txBody>
      </p:sp>
      <p:sp>
        <p:nvSpPr>
          <p:cNvPr id="11" name="TextBox 10"/>
          <p:cNvSpPr txBox="1"/>
          <p:nvPr/>
        </p:nvSpPr>
        <p:spPr>
          <a:xfrm>
            <a:off x="831850" y="3862685"/>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09-29</a:t>
            </a:r>
          </a:p>
        </p:txBody>
      </p:sp>
      <p:sp>
        <p:nvSpPr>
          <p:cNvPr id="12" name="TextBox 11"/>
          <p:cNvSpPr txBox="1"/>
          <p:nvPr/>
        </p:nvSpPr>
        <p:spPr>
          <a:xfrm>
            <a:off x="831850" y="4161135"/>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툴체인, 0단계 6/12, 1단계 9/12, plant·GP</a:t>
            </a:r>
          </a:p>
        </p:txBody>
      </p:sp>
      <p:sp>
        <p:nvSpPr>
          <p:cNvPr id="13" name="TextBox 12"/>
          <p:cNvSpPr txBox="1"/>
          <p:nvPr/>
        </p:nvSpPr>
        <p:spPr>
          <a:xfrm>
            <a:off x="3218458" y="402014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4" name="Rounded Rectangle 13"/>
          <p:cNvSpPr/>
          <p:nvPr/>
        </p:nvSpPr>
        <p:spPr>
          <a:xfrm>
            <a:off x="3494881" y="3722985"/>
            <a:ext cx="2418457" cy="937220"/>
          </a:xfrm>
          <a:prstGeom prst="roundRect">
            <a:avLst>
              <a:gd name="adj" fmla="val 6775"/>
            </a:avLst>
          </a:prstGeom>
          <a:solidFill>
            <a:srgbClr val="FFFDF8"/>
          </a:solidFill>
          <a:ln>
            <a:noFill/>
          </a:ln>
        </p:spPr>
        <p:txBody>
          <a:bodyPr rtlCol="0" anchor="ctr"/>
          <a:lstStyle/>
          <a:p>
            <a:pPr algn="ctr"/>
          </a:p>
        </p:txBody>
      </p:sp>
      <p:sp>
        <p:nvSpPr>
          <p:cNvPr id="15" name="Rectangle 14"/>
          <p:cNvSpPr/>
          <p:nvPr/>
        </p:nvSpPr>
        <p:spPr>
          <a:xfrm>
            <a:off x="3494881" y="3722985"/>
            <a:ext cx="2418457" cy="38100"/>
          </a:xfrm>
          <a:prstGeom prst="rect">
            <a:avLst/>
          </a:prstGeom>
          <a:solidFill>
            <a:srgbClr val="C2410C"/>
          </a:solidFill>
          <a:ln>
            <a:noFill/>
          </a:ln>
        </p:spPr>
        <p:txBody>
          <a:bodyPr rtlCol="0" anchor="ctr"/>
          <a:lstStyle/>
          <a:p>
            <a:pPr algn="ctr"/>
          </a:p>
        </p:txBody>
      </p:sp>
      <p:sp>
        <p:nvSpPr>
          <p:cNvPr id="16" name="Rectangle 15"/>
          <p:cNvSpPr/>
          <p:nvPr/>
        </p:nvSpPr>
        <p:spPr>
          <a:xfrm>
            <a:off x="5906988" y="3722985"/>
            <a:ext cx="6350" cy="937220"/>
          </a:xfrm>
          <a:prstGeom prst="rect">
            <a:avLst/>
          </a:prstGeom>
          <a:solidFill>
            <a:srgbClr val="D9D4C7"/>
          </a:solidFill>
          <a:ln>
            <a:noFill/>
          </a:ln>
        </p:spPr>
        <p:txBody>
          <a:bodyPr rtlCol="0" anchor="ctr"/>
          <a:lstStyle/>
          <a:p>
            <a:pPr algn="ctr"/>
          </a:p>
        </p:txBody>
      </p:sp>
      <p:sp>
        <p:nvSpPr>
          <p:cNvPr id="17" name="Rectangle 16"/>
          <p:cNvSpPr/>
          <p:nvPr/>
        </p:nvSpPr>
        <p:spPr>
          <a:xfrm>
            <a:off x="3494881" y="4653855"/>
            <a:ext cx="2418457" cy="6350"/>
          </a:xfrm>
          <a:prstGeom prst="rect">
            <a:avLst/>
          </a:prstGeom>
          <a:solidFill>
            <a:srgbClr val="D9D4C7"/>
          </a:solidFill>
          <a:ln>
            <a:noFill/>
          </a:ln>
        </p:spPr>
        <p:txBody>
          <a:bodyPr rtlCol="0" anchor="ctr"/>
          <a:lstStyle/>
          <a:p>
            <a:pPr algn="ctr"/>
          </a:p>
        </p:txBody>
      </p:sp>
      <p:sp>
        <p:nvSpPr>
          <p:cNvPr id="18" name="Rectangle 17"/>
          <p:cNvSpPr/>
          <p:nvPr/>
        </p:nvSpPr>
        <p:spPr>
          <a:xfrm>
            <a:off x="3494881" y="3722985"/>
            <a:ext cx="6350" cy="937220"/>
          </a:xfrm>
          <a:prstGeom prst="rect">
            <a:avLst/>
          </a:prstGeom>
          <a:solidFill>
            <a:srgbClr val="D9D4C7"/>
          </a:solidFill>
          <a:ln>
            <a:noFill/>
          </a:ln>
        </p:spPr>
        <p:txBody>
          <a:bodyPr rtlCol="0" anchor="ctr"/>
          <a:lstStyle/>
          <a:p>
            <a:pPr algn="ctr"/>
          </a:p>
        </p:txBody>
      </p:sp>
      <p:sp>
        <p:nvSpPr>
          <p:cNvPr id="19" name="TextBox 18"/>
          <p:cNvSpPr txBox="1"/>
          <p:nvPr/>
        </p:nvSpPr>
        <p:spPr>
          <a:xfrm>
            <a:off x="3615531" y="3862685"/>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09-30</a:t>
            </a:r>
          </a:p>
        </p:txBody>
      </p:sp>
      <p:sp>
        <p:nvSpPr>
          <p:cNvPr id="20" name="TextBox 19"/>
          <p:cNvSpPr txBox="1"/>
          <p:nvPr/>
        </p:nvSpPr>
        <p:spPr>
          <a:xfrm>
            <a:off x="3615531" y="4161135"/>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구멍 진단, CBF, 보행자 23/24</a:t>
            </a:r>
          </a:p>
        </p:txBody>
      </p:sp>
      <p:sp>
        <p:nvSpPr>
          <p:cNvPr id="21" name="TextBox 20"/>
          <p:cNvSpPr txBox="1"/>
          <p:nvPr/>
        </p:nvSpPr>
        <p:spPr>
          <a:xfrm>
            <a:off x="6002238" y="402014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2" name="Rounded Rectangle 21"/>
          <p:cNvSpPr/>
          <p:nvPr/>
        </p:nvSpPr>
        <p:spPr>
          <a:xfrm>
            <a:off x="6278662" y="3722985"/>
            <a:ext cx="2418358" cy="937220"/>
          </a:xfrm>
          <a:prstGeom prst="roundRect">
            <a:avLst>
              <a:gd name="adj" fmla="val 6775"/>
            </a:avLst>
          </a:prstGeom>
          <a:solidFill>
            <a:srgbClr val="FFFDF8"/>
          </a:solidFill>
          <a:ln>
            <a:noFill/>
          </a:ln>
        </p:spPr>
        <p:txBody>
          <a:bodyPr rtlCol="0" anchor="ctr"/>
          <a:lstStyle/>
          <a:p>
            <a:pPr algn="ctr"/>
          </a:p>
        </p:txBody>
      </p:sp>
      <p:sp>
        <p:nvSpPr>
          <p:cNvPr id="23" name="Rectangle 22"/>
          <p:cNvSpPr/>
          <p:nvPr/>
        </p:nvSpPr>
        <p:spPr>
          <a:xfrm>
            <a:off x="6278662" y="3722985"/>
            <a:ext cx="2418358" cy="38100"/>
          </a:xfrm>
          <a:prstGeom prst="rect">
            <a:avLst/>
          </a:prstGeom>
          <a:solidFill>
            <a:srgbClr val="C2410C"/>
          </a:solidFill>
          <a:ln>
            <a:noFill/>
          </a:ln>
        </p:spPr>
        <p:txBody>
          <a:bodyPr rtlCol="0" anchor="ctr"/>
          <a:lstStyle/>
          <a:p>
            <a:pPr algn="ctr"/>
          </a:p>
        </p:txBody>
      </p:sp>
      <p:sp>
        <p:nvSpPr>
          <p:cNvPr id="24" name="Rectangle 23"/>
          <p:cNvSpPr/>
          <p:nvPr/>
        </p:nvSpPr>
        <p:spPr>
          <a:xfrm>
            <a:off x="8690670" y="3722985"/>
            <a:ext cx="6350" cy="937220"/>
          </a:xfrm>
          <a:prstGeom prst="rect">
            <a:avLst/>
          </a:prstGeom>
          <a:solidFill>
            <a:srgbClr val="D9D4C7"/>
          </a:solidFill>
          <a:ln>
            <a:noFill/>
          </a:ln>
        </p:spPr>
        <p:txBody>
          <a:bodyPr rtlCol="0" anchor="ctr"/>
          <a:lstStyle/>
          <a:p>
            <a:pPr algn="ctr"/>
          </a:p>
        </p:txBody>
      </p:sp>
      <p:sp>
        <p:nvSpPr>
          <p:cNvPr id="25" name="Rectangle 24"/>
          <p:cNvSpPr/>
          <p:nvPr/>
        </p:nvSpPr>
        <p:spPr>
          <a:xfrm>
            <a:off x="6278662" y="4653855"/>
            <a:ext cx="2418358" cy="6350"/>
          </a:xfrm>
          <a:prstGeom prst="rect">
            <a:avLst/>
          </a:prstGeom>
          <a:solidFill>
            <a:srgbClr val="D9D4C7"/>
          </a:solidFill>
          <a:ln>
            <a:noFill/>
          </a:ln>
        </p:spPr>
        <p:txBody>
          <a:bodyPr rtlCol="0" anchor="ctr"/>
          <a:lstStyle/>
          <a:p>
            <a:pPr algn="ctr"/>
          </a:p>
        </p:txBody>
      </p:sp>
      <p:sp>
        <p:nvSpPr>
          <p:cNvPr id="26" name="Rectangle 25"/>
          <p:cNvSpPr/>
          <p:nvPr/>
        </p:nvSpPr>
        <p:spPr>
          <a:xfrm>
            <a:off x="6278662" y="3722985"/>
            <a:ext cx="6350" cy="937220"/>
          </a:xfrm>
          <a:prstGeom prst="rect">
            <a:avLst/>
          </a:prstGeom>
          <a:solidFill>
            <a:srgbClr val="D9D4C7"/>
          </a:solidFill>
          <a:ln>
            <a:noFill/>
          </a:ln>
        </p:spPr>
        <p:txBody>
          <a:bodyPr rtlCol="0" anchor="ctr"/>
          <a:lstStyle/>
          <a:p>
            <a:pPr algn="ctr"/>
          </a:p>
        </p:txBody>
      </p:sp>
      <p:sp>
        <p:nvSpPr>
          <p:cNvPr id="27" name="TextBox 26"/>
          <p:cNvSpPr txBox="1"/>
          <p:nvPr/>
        </p:nvSpPr>
        <p:spPr>
          <a:xfrm>
            <a:off x="6399312" y="3862685"/>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10-01</a:t>
            </a:r>
          </a:p>
        </p:txBody>
      </p:sp>
      <p:sp>
        <p:nvSpPr>
          <p:cNvPr id="28" name="TextBox 27"/>
          <p:cNvSpPr txBox="1"/>
          <p:nvPr/>
        </p:nvSpPr>
        <p:spPr>
          <a:xfrm>
            <a:off x="6399312" y="4161135"/>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GP 44/48, 명령 수정 40/40, 선택 스택들</a:t>
            </a:r>
          </a:p>
        </p:txBody>
      </p:sp>
      <p:sp>
        <p:nvSpPr>
          <p:cNvPr id="29" name="TextBox 28"/>
          <p:cNvSpPr txBox="1"/>
          <p:nvPr/>
        </p:nvSpPr>
        <p:spPr>
          <a:xfrm>
            <a:off x="8785920" y="402014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0" name="Rounded Rectangle 29"/>
          <p:cNvSpPr/>
          <p:nvPr/>
        </p:nvSpPr>
        <p:spPr>
          <a:xfrm>
            <a:off x="9062343" y="3722985"/>
            <a:ext cx="2418457" cy="937220"/>
          </a:xfrm>
          <a:prstGeom prst="roundRect">
            <a:avLst>
              <a:gd name="adj" fmla="val 6775"/>
            </a:avLst>
          </a:prstGeom>
          <a:solidFill>
            <a:srgbClr val="FFFDF8"/>
          </a:solidFill>
          <a:ln>
            <a:noFill/>
          </a:ln>
        </p:spPr>
        <p:txBody>
          <a:bodyPr rtlCol="0" anchor="ctr"/>
          <a:lstStyle/>
          <a:p>
            <a:pPr algn="ctr"/>
          </a:p>
        </p:txBody>
      </p:sp>
      <p:sp>
        <p:nvSpPr>
          <p:cNvPr id="31" name="Rectangle 30"/>
          <p:cNvSpPr/>
          <p:nvPr/>
        </p:nvSpPr>
        <p:spPr>
          <a:xfrm>
            <a:off x="9062343" y="3722985"/>
            <a:ext cx="2418457" cy="38100"/>
          </a:xfrm>
          <a:prstGeom prst="rect">
            <a:avLst/>
          </a:prstGeom>
          <a:solidFill>
            <a:srgbClr val="C2410C"/>
          </a:solidFill>
          <a:ln>
            <a:noFill/>
          </a:ln>
        </p:spPr>
        <p:txBody>
          <a:bodyPr rtlCol="0" anchor="ctr"/>
          <a:lstStyle/>
          <a:p>
            <a:pPr algn="ctr"/>
          </a:p>
        </p:txBody>
      </p:sp>
      <p:sp>
        <p:nvSpPr>
          <p:cNvPr id="32" name="Rectangle 31"/>
          <p:cNvSpPr/>
          <p:nvPr/>
        </p:nvSpPr>
        <p:spPr>
          <a:xfrm>
            <a:off x="11474450" y="3722985"/>
            <a:ext cx="6350" cy="937220"/>
          </a:xfrm>
          <a:prstGeom prst="rect">
            <a:avLst/>
          </a:prstGeom>
          <a:solidFill>
            <a:srgbClr val="D9D4C7"/>
          </a:solidFill>
          <a:ln>
            <a:noFill/>
          </a:ln>
        </p:spPr>
        <p:txBody>
          <a:bodyPr rtlCol="0" anchor="ctr"/>
          <a:lstStyle/>
          <a:p>
            <a:pPr algn="ctr"/>
          </a:p>
        </p:txBody>
      </p:sp>
      <p:sp>
        <p:nvSpPr>
          <p:cNvPr id="33" name="Rectangle 32"/>
          <p:cNvSpPr/>
          <p:nvPr/>
        </p:nvSpPr>
        <p:spPr>
          <a:xfrm>
            <a:off x="9062343" y="4653855"/>
            <a:ext cx="2418457" cy="6350"/>
          </a:xfrm>
          <a:prstGeom prst="rect">
            <a:avLst/>
          </a:prstGeom>
          <a:solidFill>
            <a:srgbClr val="D9D4C7"/>
          </a:solidFill>
          <a:ln>
            <a:noFill/>
          </a:ln>
        </p:spPr>
        <p:txBody>
          <a:bodyPr rtlCol="0" anchor="ctr"/>
          <a:lstStyle/>
          <a:p>
            <a:pPr algn="ctr"/>
          </a:p>
        </p:txBody>
      </p:sp>
      <p:sp>
        <p:nvSpPr>
          <p:cNvPr id="34" name="Rectangle 33"/>
          <p:cNvSpPr/>
          <p:nvPr/>
        </p:nvSpPr>
        <p:spPr>
          <a:xfrm>
            <a:off x="9062343" y="3722985"/>
            <a:ext cx="6350" cy="937220"/>
          </a:xfrm>
          <a:prstGeom prst="rect">
            <a:avLst/>
          </a:prstGeom>
          <a:solidFill>
            <a:srgbClr val="D9D4C7"/>
          </a:solidFill>
          <a:ln>
            <a:noFill/>
          </a:ln>
        </p:spPr>
        <p:txBody>
          <a:bodyPr rtlCol="0" anchor="ctr"/>
          <a:lstStyle/>
          <a:p>
            <a:pPr algn="ctr"/>
          </a:p>
        </p:txBody>
      </p:sp>
      <p:sp>
        <p:nvSpPr>
          <p:cNvPr id="35" name="TextBox 34"/>
          <p:cNvSpPr txBox="1"/>
          <p:nvPr/>
        </p:nvSpPr>
        <p:spPr>
          <a:xfrm>
            <a:off x="9182993" y="3862685"/>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10-04</a:t>
            </a:r>
          </a:p>
        </p:txBody>
      </p:sp>
      <p:sp>
        <p:nvSpPr>
          <p:cNvPr id="36" name="TextBox 35"/>
          <p:cNvSpPr txBox="1"/>
          <p:nvPr/>
        </p:nvSpPr>
        <p:spPr>
          <a:xfrm>
            <a:off x="9182993" y="4161135"/>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GPU PC acados, plant 비교 TP-0152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M.3.3 · TP-0070 · 0단계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지형 항이 없는 MPC는 지형이 결정하는 곳에서 전멸했다</a:t>
            </a:r>
          </a:p>
        </p:txBody>
      </p:sp>
      <p:graphicFrame>
        <p:nvGraphicFramePr>
          <p:cNvPr id="4" name="Table 3"/>
          <p:cNvGraphicFramePr>
            <a:graphicFrameLocks noGrp="1"/>
          </p:cNvGraphicFramePr>
          <p:nvPr/>
        </p:nvGraphicFramePr>
        <p:xfrm>
          <a:off x="711200" y="1361678"/>
          <a:ext cx="5257799" cy="1538625"/>
        </p:xfrm>
        <a:graphic>
          <a:graphicData uri="http://schemas.openxmlformats.org/drawingml/2006/table">
            <a:tbl>
              <a:tblPr firstRow="0" bandRow="0">
                <a:tableStyleId>{5C22544A-7EE6-4342-B048-85BDC9FD1C3A}</a:tableStyleId>
              </a:tblPr>
              <a:tblGrid>
                <a:gridCol w="2683867"/>
                <a:gridCol w="1212552"/>
                <a:gridCol w="1361380"/>
              </a:tblGrid>
              <a:tr h="263634">
                <a:tc>
                  <a:txBody>
                    <a:bodyPr wrap="square"/>
                    <a:lstStyle/>
                    <a:p>
                      <a:r>
                        <a:rPr sz="1000" b="1" i="0">
                          <a:solidFill>
                            <a:srgbClr val="F4F1EA"/>
                          </a:solidFill>
                          <a:latin typeface="Arial"/>
                          <a:ea typeface="Malgun Gothic"/>
                          <a:cs typeface="Malgun Gothic"/>
                        </a:rPr>
                        <a:t>4 시나리오 × 3 seed</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mpc</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mppi</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성공</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6/12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12/12</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curb_ramp</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0/3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3/3</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slope_crossfall</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3/3</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jerk</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2.5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4.4</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제어 시간</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8.6 ms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12.6 ms</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365106" y="1361678"/>
            <a:ext cx="4973588" cy="2730500"/>
          </a:xfrm>
          <a:prstGeom prst="rect">
            <a:avLst/>
          </a:prstGeom>
        </p:spPr>
      </p:pic>
      <p:sp>
        <p:nvSpPr>
          <p:cNvPr id="7" name="TextBox 6"/>
          <p:cNvSpPr txBox="1"/>
          <p:nvPr/>
        </p:nvSpPr>
        <p:spPr>
          <a:xfrm>
            <a:off x="6223000" y="41556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노란 선 MPC, 파란 선 MPPI, 빨간 영역 치명 셀, X 실패 지점</a:t>
            </a:r>
          </a:p>
        </p:txBody>
      </p:sp>
      <p:sp>
        <p:nvSpPr>
          <p:cNvPr id="8" name="Rounded Rectangle 7"/>
          <p:cNvSpPr/>
          <p:nvPr/>
        </p:nvSpPr>
        <p:spPr>
          <a:xfrm>
            <a:off x="711200" y="4511278"/>
            <a:ext cx="10769600" cy="502543"/>
          </a:xfrm>
          <a:prstGeom prst="roundRect">
            <a:avLst>
              <a:gd name="adj" fmla="val 15162"/>
            </a:avLst>
          </a:prstGeom>
          <a:solidFill>
            <a:srgbClr val="16213A"/>
          </a:solidFill>
          <a:ln>
            <a:noFill/>
          </a:ln>
        </p:spPr>
        <p:txBody>
          <a:bodyPr rtlCol="0" anchor="ctr"/>
          <a:lstStyle/>
          <a:p>
            <a:pPr algn="ctr"/>
          </a:p>
        </p:txBody>
      </p:sp>
      <p:sp>
        <p:nvSpPr>
          <p:cNvPr id="9" name="TextBox 8"/>
          <p:cNvSpPr txBox="1"/>
          <p:nvPr/>
        </p:nvSpPr>
        <p:spPr>
          <a:xfrm>
            <a:off x="889000" y="46382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추종과 계산 예산은 이미 이겼다. 부족한 것은 지형 인지 하나다.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M.3.5 · TP-0071 · 1단계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치명 셀을 접평면 제약으로 넣자 6/12가 9/12가 됐다</a:t>
            </a:r>
          </a:p>
        </p:txBody>
      </p:sp>
      <p:graphicFrame>
        <p:nvGraphicFramePr>
          <p:cNvPr id="4" name="Table 3"/>
          <p:cNvGraphicFramePr>
            <a:graphicFrameLocks noGrp="1"/>
          </p:cNvGraphicFramePr>
          <p:nvPr/>
        </p:nvGraphicFramePr>
        <p:xfrm>
          <a:off x="711200" y="1361678"/>
          <a:ext cx="5257800" cy="1027549"/>
        </p:xfrm>
        <a:graphic>
          <a:graphicData uri="http://schemas.openxmlformats.org/drawingml/2006/table">
            <a:tbl>
              <a:tblPr firstRow="0" bandRow="0">
                <a:tableStyleId>{5C22544A-7EE6-4342-B048-85BDC9FD1C3A}</a:tableStyleId>
              </a:tblPr>
              <a:tblGrid>
                <a:gridCol w="2337395"/>
                <a:gridCol w="866279"/>
                <a:gridCol w="1001514"/>
                <a:gridCol w="1052612"/>
              </a:tblGrid>
              <a:tr h="263634">
                <a:tc>
                  <a:txBody>
                    <a:bodyPr wrap="square"/>
                    <a:lstStyle/>
                    <a:p>
                      <a:r>
                        <a:rPr sz="1000" b="1" i="0">
                          <a:solidFill>
                            <a:srgbClr val="F4F1EA"/>
                          </a:solidFill>
                          <a:latin typeface="Arial"/>
                          <a:ea typeface="Malgun Gothic"/>
                          <a:cs typeface="Malgun Gothic"/>
                        </a:rPr>
                        <a:t>단계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성공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GT cost</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제어</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0단계 (지형 없음)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6/12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0.039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8.6 ms</a:t>
                      </a:r>
                    </a:p>
                  </a:txBody>
                  <a:tcPr marL="76200" marR="76200" marT="25400" marB="25400">
                    <a:solidFill>
                      <a:srgbClr val="F1EDE4"/>
                    </a:solidFill>
                  </a:tcPr>
                </a:tc>
              </a:tr>
              <a:tr h="255538">
                <a:tc>
                  <a:txBody>
                    <a:bodyPr wrap="square"/>
                    <a:lstStyle/>
                    <a:p>
                      <a:r>
                        <a:rPr sz="1000" b="1" i="0">
                          <a:solidFill>
                            <a:srgbClr val="16213A"/>
                          </a:solidFill>
                          <a:latin typeface="Arial"/>
                          <a:ea typeface="Malgun Gothic"/>
                          <a:cs typeface="Malgun Gothic"/>
                        </a:rPr>
                        <a:t>1단계 (치명을 제약으로)</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9/12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0.031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13.5 ms</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기준 </a:t>
                      </a:r>
                      <a:r>
                        <a:rPr sz="850" b="0" i="0">
                          <a:solidFill>
                            <a:srgbClr val="7C2D12"/>
                          </a:solidFill>
                          <a:latin typeface="Consolas"/>
                          <a:ea typeface="Malgun Gothic"/>
                          <a:cs typeface="Malgun Gothic"/>
                        </a:rPr>
                        <a:t>guidance+mppi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0.018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12.6 ms</a:t>
                      </a:r>
                    </a:p>
                  </a:txBody>
                  <a:tcPr marL="76200" marR="76200" marT="25400" marB="25400">
                    <a:solidFill>
                      <a:srgbClr val="F1EDE4"/>
                    </a:solidFill>
                  </a:tcPr>
                </a:tc>
              </a:tr>
            </a:tbl>
          </a:graphicData>
        </a:graphic>
      </p:graphicFrame>
      <p:sp>
        <p:nvSpPr>
          <p:cNvPr id="5" name="TextBox 4"/>
          <p:cNvSpPr txBox="1"/>
          <p:nvPr/>
        </p:nvSpPr>
        <p:spPr>
          <a:xfrm>
            <a:off x="711200" y="26848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대가: 여유 0.15 m를 지키느라 curb_ramp 경로가 23–25 m(MPPI 13.8 m).</a:t>
            </a:r>
          </a:p>
        </p:txBody>
      </p:sp>
      <p:sp>
        <p:nvSpPr>
          <p:cNvPr id="6" name="TextBox 5"/>
          <p:cNvSpPr txBox="1"/>
          <p:nvPr/>
        </p:nvSpPr>
        <p:spPr>
          <a:xfrm>
            <a:off x="711200" y="2994720"/>
            <a:ext cx="5440934"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당시 "남은 셋은 솔버 문제"로 적었다 → 틀렸다(다음 장).</a:t>
            </a:r>
          </a:p>
        </p:txBody>
      </p:sp>
      <p:sp>
        <p:nvSpPr>
          <p:cNvPr id="7" name="Rounded Rectangle 6"/>
          <p:cNvSpPr/>
          <p:nvPr/>
        </p:nvSpPr>
        <p:spPr>
          <a:xfrm>
            <a:off x="6223000" y="1361678"/>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2"/>
          <a:stretch>
            <a:fillRect/>
          </a:stretch>
        </p:blipFill>
        <p:spPr>
          <a:xfrm>
            <a:off x="6365106" y="1361678"/>
            <a:ext cx="4973588" cy="2730500"/>
          </a:xfrm>
          <a:prstGeom prst="rect">
            <a:avLst/>
          </a:prstGeom>
        </p:spPr>
      </p:pic>
      <p:sp>
        <p:nvSpPr>
          <p:cNvPr id="9" name="TextBox 8"/>
          <p:cNvSpPr txBox="1"/>
          <p:nvPr/>
        </p:nvSpPr>
        <p:spPr>
          <a:xfrm>
            <a:off x="6223000" y="41556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같은 네 장면, 치명을 제약으로 넣은 뒤. MPC는 하나에서만 죽는다</a:t>
            </a:r>
          </a:p>
        </p:txBody>
      </p:sp>
      <p:sp>
        <p:nvSpPr>
          <p:cNvPr id="10" name="Rounded Rectangle 9"/>
          <p:cNvSpPr/>
          <p:nvPr/>
        </p:nvSpPr>
        <p:spPr>
          <a:xfrm>
            <a:off x="711200" y="4511278"/>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46382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노드마다 따로 거는 접평면이라 램프 양옆 벽을 서로 다른 노드가 잡는다.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M.3.10 · TP-0093</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남은 실패는 솔버가 아니라 제약의 구멍이었다</a:t>
            </a:r>
          </a:p>
        </p:txBody>
      </p:sp>
      <p:graphicFrame>
        <p:nvGraphicFramePr>
          <p:cNvPr id="4" name="Table 3"/>
          <p:cNvGraphicFramePr>
            <a:graphicFrameLocks noGrp="1"/>
          </p:cNvGraphicFramePr>
          <p:nvPr/>
        </p:nvGraphicFramePr>
        <p:xfrm>
          <a:off x="711200" y="1361678"/>
          <a:ext cx="10769601" cy="1283087"/>
        </p:xfrm>
        <a:graphic>
          <a:graphicData uri="http://schemas.openxmlformats.org/drawingml/2006/table">
            <a:tbl>
              <a:tblPr firstRow="0" bandRow="0">
                <a:tableStyleId>{5C22544A-7EE6-4342-B048-85BDC9FD1C3A}</a:tableStyleId>
              </a:tblPr>
              <a:tblGrid>
                <a:gridCol w="2131616"/>
                <a:gridCol w="5775127"/>
                <a:gridCol w="2862858"/>
              </a:tblGrid>
              <a:tr h="263634">
                <a:tc>
                  <a:txBody>
                    <a:bodyPr wrap="square"/>
                    <a:lstStyle/>
                    <a:p>
                      <a:r>
                        <a:rPr sz="1000" b="1" i="0">
                          <a:solidFill>
                            <a:srgbClr val="F4F1EA"/>
                          </a:solidFill>
                          <a:latin typeface="Arial"/>
                          <a:ea typeface="Malgun Gothic"/>
                          <a:cs typeface="Malgun Gothic"/>
                        </a:rPr>
                        <a:t>구멍</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무엇이 일어났나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고침</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덩어리 안의 노드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가장 가까운 치명 셀이 자기 자신이라 법선이 없어 행을 껐다</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가장 가까운 자유 셀 쪽 법선</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셀 중심에서 잰 여유</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0.15 m가 가장자리 기준으로는 0.125 m였다</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가장자리에서 잰다(반 셀)</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지도 경계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지도 밖은 COST 1인데 </a:t>
                      </a:r>
                      <a:r>
                        <a:rPr sz="850" b="0" i="0">
                          <a:solidFill>
                            <a:srgbClr val="7C2D12"/>
                          </a:solidFill>
                          <a:latin typeface="Consolas"/>
                          <a:ea typeface="Malgun Gothic"/>
                          <a:cs typeface="Malgun Gothic"/>
                        </a:rPr>
                        <a:t>LethalField</a:t>
                      </a:r>
                      <a:r>
                        <a:rPr sz="1000" b="0" i="0">
                          <a:solidFill>
                            <a:srgbClr val="16213A"/>
                          </a:solidFill>
                          <a:latin typeface="Arial"/>
                          <a:ea typeface="Malgun Gothic"/>
                          <a:cs typeface="Malgun Gothic"/>
                        </a:rPr>
                        <a:t>는 격자 안만 봤다</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바깥 한 셀을 치명으로</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셀 조회 (코드 리뷰)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내림으로 찾아 반 셀 어긋났다</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반올림</a:t>
                      </a:r>
                    </a:p>
                  </a:txBody>
                  <a:tcPr marL="76200" marR="76200" marT="25400" marB="25400">
                    <a:solidFill>
                      <a:srgbClr val="FFFDF8"/>
                    </a:solidFill>
                  </a:tcPr>
                </a:tc>
              </a:tr>
            </a:tbl>
          </a:graphicData>
        </a:graphic>
      </p:graphicFrame>
      <p:sp>
        <p:nvSpPr>
          <p:cNvPr id="5" name="TextBox 4"/>
          <p:cNvSpPr txBox="1"/>
          <p:nvPr/>
        </p:nvSpPr>
        <p:spPr>
          <a:xfrm>
            <a:off x="711200" y="3048992"/>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 이산 CBF 감쇠(γ = 0.2): 경로가 뒤집힐 때 벽에 붙기 전에 감속한다.</a:t>
            </a:r>
          </a:p>
        </p:txBody>
      </p:sp>
      <p:sp>
        <p:nvSpPr>
          <p:cNvPr id="6" name="TextBox 5"/>
          <p:cNvSpPr txBox="1"/>
          <p:nvPr/>
        </p:nvSpPr>
        <p:spPr>
          <a:xfrm>
            <a:off x="711200" y="3358852"/>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정적 seed 0–9: </a:t>
            </a:r>
            <a:r>
              <a:rPr sz="1050" b="1" i="0">
                <a:solidFill>
                  <a:srgbClr val="16213A"/>
                </a:solidFill>
                <a:latin typeface="Arial"/>
                <a:ea typeface="Malgun Gothic"/>
                <a:cs typeface="Malgun Gothic"/>
              </a:rPr>
              <a:t>38/40</a:t>
            </a:r>
            <a:r>
              <a:rPr sz="1050" b="0" i="0">
                <a:solidFill>
                  <a:srgbClr val="16213A"/>
                </a:solidFill>
                <a:latin typeface="Arial"/>
                <a:ea typeface="Malgun Gothic"/>
                <a:cs typeface="Malgun Gothic"/>
              </a:rPr>
              <a:t>, 제어 6.6 ms(MPPI 40/40). 여유 하나로는 램프 모서리와 좁은 틈을 함께 맞추지 못했다.</a:t>
            </a:r>
          </a:p>
        </p:txBody>
      </p:sp>
      <p:sp>
        <p:nvSpPr>
          <p:cNvPr id="7" name="Rounded Rectangle 6"/>
          <p:cNvSpPr/>
          <p:nvPr/>
        </p:nvSpPr>
        <p:spPr>
          <a:xfrm>
            <a:off x="6223000" y="3048992"/>
            <a:ext cx="52578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2"/>
          <a:stretch>
            <a:fillRect/>
          </a:stretch>
        </p:blipFill>
        <p:spPr>
          <a:xfrm>
            <a:off x="7116927" y="3048992"/>
            <a:ext cx="3469945" cy="1905000"/>
          </a:xfrm>
          <a:prstGeom prst="rect">
            <a:avLst/>
          </a:prstGeom>
        </p:spPr>
      </p:pic>
      <p:sp>
        <p:nvSpPr>
          <p:cNvPr id="9" name="TextBox 8"/>
          <p:cNvSpPr txBox="1"/>
          <p:nvPr/>
        </p:nvSpPr>
        <p:spPr>
          <a:xfrm>
            <a:off x="6223000" y="5017492"/>
            <a:ext cx="5440934" cy="7175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구멍을 막은 뒤의 네 장면: 1단계에서 MPC가 죽던 curb_ramp s1·bumps_potholes s1·random_mix s2와 지도 경계 장면 random_mix s6. 노란 선 MPC, 파란 선 MPPI, 빨간 칸 치명 셀. 네 장면 모두 둘 다 도달한다 (TP-0093)</a:t>
            </a:r>
          </a:p>
        </p:txBody>
      </p:sp>
      <p:sp>
        <p:nvSpPr>
          <p:cNvPr id="10" name="Rounded Rectangle 9"/>
          <p:cNvSpPr/>
          <p:nvPr/>
        </p:nvSpPr>
        <p:spPr>
          <a:xfrm>
            <a:off x="711200" y="5728692"/>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5855692"/>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QP 반복 한계(status 3)는 원인이 아니라 증상이었다. 실패 에피소드를 스텝마다 계측해서 찾았다.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M.3.11 · TP-0071 나머지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보행자도 반평면 하나로, 다만 앞 2초에만 건다</a:t>
            </a:r>
          </a:p>
        </p:txBody>
      </p:sp>
      <p:graphicFrame>
        <p:nvGraphicFramePr>
          <p:cNvPr id="4" name="Table 3"/>
          <p:cNvGraphicFramePr>
            <a:graphicFrameLocks noGrp="1"/>
          </p:cNvGraphicFramePr>
          <p:nvPr/>
        </p:nvGraphicFramePr>
        <p:xfrm>
          <a:off x="711200" y="1361678"/>
          <a:ext cx="5064125" cy="1027549"/>
        </p:xfrm>
        <a:graphic>
          <a:graphicData uri="http://schemas.openxmlformats.org/drawingml/2006/table">
            <a:tbl>
              <a:tblPr firstRow="0" bandRow="0">
                <a:tableStyleId>{5C22544A-7EE6-4342-B048-85BDC9FD1C3A}</a:tableStyleId>
              </a:tblPr>
              <a:tblGrid>
                <a:gridCol w="2426990"/>
                <a:gridCol w="885031"/>
                <a:gridCol w="661591"/>
                <a:gridCol w="1090513"/>
              </a:tblGrid>
              <a:tr h="263634">
                <a:tc>
                  <a:txBody>
                    <a:bodyPr wrap="square"/>
                    <a:lstStyle/>
                    <a:p>
                      <a:r>
                        <a:rPr sz="1000" b="1" i="0">
                          <a:solidFill>
                            <a:srgbClr val="F4F1EA"/>
                          </a:solidFill>
                          <a:latin typeface="Arial"/>
                          <a:ea typeface="Malgun Gothic"/>
                          <a:cs typeface="Malgun Gothic"/>
                        </a:rPr>
                        <a:t>보행자 3명, seed 0–5</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성공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충돌</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최소 여유</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앞 2 s, slack 1e4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22/24</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−0.04 m</a:t>
                      </a:r>
                    </a:p>
                  </a:txBody>
                  <a:tcPr marL="76200" marR="76200" marT="25400" marB="25400">
                    <a:solidFill>
                      <a:srgbClr val="F1EDE4"/>
                    </a:solidFill>
                  </a:tcPr>
                </a:tc>
              </a:tr>
              <a:tr h="255538">
                <a:tc>
                  <a:txBody>
                    <a:bodyPr wrap="square"/>
                    <a:lstStyle/>
                    <a:p>
                      <a:r>
                        <a:rPr sz="1000" b="1" i="0">
                          <a:solidFill>
                            <a:srgbClr val="16213A"/>
                          </a:solidFill>
                          <a:latin typeface="Arial"/>
                          <a:ea typeface="Malgun Gothic"/>
                          <a:cs typeface="Malgun Gothic"/>
                        </a:rPr>
                        <a:t>앞 2 s, slack 1e6</a:t>
                      </a:r>
                      <a:r>
                        <a:rPr sz="1000" b="0" i="0">
                          <a:solidFill>
                            <a:srgbClr val="16213A"/>
                          </a:solidFill>
                          <a:latin typeface="Arial"/>
                          <a:ea typeface="Malgun Gothic"/>
                          <a:cs typeface="Malgun Gothic"/>
                        </a:rPr>
                        <a:t> (기본)</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23/24</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0.08 m</a:t>
                      </a:r>
                    </a:p>
                  </a:txBody>
                  <a:tcPr marL="76200" marR="76200" marT="25400" marB="25400">
                    <a:solidFill>
                      <a:srgbClr val="FFFDF8"/>
                    </a:solidFill>
                  </a:tcPr>
                </a:tc>
              </a:tr>
              <a:tr h="252839">
                <a:tc>
                  <a:txBody>
                    <a:bodyPr wrap="square"/>
                    <a:lstStyle/>
                    <a:p>
                      <a:r>
                        <a:rPr sz="850" b="0" i="0">
                          <a:solidFill>
                            <a:srgbClr val="7C2D12"/>
                          </a:solidFill>
                          <a:latin typeface="Consolas"/>
                          <a:ea typeface="Malgun Gothic"/>
                          <a:cs typeface="Malgun Gothic"/>
                        </a:rPr>
                        <a:t>guidance+mppi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24/24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0.24 m</a:t>
                      </a:r>
                    </a:p>
                  </a:txBody>
                  <a:tcPr marL="76200" marR="76200" marT="25400" marB="25400">
                    <a:solidFill>
                      <a:srgbClr val="F1EDE4"/>
                    </a:solidFill>
                  </a:tcPr>
                </a:tc>
              </a:tr>
            </a:tbl>
          </a:graphicData>
        </a:graphic>
      </p:graphicFrame>
      <p:sp>
        <p:nvSpPr>
          <p:cNvPr id="5" name="TextBox 4"/>
          <p:cNvSpPr txBox="1"/>
          <p:nvPr/>
        </p:nvSpPr>
        <p:spPr>
          <a:xfrm>
            <a:off x="711200" y="2684859"/>
            <a:ext cx="5241449"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명령 수정(TP-0122) 뒤 MPC도 24/24, 충돌 0이다.</a:t>
            </a:r>
          </a:p>
        </p:txBody>
      </p:sp>
      <p:sp>
        <p:nvSpPr>
          <p:cNvPr id="6" name="Rounded Rectangle 5"/>
          <p:cNvSpPr/>
          <p:nvPr/>
        </p:nvSpPr>
        <p:spPr>
          <a:xfrm>
            <a:off x="6029325" y="1361678"/>
            <a:ext cx="5451475" cy="1262261"/>
          </a:xfrm>
          <a:prstGeom prst="roundRect">
            <a:avLst>
              <a:gd name="adj" fmla="val 6036"/>
            </a:avLst>
          </a:prstGeom>
          <a:solidFill>
            <a:srgbClr val="FFFDF8"/>
          </a:solidFill>
          <a:ln>
            <a:noFill/>
          </a:ln>
        </p:spPr>
        <p:txBody>
          <a:bodyPr rtlCol="0" anchor="ctr"/>
          <a:lstStyle/>
          <a:p>
            <a:pPr algn="ctr"/>
          </a:p>
        </p:txBody>
      </p:sp>
      <p:sp>
        <p:nvSpPr>
          <p:cNvPr id="7" name="Rectangle 6"/>
          <p:cNvSpPr/>
          <p:nvPr/>
        </p:nvSpPr>
        <p:spPr>
          <a:xfrm>
            <a:off x="6029325" y="1361678"/>
            <a:ext cx="5451475" cy="6350"/>
          </a:xfrm>
          <a:prstGeom prst="rect">
            <a:avLst/>
          </a:prstGeom>
          <a:solidFill>
            <a:srgbClr val="D9D4C7"/>
          </a:solidFill>
          <a:ln>
            <a:noFill/>
          </a:ln>
        </p:spPr>
        <p:txBody>
          <a:bodyPr rtlCol="0" anchor="ctr"/>
          <a:lstStyle/>
          <a:p>
            <a:pPr algn="ctr"/>
          </a:p>
        </p:txBody>
      </p:sp>
      <p:sp>
        <p:nvSpPr>
          <p:cNvPr id="8" name="Rectangle 7"/>
          <p:cNvSpPr/>
          <p:nvPr/>
        </p:nvSpPr>
        <p:spPr>
          <a:xfrm>
            <a:off x="11474450" y="1361678"/>
            <a:ext cx="6350" cy="1262261"/>
          </a:xfrm>
          <a:prstGeom prst="rect">
            <a:avLst/>
          </a:prstGeom>
          <a:solidFill>
            <a:srgbClr val="D9D4C7"/>
          </a:solidFill>
          <a:ln>
            <a:noFill/>
          </a:ln>
        </p:spPr>
        <p:txBody>
          <a:bodyPr rtlCol="0" anchor="ctr"/>
          <a:lstStyle/>
          <a:p>
            <a:pPr algn="ctr"/>
          </a:p>
        </p:txBody>
      </p:sp>
      <p:sp>
        <p:nvSpPr>
          <p:cNvPr id="9" name="Rectangle 8"/>
          <p:cNvSpPr/>
          <p:nvPr/>
        </p:nvSpPr>
        <p:spPr>
          <a:xfrm>
            <a:off x="6029325" y="2617589"/>
            <a:ext cx="5451475" cy="6350"/>
          </a:xfrm>
          <a:prstGeom prst="rect">
            <a:avLst/>
          </a:prstGeom>
          <a:solidFill>
            <a:srgbClr val="D9D4C7"/>
          </a:solidFill>
          <a:ln>
            <a:noFill/>
          </a:ln>
        </p:spPr>
        <p:txBody>
          <a:bodyPr rtlCol="0" anchor="ctr"/>
          <a:lstStyle/>
          <a:p>
            <a:pPr algn="ctr"/>
          </a:p>
        </p:txBody>
      </p:sp>
      <p:sp>
        <p:nvSpPr>
          <p:cNvPr id="10" name="Rounded Rectangle 9"/>
          <p:cNvSpPr/>
          <p:nvPr/>
        </p:nvSpPr>
        <p:spPr>
          <a:xfrm>
            <a:off x="6029325" y="1361678"/>
            <a:ext cx="50800" cy="1262261"/>
          </a:xfrm>
          <a:prstGeom prst="roundRect">
            <a:avLst>
              <a:gd name="adj" fmla="val 50000"/>
            </a:avLst>
          </a:prstGeom>
          <a:solidFill>
            <a:srgbClr val="C2410C"/>
          </a:solidFill>
          <a:ln>
            <a:noFill/>
          </a:ln>
        </p:spPr>
        <p:txBody>
          <a:bodyPr rtlCol="0" anchor="ctr"/>
          <a:lstStyle/>
          <a:p>
            <a:pPr algn="ctr"/>
          </a:p>
        </p:txBody>
      </p:sp>
      <p:sp>
        <p:nvSpPr>
          <p:cNvPr id="11" name="TextBox 10"/>
          <p:cNvSpPr txBox="1"/>
          <p:nvPr/>
        </p:nvSpPr>
        <p:spPr>
          <a:xfrm>
            <a:off x="6245225" y="1507728"/>
            <a:ext cx="5241449"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horizon 전체에 걸면 로봇이 얼어붙는다</a:t>
            </a:r>
          </a:p>
        </p:txBody>
      </p:sp>
      <p:sp>
        <p:nvSpPr>
          <p:cNvPr id="12" name="TextBox 11"/>
          <p:cNvSpPr txBox="1"/>
          <p:nvPr/>
        </p:nvSpPr>
        <p:spPr>
          <a:xfrm>
            <a:off x="6245225" y="1815009"/>
            <a:ext cx="5241449"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원판은 예측 시간에 따라 0.15 m/s씩 자란다. 폭 1 m 통로에서 마주 오는 보행자의 원판은 4초 뒤 반경 1.15 m가 되어 통로를 막는다. 앞으로 가는 해가 없어진 MPC는 물러나다 블록에 닿았다.</a:t>
            </a:r>
          </a:p>
        </p:txBody>
      </p:sp>
      <p:sp>
        <p:nvSpPr>
          <p:cNvPr id="13" name="Rounded Rectangle 12"/>
          <p:cNvSpPr/>
          <p:nvPr/>
        </p:nvSpPr>
        <p:spPr>
          <a:xfrm>
            <a:off x="711200" y="3058220"/>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318522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freezing robot 구조다. 근본 처방은 로봇의 움직임에 반응하는 예측이다(TP-0090).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M.3.7 · M.3.12 · TP-0068</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GP 평균의 폐루프를 무너뜨린 원인은 명령과 데이터 범위였다</a:t>
            </a:r>
          </a:p>
        </p:txBody>
      </p:sp>
      <p:sp>
        <p:nvSpPr>
          <p:cNvPr id="4" name="Rounded Rectangle 3"/>
          <p:cNvSpPr/>
          <p:nvPr/>
        </p:nvSpPr>
        <p:spPr>
          <a:xfrm>
            <a:off x="711200" y="1361678"/>
            <a:ext cx="5257800"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56138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42048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① 명령</a:t>
            </a:r>
          </a:p>
        </p:txBody>
      </p:sp>
      <p:sp>
        <p:nvSpPr>
          <p:cNvPr id="11" name="TextBox 10"/>
          <p:cNvSpPr txBox="1"/>
          <p:nvPr/>
        </p:nvSpPr>
        <p:spPr>
          <a:xfrm>
            <a:off x="9271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GP를 넣은 모델의 </a:t>
            </a:r>
            <a:r>
              <a:rPr sz="1150" b="0" i="1">
                <a:solidFill>
                  <a:srgbClr val="16213A"/>
                </a:solidFill>
                <a:latin typeface="Arial"/>
                <a:ea typeface="Malgun Gothic"/>
                <a:cs typeface="Malgun Gothic"/>
              </a:rPr>
              <a:t>Zₖ</a:t>
            </a:r>
            <a:r>
              <a:rPr sz="1150" b="0" i="0">
                <a:solidFill>
                  <a:srgbClr val="16213A"/>
                </a:solidFill>
                <a:latin typeface="Arial"/>
                <a:ea typeface="Malgun Gothic"/>
                <a:cs typeface="Malgun Gothic"/>
              </a:rPr>
              <a:t>는 plant가 실현할 twist다. 그것을 명령으로 보내 지연이 두 번 걸렸다. 보낼 것은 </a:t>
            </a:r>
            <a:r>
              <a:rPr sz="1150" b="0" i="1">
                <a:solidFill>
                  <a:srgbClr val="16213A"/>
                </a:solidFill>
                <a:latin typeface="Arial"/>
                <a:ea typeface="Malgun Gothic"/>
                <a:cs typeface="Malgun Gothic"/>
              </a:rPr>
              <a:t>Zₖ + uₖΔ t</a:t>
            </a:r>
            <a:r>
              <a:rPr sz="1150" b="0" i="0">
                <a:solidFill>
                  <a:srgbClr val="16213A"/>
                </a:solidFill>
                <a:latin typeface="Arial"/>
                <a:ea typeface="Malgun Gothic"/>
                <a:cs typeface="Malgun Gothic"/>
              </a:rPr>
              <a:t>다.</a:t>
            </a:r>
          </a:p>
        </p:txBody>
      </p:sp>
      <p:sp>
        <p:nvSpPr>
          <p:cNvPr id="12" name="Rounded Rectangle 11"/>
          <p:cNvSpPr/>
          <p:nvPr/>
        </p:nvSpPr>
        <p:spPr>
          <a:xfrm>
            <a:off x="711200" y="2527498"/>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527498"/>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52749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57266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527498"/>
            <a:ext cx="50800" cy="1051520"/>
          </a:xfrm>
          <a:prstGeom prst="roundRect">
            <a:avLst>
              <a:gd name="adj" fmla="val 50000"/>
            </a:avLst>
          </a:prstGeom>
          <a:solidFill>
            <a:srgbClr val="1D4ED8"/>
          </a:solidFill>
          <a:ln>
            <a:noFill/>
          </a:ln>
        </p:spPr>
        <p:txBody>
          <a:bodyPr rtlCol="0" anchor="ctr"/>
          <a:lstStyle/>
          <a:p>
            <a:pPr algn="ctr"/>
          </a:p>
        </p:txBody>
      </p:sp>
      <p:sp>
        <p:nvSpPr>
          <p:cNvPr id="17" name="Rounded Rectangle 16"/>
          <p:cNvSpPr/>
          <p:nvPr/>
        </p:nvSpPr>
        <p:spPr>
          <a:xfrm>
            <a:off x="927100" y="2673548"/>
            <a:ext cx="674688" cy="241300"/>
          </a:xfrm>
          <a:prstGeom prst="roundRect">
            <a:avLst>
              <a:gd name="adj" fmla="val 50000"/>
            </a:avLst>
          </a:prstGeom>
          <a:solidFill>
            <a:srgbClr val="DBE5FB"/>
          </a:solidFill>
          <a:ln>
            <a:noFill/>
          </a:ln>
        </p:spPr>
        <p:txBody>
          <a:bodyPr rtlCol="0" anchor="ctr"/>
          <a:lstStyle/>
          <a:p>
            <a:pPr algn="ctr"/>
          </a:p>
        </p:txBody>
      </p:sp>
      <p:sp>
        <p:nvSpPr>
          <p:cNvPr id="18" name="TextBox 17"/>
          <p:cNvSpPr txBox="1"/>
          <p:nvPr/>
        </p:nvSpPr>
        <p:spPr>
          <a:xfrm>
            <a:off x="1016000" y="2698948"/>
            <a:ext cx="53719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② 데이터</a:t>
            </a:r>
          </a:p>
        </p:txBody>
      </p:sp>
      <p:sp>
        <p:nvSpPr>
          <p:cNvPr id="19" name="TextBox 18"/>
          <p:cNvSpPr txBox="1"/>
          <p:nvPr/>
        </p:nvSpPr>
        <p:spPr>
          <a:xfrm>
            <a:off x="927100" y="29910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MPPI 주행은 명령 </a:t>
            </a:r>
            <a:r>
              <a:rPr sz="1150" b="0" i="1">
                <a:solidFill>
                  <a:srgbClr val="16213A"/>
                </a:solidFill>
                <a:latin typeface="Arial"/>
                <a:ea typeface="Malgun Gothic"/>
                <a:cs typeface="Malgun Gothic"/>
              </a:rPr>
              <a:t>vₓ</a:t>
            </a:r>
            <a:r>
              <a:rPr sz="1150" b="0" i="0">
                <a:solidFill>
                  <a:srgbClr val="16213A"/>
                </a:solidFill>
                <a:latin typeface="Arial"/>
                <a:ea typeface="Malgun Gothic"/>
                <a:cs typeface="Malgun Gothic"/>
              </a:rPr>
              <a:t>가 0.93 m/s를 넘지 않았다. horizon 뒤쪽은 1.1–1.5 m/s를 계획한다. 가진(excitation) 주행 998 샘플을 더했다.</a:t>
            </a:r>
          </a:p>
        </p:txBody>
      </p:sp>
      <p:graphicFrame>
        <p:nvGraphicFramePr>
          <p:cNvPr id="20" name="Table 19"/>
          <p:cNvGraphicFramePr>
            <a:graphicFrameLocks noGrp="1"/>
          </p:cNvGraphicFramePr>
          <p:nvPr/>
        </p:nvGraphicFramePr>
        <p:xfrm>
          <a:off x="6223000" y="1361678"/>
          <a:ext cx="5257799" cy="1283087"/>
        </p:xfrm>
        <a:graphic>
          <a:graphicData uri="http://schemas.openxmlformats.org/drawingml/2006/table">
            <a:tbl>
              <a:tblPr firstRow="0" bandRow="0">
                <a:tableStyleId>{5C22544A-7EE6-4342-B048-85BDC9FD1C3A}</a:tableStyleId>
              </a:tblPr>
              <a:tblGrid>
                <a:gridCol w="2924770"/>
                <a:gridCol w="1365349"/>
                <a:gridCol w="967680"/>
              </a:tblGrid>
              <a:tr h="263634">
                <a:tc>
                  <a:txBody>
                    <a:bodyPr wrap="square"/>
                    <a:lstStyle/>
                    <a:p>
                      <a:r>
                        <a:rPr sz="1000" b="1" i="0">
                          <a:solidFill>
                            <a:srgbClr val="F4F1EA"/>
                          </a:solidFill>
                          <a:latin typeface="Arial"/>
                          <a:ea typeface="Malgun Gothic"/>
                          <a:cs typeface="Malgun Gothic"/>
                        </a:rPr>
                        <a:t>plant, mpc_gp</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curb_ramp</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bumps</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정확 GP (M.3.7, 12 에피소드)</a:t>
                      </a:r>
                    </a:p>
                  </a:txBody>
                  <a:tcPr marL="76200" marR="76200" marT="25400" marB="25400">
                    <a:solidFill>
                      <a:srgbClr val="F1EDE4"/>
                    </a:solidFill>
                  </a:tcPr>
                </a:tc>
                <a:tc gridSpan="2">
                  <a:txBody>
                    <a:bodyPr wrap="square"/>
                    <a:lstStyle/>
                    <a:p>
                      <a:r>
                        <a:rPr sz="1000" b="1" i="0">
                          <a:solidFill>
                            <a:srgbClr val="9F1239"/>
                          </a:solidFill>
                          <a:latin typeface="Arial"/>
                          <a:ea typeface="Malgun Gothic"/>
                          <a:cs typeface="Malgun Gothic"/>
                        </a:rPr>
                        <a:t>합 0/12</a:t>
                      </a:r>
                    </a:p>
                  </a:txBody>
                  <a:tcPr marL="76200" marR="76200" marT="25400" marB="25400">
                    <a:solidFill>
                      <a:srgbClr val="F1EDE4"/>
                    </a:solidFill>
                  </a:tcPr>
                </a:tc>
                <a:tc hMerge="1">
                  <a:txBody>
                    <a:bodyPr/>
                    <a:lstStyle/>
                    <a:p/>
                  </a:txBody>
                  <a:tcPr/>
                </a:tc>
              </a:tr>
              <a:tr h="255538">
                <a:tc>
                  <a:txBody>
                    <a:bodyPr wrap="square"/>
                    <a:lstStyle/>
                    <a:p>
                      <a:r>
                        <a:rPr sz="1000" b="0" i="0">
                          <a:solidFill>
                            <a:srgbClr val="16213A"/>
                          </a:solidFill>
                          <a:latin typeface="Arial"/>
                          <a:ea typeface="Malgun Gothic"/>
                          <a:cs typeface="Malgun Gothic"/>
                        </a:rPr>
                        <a:t>새 GP, 구간 평균 명령</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0/3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1/3</a:t>
                      </a:r>
                    </a:p>
                  </a:txBody>
                  <a:tcPr marL="76200" marR="76200" marT="25400" marB="25400">
                    <a:solidFill>
                      <a:srgbClr val="FFFDF8"/>
                    </a:solidFill>
                  </a:tcPr>
                </a:tc>
              </a:tr>
              <a:tr h="255538">
                <a:tc>
                  <a:txBody>
                    <a:bodyPr wrap="square"/>
                    <a:lstStyle/>
                    <a:p>
                      <a:r>
                        <a:rPr sz="1000" b="1" i="0">
                          <a:solidFill>
                            <a:srgbClr val="16213A"/>
                          </a:solidFill>
                          <a:latin typeface="Arial"/>
                          <a:ea typeface="Malgun Gothic"/>
                          <a:cs typeface="Malgun Gothic"/>
                        </a:rPr>
                        <a:t>새 GP + 명령 수정</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10/12</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10/12</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GP 없음 </a:t>
                      </a:r>
                      <a:r>
                        <a:rPr sz="850" b="0" i="0">
                          <a:solidFill>
                            <a:srgbClr val="7C2D12"/>
                          </a:solidFill>
                          <a:latin typeface="Consolas"/>
                          <a:ea typeface="Malgun Gothic"/>
                          <a:cs typeface="Malgun Gothic"/>
                        </a:rPr>
                        <a:t>mpc</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6/12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8/12</a:t>
                      </a:r>
                    </a:p>
                  </a:txBody>
                  <a:tcPr marL="76200" marR="76200" marT="25400" marB="25400">
                    <a:solidFill>
                      <a:srgbClr val="FFFDF8"/>
                    </a:solidFill>
                  </a:tcPr>
                </a:tc>
              </a:tr>
            </a:tbl>
          </a:graphicData>
        </a:graphic>
      </p:graphicFrame>
      <p:sp>
        <p:nvSpPr>
          <p:cNvPr id="21" name="Rounded Rectangle 20"/>
          <p:cNvSpPr/>
          <p:nvPr/>
        </p:nvSpPr>
        <p:spPr>
          <a:xfrm>
            <a:off x="711200" y="3756819"/>
            <a:ext cx="10769600" cy="502543"/>
          </a:xfrm>
          <a:prstGeom prst="roundRect">
            <a:avLst>
              <a:gd name="adj" fmla="val 15162"/>
            </a:avLst>
          </a:prstGeom>
          <a:solidFill>
            <a:srgbClr val="16213A"/>
          </a:solidFill>
          <a:ln>
            <a:noFill/>
          </a:ln>
        </p:spPr>
        <p:txBody>
          <a:bodyPr rtlCol="0" anchor="ctr"/>
          <a:lstStyle/>
          <a:p>
            <a:pPr algn="ctr"/>
          </a:p>
        </p:txBody>
      </p:sp>
      <p:sp>
        <p:nvSpPr>
          <p:cNvPr id="22" name="TextBox 21"/>
          <p:cNvSpPr txBox="1"/>
          <p:nvPr/>
        </p:nvSpPr>
        <p:spPr>
          <a:xfrm>
            <a:off x="889000" y="388381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plant seed 0–11에서 mpc_gp 44/48, mpc 37/48. 데이터만 바꿔서는 curb_ramp가 하나도 풀리지 않았다.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M.3.15 · TP-0122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명목 MPC는 계획한 가속의 절반만 내고 있었다</a:t>
            </a:r>
          </a:p>
        </p:txBody>
      </p:sp>
      <p:sp>
        <p:nvSpPr>
          <p:cNvPr id="4" name="Rounded Rectangle 3"/>
          <p:cNvSpPr/>
          <p:nvPr/>
        </p:nvSpPr>
        <p:spPr>
          <a:xfrm>
            <a:off x="711200" y="1361678"/>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58088" y="1361678"/>
            <a:ext cx="7675824" cy="2095500"/>
          </a:xfrm>
          <a:prstGeom prst="rect">
            <a:avLst/>
          </a:prstGeom>
        </p:spPr>
      </p:pic>
      <p:sp>
        <p:nvSpPr>
          <p:cNvPr id="6" name="TextBox 5"/>
          <p:cNvSpPr txBox="1"/>
          <p:nvPr/>
        </p:nvSpPr>
        <p:spPr>
          <a:xfrm>
            <a:off x="711200" y="3520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curb_ramp s0, 여유 0.10 m. 구간 평균 명령(회색)은 실현/계획 비가 0.50이고 연석면을 넘어 실패, 다음 노드 명령(주황)은 1.00이고 도달</a:t>
            </a:r>
          </a:p>
        </p:txBody>
      </p:sp>
      <p:sp>
        <p:nvSpPr>
          <p:cNvPr id="7" name="TextBox 6"/>
          <p:cNvSpPr txBox="1"/>
          <p:nvPr/>
        </p:nvSpPr>
        <p:spPr>
          <a:xfrm>
            <a:off x="711200" y="3876278"/>
            <a:ext cx="5440934" cy="669925"/>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구간 평균 </a:t>
            </a:r>
            <a:r>
              <a:rPr sz="1250" b="0" i="1">
                <a:solidFill>
                  <a:srgbClr val="16213A"/>
                </a:solidFill>
                <a:latin typeface="Arial"/>
                <a:ea typeface="Malgun Gothic"/>
                <a:cs typeface="Malgun Gothic"/>
              </a:rPr>
              <a:t>Zₖ + 1/2 uₖΔ t</a:t>
            </a:r>
            <a:r>
              <a:rPr sz="1250" b="0" i="0">
                <a:solidFill>
                  <a:srgbClr val="16213A"/>
                </a:solidFill>
                <a:latin typeface="Arial"/>
                <a:ea typeface="Malgun Gothic"/>
                <a:cs typeface="Malgun Gothic"/>
              </a:rPr>
              <a:t>를 보내면 감속도 절반이라 정지 거리가 두 배다. </a:t>
            </a:r>
            <a:r>
              <a:rPr sz="1050" b="0" i="0">
                <a:solidFill>
                  <a:srgbClr val="7C2D12"/>
                </a:solidFill>
                <a:latin typeface="Consolas"/>
                <a:ea typeface="Malgun Gothic"/>
                <a:cs typeface="Malgun Gothic"/>
              </a:rPr>
              <a:t>command="next"</a:t>
            </a:r>
            <a:r>
              <a:rPr sz="1250" b="0" i="0">
                <a:solidFill>
                  <a:srgbClr val="16213A"/>
                </a:solidFill>
                <a:latin typeface="Arial"/>
                <a:ea typeface="Malgun Gothic"/>
                <a:cs typeface="Malgun Gothic"/>
              </a:rPr>
              <a:t>는 </a:t>
            </a:r>
            <a:r>
              <a:rPr sz="1250" b="0" i="1">
                <a:solidFill>
                  <a:srgbClr val="16213A"/>
                </a:solidFill>
                <a:latin typeface="Arial"/>
                <a:ea typeface="Malgun Gothic"/>
                <a:cs typeface="Malgun Gothic"/>
              </a:rPr>
              <a:t>Zₖ₊₁ = Zₖ + uₖΔ t</a:t>
            </a:r>
            <a:r>
              <a:rPr sz="1250" b="0" i="0">
                <a:solidFill>
                  <a:srgbClr val="16213A"/>
                </a:solidFill>
                <a:latin typeface="Arial"/>
                <a:ea typeface="Malgun Gothic"/>
                <a:cs typeface="Malgun Gothic"/>
              </a:rPr>
              <a:t>를 보낸다.</a:t>
            </a:r>
          </a:p>
        </p:txBody>
      </p:sp>
      <p:graphicFrame>
        <p:nvGraphicFramePr>
          <p:cNvPr id="8" name="Table 7"/>
          <p:cNvGraphicFramePr>
            <a:graphicFrameLocks noGrp="1"/>
          </p:cNvGraphicFramePr>
          <p:nvPr/>
        </p:nvGraphicFramePr>
        <p:xfrm>
          <a:off x="6223000" y="3876278"/>
          <a:ext cx="5257800" cy="1027549"/>
        </p:xfrm>
        <a:graphic>
          <a:graphicData uri="http://schemas.openxmlformats.org/drawingml/2006/table">
            <a:tbl>
              <a:tblPr firstRow="0" bandRow="0">
                <a:tableStyleId>{5C22544A-7EE6-4342-B048-85BDC9FD1C3A}</a:tableStyleId>
              </a:tblPr>
              <a:tblGrid>
                <a:gridCol w="2421136"/>
                <a:gridCol w="1650107"/>
                <a:gridCol w="1186557"/>
              </a:tblGrid>
              <a:tr h="263634">
                <a:tc>
                  <a:txBody>
                    <a:bodyPr wrap="square"/>
                    <a:lstStyle/>
                    <a:p>
                      <a:r>
                        <a:rPr sz="1000" b="1" i="0">
                          <a:solidFill>
                            <a:srgbClr val="F4F1EA"/>
                          </a:solidFill>
                          <a:latin typeface="Arial"/>
                          <a:ea typeface="Malgun Gothic"/>
                          <a:cs typeface="Malgun Gothic"/>
                        </a:rPr>
                        <a:t>조건</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이전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고친 뒤</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정적, 모든 여유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31–39/40</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40/40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plant seed 0–11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37/48</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44/48</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rms jerk (정적)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3.1</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6.7</a:t>
                      </a:r>
                    </a:p>
                  </a:txBody>
                  <a:tcPr marL="76200" marR="76200" marT="25400" marB="25400">
                    <a:solidFill>
                      <a:srgbClr val="F1EDE4"/>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M.3.13–M.3.19 · 선택 스택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여유를 더하는 장치들은 여유를 넓혔지만 기본값이 되지 못했다</a:t>
            </a:r>
          </a:p>
        </p:txBody>
      </p:sp>
      <p:graphicFrame>
        <p:nvGraphicFramePr>
          <p:cNvPr id="4" name="Table 3"/>
          <p:cNvGraphicFramePr>
            <a:graphicFrameLocks noGrp="1"/>
          </p:cNvGraphicFramePr>
          <p:nvPr/>
        </p:nvGraphicFramePr>
        <p:xfrm>
          <a:off x="711200" y="1361678"/>
          <a:ext cx="10769600" cy="1538625"/>
        </p:xfrm>
        <a:graphic>
          <a:graphicData uri="http://schemas.openxmlformats.org/drawingml/2006/table">
            <a:tbl>
              <a:tblPr firstRow="0" bandRow="0">
                <a:tableStyleId>{5C22544A-7EE6-4342-B048-85BDC9FD1C3A}</a:tableStyleId>
              </a:tblPr>
              <a:tblGrid>
                <a:gridCol w="3708202"/>
                <a:gridCol w="4912618"/>
                <a:gridCol w="2148780"/>
              </a:tblGrid>
              <a:tr h="263634">
                <a:tc>
                  <a:txBody>
                    <a:bodyPr wrap="square"/>
                    <a:lstStyle/>
                    <a:p>
                      <a:r>
                        <a:rPr sz="1000" b="1" i="0">
                          <a:solidFill>
                            <a:srgbClr val="F4F1EA"/>
                          </a:solidFill>
                          <a:latin typeface="Arial"/>
                          <a:ea typeface="Malgun Gothic"/>
                          <a:cs typeface="Malgun Gothic"/>
                        </a:rPr>
                        <a:t>장치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잰 것</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판정</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부드러운 여유 행 </a:t>
                      </a:r>
                      <a:r>
                        <a:rPr sz="850" b="0" i="0">
                          <a:solidFill>
                            <a:srgbClr val="7C2D12"/>
                          </a:solidFill>
                          <a:latin typeface="Consolas"/>
                          <a:ea typeface="Malgun Gothic"/>
                          <a:cs typeface="Malgun Gothic"/>
                        </a:rPr>
                        <a:t>mpc_sc</a:t>
                      </a:r>
                      <a:r>
                        <a:rPr sz="1000" b="0" i="0">
                          <a:solidFill>
                            <a:srgbClr val="16213A"/>
                          </a:solidFill>
                          <a:latin typeface="Arial"/>
                          <a:ea typeface="Malgun Gothic"/>
                          <a:cs typeface="Malgun Gothic"/>
                        </a:rPr>
                        <a:t> (TP-0117)</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최소 GT 여유 5% 분위 10.2 → 12.2 cm, plant 41/48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성공 이득 없음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GP 분산 튜브 </a:t>
                      </a:r>
                      <a:r>
                        <a:rPr sz="850" b="0" i="0">
                          <a:solidFill>
                            <a:srgbClr val="7C2D12"/>
                          </a:solidFill>
                          <a:latin typeface="Consolas"/>
                          <a:ea typeface="Malgun Gothic"/>
                          <a:cs typeface="Malgun Gothic"/>
                        </a:rPr>
                        <a:t>mpc_gpcc</a:t>
                      </a:r>
                      <a:r>
                        <a:rPr sz="1000" b="0" i="0">
                          <a:solidFill>
                            <a:srgbClr val="16213A"/>
                          </a:solidFill>
                          <a:latin typeface="Arial"/>
                          <a:ea typeface="Malgun Gothic"/>
                          <a:cs typeface="Malgun Gothic"/>
                        </a:rPr>
                        <a:t> (TP-0069)</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1번 노드 coverage 97.4%, 실행 여유 차 0.00 cm, plant 42/48</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기준 44/48 미달</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여유를 아는 Guidance </a:t>
                      </a:r>
                      <a:r>
                        <a:rPr sz="850" b="0" i="0">
                          <a:solidFill>
                            <a:srgbClr val="7C2D12"/>
                          </a:solidFill>
                          <a:latin typeface="Consolas"/>
                          <a:ea typeface="Malgun Gothic"/>
                          <a:cs typeface="Malgun Gothic"/>
                        </a:rPr>
                        <a:t>guidance_c</a:t>
                      </a:r>
                      <a:r>
                        <a:rPr sz="1000" b="0" i="0">
                          <a:solidFill>
                            <a:srgbClr val="16213A"/>
                          </a:solidFill>
                          <a:latin typeface="Arial"/>
                          <a:ea typeface="Malgun Gothic"/>
                          <a:cs typeface="Malgun Gothic"/>
                        </a:rPr>
                        <a:t> (TP-0118)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다섯 Controller 합 plant 221 → 228/240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JS·Planner D 때문에 보류</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MPPI 확률 제약 0선 (TP-0076·0119)</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0선 오차 최대 4.97 → 0.78 cm, plant 85 → 89/96 (기준 88)</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p ≈ 0.29, 유의하지 않음</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GP 평균 rollout </a:t>
                      </a:r>
                      <a:r>
                        <a:rPr sz="850" b="0" i="0">
                          <a:solidFill>
                            <a:srgbClr val="7C2D12"/>
                          </a:solidFill>
                          <a:latin typeface="Consolas"/>
                          <a:ea typeface="Malgun Gothic"/>
                          <a:cs typeface="Malgun Gothic"/>
                        </a:rPr>
                        <a:t>mppi_ccgpm</a:t>
                      </a:r>
                      <a:r>
                        <a:rPr sz="1000" b="0" i="0">
                          <a:solidFill>
                            <a:srgbClr val="16213A"/>
                          </a:solidFill>
                          <a:latin typeface="Arial"/>
                          <a:ea typeface="Malgun Gothic"/>
                          <a:cs typeface="Malgun Gothic"/>
                        </a:rPr>
                        <a:t> (TP-0120)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plant curb_ramp 치명 0, 대신 멈춤 3 증가 43/48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승격 기준 미달</a:t>
                      </a:r>
                    </a:p>
                  </a:txBody>
                  <a:tcPr marL="76200" marR="76200" marT="25400" marB="25400">
                    <a:solidFill>
                      <a:srgbClr val="F1EDE4"/>
                    </a:solidFill>
                  </a:tcPr>
                </a:tc>
              </a:tr>
            </a:tbl>
          </a:graphicData>
        </a:graphic>
      </p:graphicFrame>
      <p:sp>
        <p:nvSpPr>
          <p:cNvPr id="5" name="Rounded Rectangle 4"/>
          <p:cNvSpPr/>
          <p:nvPr/>
        </p:nvSpPr>
        <p:spPr>
          <a:xfrm>
            <a:off x="711200" y="3349625"/>
            <a:ext cx="10769600" cy="1587500"/>
          </a:xfrm>
          <a:prstGeom prst="roundRect">
            <a:avLst>
              <a:gd name="adj" fmla="val 3200"/>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3377678" y="3349625"/>
            <a:ext cx="5436644" cy="1587500"/>
          </a:xfrm>
          <a:prstGeom prst="rect">
            <a:avLst/>
          </a:prstGeom>
        </p:spPr>
      </p:pic>
      <p:sp>
        <p:nvSpPr>
          <p:cNvPr id="7" name="TextBox 6"/>
          <p:cNvSpPr txBox="1"/>
          <p:nvPr/>
        </p:nvSpPr>
        <p:spPr>
          <a:xfrm>
            <a:off x="711200" y="5000625"/>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회색 굵은 선이 시뮬레이터의 실패 경계, 주황 점선 rim 0선, 파란 선 exact 0선(TP-0119)</a:t>
            </a:r>
          </a:p>
        </p:txBody>
      </p:sp>
      <p:sp>
        <p:nvSpPr>
          <p:cNvPr id="8" name="Rounded Rectangle 7"/>
          <p:cNvSpPr/>
          <p:nvPr/>
        </p:nvSpPr>
        <p:spPr>
          <a:xfrm>
            <a:off x="711200" y="5356225"/>
            <a:ext cx="10769600" cy="502543"/>
          </a:xfrm>
          <a:prstGeom prst="roundRect">
            <a:avLst>
              <a:gd name="adj" fmla="val 15162"/>
            </a:avLst>
          </a:prstGeom>
          <a:solidFill>
            <a:srgbClr val="16213A"/>
          </a:solidFill>
          <a:ln>
            <a:noFill/>
          </a:ln>
        </p:spPr>
        <p:txBody>
          <a:bodyPr rtlCol="0" anchor="ctr"/>
          <a:lstStyle/>
          <a:p>
            <a:pPr algn="ctr"/>
          </a:p>
        </p:txBody>
      </p:sp>
      <p:sp>
        <p:nvSpPr>
          <p:cNvPr id="9" name="TextBox 8"/>
          <p:cNvSpPr txBox="1"/>
          <p:nvPr/>
        </p:nvSpPr>
        <p:spPr>
          <a:xfrm>
            <a:off x="889000" y="548322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남은 plant 치명 실패는 기하가 아니라 지연 편향을 가리켰다.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M.3.22 · M.3.24 · TP-0150·0152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plant 조건에서 NMPC는 지연을 아는 MPPI보다 치명이 여덟 배 많다</a:t>
            </a:r>
          </a:p>
        </p:txBody>
      </p:sp>
      <p:graphicFrame>
        <p:nvGraphicFramePr>
          <p:cNvPr id="4" name="Table 3"/>
          <p:cNvGraphicFramePr>
            <a:graphicFrameLocks noGrp="1"/>
          </p:cNvGraphicFramePr>
          <p:nvPr/>
        </p:nvGraphicFramePr>
        <p:xfrm>
          <a:off x="711200" y="1361678"/>
          <a:ext cx="5257801" cy="1027549"/>
        </p:xfrm>
        <a:graphic>
          <a:graphicData uri="http://schemas.openxmlformats.org/drawingml/2006/table">
            <a:tbl>
              <a:tblPr firstRow="0" bandRow="0">
                <a:tableStyleId>{5C22544A-7EE6-4342-B048-85BDC9FD1C3A}</a:tableStyleId>
              </a:tblPr>
              <a:tblGrid>
                <a:gridCol w="1388864"/>
                <a:gridCol w="833041"/>
                <a:gridCol w="1369715"/>
                <a:gridCol w="833041"/>
                <a:gridCol w="833140"/>
              </a:tblGrid>
              <a:tr h="263634">
                <a:tc>
                  <a:txBody>
                    <a:bodyPr wrap="square"/>
                    <a:lstStyle/>
                    <a:p>
                      <a:r>
                        <a:rPr sz="1000" b="1" i="0">
                          <a:solidFill>
                            <a:srgbClr val="F4F1EA"/>
                          </a:solidFill>
                          <a:latin typeface="Arial"/>
                          <a:ea typeface="Malgun Gothic"/>
                          <a:cs typeface="Malgun Gothic"/>
                        </a:rPr>
                        <a:t>권장 L1 + plant</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mppi</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mppi_plant_lag</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mpc</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mpc_gp</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레벨 3 합 (360)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221 (55)</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239 (4)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222 (34)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215 (32)</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경사로 제외 (270)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206 (40)</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238 (1)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222 (26)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215 (22)</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레벨 0 (120)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112 (4)</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116 (0)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109 (3)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108 (0)</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470650" y="1361678"/>
            <a:ext cx="4762500" cy="1905000"/>
          </a:xfrm>
          <a:prstGeom prst="rect">
            <a:avLst/>
          </a:prstGeom>
        </p:spPr>
      </p:pic>
      <p:sp>
        <p:nvSpPr>
          <p:cNvPr id="7" name="TextBox 6"/>
          <p:cNvSpPr txBox="1"/>
          <p:nvPr/>
        </p:nvSpPr>
        <p:spPr>
          <a:xfrm>
            <a:off x="6223000" y="3330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왼쪽 네 지형 전체, 오른쪽 경사로 제외. 주황 글자가 NMPC</a:t>
            </a:r>
          </a:p>
        </p:txBody>
      </p:sp>
      <p:sp>
        <p:nvSpPr>
          <p:cNvPr id="8" name="TextBox 7"/>
          <p:cNvSpPr txBox="1"/>
          <p:nvPr/>
        </p:nvSpPr>
        <p:spPr>
          <a:xfrm>
            <a:off x="711200" y="3685778"/>
            <a:ext cx="1111808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괄호는 치명 수. 짝 비교(대 </a:t>
            </a:r>
            <a:r>
              <a:rPr sz="900" b="0" i="0">
                <a:solidFill>
                  <a:srgbClr val="7C2D12"/>
                </a:solidFill>
                <a:latin typeface="Consolas"/>
                <a:ea typeface="Malgun Gothic"/>
                <a:cs typeface="Malgun Gothic"/>
              </a:rPr>
              <a:t>mppi_plant_lag</a:t>
            </a:r>
            <a:r>
              <a:rPr sz="1050" b="0" i="0">
                <a:solidFill>
                  <a:srgbClr val="16213A"/>
                </a:solidFill>
                <a:latin typeface="Arial"/>
                <a:ea typeface="Malgun Gothic"/>
                <a:cs typeface="Malgun Gothic"/>
              </a:rPr>
              <a:t>) 레벨 3: </a:t>
            </a:r>
            <a:r>
              <a:rPr sz="900" b="0" i="0">
                <a:solidFill>
                  <a:srgbClr val="7C2D12"/>
                </a:solidFill>
                <a:latin typeface="Consolas"/>
                <a:ea typeface="Malgun Gothic"/>
                <a:cs typeface="Malgun Gothic"/>
              </a:rPr>
              <a:t>mpc</a:t>
            </a:r>
            <a:r>
              <a:rPr sz="1050" b="0" i="0">
                <a:solidFill>
                  <a:srgbClr val="16213A"/>
                </a:solidFill>
                <a:latin typeface="Arial"/>
                <a:ea typeface="Malgun Gothic"/>
                <a:cs typeface="Malgun Gothic"/>
              </a:rPr>
              <a:t> 34 : 17 (p = 0.024), </a:t>
            </a:r>
            <a:r>
              <a:rPr sz="900" b="0" i="0">
                <a:solidFill>
                  <a:srgbClr val="7C2D12"/>
                </a:solidFill>
                <a:latin typeface="Consolas"/>
                <a:ea typeface="Malgun Gothic"/>
                <a:cs typeface="Malgun Gothic"/>
              </a:rPr>
              <a:t>mpc_gp</a:t>
            </a:r>
            <a:r>
              <a:rPr sz="1050" b="0" i="0">
                <a:solidFill>
                  <a:srgbClr val="16213A"/>
                </a:solidFill>
                <a:latin typeface="Arial"/>
                <a:ea typeface="Malgun Gothic"/>
                <a:cs typeface="Malgun Gothic"/>
              </a:rPr>
              <a:t> 34 : 10 (p = 0.0004). seed 0–9 × 오프셋 3.</a:t>
            </a:r>
          </a:p>
        </p:txBody>
      </p:sp>
      <p:sp>
        <p:nvSpPr>
          <p:cNvPr id="9" name="Rounded Rectangle 8"/>
          <p:cNvSpPr/>
          <p:nvPr/>
        </p:nvSpPr>
        <p:spPr>
          <a:xfrm>
            <a:off x="711200" y="4059138"/>
            <a:ext cx="10769600" cy="502543"/>
          </a:xfrm>
          <a:prstGeom prst="roundRect">
            <a:avLst>
              <a:gd name="adj" fmla="val 15162"/>
            </a:avLst>
          </a:prstGeom>
          <a:solidFill>
            <a:srgbClr val="16213A"/>
          </a:solidFill>
          <a:ln>
            <a:noFill/>
          </a:ln>
        </p:spPr>
        <p:txBody>
          <a:bodyPr rtlCol="0" anchor="ctr"/>
          <a:lstStyle/>
          <a:p>
            <a:pPr algn="ctr"/>
          </a:p>
        </p:txBody>
      </p:sp>
      <p:sp>
        <p:nvSpPr>
          <p:cNvPr id="10" name="TextBox 9"/>
          <p:cNvSpPr txBox="1"/>
          <p:nvPr/>
        </p:nvSpPr>
        <p:spPr>
          <a:xfrm>
            <a:off x="889000" y="418613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plant 조건의 배포 Controller는 mppi_plant_lag다. NMPC 갈래는 안전 원칙에서 탈락이다.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M.3.24 · </a:t>
            </a:r>
            <a:r>
              <a:rPr sz="900" b="0" i="0">
                <a:solidFill>
                  <a:srgbClr val="7C2D12"/>
                </a:solidFill>
                <a:latin typeface="Consolas"/>
                <a:ea typeface="Malgun Gothic"/>
                <a:cs typeface="Malgun Gothic"/>
              </a:rPr>
              <a:t>mpc_lag</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지연을 되돌린 NMPC는 plant의 저역 통과까지 없애 더 나빠졌다</a:t>
            </a:r>
          </a:p>
        </p:txBody>
      </p:sp>
      <p:sp>
        <p:nvSpPr>
          <p:cNvPr id="4" name="Rounded Rectangle 3"/>
          <p:cNvSpPr/>
          <p:nvPr/>
        </p:nvSpPr>
        <p:spPr>
          <a:xfrm>
            <a:off x="711200" y="1361678"/>
            <a:ext cx="10769600" cy="603746"/>
          </a:xfrm>
          <a:prstGeom prst="roundRect">
            <a:avLst>
              <a:gd name="adj" fmla="val 8414"/>
            </a:avLst>
          </a:prstGeom>
          <a:solidFill>
            <a:srgbClr val="FFFDF8"/>
          </a:solidFill>
          <a:ln>
            <a:noFill/>
          </a:ln>
        </p:spPr>
        <p:txBody>
          <a:bodyPr rtlCol="0" anchor="ctr"/>
          <a:lstStyle/>
          <a:p>
            <a:pPr algn="ctr"/>
          </a:p>
        </p:txBody>
      </p:sp>
      <p:sp>
        <p:nvSpPr>
          <p:cNvPr id="5" name="Rounded Rectangle 4"/>
          <p:cNvSpPr/>
          <p:nvPr/>
        </p:nvSpPr>
        <p:spPr>
          <a:xfrm>
            <a:off x="711200" y="1361678"/>
            <a:ext cx="38100" cy="603746"/>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32296"/>
          </a:xfrm>
          <a:prstGeom prst="rect">
            <a:avLst/>
          </a:prstGeom>
        </p:spPr>
      </p:pic>
      <p:graphicFrame>
        <p:nvGraphicFramePr>
          <p:cNvPr id="7" name="Table 6"/>
          <p:cNvGraphicFramePr>
            <a:graphicFrameLocks noGrp="1"/>
          </p:cNvGraphicFramePr>
          <p:nvPr/>
        </p:nvGraphicFramePr>
        <p:xfrm>
          <a:off x="711200" y="2143224"/>
          <a:ext cx="5064126" cy="777999"/>
        </p:xfrm>
        <a:graphic>
          <a:graphicData uri="http://schemas.openxmlformats.org/drawingml/2006/table">
            <a:tbl>
              <a:tblPr firstRow="0" bandRow="0">
                <a:tableStyleId>{5C22544A-7EE6-4342-B048-85BDC9FD1C3A}</a:tableStyleId>
              </a:tblPr>
              <a:tblGrid>
                <a:gridCol w="2430661"/>
                <a:gridCol w="1512888"/>
                <a:gridCol w="1120577"/>
              </a:tblGrid>
              <a:tr h="263634">
                <a:tc>
                  <a:txBody>
                    <a:bodyPr wrap="square"/>
                    <a:lstStyle/>
                    <a:p>
                      <a:r>
                        <a:rPr sz="1000" b="1" i="0">
                          <a:solidFill>
                            <a:srgbClr val="F4F1EA"/>
                          </a:solidFill>
                          <a:latin typeface="Arial"/>
                          <a:ea typeface="Malgun Gothic"/>
                          <a:cs typeface="Malgun Gothic"/>
                        </a:rPr>
                        <a:t>bumps 레벨 3, 짝</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mpc</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mpc_lag</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1. 지연 역변환 (29)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25 도달, 치명 1</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19, 치명 6</a:t>
                      </a:r>
                    </a:p>
                  </a:txBody>
                  <a:tcPr marL="76200" marR="76200" marT="25400" marB="25400">
                    <a:solidFill>
                      <a:srgbClr val="F1EDE4"/>
                    </a:solidFill>
                  </a:tcPr>
                </a:tc>
              </a:tr>
              <a:tr h="258827">
                <a:tc>
                  <a:txBody>
                    <a:bodyPr wrap="square"/>
                    <a:lstStyle/>
                    <a:p>
                      <a:r>
                        <a:rPr sz="1000" b="0" i="0">
                          <a:solidFill>
                            <a:srgbClr val="16213A"/>
                          </a:solidFill>
                          <a:latin typeface="Arial"/>
                          <a:ea typeface="Malgun Gothic"/>
                          <a:cs typeface="Malgun Gothic"/>
                        </a:rPr>
                        <a:t>2. + 가속 비용 </a:t>
                      </a:r>
                      <a:r>
                        <a:rPr sz="1000" b="0" i="1">
                          <a:solidFill>
                            <a:srgbClr val="16213A"/>
                          </a:solidFill>
                          <a:latin typeface="Arial"/>
                          <a:ea typeface="Malgun Gothic"/>
                          <a:cs typeface="Malgun Gothic"/>
                        </a:rPr>
                        <a:t>1/a²</a:t>
                      </a:r>
                      <a:r>
                        <a:rPr sz="1000" b="0" i="0">
                          <a:solidFill>
                            <a:srgbClr val="16213A"/>
                          </a:solidFill>
                          <a:latin typeface="Arial"/>
                          <a:ea typeface="Malgun Gothic"/>
                          <a:cs typeface="Malgun Gothic"/>
                        </a:rPr>
                        <a:t>배 (18)</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14, 치명 1</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10, 치명 8</a:t>
                      </a:r>
                    </a:p>
                  </a:txBody>
                  <a:tcPr marL="76200" marR="76200" marT="25400" marB="25400">
                    <a:solidFill>
                      <a:srgbClr val="FFFDF8"/>
                    </a:solidFill>
                  </a:tcPr>
                </a:tc>
              </a:tr>
            </a:tbl>
          </a:graphicData>
        </a:graphic>
      </p:graphicFrame>
      <p:sp>
        <p:nvSpPr>
          <p:cNvPr id="8" name="Rounded Rectangle 7"/>
          <p:cNvSpPr/>
          <p:nvPr/>
        </p:nvSpPr>
        <p:spPr>
          <a:xfrm>
            <a:off x="6029325" y="2143224"/>
            <a:ext cx="5451475" cy="1262261"/>
          </a:xfrm>
          <a:prstGeom prst="roundRect">
            <a:avLst>
              <a:gd name="adj" fmla="val 6036"/>
            </a:avLst>
          </a:prstGeom>
          <a:solidFill>
            <a:srgbClr val="FFFDF8"/>
          </a:solidFill>
          <a:ln>
            <a:noFill/>
          </a:ln>
        </p:spPr>
        <p:txBody>
          <a:bodyPr rtlCol="0" anchor="ctr"/>
          <a:lstStyle/>
          <a:p>
            <a:pPr algn="ctr"/>
          </a:p>
        </p:txBody>
      </p:sp>
      <p:sp>
        <p:nvSpPr>
          <p:cNvPr id="9" name="Rectangle 8"/>
          <p:cNvSpPr/>
          <p:nvPr/>
        </p:nvSpPr>
        <p:spPr>
          <a:xfrm>
            <a:off x="6029325" y="2143224"/>
            <a:ext cx="5451475" cy="6350"/>
          </a:xfrm>
          <a:prstGeom prst="rect">
            <a:avLst/>
          </a:prstGeom>
          <a:solidFill>
            <a:srgbClr val="D9D4C7"/>
          </a:solidFill>
          <a:ln>
            <a:noFill/>
          </a:ln>
        </p:spPr>
        <p:txBody>
          <a:bodyPr rtlCol="0" anchor="ctr"/>
          <a:lstStyle/>
          <a:p>
            <a:pPr algn="ctr"/>
          </a:p>
        </p:txBody>
      </p:sp>
      <p:sp>
        <p:nvSpPr>
          <p:cNvPr id="10" name="Rectangle 9"/>
          <p:cNvSpPr/>
          <p:nvPr/>
        </p:nvSpPr>
        <p:spPr>
          <a:xfrm>
            <a:off x="11474450" y="2143224"/>
            <a:ext cx="6350" cy="1262261"/>
          </a:xfrm>
          <a:prstGeom prst="rect">
            <a:avLst/>
          </a:prstGeom>
          <a:solidFill>
            <a:srgbClr val="D9D4C7"/>
          </a:solidFill>
          <a:ln>
            <a:noFill/>
          </a:ln>
        </p:spPr>
        <p:txBody>
          <a:bodyPr rtlCol="0" anchor="ctr"/>
          <a:lstStyle/>
          <a:p>
            <a:pPr algn="ctr"/>
          </a:p>
        </p:txBody>
      </p:sp>
      <p:sp>
        <p:nvSpPr>
          <p:cNvPr id="11" name="Rectangle 10"/>
          <p:cNvSpPr/>
          <p:nvPr/>
        </p:nvSpPr>
        <p:spPr>
          <a:xfrm>
            <a:off x="6029325" y="3399135"/>
            <a:ext cx="5451475" cy="6350"/>
          </a:xfrm>
          <a:prstGeom prst="rect">
            <a:avLst/>
          </a:prstGeom>
          <a:solidFill>
            <a:srgbClr val="D9D4C7"/>
          </a:solidFill>
          <a:ln>
            <a:noFill/>
          </a:ln>
        </p:spPr>
        <p:txBody>
          <a:bodyPr rtlCol="0" anchor="ctr"/>
          <a:lstStyle/>
          <a:p>
            <a:pPr algn="ctr"/>
          </a:p>
        </p:txBody>
      </p:sp>
      <p:sp>
        <p:nvSpPr>
          <p:cNvPr id="12" name="Rounded Rectangle 11"/>
          <p:cNvSpPr/>
          <p:nvPr/>
        </p:nvSpPr>
        <p:spPr>
          <a:xfrm>
            <a:off x="6029325" y="2143224"/>
            <a:ext cx="50800" cy="1262261"/>
          </a:xfrm>
          <a:prstGeom prst="roundRect">
            <a:avLst>
              <a:gd name="adj" fmla="val 50000"/>
            </a:avLst>
          </a:prstGeom>
          <a:solidFill>
            <a:srgbClr val="C2410C"/>
          </a:solidFill>
          <a:ln>
            <a:noFill/>
          </a:ln>
        </p:spPr>
        <p:txBody>
          <a:bodyPr rtlCol="0" anchor="ctr"/>
          <a:lstStyle/>
          <a:p>
            <a:pPr algn="ctr"/>
          </a:p>
        </p:txBody>
      </p:sp>
      <p:sp>
        <p:nvSpPr>
          <p:cNvPr id="13" name="TextBox 12"/>
          <p:cNvSpPr txBox="1"/>
          <p:nvPr/>
        </p:nvSpPr>
        <p:spPr>
          <a:xfrm>
            <a:off x="6245225" y="2289274"/>
            <a:ext cx="5241449"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지연 모델은 맞았다. 계획이 bang-bang이다</a:t>
            </a:r>
          </a:p>
        </p:txBody>
      </p:sp>
      <p:sp>
        <p:nvSpPr>
          <p:cNvPr id="14" name="TextBox 13"/>
          <p:cNvSpPr txBox="1"/>
          <p:nvPr/>
        </p:nvSpPr>
        <p:spPr>
          <a:xfrm>
            <a:off x="6245225" y="2596555"/>
            <a:ext cx="5241449"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두 NMPC 모두 계획이 가속 상한에 붙는다. 명목 </a:t>
            </a:r>
            <a:r>
              <a:rPr sz="1000" b="0" i="0">
                <a:solidFill>
                  <a:srgbClr val="7C2D12"/>
                </a:solidFill>
                <a:latin typeface="Consolas"/>
                <a:ea typeface="Malgun Gothic"/>
                <a:cs typeface="Malgun Gothic"/>
              </a:rPr>
              <a:t>mpc</a:t>
            </a:r>
            <a:r>
              <a:rPr sz="1150" b="0" i="0">
                <a:solidFill>
                  <a:srgbClr val="16213A"/>
                </a:solidFill>
                <a:latin typeface="Arial"/>
                <a:ea typeface="Malgun Gothic"/>
                <a:cs typeface="Malgun Gothic"/>
              </a:rPr>
              <a:t>에서는 plant 지연이 그것을 걸러 줬다. 되돌리면 명령이 스텝마다 한계 양끝을 오가고, 조향 속도 한계에 걸리는 스텝이 6%에서 20%로 는다.</a:t>
            </a:r>
          </a:p>
        </p:txBody>
      </p:sp>
      <p:sp>
        <p:nvSpPr>
          <p:cNvPr id="15" name="Rounded Rectangle 14"/>
          <p:cNvSpPr/>
          <p:nvPr/>
        </p:nvSpPr>
        <p:spPr>
          <a:xfrm>
            <a:off x="711200" y="3583285"/>
            <a:ext cx="10769600" cy="502543"/>
          </a:xfrm>
          <a:prstGeom prst="roundRect">
            <a:avLst>
              <a:gd name="adj" fmla="val 15162"/>
            </a:avLst>
          </a:prstGeom>
          <a:solidFill>
            <a:srgbClr val="16213A"/>
          </a:solidFill>
          <a:ln>
            <a:noFill/>
          </a:ln>
        </p:spPr>
        <p:txBody>
          <a:bodyPr rtlCol="0" anchor="ctr"/>
          <a:lstStyle/>
          <a:p>
            <a:pPr algn="ctr"/>
          </a:p>
        </p:txBody>
      </p:sp>
      <p:sp>
        <p:nvSpPr>
          <p:cNvPr id="16" name="TextBox 15"/>
          <p:cNvSpPr txBox="1"/>
          <p:nvPr/>
        </p:nvSpPr>
        <p:spPr>
          <a:xfrm>
            <a:off x="889000" y="371028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다음 후보는 명령을 상태로 두고 변화율에 비용을 거는 지연 상태 모델이다(TP-0124).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정리와 다음</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NMPC는 정적·보행자에서 MPPI와 같아졌고, plant의 지연에서 졌다</a:t>
            </a:r>
          </a:p>
        </p:txBody>
      </p:sp>
      <p:sp>
        <p:nvSpPr>
          <p:cNvPr id="4" name="Rounded Rectangle 3"/>
          <p:cNvSpPr/>
          <p:nvPr/>
        </p:nvSpPr>
        <p:spPr>
          <a:xfrm>
            <a:off x="711200" y="1361678"/>
            <a:ext cx="3488234" cy="1683941"/>
          </a:xfrm>
          <a:prstGeom prst="roundRect">
            <a:avLst>
              <a:gd name="adj" fmla="val 4525"/>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683941"/>
          </a:xfrm>
          <a:prstGeom prst="rect">
            <a:avLst/>
          </a:prstGeom>
          <a:solidFill>
            <a:srgbClr val="D9D4C7"/>
          </a:solidFill>
          <a:ln>
            <a:noFill/>
          </a:ln>
        </p:spPr>
        <p:txBody>
          <a:bodyPr rtlCol="0" anchor="ctr"/>
          <a:lstStyle/>
          <a:p>
            <a:pPr algn="ctr"/>
          </a:p>
        </p:txBody>
      </p:sp>
      <p:sp>
        <p:nvSpPr>
          <p:cNvPr id="7" name="Rectangle 6"/>
          <p:cNvSpPr/>
          <p:nvPr/>
        </p:nvSpPr>
        <p:spPr>
          <a:xfrm>
            <a:off x="711200" y="303926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68394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434380"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289677"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된 것</a:t>
            </a:r>
          </a:p>
        </p:txBody>
      </p:sp>
      <p:sp>
        <p:nvSpPr>
          <p:cNvPr id="11" name="TextBox 10"/>
          <p:cNvSpPr txBox="1"/>
          <p:nvPr/>
        </p:nvSpPr>
        <p:spPr>
          <a:xfrm>
            <a:off x="965200" y="182522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치명 셀 접평면 + CBF</a:t>
            </a:r>
          </a:p>
        </p:txBody>
      </p:sp>
      <p:sp>
        <p:nvSpPr>
          <p:cNvPr id="12" name="TextBox 11"/>
          <p:cNvSpPr txBox="1"/>
          <p:nvPr/>
        </p:nvSpPr>
        <p:spPr>
          <a:xfrm>
            <a:off x="965200" y="210968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보행자 앞 2 s 제약</a:t>
            </a:r>
          </a:p>
        </p:txBody>
      </p:sp>
      <p:sp>
        <p:nvSpPr>
          <p:cNvPr id="13" name="TextBox 12"/>
          <p:cNvSpPr txBox="1"/>
          <p:nvPr/>
        </p:nvSpPr>
        <p:spPr>
          <a:xfrm>
            <a:off x="965200" y="239414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0차 GP(SGPR 64)</a:t>
            </a:r>
          </a:p>
        </p:txBody>
      </p:sp>
      <p:sp>
        <p:nvSpPr>
          <p:cNvPr id="14" name="TextBox 13"/>
          <p:cNvSpPr txBox="1"/>
          <p:nvPr/>
        </p:nvSpPr>
        <p:spPr>
          <a:xfrm>
            <a:off x="965200" y="2678609"/>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정적 40/40, 보행자 24/24</a:t>
            </a:r>
          </a:p>
        </p:txBody>
      </p:sp>
      <p:sp>
        <p:nvSpPr>
          <p:cNvPr id="15" name="Rounded Rectangle 14"/>
          <p:cNvSpPr/>
          <p:nvPr/>
        </p:nvSpPr>
        <p:spPr>
          <a:xfrm>
            <a:off x="4351834" y="1361678"/>
            <a:ext cx="3488234" cy="1683941"/>
          </a:xfrm>
          <a:prstGeom prst="roundRect">
            <a:avLst>
              <a:gd name="adj" fmla="val 4525"/>
            </a:avLst>
          </a:prstGeom>
          <a:solidFill>
            <a:srgbClr val="FFFDF8"/>
          </a:solidFill>
          <a:ln>
            <a:noFill/>
          </a:ln>
        </p:spPr>
        <p:txBody>
          <a:bodyPr rtlCol="0" anchor="ctr"/>
          <a:lstStyle/>
          <a:p>
            <a:pPr algn="ctr"/>
          </a:p>
        </p:txBody>
      </p:sp>
      <p:sp>
        <p:nvSpPr>
          <p:cNvPr id="16" name="Rectangle 15"/>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1361678"/>
            <a:ext cx="6350" cy="1683941"/>
          </a:xfrm>
          <a:prstGeom prst="rect">
            <a:avLst/>
          </a:prstGeom>
          <a:solidFill>
            <a:srgbClr val="D9D4C7"/>
          </a:solidFill>
          <a:ln>
            <a:noFill/>
          </a:ln>
        </p:spPr>
        <p:txBody>
          <a:bodyPr rtlCol="0" anchor="ctr"/>
          <a:lstStyle/>
          <a:p>
            <a:pPr algn="ctr"/>
          </a:p>
        </p:txBody>
      </p:sp>
      <p:sp>
        <p:nvSpPr>
          <p:cNvPr id="18" name="Rectangle 17"/>
          <p:cNvSpPr/>
          <p:nvPr/>
        </p:nvSpPr>
        <p:spPr>
          <a:xfrm>
            <a:off x="4351834" y="303926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1361678"/>
            <a:ext cx="50800" cy="168394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1507728"/>
            <a:ext cx="54768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1533128"/>
            <a:ext cx="4063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배운 것</a:t>
            </a:r>
          </a:p>
        </p:txBody>
      </p:sp>
      <p:sp>
        <p:nvSpPr>
          <p:cNvPr id="22" name="TextBox 21"/>
          <p:cNvSpPr txBox="1"/>
          <p:nvPr/>
        </p:nvSpPr>
        <p:spPr>
          <a:xfrm>
            <a:off x="4605834" y="182522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"솔버 문제"는 제약의 구멍이었다</a:t>
            </a:r>
          </a:p>
        </p:txBody>
      </p:sp>
      <p:sp>
        <p:nvSpPr>
          <p:cNvPr id="23" name="TextBox 22"/>
          <p:cNvSpPr txBox="1"/>
          <p:nvPr/>
        </p:nvSpPr>
        <p:spPr>
          <a:xfrm>
            <a:off x="4605834" y="210968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GP 이득 상당 부분은 명령 수정</a:t>
            </a:r>
          </a:p>
        </p:txBody>
      </p:sp>
      <p:sp>
        <p:nvSpPr>
          <p:cNvPr id="24" name="TextBox 23"/>
          <p:cNvSpPr txBox="1"/>
          <p:nvPr/>
        </p:nvSpPr>
        <p:spPr>
          <a:xfrm>
            <a:off x="4605834" y="239414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튜브는 보정돼도 여유를 늘리지 않았다</a:t>
            </a:r>
          </a:p>
        </p:txBody>
      </p:sp>
      <p:sp>
        <p:nvSpPr>
          <p:cNvPr id="25" name="TextBox 24"/>
          <p:cNvSpPr txBox="1"/>
          <p:nvPr/>
        </p:nvSpPr>
        <p:spPr>
          <a:xfrm>
            <a:off x="4605834" y="2678609"/>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지연이 bang-bang을 걸러 줬다</a:t>
            </a:r>
          </a:p>
        </p:txBody>
      </p:sp>
      <p:sp>
        <p:nvSpPr>
          <p:cNvPr id="26" name="Rounded Rectangle 25"/>
          <p:cNvSpPr/>
          <p:nvPr/>
        </p:nvSpPr>
        <p:spPr>
          <a:xfrm>
            <a:off x="7992467" y="1361678"/>
            <a:ext cx="3488234" cy="1683941"/>
          </a:xfrm>
          <a:prstGeom prst="roundRect">
            <a:avLst>
              <a:gd name="adj" fmla="val 4525"/>
            </a:avLst>
          </a:prstGeom>
          <a:solidFill>
            <a:srgbClr val="FFFDF8"/>
          </a:solidFill>
          <a:ln>
            <a:noFill/>
          </a:ln>
        </p:spPr>
        <p:txBody>
          <a:bodyPr rtlCol="0" anchor="ctr"/>
          <a:lstStyle/>
          <a:p>
            <a:pPr algn="ctr"/>
          </a:p>
        </p:txBody>
      </p:sp>
      <p:sp>
        <p:nvSpPr>
          <p:cNvPr id="27" name="Rectangle 26"/>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8" name="Rectangle 27"/>
          <p:cNvSpPr/>
          <p:nvPr/>
        </p:nvSpPr>
        <p:spPr>
          <a:xfrm>
            <a:off x="11474351" y="1361678"/>
            <a:ext cx="6350" cy="1683941"/>
          </a:xfrm>
          <a:prstGeom prst="rect">
            <a:avLst/>
          </a:prstGeom>
          <a:solidFill>
            <a:srgbClr val="D9D4C7"/>
          </a:solidFill>
          <a:ln>
            <a:noFill/>
          </a:ln>
        </p:spPr>
        <p:txBody>
          <a:bodyPr rtlCol="0" anchor="ctr"/>
          <a:lstStyle/>
          <a:p>
            <a:pPr algn="ctr"/>
          </a:p>
        </p:txBody>
      </p:sp>
      <p:sp>
        <p:nvSpPr>
          <p:cNvPr id="29" name="Rectangle 28"/>
          <p:cNvSpPr/>
          <p:nvPr/>
        </p:nvSpPr>
        <p:spPr>
          <a:xfrm>
            <a:off x="7992467" y="3039269"/>
            <a:ext cx="3488234" cy="6350"/>
          </a:xfrm>
          <a:prstGeom prst="rect">
            <a:avLst/>
          </a:prstGeom>
          <a:solidFill>
            <a:srgbClr val="D9D4C7"/>
          </a:solidFill>
          <a:ln>
            <a:noFill/>
          </a:ln>
        </p:spPr>
        <p:txBody>
          <a:bodyPr rtlCol="0" anchor="ctr"/>
          <a:lstStyle/>
          <a:p>
            <a:pPr algn="ctr"/>
          </a:p>
        </p:txBody>
      </p:sp>
      <p:sp>
        <p:nvSpPr>
          <p:cNvPr id="30" name="Rounded Rectangle 29"/>
          <p:cNvSpPr/>
          <p:nvPr/>
        </p:nvSpPr>
        <p:spPr>
          <a:xfrm>
            <a:off x="7992467" y="1361678"/>
            <a:ext cx="50800" cy="1683941"/>
          </a:xfrm>
          <a:prstGeom prst="roundRect">
            <a:avLst>
              <a:gd name="adj" fmla="val 50000"/>
            </a:avLst>
          </a:prstGeom>
          <a:solidFill>
            <a:srgbClr val="1D4ED8"/>
          </a:solidFill>
          <a:ln>
            <a:noFill/>
          </a:ln>
        </p:spPr>
        <p:txBody>
          <a:bodyPr rtlCol="0" anchor="ctr"/>
          <a:lstStyle/>
          <a:p>
            <a:pPr algn="ctr"/>
          </a:p>
        </p:txBody>
      </p:sp>
      <p:sp>
        <p:nvSpPr>
          <p:cNvPr id="31" name="Rounded Rectangle 30"/>
          <p:cNvSpPr/>
          <p:nvPr/>
        </p:nvSpPr>
        <p:spPr>
          <a:xfrm>
            <a:off x="8208367" y="1507728"/>
            <a:ext cx="660995" cy="241300"/>
          </a:xfrm>
          <a:prstGeom prst="roundRect">
            <a:avLst>
              <a:gd name="adj" fmla="val 50000"/>
            </a:avLst>
          </a:prstGeom>
          <a:solidFill>
            <a:srgbClr val="DBE5FB"/>
          </a:solidFill>
          <a:ln>
            <a:noFill/>
          </a:ln>
        </p:spPr>
        <p:txBody>
          <a:bodyPr rtlCol="0" anchor="ctr"/>
          <a:lstStyle/>
          <a:p>
            <a:pPr algn="ctr"/>
          </a:p>
        </p:txBody>
      </p:sp>
      <p:sp>
        <p:nvSpPr>
          <p:cNvPr id="32" name="TextBox 31"/>
          <p:cNvSpPr txBox="1"/>
          <p:nvPr/>
        </p:nvSpPr>
        <p:spPr>
          <a:xfrm>
            <a:off x="8297267"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다음 후보</a:t>
            </a:r>
          </a:p>
        </p:txBody>
      </p:sp>
      <p:sp>
        <p:nvSpPr>
          <p:cNvPr id="33" name="TextBox 32"/>
          <p:cNvSpPr txBox="1"/>
          <p:nvPr/>
        </p:nvSpPr>
        <p:spPr>
          <a:xfrm>
            <a:off x="8246467" y="182522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지연 상태 NMPC (TP-0124)</a:t>
            </a:r>
          </a:p>
        </p:txBody>
      </p:sp>
      <p:sp>
        <p:nvSpPr>
          <p:cNvPr id="34" name="TextBox 33"/>
          <p:cNvSpPr txBox="1"/>
          <p:nvPr/>
        </p:nvSpPr>
        <p:spPr>
          <a:xfrm>
            <a:off x="8246467" y="210968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jerk 줄이기 (TP-0123)</a:t>
            </a:r>
          </a:p>
        </p:txBody>
      </p:sp>
      <p:sp>
        <p:nvSpPr>
          <p:cNvPr id="35" name="TextBox 34"/>
          <p:cNvSpPr txBox="1"/>
          <p:nvPr/>
        </p:nvSpPr>
        <p:spPr>
          <a:xfrm>
            <a:off x="8246467" y="239414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부호 있는 경사 GP</a:t>
            </a:r>
          </a:p>
        </p:txBody>
      </p:sp>
      <p:sp>
        <p:nvSpPr>
          <p:cNvPr id="36" name="TextBox 35"/>
          <p:cNvSpPr txBox="1"/>
          <p:nvPr/>
        </p:nvSpPr>
        <p:spPr>
          <a:xfrm>
            <a:off x="8246467" y="2678609"/>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Planner D 초기해</a:t>
            </a:r>
          </a:p>
        </p:txBody>
      </p:sp>
      <p:graphicFrame>
        <p:nvGraphicFramePr>
          <p:cNvPr id="37" name="Table 36"/>
          <p:cNvGraphicFramePr>
            <a:graphicFrameLocks noGrp="1"/>
          </p:cNvGraphicFramePr>
          <p:nvPr/>
        </p:nvGraphicFramePr>
        <p:xfrm>
          <a:off x="711200" y="3223419"/>
          <a:ext cx="10769600" cy="1027549"/>
        </p:xfrm>
        <a:graphic>
          <a:graphicData uri="http://schemas.openxmlformats.org/drawingml/2006/table">
            <a:tbl>
              <a:tblPr firstRow="0" bandRow="0">
                <a:tableStyleId>{5C22544A-7EE6-4342-B048-85BDC9FD1C3A}</a:tableStyleId>
              </a:tblPr>
              <a:tblGrid>
                <a:gridCol w="2606675"/>
                <a:gridCol w="2862759"/>
                <a:gridCol w="4004568"/>
                <a:gridCol w="1295598"/>
              </a:tblGrid>
              <a:tr h="263634">
                <a:tc>
                  <a:txBody>
                    <a:bodyPr wrap="square"/>
                    <a:lstStyle/>
                    <a:p>
                      <a:r>
                        <a:rPr sz="1000" b="1" i="0">
                          <a:solidFill>
                            <a:srgbClr val="F4F1EA"/>
                          </a:solidFill>
                          <a:latin typeface="Arial"/>
                          <a:ea typeface="Malgun Gothic"/>
                          <a:cs typeface="Malgun Gothic"/>
                        </a:rPr>
                        <a:t>조건</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NMPC</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MPPI</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근거</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정적 seed 0–9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mpc 40/40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 40/40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TP-0122</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보행자 3명 seed 0–5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24/24, 충돌 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24/24, 충돌 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TP-0122</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권장 L1 + plant 레벨 3</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mpc 222/360 (치명 34)</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mppi_plant_lag 239/360 (치명 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TP-0152</a:t>
                      </a:r>
                    </a:p>
                  </a:txBody>
                  <a:tcPr marL="76200" marR="76200" marT="25400" marB="25400">
                    <a:solidFill>
                      <a:srgbClr val="F1EDE4"/>
                    </a:solidFill>
                  </a:tcPr>
                </a:tc>
              </a:tr>
            </a:tbl>
          </a:graphicData>
        </a:graphic>
      </p:graphicFrame>
      <p:sp>
        <p:nvSpPr>
          <p:cNvPr id="38" name="Rounded Rectangle 37"/>
          <p:cNvSpPr/>
          <p:nvPr/>
        </p:nvSpPr>
        <p:spPr>
          <a:xfrm>
            <a:off x="711200" y="4610100"/>
            <a:ext cx="10769600" cy="502543"/>
          </a:xfrm>
          <a:prstGeom prst="roundRect">
            <a:avLst>
              <a:gd name="adj" fmla="val 15162"/>
            </a:avLst>
          </a:prstGeom>
          <a:solidFill>
            <a:srgbClr val="16213A"/>
          </a:solidFill>
          <a:ln>
            <a:noFill/>
          </a:ln>
        </p:spPr>
        <p:txBody>
          <a:bodyPr rtlCol="0" anchor="ctr"/>
          <a:lstStyle/>
          <a:p>
            <a:pPr algn="ctr"/>
          </a:p>
        </p:txBody>
      </p:sp>
      <p:sp>
        <p:nvSpPr>
          <p:cNvPr id="39" name="TextBox 38"/>
          <p:cNvSpPr txBox="1"/>
          <p:nvPr/>
        </p:nvSpPr>
        <p:spPr>
          <a:xfrm>
            <a:off x="889000" y="47371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NMPC 갈래는 지금 멈춤이다. 이어 간다면 지연 상태 모델이 먼저이고, 우선순위는 보행자·인식 뒤다(STATE).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이 발표가 인용한 연구</a:t>
            </a:r>
          </a:p>
        </p:txBody>
      </p:sp>
      <p:sp>
        <p:nvSpPr>
          <p:cNvPr id="4" name="TextBox 3"/>
          <p:cNvSpPr txBox="1"/>
          <p:nvPr/>
        </p:nvSpPr>
        <p:spPr>
          <a:xfrm>
            <a:off x="7112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 Liu 외, ICAR 2025 — arXiv:2510.19054</a:t>
            </a:r>
          </a:p>
        </p:txBody>
      </p:sp>
      <p:sp>
        <p:nvSpPr>
          <p:cNvPr id="5" name="TextBox 4"/>
          <p:cNvSpPr txBox="1"/>
          <p:nvPr/>
        </p:nvSpPr>
        <p:spPr>
          <a:xfrm>
            <a:off x="711200" y="167153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 Yang 외, 2025 프리프린트 — arXiv:2508.13457</a:t>
            </a:r>
          </a:p>
        </p:txBody>
      </p:sp>
      <p:sp>
        <p:nvSpPr>
          <p:cNvPr id="6" name="TextBox 5"/>
          <p:cNvSpPr txBox="1"/>
          <p:nvPr/>
        </p:nvSpPr>
        <p:spPr>
          <a:xfrm>
            <a:off x="711200" y="19813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 Haffemayer 외, RA-L 2026 — arXiv:2601.02873</a:t>
            </a:r>
          </a:p>
        </p:txBody>
      </p:sp>
      <p:sp>
        <p:nvSpPr>
          <p:cNvPr id="7" name="TextBox 6"/>
          <p:cNvSpPr txBox="1"/>
          <p:nvPr/>
        </p:nvSpPr>
        <p:spPr>
          <a:xfrm>
            <a:off x="711200" y="2291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[4] Polevoy 외, 2026 프리프린트 — arXiv:2609.39854</a:t>
            </a:r>
          </a:p>
        </p:txBody>
      </p:sp>
      <p:sp>
        <p:nvSpPr>
          <p:cNvPr id="8" name="TextBox 7"/>
          <p:cNvSpPr txBox="1"/>
          <p:nvPr/>
        </p:nvSpPr>
        <p:spPr>
          <a:xfrm>
            <a:off x="711200" y="26011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[5] Dubied 외, Automatica 2026 — arXiv:2507.02098</a:t>
            </a:r>
          </a:p>
        </p:txBody>
      </p:sp>
      <p:sp>
        <p:nvSpPr>
          <p:cNvPr id="9" name="TextBox 8"/>
          <p:cNvSpPr txBox="1"/>
          <p:nvPr/>
        </p:nvSpPr>
        <p:spPr>
          <a:xfrm>
            <a:off x="711200" y="29109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[6] Benders 외, 2025 프리프린트 — arXiv:2508.07045</a:t>
            </a:r>
          </a:p>
        </p:txBody>
      </p:sp>
      <p:sp>
        <p:nvSpPr>
          <p:cNvPr id="10" name="TextBox 9"/>
          <p:cNvSpPr txBox="1"/>
          <p:nvPr/>
        </p:nvSpPr>
        <p:spPr>
          <a:xfrm>
            <a:off x="711200" y="322083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[7] Baxter 외, T-RO 투고 2026 — arXiv:2603.20525</a:t>
            </a:r>
          </a:p>
        </p:txBody>
      </p:sp>
      <p:sp>
        <p:nvSpPr>
          <p:cNvPr id="11" name="TextBox 10"/>
          <p:cNvSpPr txBox="1"/>
          <p:nvPr/>
        </p:nvSpPr>
        <p:spPr>
          <a:xfrm>
            <a:off x="62230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[8] Amine 외, IEEE IV 2026 — arXiv:2602.16206</a:t>
            </a:r>
          </a:p>
        </p:txBody>
      </p:sp>
      <p:sp>
        <p:nvSpPr>
          <p:cNvPr id="12" name="TextBox 11"/>
          <p:cNvSpPr txBox="1"/>
          <p:nvPr/>
        </p:nvSpPr>
        <p:spPr>
          <a:xfrm>
            <a:off x="6223000" y="167153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[9] Kübel 외, 2026 프리프린트 — arXiv:2604.14678</a:t>
            </a:r>
          </a:p>
        </p:txBody>
      </p:sp>
      <p:sp>
        <p:nvSpPr>
          <p:cNvPr id="13" name="TextBox 12"/>
          <p:cNvSpPr txBox="1"/>
          <p:nvPr/>
        </p:nvSpPr>
        <p:spPr>
          <a:xfrm>
            <a:off x="6223000" y="19813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[10] Kim, Kim, Hwangbo, RSS 2022 — arXiv:2204.08647</a:t>
            </a:r>
          </a:p>
        </p:txBody>
      </p:sp>
      <p:sp>
        <p:nvSpPr>
          <p:cNvPr id="14" name="TextBox 13"/>
          <p:cNvSpPr txBox="1"/>
          <p:nvPr/>
        </p:nvSpPr>
        <p:spPr>
          <a:xfrm>
            <a:off x="6223000" y="2291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[11] Hwangbo 외, Science Robotics 2019 — arXiv:1901.08652</a:t>
            </a:r>
          </a:p>
        </p:txBody>
      </p:sp>
      <p:sp>
        <p:nvSpPr>
          <p:cNvPr id="15" name="TextBox 14"/>
          <p:cNvSpPr txBox="1"/>
          <p:nvPr/>
        </p:nvSpPr>
        <p:spPr>
          <a:xfrm>
            <a:off x="6223000" y="26011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[12] Kim 외, Science Robotics 2025 — arXiv:2506.02835</a:t>
            </a:r>
          </a:p>
        </p:txBody>
      </p:sp>
      <p:sp>
        <p:nvSpPr>
          <p:cNvPr id="16" name="TextBox 15"/>
          <p:cNvSpPr txBox="1"/>
          <p:nvPr/>
        </p:nvSpPr>
        <p:spPr>
          <a:xfrm>
            <a:off x="6223000" y="29109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[13] Kalaria 외, 2022 (지연 상태 확장) — arXiv:2208.13856</a:t>
            </a:r>
          </a:p>
        </p:txBody>
      </p:sp>
      <p:sp>
        <p:nvSpPr>
          <p:cNvPr id="17" name="TextBox 16"/>
          <p:cNvSpPr txBox="1"/>
          <p:nvPr/>
        </p:nvSpPr>
        <p:spPr>
          <a:xfrm>
            <a:off x="6223000" y="322083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경로를 품은 MPC, 외란 피드백 강건 MPC, L4acados: Controller 문서 E.6·E.7</a:t>
            </a:r>
          </a:p>
        </p:txBody>
      </p:sp>
      <p:sp>
        <p:nvSpPr>
          <p:cNvPr id="18" name="TextBox 17"/>
          <p:cNvSpPr txBox="1"/>
          <p:nvPr/>
        </p:nvSpPr>
        <p:spPr>
          <a:xfrm>
            <a:off x="6223000" y="353069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영상의 원 논문: Grandia 외, T-RO 2023 — arXiv:2208.08373 · L4acados, Lahr 외, IEEE TCST — arXiv:2411.19258</a:t>
            </a:r>
          </a:p>
        </p:txBody>
      </p:sp>
      <p:sp>
        <p:nvSpPr>
          <p:cNvPr id="19" name="TextBox 18"/>
          <p:cNvSpPr txBox="1"/>
          <p:nvPr/>
        </p:nvSpPr>
        <p:spPr>
          <a:xfrm>
            <a:off x="711200" y="4099620"/>
            <a:ext cx="11118088"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travplan 결과: </a:t>
            </a:r>
            <a:r>
              <a:rPr sz="900" b="0" i="0">
                <a:solidFill>
                  <a:srgbClr val="7C2D12"/>
                </a:solidFill>
                <a:latin typeface="Consolas"/>
                <a:ea typeface="Malgun Gothic"/>
                <a:cs typeface="Malgun Gothic"/>
              </a:rPr>
              <a:t>docs/research-mpc.md</a:t>
            </a:r>
            <a:r>
              <a:rPr sz="1050" b="0" i="0">
                <a:solidFill>
                  <a:srgbClr val="5A6478"/>
                </a:solidFill>
                <a:latin typeface="Arial"/>
                <a:ea typeface="Malgun Gothic"/>
                <a:cs typeface="Malgun Gothic"/>
              </a:rPr>
              <a:t> M.3, </a:t>
            </a:r>
            <a:r>
              <a:rPr sz="900" b="0" i="0">
                <a:solidFill>
                  <a:srgbClr val="7C2D12"/>
                </a:solidFill>
                <a:latin typeface="Consolas"/>
                <a:ea typeface="Malgun Gothic"/>
                <a:cs typeface="Malgun Gothic"/>
              </a:rPr>
              <a:t>STATE.md</a:t>
            </a:r>
            <a:r>
              <a:rPr sz="1050" b="0" i="0">
                <a:solidFill>
                  <a:srgbClr val="5A6478"/>
                </a:solidFill>
                <a:latin typeface="Arial"/>
                <a:ea typeface="Malgun Gothic"/>
                <a:cs typeface="Malgun Gothic"/>
              </a:rPr>
              <a:t>. 코드: </a:t>
            </a:r>
            <a:r>
              <a:rPr sz="900" b="0" i="0">
                <a:solidFill>
                  <a:srgbClr val="7C2D12"/>
                </a:solidFill>
                <a:latin typeface="Consolas"/>
                <a:ea typeface="Malgun Gothic"/>
                <a:cs typeface="Malgun Gothic"/>
              </a:rPr>
              <a:t>control/acados_mpc/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챕터 발표 — MPC 구축</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