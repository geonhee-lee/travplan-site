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docs/research-controller.md. 대시보드 리서치 탭의 'Controller · 안전' 문서를 장으로 옮겼다.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머리말</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머리말</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탭 'MPPI 계열'</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E.1 MPPI의 계보: 경로 적분 제어에서 GPU 라이브러리까지</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E.1 MPPI의 계보: 경로 적분 제어에서 GPU 라이브러리까지</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E.1 MPPI의 계보: 경로 적분 제어에서 GPU 라이브러리까지</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E.1 MPPI의 계보: 경로 적분 제어에서 GPU 라이브러리까지 · 토글 '자세히: Robust MPPI의 명목 상태 선택과 log-MPPI의 샘플링'</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E.1 MPPI의 계보: 경로 적분 제어에서 GPU 라이브러리까지</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E.1 MPPI의 계보: 경로 적분 제어에서 GPU 라이브러리까지</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E.1 MPPI의 계보: 경로 적분 제어에서 GPU 라이브러리까지 · 토글 '자세히: CLIS-MPPI의 초기 상태 샘플과 rollout 회귀 이득'</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E.1 MPPI의 계보: 경로 적분 제어에서 GPU 라이브러리까지</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E.1 MPPI의 계보: 경로 적분 제어에서 GPU 라이브러리까지</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E.1 MPPI의 계보: 경로 적분 제어에서 GPU 라이브러리까지 · 토글 '자세히: Feedback-MPPI의 이득 유도'</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B.5 Controller 쪽 참고: 학습 prior를 MPPI에 넣는 법과 SMPPI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B.5 Controller 쪽 참고: 학습 prior를 MPPI에 넣는 법과 SMPPI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B.5 Controller 쪽 참고: 학습 prior를 MPPI에 넣는 법과 SMPPI · 토글 '자세히: ProxPI의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B.5 Controller 쪽 참고: 학습 prior를 MPPI에 넣는 법과 SMPPI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B.5 Controller 쪽 참고: 학습 prior를 MPPI에 넣는 법과 SMPPI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B.5 Controller 쪽 참고: 학습 prior를 MPPI에 넣는 법과 SMPPI · 토글 '자세히: π-MPPI의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B.5 Controller 쪽 참고: 학습 prior를 MPPI에 넣는 법과 SMPPI · 토글 '자세히: Self-Supervised MPC Initialization의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B.5 Controller 쪽 참고: 학습 prior를 MPPI에 넣는 법과 SMPPI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B.5 Controller 쪽 참고: 학습 prior를 MPPI에 넣는 법과 SMPPI · 토글 '자세히: Smooth MPPI의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B.5 Controller 쪽 참고: 학습 prior를 MPPI에 넣는 법과 SMPPI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E.11 최적 수송으로 샘플을 옮기는 최적화기: MPOT와 OT-MPC (TP-0130)</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E.11 최적 수송으로 샘플을 옮기는 최적화기: MPOT와 OT-MPC (TP-0130)</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E.11 최적 수송으로 샘플을 옮기는 최적화기: MPOT와 OT-MPC (TP-0130)</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E.11 최적 수송으로 샘플을 옮기는 최적화기: MPOT와 OT-MPC (TP-0130) · 토글 '자세히: MPOT의 Sinkhorn Step 수식과 제어열 매듭점 판'</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E.11 최적 수송으로 샘플을 옮기는 최적화기: MPOT와 OT-MPC (TP-0130)</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E.11 최적 수송으로 샘플을 옮기는 최적화기: MPOT와 OT-MPC (TP-0130)</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E.11 최적 수송으로 샘플을 옮기는 최적화기: MPOT와 OT-MPC (TP-0130)</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E.11 최적 수송으로 샘플을 옮기는 최적화기: MPOT와 OT-MPC (TP-0130)</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E.11 최적 수송으로 샘플을 옮기는 최적화기: MPOT와 OT-MPC (TP-0130)</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E.11 최적 수송으로 샘플을 옮기는 최적화기: MPOT와 OT-MPC (TP-0130)</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E.11 최적 수송으로 샘플을 옮기는 최적화기: MPOT와 OT-MPC (TP-0130) · 토글 '자세히: OT-MPC의 Sinkhorn 좌표 하강과 수식'</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E.11 최적 수송으로 샘플을 옮기는 최적화기: MPOT와 OT-MPC (TP-0130)</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탭 '학습 동역학·적응'</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 Controller — 학습 동역학과 추종 (참고)</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 Controller — 학습 동역학과 추종 (참고)</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 Controller — 학습 동역학과 추종 (참고) · 토글 '자세히: 지형 인지 운동 모델 + MPPI의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 Controller — 학습 동역학과 추종 (참고)</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 Controller — 학습 동역학과 추종 (참고) · 토글 '자세히: PENN의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 Controller — 학습 동역학과 추종 (참고)</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 Controller — 학습 동역학과 추종 (참고)</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 Controller — 학습 동역학과 추종 (참고) · 토글 '자세히: Bridging(능동 탐색 + 불확실성 인지 배포)의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 Controller — 학습 동역학과 추종 (참고)</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 Controller — 학습 동역학과 추종 (참고) · 토글 '자세히: TOAST의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 Controller — 학습 동역학과 추종 (참고)</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E.2 학습 동역학과 온라인 적응의 마일스톤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E.2 학습 동역학과 온라인 적응의 마일스톤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E.2 학습 동역학과 온라인 적응의 마일스톤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E.2 학습 동역학과 온라인 적응의 마일스톤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E.2 학습 동역학과 온라인 적응의 마일스톤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E.2 학습 동역학과 온라인 적응의 마일스톤 · 토글 '자세히: 확률 앙상블, 잠재 적응, 잠재 공간 계획의 수식'</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E.3 동역학 모델을 상태 추정에 넣어 외란을 읽는다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E.3 동역학 모델을 상태 추정에 넣어 외란을 읽는다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E.3 동역학 모델을 상태 추정에 넣어 외란을 읽는다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E.3 동역학 모델을 상태 추정에 넣어 외란을 읽는다 · 토글 '자세히: 잔차 동역학과 최적화에 들어가는 동역학 항'</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E.3 동역학 모델을 상태 추정에 넣어 외란을 읽는다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E.4 반복되는 외란을 잠재 조건으로 기억한다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E.4 반복되는 외란을 잠재 조건으로 기억한다 · 토글 '자세히: 잠재 조건부 잔차와 VAE가 아닌 이유'</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E.4 반복되는 외란을 잠재 조건으로 기억한다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E.4 반복되는 외란을 잠재 조건으로 기억한다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E.4 반복되는 외란을 잠재 조건으로 기억한다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E.4 반복되는 외란을 잠재 조건으로 기억한다 · 토글 '자세히: 함수 인코더와 RLS 계수 갱신'</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E.5 모르는 것 위에서의 보장: 학습 MPC의 세 갈래</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E.5 모르는 것 위에서의 보장: 학습 MPC의 세 갈래 · 토글 '자세히: 확률 제약으로 조이기와 PCBF의 실행 가능성'</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E.5 모르는 것 위에서의 보장: 학습 MPC의 세 갈래</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E.6 이 계보의 공개 코드와, travplan이 실제로 가져올 것</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E.6 이 계보의 공개 코드와, travplan이 실제로 가져올 것 · 토글 '자세히: zero-order 근사와 베이즈 최적화의 목적 함수'</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E.6 이 계보의 공개 코드와, travplan이 실제로 가져올 것</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E.7 Zeilinger 그룹 더 보기: 경로를 품은 MPC, 성능을 지키는 자동 튜닝, 실험 플랫폼</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E.7 Zeilinger 그룹 더 보기: 경로를 품은 MPC, 성능을 지키는 자동 튜닝, 실험 플랫폼</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E.8 GP와 희소 GP: 잔차 모델의 선택지</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E.8 GP와 희소 GP: 잔차 모델의 선택지</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E.9 모바일 로봇에 GP를 붙인 사례들</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E.9 모바일 로봇에 GP를 붙인 사례들</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E.10 GP가 모바일 로봇에서 앉는 자리는 셋이다</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E.10 GP가 모바일 로봇에서 앉는 자리는 셋이다</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E.10 GP가 모바일 로봇에서 앉는 자리는 셋이다</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E.10 GP가 모바일 로봇에서 앉는 자리는 셋이다</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E.10 GP가 모바일 로봇에서 앉는 자리는 셋이다 · 토글 '자세히: 접촉 높이와 Clark의 최댓값 모멘트'</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탭 '안전 필터'</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C. 동적 장애물 안전 필터</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C.1 두 구조</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C.2 방식별 설명</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C.2 방식별 설명 · 토글 '자세히: RA-MPPI와 DRA-MPPI의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C.2 방식별 설명</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C.2 방식별 설명</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C.2 방식별 설명 · 토글 '자세히: Adaptive CVaR Barrier Functions의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C.2 방식별 설명</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C.2 방식별 설명 · 토글 '자세히: DUCCT-MPPI의 점유 확률과 보정 점수'</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C.3 비교</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C.4 안전 필터의 계보: CBF-QP, 도달 가능성, 예측 안전 필터</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C.4 안전 필터의 계보: CBF-QP, 도달 가능성, 예측 안전 필터</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C.4 안전 필터의 계보: CBF-QP, 도달 가능성, 예측 안전 필터</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C.4 안전 필터의 계보: CBF-QP, 도달 가능성, 예측 안전 필터 · 토글 '자세히: 세 갈래의 안전 조건을 한 틀로 보기'</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C.4 안전 필터의 계보: CBF-QP, 도달 가능성, 예측 안전 필터</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C.4 안전 필터의 계보: CBF-QP, 도달 가능성, 예측 안전 필터 · 토글 '자세히: soft-min이 잃는 몫과 δ-활성 집합'</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C.4 안전 필터의 계보: CBF-QP, 도달 가능성, 예측 안전 필터</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C.4 안전 필터의 계보: CBF-QP, 도달 가능성, 예측 안전 필터</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C.4 안전 필터의 계보: CBF-QP, 도달 가능성, 예측 안전 필터 · 토글 '자세히: 안전 판정과 시나리오 경계'</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탭 '하위 제어 · 4족 RL'</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 하위 제어: 4족 보행 RL</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F.1 계보 — 액추에이터 모델에서 자동 커리큘럼까지</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F.2 LP-ACRL — 난이도 순서를 사람이 정하지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F.2 LP-ACRL — 난이도 순서를 사람이 정하지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F.2 LP-ACRL — 난이도 순서를 사람이 정하지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F.2 LP-ACRL — 난이도 순서를 사람이 정하지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F.2 LP-ACRL — 난이도 순서를 사람이 정하지 않는다 · 토글 '자세히: 배경 — 이 논문을 읽으려면 알아야 할 네 가지'</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F.2 LP-ACRL — 난이도 순서를 사람이 정하지 않는다 · 토글 '자세히: 왜 "난이도"가 아니라 "진척"인가'</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F.2 LP-ACRL — 난이도 순서를 사람이 정하지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F.3 travplan에 주는 것 — 지금 바로 걸리는 자리가 있다</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F.4 무엇을 보고 걷나 — 갈래가 셋이다</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F.4 무엇을 보고 걷나 — 갈래가 셋이다</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F.4 무엇을 보고 걷나 — 갈래가 셋이다 · 토글 '자세히: Dream* 계열 다섯 편은 한 줄기다 (그리고 공식 코드가 하나도 없다)'</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F.4 무엇을 보고 걷나 — 갈래가 셋이다</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F.5 RL과 MPC를 섞는 갈래 — travplan의 Controller 결정과 같은 질문</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F.6 오픈소스 — 학습 틀은 Isaac Lab·mjlab과 rsl_rl로 모였다</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F.6 오픈소스 — 학습 틀은 Isaac Lab·mjlab과 rsl_rl로 모였다</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F.6 오픈소스 — 학습 틀은 Isaac Lab·mjlab과 rsl_rl로 모였다</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F.6 오픈소스 — 학습 틀은 Isaac Lab·mjlab과 rsl_rl로 모였다</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F.6 오픈소스 — 학습 틀은 Isaac Lab·mjlab과 rsl_rl로 모였다</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F.6 오픈소스 — 학습 틀은 Isaac Lab·mjlab과 rsl_rl로 모였다</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F.6 오픈소스 — 학습 틀은 Isaac Lab·mjlab과 rsl_rl로 모였다 · 토글 '자세히: 저장소마다 확인한 파일과 줄(표의 근거)'</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F.6 오픈소스 — 학습 틀은 Isaac Lab·mjlab과 rsl_rl로 모였다</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F.6.1 DreamWaQ 비공식 구현 — 넷을 코드로 읽었다</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F.6.1 DreamWaQ 비공식 구현 — 넷을 코드로 읽었다</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F.6.1 DreamWaQ 비공식 구현 — 넷을 코드로 읽었다</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F.6.1 DreamWaQ 비공식 구현 — 넷을 코드로 읽었다</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F.6.1 DreamWaQ 비공식 구현 — 넷을 코드로 읽었다</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F.6.1 DreamWaQ 비공식 구현 — 넷을 코드로 읽었다 · 토글 '자세히: curieuxjy/go2_dreamwaq의 구조와 코드'</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F.6.1 DreamWaQ 비공식 구현 — 넷을 코드로 읽었다 · 토글 '자세히: Teddy-Liao/walk-these-ways-go2의 구조와 코드'</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F.6.1 DreamWaQ 비공식 구현 — 넷을 코드로 읽었다 · 토글 '자세히: yusongmin1/Dreamwaq의 구조와 코드'</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F.6.1 DreamWaQ 비공식 구현 — 넷을 코드로 읽었다 · 토글 '자세히: wanghg1992/DreamWaQ의 구조와 코드'</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F.6.1 DreamWaQ 비공식 구현 — 넷을 코드로 읽었다 · 토글 '자세히: 그 밖의 비공식 구현'</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F.6.1 DreamWaQ 비공식 구현 — 넷을 코드로 읽었다</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F.6.2 Extreme Parkour — 논문과 공개 코드를 읽었다</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F.6.2 Extreme Parkour — 논문과 공개 코드를 읽었다</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F.6.2 Extreme Parkour — 논문과 공개 코드를 읽었다 · 토글 '자세히: Extreme Parkour의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F.6.2 Extreme Parkour — 논문과 공개 코드를 읽었다 · 토글 '자세히: chengxuxin/extreme-parkour 저장소의 구조와 코드'</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F.6.2 Extreme Parkour — 논문과 공개 코드를 읽었다</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F.6.2 Extreme Parkour — 논문과 공개 코드를 읽었다</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F.7 장단점 비교 — travplan 관점에서</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F.7 장단점 비교 — travplan 관점에서</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F.8 휴머노이드 전신 제어: GR00T-WholeBodyControl의 분리형 WBC</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탭 '최근 연구 비교'</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E.16 최근 연구 비교 (2025–2026)</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공통점</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차이점</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travplan에 주는 의미</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travplan에 주는 의미</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탭 '작업 기록'</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E.15 DreamWaQ 비공식 구현 넷 — 작동하는 문맥 z는 없었고, 바퀴-다리 M20 정책은 z 없이도 계단을 오른다 (TP-0155)</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무엇을 했나</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결과 ① M20 정책(yusongmin1)의 MuJoCo sim2sim</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결과 ① M20 정책(yusongmin1)의 MuJoCo sim2sim</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결과 ② Walk These Ways Go2 정책의 MuJoCo sim2sim과 실물 로그 재생</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결과 ② Walk These Ways Go2 정책의 MuJoCo sim2sim과 실물 로그 재생</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결과 ③ 문맥 z의 붕괴</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결과 ③ 문맥 z의 붕괴</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결과 ④ PPO 갱신 때의 재표집</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결과 ⑤ 모듈 점검에서 확인한 것</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정직하게 적어 둘 것</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재현</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E.14 Playground의 MPOT Planner — Dijkstra와 같은 도달률, 매끄러운 경로, 국소 최솟값 하나 (TP-0136)</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무엇을 만들었나(docs/playground/js/mpot.js)</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결과(Playground, 스워브 + MPPI)</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정직하게 적어 둘 것</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E.13 Playground 휴머노이드와 GR00T 분리형 WBC — 위에 앉은 MPPI는 하체 지연을 알아야 한다 (TP-0135)</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무엇을 만들었나</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결과</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정직하게 적어 둘 것</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E.12 Playground의 학습 Controller와 지도 없는 대조군 (TP-0128·TP-0129)</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무엇을 만들었나</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왜 ES인가 — 보상이 벤치마크의 판정 그 자체라서</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결과 ① 파이썬(GT 지도, 4 시나리오 × seed)</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결과 ② 브라우저(가림 켠 belief 지도, 4 시나리오 × seed 0–2)</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결과 ③ 저장소 벤치마크 — 브라우저의 8/12가 파이썬에서도 그대로 나온다</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TP-0129 — 지도는 바퀴에게만 필수다</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파이썬과 브라우저가 같은 숫자를 내는가 — 황금 벡터로 고정했다</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정직하게 적어 둘 것</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docs/research-controller.md · 재현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hyperlink" Target="https://github.com/ros-navigation/navigation2" TargetMode="External"/><Relationship Id="rId4" Type="http://schemas.openxmlformats.org/officeDocument/2006/relationships/hyperlink" Target="https://github.com/nicklashansen/tdmpc2" TargetMode="External"/><Relationship Id="rId5" Type="http://schemas.openxmlformats.org/officeDocument/2006/relationships/hyperlink" Target="https://github.com/utiasDSL/safe-control-gym" TargetMode="External"/><Relationship Id="rId6" Type="http://schemas.openxmlformats.org/officeDocument/2006/relationships/hyperlink" Target="https://github.com/UM-ARM-Lab/pytorch_mppi" TargetMode="External"/><Relationship Id="rId7" Type="http://schemas.openxmlformats.org/officeDocument/2006/relationships/hyperlink" Target="https://github.com/HybridRobotics/NMPC-DCLF-DCBF" TargetMode="External"/><Relationship Id="rId8" Type="http://schemas.openxmlformats.org/officeDocument/2006/relationships/hyperlink" Target="https://github.com/ACDSLab/MPPI-Generic" TargetMode="External"/><Relationship Id="rId9" Type="http://schemas.openxmlformats.org/officeDocument/2006/relationships/hyperlink" Target="https://github.com/tkkim-robot/safe_control" TargetMode="External"/><Relationship Id="rId10" Type="http://schemas.openxmlformats.org/officeDocument/2006/relationships/hyperlink" Target="https://github.com/StanfordASL/hj_reachability"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hyperlink" Target="https://github.com/ros-navigation/navigation2" TargetMode="External"/><Relationship Id="rId4" Type="http://schemas.openxmlformats.org/officeDocument/2006/relationships/hyperlink" Target="https://github.com/ACDSLab/MPPI-Generic" TargetMode="External"/><Relationship Id="rId5" Type="http://schemas.openxmlformats.org/officeDocument/2006/relationships/hyperlink" Target="https://feedback-mppi.github.io" TargetMode="External"/><Relationship Id="rId6" Type="http://schemas.openxmlformats.org/officeDocument/2006/relationships/hyperlink" Target="https://github.com/LeCAR-Lab/dial-mpc" TargetMode="External"/><Relationship Id="rId7" Type="http://schemas.openxmlformats.org/officeDocument/2006/relationships/hyperlink" Target="https://github.com/UM-ARM-Lab/pytorch_mppi" TargetMode="External"/><Relationship Id="rId8" Type="http://schemas.openxmlformats.org/officeDocument/2006/relationships/hyperlink" Target="https://arxiv.org/abs/1509.01149" TargetMode="External"/><Relationship Id="rId9" Type="http://schemas.openxmlformats.org/officeDocument/2006/relationships/hyperlink" Target="https://arxiv.org/abs/1707.02342"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hyperlink" Target="https://arxiv.org/abs/2102.09027" TargetMode="External"/><Relationship Id="rId4" Type="http://schemas.openxmlformats.org/officeDocument/2006/relationships/hyperlink" Target="https://arxiv.org/abs/2203.16599" TargetMode="External"/><Relationship Id="rId5" Type="http://schemas.openxmlformats.org/officeDocument/2006/relationships/hyperlink" Target="https://arxiv.org/abs/2409.07563"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hyperlink" Target="https://arxiv.org/abs/2610.21239"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jpg"/><Relationship Id="rId4"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hyperlink" Target="https://arxiv.org/abs/2506.14855" TargetMode="External"/><Relationship Id="rId4" Type="http://schemas.openxmlformats.org/officeDocument/2006/relationships/hyperlink" Target="https://feedback-mppi.github.io"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hyperlink" Target="https://arxiv.org/abs/2609.00941"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hyperlink" Target="https://arxiv.org/abs/2408.03394" TargetMode="External"/><Relationship Id="rId4" Type="http://schemas.openxmlformats.org/officeDocument/2006/relationships/hyperlink" Target="https://arxiv.org/abs/2504.10962"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6.jpg"/><Relationship Id="rId4" Type="http://schemas.openxmlformats.org/officeDocument/2006/relationships/image" Target="../media/image1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hyperlink" Target="https://arxiv.org/abs/2112.09988"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9.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hyperlink" Target="https://arxiv.org/abs/2309.15970"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1.jpg"/><Relationship Id="rId4" Type="http://schemas.openxmlformats.org/officeDocument/2006/relationships/image" Target="../media/image22.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27.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hyperlink" Target="https://arxiv.org/abs/2510.01519" TargetMode="External"/><Relationship Id="rId4" Type="http://schemas.openxmlformats.org/officeDocument/2006/relationships/hyperlink" Target="https://arxiv.org/abs/2409.16915" TargetMode="External"/><Relationship Id="rId5" Type="http://schemas.openxmlformats.org/officeDocument/2006/relationships/image" Target="../media/image28.jpg"/><Relationship Id="rId6" Type="http://schemas.openxmlformats.org/officeDocument/2006/relationships/image" Target="../media/image29.jpg"/><Relationship Id="rId7" Type="http://schemas.openxmlformats.org/officeDocument/2006/relationships/hyperlink" Target="https://github.com/anindex/mpot"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hyperlink" Target="https://github.com/anindex/ssax" TargetMode="External"/><Relationship Id="rId4" Type="http://schemas.openxmlformats.org/officeDocument/2006/relationships/hyperlink" Target="https://arxiv.org/abs/2411.19393" TargetMode="External"/><Relationship Id="rId5" Type="http://schemas.openxmlformats.org/officeDocument/2006/relationships/hyperlink" Target="https://paperswithcode.co/paper/96053" TargetMode="External"/><Relationship Id="rId6" Type="http://schemas.openxmlformats.org/officeDocument/2006/relationships/hyperlink" Target="https://arxiv.org/abs/2505.01059" TargetMode="External"/><Relationship Id="rId7" Type="http://schemas.openxmlformats.org/officeDocument/2006/relationships/hyperlink" Target="https://arxiv.org/abs/2605.02147" TargetMode="External"/><Relationship Id="rId8" Type="http://schemas.openxmlformats.org/officeDocument/2006/relationships/hyperlink" Target="https://acdslab.github.io/ot-mpc/"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0.jpg"/><Relationship Id="rId4" Type="http://schemas.openxmlformats.org/officeDocument/2006/relationships/image" Target="../media/image31.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hyperlink" Target="https://app.notion.com/p/geonhee-lee/VLA-E2E-Learning-based-planning-Mobile-robot-346c5d39343d80f18d74f6efac4cc40a#3e5c5d39343d8039bd36c32ec5418e7d" TargetMode="External"/><Relationship Id="rId4" Type="http://schemas.openxmlformats.org/officeDocument/2006/relationships/hyperlink" Target="https://arxiv.org/abs/2305.00676"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35.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36.png"/><Relationship Id="rId4" Type="http://schemas.openxmlformats.org/officeDocument/2006/relationships/image" Target="../media/image3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hyperlink" Target="https://arxiv.org/abs/2207.07920"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3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hyperlink" Target="https://arxiv.org/abs/2305.12240"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39.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40.png"/><Relationship Id="rId4" Type="http://schemas.openxmlformats.org/officeDocument/2006/relationships/image" Target="../media/image4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hyperlink" Target="https://scholar.google.com/citations?user=olIJfeYAAAAJ&amp;hl=ko" TargetMode="External"/><Relationship Id="rId4" Type="http://schemas.openxmlformats.org/officeDocument/2006/relationships/hyperlink" Target="https://arxiv.org/abs/2201.08321"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4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hyperlink" Target="https://www.taekyung.me/3e218d5c-31e3-8088-ac70-fee275314177"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hyperlink" Target="https://github.com/nicklashansen/tdmpc2" TargetMode="External"/><Relationship Id="rId4" Type="http://schemas.openxmlformats.org/officeDocument/2006/relationships/hyperlink" Target="https://arxiv.org/abs/1805.12114" TargetMode="External"/><Relationship Id="rId5" Type="http://schemas.openxmlformats.org/officeDocument/2006/relationships/image" Target="../media/image43.jpg"/><Relationship Id="rId6" Type="http://schemas.openxmlformats.org/officeDocument/2006/relationships/hyperlink" Target="https://arxiv.org/abs/2102.12667"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hyperlink" Target="https://arxiv.org/abs/2107.04034"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44.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hyperlink" Target="https://arxiv.org/abs/2310.16828"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45.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hyperlink" Target="https://arxiv.org/abs/2504.00969" TargetMode="External"/><Relationship Id="rId4" Type="http://schemas.openxmlformats.org/officeDocument/2006/relationships/hyperlink" Target="https://github.com/uzh-rpg/hdvio2.0"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50.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51.png"/><Relationship Id="rId4" Type="http://schemas.openxmlformats.org/officeDocument/2006/relationships/image" Target="../media/image5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hyperlink" Target="https://arxiv.org/abs/2606.27353" TargetMode="External"/><Relationship Id="rId4" Type="http://schemas.openxmlformats.org/officeDocument/2006/relationships/image" Target="../media/image53.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hyperlink" Target="https://arxiv.org/abs/2607.13319" TargetMode="External"/><Relationship Id="rId4" Type="http://schemas.openxmlformats.org/officeDocument/2006/relationships/hyperlink" Target="https://amrl.cs.utexas.edu/optcar/"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57.jpg"/><Relationship Id="rId4" Type="http://schemas.openxmlformats.org/officeDocument/2006/relationships/image" Target="../media/image58.jpg"/><Relationship Id="rId5" Type="http://schemas.openxmlformats.org/officeDocument/2006/relationships/hyperlink" Target="https://arxiv.org/abs/2509.12516"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image" Target="../media/image59.jpg"/><Relationship Id="rId4" Type="http://schemas.openxmlformats.org/officeDocument/2006/relationships/image" Target="../media/image60.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61.png"/><Relationship Id="rId4" Type="http://schemas.openxmlformats.org/officeDocument/2006/relationships/image" Target="../media/image6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hyperlink" Target="https://www.youtube.com/watch?v=tfDv32K5Pmo" TargetMode="External"/><Relationship Id="rId4" Type="http://schemas.openxmlformats.org/officeDocument/2006/relationships/hyperlink" Target="https://www.annualreviews.org/content/journals/10.1146/annurev-control-090419-075625" TargetMode="External"/><Relationship Id="rId5" Type="http://schemas.openxmlformats.org/officeDocument/2006/relationships/hyperlink" Target="https://arxiv.org/abs/1705.10702" TargetMode="External"/><Relationship Id="rId6" Type="http://schemas.openxmlformats.org/officeDocument/2006/relationships/hyperlink" Target="https://arxiv.org/abs/2105.10241"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hyperlink" Target="https://github.com/IntelligentControlSystems/l4acados" TargetMode="External"/><Relationship Id="rId4" Type="http://schemas.openxmlformats.org/officeDocument/2006/relationships/hyperlink" Target="https://github.com/IntelligentControlSystems/ampyc" TargetMode="External"/><Relationship Id="rId5" Type="http://schemas.openxmlformats.org/officeDocument/2006/relationships/hyperlink" Target="https://github.com/IntelligentControlSystems/bayesopt4ros" TargetMode="External"/><Relationship Id="rId6" Type="http://schemas.openxmlformats.org/officeDocument/2006/relationships/hyperlink" Target="https://arxiv.org/abs/2110.02710" TargetMode="External"/><Relationship Id="rId7" Type="http://schemas.openxmlformats.org/officeDocument/2006/relationships/hyperlink" Target="https://arxiv.org/abs/2211.15522" TargetMode="External"/><Relationship Id="rId8" Type="http://schemas.openxmlformats.org/officeDocument/2006/relationships/hyperlink" Target="https://arxiv.org/abs/2411.19258"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image" Target="../media/image66.png"/><Relationship Id="rId4" Type="http://schemas.openxmlformats.org/officeDocument/2006/relationships/image" Target="../media/image6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hyperlink" Target="https://arxiv.org/abs/2301.04943" TargetMode="External"/><Relationship Id="rId4" Type="http://schemas.openxmlformats.org/officeDocument/2006/relationships/hyperlink" Target="https://arxiv.org/abs/2509.18760" TargetMode="External"/><Relationship Id="rId5" Type="http://schemas.openxmlformats.org/officeDocument/2006/relationships/hyperlink" Target="https://github.com/antoineleeman/robust-nonlinear-mpc" TargetMode="External"/><Relationship Id="rId6" Type="http://schemas.openxmlformats.org/officeDocument/2006/relationships/hyperlink" Target="https://arxiv.org/abs/1906.12189" TargetMode="External"/><Relationship Id="rId7" Type="http://schemas.openxmlformats.org/officeDocument/2006/relationships/hyperlink" Target="https://arxiv.org/abs/2402.06562"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hyperlink" Target="https://arxiv.org/abs/2509.15917" TargetMode="External"/><Relationship Id="rId4" Type="http://schemas.openxmlformats.org/officeDocument/2006/relationships/hyperlink" Target="https://github.com/IntelligentControlSystems/ClutteredEnvironment"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hyperlink" Target="https://arxiv.org/abs/2503.07127" TargetMode="External"/><Relationship Id="rId4" Type="http://schemas.openxmlformats.org/officeDocument/2006/relationships/hyperlink" Target="https://arxiv.org/abs/2102.11907" TargetMode="External"/><Relationship Id="rId5" Type="http://schemas.openxmlformats.org/officeDocument/2006/relationships/hyperlink" Target="https://arxiv.org/abs/2209.12048" TargetMode="External"/><Relationship Id="rId6" Type="http://schemas.openxmlformats.org/officeDocument/2006/relationships/hyperlink" Target="https://github.com/IntelligentControlSystems/crs" TargetMode="External"/><Relationship Id="rId7" Type="http://schemas.openxmlformats.org/officeDocument/2006/relationships/hyperlink" Target="https://github.com/IntelligentControlSystems/ClutteredEnvironment" TargetMode="External"/><Relationship Id="rId8" Type="http://schemas.openxmlformats.org/officeDocument/2006/relationships/hyperlink" Target="https://github.com/IntelligentControlSystems/l4acados" TargetMode="External"/><Relationship Id="rId9" Type="http://schemas.openxmlformats.org/officeDocument/2006/relationships/hyperlink" Target="https://github.com/IntelligentControlSystems/ampyc" TargetMode="External"/><Relationship Id="rId10" Type="http://schemas.openxmlformats.org/officeDocument/2006/relationships/hyperlink" Target="https://github.com/IntelligentControlSystems/bayesopt4ros"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hyperlink" Target="https://proceedings.mlr.press/v5/titsias09a.html" TargetMode="External"/><Relationship Id="rId4" Type="http://schemas.openxmlformats.org/officeDocument/2006/relationships/hyperlink" Target="https://arxiv.org/abs/1606.04820" TargetMode="External"/><Relationship Id="rId5" Type="http://schemas.openxmlformats.org/officeDocument/2006/relationships/hyperlink" Target="https://arxiv.org/abs/1705.07131" TargetMode="External"/><Relationship Id="rId6" Type="http://schemas.openxmlformats.org/officeDocument/2006/relationships/hyperlink" Target="https://arxiv.org/abs/2102.05773" TargetMode="External"/><Relationship Id="rId7" Type="http://schemas.openxmlformats.org/officeDocument/2006/relationships/hyperlink" Target="https://arxiv.org/abs/2305.17254" TargetMode="External"/><Relationship Id="rId8" Type="http://schemas.openxmlformats.org/officeDocument/2006/relationships/hyperlink" Target="https://arxiv.org/abs/2303.08181" TargetMode="External"/><Relationship Id="rId9" Type="http://schemas.openxmlformats.org/officeDocument/2006/relationships/hyperlink" Target="https://arxiv.org/abs/2003.01802"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hyperlink" Target="https://arxiv.org/abs/2502.02310" TargetMode="External"/><Relationship Id="rId4" Type="http://schemas.openxmlformats.org/officeDocument/2006/relationships/hyperlink" Target="https://onlinelibrary.wiley.com/doi/abs/10.1002/rob.21587" TargetMode="External"/><Relationship Id="rId5" Type="http://schemas.openxmlformats.org/officeDocument/2006/relationships/hyperlink" Target="https://journals.sagepub.com/doi/10.1177/0278364916645661" TargetMode="External"/><Relationship Id="rId6" Type="http://schemas.openxmlformats.org/officeDocument/2006/relationships/hyperlink" Target="https://arxiv.org/abs/1810.06681" TargetMode="External"/><Relationship Id="rId7" Type="http://schemas.openxmlformats.org/officeDocument/2006/relationships/hyperlink" Target="https://arxiv.org/abs/2402.18065" TargetMode="External"/><Relationship Id="rId8" Type="http://schemas.openxmlformats.org/officeDocument/2006/relationships/hyperlink" Target="https://www.sciencedirect.com/science/article/pii/S240589631731635X"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 Id="rId3" Type="http://schemas.openxmlformats.org/officeDocument/2006/relationships/hyperlink" Target="https://ieeexplore.ieee.org/document/7989646/" TargetMode="External"/><Relationship Id="rId4" Type="http://schemas.openxmlformats.org/officeDocument/2006/relationships/hyperlink" Target="https://www.mdpi.com/2076-3417/12/9/4789" TargetMode="External"/><Relationship Id="rId5" Type="http://schemas.openxmlformats.org/officeDocument/2006/relationships/hyperlink" Target="https://arxiv.org/abs/2303.01169" TargetMode="External"/><Relationship Id="rId6" Type="http://schemas.openxmlformats.org/officeDocument/2006/relationships/hyperlink" Target="https://arxiv.org/abs/2204.10883" TargetMode="External"/><Relationship Id="rId7" Type="http://schemas.openxmlformats.org/officeDocument/2006/relationships/hyperlink" Target="https://arxiv.org/abs/2508.03890" TargetMode="External"/><Relationship Id="rId8" Type="http://schemas.openxmlformats.org/officeDocument/2006/relationships/hyperlink" Target="https://arxiv.org/abs/2411.03289"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 Id="rId3" Type="http://schemas.openxmlformats.org/officeDocument/2006/relationships/hyperlink" Target="https://arxiv.org/abs/2507.12067" TargetMode="External"/><Relationship Id="rId4" Type="http://schemas.openxmlformats.org/officeDocument/2006/relationships/hyperlink" Target="https://arxiv.org/abs/2610.06103"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 Id="rId3" Type="http://schemas.openxmlformats.org/officeDocument/2006/relationships/image" Target="../media/image68.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 Id="rId3" Type="http://schemas.openxmlformats.org/officeDocument/2006/relationships/image" Target="../media/image69.png"/><Relationship Id="rId4" Type="http://schemas.openxmlformats.org/officeDocument/2006/relationships/image" Target="../media/image70.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 Id="rId3" Type="http://schemas.openxmlformats.org/officeDocument/2006/relationships/hyperlink" Target="https://arxiv.org/abs/2209.12842" TargetMode="External"/><Relationship Id="rId4" Type="http://schemas.openxmlformats.org/officeDocument/2006/relationships/image" Target="../media/image71.png"/><Relationship Id="rId5" Type="http://schemas.openxmlformats.org/officeDocument/2006/relationships/image" Target="../media/image72.png"/><Relationship Id="rId6" Type="http://schemas.openxmlformats.org/officeDocument/2006/relationships/hyperlink" Target="https://arxiv.org/abs/2506.21205" TargetMode="External"/><Relationship Id="rId7" Type="http://schemas.openxmlformats.org/officeDocument/2006/relationships/image" Target="../media/image73.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 Id="rId3" Type="http://schemas.openxmlformats.org/officeDocument/2006/relationships/image" Target="../media/image74.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 Id="rId3" Type="http://schemas.openxmlformats.org/officeDocument/2006/relationships/image" Target="../media/image75.png"/><Relationship Id="rId4" Type="http://schemas.openxmlformats.org/officeDocument/2006/relationships/image" Target="../media/image76.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 Id="rId3" Type="http://schemas.openxmlformats.org/officeDocument/2006/relationships/hyperlink" Target="https://arxiv.org/abs/2605.28330" TargetMode="Externa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 Id="rId3" Type="http://schemas.openxmlformats.org/officeDocument/2006/relationships/image" Target="../media/image77.png"/><Relationship Id="rId4" Type="http://schemas.openxmlformats.org/officeDocument/2006/relationships/image" Target="../media/image78.png"/><Relationship Id="rId5" Type="http://schemas.openxmlformats.org/officeDocument/2006/relationships/image" Target="../media/image79.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 Id="rId3" Type="http://schemas.openxmlformats.org/officeDocument/2006/relationships/hyperlink" Target="https://github.com/StanfordASL/hj_reachability" TargetMode="External"/><Relationship Id="rId4" Type="http://schemas.openxmlformats.org/officeDocument/2006/relationships/hyperlink" Target="https://github.com/HybridRobotics/NMPC-DCLF-DCBF" TargetMode="External"/><Relationship Id="rId5" Type="http://schemas.openxmlformats.org/officeDocument/2006/relationships/hyperlink" Target="https://github.com/utiasDSL/safe-control-gym" TargetMode="External"/><Relationship Id="rId6" Type="http://schemas.openxmlformats.org/officeDocument/2006/relationships/hyperlink" Target="https://github.com/LeCAR-Lab/ABS" TargetMode="External"/><Relationship Id="rId7" Type="http://schemas.openxmlformats.org/officeDocument/2006/relationships/hyperlink" Target="https://github.com/lc-lab25/Exact-Safe-MPPI" TargetMode="External"/><Relationship Id="rId8" Type="http://schemas.openxmlformats.org/officeDocument/2006/relationships/hyperlink" Target="https://github.com/tkkim-robot/safe_control" TargetMode="Externa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 Id="rId3" Type="http://schemas.openxmlformats.org/officeDocument/2006/relationships/hyperlink" Target="https://arxiv.org/abs/1609.06408" TargetMode="External"/><Relationship Id="rId4" Type="http://schemas.openxmlformats.org/officeDocument/2006/relationships/hyperlink" Target="https://arxiv.org/abs/1903.11199" TargetMode="External"/><Relationship Id="rId5" Type="http://schemas.openxmlformats.org/officeDocument/2006/relationships/hyperlink" Target="https://arxiv.org/abs/1709.07523" TargetMode="External"/><Relationship Id="rId6" Type="http://schemas.openxmlformats.org/officeDocument/2006/relationships/hyperlink" Target="https://arxiv.org/abs/1812.05506" TargetMode="External"/><Relationship Id="rId7" Type="http://schemas.openxmlformats.org/officeDocument/2006/relationships/hyperlink" Target="https://arxiv.org/abs/2309.05837" TargetMode="External"/><Relationship Id="rId8" Type="http://schemas.openxmlformats.org/officeDocument/2006/relationships/hyperlink" Target="https://arxiv.org/abs/2505.06794" TargetMode="External"/><Relationship Id="rId9" Type="http://schemas.openxmlformats.org/officeDocument/2006/relationships/hyperlink" Target="https://youtu.be/fBRdkAJGixI" TargetMode="Externa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 Id="rId3" Type="http://schemas.openxmlformats.org/officeDocument/2006/relationships/hyperlink" Target="https://arxiv.org/abs/2508.11129" TargetMode="External"/><Relationship Id="rId4" Type="http://schemas.openxmlformats.org/officeDocument/2006/relationships/hyperlink" Target="https://arxiv.org/abs/2510.25913" TargetMode="Externa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 Id="rId3" Type="http://schemas.openxmlformats.org/officeDocument/2006/relationships/image" Target="../media/image80.png"/><Relationship Id="rId4" Type="http://schemas.openxmlformats.org/officeDocument/2006/relationships/image" Target="../media/image81.png"/><Relationship Id="rId5" Type="http://schemas.openxmlformats.org/officeDocument/2006/relationships/image" Target="../media/image8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 Id="rId3" Type="http://schemas.openxmlformats.org/officeDocument/2006/relationships/hyperlink" Target="https://arxiv.org/abs/2610.07369" TargetMode="External"/><Relationship Id="rId4" Type="http://schemas.openxmlformats.org/officeDocument/2006/relationships/hyperlink" Target="https://github.com/lc-lab25/Exact-Safe-MPPI" TargetMode="External"/><Relationship Id="rId5" Type="http://schemas.openxmlformats.org/officeDocument/2006/relationships/hyperlink" Target="https://arxiv.org/abs/2410.02154" TargetMode="Externa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 Id="rId3" Type="http://schemas.openxmlformats.org/officeDocument/2006/relationships/hyperlink" Target="https://arxiv.org/abs/2604.22149" TargetMode="Externa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 Id="rId3" Type="http://schemas.openxmlformats.org/officeDocument/2006/relationships/image" Target="../media/image86.jpg"/><Relationship Id="rId4" Type="http://schemas.openxmlformats.org/officeDocument/2006/relationships/image" Target="../media/image87.jp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 Id="rId3" Type="http://schemas.openxmlformats.org/officeDocument/2006/relationships/image" Target="../media/image88.png"/><Relationship Id="rId4" Type="http://schemas.openxmlformats.org/officeDocument/2006/relationships/image" Target="../media/image89.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 Id="rId3" Type="http://schemas.openxmlformats.org/officeDocument/2006/relationships/hyperlink" Target="https://arxiv.org/abs/2010.11251" TargetMode="External"/><Relationship Id="rId4" Type="http://schemas.openxmlformats.org/officeDocument/2006/relationships/hyperlink" Target="https://arxiv.org/abs/2109.11978" TargetMode="External"/><Relationship Id="rId5" Type="http://schemas.openxmlformats.org/officeDocument/2006/relationships/hyperlink" Target="https://arxiv.org/abs/2306.14874" TargetMode="External"/><Relationship Id="rId6" Type="http://schemas.openxmlformats.org/officeDocument/2006/relationships/hyperlink" Target="https://arxiv.org/abs/2601.17428" TargetMode="Externa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 Id="rId3" Type="http://schemas.openxmlformats.org/officeDocument/2006/relationships/image" Target="../media/image90.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 Id="rId3" Type="http://schemas.openxmlformats.org/officeDocument/2006/relationships/image" Target="../media/image91.jp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 Id="rId3" Type="http://schemas.openxmlformats.org/officeDocument/2006/relationships/image" Target="../media/image92.jp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 Id="rId3" Type="http://schemas.openxmlformats.org/officeDocument/2006/relationships/image" Target="../media/image93.png"/><Relationship Id="rId4" Type="http://schemas.openxmlformats.org/officeDocument/2006/relationships/image" Target="../media/image94.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 Id="rId3" Type="http://schemas.openxmlformats.org/officeDocument/2006/relationships/hyperlink" Target="https://arxiv.org/abs/2301.10602" TargetMode="External"/><Relationship Id="rId4" Type="http://schemas.openxmlformats.org/officeDocument/2006/relationships/hyperlink" Target="https://arxiv.org/abs/2306.12712" TargetMode="External"/><Relationship Id="rId5" Type="http://schemas.openxmlformats.org/officeDocument/2006/relationships/hyperlink" Target="https://sites.google.com/view/dreamriser" TargetMode="External"/><Relationship Id="rId6" Type="http://schemas.openxmlformats.org/officeDocument/2006/relationships/hyperlink" Target="https://arxiv.org/abs/2409.19709" TargetMode="Externa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 Id="rId3" Type="http://schemas.openxmlformats.org/officeDocument/2006/relationships/hyperlink" Target="https://arxiv.org/abs/2602.10399" TargetMode="Externa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 Id="rId3" Type="http://schemas.openxmlformats.org/officeDocument/2006/relationships/hyperlink" Target="https://arxiv.org/abs/2310.04675" TargetMode="Externa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 Id="rId3" Type="http://schemas.openxmlformats.org/officeDocument/2006/relationships/hyperlink" Target="https://github.com/RIVeR-Lab/Chance-Constrained-MPC" TargetMode="External"/><Relationship Id="rId4" Type="http://schemas.openxmlformats.org/officeDocument/2006/relationships/hyperlink" Target="https://arxiv.org/abs/2505.00488" TargetMode="Externa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 Id="rId3" Type="http://schemas.openxmlformats.org/officeDocument/2006/relationships/hyperlink" Target="https://developer.nvidia.com/isaac-gym" TargetMode="External"/><Relationship Id="rId4" Type="http://schemas.openxmlformats.org/officeDocument/2006/relationships/hyperlink" Target="https://github.com/isaac-sim/IsaacLab" TargetMode="External"/><Relationship Id="rId5" Type="http://schemas.openxmlformats.org/officeDocument/2006/relationships/hyperlink" Target="https://github.com/mujocolab/mjlab" TargetMode="External"/><Relationship Id="rId6" Type="http://schemas.openxmlformats.org/officeDocument/2006/relationships/hyperlink" Target="https://github.com/unitreerobotics/unitree_rl_mjlab" TargetMode="Externa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 Id="rId3" Type="http://schemas.openxmlformats.org/officeDocument/2006/relationships/hyperlink" Target="https://github.com/google-deepmind/mujoco_playground" TargetMode="External"/><Relationship Id="rId4" Type="http://schemas.openxmlformats.org/officeDocument/2006/relationships/hyperlink" Target="https://github.com/leggedrobotics/rsl_rl" TargetMode="External"/><Relationship Id="rId5" Type="http://schemas.openxmlformats.org/officeDocument/2006/relationships/hyperlink" Target="https://github.com/leggedrobotics/legged_gym" TargetMode="External"/><Relationship Id="rId6" Type="http://schemas.openxmlformats.org/officeDocument/2006/relationships/hyperlink" Target="https://github.com/unitreerobotics/unitree_rl_lab" TargetMode="External"/><Relationship Id="rId7" Type="http://schemas.openxmlformats.org/officeDocument/2006/relationships/hyperlink" Target="https://github.com/fan-ziqi/robot_lab" TargetMode="External"/><Relationship Id="rId8" Type="http://schemas.openxmlformats.org/officeDocument/2006/relationships/hyperlink" Target="https://github.com/unitreerobotics/unitree_rl_gym" TargetMode="Externa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 Id="rId3" Type="http://schemas.openxmlformats.org/officeDocument/2006/relationships/hyperlink" Target="https://github.com/Improbable-AI/walk-these-ways" TargetMode="External"/><Relationship Id="rId4" Type="http://schemas.openxmlformats.org/officeDocument/2006/relationships/hyperlink" Target="https://github.com/Teddy-Liao/walk-these-ways-go2" TargetMode="External"/><Relationship Id="rId5" Type="http://schemas.openxmlformats.org/officeDocument/2006/relationships/hyperlink" Target="https://github.com/chengxuxin/extreme-parkour" TargetMode="External"/><Relationship Id="rId6" Type="http://schemas.openxmlformats.org/officeDocument/2006/relationships/hyperlink" Target="https://github.com/chengxuxin/extreme-parkour/issues/2" TargetMode="External"/><Relationship Id="rId7" Type="http://schemas.openxmlformats.org/officeDocument/2006/relationships/hyperlink" Target="https://github.com/ZiwenZhuang/parkour" TargetMode="External"/><Relationship Id="rId8" Type="http://schemas.openxmlformats.org/officeDocument/2006/relationships/hyperlink" Target="https://github.com/InternRobotics/HIMLoco" TargetMode="External"/><Relationship Id="rId9" Type="http://schemas.openxmlformats.org/officeDocument/2006/relationships/hyperlink" Target="https://github.com/LeCAR-Lab/ABS" TargetMode="External"/><Relationship Id="rId10" Type="http://schemas.openxmlformats.org/officeDocument/2006/relationships/hyperlink" Target="https://github.com/escontra/AMP_for_hardware" TargetMode="Externa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 Id="rId3" Type="http://schemas.openxmlformats.org/officeDocument/2006/relationships/hyperlink" Target="https://github.com/fan-ziqi/rl_sar" TargetMode="External"/><Relationship Id="rId4" Type="http://schemas.openxmlformats.org/officeDocument/2006/relationships/hyperlink" Target="https://github.com/qiayuanl/legged_control" TargetMode="Externa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 Id="rId3" Type="http://schemas.openxmlformats.org/officeDocument/2006/relationships/hyperlink" Target="https://github.com/leggedrobotics/rsl_rl/blob/857de6165c5fd479726ec8ac5c9303a497766f30/rsl_rl/runners/on_policy_runner.py#L39-L40" TargetMode="Externa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 Id="rId3" Type="http://schemas.openxmlformats.org/officeDocument/2006/relationships/image" Target="../media/image95.jpg"/><Relationship Id="rId4" Type="http://schemas.openxmlformats.org/officeDocument/2006/relationships/image" Target="../media/image96.jp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 Id="rId3" Type="http://schemas.openxmlformats.org/officeDocument/2006/relationships/hyperlink" Target="https://web.archive.org/web/20230126060121/https://sites.google.com/view/dreamwaq" TargetMode="External"/><Relationship Id="rId4" Type="http://schemas.openxmlformats.org/officeDocument/2006/relationships/hyperlink" Target="https://web.archive.org/web/20230315071704/https://sites.google.com/view/dreamwaq" TargetMode="External"/><Relationship Id="rId5" Type="http://schemas.openxmlformats.org/officeDocument/2006/relationships/hyperlink" Target="https://web.archive.org/web/20241108084526/https://sites.google.com/view/dreamwaq" TargetMode="External"/><Relationship Id="rId6" Type="http://schemas.openxmlformats.org/officeDocument/2006/relationships/hyperlink" Target="https://sites.google.com/view/dreamwaq" TargetMode="Externa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 Id="rId3" Type="http://schemas.openxmlformats.org/officeDocument/2006/relationships/image" Target="../media/image97.jp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 Id="rId3" Type="http://schemas.openxmlformats.org/officeDocument/2006/relationships/hyperlink" Target="https://github.com/curieuxjy/go2_dreamwaq" TargetMode="External"/><Relationship Id="rId4" Type="http://schemas.openxmlformats.org/officeDocument/2006/relationships/hyperlink" Target="https://github.com/yusongmin1/Dreamwaq" TargetMode="External"/><Relationship Id="rId5" Type="http://schemas.openxmlformats.org/officeDocument/2006/relationships/hyperlink" Target="https://github.com/wanghg1992/DreamWaQ" TargetMode="External"/><Relationship Id="rId6" Type="http://schemas.openxmlformats.org/officeDocument/2006/relationships/hyperlink" Target="https://github.com/Teddy-Liao/walk-these-ways-go2" TargetMode="External"/><Relationship Id="rId7" Type="http://schemas.openxmlformats.org/officeDocument/2006/relationships/hyperlink" Target="https://github.com/Manaro-Alpha/DreamWaQ" TargetMode="Externa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 Id="rId3" Type="http://schemas.openxmlformats.org/officeDocument/2006/relationships/hyperlink" Target="https://github.com/curieuxjy/go2_dreamwaq/blob/8f287e41290ab72e6faacafe8394511163cb1da8/dreamwaq/legged_gym/legged_gym/envs/base/legged_robot.py#L1293-L1302" TargetMode="External"/><Relationship Id="rId4" Type="http://schemas.openxmlformats.org/officeDocument/2006/relationships/hyperlink" Target="https://github.com/curieuxjy/go2_dreamwaq/blob/8f287e41290ab72e6faacafe8394511163cb1da8/dreamwaq/rsl_rl/rsl_rl/vae/cenet.py#L212-L233" TargetMode="External"/><Relationship Id="rId5" Type="http://schemas.openxmlformats.org/officeDocument/2006/relationships/hyperlink" Target="https://github.com/curieuxjy/go2_dreamwaq/blob/8f287e41290ab72e6faacafe8394511163cb1da8/dreamwaq/rsl_rl/rsl_rl/vae/cenet.py#L278-L286" TargetMode="External"/><Relationship Id="rId6" Type="http://schemas.openxmlformats.org/officeDocument/2006/relationships/hyperlink" Target="https://github.com/curieuxjy/go2_dreamwaq/blob/8f287e41290ab72e6faacafe8394511163cb1da8/dreamwaq/rsl_rl/rsl_rl/vae/cenet.py#L321" TargetMode="Externa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 Id="rId3" Type="http://schemas.openxmlformats.org/officeDocument/2006/relationships/hyperlink" Target="https://github.com/yusongmin1/Dreamwaq/blob/27ef3805c79bb88f996481faec154fcd8be681ce/rsl_rl/rsl_rl/modules/vae.py#L6-L60" TargetMode="External"/><Relationship Id="rId4" Type="http://schemas.openxmlformats.org/officeDocument/2006/relationships/hyperlink" Target="https://github.com/yusongmin1/Dreamwaq/blob/27ef3805c79bb88f996481faec154fcd8be681ce/legged_gym/envs/M20/m20.py#L200-L225" TargetMode="Externa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 Id="rId3" Type="http://schemas.openxmlformats.org/officeDocument/2006/relationships/hyperlink" Target="https://github.com/wanghg1992/DreamWaQ/blob/a27fd944e867f50fc7a51b243dea0a9d91980d04/DreamWaQ/modules/state_estimator.py#L7-L67" TargetMode="External"/><Relationship Id="rId4" Type="http://schemas.openxmlformats.org/officeDocument/2006/relationships/hyperlink" Target="https://github.com/wanghg1992/DreamWaQ/blob/a27fd944e867f50fc7a51b243dea0a9d91980d04/DreamWaQ/modules/state_estimator.py#L81-L106" TargetMode="External"/><Relationship Id="rId5" Type="http://schemas.openxmlformats.org/officeDocument/2006/relationships/hyperlink" Target="https://github.com/wanghg1992/DreamWaQ/blob/a27fd944e867f50fc7a51b243dea0a9d91980d04/DreamWaQ/modules/ac.py#L76-L173" TargetMode="Externa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 Id="rId3" Type="http://schemas.openxmlformats.org/officeDocument/2006/relationships/hyperlink" Target="https://github.com/Teddy-Liao/walk-these-ways-go2/blob/d00320778c61567379b4a304047955c0c0dcae43/go2_gym/envs/base/curriculum.py#L113-L154" TargetMode="Externa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 Id="rId3" Type="http://schemas.openxmlformats.org/officeDocument/2006/relationships/hyperlink" Target="https://arxiv.org/abs/2309.14341" TargetMode="External"/><Relationship Id="rId4" Type="http://schemas.openxmlformats.org/officeDocument/2006/relationships/hyperlink" Target="https://extreme-parkour.github.io" TargetMode="External"/><Relationship Id="rId5" Type="http://schemas.openxmlformats.org/officeDocument/2006/relationships/hyperlink" Target="https://github.com/chengxuxin/extreme-parkour" TargetMode="Externa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 Id="rId3" Type="http://schemas.openxmlformats.org/officeDocument/2006/relationships/image" Target="../media/image98.jpg"/><Relationship Id="rId4" Type="http://schemas.openxmlformats.org/officeDocument/2006/relationships/image" Target="../media/image99.jpg"/><Relationship Id="rId5" Type="http://schemas.openxmlformats.org/officeDocument/2006/relationships/image" Target="../media/image100.jp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 Id="rId3" Type="http://schemas.openxmlformats.org/officeDocument/2006/relationships/hyperlink" Target="https://arxiv.org/abs/2211.07638" TargetMode="External"/><Relationship Id="rId4" Type="http://schemas.openxmlformats.org/officeDocument/2006/relationships/image" Target="../media/image101.png"/><Relationship Id="rId5" Type="http://schemas.openxmlformats.org/officeDocument/2006/relationships/image" Target="../media/image102.png"/><Relationship Id="rId6" Type="http://schemas.openxmlformats.org/officeDocument/2006/relationships/image" Target="../media/image103.png"/><Relationship Id="rId7" Type="http://schemas.openxmlformats.org/officeDocument/2006/relationships/image" Target="../media/image104.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 Id="rId3" Type="http://schemas.openxmlformats.org/officeDocument/2006/relationships/hyperlink" Target="https://github.com/NVlabs/GR00T-WholeBodyControl" TargetMode="Externa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 Id="rId3" Type="http://schemas.openxmlformats.org/officeDocument/2006/relationships/image" Target="../media/image105.jp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 Id="rId3" Type="http://schemas.openxmlformats.org/officeDocument/2006/relationships/image" Target="../media/image106.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762000"/>
            <a:ext cx="10972800" cy="1905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travplan 리서치 · Controller · 안전</a:t>
            </a:r>
          </a:p>
        </p:txBody>
      </p:sp>
      <p:sp>
        <p:nvSpPr>
          <p:cNvPr id="3" name="TextBox 2"/>
          <p:cNvSpPr txBox="1"/>
          <p:nvPr/>
        </p:nvSpPr>
        <p:spPr>
          <a:xfrm>
            <a:off x="609600" y="1079500"/>
            <a:ext cx="10972800" cy="1270000"/>
          </a:xfrm>
          <a:prstGeom prst="rect">
            <a:avLst/>
          </a:prstGeom>
          <a:noFill/>
        </p:spPr>
        <p:txBody>
          <a:bodyPr wrap="square" lIns="0" rIns="0" tIns="0" bIns="0" anchor="t">
            <a:spAutoFit/>
            <a:normAutofit/>
          </a:bodyPr>
          <a:lstStyle/>
          <a:p>
            <a:r>
              <a:rPr sz="3050" b="1" i="0">
                <a:solidFill>
                  <a:srgbClr val="F4F1EA"/>
                </a:solidFill>
                <a:latin typeface="Arial"/>
                <a:ea typeface="Malgun Gothic"/>
                <a:cs typeface="Malgun Gothic"/>
              </a:rPr>
              <a:t>Controller와 안전 필터 — Planner의 궤적을 실행하는 쪽 (§E, §C)</a:t>
            </a:r>
          </a:p>
        </p:txBody>
      </p:sp>
      <p:sp>
        <p:nvSpPr>
          <p:cNvPr id="4" name="TextBox 3"/>
          <p:cNvSpPr txBox="1"/>
          <p:nvPr/>
        </p:nvSpPr>
        <p:spPr>
          <a:xfrm>
            <a:off x="609600" y="2540000"/>
            <a:ext cx="9525000" cy="1270000"/>
          </a:xfrm>
          <a:prstGeom prst="rect">
            <a:avLst/>
          </a:prstGeom>
          <a:noFill/>
        </p:spPr>
        <p:txBody>
          <a:bodyPr wrap="square" lIns="0" rIns="0" tIns="0" bIns="0" anchor="t">
            <a:spAutoFit/>
            <a:normAutofit/>
          </a:bodyPr>
          <a:lstStyle/>
          <a:p>
            <a:r>
              <a:rPr sz="1250" b="0" i="0">
                <a:solidFill>
                  <a:srgbClr val="C9D1E0"/>
                </a:solidFill>
                <a:latin typeface="Arial"/>
                <a:ea typeface="Malgun Gothic"/>
                <a:cs typeface="Malgun Gothic"/>
              </a:rPr>
              <a:t>Controller · 안전 문서 · 탭 6개</a:t>
            </a:r>
          </a:p>
          <a:p>
            <a:r>
              <a:rPr sz="1250" b="0" i="0">
                <a:solidFill>
                  <a:srgbClr val="C9D1E0"/>
                </a:solidFill>
                <a:latin typeface="Arial"/>
                <a:ea typeface="Malgun Gothic"/>
                <a:cs typeface="Malgun Gothic"/>
              </a:rPr>
              <a:t>MPPI 계열 · 학습 동역학·적응 · 안전 필터 · 하위 제어 · 4족 RL · 최근 연구 비교 · 작업 기록</a:t>
            </a:r>
          </a:p>
        </p:txBody>
      </p:sp>
      <p:sp>
        <p:nvSpPr>
          <p:cNvPr id="5" name="TextBox 4"/>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Controller · 안전 (docs/research-controller.md)    1 / 183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Controller와 안전 필터 — Planner의 궤적을 실행하는 쪽 (§E, §C)</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2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Controller는 Planner의 경로나 궤적을 받아 추종하면서, 지형과 동적 장애물을 로컬로 피하는 body twist를 낸다.</a:t>
            </a:r>
            <a:r>
              <a:rPr sz="1050" b="0" i="0">
                <a:solidFill>
                  <a:srgbClr val="16213A"/>
                </a:solidFill>
                <a:latin typeface="Arial"/>
                <a:ea typeface="Malgun Gothic"/>
                <a:cs typeface="Malgun Gothic"/>
              </a:rPr>
              <a:t> travplan은 Controller로 MPPI와 acados NMPC 두 갈래를 함께 개발하고 같은 벤치마크에서 비교한다(2026-09-30 결정). 이 문서는 그 Controller를 고칠 때 보는 참고 지도이고, 개발 기록은 MPC 문서(§M)에 있다. 여섯 탭으로 나뉜다.</a:t>
            </a:r>
          </a:p>
        </p:txBody>
      </p:sp>
      <p:graphicFrame>
        <p:nvGraphicFramePr>
          <p:cNvPr id="6" name="Table 5"/>
          <p:cNvGraphicFramePr>
            <a:graphicFrameLocks noGrp="1"/>
          </p:cNvGraphicFramePr>
          <p:nvPr/>
        </p:nvGraphicFramePr>
        <p:xfrm>
          <a:off x="609600" y="1766491"/>
          <a:ext cx="10966450" cy="1863168"/>
        </p:xfrm>
        <a:graphic>
          <a:graphicData uri="http://schemas.openxmlformats.org/drawingml/2006/table">
            <a:tbl>
              <a:tblPr firstRow="1" bandRow="1">
                <a:tableStyleId>{5C22544A-7EE6-4342-B048-85BDC9FD1C3A}</a:tableStyleId>
              </a:tblPr>
              <a:tblGrid>
                <a:gridCol w="861516"/>
                <a:gridCol w="5519341"/>
                <a:gridCol w="740668"/>
                <a:gridCol w="3844925"/>
              </a:tblGrid>
              <a:tr h="197088">
                <a:tc>
                  <a:txBody>
                    <a:bodyPr wrap="square"/>
                    <a:lstStyle/>
                    <a:p>
                      <a:r>
                        <a:rPr sz="800" b="1" i="0">
                          <a:solidFill>
                            <a:srgbClr val="F4F1EA"/>
                          </a:solidFill>
                          <a:latin typeface="Arial"/>
                          <a:ea typeface="Malgun Gothic"/>
                          <a:cs typeface="Malgun Gothic"/>
                        </a:rPr>
                        <a:t>탭</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다루는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절</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travplan과의 관계</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MPPI 계열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MPPI의 계보, 학습 prior를 넣는 법, SMPPI, 최적 수송으로 샘플을 옮기는 최적화기(MPOT·OT-MPC)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E.1, B.5, E.11</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MPPIController</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SmoothMPPIController</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학습 동역학·적응</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학습 rollout 모델, 불확실성, 온라인 적응, 마일스톤, Zeilinger 그룹(학습 MPC의 보장·공개 코드·내비 MPC), GP 잔차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 E.2–E.10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슬립이 커질 때 바꿀 rollout 모델, 잔차 GP</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안전 필터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비용 통합형과 외부 필터형, CBF 계열, 계보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C.1–C.4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시간가변 비용 레이어(구현), CVaR-BF(TP-0014)</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하위 제어 · 4족 RL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4족 보행 RL의 계보, 자동 커리큘럼, RL과 MPC를 섞는 갈래, DreamWaQ 비공식 구현과 Extreme Parkour의 논문·코드 분석, 휴머노이드 분리형 WBC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F.1–F.8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지형 난이도 커리큘럼(TP-0039), Planner D RL 후학습(TP-0066), L1 belief 증류(TP-0055)</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최근 연구 비교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2025–2026 Controller·안전 연구의 비교표, 공통점·차이점, travplan에 가져올 것과 시도 순서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E.16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TP-0170, TP-0151, TP-0154 후속 후보</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작업 기록</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Playground의 학습 Controller와 지도 없는 대조군, 휴머노이드·WBC, MPOT Planner, DreamWaQ 비공식 구현 점검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E.12–E.15</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travplan/control/tiny_policy.py</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js/mpot.js</a:t>
                      </a:r>
                      <a:r>
                        <a:rPr sz="800" b="0" i="0">
                          <a:solidFill>
                            <a:srgbClr val="16213A"/>
                          </a:solidFill>
                          <a:latin typeface="Arial"/>
                          <a:ea typeface="Malgun Gothic"/>
                          <a:cs typeface="Malgun Gothic"/>
                        </a:rPr>
                        <a:t>, TP-0128·0129·0135·0136·0155</a:t>
                      </a:r>
                    </a:p>
                  </a:txBody>
                  <a:tcPr marL="63500" marR="63500" marT="12700" marB="12700">
                    <a:solidFill>
                      <a:srgbClr val="F3F0E8"/>
                    </a:solidFill>
                  </a:tcPr>
                </a:tc>
              </a:tr>
            </a:tbl>
          </a:graphicData>
        </a:graphic>
      </p:graphicFrame>
      <p:sp>
        <p:nvSpPr>
          <p:cNvPr id="7" name="TextBox 6"/>
          <p:cNvSpPr txBox="1"/>
          <p:nvPr/>
        </p:nvSpPr>
        <p:spPr>
          <a:xfrm>
            <a:off x="609600" y="419070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계보 한눈에 보기.</a:t>
            </a:r>
          </a:p>
        </p:txBody>
      </p:sp>
      <p:graphicFrame>
        <p:nvGraphicFramePr>
          <p:cNvPr id="8" name="Table 7"/>
          <p:cNvGraphicFramePr>
            <a:graphicFrameLocks noGrp="1"/>
          </p:cNvGraphicFramePr>
          <p:nvPr/>
        </p:nvGraphicFramePr>
        <p:xfrm>
          <a:off x="609600" y="4496098"/>
          <a:ext cx="10966451" cy="1151016"/>
        </p:xfrm>
        <a:graphic>
          <a:graphicData uri="http://schemas.openxmlformats.org/drawingml/2006/table">
            <a:tbl>
              <a:tblPr firstRow="1" bandRow="1">
                <a:tableStyleId>{5C22544A-7EE6-4342-B048-85BDC9FD1C3A}</a:tableStyleId>
              </a:tblPr>
              <a:tblGrid>
                <a:gridCol w="706041"/>
                <a:gridCol w="3630216"/>
                <a:gridCol w="2882900"/>
                <a:gridCol w="3747294"/>
              </a:tblGrid>
              <a:tr h="197088">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샘플링 MPC</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학습 동역학·적응</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안전 필터</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2015–2018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MPPI, 정보이론적 MPC, Tube-MPPI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PETS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CBF-QP, HJ 도달 가능성, 예측 안전 필터</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2019–2021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Robust MPPI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IKD, RMA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CBF 튜토리얼, 이산 CBF + MPC, safe-control-gym</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2022–2023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log-MPPI, SMPPI, Nav2 MPPI, RA-MPPI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PENN, TOAST, 지형 인지 운동 모델, 확률 앙상블 능동 탐색, TD-MPC2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안전 필터 통합 관점</a:t>
                      </a:r>
                    </a:p>
                  </a:txBody>
                  <a:tcPr marL="63500" marR="63500" marT="12700" marB="12700">
                    <a:solidFill>
                      <a:srgbClr val="FFFDF8"/>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Controller와 안전 필터 — Planner의 궤적을 실행하는 쪽 (§E, §C)</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3 / 183</a:t>
            </a:r>
          </a:p>
        </p:txBody>
      </p:sp>
      <p:graphicFrame>
        <p:nvGraphicFramePr>
          <p:cNvPr id="5" name="Table 4"/>
          <p:cNvGraphicFramePr>
            <a:graphicFrameLocks noGrp="1"/>
          </p:cNvGraphicFramePr>
          <p:nvPr/>
        </p:nvGraphicFramePr>
        <p:xfrm>
          <a:off x="609600" y="1244600"/>
          <a:ext cx="10966451" cy="515064"/>
        </p:xfrm>
        <a:graphic>
          <a:graphicData uri="http://schemas.openxmlformats.org/drawingml/2006/table">
            <a:tbl>
              <a:tblPr firstRow="1" bandRow="1">
                <a:tableStyleId>{5C22544A-7EE6-4342-B048-85BDC9FD1C3A}</a:tableStyleId>
              </a:tblPr>
              <a:tblGrid>
                <a:gridCol w="706041"/>
                <a:gridCol w="3630216"/>
                <a:gridCol w="2882900"/>
                <a:gridCol w="3747294"/>
              </a:tblGrid>
              <a:tr h="197088">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샘플링 MPC</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학습 동역학·적응</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안전 필터</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2024–2026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MPPI-Generic, π-MPPI, DRA-MPPI, ProxPI, OT-MPC, Feedback-MPPI, CLIS-MPPI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잠재 문맥 온라인 적응, 범용 모델 특화(OptCar), 계수 RLS 적응</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CVaR-BF, OcclusionCBF, Predictive Semantic Safety, 표본 안전 필터, Exact-Safe MPPI</a:t>
                      </a:r>
                    </a:p>
                  </a:txBody>
                  <a:tcPr marL="63500" marR="63500" marT="12700" marB="12700">
                    <a:solidFill>
                      <a:srgbClr val="FFFDF8"/>
                    </a:solidFill>
                  </a:tcPr>
                </a:tc>
              </a:tr>
            </a:tbl>
          </a:graphicData>
        </a:graphic>
      </p:graphicFrame>
      <p:sp>
        <p:nvSpPr>
          <p:cNvPr id="6" name="TextBox 5"/>
          <p:cNvSpPr txBox="1"/>
          <p:nvPr/>
        </p:nvSpPr>
        <p:spPr>
          <a:xfrm>
            <a:off x="609600" y="198368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공개 코드.</a:t>
            </a:r>
            <a:r>
              <a:rPr sz="1050" b="0" i="0">
                <a:solidFill>
                  <a:srgbClr val="16213A"/>
                </a:solidFill>
                <a:latin typeface="Arial"/>
                <a:ea typeface="Malgun Gothic"/>
                <a:cs typeface="Malgun Gothic"/>
              </a:rPr>
              <a:t> GitHub 별 순이다(2026-09).</a:t>
            </a:r>
          </a:p>
        </p:txBody>
      </p:sp>
      <p:graphicFrame>
        <p:nvGraphicFramePr>
          <p:cNvPr id="7" name="Table 6"/>
          <p:cNvGraphicFramePr>
            <a:graphicFrameLocks noGrp="1"/>
          </p:cNvGraphicFramePr>
          <p:nvPr/>
        </p:nvGraphicFramePr>
        <p:xfrm>
          <a:off x="609600" y="2289076"/>
          <a:ext cx="10966449" cy="1773792"/>
        </p:xfrm>
        <a:graphic>
          <a:graphicData uri="http://schemas.openxmlformats.org/drawingml/2006/table">
            <a:tbl>
              <a:tblPr firstRow="1" bandRow="1">
                <a:tableStyleId>{5C22544A-7EE6-4342-B048-85BDC9FD1C3A}</a:tableStyleId>
              </a:tblPr>
              <a:tblGrid>
                <a:gridCol w="1523008"/>
                <a:gridCol w="3173313"/>
                <a:gridCol w="1128613"/>
                <a:gridCol w="1794073"/>
                <a:gridCol w="3347442"/>
              </a:tblGrid>
              <a:tr h="197088">
                <a:tc>
                  <a:txBody>
                    <a:bodyPr wrap="square"/>
                    <a:lstStyle/>
                    <a:p>
                      <a:r>
                        <a:rPr sz="800" b="1" i="0">
                          <a:solidFill>
                            <a:srgbClr val="F4F1EA"/>
                          </a:solidFill>
                          <a:latin typeface="Arial"/>
                          <a:ea typeface="Malgun Gothic"/>
                          <a:cs typeface="Malgun Gothic"/>
                        </a:rPr>
                        <a:t>분야</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라이선스</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travplan에서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스택</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Nav2 (MPPI Controller 포함)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4.7k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패키지별 혼합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ROS 2 통합 시 비교 대상</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모델 기반 RL</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TD-MPC2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MIT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잠재 world model + MPPI 참고</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벤치마크</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safe-control-gym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0.9k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MIT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안전 방법 비교 환경</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MPPI</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pytorch_mppi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0.8k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MIT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같은 PyTorch 계열 참고</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안전</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NMPC-DCLF-DCBF</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0.3k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MIT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이산 CBF + MPC 참고</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MPPI</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MPPI-Generic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0.3k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BSD-2-Clause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Orin 이식 시 CUDA 구현 후보</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안전</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safe_control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0.3k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표기 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CBF-QP, MPC-CBF 구현 참고</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안전</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hj_reachability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0.2k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MIT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JAX 도달 가능성 계산</a:t>
                      </a:r>
                    </a:p>
                  </a:txBody>
                  <a:tcPr marL="63500" marR="63500" marT="12700" marB="12700">
                    <a:solidFill>
                      <a:srgbClr val="F3F0E8"/>
                    </a:solidFill>
                  </a:tcPr>
                </a:tc>
              </a:tr>
            </a:tbl>
          </a:graphicData>
        </a:graphic>
      </p:graphicFrame>
      <p:sp>
        <p:nvSpPr>
          <p:cNvPr id="8" name="TextBox 7"/>
          <p:cNvSpPr txBox="1"/>
          <p:nvPr/>
        </p:nvSpPr>
        <p:spPr>
          <a:xfrm>
            <a:off x="609600" y="460156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travplan의 위치.</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travplan Controller는 "MPPI + 비용 통합형 안전"이고, 다음 단계는 뒤에 붙는 안전 필터다.</a:t>
            </a:r>
            <a:r>
              <a:rPr sz="1050" b="0" i="0">
                <a:solidFill>
                  <a:srgbClr val="16213A"/>
                </a:solidFill>
                <a:latin typeface="Arial"/>
                <a:ea typeface="Malgun Gothic"/>
                <a:cs typeface="Malgun Gothic"/>
              </a:rPr>
              <a:t> 비용은 </a:t>
            </a:r>
            <a:r>
              <a:rPr sz="1050" b="0" i="0">
                <a:solidFill>
                  <a:srgbClr val="16213A"/>
                </a:solidFill>
                <a:latin typeface="Consolas"/>
                <a:ea typeface="Malgun Gothic"/>
                <a:cs typeface="Malgun Gothic"/>
              </a:rPr>
              <a:t>CostTerm</a:t>
            </a:r>
            <a:r>
              <a:rPr sz="1050" b="0" i="0">
                <a:solidFill>
                  <a:srgbClr val="16213A"/>
                </a:solidFill>
                <a:latin typeface="Arial"/>
                <a:ea typeface="Malgun Gothic"/>
                <a:cs typeface="Malgun Gothic"/>
              </a:rPr>
              <a:t>으로만 더하고 최적화기(</a:t>
            </a:r>
            <a:r>
              <a:rPr sz="1050" b="0" i="0">
                <a:solidFill>
                  <a:srgbClr val="16213A"/>
                </a:solidFill>
                <a:latin typeface="Consolas"/>
                <a:ea typeface="Malgun Gothic"/>
                <a:cs typeface="Malgun Gothic"/>
              </a:rPr>
              <a:t>mppi.py</a:t>
            </a:r>
            <a:r>
              <a:rPr sz="1050" b="0" i="0">
                <a:solidFill>
                  <a:srgbClr val="16213A"/>
                </a:solidFill>
                <a:latin typeface="Arial"/>
                <a:ea typeface="Malgun Gothic"/>
                <a:cs typeface="Malgun Gothic"/>
              </a:rPr>
              <a:t>)는 건드리지 않는다는 규칙이 있어서, 이 문서의 연구 가운데 travplan에 들어오는 것은 셋 중 하나다. 새 비용 항, 새 rollout 모델, Controller 뒤의 필터다.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Controller · 안전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MPPI 계열</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Controller · 안전 (docs/research-controller.md)    4 / 183</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E.1 MPPI의 계보: 경로 적분 제어에서 GPU 라이브러리까지</a:t>
            </a:r>
          </a:p>
          <a:p>
            <a:pPr>
              <a:spcAft>
                <a:spcPts val="400"/>
              </a:spcAft>
            </a:pPr>
            <a:r>
              <a:rPr sz="1000" b="0" i="0">
                <a:solidFill>
                  <a:srgbClr val="C9D1E0"/>
                </a:solidFill>
                <a:latin typeface="Arial"/>
                <a:ea typeface="Malgun Gothic"/>
                <a:cs typeface="Malgun Gothic"/>
              </a:rPr>
              <a:t>B.5 Controller 쪽 참고: 학습 prior를 MPPI에 넣는 법과 SMPPI</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E.11 최적 수송으로 샘플을 옮기는 최적화기: MPOT와 OT-MPC (TP-0130)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MPPI 계열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E.1 MPPI의 계보: 경로 적분 제어에서 GPU 라이브러리까지</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5 / 183</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MPPI는 2015년 경로 적분 제어를 GPU 샘플링으로 푼 데서 시작했다.</a:t>
            </a:r>
            <a:r>
              <a:rPr sz="1050" b="0" i="0">
                <a:solidFill>
                  <a:srgbClr val="16213A"/>
                </a:solidFill>
                <a:latin typeface="Arial"/>
                <a:ea typeface="Malgun Gothic"/>
                <a:cs typeface="Malgun Gothic"/>
              </a:rPr>
              <a:t> 이후 정보이론적 유도로 일반화되고(2017), 외란에 버티는 판(Tube·Robust MPPI), 샘플링 분포를 바꾼 판(log-MPPI, SMPPI), 범용 라이브러리(Nav2 MPPI Controller, MPPI-Generic)로 발전했다. travplan </a:t>
            </a:r>
            <a:r>
              <a:rPr sz="1050" b="0" i="0">
                <a:solidFill>
                  <a:srgbClr val="16213A"/>
                </a:solidFill>
                <a:latin typeface="Consolas"/>
                <a:ea typeface="Malgun Gothic"/>
                <a:cs typeface="Malgun Gothic"/>
              </a:rPr>
              <a:t>MPPIController</a:t>
            </a:r>
            <a:r>
              <a:rPr sz="1050" b="0" i="0">
                <a:solidFill>
                  <a:srgbClr val="16213A"/>
                </a:solidFill>
                <a:latin typeface="Arial"/>
                <a:ea typeface="Malgun Gothic"/>
                <a:cs typeface="Malgun Gothic"/>
              </a:rPr>
              <a:t>는 2017년 정보이론적 MPPI에 시간 상관 AR(1) 노이즈와 참조 추종 샘플을 더한 형태다(배경 0.2). 개발 계획에서는 빠져 있어, 이 절은 Controller를 손볼 때 볼 지도다.</a:t>
            </a:r>
          </a:p>
        </p:txBody>
      </p:sp>
      <p:graphicFrame>
        <p:nvGraphicFramePr>
          <p:cNvPr id="6" name="Table 5"/>
          <p:cNvGraphicFramePr>
            <a:graphicFrameLocks noGrp="1"/>
          </p:cNvGraphicFramePr>
          <p:nvPr/>
        </p:nvGraphicFramePr>
        <p:xfrm>
          <a:off x="609600" y="1982986"/>
          <a:ext cx="10966450" cy="2365056"/>
        </p:xfrm>
        <a:graphic>
          <a:graphicData uri="http://schemas.openxmlformats.org/drawingml/2006/table">
            <a:tbl>
              <a:tblPr firstRow="1" bandRow="1">
                <a:tableStyleId>{5C22544A-7EE6-4342-B048-85BDC9FD1C3A}</a:tableStyleId>
              </a:tblPr>
              <a:tblGrid>
                <a:gridCol w="978495"/>
                <a:gridCol w="1833761"/>
                <a:gridCol w="5825133"/>
                <a:gridCol w="2329061"/>
              </a:tblGrid>
              <a:tr h="197088">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바꾼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구현(★)</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2015–2016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경로 적분 제어를 GPU 병렬 샘플링 MPC로, AutoRally 공격적 주행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2017–2018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정보이론적 MPC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KL 기반 유도로 일반 비선형 동역학과 비용으로 확장</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2018–2021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Tube-MPPI, Robust MPPI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명목 상태와 실제 상태를 나누고 추종 제어기를 더해 외란에 강하게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MPPI-Generic</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log-MPPI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정규분포와 로그정규분포를 곱한 분포에서 샘플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SMPPI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노이즈를 제어 변화율에 넣어 매끄럽게(B.5)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travplan </a:t>
                      </a:r>
                      <a:r>
                        <a:rPr sz="800" b="0" i="0">
                          <a:solidFill>
                            <a:srgbClr val="16213A"/>
                          </a:solidFill>
                          <a:latin typeface="Consolas"/>
                          <a:ea typeface="Malgun Gothic"/>
                          <a:cs typeface="Malgun Gothic"/>
                        </a:rPr>
                        <a:t>SmoothMPPIController</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2022–2023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Nav2 MPPI Controller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ROS 2 표준 스택의 CPU MPPI</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3"/>
                        </a:rPr>
                        <a:t>ros-navigation/navigation2</a:t>
                      </a:r>
                      <a:r>
                        <a:rPr sz="800" b="0" i="0">
                          <a:solidFill>
                            <a:srgbClr val="16213A"/>
                          </a:solidFill>
                          <a:latin typeface="Arial"/>
                          <a:ea typeface="Malgun Gothic"/>
                          <a:cs typeface="Malgun Gothic"/>
                        </a:rPr>
                        <a:t> 4.7k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MPPI-Generic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MPPI, Tube-MPPI, Robust MPPI의 C++/CUDA 템플릿 라이브러리</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4"/>
                        </a:rPr>
                        <a:t>ACDSLab/MPPI-Generic</a:t>
                      </a:r>
                      <a:r>
                        <a:rPr sz="800" b="0" i="0">
                          <a:solidFill>
                            <a:srgbClr val="16213A"/>
                          </a:solidFill>
                          <a:latin typeface="Arial"/>
                          <a:ea typeface="Malgun Gothic"/>
                          <a:cs typeface="Malgun Gothic"/>
                        </a:rPr>
                        <a:t> 0.3k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2025–2026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Feedback-MPPI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rollout 미분으로 국소 되먹임 이득을 얻어 풀이 사이를 메운다</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feedback-mppi.github.io</a:t>
                      </a:r>
                      <a:r>
                        <a:rPr sz="800" b="0" i="0">
                          <a:solidFill>
                            <a:srgbClr val="16213A"/>
                          </a:solidFill>
                          <a:latin typeface="Arial"/>
                          <a:ea typeface="Malgun Gothic"/>
                          <a:cs typeface="Malgun Gothic"/>
                        </a:rPr>
                        <a:t> (JAX)</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CLIS-MPPI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실행 지연을 초기 상태 분포로 두고, rollout 회귀로 되먹임 이득을 얻는다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2024–2025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DIAL-MPC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반복마다 잡음을 줄이는 확산식 담금질로 샘플 분포를 좁힌다, 4족 관절 토크(Planner 문서 B.16.4)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LeCAR-Lab/dial-mpc</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pytorch_mppi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근사 동역학을 쓰는 PyTorch 구현</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UM-ARM-Lab/pytorch_mppi</a:t>
                      </a:r>
                      <a:r>
                        <a:rPr sz="800" b="0" i="0">
                          <a:solidFill>
                            <a:srgbClr val="16213A"/>
                          </a:solidFill>
                          <a:latin typeface="Arial"/>
                          <a:ea typeface="Malgun Gothic"/>
                          <a:cs typeface="Malgun Gothic"/>
                        </a:rPr>
                        <a:t> 0.8k</a:t>
                      </a:r>
                    </a:p>
                  </a:txBody>
                  <a:tcPr marL="63500" marR="63500" marT="12700" marB="12700">
                    <a:solidFill>
                      <a:srgbClr val="FFFDF8"/>
                    </a:solidFill>
                  </a:tcPr>
                </a:tc>
              </a:tr>
            </a:tbl>
          </a:graphicData>
        </a:graphic>
      </p:graphicFrame>
      <p:sp>
        <p:nvSpPr>
          <p:cNvPr id="7" name="TextBox 6"/>
          <p:cNvSpPr txBox="1"/>
          <p:nvPr/>
        </p:nvSpPr>
        <p:spPr>
          <a:xfrm>
            <a:off x="609600" y="5034558"/>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MPPI와 정보이론적 MPC — 샘플을 굴려 가중 평균한다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8"/>
              </a:rPr>
              <a:t>arXiv:1509.01149</a:t>
            </a:r>
            <a:r>
              <a:rPr sz="1050" b="0" i="0">
                <a:solidFill>
                  <a:srgbClr val="16213A"/>
                </a:solidFill>
                <a:latin typeface="Arial"/>
                <a:ea typeface="Malgun Gothic"/>
                <a:cs typeface="Malgun Gothic"/>
              </a:rPr>
              <a:t>, 2015; </a:t>
            </a:r>
            <a:r>
              <a:rPr sz="1050" b="0" i="0">
                <a:solidFill>
                  <a:srgbClr val="1D4ED8"/>
                </a:solidFill>
                <a:latin typeface="Arial"/>
                <a:ea typeface="Malgun Gothic"/>
                <a:cs typeface="Malgun Gothic"/>
                <a:hlinkClick r:id="rId9"/>
              </a:rPr>
              <a:t>arXiv:1707.02342</a:t>
            </a:r>
            <a:r>
              <a:rPr sz="1050" b="0" i="0">
                <a:solidFill>
                  <a:srgbClr val="16213A"/>
                </a:solidFill>
                <a:latin typeface="Arial"/>
                <a:ea typeface="Malgun Gothic"/>
                <a:cs typeface="Malgun Gothic"/>
              </a:rPr>
              <a:t>, T-RO 2018, Georgia Tech). 제어열에 잡음을 섞은 후보 수천 개를 GPU로 동시에 굴리고, 비용의 지수 가중치로 평균해 새 제어열을 얻는다. 2015년판은 경로 적분 제어 이론에서 일반화된 중요도 샘플링으로 유도했다. 2017년판은 "비용의 볼츠만 분포에 KL 기준으로 가장 가까운 제어 분포"를 찾는 정보이론적 유도로 틀을 넓혀 일반 비선형 동역학에 썼다. 1/5 크기 AutoRally 차량으로 흙길 트랙을 공격적으로 달렸고, 교차 엔트로피 방법(CEM)의 MPC 판과 비교했다.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MPPI 계열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E.1 MPPI의 계보: 경로 적분 제어에서 GPU 라이브러리까지</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6 / 183</a:t>
            </a:r>
          </a:p>
        </p:txBody>
      </p:sp>
      <p:pic>
        <p:nvPicPr>
          <p:cNvPr id="5" name="Picture 4" descr="image.jpg"/>
          <p:cNvPicPr>
            <a:picLocks noChangeAspect="1"/>
          </p:cNvPicPr>
          <p:nvPr/>
        </p:nvPicPr>
        <p:blipFill>
          <a:blip r:embed="rId3"/>
          <a:stretch>
            <a:fillRect/>
          </a:stretch>
        </p:blipFill>
        <p:spPr>
          <a:xfrm>
            <a:off x="2705100" y="1244600"/>
            <a:ext cx="6781800" cy="4445000"/>
          </a:xfrm>
          <a:prstGeom prst="rect">
            <a:avLst/>
          </a:prstGeom>
        </p:spPr>
      </p:pic>
      <p:sp>
        <p:nvSpPr>
          <p:cNvPr id="6" name="TextBox 5"/>
          <p:cNvSpPr txBox="1"/>
          <p:nvPr/>
        </p:nvSpPr>
        <p:spPr>
          <a:xfrm>
            <a:off x="2705100" y="5727700"/>
            <a:ext cx="67818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정보이론적 MPC (Fig. 2): 제어 분포를 최적 분포 쪽으로 "밀어" 가깝게 만드는 목적을 그림으로 나타냈다. 출처: arXiv:1707.02342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MPPI 계열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E.1 MPPI의 계보: 경로 적분 제어에서 GPU 라이브러리까지</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7 / 183</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Tube-MPPI와 Robust MPPI — 외란과 모델 오차에 버틴다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RMPPI arXiv:2102.09027</a:t>
            </a:r>
            <a:r>
              <a:rPr sz="1050" b="0" i="0">
                <a:solidFill>
                  <a:srgbClr val="16213A"/>
                </a:solidFill>
                <a:latin typeface="Arial"/>
                <a:ea typeface="Malgun Gothic"/>
                <a:cs typeface="Malgun Gothic"/>
              </a:rPr>
              <a:t>, RA-L 2021, Georgia Tech). MPPI는 매 스텝 실제 상태에서 다시 시작한다. 모델이 틀리거나 외란이 크면 샘플 전체가 나쁜 영역으로 밀려 중요도 샘플링이 무너진다. Tube-MPPI(RSS 2018)는 외란을 받지 않는 명목 상태에서 MPPI를 풀고, 실제 상태가 명목 궤적을 따라가게 하는 추종 제어기를 붙였다. 다만 명목 상태가 실제에서 멀어질 수 있고 보장이 없었다. RMPPI는 명목과 실제를 합친 증강 상태, 명목 상태를 어디서 다시 시작할지 정하는 규칙, 추종 제어기의 능력을 반영한 중요도 샘플링을 더해 자유 에너지 증가의 상한을 유도했다. AutoRally 실차에서 MPPI의 강건성 부족과 Tube-MPPI의 과한 보수성을 함께 줄였다.</a:t>
            </a:r>
          </a:p>
        </p:txBody>
      </p:sp>
      <p:sp>
        <p:nvSpPr>
          <p:cNvPr id="6" name="TextBox 5"/>
          <p:cNvSpPr txBox="1"/>
          <p:nvPr/>
        </p:nvSpPr>
        <p:spPr>
          <a:xfrm>
            <a:off x="609600" y="219948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log-MPPI — 샘플링 분포를 바꿔 실행 가능한 궤적을 늘린다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arXiv:2203.16599</a:t>
            </a:r>
            <a:r>
              <a:rPr sz="1050" b="0" i="0">
                <a:solidFill>
                  <a:srgbClr val="16213A"/>
                </a:solidFill>
                <a:latin typeface="Arial"/>
                <a:ea typeface="Malgun Gothic"/>
                <a:cs typeface="Malgun Gothic"/>
              </a:rPr>
              <a:t>, RA-L 2022). 모든 샘플이 비용이 높거나 불가능한 영역에 몰리면 MPPI는 실행할 수 없는 궤적을 낸다. log-MPPI는 가우시안 대신 정규분포 변수와 로그정규분포 변수의 곱(NLN)에서 제어 변화를 샘플한다. 작은 잡음 분산으로 제약 위반을 피하면서도 궤적이 상태 공간에 넓게 퍼진다. 2D occupancy 격자를 비용으로 직접 넣어, 미지의 복잡한 환경을 로컬 비용 지도만으로 충돌 없이 주행했다.</a:t>
            </a:r>
          </a:p>
        </p:txBody>
      </p:sp>
      <p:sp>
        <p:nvSpPr>
          <p:cNvPr id="7" name="TextBox 6"/>
          <p:cNvSpPr txBox="1"/>
          <p:nvPr/>
        </p:nvSpPr>
        <p:spPr>
          <a:xfrm>
            <a:off x="609600" y="293786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MPPI-Generic — GPU MPPI 라이브러리</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arXiv:2409.07563</a:t>
            </a:r>
            <a:r>
              <a:rPr sz="1050" b="0" i="0">
                <a:solidFill>
                  <a:srgbClr val="16213A"/>
                </a:solidFill>
                <a:latin typeface="Arial"/>
                <a:ea typeface="Malgun Gothic"/>
                <a:cs typeface="Malgun Gothic"/>
              </a:rPr>
              <a:t>, 2024, Georgia Tech). MPPI, Tube-MPPI, Robust MPPI를 C++/CUDA 템플릿으로 구현했다. 동역학과 비용을 API에 맞춰 쓰면 MPPI 코드를 고치지 않고 바꿀 수 있다. 차동 구동 모델과 Nav2의 비용 항을 똑같이 재현해 비교했다. RTX 3080에서 샘플 128개 기준 최적화 한 번에 약 0.15 ms로, Nav2의 CPU 구현(0.39–0.62 ms)보다 빠르고 PyTorch 기반 TorchRL 구현(25–48 ms)보다 두 자릿수 이상 빨랐다. Jetson Orin Nano에서도 샘플 128개에 약 0.6 ms였다.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MPPI 계열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E.1 MPPI의 계보: 경로 적분 제어에서 GPU 라이브러리까지</a:t>
            </a:r>
            <a:r>
              <a:rPr sz="1050" b="0" i="0">
                <a:solidFill>
                  <a:srgbClr val="5A6478"/>
                </a:solidFill>
                <a:latin typeface="Arial"/>
                <a:ea typeface="Malgun Gothic"/>
                <a:cs typeface="Malgun Gothic"/>
              </a:rPr>
              <a:t>  자세히: Robust MPPI의 명목 상태 선택과 log-MPPI의 샘플링</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8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기본 MPPI.</a:t>
            </a:r>
            <a:r>
              <a:rPr sz="1050" b="0" i="0">
                <a:solidFill>
                  <a:srgbClr val="16213A"/>
                </a:solidFill>
                <a:latin typeface="Arial"/>
                <a:ea typeface="Malgun Gothic"/>
                <a:cs typeface="Malgun Gothic"/>
              </a:rPr>
              <a:t> 잡음 섞은 제어열을 굴려 비용 </a:t>
            </a:r>
            <a:r>
              <a:rPr sz="1050" b="0" i="1">
                <a:solidFill>
                  <a:srgbClr val="16213A"/>
                </a:solidFill>
                <a:latin typeface="Arial"/>
                <a:ea typeface="Malgun Gothic"/>
                <a:cs typeface="Malgun Gothic"/>
              </a:rPr>
              <a:t>Sₖ</a:t>
            </a:r>
            <a:r>
              <a:rPr sz="1050" b="0" i="0">
                <a:solidFill>
                  <a:srgbClr val="16213A"/>
                </a:solidFill>
                <a:latin typeface="Arial"/>
                <a:ea typeface="Malgun Gothic"/>
                <a:cs typeface="Malgun Gothic"/>
              </a:rPr>
              <a:t>를 얻고, </a:t>
            </a:r>
            <a:r>
              <a:rPr sz="1050" b="0" i="1">
                <a:solidFill>
                  <a:srgbClr val="16213A"/>
                </a:solidFill>
                <a:latin typeface="Arial"/>
                <a:ea typeface="Malgun Gothic"/>
                <a:cs typeface="Malgun Gothic"/>
              </a:rPr>
              <a:t>exp(-Sₖ/λ)</a:t>
            </a:r>
            <a:r>
              <a:rPr sz="1050" b="0" i="0">
                <a:solidFill>
                  <a:srgbClr val="16213A"/>
                </a:solidFill>
                <a:latin typeface="Arial"/>
                <a:ea typeface="Malgun Gothic"/>
                <a:cs typeface="Malgun Gothic"/>
              </a:rPr>
              <a:t> 가중 평균으로 제어열을 갱신한다(배경 0.2).</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추종 제어기(Tube-MPPI, RMPPI).</a:t>
            </a:r>
            <a:r>
              <a:rPr sz="1050" b="0" i="0">
                <a:solidFill>
                  <a:srgbClr val="16213A"/>
                </a:solidFill>
                <a:latin typeface="Arial"/>
                <a:ea typeface="Malgun Gothic"/>
                <a:cs typeface="Malgun Gothic"/>
              </a:rPr>
              <a:t> 명목 상태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에서 MPPI가 낸 제어 </a:t>
            </a:r>
            <a:r>
              <a:rPr sz="1050" b="0" i="1">
                <a:solidFill>
                  <a:srgbClr val="16213A"/>
                </a:solidFill>
                <a:latin typeface="Arial"/>
                <a:ea typeface="Malgun Gothic"/>
                <a:cs typeface="Malgun Gothic"/>
              </a:rPr>
              <a:t>ū</a:t>
            </a:r>
            <a:r>
              <a:rPr sz="1050" b="0" i="0">
                <a:solidFill>
                  <a:srgbClr val="16213A"/>
                </a:solidFill>
                <a:latin typeface="Arial"/>
                <a:ea typeface="Malgun Gothic"/>
                <a:cs typeface="Malgun Gothic"/>
              </a:rPr>
              <a:t>에, 실제 상태와의 차이를 되먹이는 항을 더해 실행한다.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는 iLQG나 contraction metric 제어기가 준다.</a:t>
            </a:r>
          </a:p>
        </p:txBody>
      </p:sp>
      <p:pic>
        <p:nvPicPr>
          <p:cNvPr id="7" name="Picture 6" descr="image.png"/>
          <p:cNvPicPr>
            <a:picLocks noChangeAspect="1"/>
          </p:cNvPicPr>
          <p:nvPr/>
        </p:nvPicPr>
        <p:blipFill>
          <a:blip r:embed="rId3"/>
          <a:stretch>
            <a:fillRect/>
          </a:stretch>
        </p:blipFill>
        <p:spPr>
          <a:xfrm>
            <a:off x="609600" y="1855391"/>
            <a:ext cx="1641475" cy="238125"/>
          </a:xfrm>
          <a:prstGeom prst="rect">
            <a:avLst/>
          </a:prstGeom>
        </p:spPr>
      </p:pic>
      <p:sp>
        <p:nvSpPr>
          <p:cNvPr id="8" name="TextBox 7"/>
          <p:cNvSpPr txBox="1"/>
          <p:nvPr/>
        </p:nvSpPr>
        <p:spPr>
          <a:xfrm>
            <a:off x="609600" y="213290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RMPPI의 명목 상태 선택.</a:t>
            </a:r>
            <a:r>
              <a:rPr sz="1050" b="0" i="0">
                <a:solidFill>
                  <a:srgbClr val="16213A"/>
                </a:solidFill>
                <a:latin typeface="Arial"/>
                <a:ea typeface="Malgun Gothic"/>
                <a:cs typeface="Malgun Gothic"/>
              </a:rPr>
              <a:t> 실제 상태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와 이전 명목 상태 사이의 후보 </a:t>
            </a:r>
            <a:r>
              <a:rPr sz="1050" b="0" i="1">
                <a:solidFill>
                  <a:srgbClr val="16213A"/>
                </a:solidFill>
                <a:latin typeface="Arial"/>
                <a:ea typeface="Malgun Gothic"/>
                <a:cs typeface="Malgun Gothic"/>
              </a:rPr>
              <a:t>p₀, …, p_R</a:t>
            </a:r>
            <a:r>
              <a:rPr sz="1050" b="0" i="0">
                <a:solidFill>
                  <a:srgbClr val="16213A"/>
                </a:solidFill>
                <a:latin typeface="Arial"/>
                <a:ea typeface="Malgun Gothic"/>
                <a:cs typeface="Malgun Gothic"/>
              </a:rPr>
              <a:t> 가운데, 몬테카를로로 추정한 자유 에너지 </a:t>
            </a:r>
            <a:r>
              <a:rPr sz="1050" b="0" i="1">
                <a:solidFill>
                  <a:srgbClr val="16213A"/>
                </a:solidFill>
                <a:latin typeface="Arial"/>
                <a:ea typeface="Malgun Gothic"/>
                <a:cs typeface="Malgun Gothic"/>
              </a:rPr>
              <a:t>ℱ_(MC)</a:t>
            </a:r>
            <a:r>
              <a:rPr sz="1050" b="0" i="0">
                <a:solidFill>
                  <a:srgbClr val="16213A"/>
                </a:solidFill>
                <a:latin typeface="Arial"/>
                <a:ea typeface="Malgun Gothic"/>
                <a:cs typeface="Malgun Gothic"/>
              </a:rPr>
              <a:t>가 임계값 </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(보통 충돌 비용) 이하인 것 중 실제 상태에 가장 가까운 것을 새 명목 상태로 쓴다.</a:t>
            </a:r>
          </a:p>
        </p:txBody>
      </p:sp>
      <p:pic>
        <p:nvPicPr>
          <p:cNvPr id="9" name="Picture 8" descr="image.png"/>
          <p:cNvPicPr>
            <a:picLocks noChangeAspect="1"/>
          </p:cNvPicPr>
          <p:nvPr/>
        </p:nvPicPr>
        <p:blipFill>
          <a:blip r:embed="rId4"/>
          <a:stretch>
            <a:fillRect/>
          </a:stretch>
        </p:blipFill>
        <p:spPr>
          <a:xfrm>
            <a:off x="609600" y="2654796"/>
            <a:ext cx="3667125" cy="320675"/>
          </a:xfrm>
          <a:prstGeom prst="rect">
            <a:avLst/>
          </a:prstGeom>
        </p:spPr>
      </p:pic>
      <p:sp>
        <p:nvSpPr>
          <p:cNvPr id="10" name="TextBox 9"/>
          <p:cNvSpPr txBox="1"/>
          <p:nvPr/>
        </p:nvSpPr>
        <p:spPr>
          <a:xfrm>
            <a:off x="609600" y="299968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실제 상태가 괜찮으면 거기서 다시 시작하고(MPPI처럼), 위험하면 명목 상태를 유지한다(Tube-MPPI처럼).</a:t>
            </a:r>
          </a:p>
        </p:txBody>
      </p:sp>
      <p:sp>
        <p:nvSpPr>
          <p:cNvPr id="11" name="TextBox 10"/>
          <p:cNvSpPr txBox="1"/>
          <p:nvPr/>
        </p:nvSpPr>
        <p:spPr>
          <a:xfrm>
            <a:off x="609600" y="330507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log-MPPI의 NLN 샘플.</a:t>
            </a:r>
            <a:r>
              <a:rPr sz="1050" b="0" i="0">
                <a:solidFill>
                  <a:srgbClr val="16213A"/>
                </a:solidFill>
                <a:latin typeface="Arial"/>
                <a:ea typeface="Malgun Gothic"/>
                <a:cs typeface="Malgun Gothic"/>
              </a:rPr>
              <a:t> 정규분포 변수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와 로그정규분포 변수 </a:t>
            </a:r>
            <a:r>
              <a:rPr sz="1050" b="0" i="1">
                <a:solidFill>
                  <a:srgbClr val="16213A"/>
                </a:solidFill>
                <a:latin typeface="Arial"/>
                <a:ea typeface="Malgun Gothic"/>
                <a:cs typeface="Malgun Gothic"/>
              </a:rPr>
              <a:t>Y</a:t>
            </a:r>
            <a:r>
              <a:rPr sz="1050" b="0" i="0">
                <a:solidFill>
                  <a:srgbClr val="16213A"/>
                </a:solidFill>
                <a:latin typeface="Arial"/>
                <a:ea typeface="Malgun Gothic"/>
                <a:cs typeface="Malgun Gothic"/>
              </a:rPr>
              <a:t>를 곱한 </a:t>
            </a:r>
            <a:r>
              <a:rPr sz="1050" b="0" i="1">
                <a:solidFill>
                  <a:srgbClr val="16213A"/>
                </a:solidFill>
                <a:latin typeface="Arial"/>
                <a:ea typeface="Malgun Gothic"/>
                <a:cs typeface="Malgun Gothic"/>
              </a:rPr>
              <a:t>Z = XY</a:t>
            </a:r>
            <a:r>
              <a:rPr sz="1050" b="0" i="0">
                <a:solidFill>
                  <a:srgbClr val="16213A"/>
                </a:solidFill>
                <a:latin typeface="Arial"/>
                <a:ea typeface="Malgun Gothic"/>
                <a:cs typeface="Malgun Gothic"/>
              </a:rPr>
              <a:t>를 제어 변화로 쓴다. 논문의 예에서는 잡음 분산을 작게 두어 제약 위반을 피하면서도, 가우시안 샘플보다 궤적이 넓게 퍼졌다.</a:t>
            </a:r>
          </a:p>
        </p:txBody>
      </p:sp>
      <p:pic>
        <p:nvPicPr>
          <p:cNvPr id="12" name="Picture 11" descr="image.png"/>
          <p:cNvPicPr>
            <a:picLocks noChangeAspect="1"/>
          </p:cNvPicPr>
          <p:nvPr/>
        </p:nvPicPr>
        <p:blipFill>
          <a:blip r:embed="rId5"/>
          <a:stretch>
            <a:fillRect/>
          </a:stretch>
        </p:blipFill>
        <p:spPr>
          <a:xfrm>
            <a:off x="609600" y="3826966"/>
            <a:ext cx="3848100" cy="241300"/>
          </a:xfrm>
          <a:prstGeom prst="rect">
            <a:avLst/>
          </a:prstGeom>
        </p:spPr>
      </p:pic>
      <p:sp>
        <p:nvSpPr>
          <p:cNvPr id="13" name="TextBox 12"/>
          <p:cNvSpPr txBox="1"/>
          <p:nvPr/>
        </p:nvSpPr>
        <p:spPr>
          <a:xfrm>
            <a:off x="609600" y="41044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travplan </a:t>
            </a:r>
            <a:r>
              <a:rPr sz="1050" b="0" i="0">
                <a:solidFill>
                  <a:srgbClr val="16213A"/>
                </a:solidFill>
                <a:latin typeface="Consolas"/>
                <a:ea typeface="Malgun Gothic"/>
                <a:cs typeface="Malgun Gothic"/>
              </a:rPr>
              <a:t>MPPIController</a:t>
            </a:r>
            <a:r>
              <a:rPr sz="1050" b="0" i="0">
                <a:solidFill>
                  <a:srgbClr val="16213A"/>
                </a:solidFill>
                <a:latin typeface="Arial"/>
                <a:ea typeface="Malgun Gothic"/>
                <a:cs typeface="Malgun Gothic"/>
              </a:rPr>
              <a:t>는 샘플 768개, 지평 40스텝(4초)으로 운동학 벤치마크에서 스텝당 약 10 ms가 걸린다(PyTorch). Orin 이식에서 지연이 문제가 되면 MPPI-Generic 같은 CUDA 구현이 첫 후보다. Isaac Sim이나 실물에서 슬립이 커지면, 실제 상태에서 매번 다시 시작하는 지금 방식 대신 RMPPI식 명목 상태 선택이 로봇을 안정시킨다.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MPPI 계열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E.1 MPPI의 계보: 경로 적분 제어에서 GPU 라이브러리까지</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9 / 183</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CLIS-MPPI: 실행 지연을 초기 상태 분포로 본다</a:t>
            </a:r>
          </a:p>
        </p:txBody>
      </p:sp>
      <p:sp>
        <p:nvSpPr>
          <p:cNvPr id="6" name="TextBox 5"/>
          <p:cNvSpPr txBox="1"/>
          <p:nvPr/>
        </p:nvSpPr>
        <p:spPr>
          <a:xfrm>
            <a:off x="609600" y="154781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CLIS-MPPI는 계획과 실행 사이의 지연을 "rollout을 어디서 시작해야 할지 모른다"는 초기 상태 불확실성으로 바꿔 MPPI에 넣는다</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
              </a:rPr>
              <a:t>arXiv:2610.21239</a:t>
            </a:r>
            <a:r>
              <a:rPr sz="1050" b="0" i="0">
                <a:solidFill>
                  <a:srgbClr val="16213A"/>
                </a:solidFill>
                <a:latin typeface="Arial"/>
                <a:ea typeface="Malgun Gothic"/>
                <a:cs typeface="Malgun Gothic"/>
              </a:rPr>
              <a:t>, CDC 2026, University of Washington, Liu·Chen). 코드 공개는 확인하지 못했다. </a:t>
            </a:r>
            <a:r>
              <a:rPr sz="1050" b="1" i="0">
                <a:solidFill>
                  <a:srgbClr val="C2410C"/>
                </a:solidFill>
                <a:latin typeface="Arial"/>
                <a:ea typeface="Malgun Gothic"/>
                <a:cs typeface="Malgun Gothic"/>
              </a:rPr>
              <a:t>지연을 동역학에 넣지 않고 샘플의 출발점에 퍼뜨린다.</a:t>
            </a:r>
            <a:r>
              <a:rPr sz="1050" b="0" i="0">
                <a:solidFill>
                  <a:srgbClr val="16213A"/>
                </a:solidFill>
                <a:latin typeface="Arial"/>
                <a:ea typeface="Malgun Gothic"/>
                <a:cs typeface="Malgun Gothic"/>
              </a:rPr>
              <a:t> 이 점이 travplan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와 갈린다.</a:t>
            </a:r>
          </a:p>
        </p:txBody>
      </p:sp>
      <p:sp>
        <p:nvSpPr>
          <p:cNvPr id="7" name="TextBox 6"/>
          <p:cNvSpPr txBox="1"/>
          <p:nvPr/>
        </p:nvSpPr>
        <p:spPr>
          <a:xfrm>
            <a:off x="609600" y="2069703"/>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동작 방식.</a:t>
            </a:r>
            <a:r>
              <a:rPr sz="1050" b="0" i="0">
                <a:solidFill>
                  <a:srgbClr val="16213A"/>
                </a:solidFill>
                <a:latin typeface="Arial"/>
                <a:ea typeface="Malgun Gothic"/>
                <a:cs typeface="Malgun Gothic"/>
              </a:rPr>
              <a:t> 계획하는 동안(실험의 계획 시간은 약 87.5 ms) 로봇은 이전 명령으로 계속 움직인다. 그래서 최적화한 제어가 실제로 걸릴 때의 상태는 계획을 시작한 상태와 다르다. CLIS-MPPI는 그 차이를 평균 0의 가우시안으로 두고, 공분산은 지연의 통계와 지연 동안 유지된 명령으로 계산한다. 논문은 실제로 잰 지연 통계를 보고하지 않았다. rollout마다 이 분포에서 초기 상태 섭동을 하나 뽑아 그 자리에서 굴린다. 가중치는 표준 MPPI와 같다. 그다음 가중 rollout의 상태 편차와 제어 편차로 가중 최소제곱을 풀어 국소 되먹임 이득을 얻는다. 실행 명령은 MPPI의 피드포워드에 "실제 상태와 명목 rollout 상태의 차이"에 이득을 곱한 항을 더한 것이다. 유효 샘플 수가 문턱 아래로 떨어지면 되먹임을 믿지 않는 장치도 있다.</a:t>
            </a:r>
          </a:p>
        </p:txBody>
      </p:sp>
      <p:sp>
        <p:nvSpPr>
          <p:cNvPr id="8" name="TextBox 7"/>
          <p:cNvSpPr txBox="1"/>
          <p:nvPr/>
        </p:nvSpPr>
        <p:spPr>
          <a:xfrm>
            <a:off x="609600" y="302458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UR5e 팔 실물로 좁은 통로를 지나는 과제를 방법마다 5번 했다. MPPI는 2번 충돌했고 CLIS-MPPI는 한 번도 충돌하지 않았다. 충돌하지 않은 시행만 평균하면 관절 위치 RMSE가 0.100 rad에서 0.017 rad로, 관절 속도 RMSE가 0.108 rad/s에서 0.011 rad/s로 줄었다. 계획 시간은 87.5 ms와 87.6 ms로 같다. 시행이 5번뿐이고 분산이나 유의성은 보고하지 않았다.</a:t>
            </a:r>
          </a:p>
        </p:txBody>
      </p:sp>
      <p:sp>
        <p:nvSpPr>
          <p:cNvPr id="9" name="TextBox 8"/>
          <p:cNvSpPr txBox="1"/>
          <p:nvPr/>
        </p:nvSpPr>
        <p:spPr>
          <a:xfrm>
            <a:off x="609600" y="3546475"/>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travplan의 지연은 두 종류다. 스워브 plant의 1차 지연(0.2 s)은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가 rollout 동역학 안에서 굴린다(TP-0150). TP-0032가 넣은 L0 지연(</a:t>
            </a:r>
            <a:r>
              <a:rPr sz="1050" b="0" i="0">
                <a:solidFill>
                  <a:srgbClr val="16213A"/>
                </a:solidFill>
                <a:latin typeface="Consolas"/>
                <a:ea typeface="Malgun Gothic"/>
                <a:cs typeface="Malgun Gothic"/>
              </a:rPr>
              <a:t>--latency</a:t>
            </a:r>
            <a:r>
              <a:rPr sz="1050" b="0" i="0">
                <a:solidFill>
                  <a:srgbClr val="16213A"/>
                </a:solidFill>
                <a:latin typeface="Arial"/>
                <a:ea typeface="Malgun Gothic"/>
                <a:cs typeface="Malgun Gothic"/>
              </a:rPr>
              <a:t>, PR #234, 미병합)은 아직 Controller가 모른다. 이 지연은 센서에서 지도까지, 계획, 제어의 셋이다. </a:t>
            </a:r>
            <a:r>
              <a:rPr sz="1050" b="0" i="0">
                <a:solidFill>
                  <a:srgbClr val="16213A"/>
                </a:solidFill>
                <a:latin typeface="Consolas"/>
                <a:ea typeface="Malgun Gothic"/>
                <a:cs typeface="Malgun Gothic"/>
              </a:rPr>
              <a:t>--latency 2 2 3</a:t>
            </a:r>
            <a:r>
              <a:rPr sz="1050" b="0" i="0">
                <a:solidFill>
                  <a:srgbClr val="16213A"/>
                </a:solidFill>
                <a:latin typeface="Arial"/>
                <a:ea typeface="Malgun Gothic"/>
                <a:cs typeface="Malgun Gothic"/>
              </a:rPr>
              <a:t>이면 셋을 에피소드마다 각각 0–2, 0–2, 0–3 스텝(한 스텝 0.1 s)에서 하나씩 뽑고, 그 에피소드 안에서는 일정하게 둔다. 고정 지연이 아니라 "모르지만 에피소드 안에서는 일정한" 지연이다. 스모크 한 판에서 이 지연을 켜면 12개 중 9개가 성공했다(짝 비교 전이라 판정이 아니다, TP-0169). 그 실패 셋이 제어 지연 탓인지부터 가려야 한다. 제어 지연만 켠 </a:t>
            </a:r>
            <a:r>
              <a:rPr sz="1050" b="0" i="0">
                <a:solidFill>
                  <a:srgbClr val="16213A"/>
                </a:solidFill>
                <a:latin typeface="Consolas"/>
                <a:ea typeface="Malgun Gothic"/>
                <a:cs typeface="Malgun Gothic"/>
              </a:rPr>
              <a:t>--latency 0 0 3</a:t>
            </a:r>
            <a:r>
              <a:rPr sz="1050" b="0" i="0">
                <a:solidFill>
                  <a:srgbClr val="16213A"/>
                </a:solidFill>
                <a:latin typeface="Arial"/>
                <a:ea typeface="Malgun Gothic"/>
                <a:cs typeface="Malgun Gothic"/>
              </a:rPr>
              <a:t> 한 판이 TP-0170의 첫 단계다.</a:t>
            </a:r>
          </a:p>
        </p:txBody>
      </p:sp>
      <p:sp>
        <p:nvSpPr>
          <p:cNvPr id="10" name="TextBox 9"/>
          <p:cNvSpPr txBox="1"/>
          <p:nvPr/>
        </p:nvSpPr>
        <p:spPr>
          <a:xfrm>
            <a:off x="609600" y="4501356"/>
            <a:ext cx="10972800" cy="1298972"/>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모델은 그다음에 고른다. 지연의 고전 기준선은 상태 예측기(predictor)다. 계획을 시작한 상태를, 이미 보냈지만 아직 바퀴에 닿지 않은 명령으로 명령이 걸릴 시각까지 굴린 뒤 거기서 최적화한다. Controller는 자기가 보낸 명령 기록을 알므로 이 부분은 확률이 아니라 결정적으로 굴린다. 남는 불확실성은 지연이 몇 스텝인가뿐이다. 지금 시뮬에서는 그 값이 에피소드 안에서 일정한 이산값(0–3)이다. 그래서 맞는 모델은 rollout마다 지연 d를 0–3에서 하나 뽑아 명령 기록(FIFO)을 d스텝 굴리는 혼합 분포다. CLIS-MPPI의 평균 0 가우시안 섭동은 이 경우에 맞지 않는다. 유지한 명령이 0이 아니면 어긋남의 평균도 0이 아니어서, 명목 상태를 어디 두느냐에 따라 치우침이 생긴다. CLIS-MPPI가 맞는 경우는 지연이 매 스텝 흔들리는 경우다. 그런 지연은 지금 시뮬에 없으므로, 시험하려면 시뮬 기능부터 더해야 한다. 어느 쪽이든 rollout의 시작점만 바꾸므로 </a:t>
            </a:r>
            <a:r>
              <a:rPr sz="1050" b="0" i="0">
                <a:solidFill>
                  <a:srgbClr val="16213A"/>
                </a:solidFill>
                <a:latin typeface="Consolas"/>
                <a:ea typeface="Malgun Gothic"/>
                <a:cs typeface="Malgun Gothic"/>
              </a:rPr>
              <a:t>LagSlipSwerveModel</a:t>
            </a:r>
            <a:r>
              <a:rPr sz="1050" b="0" i="0">
                <a:solidFill>
                  <a:srgbClr val="16213A"/>
                </a:solidFill>
                <a:latin typeface="Arial"/>
                <a:ea typeface="Malgun Gothic"/>
                <a:cs typeface="Malgun Gothic"/>
              </a:rPr>
              <a:t>처럼 모델 쪽에 넣고 최적화기(</a:t>
            </a:r>
            <a:r>
              <a:rPr sz="1050" b="0" i="0">
                <a:solidFill>
                  <a:srgbClr val="16213A"/>
                </a:solidFill>
                <a:latin typeface="Consolas"/>
                <a:ea typeface="Malgun Gothic"/>
                <a:cs typeface="Malgun Gothic"/>
              </a:rPr>
              <a:t>mppi.py</a:t>
            </a:r>
            <a:r>
              <a:rPr sz="1050" b="0" i="0">
                <a:solidFill>
                  <a:srgbClr val="16213A"/>
                </a:solidFill>
                <a:latin typeface="Arial"/>
                <a:ea typeface="Malgun Gothic"/>
                <a:cs typeface="Malgun Gothic"/>
              </a:rPr>
              <a:t>)는 그대로 둔다. 되먹임 이득은 Controller 출력 단계라 </a:t>
            </a:r>
            <a:r>
              <a:rPr sz="1050" b="0" i="0">
                <a:solidFill>
                  <a:srgbClr val="16213A"/>
                </a:solidFill>
                <a:latin typeface="Consolas"/>
                <a:ea typeface="Malgun Gothic"/>
                <a:cs typeface="Malgun Gothic"/>
              </a:rPr>
              <a:t>PlantAwareMPPIController</a:t>
            </a:r>
            <a:r>
              <a:rPr sz="1050" b="0" i="0">
                <a:solidFill>
                  <a:srgbClr val="16213A"/>
                </a:solidFill>
                <a:latin typeface="Arial"/>
                <a:ea typeface="Malgun Gothic"/>
                <a:cs typeface="Malgun Gothic"/>
              </a:rPr>
              <a:t> 같은 하위 클래스에 둔다.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MPPI 계열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E.1 MPPI의 계보: 경로 적분 제어에서 GPU 라이브러리까지</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10 / 183</a:t>
            </a:r>
          </a:p>
        </p:txBody>
      </p:sp>
      <p:pic>
        <p:nvPicPr>
          <p:cNvPr id="5" name="Picture 4" descr="image.jpg"/>
          <p:cNvPicPr>
            <a:picLocks noChangeAspect="1"/>
          </p:cNvPicPr>
          <p:nvPr/>
        </p:nvPicPr>
        <p:blipFill>
          <a:blip r:embed="rId3"/>
          <a:stretch>
            <a:fillRect/>
          </a:stretch>
        </p:blipFill>
        <p:spPr>
          <a:xfrm>
            <a:off x="609600" y="1244600"/>
            <a:ext cx="5410200" cy="2311400"/>
          </a:xfrm>
          <a:prstGeom prst="rect">
            <a:avLst/>
          </a:prstGeom>
        </p:spPr>
      </p:pic>
      <p:sp>
        <p:nvSpPr>
          <p:cNvPr id="6" name="TextBox 5"/>
          <p:cNvSpPr txBox="1"/>
          <p:nvPr/>
        </p:nvSpPr>
        <p:spPr>
          <a:xfrm>
            <a:off x="609600" y="35941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CLIS-MPPI (Fig. 1): i번째 계획 주기에서 계획을 시작한 상태와 제어가 실제로 걸리는 상태가 어긋나는 모습. 출처: arXiv:2610.21239</a:t>
            </a:r>
          </a:p>
        </p:txBody>
      </p:sp>
      <p:pic>
        <p:nvPicPr>
          <p:cNvPr id="7" name="Picture 6" descr="image.jpg"/>
          <p:cNvPicPr>
            <a:picLocks noChangeAspect="1"/>
          </p:cNvPicPr>
          <p:nvPr/>
        </p:nvPicPr>
        <p:blipFill>
          <a:blip r:embed="rId4"/>
          <a:stretch>
            <a:fillRect/>
          </a:stretch>
        </p:blipFill>
        <p:spPr>
          <a:xfrm>
            <a:off x="6172200" y="1244600"/>
            <a:ext cx="5410200" cy="1974850"/>
          </a:xfrm>
          <a:prstGeom prst="rect">
            <a:avLst/>
          </a:prstGeom>
        </p:spPr>
      </p:pic>
      <p:sp>
        <p:nvSpPr>
          <p:cNvPr id="8" name="TextBox 7"/>
          <p:cNvSpPr txBox="1"/>
          <p:nvPr/>
        </p:nvSpPr>
        <p:spPr>
          <a:xfrm>
            <a:off x="6172200" y="325755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CLIS-MPPI (Fig. 2): 초기 상태 샘플, 가중 rollout, rollout 회귀로 얻은 되먹임 이득을 잇는 전체 흐름. 출처: arXiv:2610.21239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MPPI 계열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E.1 MPPI의 계보: 경로 적분 제어에서 GPU 라이브러리까지</a:t>
            </a:r>
            <a:r>
              <a:rPr sz="1050" b="0" i="0">
                <a:solidFill>
                  <a:srgbClr val="5A6478"/>
                </a:solidFill>
                <a:latin typeface="Arial"/>
                <a:ea typeface="Malgun Gothic"/>
                <a:cs typeface="Malgun Gothic"/>
              </a:rPr>
              <a:t>  자세히: CLIS-MPPI의 초기 상태 샘플과 rollout 회귀 이득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11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지연을 상태 오차로 바꾼다.</a:t>
            </a:r>
            <a:r>
              <a:rPr sz="1050" b="0" i="0">
                <a:solidFill>
                  <a:srgbClr val="16213A"/>
                </a:solidFill>
                <a:latin typeface="Arial"/>
                <a:ea typeface="Malgun Gothic"/>
                <a:cs typeface="Malgun Gothic"/>
              </a:rPr>
              <a:t> 지연 </a:t>
            </a:r>
            <a:r>
              <a:rPr sz="1050" b="0" i="1">
                <a:solidFill>
                  <a:srgbClr val="16213A"/>
                </a:solidFill>
                <a:latin typeface="Arial"/>
                <a:ea typeface="Malgun Gothic"/>
                <a:cs typeface="Malgun Gothic"/>
              </a:rPr>
              <a:t>τ</a:t>
            </a:r>
            <a:r>
              <a:rPr sz="1050" b="0" i="0">
                <a:solidFill>
                  <a:srgbClr val="16213A"/>
                </a:solidFill>
                <a:latin typeface="Arial"/>
                <a:ea typeface="Malgun Gothic"/>
                <a:cs typeface="Malgun Gothic"/>
              </a:rPr>
              <a:t> 동안 유지된 명령을 </a:t>
            </a:r>
            <a:r>
              <a:rPr sz="1050" b="0" i="1">
                <a:solidFill>
                  <a:srgbClr val="16213A"/>
                </a:solidFill>
                <a:latin typeface="Arial"/>
                <a:ea typeface="Malgun Gothic"/>
                <a:cs typeface="Malgun Gothic"/>
              </a:rPr>
              <a:t>u_(hold)</a:t>
            </a:r>
            <a:r>
              <a:rPr sz="1050" b="0" i="0">
                <a:solidFill>
                  <a:srgbClr val="16213A"/>
                </a:solidFill>
                <a:latin typeface="Arial"/>
                <a:ea typeface="Malgun Gothic"/>
                <a:cs typeface="Malgun Gothic"/>
              </a:rPr>
              <a:t>라 하면 위치 어긋남은 </a:t>
            </a:r>
            <a:r>
              <a:rPr sz="1050" b="0" i="1">
                <a:solidFill>
                  <a:srgbClr val="16213A"/>
                </a:solidFill>
                <a:latin typeface="Arial"/>
                <a:ea typeface="Malgun Gothic"/>
                <a:cs typeface="Malgun Gothic"/>
              </a:rPr>
              <a:t>Δ q ≈ u_(hold) τ</a:t>
            </a:r>
            <a:r>
              <a:rPr sz="1050" b="0" i="0">
                <a:solidFill>
                  <a:srgbClr val="16213A"/>
                </a:solidFill>
                <a:latin typeface="Arial"/>
                <a:ea typeface="Malgun Gothic"/>
                <a:cs typeface="Malgun Gothic"/>
              </a:rPr>
              <a:t>이다. </a:t>
            </a:r>
            <a:r>
              <a:rPr sz="1050" b="0" i="1">
                <a:solidFill>
                  <a:srgbClr val="16213A"/>
                </a:solidFill>
                <a:latin typeface="Arial"/>
                <a:ea typeface="Malgun Gothic"/>
                <a:cs typeface="Malgun Gothic"/>
              </a:rPr>
              <a:t>τ</a:t>
            </a:r>
            <a:r>
              <a:rPr sz="1050" b="0" i="0">
                <a:solidFill>
                  <a:srgbClr val="16213A"/>
                </a:solidFill>
                <a:latin typeface="Arial"/>
                <a:ea typeface="Malgun Gothic"/>
                <a:cs typeface="Malgun Gothic"/>
              </a:rPr>
              <a:t>와 </a:t>
            </a:r>
            <a:r>
              <a:rPr sz="1050" b="0" i="1">
                <a:solidFill>
                  <a:srgbClr val="16213A"/>
                </a:solidFill>
                <a:latin typeface="Arial"/>
                <a:ea typeface="Malgun Gothic"/>
                <a:cs typeface="Malgun Gothic"/>
              </a:rPr>
              <a:t>u_(hold)</a:t>
            </a:r>
            <a:r>
              <a:rPr sz="1050" b="0" i="0">
                <a:solidFill>
                  <a:srgbClr val="16213A"/>
                </a:solidFill>
                <a:latin typeface="Arial"/>
                <a:ea typeface="Malgun Gothic"/>
                <a:cs typeface="Malgun Gothic"/>
              </a:rPr>
              <a:t>가 모두 흔들리므로 공분산은 두 몫의 합이다. 지연은 계획 시각과 적용 시각의 차이 </a:t>
            </a:r>
            <a:r>
              <a:rPr sz="1050" b="0" i="1">
                <a:solidFill>
                  <a:srgbClr val="16213A"/>
                </a:solidFill>
                <a:latin typeface="Arial"/>
                <a:ea typeface="Malgun Gothic"/>
                <a:cs typeface="Malgun Gothic"/>
              </a:rPr>
              <a:t>τₜ = sₜ^(apply) - sₜ^(plan)</a:t>
            </a:r>
            <a:r>
              <a:rPr sz="1050" b="0" i="0">
                <a:solidFill>
                  <a:srgbClr val="16213A"/>
                </a:solidFill>
                <a:latin typeface="Arial"/>
                <a:ea typeface="Malgun Gothic"/>
                <a:cs typeface="Malgun Gothic"/>
              </a:rPr>
              <a:t>로 잰다.</a:t>
            </a:r>
          </a:p>
        </p:txBody>
      </p:sp>
      <p:pic>
        <p:nvPicPr>
          <p:cNvPr id="6" name="Picture 5" descr="image.png"/>
          <p:cNvPicPr>
            <a:picLocks noChangeAspect="1"/>
          </p:cNvPicPr>
          <p:nvPr/>
        </p:nvPicPr>
        <p:blipFill>
          <a:blip r:embed="rId3"/>
          <a:stretch>
            <a:fillRect/>
          </a:stretch>
        </p:blipFill>
        <p:spPr>
          <a:xfrm>
            <a:off x="609600" y="1766491"/>
            <a:ext cx="2171700" cy="241300"/>
          </a:xfrm>
          <a:prstGeom prst="rect">
            <a:avLst/>
          </a:prstGeom>
        </p:spPr>
      </p:pic>
      <p:sp>
        <p:nvSpPr>
          <p:cNvPr id="7" name="TextBox 6"/>
          <p:cNvSpPr txBox="1"/>
          <p:nvPr/>
        </p:nvSpPr>
        <p:spPr>
          <a:xfrm>
            <a:off x="609600" y="204400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초기 상태 샘플.</a:t>
            </a:r>
            <a:r>
              <a:rPr sz="1050" b="0" i="0">
                <a:solidFill>
                  <a:srgbClr val="16213A"/>
                </a:solidFill>
                <a:latin typeface="Arial"/>
                <a:ea typeface="Malgun Gothic"/>
                <a:cs typeface="Malgun Gothic"/>
              </a:rPr>
              <a:t> rollout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마다 시작 상태를 따로 뽑고, 비용과 가중치는 MPPI 그대로다(배경 0.2).</a:t>
            </a:r>
          </a:p>
        </p:txBody>
      </p:sp>
      <p:pic>
        <p:nvPicPr>
          <p:cNvPr id="8" name="Picture 7" descr="image.png"/>
          <p:cNvPicPr>
            <a:picLocks noChangeAspect="1"/>
          </p:cNvPicPr>
          <p:nvPr/>
        </p:nvPicPr>
        <p:blipFill>
          <a:blip r:embed="rId4"/>
          <a:stretch>
            <a:fillRect/>
          </a:stretch>
        </p:blipFill>
        <p:spPr>
          <a:xfrm>
            <a:off x="609600" y="2349401"/>
            <a:ext cx="4699000" cy="263525"/>
          </a:xfrm>
          <a:prstGeom prst="rect">
            <a:avLst/>
          </a:prstGeom>
        </p:spPr>
      </p:pic>
      <p:sp>
        <p:nvSpPr>
          <p:cNvPr id="9" name="TextBox 8"/>
          <p:cNvSpPr txBox="1"/>
          <p:nvPr/>
        </p:nvSpPr>
        <p:spPr>
          <a:xfrm>
            <a:off x="609600" y="264685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평균 0이라는 가정.</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Δ q ≈ u_(hold) τ</a:t>
            </a:r>
            <a:r>
              <a:rPr sz="1050" b="0" i="0">
                <a:solidFill>
                  <a:srgbClr val="16213A"/>
                </a:solidFill>
                <a:latin typeface="Arial"/>
                <a:ea typeface="Malgun Gothic"/>
                <a:cs typeface="Malgun Gothic"/>
              </a:rPr>
              <a:t>의 평균은 </a:t>
            </a:r>
            <a:r>
              <a:rPr sz="1050" b="0" i="1">
                <a:solidFill>
                  <a:srgbClr val="16213A"/>
                </a:solidFill>
                <a:latin typeface="Arial"/>
                <a:ea typeface="Malgun Gothic"/>
                <a:cs typeface="Malgun Gothic"/>
              </a:rPr>
              <a:t>μᵤ 𝔼[τ]</a:t>
            </a:r>
            <a:r>
              <a:rPr sz="1050" b="0" i="0">
                <a:solidFill>
                  <a:srgbClr val="16213A"/>
                </a:solidFill>
                <a:latin typeface="Arial"/>
                <a:ea typeface="Malgun Gothic"/>
                <a:cs typeface="Malgun Gothic"/>
              </a:rPr>
              <a:t>로, 움직이는 동안에는 0이 아니다. 그래서 </a:t>
            </a:r>
            <a:r>
              <a:rPr sz="1050" b="0" i="1">
                <a:solidFill>
                  <a:srgbClr val="16213A"/>
                </a:solidFill>
                <a:latin typeface="Arial"/>
                <a:ea typeface="Malgun Gothic"/>
                <a:cs typeface="Malgun Gothic"/>
              </a:rPr>
              <a:t>x^(ref)</a:t>
            </a:r>
            <a:r>
              <a:rPr sz="1050" b="0" i="0">
                <a:solidFill>
                  <a:srgbClr val="16213A"/>
                </a:solidFill>
                <a:latin typeface="Arial"/>
                <a:ea typeface="Malgun Gothic"/>
                <a:cs typeface="Malgun Gothic"/>
              </a:rPr>
              <a:t>를 계획 시작 상태에 두면 섭동이 한쪽으로 치우친다. 알고 있는 명령 기록만큼은 먼저 결정적으로 굴려 </a:t>
            </a:r>
            <a:r>
              <a:rPr sz="1050" b="0" i="1">
                <a:solidFill>
                  <a:srgbClr val="16213A"/>
                </a:solidFill>
                <a:latin typeface="Arial"/>
                <a:ea typeface="Malgun Gothic"/>
                <a:cs typeface="Malgun Gothic"/>
              </a:rPr>
              <a:t>x^(ref)</a:t>
            </a:r>
            <a:r>
              <a:rPr sz="1050" b="0" i="0">
                <a:solidFill>
                  <a:srgbClr val="16213A"/>
                </a:solidFill>
                <a:latin typeface="Arial"/>
                <a:ea typeface="Malgun Gothic"/>
                <a:cs typeface="Malgun Gothic"/>
              </a:rPr>
              <a:t>를 옮기고, 남은 흔들림만 표본으로 퍼뜨리는 편이 맞다.</a:t>
            </a:r>
          </a:p>
        </p:txBody>
      </p:sp>
      <p:sp>
        <p:nvSpPr>
          <p:cNvPr id="10" name="TextBox 9"/>
          <p:cNvSpPr txBox="1"/>
          <p:nvPr/>
        </p:nvSpPr>
        <p:spPr>
          <a:xfrm>
            <a:off x="609600" y="316874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rollout 회귀 이득.</a:t>
            </a:r>
            <a:r>
              <a:rPr sz="1050" b="0" i="0">
                <a:solidFill>
                  <a:srgbClr val="16213A"/>
                </a:solidFill>
                <a:latin typeface="Arial"/>
                <a:ea typeface="Malgun Gothic"/>
                <a:cs typeface="Malgun Gothic"/>
              </a:rPr>
              <a:t> 가중 평균으로 명목 상태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와 제어 </a:t>
            </a:r>
            <a:r>
              <a:rPr sz="1050" b="0" i="1">
                <a:solidFill>
                  <a:srgbClr val="16213A"/>
                </a:solidFill>
                <a:latin typeface="Arial"/>
                <a:ea typeface="Malgun Gothic"/>
                <a:cs typeface="Malgun Gothic"/>
              </a:rPr>
              <a:t>ū</a:t>
            </a:r>
            <a:r>
              <a:rPr sz="1050" b="0" i="0">
                <a:solidFill>
                  <a:srgbClr val="16213A"/>
                </a:solidFill>
                <a:latin typeface="Arial"/>
                <a:ea typeface="Malgun Gothic"/>
                <a:cs typeface="Malgun Gothic"/>
              </a:rPr>
              <a:t>를 구하고, 편차의 가중 공분산 </a:t>
            </a:r>
            <a:r>
              <a:rPr sz="1050" b="0" i="1">
                <a:solidFill>
                  <a:srgbClr val="16213A"/>
                </a:solidFill>
                <a:latin typeface="Arial"/>
                <a:ea typeface="Malgun Gothic"/>
                <a:cs typeface="Malgun Gothic"/>
              </a:rPr>
              <a:t>Σᵤₓ</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Σₓₓ</a:t>
            </a:r>
            <a:r>
              <a:rPr sz="1050" b="0" i="0">
                <a:solidFill>
                  <a:srgbClr val="16213A"/>
                </a:solidFill>
                <a:latin typeface="Arial"/>
                <a:ea typeface="Malgun Gothic"/>
                <a:cs typeface="Malgun Gothic"/>
              </a:rPr>
              <a:t>로 이득을 맞춘다. </a:t>
            </a:r>
            <a:r>
              <a:rPr sz="1050" b="0" i="1">
                <a:solidFill>
                  <a:srgbClr val="16213A"/>
                </a:solidFill>
                <a:latin typeface="Arial"/>
                <a:ea typeface="Malgun Gothic"/>
                <a:cs typeface="Malgun Gothic"/>
              </a:rPr>
              <a:t>α I</a:t>
            </a:r>
            <a:r>
              <a:rPr sz="1050" b="0" i="0">
                <a:solidFill>
                  <a:srgbClr val="16213A"/>
                </a:solidFill>
                <a:latin typeface="Arial"/>
                <a:ea typeface="Malgun Gothic"/>
                <a:cs typeface="Malgun Gothic"/>
              </a:rPr>
              <a:t>는 표본이 적을 때의 정칙화다.</a:t>
            </a:r>
          </a:p>
        </p:txBody>
      </p:sp>
      <p:pic>
        <p:nvPicPr>
          <p:cNvPr id="11" name="Picture 10" descr="image.png"/>
          <p:cNvPicPr>
            <a:picLocks noChangeAspect="1"/>
          </p:cNvPicPr>
          <p:nvPr/>
        </p:nvPicPr>
        <p:blipFill>
          <a:blip r:embed="rId5"/>
          <a:stretch>
            <a:fillRect/>
          </a:stretch>
        </p:blipFill>
        <p:spPr>
          <a:xfrm>
            <a:off x="609600" y="3474145"/>
            <a:ext cx="4565650" cy="266700"/>
          </a:xfrm>
          <a:prstGeom prst="rect">
            <a:avLst/>
          </a:prstGeom>
        </p:spPr>
      </p:pic>
      <p:sp>
        <p:nvSpPr>
          <p:cNvPr id="12" name="TextBox 11"/>
          <p:cNvSpPr txBox="1"/>
          <p:nvPr/>
        </p:nvSpPr>
        <p:spPr>
          <a:xfrm>
            <a:off x="609600" y="377289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이득은 미분이 아니라 표본 회귀라서 치명 셀 같은 비평활 비용에서도 정의된다. 아래 Feedback-MPPI와 갈리는 지점이다.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MPPI 계열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E.1 MPPI의 계보: 경로 적분 제어에서 GPU 라이브러리까지</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12 / 183</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Feedback-MPPI: rollout을 미분해 되먹임 이득을 얻는다</a:t>
            </a:r>
          </a:p>
        </p:txBody>
      </p:sp>
      <p:sp>
        <p:nvSpPr>
          <p:cNvPr id="6" name="TextBox 5"/>
          <p:cNvSpPr txBox="1"/>
          <p:nvPr/>
        </p:nvSpPr>
        <p:spPr>
          <a:xfrm>
            <a:off x="609600" y="154781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Feedback-MPPI(F-MPPI)는 MPPI 해가 초기 상태에 얼마나 민감한지를 rollout 미분으로 구해, 다음 풀이 전까지 쓰는 선형 되먹임 이득을 만든다</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
              </a:rPr>
              <a:t>arXiv:2506.14855</a:t>
            </a:r>
            <a:r>
              <a:rPr sz="1050" b="0" i="0">
                <a:solidFill>
                  <a:srgbClr val="16213A"/>
                </a:solidFill>
                <a:latin typeface="Arial"/>
                <a:ea typeface="Malgun Gothic"/>
                <a:cs typeface="Malgun Gothic"/>
              </a:rPr>
              <a:t>, RA-L 2026, Inria·UCL·IIT, </a:t>
            </a:r>
            <a:r>
              <a:rPr sz="1050" b="0" i="0">
                <a:solidFill>
                  <a:srgbClr val="1D4ED8"/>
                </a:solidFill>
                <a:latin typeface="Arial"/>
                <a:ea typeface="Malgun Gothic"/>
                <a:cs typeface="Malgun Gothic"/>
                <a:hlinkClick r:id="rId4"/>
              </a:rPr>
              <a:t>프로젝트·코드</a:t>
            </a:r>
            <a:r>
              <a:rPr sz="1050" b="0" i="0">
                <a:solidFill>
                  <a:srgbClr val="16213A"/>
                </a:solidFill>
                <a:latin typeface="Arial"/>
                <a:ea typeface="Malgun Gothic"/>
                <a:cs typeface="Malgun Gothic"/>
              </a:rPr>
              <a:t>). 경사 기반 MPC가 Riccati 이득을 주는 일을 샘플링 MPC에서 한다.</a:t>
            </a:r>
          </a:p>
        </p:txBody>
      </p:sp>
      <p:sp>
        <p:nvSpPr>
          <p:cNvPr id="7" name="TextBox 6"/>
          <p:cNvSpPr txBox="1"/>
          <p:nvPr/>
        </p:nvSpPr>
        <p:spPr>
          <a:xfrm>
            <a:off x="609600" y="2069703"/>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동작 방식.</a:t>
            </a:r>
            <a:r>
              <a:rPr sz="1050" b="0" i="0">
                <a:solidFill>
                  <a:srgbClr val="16213A"/>
                </a:solidFill>
                <a:latin typeface="Arial"/>
                <a:ea typeface="Malgun Gothic"/>
                <a:cs typeface="Malgun Gothic"/>
              </a:rPr>
              <a:t> 중요도 가중치는 rollout 비용의 지수 함수이고, 비용은 초기 상태의 함수다. 그래서 가중 평균 제어를 초기 상태로 미분하면 "샘플 섭동, 가중치, 그 샘플의 비용 기울기와 가중 평균 기울기의 차이"를 곱해 더한 꼴이 된다. 비용 기울기는 JAX 자동 미분으로 rollout과 병렬로 계산한다. rollout은 국소적으로만 미분 가능하면 된다. 진자 예제에서 표본을 늘리면 이 이득이 무한 지평 LQR 이득에 다가갔고, 입력 포화가 걸리면 이득이 0으로 갔다. 제약은 비용으로만 들어가므로 이득은 제약을 보지 못한다.</a:t>
            </a:r>
          </a:p>
        </p:txBody>
      </p:sp>
      <p:sp>
        <p:nvSpPr>
          <p:cNvPr id="8" name="TextBox 7"/>
          <p:cNvSpPr txBox="1"/>
          <p:nvPr/>
        </p:nvSpPr>
        <p:spPr>
          <a:xfrm>
            <a:off x="609600" y="2808089"/>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Jetson Orin NX를 실은 쿼드로터 실물에서 F-MPPI(풀이 50 Hz, 되먹임 200 Hz)가 MPPI(하드웨어 최대 66.7 Hz)보다 x RMSE를 0.048 m에서 0.017 m로, z RMSE를 0.038 m에서 0.027 m로 줄였다. Aliengo 4족은 MuJoCo 시뮬레이션뿐이다. F-MPPI 50 Hz가 MPPI 100 Hz와 비슷하고 80 Hz보다 낫다고 그림으로만 보고했다. 이득 계산은 Jetson에서 실행 시간을 40–70% 늘린다.</a:t>
            </a:r>
          </a:p>
        </p:txBody>
      </p:sp>
      <p:sp>
        <p:nvSpPr>
          <p:cNvPr id="9" name="TextBox 8"/>
          <p:cNvSpPr txBox="1"/>
          <p:nvPr/>
        </p:nvSpPr>
        <p:spPr>
          <a:xfrm>
            <a:off x="609600" y="3546475"/>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travplan MPPI는 스텝당 약 10 ms라 이미 제어 주기마다 다시 푼다. 그래서 "풀이 사이를 메운다"는 원래 목적은 작다. 쓸모는 CLIS-MPPI와 같은 자리, 곧 지연이 있을 때 실제 상태와 명목 rollout의 차이를 되먹임하는 항이다. 두 방법은 이득을 얻는 방식이 다르다. CLIS-MPPI는 가중 공분산 회귀로, F-MPPI는 미분으로 얻는다. travplan 비용에는 치명 셀과 이진 충돌처럼 기울기가 0이거나 정의되지 않는 항이 많으므로 회귀 쪽을 먼저 쓴다. Orin 이식에서 MPPI 주기가 길어지면 이 절을 다시 본다.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MPPI 계열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E.1 MPPI의 계보: 경로 적분 제어에서 GPU 라이브러리까지</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13 / 183</a:t>
            </a:r>
          </a:p>
        </p:txBody>
      </p:sp>
      <p:pic>
        <p:nvPicPr>
          <p:cNvPr id="5" name="Picture 4" descr="image.jpg"/>
          <p:cNvPicPr>
            <a:picLocks noChangeAspect="1"/>
          </p:cNvPicPr>
          <p:nvPr/>
        </p:nvPicPr>
        <p:blipFill>
          <a:blip r:embed="rId3"/>
          <a:stretch>
            <a:fillRect/>
          </a:stretch>
        </p:blipFill>
        <p:spPr>
          <a:xfrm>
            <a:off x="1016000" y="1244600"/>
            <a:ext cx="10160000" cy="4025900"/>
          </a:xfrm>
          <a:prstGeom prst="rect">
            <a:avLst/>
          </a:prstGeom>
        </p:spPr>
      </p:pic>
      <p:sp>
        <p:nvSpPr>
          <p:cNvPr id="6" name="TextBox 5"/>
          <p:cNvSpPr txBox="1"/>
          <p:nvPr/>
        </p:nvSpPr>
        <p:spPr>
          <a:xfrm>
            <a:off x="1016000" y="530860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Feedback-MPPI (Fig. 4): 쿼드로터 실물의 x–z 궤적, 연속 촬영, 로터 속도를 F-MPPI와 MPPI로 비교했다. 출처: arXiv:2506.14855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MPPI 계열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E.1 MPPI의 계보: 경로 적분 제어에서 GPU 라이브러리까지</a:t>
            </a:r>
            <a:r>
              <a:rPr sz="1050" b="0" i="0">
                <a:solidFill>
                  <a:srgbClr val="5A6478"/>
                </a:solidFill>
                <a:latin typeface="Arial"/>
                <a:ea typeface="Malgun Gothic"/>
                <a:cs typeface="Malgun Gothic"/>
              </a:rPr>
              <a:t>  자세히: Feedback-MPPI의 이득 유도</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14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가중 평균을 미분한다.</a:t>
            </a:r>
            <a:r>
              <a:rPr sz="1050" b="0" i="0">
                <a:solidFill>
                  <a:srgbClr val="16213A"/>
                </a:solidFill>
                <a:latin typeface="Arial"/>
                <a:ea typeface="Malgun Gothic"/>
                <a:cs typeface="Malgun Gothic"/>
              </a:rPr>
              <a:t> 제어를 직접 샘플할 때 해는 </a:t>
            </a:r>
            <a:r>
              <a:rPr sz="1050" b="0" i="1">
                <a:solidFill>
                  <a:srgbClr val="16213A"/>
                </a:solidFill>
                <a:latin typeface="Arial"/>
                <a:ea typeface="Malgun Gothic"/>
                <a:cs typeface="Malgun Gothic"/>
              </a:rPr>
              <a:t>u^⋆ = ∑ₖ ωₖ vₖ</a:t>
            </a:r>
            <a:r>
              <a:rPr sz="1050" b="0" i="0">
                <a:solidFill>
                  <a:srgbClr val="16213A"/>
                </a:solidFill>
                <a:latin typeface="Arial"/>
                <a:ea typeface="Malgun Gothic"/>
                <a:cs typeface="Malgun Gothic"/>
              </a:rPr>
              <a:t>이고 </a:t>
            </a:r>
            <a:r>
              <a:rPr sz="1050" b="0" i="1">
                <a:solidFill>
                  <a:srgbClr val="16213A"/>
                </a:solidFill>
                <a:latin typeface="Arial"/>
                <a:ea typeface="Malgun Gothic"/>
                <a:cs typeface="Malgun Gothic"/>
              </a:rPr>
              <a:t>ωₖ ∝ exp(-Jₖ/λ)</a:t>
            </a:r>
            <a:r>
              <a:rPr sz="1050" b="0" i="0">
                <a:solidFill>
                  <a:srgbClr val="16213A"/>
                </a:solidFill>
                <a:latin typeface="Arial"/>
                <a:ea typeface="Malgun Gothic"/>
                <a:cs typeface="Malgun Gothic"/>
              </a:rPr>
              <a:t>이다. </a:t>
            </a:r>
            <a:r>
              <a:rPr sz="1050" b="0" i="1">
                <a:solidFill>
                  <a:srgbClr val="16213A"/>
                </a:solidFill>
                <a:latin typeface="Arial"/>
                <a:ea typeface="Malgun Gothic"/>
                <a:cs typeface="Malgun Gothic"/>
              </a:rPr>
              <a:t>∑ₖ ωₖ = 1</a:t>
            </a:r>
            <a:r>
              <a:rPr sz="1050" b="0" i="0">
                <a:solidFill>
                  <a:srgbClr val="16213A"/>
                </a:solidFill>
                <a:latin typeface="Arial"/>
                <a:ea typeface="Malgun Gothic"/>
                <a:cs typeface="Malgun Gothic"/>
              </a:rPr>
              <a:t>이므로 가중치의 미분은 기울기에서 가중 평균을 뺀 꼴이 된다.</a:t>
            </a:r>
          </a:p>
        </p:txBody>
      </p:sp>
      <p:pic>
        <p:nvPicPr>
          <p:cNvPr id="6" name="Picture 5" descr="image.png"/>
          <p:cNvPicPr>
            <a:picLocks noChangeAspect="1"/>
          </p:cNvPicPr>
          <p:nvPr/>
        </p:nvPicPr>
        <p:blipFill>
          <a:blip r:embed="rId3"/>
          <a:stretch>
            <a:fillRect/>
          </a:stretch>
        </p:blipFill>
        <p:spPr>
          <a:xfrm>
            <a:off x="609600" y="1549995"/>
            <a:ext cx="3025775" cy="498475"/>
          </a:xfrm>
          <a:prstGeom prst="rect">
            <a:avLst/>
          </a:prstGeom>
        </p:spPr>
      </p:pic>
      <p:sp>
        <p:nvSpPr>
          <p:cNvPr id="7" name="TextBox 6"/>
          <p:cNvSpPr txBox="1"/>
          <p:nvPr/>
        </p:nvSpPr>
        <p:spPr>
          <a:xfrm>
            <a:off x="609600" y="2049959"/>
            <a:ext cx="10972800" cy="4341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정책이 파라미터 </a:t>
            </a:r>
            <a:r>
              <a:rPr sz="1050" b="0" i="1">
                <a:solidFill>
                  <a:srgbClr val="16213A"/>
                </a:solidFill>
                <a:latin typeface="Arial"/>
                <a:ea typeface="Malgun Gothic"/>
                <a:cs typeface="Malgun Gothic"/>
              </a:rPr>
              <a:t>θ</a:t>
            </a:r>
            <a:r>
              <a:rPr sz="1050" b="0" i="0">
                <a:solidFill>
                  <a:srgbClr val="16213A"/>
                </a:solidFill>
                <a:latin typeface="Arial"/>
                <a:ea typeface="Malgun Gothic"/>
                <a:cs typeface="Malgun Gothic"/>
              </a:rPr>
              <a:t>로 표현되면(스플라인 등) </a:t>
            </a:r>
            <a:r>
              <a:rPr sz="1050" b="0" i="1">
                <a:solidFill>
                  <a:srgbClr val="16213A"/>
                </a:solidFill>
                <a:latin typeface="Arial"/>
                <a:ea typeface="Malgun Gothic"/>
                <a:cs typeface="Malgun Gothic"/>
              </a:rPr>
              <a:t>vₖ</a:t>
            </a:r>
            <a:r>
              <a:rPr sz="1050" b="0" i="0">
                <a:solidFill>
                  <a:srgbClr val="16213A"/>
                </a:solidFill>
                <a:latin typeface="Arial"/>
                <a:ea typeface="Malgun Gothic"/>
                <a:cs typeface="Malgun Gothic"/>
              </a:rPr>
              <a:t> 자리에 </a:t>
            </a:r>
            <a:r>
              <a:rPr sz="1050" b="0" i="1">
                <a:solidFill>
                  <a:srgbClr val="16213A"/>
                </a:solidFill>
                <a:latin typeface="Arial"/>
                <a:ea typeface="Malgun Gothic"/>
                <a:cs typeface="Malgun Gothic"/>
              </a:rPr>
              <a:t>(∂ π)/(∂ θ)Δθₖ</a:t>
            </a:r>
            <a:r>
              <a:rPr sz="1050" b="0" i="0">
                <a:solidFill>
                  <a:srgbClr val="16213A"/>
                </a:solidFill>
                <a:latin typeface="Arial"/>
                <a:ea typeface="Malgun Gothic"/>
                <a:cs typeface="Malgun Gothic"/>
              </a:rPr>
              <a:t>가 들어가고, 정책이 상태에 직접 의존하는 몫 </a:t>
            </a:r>
            <a:r>
              <a:rPr sz="1050" b="0" i="1">
                <a:solidFill>
                  <a:srgbClr val="16213A"/>
                </a:solidFill>
                <a:latin typeface="Arial"/>
                <a:ea typeface="Malgun Gothic"/>
                <a:cs typeface="Malgun Gothic"/>
              </a:rPr>
              <a:t>(∂ π)/(∂ x₀)</a:t>
            </a:r>
            <a:r>
              <a:rPr sz="1050" b="0" i="0">
                <a:solidFill>
                  <a:srgbClr val="16213A"/>
                </a:solidFill>
                <a:latin typeface="Arial"/>
                <a:ea typeface="Malgun Gothic"/>
                <a:cs typeface="Malgun Gothic"/>
              </a:rPr>
              <a:t>이 더해진다. 실행은 </a:t>
            </a:r>
            <a:r>
              <a:rPr sz="1050" b="0" i="1">
                <a:solidFill>
                  <a:srgbClr val="16213A"/>
                </a:solidFill>
                <a:latin typeface="Arial"/>
                <a:ea typeface="Malgun Gothic"/>
                <a:cs typeface="Malgun Gothic"/>
              </a:rPr>
              <a:t>u = u^⋆ + F (x - xₛₑₜ)</a:t>
            </a:r>
            <a:r>
              <a:rPr sz="1050" b="0" i="0">
                <a:solidFill>
                  <a:srgbClr val="16213A"/>
                </a:solidFill>
                <a:latin typeface="Arial"/>
                <a:ea typeface="Malgun Gothic"/>
                <a:cs typeface="Malgun Gothic"/>
              </a:rPr>
              <a:t>이고, 설정점은 </a:t>
            </a:r>
            <a:r>
              <a:rPr sz="1050" b="0" i="1">
                <a:solidFill>
                  <a:srgbClr val="16213A"/>
                </a:solidFill>
                <a:latin typeface="Arial"/>
                <a:ea typeface="Malgun Gothic"/>
                <a:cs typeface="Malgun Gothic"/>
              </a:rPr>
              <a:t>x₀</a:t>
            </a:r>
            <a:r>
              <a:rPr sz="1050" b="0" i="0">
                <a:solidFill>
                  <a:srgbClr val="16213A"/>
                </a:solidFill>
                <a:latin typeface="Arial"/>
                <a:ea typeface="Malgun Gothic"/>
                <a:cs typeface="Malgun Gothic"/>
              </a:rPr>
              <a:t>와 </a:t>
            </a:r>
            <a:r>
              <a:rPr sz="1050" b="0" i="1">
                <a:solidFill>
                  <a:srgbClr val="16213A"/>
                </a:solidFill>
                <a:latin typeface="Arial"/>
                <a:ea typeface="Malgun Gothic"/>
                <a:cs typeface="Malgun Gothic"/>
              </a:rPr>
              <a:t>x₁</a:t>
            </a:r>
            <a:r>
              <a:rPr sz="1050" b="0" i="0">
                <a:solidFill>
                  <a:srgbClr val="16213A"/>
                </a:solidFill>
                <a:latin typeface="Arial"/>
                <a:ea typeface="Malgun Gothic"/>
                <a:cs typeface="Malgun Gothic"/>
              </a:rPr>
              <a:t> 사이를 보간한다. 논문은 </a:t>
            </a:r>
            <a:r>
              <a:rPr sz="1050" b="0" i="1">
                <a:solidFill>
                  <a:srgbClr val="16213A"/>
                </a:solidFill>
                <a:latin typeface="Arial"/>
                <a:ea typeface="Malgun Gothic"/>
                <a:cs typeface="Malgun Gothic"/>
              </a:rPr>
              <a:t>vₖ</a:t>
            </a:r>
            <a:r>
              <a:rPr sz="1050" b="0" i="0">
                <a:solidFill>
                  <a:srgbClr val="16213A"/>
                </a:solidFill>
                <a:latin typeface="Arial"/>
                <a:ea typeface="Malgun Gothic"/>
                <a:cs typeface="Malgun Gothic"/>
              </a:rPr>
              <a:t> 자리에 명목에서의 섭동 </a:t>
            </a:r>
            <a:r>
              <a:rPr sz="1050" b="0" i="1">
                <a:solidFill>
                  <a:srgbClr val="16213A"/>
                </a:solidFill>
                <a:latin typeface="Arial"/>
                <a:ea typeface="Malgun Gothic"/>
                <a:cs typeface="Malgun Gothic"/>
              </a:rPr>
              <a:t>Δ u₀^k</a:t>
            </a:r>
            <a:r>
              <a:rPr sz="1050" b="0" i="0">
                <a:solidFill>
                  <a:srgbClr val="16213A"/>
                </a:solidFill>
                <a:latin typeface="Arial"/>
                <a:ea typeface="Malgun Gothic"/>
                <a:cs typeface="Malgun Gothic"/>
              </a:rPr>
              <a:t>를 쓴다. 논문 Eq. 13은 앞의 −가 없다. 직접 미분하면 −가 나온다. 구현을 옮길 때는 부호를 확인한다.</a:t>
            </a:r>
          </a:p>
        </p:txBody>
      </p:sp>
      <p:sp>
        <p:nvSpPr>
          <p:cNvPr id="8" name="TextBox 7"/>
          <p:cNvSpPr txBox="1"/>
          <p:nvPr/>
        </p:nvSpPr>
        <p:spPr>
          <a:xfrm>
            <a:off x="609600" y="257304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기울기 </a:t>
            </a:r>
            <a:r>
              <a:rPr sz="1050" b="0" i="1">
                <a:solidFill>
                  <a:srgbClr val="16213A"/>
                </a:solidFill>
                <a:latin typeface="Arial"/>
                <a:ea typeface="Malgun Gothic"/>
                <a:cs typeface="Malgun Gothic"/>
              </a:rPr>
              <a:t>∂ Jₖ / ∂ x₀</a:t>
            </a:r>
            <a:r>
              <a:rPr sz="1050" b="0" i="0">
                <a:solidFill>
                  <a:srgbClr val="16213A"/>
                </a:solidFill>
                <a:latin typeface="Arial"/>
                <a:ea typeface="Malgun Gothic"/>
                <a:cs typeface="Malgun Gothic"/>
              </a:rPr>
              <a:t>가 필요하다. travplan의 </a:t>
            </a:r>
            <a:r>
              <a:rPr sz="1050" b="0" i="0">
                <a:solidFill>
                  <a:srgbClr val="16213A"/>
                </a:solidFill>
                <a:latin typeface="Consolas"/>
                <a:ea typeface="Malgun Gothic"/>
                <a:cs typeface="Malgun Gothic"/>
              </a:rPr>
              <a:t>CostTerm</a:t>
            </a:r>
            <a:r>
              <a:rPr sz="1050" b="0" i="0">
                <a:solidFill>
                  <a:srgbClr val="16213A"/>
                </a:solidFill>
                <a:latin typeface="Arial"/>
                <a:ea typeface="Malgun Gothic"/>
                <a:cs typeface="Malgun Gothic"/>
              </a:rPr>
              <a:t>은 TravMap 조회와 문턱 함수가 많아 이 값이 거의 0이다. 그래서 그대로는 쓰지 않는다.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MPPI 계열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B.5 Controller 쪽 참고: 학습 prior를 MPPI에 넣는 법과 SMPPI</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15 / 183</a:t>
            </a:r>
          </a:p>
        </p:txBody>
      </p:sp>
      <p:sp>
        <p:nvSpPr>
          <p:cNvPr id="5" name="TextBox 4"/>
          <p:cNvSpPr txBox="1"/>
          <p:nvPr/>
        </p:nvSpPr>
        <p:spPr>
          <a:xfrm>
            <a:off x="609600" y="1244600"/>
            <a:ext cx="10972800" cy="343495"/>
          </a:xfrm>
          <a:prstGeom prst="rect">
            <a:avLst/>
          </a:prstGeom>
          <a:solidFill>
            <a:srgbClr val="EEF1F6"/>
          </a:solidFill>
        </p:spPr>
        <p:txBody>
          <a:bodyPr wrap="square" lIns="114300" rIns="114300" tIns="63500" bIns="63500" anchor="t">
            <a:spAutoFit/>
            <a:normAutofit/>
          </a:bodyPr>
          <a:lstStyle/>
          <a:p>
            <a:r>
              <a:rPr sz="1050" b="0" i="0">
                <a:solidFill>
                  <a:srgbClr val="33405A"/>
                </a:solidFill>
                <a:latin typeface="Arial"/>
                <a:ea typeface="Malgun Gothic"/>
                <a:cs typeface="Malgun Gothic"/>
              </a:rPr>
              <a:t>MPPI는 2026-09-25에 Controller로 분리되어 개발 계획에서 빠졌다. 이 절은 Controller를 손볼 때 볼 기록이다.</a:t>
            </a:r>
          </a:p>
        </p:txBody>
      </p:sp>
      <p:sp>
        <p:nvSpPr>
          <p:cNvPr id="6" name="TextBox 5"/>
          <p:cNvSpPr txBox="1"/>
          <p:nvPr/>
        </p:nvSpPr>
        <p:spPr>
          <a:xfrm>
            <a:off x="609600" y="16769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ProxPI</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arXiv:2609.00941</a:t>
            </a:r>
            <a:r>
              <a:rPr sz="1050" b="0" i="0">
                <a:solidFill>
                  <a:srgbClr val="16213A"/>
                </a:solidFill>
                <a:latin typeface="Arial"/>
                <a:ea typeface="Malgun Gothic"/>
                <a:cs typeface="Malgun Gothic"/>
              </a:rPr>
              <a:t>) — 학습 prior를 MPPI에 넣을 때, 샘플링 분포의 </a:t>
            </a:r>
            <a:r>
              <a:rPr sz="1050" b="1" i="0">
                <a:solidFill>
                  <a:srgbClr val="16213A"/>
                </a:solidFill>
                <a:latin typeface="Arial"/>
                <a:ea typeface="Malgun Gothic"/>
                <a:cs typeface="Malgun Gothic"/>
              </a:rPr>
              <a:t>평균을 prior로 옮기면</a:t>
            </a:r>
            <a:r>
              <a:rPr sz="1050" b="0" i="0">
                <a:solidFill>
                  <a:srgbClr val="16213A"/>
                </a:solidFill>
                <a:latin typeface="Arial"/>
                <a:ea typeface="Malgun Gothic"/>
                <a:cs typeface="Malgun Gothic"/>
              </a:rPr>
              <a:t> prior가 틀린 경우 최적화기의 보정이 매번 버려져 성능이 떨어진다고 지적한다. 대신 prior를 </a:t>
            </a:r>
            <a:r>
              <a:rPr sz="1050" b="1" i="0">
                <a:solidFill>
                  <a:srgbClr val="16213A"/>
                </a:solidFill>
                <a:latin typeface="Arial"/>
                <a:ea typeface="Malgun Gothic"/>
                <a:cs typeface="Malgun Gothic"/>
              </a:rPr>
              <a:t>부드러운 근접 비용 항으로만</a:t>
            </a:r>
            <a:r>
              <a:rPr sz="1050" b="0" i="0">
                <a:solidFill>
                  <a:srgbClr val="16213A"/>
                </a:solidFill>
                <a:latin typeface="Arial"/>
                <a:ea typeface="Malgun Gothic"/>
                <a:cs typeface="Malgun Gothic"/>
              </a:rPr>
              <a:t> 넣으라고 제안한다. 그러면 prior가 틀려도 다른 비용 항(예: traversability)이 해를 바로잡을 수 있다. 실제 로봇과 시뮬레이션에서 검증했다.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MPPI 계열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B.5 Controller 쪽 참고: 학습 prior를 MPPI에 넣는 법과 SMPPI</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16 / 183</a:t>
            </a:r>
          </a:p>
        </p:txBody>
      </p:sp>
      <p:pic>
        <p:nvPicPr>
          <p:cNvPr id="5" name="Picture 4" descr="image.jpg"/>
          <p:cNvPicPr>
            <a:picLocks noChangeAspect="1"/>
          </p:cNvPicPr>
          <p:nvPr/>
        </p:nvPicPr>
        <p:blipFill>
          <a:blip r:embed="rId3"/>
          <a:stretch>
            <a:fillRect/>
          </a:stretch>
        </p:blipFill>
        <p:spPr>
          <a:xfrm>
            <a:off x="1016000" y="1244600"/>
            <a:ext cx="10160000" cy="4044950"/>
          </a:xfrm>
          <a:prstGeom prst="rect">
            <a:avLst/>
          </a:prstGeom>
        </p:spPr>
      </p:pic>
      <p:sp>
        <p:nvSpPr>
          <p:cNvPr id="6" name="TextBox 5"/>
          <p:cNvSpPr txBox="1"/>
          <p:nvPr/>
        </p:nvSpPr>
        <p:spPr>
          <a:xfrm>
            <a:off x="1016000" y="532765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ProxPI (Fig. 2): prior가 틀릴 때 기본 MPPI / 워밍스타트 / ProxPI의 행동 비교(5개 로봇). 출처: arXiv:2609.00941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MPPI 계열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B.5 Controller 쪽 참고: 학습 prior를 MPPI에 넣는 법과 SMPPI</a:t>
            </a:r>
            <a:r>
              <a:rPr sz="1050" b="0" i="0">
                <a:solidFill>
                  <a:srgbClr val="5A6478"/>
                </a:solidFill>
                <a:latin typeface="Arial"/>
                <a:ea typeface="Malgun Gothic"/>
                <a:cs typeface="Malgun Gothic"/>
              </a:rPr>
              <a:t>  자세히: ProxPI의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17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두 가지 prior 주입 방식.</a:t>
            </a:r>
            <a:r>
              <a:rPr sz="1050" b="0" i="0">
                <a:solidFill>
                  <a:srgbClr val="16213A"/>
                </a:solidFill>
                <a:latin typeface="Arial"/>
                <a:ea typeface="Malgun Gothic"/>
                <a:cs typeface="Malgun Gothic"/>
              </a:rPr>
              <a:t> 학습 prior가 제어열 </a:t>
            </a:r>
            <a:r>
              <a:rPr sz="1050" b="0" i="1">
                <a:solidFill>
                  <a:srgbClr val="16213A"/>
                </a:solidFill>
                <a:latin typeface="Arial"/>
                <a:ea typeface="Malgun Gothic"/>
                <a:cs typeface="Malgun Gothic"/>
              </a:rPr>
              <a:t>Uₚ</a:t>
            </a:r>
            <a:r>
              <a:rPr sz="1050" b="0" i="0">
                <a:solidFill>
                  <a:srgbClr val="16213A"/>
                </a:solidFill>
                <a:latin typeface="Arial"/>
                <a:ea typeface="Malgun Gothic"/>
                <a:cs typeface="Malgun Gothic"/>
              </a:rPr>
              <a:t>를 줄 때, 샘플링 분포를 prior로 옮기는 워밍스타트와, 샘플링은 그대로 두고 비용에 근접 항을 더하는 ProxPI가 있다.</a:t>
            </a:r>
          </a:p>
        </p:txBody>
      </p:sp>
      <p:pic>
        <p:nvPicPr>
          <p:cNvPr id="6" name="Picture 5" descr="image.png"/>
          <p:cNvPicPr>
            <a:picLocks noChangeAspect="1"/>
          </p:cNvPicPr>
          <p:nvPr/>
        </p:nvPicPr>
        <p:blipFill>
          <a:blip r:embed="rId3"/>
          <a:stretch>
            <a:fillRect/>
          </a:stretch>
        </p:blipFill>
        <p:spPr>
          <a:xfrm>
            <a:off x="609600" y="1549995"/>
            <a:ext cx="5368925" cy="241300"/>
          </a:xfrm>
          <a:prstGeom prst="rect">
            <a:avLst/>
          </a:prstGeom>
        </p:spPr>
      </p:pic>
      <p:sp>
        <p:nvSpPr>
          <p:cNvPr id="7" name="TextBox 6"/>
          <p:cNvSpPr txBox="1"/>
          <p:nvPr/>
        </p:nvSpPr>
        <p:spPr>
          <a:xfrm>
            <a:off x="609600" y="182751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ProxPI의 목표 분포는 MPPI 우도와 "평균 </a:t>
            </a:r>
            <a:r>
              <a:rPr sz="1050" b="0" i="1">
                <a:solidFill>
                  <a:srgbClr val="16213A"/>
                </a:solidFill>
                <a:latin typeface="Arial"/>
                <a:ea typeface="Malgun Gothic"/>
                <a:cs typeface="Malgun Gothic"/>
              </a:rPr>
              <a:t>Uₚ</a:t>
            </a:r>
            <a:r>
              <a:rPr sz="1050" b="0" i="0">
                <a:solidFill>
                  <a:srgbClr val="16213A"/>
                </a:solidFill>
                <a:latin typeface="Arial"/>
                <a:ea typeface="Malgun Gothic"/>
                <a:cs typeface="Malgun Gothic"/>
              </a:rPr>
              <a:t>, 공분산 </a:t>
            </a:r>
            <a:r>
              <a:rPr sz="1050" b="0" i="1">
                <a:solidFill>
                  <a:srgbClr val="16213A"/>
                </a:solidFill>
                <a:latin typeface="Arial"/>
                <a:ea typeface="Malgun Gothic"/>
                <a:cs typeface="Malgun Gothic"/>
              </a:rPr>
              <a:t>λ/2α I</a:t>
            </a:r>
            <a:r>
              <a:rPr sz="1050" b="0" i="0">
                <a:solidFill>
                  <a:srgbClr val="16213A"/>
                </a:solidFill>
                <a:latin typeface="Arial"/>
                <a:ea typeface="Malgun Gothic"/>
                <a:cs typeface="Malgun Gothic"/>
              </a:rPr>
              <a:t>"인 가우시안 prior의 곱이다. 둘 다 같은 중심을 쓰지만 폭이 다르다.</a:t>
            </a:r>
          </a:p>
        </p:txBody>
      </p:sp>
      <p:pic>
        <p:nvPicPr>
          <p:cNvPr id="8" name="Picture 7" descr="image.png"/>
          <p:cNvPicPr>
            <a:picLocks noChangeAspect="1"/>
          </p:cNvPicPr>
          <p:nvPr/>
        </p:nvPicPr>
        <p:blipFill>
          <a:blip r:embed="rId4"/>
          <a:stretch>
            <a:fillRect/>
          </a:stretch>
        </p:blipFill>
        <p:spPr>
          <a:xfrm>
            <a:off x="609600" y="2132905"/>
            <a:ext cx="3829050" cy="241300"/>
          </a:xfrm>
          <a:prstGeom prst="rect">
            <a:avLst/>
          </a:prstGeom>
        </p:spPr>
      </p:pic>
      <p:sp>
        <p:nvSpPr>
          <p:cNvPr id="9" name="TextBox 8"/>
          <p:cNvSpPr txBox="1"/>
          <p:nvPr/>
        </p:nvSpPr>
        <p:spPr>
          <a:xfrm>
            <a:off x="609600" y="241042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ProxPI가 나은가.</a:t>
            </a:r>
            <a:r>
              <a:rPr sz="1050" b="0" i="0">
                <a:solidFill>
                  <a:srgbClr val="16213A"/>
                </a:solidFill>
                <a:latin typeface="Arial"/>
                <a:ea typeface="Malgun Gothic"/>
                <a:cs typeface="Malgun Gothic"/>
              </a:rPr>
              <a:t> 과제 비용을 국소 2차식 </a:t>
            </a:r>
            <a:r>
              <a:rPr sz="1050" b="0" i="1">
                <a:solidFill>
                  <a:srgbClr val="16213A"/>
                </a:solidFill>
                <a:latin typeface="Arial"/>
                <a:ea typeface="Malgun Gothic"/>
                <a:cs typeface="Malgun Gothic"/>
              </a:rPr>
              <a:t>S ≈ S(U*) + 1/2 ‖ V - U* ‖_H²</a:t>
            </a:r>
            <a:r>
              <a:rPr sz="1050" b="0" i="0">
                <a:solidFill>
                  <a:srgbClr val="16213A"/>
                </a:solidFill>
                <a:latin typeface="Arial"/>
                <a:ea typeface="Malgun Gothic"/>
                <a:cs typeface="Malgun Gothic"/>
              </a:rPr>
              <a:t>로 근사하면, 반복 갱신은 과제 최적 </a:t>
            </a:r>
            <a:r>
              <a:rPr sz="1050" b="0" i="1">
                <a:solidFill>
                  <a:srgbClr val="16213A"/>
                </a:solidFill>
                <a:latin typeface="Arial"/>
                <a:ea typeface="Malgun Gothic"/>
                <a:cs typeface="Malgun Gothic"/>
              </a:rPr>
              <a:t>U*</a:t>
            </a:r>
            <a:r>
              <a:rPr sz="1050" b="0" i="0">
                <a:solidFill>
                  <a:srgbClr val="16213A"/>
                </a:solidFill>
                <a:latin typeface="Arial"/>
                <a:ea typeface="Malgun Gothic"/>
                <a:cs typeface="Malgun Gothic"/>
              </a:rPr>
              <a:t>와 prior </a:t>
            </a:r>
            <a:r>
              <a:rPr sz="1050" b="0" i="1">
                <a:solidFill>
                  <a:srgbClr val="16213A"/>
                </a:solidFill>
                <a:latin typeface="Arial"/>
                <a:ea typeface="Malgun Gothic"/>
                <a:cs typeface="Malgun Gothic"/>
              </a:rPr>
              <a:t>Uₚ</a:t>
            </a:r>
            <a:r>
              <a:rPr sz="1050" b="0" i="0">
                <a:solidFill>
                  <a:srgbClr val="16213A"/>
                </a:solidFill>
                <a:latin typeface="Arial"/>
                <a:ea typeface="Malgun Gothic"/>
                <a:cs typeface="Malgun Gothic"/>
              </a:rPr>
              <a:t> 사이의 고정점으로 수렴한다.</a:t>
            </a:r>
          </a:p>
        </p:txBody>
      </p:sp>
      <p:pic>
        <p:nvPicPr>
          <p:cNvPr id="10" name="Picture 9" descr="image.png"/>
          <p:cNvPicPr>
            <a:picLocks noChangeAspect="1"/>
          </p:cNvPicPr>
          <p:nvPr/>
        </p:nvPicPr>
        <p:blipFill>
          <a:blip r:embed="rId5"/>
          <a:stretch>
            <a:fillRect/>
          </a:stretch>
        </p:blipFill>
        <p:spPr>
          <a:xfrm>
            <a:off x="609600" y="2715816"/>
            <a:ext cx="4794250" cy="241300"/>
          </a:xfrm>
          <a:prstGeom prst="rect">
            <a:avLst/>
          </a:prstGeom>
        </p:spPr>
      </p:pic>
      <p:sp>
        <p:nvSpPr>
          <p:cNvPr id="11" name="TextBox 10"/>
          <p:cNvSpPr txBox="1"/>
          <p:nvPr/>
        </p:nvSpPr>
        <p:spPr>
          <a:xfrm>
            <a:off x="609600" y="299333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ProxPI는 이전 해 </a:t>
            </a:r>
            <a:r>
              <a:rPr sz="1050" b="0" i="1">
                <a:solidFill>
                  <a:srgbClr val="16213A"/>
                </a:solidFill>
                <a:latin typeface="Arial"/>
                <a:ea typeface="Malgun Gothic"/>
                <a:cs typeface="Malgun Gothic"/>
              </a:rPr>
              <a:t>U_j</a:t>
            </a:r>
            <a:r>
              <a:rPr sz="1050" b="0" i="0">
                <a:solidFill>
                  <a:srgbClr val="16213A"/>
                </a:solidFill>
                <a:latin typeface="Arial"/>
                <a:ea typeface="Malgun Gothic"/>
                <a:cs typeface="Malgun Gothic"/>
              </a:rPr>
              <a:t>를 중심으로 샘플링하므로 </a:t>
            </a:r>
            <a:r>
              <a:rPr sz="1050" b="1" i="0">
                <a:solidFill>
                  <a:srgbClr val="16213A"/>
                </a:solidFill>
                <a:latin typeface="Arial"/>
                <a:ea typeface="Malgun Gothic"/>
                <a:cs typeface="Malgun Gothic"/>
              </a:rPr>
              <a:t>보정이 반복마다 쌓인다.</a:t>
            </a:r>
            <a:r>
              <a:rPr sz="1050" b="0" i="0">
                <a:solidFill>
                  <a:srgbClr val="16213A"/>
                </a:solidFill>
                <a:latin typeface="Arial"/>
                <a:ea typeface="Malgun Gothic"/>
                <a:cs typeface="Malgun Gothic"/>
              </a:rPr>
              <a:t> 워밍스타트는 매번 </a:t>
            </a:r>
            <a:r>
              <a:rPr sz="1050" b="0" i="1">
                <a:solidFill>
                  <a:srgbClr val="16213A"/>
                </a:solidFill>
                <a:latin typeface="Arial"/>
                <a:ea typeface="Malgun Gothic"/>
                <a:cs typeface="Malgun Gothic"/>
              </a:rPr>
              <a:t>Uₚ</a:t>
            </a:r>
            <a:r>
              <a:rPr sz="1050" b="0" i="0">
                <a:solidFill>
                  <a:srgbClr val="16213A"/>
                </a:solidFill>
                <a:latin typeface="Arial"/>
                <a:ea typeface="Malgun Gothic"/>
                <a:cs typeface="Malgun Gothic"/>
              </a:rPr>
              <a:t>로 중심을 되돌려 이 보정을 버린다. 또 prior가 목표 분포에서 멀면 가중치가 몇 샘플에 몰려(유효 샘플 수 감소, </a:t>
            </a:r>
            <a:r>
              <a:rPr sz="1050" b="0" i="1">
                <a:solidFill>
                  <a:srgbClr val="16213A"/>
                </a:solidFill>
                <a:latin typeface="Arial"/>
                <a:ea typeface="Malgun Gothic"/>
                <a:cs typeface="Malgun Gothic"/>
              </a:rPr>
              <a:t>χ²</a:t>
            </a:r>
            <a:r>
              <a:rPr sz="1050" b="0" i="0">
                <a:solidFill>
                  <a:srgbClr val="16213A"/>
                </a:solidFill>
                <a:latin typeface="Arial"/>
                <a:ea typeface="Malgun Gothic"/>
                <a:cs typeface="Malgun Gothic"/>
              </a:rPr>
              <a:t> 발산으로 측정) 추정이 흔들린다.</a:t>
            </a:r>
          </a:p>
        </p:txBody>
      </p:sp>
      <p:sp>
        <p:nvSpPr>
          <p:cNvPr id="12" name="TextBox 11"/>
          <p:cNvSpPr txBox="1"/>
          <p:nvPr/>
        </p:nvSpPr>
        <p:spPr>
          <a:xfrm>
            <a:off x="609600" y="351522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MPPIController</a:t>
            </a:r>
            <a:r>
              <a:rPr sz="1050" b="0" i="0">
                <a:solidFill>
                  <a:srgbClr val="16213A"/>
                </a:solidFill>
                <a:latin typeface="Arial"/>
                <a:ea typeface="Malgun Gothic"/>
                <a:cs typeface="Malgun Gothic"/>
              </a:rPr>
              <a:t>는 Planner 경로를 </a:t>
            </a:r>
            <a:r>
              <a:rPr sz="1050" b="0" i="0">
                <a:solidFill>
                  <a:srgbClr val="16213A"/>
                </a:solidFill>
                <a:latin typeface="Consolas"/>
                <a:ea typeface="Malgun Gothic"/>
                <a:cs typeface="Malgun Gothic"/>
              </a:rPr>
              <a:t>ReferenceCost</a:t>
            </a:r>
            <a:r>
              <a:rPr sz="1050" b="0" i="0">
                <a:solidFill>
                  <a:srgbClr val="16213A"/>
                </a:solidFill>
                <a:latin typeface="Arial"/>
                <a:ea typeface="Malgun Gothic"/>
                <a:cs typeface="Malgun Gothic"/>
              </a:rPr>
              <a:t>(비용)로 받고, 샘플의 30%만 경로 추종 제어열 주변에서 뽑는다. ProxPI 분석대로라면 이 30% 혼합보다 비용 항만 쓰는 편이 prior가 틀릴 때 더 안전할 수 있다. Controller 튜닝 때 비교할 항목이다.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MPPI 계열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B.5 Controller 쪽 참고: 학습 prior를 MPPI에 넣는 법과 SMPPI</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18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travplan의 </a:t>
            </a:r>
            <a:r>
              <a:rPr sz="1050" b="0" i="0">
                <a:solidFill>
                  <a:srgbClr val="16213A"/>
                </a:solidFill>
                <a:latin typeface="Consolas"/>
                <a:ea typeface="Malgun Gothic"/>
                <a:cs typeface="Malgun Gothic"/>
              </a:rPr>
              <a:t>MPPIController</a:t>
            </a:r>
            <a:r>
              <a:rPr sz="1050" b="0" i="0">
                <a:solidFill>
                  <a:srgbClr val="16213A"/>
                </a:solidFill>
                <a:latin typeface="Arial"/>
                <a:ea typeface="Malgun Gothic"/>
                <a:cs typeface="Malgun Gothic"/>
              </a:rPr>
              <a:t>는 이미 이 방향에 가깝다. Planner의 경로를 </a:t>
            </a:r>
            <a:r>
              <a:rPr sz="1050" b="1" i="0">
                <a:solidFill>
                  <a:srgbClr val="16213A"/>
                </a:solidFill>
                <a:latin typeface="Consolas"/>
                <a:ea typeface="Malgun Gothic"/>
                <a:cs typeface="Malgun Gothic"/>
              </a:rPr>
              <a:t>ReferenceCost</a:t>
            </a:r>
            <a:r>
              <a:rPr sz="1050" b="1" i="0">
                <a:solidFill>
                  <a:srgbClr val="16213A"/>
                </a:solidFill>
                <a:latin typeface="Arial"/>
                <a:ea typeface="Malgun Gothic"/>
                <a:cs typeface="Malgun Gothic"/>
              </a:rPr>
              <a:t>라는 비용 항</a:t>
            </a:r>
            <a:r>
              <a:rPr sz="1050" b="0" i="0">
                <a:solidFill>
                  <a:srgbClr val="16213A"/>
                </a:solidFill>
                <a:latin typeface="Arial"/>
                <a:ea typeface="Malgun Gothic"/>
                <a:cs typeface="Malgun Gothic"/>
              </a:rPr>
              <a:t>으로 받고, 샘플의 30%만 그 경로를 따라가는 제어열 주변에서 뽑는다(평균을 통째로 옮기지 않는다). ProxPI 형태의 비용 항은 다음처럼 쓸 수 있다.</a:t>
            </a:r>
          </a:p>
        </p:txBody>
      </p:sp>
      <p:sp>
        <p:nvSpPr>
          <p:cNvPr id="6" name="TextBox 5"/>
          <p:cNvSpPr txBox="1"/>
          <p:nvPr/>
        </p:nvSpPr>
        <p:spPr>
          <a:xfrm>
            <a:off x="609600" y="1766491"/>
            <a:ext cx="10972800" cy="1355725"/>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 control/mppi/costs.py::CostTerm 인터페이스 예시 (ProxPI 스타일)</a:t>
            </a:r>
          </a:p>
          <a:p>
            <a:r>
              <a:rPr sz="750" b="0" i="0">
                <a:solidFill>
                  <a:srgbClr val="F4F1EA"/>
                </a:solidFill>
                <a:latin typeface="Consolas"/>
                <a:ea typeface="Malgun Gothic"/>
                <a:cs typeface="Malgun Gothic"/>
              </a:rPr>
              <a:t>class ProximityCost:</a:t>
            </a:r>
          </a:p>
          <a:p>
            <a:r>
              <a:rPr sz="750" b="0" i="0">
                <a:solidFill>
                  <a:srgbClr val="F4F1EA"/>
                </a:solidFill>
                <a:latin typeface="Consolas"/>
                <a:ea typeface="Malgun Gothic"/>
                <a:cs typeface="Malgun Gothic"/>
              </a:rPr>
              <a:t>    """Planner 경로에서 멀어질수록 비용을 준다. 샘플링 평균은 건드리지 않으므로,</a:t>
            </a:r>
          </a:p>
          <a:p>
            <a:r>
              <a:rPr sz="750" b="0" i="0">
                <a:solidFill>
                  <a:srgbClr val="F4F1EA"/>
                </a:solidFill>
                <a:latin typeface="Consolas"/>
                <a:ea typeface="Malgun Gothic"/>
                <a:cs typeface="Malgun Gothic"/>
              </a:rPr>
              <a:t>    경로가 틀려도 TraversabilityCost 같은 다른 항이 해를 되돌릴 수 있다."""</a:t>
            </a:r>
          </a:p>
          <a:p>
            <a:r>
              <a:rPr sz="750" b="0" i="0">
                <a:solidFill>
                  <a:srgbClr val="F4F1EA"/>
                </a:solidFill>
                <a:latin typeface="Consolas"/>
                <a:ea typeface="Malgun Gothic"/>
                <a:cs typeface="Malgun Gothic"/>
              </a:rPr>
              <a:t>    def __call__(self, ctx):</a:t>
            </a:r>
          </a:p>
          <a:p>
            <a:r>
              <a:rPr sz="750" b="0" i="0">
                <a:solidFill>
                  <a:srgbClr val="F4F1EA"/>
                </a:solidFill>
                <a:latin typeface="Consolas"/>
                <a:ea typeface="Malgun Gothic"/>
                <a:cs typeface="Malgun Gothic"/>
              </a:rPr>
              <a:t>        xy = ctx.poses[:, 1:, :2]                                   # [K, T, 2]</a:t>
            </a:r>
          </a:p>
          <a:p>
            <a:r>
              <a:rPr sz="750" b="0" i="0">
                <a:solidFill>
                  <a:srgbClr val="F4F1EA"/>
                </a:solidFill>
                <a:latin typeface="Consolas"/>
                <a:ea typeface="Malgun Gothic"/>
                <a:cs typeface="Malgun Gothic"/>
              </a:rPr>
              <a:t>        d = torch.cdist(xy.reshape(-1, 2), ctx.ref_xy).min(-1).values</a:t>
            </a:r>
          </a:p>
          <a:p>
            <a:r>
              <a:rPr sz="750" b="0" i="0">
                <a:solidFill>
                  <a:srgbClr val="F4F1EA"/>
                </a:solidFill>
                <a:latin typeface="Consolas"/>
                <a:ea typeface="Malgun Gothic"/>
                <a:cs typeface="Malgun Gothic"/>
              </a:rPr>
              <a:t>        return weight * d.reshape(xy.shape[:2]).pow(2).sum(-1)       # [K]</a:t>
            </a:r>
          </a:p>
        </p:txBody>
      </p:sp>
      <p:sp>
        <p:nvSpPr>
          <p:cNvPr id="7" name="TextBox 6"/>
          <p:cNvSpPr txBox="1"/>
          <p:nvPr/>
        </p:nvSpPr>
        <p:spPr>
          <a:xfrm>
            <a:off x="609600" y="321111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Self-Supervised MPC Initialization</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arXiv:2408.03394</a:t>
            </a:r>
            <a:r>
              <a:rPr sz="1050" b="0" i="0">
                <a:solidFill>
                  <a:srgbClr val="16213A"/>
                </a:solidFill>
                <a:latin typeface="Arial"/>
                <a:ea typeface="Malgun Gothic"/>
                <a:cs typeface="Malgun Gothic"/>
              </a:rPr>
              <a:t>)은 MPC의 초기해(워밍스타트)를 학습한다. 결정론적 MPC에서 21.6%·34.1% 개선을, 샘플링 MPC에서 안전 +100%, 경로 효율 +12.8%, 조향 매끄러움 +7.2%를 보고했다. </a:t>
            </a:r>
            <a:r>
              <a:rPr sz="1050" b="1" i="0">
                <a:solidFill>
                  <a:srgbClr val="16213A"/>
                </a:solidFill>
                <a:latin typeface="Arial"/>
                <a:ea typeface="Malgun Gothic"/>
                <a:cs typeface="Malgun Gothic"/>
              </a:rPr>
              <a:t>π-MPPI</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arXiv:2504.10962</a:t>
            </a:r>
            <a:r>
              <a:rPr sz="1050" b="0" i="0">
                <a:solidFill>
                  <a:srgbClr val="16213A"/>
                </a:solidFill>
                <a:latin typeface="Arial"/>
                <a:ea typeface="Malgun Gothic"/>
                <a:cs typeface="Malgun Gothic"/>
              </a:rPr>
              <a:t>)는 이름과 달리 워밍스타트 학습이 아니다. MPPI 샘플마다 QP 투영 필터를 걸어 제어의 크기와 도함수 한계를 보장하는 방법이고(고정익 비행체), 학습은 그 QP 풀이기의 초기값에만 쓴다. 두 연구 모두 검증은 시뮬레이션뿐이다.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MPPI 계열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B.5 Controller 쪽 참고: 학습 prior를 MPPI에 넣는 법과 SMPPI</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19 / 183</a:t>
            </a:r>
          </a:p>
        </p:txBody>
      </p:sp>
      <p:pic>
        <p:nvPicPr>
          <p:cNvPr id="5" name="Picture 4" descr="image.jpg"/>
          <p:cNvPicPr>
            <a:picLocks noChangeAspect="1"/>
          </p:cNvPicPr>
          <p:nvPr/>
        </p:nvPicPr>
        <p:blipFill>
          <a:blip r:embed="rId3"/>
          <a:stretch>
            <a:fillRect/>
          </a:stretch>
        </p:blipFill>
        <p:spPr>
          <a:xfrm>
            <a:off x="609600" y="1244600"/>
            <a:ext cx="5410200" cy="679450"/>
          </a:xfrm>
          <a:prstGeom prst="rect">
            <a:avLst/>
          </a:prstGeom>
        </p:spPr>
      </p:pic>
      <p:sp>
        <p:nvSpPr>
          <p:cNvPr id="6" name="TextBox 5"/>
          <p:cNvSpPr txBox="1"/>
          <p:nvPr/>
        </p:nvSpPr>
        <p:spPr>
          <a:xfrm>
            <a:off x="609600" y="196215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π-MPPI (Fig. 1): QP 투영 필터의 초기값을 예측하는 네트워크(MLP + 최적화 반복을 풀어 놓은 구조). 출처: arXiv:2504.10962</a:t>
            </a:r>
          </a:p>
        </p:txBody>
      </p:sp>
      <p:pic>
        <p:nvPicPr>
          <p:cNvPr id="7" name="Picture 6" descr="image.jpg"/>
          <p:cNvPicPr>
            <a:picLocks noChangeAspect="1"/>
          </p:cNvPicPr>
          <p:nvPr/>
        </p:nvPicPr>
        <p:blipFill>
          <a:blip r:embed="rId4"/>
          <a:stretch>
            <a:fillRect/>
          </a:stretch>
        </p:blipFill>
        <p:spPr>
          <a:xfrm>
            <a:off x="6172200" y="1244600"/>
            <a:ext cx="3162300" cy="2667000"/>
          </a:xfrm>
          <a:prstGeom prst="rect">
            <a:avLst/>
          </a:prstGeom>
        </p:spPr>
      </p:pic>
      <p:sp>
        <p:nvSpPr>
          <p:cNvPr id="8" name="TextBox 7"/>
          <p:cNvSpPr txBox="1"/>
          <p:nvPr/>
        </p:nvSpPr>
        <p:spPr>
          <a:xfrm>
            <a:off x="6172200" y="39497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Self-Supervised MPC Init (Fig. 1): 전문가 MPC 데모로 1차 학습 → 자기지도로 2차 개선하는 2단계 학습. 출처: arXiv:2408.03394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MPPI 계열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B.5 Controller 쪽 참고: 학습 prior를 MPPI에 넣는 법과 SMPPI</a:t>
            </a:r>
            <a:r>
              <a:rPr sz="1050" b="0" i="0">
                <a:solidFill>
                  <a:srgbClr val="5A6478"/>
                </a:solidFill>
                <a:latin typeface="Arial"/>
                <a:ea typeface="Malgun Gothic"/>
                <a:cs typeface="Malgun Gothic"/>
              </a:rPr>
              <a:t>  자세히: π-MPPI의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20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목표: 제어 도함수의 상한을 보장하는 MPPI.</a:t>
            </a:r>
            <a:r>
              <a:rPr sz="1050" b="0" i="0">
                <a:solidFill>
                  <a:srgbClr val="16213A"/>
                </a:solidFill>
                <a:latin typeface="Arial"/>
                <a:ea typeface="Malgun Gothic"/>
                <a:cs typeface="Malgun Gothic"/>
              </a:rPr>
              <a:t> 고정익 비행체(FWV)처럼 제어가 떨리면 안 되는 시스템에서, 사후 평활화는 도함수 한계를 보장하지 못한다. π-MPPI는 </a:t>
            </a:r>
            <a:r>
              <a:rPr sz="1050" b="1" i="0">
                <a:solidFill>
                  <a:srgbClr val="16213A"/>
                </a:solidFill>
                <a:latin typeface="Arial"/>
                <a:ea typeface="Malgun Gothic"/>
                <a:cs typeface="Malgun Gothic"/>
              </a:rPr>
              <a:t>샘플 하나하나를 projection filter로 최소한만 고쳐</a:t>
            </a:r>
            <a:r>
              <a:rPr sz="1050" b="0" i="0">
                <a:solidFill>
                  <a:srgbClr val="16213A"/>
                </a:solidFill>
                <a:latin typeface="Arial"/>
                <a:ea typeface="Malgun Gothic"/>
                <a:cs typeface="Malgun Gothic"/>
              </a:rPr>
              <a:t> 크기와 고차 도함수 한계를 만족시킨 뒤 MPPI 평균을 낸다.</a:t>
            </a:r>
          </a:p>
        </p:txBody>
      </p:sp>
      <p:pic>
        <p:nvPicPr>
          <p:cNvPr id="6" name="Picture 5" descr="image.png"/>
          <p:cNvPicPr>
            <a:picLocks noChangeAspect="1"/>
          </p:cNvPicPr>
          <p:nvPr/>
        </p:nvPicPr>
        <p:blipFill>
          <a:blip r:embed="rId3"/>
          <a:stretch>
            <a:fillRect/>
          </a:stretch>
        </p:blipFill>
        <p:spPr>
          <a:xfrm>
            <a:off x="609600" y="1766491"/>
            <a:ext cx="5048250" cy="301625"/>
          </a:xfrm>
          <a:prstGeom prst="rect">
            <a:avLst/>
          </a:prstGeom>
        </p:spPr>
      </p:pic>
      <p:sp>
        <p:nvSpPr>
          <p:cNvPr id="7" name="TextBox 6"/>
          <p:cNvSpPr txBox="1"/>
          <p:nvPr/>
        </p:nvSpPr>
        <p:spPr>
          <a:xfrm>
            <a:off x="609600" y="2095599"/>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유한 차분으로 쓰면 등식·부등식 제약이 있는 QP다(</a:t>
            </a:r>
            <a:r>
              <a:rPr sz="1050" b="0" i="1">
                <a:solidFill>
                  <a:srgbClr val="16213A"/>
                </a:solidFill>
                <a:latin typeface="Arial"/>
                <a:ea typeface="Malgun Gothic"/>
                <a:cs typeface="Malgun Gothic"/>
              </a:rPr>
              <a:t>A ν̄ = b</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Gν̄ - h - ζ = 0</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ζ ≥ 0</a:t>
            </a:r>
            <a:r>
              <a:rPr sz="1050" b="0" i="0">
                <a:solidFill>
                  <a:srgbClr val="16213A"/>
                </a:solidFill>
                <a:latin typeface="Arial"/>
                <a:ea typeface="Malgun Gothic"/>
                <a:cs typeface="Malgun Gothic"/>
              </a:rPr>
              <a:t>). 필터가 비선형이므로 걸러진 샘플의 평균·공분산을 다시 추정해 가중치를 계산하고, 평균을 낸 뒤 다시 한 번 필터를 적용해 결과도 한계 안에 둔다.</a:t>
            </a:r>
          </a:p>
        </p:txBody>
      </p:sp>
      <p:sp>
        <p:nvSpPr>
          <p:cNvPr id="8" name="TextBox 7"/>
          <p:cNvSpPr txBox="1"/>
          <p:nvPr/>
        </p:nvSpPr>
        <p:spPr>
          <a:xfrm>
            <a:off x="609600" y="261749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학습하는 것.</a:t>
            </a:r>
            <a:r>
              <a:rPr sz="1050" b="0" i="0">
                <a:solidFill>
                  <a:srgbClr val="16213A"/>
                </a:solidFill>
                <a:latin typeface="Arial"/>
                <a:ea typeface="Malgun Gothic"/>
                <a:cs typeface="Malgun Gothic"/>
              </a:rPr>
              <a:t> 이 QP 풀이기의 </a:t>
            </a:r>
            <a:r>
              <a:rPr sz="1050" b="1" i="0">
                <a:solidFill>
                  <a:srgbClr val="16213A"/>
                </a:solidFill>
                <a:latin typeface="Arial"/>
                <a:ea typeface="Malgun Gothic"/>
                <a:cs typeface="Malgun Gothic"/>
              </a:rPr>
              <a:t>초기값</a:t>
            </a:r>
            <a:r>
              <a:rPr sz="1050" b="0" i="0">
                <a:solidFill>
                  <a:srgbClr val="16213A"/>
                </a:solidFill>
                <a:latin typeface="Arial"/>
                <a:ea typeface="Malgun Gothic"/>
                <a:cs typeface="Malgun Gothic"/>
              </a:rPr>
              <a:t>을 신경망이 예측해 수렴을 빠르게 한다. MPPI 자체의 워밍스타트가 아니다.</a:t>
            </a:r>
          </a:p>
        </p:txBody>
      </p:sp>
      <p:sp>
        <p:nvSpPr>
          <p:cNvPr id="9" name="TextBox 8"/>
          <p:cNvSpPr txBox="1"/>
          <p:nvPr/>
        </p:nvSpPr>
        <p:spPr>
          <a:xfrm>
            <a:off x="609600" y="292288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travplan은 스워브 한계를 </a:t>
            </a:r>
            <a:r>
              <a:rPr sz="1050" b="0" i="0">
                <a:solidFill>
                  <a:srgbClr val="16213A"/>
                </a:solidFill>
                <a:latin typeface="Consolas"/>
                <a:ea typeface="Malgun Gothic"/>
                <a:cs typeface="Malgun Gothic"/>
              </a:rPr>
              <a:t>SwerveModel.clamp_accel</a:t>
            </a:r>
            <a:r>
              <a:rPr sz="1050" b="0" i="0">
                <a:solidFill>
                  <a:srgbClr val="16213A"/>
                </a:solidFill>
                <a:latin typeface="Arial"/>
                <a:ea typeface="Malgun Gothic"/>
                <a:cs typeface="Malgun Gothic"/>
              </a:rPr>
              <a:t>로 굴리는 도중에 적용한다(투영이 아니라 클램프). 가속의 도함수(jerk) 한계까지 보장해야 할 때 참고한다.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MPPI 계열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B.5 Controller 쪽 참고: 학습 prior를 MPPI에 넣는 법과 SMPPI</a:t>
            </a:r>
            <a:r>
              <a:rPr sz="1050" b="0" i="0">
                <a:solidFill>
                  <a:srgbClr val="5A6478"/>
                </a:solidFill>
                <a:latin typeface="Arial"/>
                <a:ea typeface="Malgun Gothic"/>
                <a:cs typeface="Malgun Gothic"/>
              </a:rPr>
              <a:t>  자세히: Self-Supervised MPC Initialization의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21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목표.</a:t>
            </a:r>
            <a:r>
              <a:rPr sz="1050" b="0" i="0">
                <a:solidFill>
                  <a:srgbClr val="16213A"/>
                </a:solidFill>
                <a:latin typeface="Arial"/>
                <a:ea typeface="Malgun Gothic"/>
                <a:cs typeface="Malgun Gothic"/>
              </a:rPr>
              <a:t> MPC 풀이기에 좋은 </a:t>
            </a:r>
            <a:r>
              <a:rPr sz="1050" b="1" i="0">
                <a:solidFill>
                  <a:srgbClr val="16213A"/>
                </a:solidFill>
                <a:latin typeface="Arial"/>
                <a:ea typeface="Malgun Gothic"/>
                <a:cs typeface="Malgun Gothic"/>
              </a:rPr>
              <a:t>초기해</a:t>
            </a:r>
            <a:r>
              <a:rPr sz="1050" b="0" i="0">
                <a:solidFill>
                  <a:srgbClr val="16213A"/>
                </a:solidFill>
                <a:latin typeface="Arial"/>
                <a:ea typeface="Malgun Gothic"/>
                <a:cs typeface="Malgun Gothic"/>
              </a:rPr>
              <a:t>를 주는 정책을 학습해 최적화 시간을 줄인다. 이전 해를 옮겨 쓰는 방식은 상태가 급변하면 실패하고, 순수 모방은 계산 시간을 직접 줄이지 못한다.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2단계 학습.</a:t>
            </a:r>
          </a:p>
        </p:txBody>
      </p:sp>
      <p:sp>
        <p:nvSpPr>
          <p:cNvPr id="7" name="TextBox 6"/>
          <p:cNvSpPr txBox="1"/>
          <p:nvPr/>
        </p:nvSpPr>
        <p:spPr>
          <a:xfrm>
            <a:off x="609600" y="1855391"/>
            <a:ext cx="10972800" cy="45839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0" i="0">
                <a:solidFill>
                  <a:srgbClr val="16213A"/>
                </a:solidFill>
                <a:latin typeface="Arial"/>
                <a:ea typeface="Malgun Gothic"/>
                <a:cs typeface="Malgun Gothic"/>
              </a:rPr>
              <a:t>오프라인 BC: 초기해 없이(0 벡터) 충분히 반복한 전문가 MPC의 (상태, 제어열) 쌍으로 MLP를 학습한다(MSE).</a:t>
            </a:r>
          </a:p>
          <a:p>
            <a:pPr>
              <a:spcBef>
                <a:spcPts val="200"/>
              </a:spcBef>
            </a:pPr>
            <a:r>
              <a:rPr sz="1050" b="0" i="0">
                <a:solidFill>
                  <a:srgbClr val="5A6478"/>
                </a:solidFill>
                <a:latin typeface="Arial"/>
                <a:ea typeface="Malgun Gothic"/>
                <a:cs typeface="Malgun Gothic"/>
              </a:rPr>
              <a:t>2. </a:t>
            </a:r>
            <a:r>
              <a:rPr sz="1050" b="0" i="0">
                <a:solidFill>
                  <a:srgbClr val="16213A"/>
                </a:solidFill>
                <a:latin typeface="Arial"/>
                <a:ea typeface="Malgun Gothic"/>
                <a:cs typeface="Malgun Gothic"/>
              </a:rPr>
              <a:t>온라인 미세조정: RL로 </a:t>
            </a:r>
            <a:r>
              <a:rPr sz="1050" b="1" i="0">
                <a:solidFill>
                  <a:srgbClr val="16213A"/>
                </a:solidFill>
                <a:latin typeface="Arial"/>
                <a:ea typeface="Malgun Gothic"/>
                <a:cs typeface="Malgun Gothic"/>
              </a:rPr>
              <a:t>MPC 계산 시간을 직접 줄이는</a:t>
            </a:r>
            <a:r>
              <a:rPr sz="1050" b="0" i="0">
                <a:solidFill>
                  <a:srgbClr val="16213A"/>
                </a:solidFill>
                <a:latin typeface="Arial"/>
                <a:ea typeface="Malgun Gothic"/>
                <a:cs typeface="Malgun Gothic"/>
              </a:rPr>
              <a:t> 방향으로 조정하고, DAgger(배경 0.12)로 정책이 실제로 도달한 상태를 데이터에 더해 분포 이동을 줄인다.</a:t>
            </a:r>
          </a:p>
        </p:txBody>
      </p:sp>
      <p:sp>
        <p:nvSpPr>
          <p:cNvPr id="8" name="TextBox 7"/>
          <p:cNvSpPr txBox="1"/>
          <p:nvPr/>
        </p:nvSpPr>
        <p:spPr>
          <a:xfrm>
            <a:off x="609600" y="24026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결정론적 MPC(F1 트랙 경로 추종)에서 최적화 21.6% 단축, 추종 정확도 34.1% 향상. 샘플링 MPC(장애물 많은 내비)에서 안전 100% 향상, 경로 효율 12.8%, 조향 부드러움 7.2% 개선.</a:t>
            </a:r>
          </a:p>
        </p:txBody>
      </p:sp>
      <p:sp>
        <p:nvSpPr>
          <p:cNvPr id="9" name="TextBox 8"/>
          <p:cNvSpPr txBox="1"/>
          <p:nvPr/>
        </p:nvSpPr>
        <p:spPr>
          <a:xfrm>
            <a:off x="609600" y="27080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MPPI 워밍스타트를 학습하는 방법이자, Planner D에 DAgger를 적용하는 구체적인 절차의 참고다.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MPPI 계열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B.5 Controller 쪽 참고: 학습 prior를 MPPI에 넣는 법과 SMPPI</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22 / 183</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Smooth MPPI(SMPPI): 노이즈를 변화율에 더한다</a:t>
            </a:r>
          </a:p>
        </p:txBody>
      </p:sp>
      <p:sp>
        <p:nvSpPr>
          <p:cNvPr id="6" name="TextBox 5"/>
          <p:cNvSpPr txBox="1"/>
          <p:nvPr/>
        </p:nvSpPr>
        <p:spPr>
          <a:xfrm>
            <a:off x="609600" y="1547812"/>
            <a:ext cx="10972800" cy="619522"/>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표준 MPPI                               SMPPI (input lifting)</a:t>
            </a:r>
          </a:p>
          <a:p>
            <a:r>
              <a:rPr sz="750" b="0" i="0">
                <a:solidFill>
                  <a:srgbClr val="F4F1EA"/>
                </a:solidFill>
                <a:latin typeface="Consolas"/>
                <a:ea typeface="Malgun Gothic"/>
                <a:cs typeface="Malgun Gothic"/>
              </a:rPr>
              <a:t>u_k = u_nom_k + ε_k                     v_k = v_nom_k + ε_k       (ε: 독립 노이즈)</a:t>
            </a:r>
          </a:p>
          <a:p>
            <a:r>
              <a:rPr sz="750" b="0" i="0">
                <a:solidFill>
                  <a:srgbClr val="F4F1EA"/>
                </a:solidFill>
                <a:latin typeface="Consolas"/>
                <a:ea typeface="Malgun Gothic"/>
                <a:cs typeface="Malgun Gothic"/>
              </a:rPr>
              <a:t>(ε_k가 스텝마다 독립 → 제어가 들쭉날쭉)     u_k = u_{k-1} + v_k·dt    (적분 → 매끄러움)</a:t>
            </a:r>
          </a:p>
        </p:txBody>
      </p:sp>
      <p:sp>
        <p:nvSpPr>
          <p:cNvPr id="7" name="TextBox 6"/>
          <p:cNvSpPr txBox="1"/>
          <p:nvPr/>
        </p:nvSpPr>
        <p:spPr>
          <a:xfrm>
            <a:off x="609600" y="2256234"/>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표준 MPPI는 스텝마다 독립인 노이즈를 제어값에 바로 더하므로 제어열이 떨리기 쉽다. </a:t>
            </a:r>
            <a:r>
              <a:rPr sz="1050" b="1" i="0">
                <a:solidFill>
                  <a:srgbClr val="16213A"/>
                </a:solidFill>
                <a:latin typeface="Arial"/>
                <a:ea typeface="Malgun Gothic"/>
                <a:cs typeface="Malgun Gothic"/>
              </a:rPr>
              <a:t>Smooth MPPI</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arXiv:2112.09988</a:t>
            </a:r>
            <a:r>
              <a:rPr sz="1050" b="0" i="0">
                <a:solidFill>
                  <a:srgbClr val="16213A"/>
                </a:solidFill>
                <a:latin typeface="Arial"/>
                <a:ea typeface="Malgun Gothic"/>
                <a:cs typeface="Malgun Gothic"/>
              </a:rPr>
              <a:t>)는 노이즈를 제어의 </a:t>
            </a:r>
            <a:r>
              <a:rPr sz="1050" b="1" i="0">
                <a:solidFill>
                  <a:srgbClr val="16213A"/>
                </a:solidFill>
                <a:latin typeface="Arial"/>
                <a:ea typeface="Malgun Gothic"/>
                <a:cs typeface="Malgun Gothic"/>
              </a:rPr>
              <a:t>변화율</a:t>
            </a:r>
            <a:r>
              <a:rPr sz="1050" b="0" i="0">
                <a:solidFill>
                  <a:srgbClr val="16213A"/>
                </a:solidFill>
                <a:latin typeface="Arial"/>
                <a:ea typeface="Malgun Gothic"/>
                <a:cs typeface="Malgun Gothic"/>
              </a:rPr>
              <a:t>에 더하고 적분해 제어를 만든다. 랜덤 워크가 개별 잡음보다 매끄러운 것과 같은 원리로, 비용 항을 튜닝하지 않고도 구조적으로 매끄러운 제어를 얻는다. MPPI의 정보이론적 유도는 그대로 유지된다.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MPPI 계열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B.5 Controller 쪽 참고: 학습 prior를 MPPI에 넣는 법과 SMPPI</a:t>
            </a:r>
            <a:r>
              <a:rPr sz="1050" b="0" i="0">
                <a:solidFill>
                  <a:srgbClr val="5A6478"/>
                </a:solidFill>
                <a:latin typeface="Arial"/>
                <a:ea typeface="Malgun Gothic"/>
                <a:cs typeface="Malgun Gothic"/>
              </a:rPr>
              <a:t>  자세히: Smooth MPPI의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23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MPPI의 정보이론적 틀.</a:t>
            </a:r>
            <a:r>
              <a:rPr sz="1050" b="0" i="0">
                <a:solidFill>
                  <a:srgbClr val="16213A"/>
                </a:solidFill>
                <a:latin typeface="Arial"/>
                <a:ea typeface="Malgun Gothic"/>
                <a:cs typeface="Malgun Gothic"/>
              </a:rPr>
              <a:t> 제어 평균 </a:t>
            </a:r>
            <a:r>
              <a:rPr sz="1050" b="0" i="1">
                <a:solidFill>
                  <a:srgbClr val="16213A"/>
                </a:solidFill>
                <a:latin typeface="Arial"/>
                <a:ea typeface="Malgun Gothic"/>
                <a:cs typeface="Malgun Gothic"/>
              </a:rPr>
              <a:t>U</a:t>
            </a:r>
            <a:r>
              <a:rPr sz="1050" b="0" i="0">
                <a:solidFill>
                  <a:srgbClr val="16213A"/>
                </a:solidFill>
                <a:latin typeface="Arial"/>
                <a:ea typeface="Malgun Gothic"/>
                <a:cs typeface="Malgun Gothic"/>
              </a:rPr>
              <a:t> 주변의 샘플 분포 </a:t>
            </a:r>
            <a:r>
              <a:rPr sz="1050" b="0" i="1">
                <a:solidFill>
                  <a:srgbClr val="16213A"/>
                </a:solidFill>
                <a:latin typeface="Arial"/>
                <a:ea typeface="Malgun Gothic"/>
                <a:cs typeface="Malgun Gothic"/>
              </a:rPr>
              <a:t>q(V)</a:t>
            </a:r>
            <a:r>
              <a:rPr sz="1050" b="0" i="0">
                <a:solidFill>
                  <a:srgbClr val="16213A"/>
                </a:solidFill>
                <a:latin typeface="Arial"/>
                <a:ea typeface="Malgun Gothic"/>
                <a:cs typeface="Malgun Gothic"/>
              </a:rPr>
              <a:t>와 무제어 분포 </a:t>
            </a:r>
            <a:r>
              <a:rPr sz="1050" b="0" i="1">
                <a:solidFill>
                  <a:srgbClr val="16213A"/>
                </a:solidFill>
                <a:latin typeface="Arial"/>
                <a:ea typeface="Malgun Gothic"/>
                <a:cs typeface="Malgun Gothic"/>
              </a:rPr>
              <a:t>p(V)</a:t>
            </a:r>
            <a:r>
              <a:rPr sz="1050" b="0" i="0">
                <a:solidFill>
                  <a:srgbClr val="16213A"/>
                </a:solidFill>
                <a:latin typeface="Arial"/>
                <a:ea typeface="Malgun Gothic"/>
                <a:cs typeface="Malgun Gothic"/>
              </a:rPr>
              <a:t>를 두고, 자유 에너지로 최적 분포 </a:t>
            </a:r>
            <a:r>
              <a:rPr sz="1050" b="0" i="1">
                <a:solidFill>
                  <a:srgbClr val="16213A"/>
                </a:solidFill>
                <a:latin typeface="Arial"/>
                <a:ea typeface="Malgun Gothic"/>
                <a:cs typeface="Malgun Gothic"/>
              </a:rPr>
              <a:t>q^⋆</a:t>
            </a:r>
            <a:r>
              <a:rPr sz="1050" b="0" i="0">
                <a:solidFill>
                  <a:srgbClr val="16213A"/>
                </a:solidFill>
                <a:latin typeface="Arial"/>
                <a:ea typeface="Malgun Gothic"/>
                <a:cs typeface="Malgun Gothic"/>
              </a:rPr>
              <a:t>를 정의한다(배경 0.2).</a:t>
            </a:r>
          </a:p>
        </p:txBody>
      </p:sp>
      <p:pic>
        <p:nvPicPr>
          <p:cNvPr id="6" name="Picture 5" descr="image.png"/>
          <p:cNvPicPr>
            <a:picLocks noChangeAspect="1"/>
          </p:cNvPicPr>
          <p:nvPr/>
        </p:nvPicPr>
        <p:blipFill>
          <a:blip r:embed="rId3"/>
          <a:stretch>
            <a:fillRect/>
          </a:stretch>
        </p:blipFill>
        <p:spPr>
          <a:xfrm>
            <a:off x="609600" y="1549995"/>
            <a:ext cx="2390775" cy="396875"/>
          </a:xfrm>
          <a:prstGeom prst="rect">
            <a:avLst/>
          </a:prstGeom>
        </p:spPr>
      </p:pic>
      <p:sp>
        <p:nvSpPr>
          <p:cNvPr id="7" name="TextBox 6"/>
          <p:cNvSpPr txBox="1"/>
          <p:nvPr/>
        </p:nvSpPr>
        <p:spPr>
          <a:xfrm>
            <a:off x="609600" y="196185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문제.</a:t>
            </a:r>
            <a:r>
              <a:rPr sz="1050" b="0" i="0">
                <a:solidFill>
                  <a:srgbClr val="16213A"/>
                </a:solidFill>
                <a:latin typeface="Arial"/>
                <a:ea typeface="Malgun Gothic"/>
                <a:cs typeface="Malgun Gothic"/>
              </a:rPr>
              <a:t> 원래 MPPI의 제어 비용 항은 "이전 반복과 현재 반복의 제어 차이"만 줄인다. 시간 축 방향의 떨림(chattering)은 비용에 없고, 임의로 비용을 더하면 MPPI의 유도(중요도 샘플링으로 제어 비용이 정해지는 구조)가 깨진다.</a:t>
            </a:r>
          </a:p>
        </p:txBody>
      </p:sp>
      <p:sp>
        <p:nvSpPr>
          <p:cNvPr id="8" name="TextBox 7"/>
          <p:cNvSpPr txBox="1"/>
          <p:nvPr/>
        </p:nvSpPr>
        <p:spPr>
          <a:xfrm>
            <a:off x="609600" y="248374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input lifting.</a:t>
            </a:r>
            <a:r>
              <a:rPr sz="1050" b="0" i="0">
                <a:solidFill>
                  <a:srgbClr val="16213A"/>
                </a:solidFill>
                <a:latin typeface="Arial"/>
                <a:ea typeface="Malgun Gothic"/>
                <a:cs typeface="Malgun Gothic"/>
              </a:rPr>
              <a:t> 제어 공간과 행동 공간을 나눈다. 노이즈는 </a:t>
            </a:r>
            <a:r>
              <a:rPr sz="1050" b="1" i="0">
                <a:solidFill>
                  <a:srgbClr val="16213A"/>
                </a:solidFill>
                <a:latin typeface="Arial"/>
                <a:ea typeface="Malgun Gothic"/>
                <a:cs typeface="Malgun Gothic"/>
              </a:rPr>
              <a:t>한 차수 높은 공간</a:t>
            </a:r>
            <a:r>
              <a:rPr sz="1050" b="0" i="0">
                <a:solidFill>
                  <a:srgbClr val="16213A"/>
                </a:solidFill>
                <a:latin typeface="Arial"/>
                <a:ea typeface="Malgun Gothic"/>
                <a:cs typeface="Malgun Gothic"/>
              </a:rPr>
              <a:t>(제어의 변화율)에서 뽑고, 적분해 행동 열 </a:t>
            </a:r>
            <a:r>
              <a:rPr sz="1050" b="0" i="1">
                <a:solidFill>
                  <a:srgbClr val="16213A"/>
                </a:solidFill>
                <a:latin typeface="Arial"/>
                <a:ea typeface="Malgun Gothic"/>
                <a:cs typeface="Malgun Gothic"/>
              </a:rPr>
              <a:t>A</a:t>
            </a:r>
            <a:r>
              <a:rPr sz="1050" b="0" i="0">
                <a:solidFill>
                  <a:srgbClr val="16213A"/>
                </a:solidFill>
                <a:latin typeface="Arial"/>
                <a:ea typeface="Malgun Gothic"/>
                <a:cs typeface="Malgun Gothic"/>
              </a:rPr>
              <a:t>를 만든다. 노이즈 분산은 입력 변화율의 물리적 한계에 맞춘다. 그러면 MPPI 유도를 그대로 지키면서 행동의 변화율에 비용을 걸 수 있다.</a:t>
            </a:r>
          </a:p>
        </p:txBody>
      </p:sp>
      <p:pic>
        <p:nvPicPr>
          <p:cNvPr id="9" name="Picture 8" descr="image.png"/>
          <p:cNvPicPr>
            <a:picLocks noChangeAspect="1"/>
          </p:cNvPicPr>
          <p:nvPr/>
        </p:nvPicPr>
        <p:blipFill>
          <a:blip r:embed="rId4"/>
          <a:stretch>
            <a:fillRect/>
          </a:stretch>
        </p:blipFill>
        <p:spPr>
          <a:xfrm>
            <a:off x="609600" y="3005634"/>
            <a:ext cx="3609975" cy="241300"/>
          </a:xfrm>
          <a:prstGeom prst="rect">
            <a:avLst/>
          </a:prstGeom>
        </p:spPr>
      </p:pic>
      <p:sp>
        <p:nvSpPr>
          <p:cNvPr id="10" name="TextBox 9"/>
          <p:cNvSpPr txBox="1"/>
          <p:nvPr/>
        </p:nvSpPr>
        <p:spPr>
          <a:xfrm>
            <a:off x="609600" y="328314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 적용.</a:t>
            </a:r>
            <a:r>
              <a:rPr sz="1050" b="0" i="0">
                <a:solidFill>
                  <a:srgbClr val="16213A"/>
                </a:solidFill>
                <a:latin typeface="Arial"/>
                <a:ea typeface="Malgun Gothic"/>
                <a:cs typeface="Malgun Gothic"/>
              </a:rPr>
              <a:t> travplan은 비용 항(</a:t>
            </a:r>
            <a:r>
              <a:rPr sz="1050" b="0" i="0">
                <a:solidFill>
                  <a:srgbClr val="16213A"/>
                </a:solidFill>
                <a:latin typeface="Consolas"/>
                <a:ea typeface="Malgun Gothic"/>
                <a:cs typeface="Malgun Gothic"/>
              </a:rPr>
              <a:t>ControlCost</a:t>
            </a:r>
            <a:r>
              <a:rPr sz="1050" b="0" i="0">
                <a:solidFill>
                  <a:srgbClr val="16213A"/>
                </a:solidFill>
                <a:latin typeface="Arial"/>
                <a:ea typeface="Malgun Gothic"/>
                <a:cs typeface="Malgun Gothic"/>
              </a:rPr>
              <a:t>)은 그대로 두고 노이즈 생성만 이 방식으로 바꿨다(</a:t>
            </a:r>
            <a:r>
              <a:rPr sz="1050" b="0" i="0">
                <a:solidFill>
                  <a:srgbClr val="16213A"/>
                </a:solidFill>
                <a:latin typeface="Consolas"/>
                <a:ea typeface="Malgun Gothic"/>
                <a:cs typeface="Malgun Gothic"/>
              </a:rPr>
              <a:t>SmoothMPPIController</a:t>
            </a:r>
            <a:r>
              <a:rPr sz="1050" b="0" i="0">
                <a:solidFill>
                  <a:srgbClr val="16213A"/>
                </a:solidFill>
                <a:latin typeface="Arial"/>
                <a:ea typeface="Malgun Gothic"/>
                <a:cs typeface="Malgun Gothic"/>
              </a:rPr>
              <a:t>, 배경 0.2).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MPPI 계열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B.5 Controller 쪽 참고: 학습 prior를 MPPI에 넣는 법과 SMPPI</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24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 실험(TP-0016, </a:t>
            </a:r>
            <a:r>
              <a:rPr sz="1050" b="1" i="0">
                <a:solidFill>
                  <a:srgbClr val="16213A"/>
                </a:solidFill>
                <a:latin typeface="Consolas"/>
                <a:ea typeface="Malgun Gothic"/>
                <a:cs typeface="Malgun Gothic"/>
              </a:rPr>
              <a:t>scripts/exp_smppi.py</a:t>
            </a:r>
            <a:r>
              <a:rPr sz="1050" b="1" i="0">
                <a:solidFill>
                  <a:srgbClr val="16213A"/>
                </a:solidFill>
                <a:latin typeface="Arial"/>
                <a:ea typeface="Malgun Gothic"/>
                <a:cs typeface="Malgun Gothic"/>
              </a:rPr>
              <a:t>, 4 시나리오 × 3 seed, </a:t>
            </a:r>
            <a:r>
              <a:rPr sz="1050" b="1" i="0">
                <a:solidFill>
                  <a:srgbClr val="16213A"/>
                </a:solidFill>
                <a:latin typeface="Consolas"/>
                <a:ea typeface="Malgun Gothic"/>
                <a:cs typeface="Malgun Gothic"/>
              </a:rPr>
              <a:t>results/exp_smppi.txt</a:t>
            </a:r>
            <a:r>
              <a:rPr sz="1050" b="1" i="0">
                <a:solidFill>
                  <a:srgbClr val="16213A"/>
                </a:solidFill>
                <a:latin typeface="Arial"/>
                <a:ea typeface="Malgun Gothic"/>
                <a:cs typeface="Malgun Gothic"/>
              </a:rPr>
              <a:t>).</a:t>
            </a:r>
            <a:r>
              <a:rPr sz="1050" b="0" i="0">
                <a:solidFill>
                  <a:srgbClr val="16213A"/>
                </a:solidFill>
                <a:latin typeface="Arial"/>
                <a:ea typeface="Malgun Gothic"/>
                <a:cs typeface="Malgun Gothic"/>
              </a:rPr>
              <a:t> SMPPI의 세 요소 가운데 변화율 비용과 가중평균의 매끄러움 보존은 travplan MPPI에 이미 있었다. 남은 차이는 "노이즈를 변화율 공간에서 뽑아 적분한다" 하나라서, 노이즈 생성만 바꾼 서브클래스로 비교했다(아래 이름은 당시 이름이고, </a:t>
            </a:r>
            <a:r>
              <a:rPr sz="1050" b="0" i="0">
                <a:solidFill>
                  <a:srgbClr val="16213A"/>
                </a:solidFill>
                <a:latin typeface="Consolas"/>
                <a:ea typeface="Malgun Gothic"/>
                <a:cs typeface="Malgun Gothic"/>
              </a:rPr>
              <a:t>mppi3d</a:t>
            </a:r>
            <a:r>
              <a:rPr sz="1050" b="0" i="0">
                <a:solidFill>
                  <a:srgbClr val="16213A"/>
                </a:solidFill>
                <a:latin typeface="Arial"/>
                <a:ea typeface="Malgun Gothic"/>
                <a:cs typeface="Malgun Gothic"/>
              </a:rPr>
              <a:t>는 지금의 </a:t>
            </a:r>
            <a:r>
              <a:rPr sz="1050" b="0" i="0">
                <a:solidFill>
                  <a:srgbClr val="16213A"/>
                </a:solidFill>
                <a:latin typeface="Consolas"/>
                <a:ea typeface="Malgun Gothic"/>
                <a:cs typeface="Malgun Gothic"/>
              </a:rPr>
              <a:t>mppi</a:t>
            </a:r>
            <a:r>
              <a:rPr sz="1050" b="0" i="0">
                <a:solidFill>
                  <a:srgbClr val="16213A"/>
                </a:solidFill>
                <a:latin typeface="Arial"/>
                <a:ea typeface="Malgun Gothic"/>
                <a:cs typeface="Malgun Gothic"/>
              </a:rPr>
              <a:t>다).</a:t>
            </a:r>
          </a:p>
        </p:txBody>
      </p:sp>
      <p:graphicFrame>
        <p:nvGraphicFramePr>
          <p:cNvPr id="6" name="Table 5"/>
          <p:cNvGraphicFramePr>
            <a:graphicFrameLocks noGrp="1"/>
          </p:cNvGraphicFramePr>
          <p:nvPr/>
        </p:nvGraphicFramePr>
        <p:xfrm>
          <a:off x="609600" y="1766491"/>
          <a:ext cx="10966450" cy="788352"/>
        </p:xfrm>
        <a:graphic>
          <a:graphicData uri="http://schemas.openxmlformats.org/drawingml/2006/table">
            <a:tbl>
              <a:tblPr firstRow="1" bandRow="1">
                <a:tableStyleId>{5C22544A-7EE6-4342-B048-85BDC9FD1C3A}</a:tableStyleId>
              </a:tblPr>
              <a:tblGrid>
                <a:gridCol w="2919016"/>
                <a:gridCol w="1038423"/>
                <a:gridCol w="1516658"/>
                <a:gridCol w="1182092"/>
                <a:gridCol w="1755180"/>
                <a:gridCol w="1364059"/>
                <a:gridCol w="1191022"/>
              </a:tblGrid>
              <a:tr h="197088">
                <a:tc>
                  <a:txBody>
                    <a:bodyPr wrap="square"/>
                    <a:lstStyle/>
                    <a:p>
                      <a:r>
                        <a:rPr sz="800" b="1" i="0">
                          <a:solidFill>
                            <a:srgbClr val="F4F1EA"/>
                          </a:solidFill>
                          <a:latin typeface="Arial"/>
                          <a:ea typeface="Malgun Gothic"/>
                          <a:cs typeface="Malgun Gothic"/>
                        </a:rPr>
                        <a:t>변형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성공</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도달시간(s)</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gt_cost</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max pitch(°)</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RMS jerk</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계획 ms</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mppi3d (AR(1) ρ=0.7)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15.5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5.1</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ar09 (AR(1) ρ=0.9)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12/12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0.030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6.1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5.1</a:t>
                      </a:r>
                    </a:p>
                  </a:txBody>
                  <a:tcPr marL="63500" marR="63500" marT="12700" marB="12700">
                    <a:solidFill>
                      <a:srgbClr val="F3F0E8"/>
                    </a:solidFill>
                  </a:tcPr>
                </a:tc>
              </a:tr>
              <a:tr h="197088">
                <a:tc>
                  <a:txBody>
                    <a:bodyPr wrap="square"/>
                    <a:lstStyle/>
                    <a:p>
                      <a:r>
                        <a:rPr sz="800" b="1" i="0">
                          <a:solidFill>
                            <a:srgbClr val="16213A"/>
                          </a:solidFill>
                          <a:latin typeface="Arial"/>
                          <a:ea typeface="Malgun Gothic"/>
                          <a:cs typeface="Malgun Gothic"/>
                        </a:rPr>
                        <a:t>smppi_lite (적분 노이즈)</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14.1</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0.023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4.1</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4.8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4.7</a:t>
                      </a:r>
                    </a:p>
                  </a:txBody>
                  <a:tcPr marL="63500" marR="63500" marT="12700" marB="12700">
                    <a:solidFill>
                      <a:srgbClr val="FFFDF8"/>
                    </a:solidFill>
                  </a:tcPr>
                </a:tc>
              </a:tr>
            </a:tbl>
          </a:graphicData>
        </a:graphic>
      </p:graphicFrame>
      <p:sp>
        <p:nvSpPr>
          <p:cNvPr id="7" name="TextBox 6"/>
          <p:cNvSpPr txBox="1"/>
          <p:nvPr/>
        </p:nvSpPr>
        <p:spPr>
          <a:xfrm>
            <a:off x="609600" y="2847181"/>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적분 노이즈는 </a:t>
            </a:r>
            <a:r>
              <a:rPr sz="1050" b="1" i="0">
                <a:solidFill>
                  <a:srgbClr val="16213A"/>
                </a:solidFill>
                <a:latin typeface="Arial"/>
                <a:ea typeface="Malgun Gothic"/>
                <a:cs typeface="Malgun Gothic"/>
              </a:rPr>
              <a:t>RMS jerk를 28% 줄였고, 12개 에피소드 모두에서 개선</a:t>
            </a:r>
            <a:r>
              <a:rPr sz="1050" b="0" i="0">
                <a:solidFill>
                  <a:srgbClr val="16213A"/>
                </a:solidFill>
                <a:latin typeface="Arial"/>
                <a:ea typeface="Malgun Gothic"/>
                <a:cs typeface="Malgun Gothic"/>
              </a:rPr>
              <a:t>됐다. 안전 지표(gt_cost, pitch)는 그대로이고 도달시간은 9% 짧아졌다. ρ=0.9는 더 빠르지만 gt_cost가 25% 나빠진다(지형을 덜 피한다). 결론은 </a:t>
            </a:r>
            <a:r>
              <a:rPr sz="1050" b="1" i="0">
                <a:solidFill>
                  <a:srgbClr val="C2410C"/>
                </a:solidFill>
                <a:latin typeface="Arial"/>
                <a:ea typeface="Malgun Gothic"/>
                <a:cs typeface="Malgun Gothic"/>
              </a:rPr>
              <a:t>비용 항은 그대로 두고 노이즈 모델만 바꾸면 된다</a:t>
            </a:r>
            <a:r>
              <a:rPr sz="1050" b="0" i="0">
                <a:solidFill>
                  <a:srgbClr val="16213A"/>
                </a:solidFill>
                <a:latin typeface="Arial"/>
                <a:ea typeface="Malgun Gothic"/>
                <a:cs typeface="Malgun Gothic"/>
              </a:rPr>
              <a:t>는 것이다.</a:t>
            </a:r>
          </a:p>
        </p:txBody>
      </p:sp>
      <p:sp>
        <p:nvSpPr>
          <p:cNvPr id="8" name="TextBox 7"/>
          <p:cNvSpPr txBox="1"/>
          <p:nvPr/>
        </p:nvSpPr>
        <p:spPr>
          <a:xfrm>
            <a:off x="609600" y="3369072"/>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이를 </a:t>
            </a:r>
            <a:r>
              <a:rPr sz="1050" b="0" i="0">
                <a:solidFill>
                  <a:srgbClr val="16213A"/>
                </a:solidFill>
                <a:latin typeface="Consolas"/>
                <a:ea typeface="Malgun Gothic"/>
                <a:cs typeface="Malgun Gothic"/>
              </a:rPr>
              <a:t>SmoothMPPIController</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control/mppi/smooth.py</a:t>
            </a:r>
            <a:r>
              <a:rPr sz="1050" b="0" i="0">
                <a:solidFill>
                  <a:srgbClr val="16213A"/>
                </a:solidFill>
                <a:latin typeface="Arial"/>
                <a:ea typeface="Malgun Gothic"/>
                <a:cs typeface="Malgun Gothic"/>
              </a:rPr>
              <a:t>, TP-0021)로 정식 추가했다. 전체 벤치마크(</a:t>
            </a:r>
            <a:r>
              <a:rPr sz="1050" b="0" i="0">
                <a:solidFill>
                  <a:srgbClr val="16213A"/>
                </a:solidFill>
                <a:latin typeface="Consolas"/>
                <a:ea typeface="Malgun Gothic"/>
                <a:cs typeface="Malgun Gothic"/>
              </a:rPr>
              <a:t>results/tp0021.log</a:t>
            </a:r>
            <a:r>
              <a:rPr sz="1050" b="0" i="0">
                <a:solidFill>
                  <a:srgbClr val="16213A"/>
                </a:solidFill>
                <a:latin typeface="Arial"/>
                <a:ea typeface="Malgun Gothic"/>
                <a:cs typeface="Malgun Gothic"/>
              </a:rPr>
              <a:t>, 분리 전 이름 기준)는 다음과 같다.</a:t>
            </a:r>
          </a:p>
        </p:txBody>
      </p:sp>
      <p:graphicFrame>
        <p:nvGraphicFramePr>
          <p:cNvPr id="9" name="Table 8"/>
          <p:cNvGraphicFramePr>
            <a:graphicFrameLocks noGrp="1"/>
          </p:cNvGraphicFramePr>
          <p:nvPr/>
        </p:nvGraphicFramePr>
        <p:xfrm>
          <a:off x="609600" y="3674467"/>
          <a:ext cx="10966450" cy="1182528"/>
        </p:xfrm>
        <a:graphic>
          <a:graphicData uri="http://schemas.openxmlformats.org/drawingml/2006/table">
            <a:tbl>
              <a:tblPr firstRow="1" bandRow="1">
                <a:tableStyleId>{5C22544A-7EE6-4342-B048-85BDC9FD1C3A}</a:tableStyleId>
              </a:tblPr>
              <a:tblGrid>
                <a:gridCol w="2844304"/>
                <a:gridCol w="1340445"/>
                <a:gridCol w="1957685"/>
                <a:gridCol w="1525786"/>
                <a:gridCol w="1760736"/>
                <a:gridCol w="1537494"/>
              </a:tblGrid>
              <a:tr h="197088">
                <a:tc>
                  <a:txBody>
                    <a:bodyPr wrap="square"/>
                    <a:lstStyle/>
                    <a:p>
                      <a:r>
                        <a:rPr sz="800" b="1" i="0">
                          <a:solidFill>
                            <a:srgbClr val="F4F1EA"/>
                          </a:solidFill>
                          <a:latin typeface="Arial"/>
                          <a:ea typeface="Malgun Gothic"/>
                          <a:cs typeface="Malgun Gothic"/>
                        </a:rPr>
                        <a:t>스택(당시 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성공</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도달시간(s)</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gt_cost</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RMS jerk</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계획 ms</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mppi3d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15.5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5.1</a:t>
                      </a:r>
                    </a:p>
                  </a:txBody>
                  <a:tcPr marL="63500" marR="63500" marT="12700" marB="12700">
                    <a:solidFill>
                      <a:srgbClr val="FFFDF8"/>
                    </a:solidFill>
                  </a:tcPr>
                </a:tc>
              </a:tr>
              <a:tr h="197088">
                <a:tc>
                  <a:txBody>
                    <a:bodyPr wrap="square"/>
                    <a:lstStyle/>
                    <a:p>
                      <a:r>
                        <a:rPr sz="800" b="1" i="0">
                          <a:solidFill>
                            <a:srgbClr val="16213A"/>
                          </a:solidFill>
                          <a:latin typeface="Arial"/>
                          <a:ea typeface="Malgun Gothic"/>
                          <a:cs typeface="Malgun Gothic"/>
                        </a:rPr>
                        <a:t>mppi3d_smooth</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12/12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14.1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0.023</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4.8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4.8</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hybrid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7.2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8.6</a:t>
                      </a:r>
                    </a:p>
                  </a:txBody>
                  <a:tcPr marL="63500" marR="63500" marT="12700" marB="12700">
                    <a:solidFill>
                      <a:srgbClr val="FFFDF8"/>
                    </a:solidFill>
                  </a:tcPr>
                </a:tc>
              </a:tr>
              <a:tr h="197088">
                <a:tc>
                  <a:txBody>
                    <a:bodyPr wrap="square"/>
                    <a:lstStyle/>
                    <a:p>
                      <a:r>
                        <a:rPr sz="800" b="1" i="0">
                          <a:solidFill>
                            <a:srgbClr val="16213A"/>
                          </a:solidFill>
                          <a:latin typeface="Arial"/>
                          <a:ea typeface="Malgun Gothic"/>
                          <a:cs typeface="Malgun Gothic"/>
                        </a:rPr>
                        <a:t>hybrid_smooth</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12/12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13.3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0.025</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5.2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7.9</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learned(참고)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5/12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16.7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0.039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7.0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0.5</a:t>
                      </a:r>
                    </a:p>
                  </a:txBody>
                  <a:tcPr marL="63500" marR="63500" marT="12700" marB="12700">
                    <a:solidFill>
                      <a:srgbClr val="FFFDF8"/>
                    </a:solidFill>
                  </a:tcPr>
                </a:tc>
              </a:tr>
            </a:tbl>
          </a:graphicData>
        </a:graphic>
      </p:graphicFrame>
      <p:sp>
        <p:nvSpPr>
          <p:cNvPr id="10" name="TextBox 9"/>
          <p:cNvSpPr txBox="1"/>
          <p:nvPr/>
        </p:nvSpPr>
        <p:spPr>
          <a:xfrm>
            <a:off x="609600" y="5247878"/>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hybrid에서도 jerk가 28% 줄고 도달시간은 3% 늘었다. 기본 Controller는 바꾸지 않았다. Planner D도 같은 "변화율 공간"에서 궤적을 생성한다.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MPPI 계열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E.11 최적 수송으로 샘플을 옮기는 최적화기: MPOT와 OT-MPC (TP-0130)</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25 / 183</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MPOT(Motion Planning via Optimal Transport)와 OT-MPC는 MPPI처럼 비용만 계산해 해를 고치지만, 샘플을 가중 평균 하나로 합치지 않는다.</a:t>
            </a:r>
            <a:r>
              <a:rPr sz="1050" b="0" i="0">
                <a:solidFill>
                  <a:srgbClr val="16213A"/>
                </a:solidFill>
                <a:latin typeface="Arial"/>
                <a:ea typeface="Malgun Gothic"/>
                <a:cs typeface="Malgun Gothic"/>
              </a:rPr>
              <a:t> 엔트로피 정규화 최적 수송(OT, optimal transport)으로 샘플과 이동 후보를 짝지어 샘플마다 따로 옮긴다. </a:t>
            </a:r>
            <a:r>
              <a:rPr sz="1050" b="1" i="0">
                <a:solidFill>
                  <a:srgbClr val="C2410C"/>
                </a:solidFill>
                <a:latin typeface="Arial"/>
                <a:ea typeface="Malgun Gothic"/>
                <a:cs typeface="Malgun Gothic"/>
              </a:rPr>
              <a:t>MPOT는 Controller가 아니라, 시작점에서 목표까지 궤적 묶음을 수렴할 때까지 다듬는 오프라인 최적화기다.</a:t>
            </a:r>
            <a:r>
              <a:rPr sz="1050" b="0" i="0">
                <a:solidFill>
                  <a:srgbClr val="16213A"/>
                </a:solidFill>
                <a:latin typeface="Arial"/>
                <a:ea typeface="Malgun Gothic"/>
                <a:cs typeface="Malgun Gothic"/>
              </a:rPr>
              <a:t> 샘플 기반 MPC의 갱신 자체를 OT로 바꾼 것은 다른 연구실의 OT-MPC다. 두 방법 모두 2차원 지상 이동에서 MPPI보다 낫다는 유의한 근거는 아직 없다. travplan은 이 계열을 들이기 전에, MPPI 계열이 멈춘 장면에 개선 여지가 있는지부터 쟀다. 미리 정한 기준을 넘지 못해 MPOT 변형은 만들지 않았다(TP-0130, MPC 문서 M.3.20).</a:t>
            </a:r>
          </a:p>
        </p:txBody>
      </p:sp>
      <p:graphicFrame>
        <p:nvGraphicFramePr>
          <p:cNvPr id="6" name="Table 5"/>
          <p:cNvGraphicFramePr>
            <a:graphicFrameLocks noGrp="1"/>
          </p:cNvGraphicFramePr>
          <p:nvPr/>
        </p:nvGraphicFramePr>
        <p:xfrm>
          <a:off x="609600" y="2199481"/>
          <a:ext cx="10966450" cy="1379616"/>
        </p:xfrm>
        <a:graphic>
          <a:graphicData uri="http://schemas.openxmlformats.org/drawingml/2006/table">
            <a:tbl>
              <a:tblPr firstRow="1" bandRow="1">
                <a:tableStyleId>{5C22544A-7EE6-4342-B048-85BDC9FD1C3A}</a:tableStyleId>
              </a:tblPr>
              <a:tblGrid>
                <a:gridCol w="1559421"/>
                <a:gridCol w="3720604"/>
                <a:gridCol w="3108623"/>
                <a:gridCol w="2577802"/>
              </a:tblGrid>
              <a:tr h="197088">
                <a:tc>
                  <a:txBody>
                    <a:bodyPr wrap="square"/>
                    <a:lstStyle/>
                    <a:p>
                      <a:r>
                        <a:rPr sz="800" b="1" i="0">
                          <a:solidFill>
                            <a:srgbClr val="F4F1EA"/>
                          </a:solidFill>
                          <a:latin typeface="Arial"/>
                          <a:ea typeface="Malgun Gothic"/>
                          <a:cs typeface="Malgun Gothic"/>
                        </a:rPr>
                        <a:t>항목</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MPOT</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OT-MPC</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 </a:t>
                      </a:r>
                      <a:r>
                        <a:rPr sz="800" b="1" i="0">
                          <a:solidFill>
                            <a:srgbClr val="F4F1EA"/>
                          </a:solidFill>
                          <a:latin typeface="Consolas"/>
                          <a:ea typeface="Malgun Gothic"/>
                          <a:cs typeface="Malgun Gothic"/>
                        </a:rPr>
                        <a:t>MPPIController</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쓰임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오프라인 배치 계획. 수렴까지 Sinkhorn Step 40–70번</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receding horizon MPC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receding horizon MPC, 0.1 s 주기</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최적화하는 것</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궤적의 상태 웨이포인트(위치와 속도)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제어열 입자 8–50개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제어열 하나(샘플 768개의 가중 평균)</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OT가 짝짓는 것</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웨이포인트와 회전한 정다포체의 꼭짓점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입자와 비용으로 가중한 제안</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쓰지 않는다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비용이 들어가는 자리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수송 비용 행렬(웨이포인트마다)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제안 쪽 주변분포(rollout 전체)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지수 가중치(rollout 전체)</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동역학</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등속 GP(Gaussian process) 사전분포를 비용으로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모델 rollout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스워브 rollout 모델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근거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NeurIPS 2023, 시뮬레이션, MPPI 비교 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arXiv v1(2026-05), 시뮬레이션, 코드 미공개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이 저장소의 벤치마크</a:t>
                      </a:r>
                    </a:p>
                  </a:txBody>
                  <a:tcPr marL="63500" marR="63500" marT="12700" marB="12700">
                    <a:solidFill>
                      <a:srgbClr val="F3F0E8"/>
                    </a:solidFill>
                  </a:tcPr>
                </a:tc>
              </a:tr>
            </a:tbl>
          </a:graphicData>
        </a:graphic>
      </p:graphicFrame>
      <p:sp>
        <p:nvSpPr>
          <p:cNvPr id="7" name="TextBox 6"/>
          <p:cNvSpPr txBox="1"/>
          <p:nvPr/>
        </p:nvSpPr>
        <p:spPr>
          <a:xfrm>
            <a:off x="717550" y="4019252"/>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MPOT: 웨이포인트를 정다포체 꼭짓점 쪽으로 수송한다</a:t>
            </a:r>
          </a:p>
        </p:txBody>
      </p:sp>
      <p:sp>
        <p:nvSpPr>
          <p:cNvPr id="8" name="TextBox 7"/>
          <p:cNvSpPr txBox="1"/>
          <p:nvPr/>
        </p:nvSpPr>
        <p:spPr>
          <a:xfrm>
            <a:off x="609600" y="4322465"/>
            <a:ext cx="10972800" cy="8659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MPOT(</a:t>
            </a:r>
            <a:r>
              <a:rPr sz="1050" b="0" i="0">
                <a:solidFill>
                  <a:srgbClr val="1D4ED8"/>
                </a:solidFill>
                <a:latin typeface="Arial"/>
                <a:ea typeface="Malgun Gothic"/>
                <a:cs typeface="Malgun Gothic"/>
                <a:hlinkClick r:id="rId3"/>
              </a:rPr>
              <a:t>arXiv:2309.15970</a:t>
            </a:r>
            <a:r>
              <a:rPr sz="1050" b="0" i="0">
                <a:solidFill>
                  <a:srgbClr val="16213A"/>
                </a:solidFill>
                <a:latin typeface="Arial"/>
                <a:ea typeface="Malgun Gothic"/>
                <a:cs typeface="Malgun Gothic"/>
              </a:rPr>
              <a:t>, NeurIPS 2023)는 기울기 없이 궤적 묶음을 한꺼번에 다듬는 배치 궤적 최적화기다. 시작점에서 목표까지 수렴할 때까지 돌린 뒤, 비용이 가장 낮은 궤적을 실행하거나 충돌 없는 궤적을 모두 학습 데이터로 저장한다. RTX 3080 Ti에서 2차원 질점은 0.4 s, 7자유도 Panda 팔은 0.8 s가 걸렸다. 비교 대상에 MPPI는 없다. 가장 가까운 것은 MPPI식 가중 평균으로 갱신하는 SGPMP(Stochastic Gaussian Process Motion Planning)다. 질점에서 둘의 성공률은 비슷했고, 차이는 계획 시간(0.4 s 대 6.5 s)이었다. 논문과 코드, 프로젝트 페이지 어디에도 receding horizon 실행이나 동적 장애물, 실물 실험은 없다.</a:t>
            </a:r>
          </a:p>
        </p:txBody>
      </p:sp>
      <p:sp>
        <p:nvSpPr>
          <p:cNvPr id="9" name="TextBox 8"/>
          <p:cNvSpPr txBox="1"/>
          <p:nvPr/>
        </p:nvSpPr>
        <p:spPr>
          <a:xfrm>
            <a:off x="609600" y="5277346"/>
            <a:ext cx="10972800" cy="8659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궤적 </a:t>
            </a:r>
            <a:r>
              <a:rPr sz="1050" b="0" i="1">
                <a:solidFill>
                  <a:srgbClr val="16213A"/>
                </a:solidFill>
                <a:latin typeface="Arial"/>
                <a:ea typeface="Malgun Gothic"/>
                <a:cs typeface="Malgun Gothic"/>
              </a:rPr>
              <a:t>Nₚ</a:t>
            </a:r>
            <a:r>
              <a:rPr sz="1050" b="0" i="0">
                <a:solidFill>
                  <a:srgbClr val="16213A"/>
                </a:solidFill>
                <a:latin typeface="Arial"/>
                <a:ea typeface="Malgun Gothic"/>
                <a:cs typeface="Malgun Gothic"/>
              </a:rPr>
              <a:t>개의 웨이포인트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개를 점 </a:t>
            </a:r>
            <a:r>
              <a:rPr sz="1050" b="0" i="1">
                <a:solidFill>
                  <a:srgbClr val="16213A"/>
                </a:solidFill>
                <a:latin typeface="Arial"/>
                <a:ea typeface="Malgun Gothic"/>
                <a:cs typeface="Malgun Gothic"/>
              </a:rPr>
              <a:t>N = Nₚ T</a:t>
            </a:r>
            <a:r>
              <a:rPr sz="1050" b="0" i="0">
                <a:solidFill>
                  <a:srgbClr val="16213A"/>
                </a:solidFill>
                <a:latin typeface="Arial"/>
                <a:ea typeface="Malgun Gothic"/>
                <a:cs typeface="Malgun Gothic"/>
              </a:rPr>
              <a:t>개로 펼치고, 반복마다 Sinkhorn Step 한 번으로 모든 점을 함께 옮긴다. 웨이포인트는 위치와 속도를 이어 붙인 1차 상태다. 점마다 무작위로 회전한 정다포체(regular polytope)를 하나씩 놓고, 그 꼭짓점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개를 이동 후보로 쓴다. 정다포체는 simplex, orthoplex, cube 가운데 하나다. 꼭짓점 방향의 탐침점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개에서 비용을 평균해 </a:t>
            </a:r>
            <a:r>
              <a:rPr sz="1050" b="0" i="1">
                <a:solidFill>
                  <a:srgbClr val="16213A"/>
                </a:solidFill>
                <a:latin typeface="Arial"/>
                <a:ea typeface="Malgun Gothic"/>
                <a:cs typeface="Malgun Gothic"/>
              </a:rPr>
              <a:t>N × m</a:t>
            </a:r>
            <a:r>
              <a:rPr sz="1050" b="0" i="0">
                <a:solidFill>
                  <a:srgbClr val="16213A"/>
                </a:solidFill>
                <a:latin typeface="Arial"/>
                <a:ea typeface="Malgun Gothic"/>
                <a:cs typeface="Malgun Gothic"/>
              </a:rPr>
              <a:t> 비용 행렬을 만든다. 이 행렬로 주변분포가 균등한 엔트로피 OT를 풀고, 각 점을 OT 계획이 정한 꼭짓점들의 무게중심으로 옮긴다. 그래서 이동은 늘 정다포체 안에 머문다(명시적 신뢰 영역). 실험에서는 반경을 스텝마다 일정 비율로 줄였다. 매끄러움과 동역학은 등속 GP 사전분포의 전이 비용으로만 들어온다. 충돌은 점유 격자를 조회한 비용으로만 들어오고, 기울기는 필요 없다.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MPPI 계열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E.11 최적 수송으로 샘플을 옮기는 최적화기: MPOT와 OT-MPC (TP-0130)</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26 / 183</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원형 그대로는 travplan Controller에 맞지 않는다.</a:t>
            </a:r>
            <a:r>
              <a:rPr sz="1050" b="0" i="0">
                <a:solidFill>
                  <a:srgbClr val="16213A"/>
                </a:solidFill>
                <a:latin typeface="Arial"/>
                <a:ea typeface="Malgun Gothic"/>
                <a:cs typeface="Malgun Gothic"/>
              </a:rPr>
              <a:t> travplan의 </a:t>
            </a:r>
            <a:r>
              <a:rPr sz="1050" b="0" i="0">
                <a:solidFill>
                  <a:srgbClr val="16213A"/>
                </a:solidFill>
                <a:latin typeface="Consolas"/>
                <a:ea typeface="Malgun Gothic"/>
                <a:cs typeface="Malgun Gothic"/>
              </a:rPr>
              <a:t>CostTerm</a:t>
            </a:r>
            <a:r>
              <a:rPr sz="1050" b="0" i="0">
                <a:solidFill>
                  <a:srgbClr val="16213A"/>
                </a:solidFill>
                <a:latin typeface="Arial"/>
                <a:ea typeface="Malgun Gothic"/>
                <a:cs typeface="Malgun Gothic"/>
              </a:rPr>
              <a:t>은 rollout 전체를 보고 샘플마다 비용 하나(</a:t>
            </a:r>
            <a:r>
              <a:rPr sz="1050" b="0" i="0">
                <a:solidFill>
                  <a:srgbClr val="16213A"/>
                </a:solidFill>
                <a:latin typeface="Consolas"/>
                <a:ea typeface="Malgun Gothic"/>
                <a:cs typeface="Malgun Gothic"/>
              </a:rPr>
              <a:t>[K]</a:t>
            </a:r>
            <a:r>
              <a:rPr sz="1050" b="0" i="0">
                <a:solidFill>
                  <a:srgbClr val="16213A"/>
                </a:solidFill>
                <a:latin typeface="Arial"/>
                <a:ea typeface="Malgun Gothic"/>
                <a:cs typeface="Malgun Gothic"/>
              </a:rPr>
              <a:t>)를 낸다. 어느 스텝이든 치명 셀을 밟으면 주는 벌점, 시간축 CVaR(배경 0.3), 끝점 진행이 그렇다. 이 항들은 스텝별로 나뉘지 않는데, MPOT는 웨이포인트와 꼭짓점마다 비용(</a:t>
            </a:r>
            <a:r>
              <a:rPr sz="1050" b="0" i="0">
                <a:solidFill>
                  <a:srgbClr val="16213A"/>
                </a:solidFill>
                <a:latin typeface="Consolas"/>
                <a:ea typeface="Malgun Gothic"/>
                <a:cs typeface="Malgun Gothic"/>
              </a:rPr>
              <a:t>[N, m]</a:t>
            </a:r>
            <a:r>
              <a:rPr sz="1050" b="0" i="0">
                <a:solidFill>
                  <a:srgbClr val="16213A"/>
                </a:solidFill>
                <a:latin typeface="Arial"/>
                <a:ea typeface="Malgun Gothic"/>
                <a:cs typeface="Malgun Gothic"/>
              </a:rPr>
              <a:t>)을 요구한다. 또 MPOT는 홀로노믹 상태 웨이포인트를 직접 옮기므로 rollout을 하지 않는다. 그래서 제어열을 rollout할 때만 작동하는 세 가지를 모두 건너뛴다.</a:t>
            </a:r>
          </a:p>
        </p:txBody>
      </p:sp>
      <p:sp>
        <p:nvSpPr>
          <p:cNvPr id="6" name="TextBox 5"/>
          <p:cNvSpPr txBox="1"/>
          <p:nvPr/>
        </p:nvSpPr>
        <p:spPr>
          <a:xfrm>
            <a:off x="609600" y="1982986"/>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스워브 rollout 모델의 속도·가속 한계</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잔차 GP의 평균을 넣은 rollout(TP-0120, </a:t>
            </a:r>
            <a:r>
              <a:rPr sz="1050" b="0" i="0">
                <a:solidFill>
                  <a:srgbClr val="16213A"/>
                </a:solidFill>
                <a:latin typeface="Consolas"/>
                <a:ea typeface="Malgun Gothic"/>
                <a:cs typeface="Malgun Gothic"/>
              </a:rPr>
              <a:t>mppi_ccgpm</a:t>
            </a:r>
            <a:r>
              <a:rPr sz="1050" b="0" i="0">
                <a:solidFill>
                  <a:srgbClr val="16213A"/>
                </a:solidFill>
                <a:latin typeface="Arial"/>
                <a:ea typeface="Malgun Gothic"/>
                <a:cs typeface="Malgun Gothic"/>
              </a:rPr>
              <a:t>)</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계획 중인 rollout 모델 계층. TP-0124의 기구학·동역학·학습 층, TP-0125의 메쉬 시뮬레이터, TP-0126의 학습 FDM(forward dynamics model)이다.</a:t>
            </a:r>
          </a:p>
        </p:txBody>
      </p:sp>
      <p:sp>
        <p:nvSpPr>
          <p:cNvPr id="7" name="TextBox 6"/>
          <p:cNvSpPr txBox="1"/>
          <p:nvPr/>
        </p:nvSpPr>
        <p:spPr>
          <a:xfrm>
            <a:off x="609600" y="2772172"/>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맞는 형태는 제어열 판이다. 입자를 40×3 제어열로 두고, OT의 점을 그 제어열의 twist 매듭점 8개로 둔다. 매듭점마다 MPPI 노이즈 크기로 늘인 3-orthoplex를 놓고, 매듭점 하나를 꼭짓점 쪽으로 옮긴 제어열을 통째로 rollout해 비용을 매긴다. 그러면 </a:t>
            </a:r>
            <a:r>
              <a:rPr sz="1050" b="0" i="0">
                <a:solidFill>
                  <a:srgbClr val="16213A"/>
                </a:solidFill>
                <a:latin typeface="Consolas"/>
                <a:ea typeface="Malgun Gothic"/>
                <a:cs typeface="Malgun Gothic"/>
              </a:rPr>
              <a:t>CostTerm</a:t>
            </a:r>
            <a:r>
              <a:rPr sz="1050" b="0" i="0">
                <a:solidFill>
                  <a:srgbClr val="16213A"/>
                </a:solidFill>
                <a:latin typeface="Arial"/>
                <a:ea typeface="Malgun Gothic"/>
                <a:cs typeface="Malgun Gothic"/>
              </a:rPr>
              <a:t>과 rollout 모델, 확률 제약을 그대로 물려받는다. SMPPI처럼 </a:t>
            </a:r>
            <a:r>
              <a:rPr sz="1050" b="0" i="0">
                <a:solidFill>
                  <a:srgbClr val="16213A"/>
                </a:solidFill>
                <a:latin typeface="Consolas"/>
                <a:ea typeface="Malgun Gothic"/>
                <a:cs typeface="Malgun Gothic"/>
              </a:rPr>
              <a:t>mppi.py</a:t>
            </a:r>
            <a:r>
              <a:rPr sz="1050" b="0" i="0">
                <a:solidFill>
                  <a:srgbClr val="16213A"/>
                </a:solidFill>
                <a:latin typeface="Arial"/>
                <a:ea typeface="Malgun Gothic"/>
                <a:cs typeface="Malgun Gothic"/>
              </a:rPr>
              <a:t>를 고치지 않는 MPPI 갈래 안의 변형이 된다. 수식은 아래 토글에 있다.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MPPI 계열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E.11 최적 수송으로 샘플을 옮기는 최적화기: MPOT와 OT-MPC (TP-0130)</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27 / 183</a:t>
            </a:r>
          </a:p>
        </p:txBody>
      </p:sp>
      <p:pic>
        <p:nvPicPr>
          <p:cNvPr id="5" name="Picture 4" descr="image.jpg"/>
          <p:cNvPicPr>
            <a:picLocks noChangeAspect="1"/>
          </p:cNvPicPr>
          <p:nvPr/>
        </p:nvPicPr>
        <p:blipFill>
          <a:blip r:embed="rId3"/>
          <a:stretch>
            <a:fillRect/>
          </a:stretch>
        </p:blipFill>
        <p:spPr>
          <a:xfrm>
            <a:off x="609600" y="1244600"/>
            <a:ext cx="3790950" cy="2667000"/>
          </a:xfrm>
          <a:prstGeom prst="rect">
            <a:avLst/>
          </a:prstGeom>
        </p:spPr>
      </p:pic>
      <p:sp>
        <p:nvSpPr>
          <p:cNvPr id="6" name="TextBox 5"/>
          <p:cNvSpPr txBox="1"/>
          <p:nvPr/>
        </p:nvSpPr>
        <p:spPr>
          <a:xfrm>
            <a:off x="609600" y="394970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MPOT (Fig. 2): Sinkhorn Step 한 번. 웨이포인트(남색 점)마다 무작위로 회전한 2-cube의 꼭짓점(초록)과 그 방향의 탐침점(빨강)을 둔다. 회색 숫자는 방향마다 탐침점 비용의 평균이고, 빨간 화살표가 OT 계획으로 정한 이동이다. 실선 원은 스텝 반경, 점선 원은 탐침 반경이다. 출처: arXiv:2309.15970</a:t>
            </a:r>
          </a:p>
        </p:txBody>
      </p:sp>
      <p:pic>
        <p:nvPicPr>
          <p:cNvPr id="7" name="Picture 6" descr="image.jpg"/>
          <p:cNvPicPr>
            <a:picLocks noChangeAspect="1"/>
          </p:cNvPicPr>
          <p:nvPr/>
        </p:nvPicPr>
        <p:blipFill>
          <a:blip r:embed="rId4"/>
          <a:stretch>
            <a:fillRect/>
          </a:stretch>
        </p:blipFill>
        <p:spPr>
          <a:xfrm>
            <a:off x="6172200" y="1244600"/>
            <a:ext cx="5410200" cy="1403350"/>
          </a:xfrm>
          <a:prstGeom prst="rect">
            <a:avLst/>
          </a:prstGeom>
        </p:spPr>
      </p:pic>
      <p:sp>
        <p:nvSpPr>
          <p:cNvPr id="8" name="TextBox 7"/>
          <p:cNvSpPr txBox="1"/>
          <p:nvPr/>
        </p:nvSpPr>
        <p:spPr>
          <a:xfrm>
            <a:off x="6172200" y="268605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MPOT (Fig. 1): 목표 셋에 궤적을 다섯 개씩 GP 사전분포에서 뽑아 한 OT 문제로 함께 다듬는다. 왼쪽부터 Sinkhorn Step 0, 10, 20, 40번째이고, 전체 계획 시간은 0.12 s였다. 출처: arXiv:2309.15970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MPPI 계열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E.11 최적 수송으로 샘플을 옮기는 최적화기: MPOT와 OT-MPC (TP-0130)</a:t>
            </a:r>
            <a:r>
              <a:rPr sz="1050" b="0" i="0">
                <a:solidFill>
                  <a:srgbClr val="5A6478"/>
                </a:solidFill>
                <a:latin typeface="Arial"/>
                <a:ea typeface="Malgun Gothic"/>
                <a:cs typeface="Malgun Gothic"/>
              </a:rPr>
              <a:t>  자세히: MPOT의 Sinkhorn Step 수식과 제어열 매듭점 판</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28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무엇을 하나.</a:t>
            </a:r>
            <a:r>
              <a:rPr sz="1050" b="0" i="0">
                <a:solidFill>
                  <a:srgbClr val="16213A"/>
                </a:solidFill>
                <a:latin typeface="Arial"/>
                <a:ea typeface="Malgun Gothic"/>
                <a:cs typeface="Malgun Gothic"/>
              </a:rPr>
              <a:t> Sinkhorn Step은 점 묶음 </a:t>
            </a:r>
            <a:r>
              <a:rPr sz="1050" b="0" i="1">
                <a:solidFill>
                  <a:srgbClr val="16213A"/>
                </a:solidFill>
                <a:latin typeface="Arial"/>
                <a:ea typeface="Malgun Gothic"/>
                <a:cs typeface="Malgun Gothic"/>
              </a:rPr>
              <a:t>{xₜ}ₜ₌₁^N</a:t>
            </a:r>
            <a:r>
              <a:rPr sz="1050" b="0" i="0">
                <a:solidFill>
                  <a:srgbClr val="16213A"/>
                </a:solidFill>
                <a:latin typeface="Arial"/>
                <a:ea typeface="Malgun Gothic"/>
                <a:cs typeface="Malgun Gothic"/>
              </a:rPr>
              <a:t>을 한 번에 옮기는 0차 갱신이다. 점 </a:t>
            </a:r>
            <a:r>
              <a:rPr sz="1050" b="0" i="1">
                <a:solidFill>
                  <a:srgbClr val="16213A"/>
                </a:solidFill>
                <a:latin typeface="Arial"/>
                <a:ea typeface="Malgun Gothic"/>
                <a:cs typeface="Malgun Gothic"/>
              </a:rPr>
              <a:t>xₜ</a:t>
            </a:r>
            <a:r>
              <a:rPr sz="1050" b="0" i="0">
                <a:solidFill>
                  <a:srgbClr val="16213A"/>
                </a:solidFill>
                <a:latin typeface="Arial"/>
                <a:ea typeface="Malgun Gothic"/>
                <a:cs typeface="Malgun Gothic"/>
              </a:rPr>
              <a:t>마다 단위 구에 내접한 정다포체를 무작위 회전 </a:t>
            </a:r>
            <a:r>
              <a:rPr sz="1050" b="0" i="1">
                <a:solidFill>
                  <a:srgbClr val="16213A"/>
                </a:solidFill>
                <a:latin typeface="Arial"/>
                <a:ea typeface="Malgun Gothic"/>
                <a:cs typeface="Malgun Gothic"/>
              </a:rPr>
              <a:t>Rₜ</a:t>
            </a:r>
            <a:r>
              <a:rPr sz="1050" b="0" i="0">
                <a:solidFill>
                  <a:srgbClr val="16213A"/>
                </a:solidFill>
                <a:latin typeface="Arial"/>
                <a:ea typeface="Malgun Gothic"/>
                <a:cs typeface="Malgun Gothic"/>
              </a:rPr>
              <a:t>로 돌려 이동 후보 </a:t>
            </a:r>
            <a:r>
              <a:rPr sz="1050" b="0" i="1">
                <a:solidFill>
                  <a:srgbClr val="16213A"/>
                </a:solidFill>
                <a:latin typeface="Arial"/>
                <a:ea typeface="Malgun Gothic"/>
                <a:cs typeface="Malgun Gothic"/>
              </a:rPr>
              <a:t>d_(t,i) = Rₜdᵢ</a:t>
            </a:r>
            <a:r>
              <a:rPr sz="1050" b="0" i="0">
                <a:solidFill>
                  <a:srgbClr val="16213A"/>
                </a:solidFill>
                <a:latin typeface="Arial"/>
                <a:ea typeface="Malgun Gothic"/>
                <a:cs typeface="Malgun Gothic"/>
              </a:rPr>
              <a:t>를 만든다. 꼭짓점 수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은 </a:t>
            </a:r>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차원 simplex가 </a:t>
            </a:r>
            <a:r>
              <a:rPr sz="1050" b="0" i="1">
                <a:solidFill>
                  <a:srgbClr val="16213A"/>
                </a:solidFill>
                <a:latin typeface="Arial"/>
                <a:ea typeface="Malgun Gothic"/>
                <a:cs typeface="Malgun Gothic"/>
              </a:rPr>
              <a:t>d+1</a:t>
            </a:r>
            <a:r>
              <a:rPr sz="1050" b="0" i="0">
                <a:solidFill>
                  <a:srgbClr val="16213A"/>
                </a:solidFill>
                <a:latin typeface="Arial"/>
                <a:ea typeface="Malgun Gothic"/>
                <a:cs typeface="Malgun Gothic"/>
              </a:rPr>
              <a:t>, orthoplex가 </a:t>
            </a:r>
            <a:r>
              <a:rPr sz="1050" b="0" i="1">
                <a:solidFill>
                  <a:srgbClr val="16213A"/>
                </a:solidFill>
                <a:latin typeface="Arial"/>
                <a:ea typeface="Malgun Gothic"/>
                <a:cs typeface="Malgun Gothic"/>
              </a:rPr>
              <a:t>2d</a:t>
            </a:r>
            <a:r>
              <a:rPr sz="1050" b="0" i="0">
                <a:solidFill>
                  <a:srgbClr val="16213A"/>
                </a:solidFill>
                <a:latin typeface="Arial"/>
                <a:ea typeface="Malgun Gothic"/>
                <a:cs typeface="Malgun Gothic"/>
              </a:rPr>
              <a:t>, cube가 </a:t>
            </a:r>
            <a:r>
              <a:rPr sz="1050" b="0" i="1">
                <a:solidFill>
                  <a:srgbClr val="16213A"/>
                </a:solidFill>
                <a:latin typeface="Arial"/>
                <a:ea typeface="Malgun Gothic"/>
                <a:cs typeface="Malgun Gothic"/>
              </a:rPr>
              <a:t>2^d</a:t>
            </a:r>
            <a:r>
              <a:rPr sz="1050" b="0" i="0">
                <a:solidFill>
                  <a:srgbClr val="16213A"/>
                </a:solidFill>
                <a:latin typeface="Arial"/>
                <a:ea typeface="Malgun Gothic"/>
                <a:cs typeface="Malgun Gothic"/>
              </a:rPr>
              <a:t>다. 세 정다포체 모두 꼭짓점의 합이 0이다.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비용 행렬.</a:t>
            </a:r>
            <a:r>
              <a:rPr sz="1050" b="0" i="0">
                <a:solidFill>
                  <a:srgbClr val="16213A"/>
                </a:solidFill>
                <a:latin typeface="Arial"/>
                <a:ea typeface="Malgun Gothic"/>
                <a:cs typeface="Malgun Gothic"/>
              </a:rPr>
              <a:t> 점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와 꼭짓점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의 비용은 그 방향 탐침점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개에서 잰 상태 비용과 GP 전이 비용의 평균이다(식 10). 둘째 항이 이웃 웨이포인트를 묶는 유일한 고리다.</a:t>
            </a:r>
          </a:p>
        </p:txBody>
      </p:sp>
      <p:pic>
        <p:nvPicPr>
          <p:cNvPr id="7" name="Picture 6" descr="image.png"/>
          <p:cNvPicPr>
            <a:picLocks noChangeAspect="1"/>
          </p:cNvPicPr>
          <p:nvPr/>
        </p:nvPicPr>
        <p:blipFill>
          <a:blip r:embed="rId3"/>
          <a:stretch>
            <a:fillRect/>
          </a:stretch>
        </p:blipFill>
        <p:spPr>
          <a:xfrm>
            <a:off x="609600" y="2071886"/>
            <a:ext cx="4787900" cy="574675"/>
          </a:xfrm>
          <a:prstGeom prst="rect">
            <a:avLst/>
          </a:prstGeom>
        </p:spPr>
      </p:pic>
      <p:sp>
        <p:nvSpPr>
          <p:cNvPr id="8" name="TextBox 7"/>
          <p:cNvSpPr txBox="1"/>
          <p:nvPr/>
        </p:nvSpPr>
        <p:spPr>
          <a:xfrm>
            <a:off x="609600" y="2637433"/>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Φ_(t,t+1)</a:t>
            </a:r>
            <a:r>
              <a:rPr sz="1050" b="0" i="0">
                <a:solidFill>
                  <a:srgbClr val="16213A"/>
                </a:solidFill>
                <a:latin typeface="Arial"/>
                <a:ea typeface="Malgun Gothic"/>
                <a:cs typeface="Malgun Gothic"/>
              </a:rPr>
              <a:t>과 </a:t>
            </a:r>
            <a:r>
              <a:rPr sz="1050" b="0" i="1">
                <a:solidFill>
                  <a:srgbClr val="16213A"/>
                </a:solidFill>
                <a:latin typeface="Arial"/>
                <a:ea typeface="Malgun Gothic"/>
                <a:cs typeface="Malgun Gothic"/>
              </a:rPr>
              <a:t>Q_(t,t+1)</a:t>
            </a:r>
            <a:r>
              <a:rPr sz="1050" b="0" i="0">
                <a:solidFill>
                  <a:srgbClr val="16213A"/>
                </a:solidFill>
                <a:latin typeface="Arial"/>
                <a:ea typeface="Malgun Gothic"/>
                <a:cs typeface="Malgun Gothic"/>
              </a:rPr>
              <a:t>은 등속 GP 사전분포(가속도에 백색 잡음)의 전이 행렬과 공분산이다. 행렬은 최솟값을 빼 양수로 만들고 </a:t>
            </a:r>
            <a:r>
              <a:rPr sz="1050" b="0" i="1">
                <a:solidFill>
                  <a:srgbClr val="16213A"/>
                </a:solidFill>
                <a:latin typeface="Arial"/>
                <a:ea typeface="Malgun Gothic"/>
                <a:cs typeface="Malgun Gothic"/>
              </a:rPr>
              <a:t>[0, 1]</a:t>
            </a:r>
            <a:r>
              <a:rPr sz="1050" b="0" i="0">
                <a:solidFill>
                  <a:srgbClr val="16213A"/>
                </a:solidFill>
                <a:latin typeface="Arial"/>
                <a:ea typeface="Malgun Gothic"/>
                <a:cs typeface="Malgun Gothic"/>
              </a:rPr>
              <a:t>로 정규화한다. 논문은 Sinkhorn 안의 지수 때문에 MPOT가 비용 크기에 민감하다고 적었다.</a:t>
            </a:r>
          </a:p>
        </p:txBody>
      </p:sp>
      <p:sp>
        <p:nvSpPr>
          <p:cNvPr id="9" name="TextBox 8"/>
          <p:cNvSpPr txBox="1"/>
          <p:nvPr/>
        </p:nvSpPr>
        <p:spPr>
          <a:xfrm>
            <a:off x="609600" y="315932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엔트로피 OT.</a:t>
            </a:r>
            <a:r>
              <a:rPr sz="1050" b="0" i="0">
                <a:solidFill>
                  <a:srgbClr val="16213A"/>
                </a:solidFill>
                <a:latin typeface="Arial"/>
                <a:ea typeface="Malgun Gothic"/>
                <a:cs typeface="Malgun Gothic"/>
              </a:rPr>
              <a:t> 주변분포는 균등하다. 엔트로피 항은 해를 유일하게 만들고, Sinkhorn 반복으로 빨리 풀리게 한다. </a:t>
            </a:r>
            <a:r>
              <a:rPr sz="1050" b="0" i="1">
                <a:solidFill>
                  <a:srgbClr val="16213A"/>
                </a:solidFill>
                <a:latin typeface="Arial"/>
                <a:ea typeface="Malgun Gothic"/>
                <a:cs typeface="Malgun Gothic"/>
              </a:rPr>
              <a:t>λ</a:t>
            </a:r>
            <a:r>
              <a:rPr sz="1050" b="0" i="0">
                <a:solidFill>
                  <a:srgbClr val="16213A"/>
                </a:solidFill>
                <a:latin typeface="Arial"/>
                <a:ea typeface="Malgun Gothic"/>
                <a:cs typeface="Malgun Gothic"/>
              </a:rPr>
              <a:t>가 크면 빠르지만 계획이 흐려지고, 작으면 수치가 불안정해진다. 논문은 </a:t>
            </a:r>
            <a:r>
              <a:rPr sz="1050" b="0" i="1">
                <a:solidFill>
                  <a:srgbClr val="16213A"/>
                </a:solidFill>
                <a:latin typeface="Arial"/>
                <a:ea typeface="Malgun Gothic"/>
                <a:cs typeface="Malgun Gothic"/>
              </a:rPr>
              <a:t>λ = 0.01</a:t>
            </a:r>
            <a:r>
              <a:rPr sz="1050" b="0" i="0">
                <a:solidFill>
                  <a:srgbClr val="16213A"/>
                </a:solidFill>
                <a:latin typeface="Arial"/>
                <a:ea typeface="Malgun Gothic"/>
                <a:cs typeface="Malgun Gothic"/>
              </a:rPr>
              <a:t>을 썼다.</a:t>
            </a:r>
          </a:p>
        </p:txBody>
      </p:sp>
      <p:pic>
        <p:nvPicPr>
          <p:cNvPr id="10" name="Picture 9" descr="image.png"/>
          <p:cNvPicPr>
            <a:picLocks noChangeAspect="1"/>
          </p:cNvPicPr>
          <p:nvPr/>
        </p:nvPicPr>
        <p:blipFill>
          <a:blip r:embed="rId4"/>
          <a:stretch>
            <a:fillRect/>
          </a:stretch>
        </p:blipFill>
        <p:spPr>
          <a:xfrm>
            <a:off x="609600" y="3681214"/>
            <a:ext cx="6359525" cy="346075"/>
          </a:xfrm>
          <a:prstGeom prst="rect">
            <a:avLst/>
          </a:prstGeom>
        </p:spPr>
      </p:pic>
      <p:sp>
        <p:nvSpPr>
          <p:cNvPr id="11" name="TextBox 10"/>
          <p:cNvSpPr txBox="1"/>
          <p:nvPr/>
        </p:nvSpPr>
        <p:spPr>
          <a:xfrm>
            <a:off x="609600" y="404842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로그 영역 Sinkhorn.</a:t>
            </a:r>
            <a:r>
              <a:rPr sz="1050" b="0" i="0">
                <a:solidFill>
                  <a:srgbClr val="16213A"/>
                </a:solidFill>
                <a:latin typeface="Arial"/>
                <a:ea typeface="Malgun Gothic"/>
                <a:cs typeface="Malgun Gothic"/>
              </a:rPr>
              <a:t> 쌍대 퍼텐셜 </a:t>
            </a:r>
            <a:r>
              <a:rPr sz="1050" b="0" i="1">
                <a:solidFill>
                  <a:srgbClr val="16213A"/>
                </a:solidFill>
                <a:latin typeface="Arial"/>
                <a:ea typeface="Malgun Gothic"/>
                <a:cs typeface="Malgun Gothic"/>
              </a:rPr>
              <a:t>f ∈ ℝ^N</a:t>
            </a:r>
            <a:r>
              <a:rPr sz="1050" b="0" i="0">
                <a:solidFill>
                  <a:srgbClr val="16213A"/>
                </a:solidFill>
                <a:latin typeface="Arial"/>
                <a:ea typeface="Malgun Gothic"/>
                <a:cs typeface="Malgun Gothic"/>
              </a:rPr>
              <a:t>과 </a:t>
            </a:r>
            <a:r>
              <a:rPr sz="1050" b="0" i="1">
                <a:solidFill>
                  <a:srgbClr val="16213A"/>
                </a:solidFill>
                <a:latin typeface="Arial"/>
                <a:ea typeface="Malgun Gothic"/>
                <a:cs typeface="Malgun Gothic"/>
              </a:rPr>
              <a:t>g ∈ ℝ^m</a:t>
            </a:r>
            <a:r>
              <a:rPr sz="1050" b="0" i="0">
                <a:solidFill>
                  <a:srgbClr val="16213A"/>
                </a:solidFill>
                <a:latin typeface="Arial"/>
                <a:ea typeface="Malgun Gothic"/>
                <a:cs typeface="Malgun Gothic"/>
              </a:rPr>
              <a:t>을 번갈아 고친다. 지수를 logsumexp 안에서만 계산하므로 </a:t>
            </a:r>
            <a:r>
              <a:rPr sz="1050" b="0" i="1">
                <a:solidFill>
                  <a:srgbClr val="16213A"/>
                </a:solidFill>
                <a:latin typeface="Arial"/>
                <a:ea typeface="Malgun Gothic"/>
                <a:cs typeface="Malgun Gothic"/>
              </a:rPr>
              <a:t>λ</a:t>
            </a:r>
            <a:r>
              <a:rPr sz="1050" b="0" i="0">
                <a:solidFill>
                  <a:srgbClr val="16213A"/>
                </a:solidFill>
                <a:latin typeface="Arial"/>
                <a:ea typeface="Malgun Gothic"/>
                <a:cs typeface="Malgun Gothic"/>
              </a:rPr>
              <a:t>가 작아도 넘치지 않는다.</a:t>
            </a:r>
          </a:p>
        </p:txBody>
      </p:sp>
      <p:pic>
        <p:nvPicPr>
          <p:cNvPr id="12" name="Picture 11" descr="image.png"/>
          <p:cNvPicPr>
            <a:picLocks noChangeAspect="1"/>
          </p:cNvPicPr>
          <p:nvPr/>
        </p:nvPicPr>
        <p:blipFill>
          <a:blip r:embed="rId5"/>
          <a:stretch>
            <a:fillRect/>
          </a:stretch>
        </p:blipFill>
        <p:spPr>
          <a:xfrm>
            <a:off x="609600" y="4353818"/>
            <a:ext cx="7232650" cy="241300"/>
          </a:xfrm>
          <a:prstGeom prst="rect">
            <a:avLst/>
          </a:prstGeom>
        </p:spPr>
      </p:pic>
      <p:sp>
        <p:nvSpPr>
          <p:cNvPr id="13" name="TextBox 12"/>
          <p:cNvSpPr txBox="1"/>
          <p:nvPr/>
        </p:nvSpPr>
        <p:spPr>
          <a:xfrm>
            <a:off x="609600" y="4631333"/>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논문 구현은 스케일 벡터를 곱해 나가다가 값이 커지면 로그 쪽으로 흡수하는 안정화를 쓴다(부록 E). 수학적으로는 같은 반복이다. Panda에서는 해가 수렴할수록 안쪽 반복이 1–2번으로 줄었다.</a:t>
            </a:r>
          </a:p>
        </p:txBody>
      </p:sp>
      <p:sp>
        <p:nvSpPr>
          <p:cNvPr id="14" name="TextBox 13"/>
          <p:cNvSpPr txBox="1"/>
          <p:nvPr/>
        </p:nvSpPr>
        <p:spPr>
          <a:xfrm>
            <a:off x="609600" y="493672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무게중심 사영.</a:t>
            </a:r>
            <a:r>
              <a:rPr sz="1050" b="0" i="0">
                <a:solidFill>
                  <a:srgbClr val="16213A"/>
                </a:solidFill>
                <a:latin typeface="Arial"/>
                <a:ea typeface="Malgun Gothic"/>
                <a:cs typeface="Malgun Gothic"/>
              </a:rPr>
              <a:t> 행마다 </a:t>
            </a:r>
            <a:r>
              <a:rPr sz="1050" b="0" i="1">
                <a:solidFill>
                  <a:srgbClr val="16213A"/>
                </a:solidFill>
                <a:latin typeface="Arial"/>
                <a:ea typeface="Malgun Gothic"/>
                <a:cs typeface="Malgun Gothic"/>
              </a:rPr>
              <a:t>N W^⋆_(t,·)</a:t>
            </a:r>
            <a:r>
              <a:rPr sz="1050" b="0" i="0">
                <a:solidFill>
                  <a:srgbClr val="16213A"/>
                </a:solidFill>
                <a:latin typeface="Arial"/>
                <a:ea typeface="Malgun Gothic"/>
                <a:cs typeface="Malgun Gothic"/>
              </a:rPr>
              <a:t>는 합이 1인 가중치다. 점은 꼭짓점 방향의 볼록 결합만큼 움직인다(식 4).</a:t>
            </a:r>
          </a:p>
        </p:txBody>
      </p:sp>
      <p:pic>
        <p:nvPicPr>
          <p:cNvPr id="15" name="Picture 14" descr="image.png"/>
          <p:cNvPicPr>
            <a:picLocks noChangeAspect="1"/>
          </p:cNvPicPr>
          <p:nvPr/>
        </p:nvPicPr>
        <p:blipFill>
          <a:blip r:embed="rId6"/>
          <a:stretch>
            <a:fillRect/>
          </a:stretch>
        </p:blipFill>
        <p:spPr>
          <a:xfrm>
            <a:off x="609600" y="5242123"/>
            <a:ext cx="4937125" cy="520700"/>
          </a:xfrm>
          <a:prstGeom prst="rect">
            <a:avLst/>
          </a:prstGeom>
        </p:spPr>
      </p:pic>
      <p:sp>
        <p:nvSpPr>
          <p:cNvPr id="16" name="TextBox 15"/>
          <p:cNvSpPr txBox="1"/>
          <p:nvPr/>
        </p:nvSpPr>
        <p:spPr>
          <a:xfrm>
            <a:off x="609600" y="5760641"/>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7개(문단·식·그림)는 대시보드 리서치 탭의 "자세히: MPOT의 Sinkhorn Step 수식과 제어열 매듭점 판" 토글에 있다.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MPPI 계열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E.11 최적 수송으로 샘플을 옮기는 최적화기: MPOT와 OT-MPC (TP-0130)</a:t>
            </a:r>
            <a:r>
              <a:rPr sz="1050" b="0" i="0">
                <a:solidFill>
                  <a:srgbClr val="5A6478"/>
                </a:solidFill>
                <a:latin typeface="Arial"/>
                <a:ea typeface="Malgun Gothic"/>
                <a:cs typeface="Malgun Gothic"/>
              </a:rPr>
              <a:t>  1/6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29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논문의 실험.</a:t>
            </a:r>
            <a:r>
              <a:rPr sz="1050" b="0" i="0">
                <a:solidFill>
                  <a:srgbClr val="16213A"/>
                </a:solidFill>
                <a:latin typeface="Arial"/>
                <a:ea typeface="Malgun Gothic"/>
                <a:cs typeface="Malgun Gothic"/>
              </a:rPr>
              <a:t> 시험은 모두 PyBullet 시뮬레이션이다. 기준선은 모두 PyTorch로 다시 구현했고, RRT*를 뺀 방법은 GPU 한 장(RTX 3080 Ti)에서 돌렸다. 칸의 세 수치는 계획 시간, 과제 성공률, 묶음 안에서 성공한 궤적의 비율이다. 과제 성공은 묶음 안에 성공한 궤적이 하나라도 있다는 뜻이다.</a:t>
            </a:r>
          </a:p>
        </p:txBody>
      </p:sp>
      <p:graphicFrame>
        <p:nvGraphicFramePr>
          <p:cNvPr id="6" name="Table 5"/>
          <p:cNvGraphicFramePr>
            <a:graphicFrameLocks noGrp="1"/>
          </p:cNvGraphicFramePr>
          <p:nvPr/>
        </p:nvGraphicFramePr>
        <p:xfrm>
          <a:off x="609600" y="1766491"/>
          <a:ext cx="10966450" cy="788352"/>
        </p:xfrm>
        <a:graphic>
          <a:graphicData uri="http://schemas.openxmlformats.org/drawingml/2006/table">
            <a:tbl>
              <a:tblPr firstRow="1" bandRow="1">
                <a:tableStyleId>{5C22544A-7EE6-4342-B048-85BDC9FD1C3A}</a:tableStyleId>
              </a:tblPr>
              <a:tblGrid>
                <a:gridCol w="4398863"/>
                <a:gridCol w="1641872"/>
                <a:gridCol w="1641872"/>
                <a:gridCol w="1641872"/>
                <a:gridCol w="1641971"/>
              </a:tblGrid>
              <a:tr h="197088">
                <a:tc>
                  <a:txBody>
                    <a:bodyPr wrap="square"/>
                    <a:lstStyle/>
                    <a:p>
                      <a:r>
                        <a:rPr sz="800" b="1" i="0">
                          <a:solidFill>
                            <a:srgbClr val="F4F1EA"/>
                          </a:solidFill>
                          <a:latin typeface="Arial"/>
                          <a:ea typeface="Malgun Gothic"/>
                          <a:cs typeface="Malgun Gothic"/>
                        </a:rPr>
                        <a:t>과제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MPOT</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SGPMP</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GPMP2</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CHOMP</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2차원 질점, 과제 1,000개, 궤적 100개 × 64스텝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0.4 s, 99.2%, 73.6%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6.5 s, 98.6%, 74.9%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2.8 s, 98.3%, 74.9%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0.5 s, 70.9%, 38.6%</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Panda 7자유도, 과제 500개, 궤적 10개 × 64스텝</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0.8 s, 71.6%, 60.2%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5.0 s, 67.8%, 58.1%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3.3 s, 66.0%, 53.2%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3.1 s, 63.0%, 51.6%</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TIAGo++ 18자유도(상태 36차원), 과제 20개, 궤적 1개 × 128스텝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1.49 s, 55%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27.75 s, 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40.11 s, 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16.74 s, 40%</a:t>
                      </a:r>
                    </a:p>
                  </a:txBody>
                  <a:tcPr marL="63500" marR="63500" marT="12700" marB="12700">
                    <a:solidFill>
                      <a:srgbClr val="FFFDF8"/>
                    </a:solidFill>
                  </a:tcPr>
                </a:tc>
              </a:tr>
            </a:tbl>
          </a:graphicData>
        </a:graphic>
      </p:graphicFrame>
      <p:sp>
        <p:nvSpPr>
          <p:cNvPr id="7" name="TextBox 6"/>
          <p:cNvSpPr txBox="1"/>
          <p:nvPr/>
        </p:nvSpPr>
        <p:spPr>
          <a:xfrm>
            <a:off x="609600" y="2847181"/>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TIAGo++ 행은 첫 해까지의 시간과 성공률이다. RRT*는 질점과 Panda에서 100%였지만 43.2 s와 186.9 s가 걸렸고, TIAGo++에서는 1,000 s 안에 해를 찾지 못했다. MPOT는 TIAGo++에서 매끄러움과 경로 길이가 가장 나빴다. 저자들은 매끄러움이 나빠진 까닭을 36-orthoplex(꼭짓점 72개)가 고차원에서 성기기 때문이라고 본다. 수렴까지의 시간은 지평과 궤적 수를 줄여도 질점 0.10 s, Panda 0.22 s 아래로 내려가지 않았다(그림 8). 프로젝트 페이지 기준으로 수렴에는 Sinkhorn Step이 질점 약 70번, Panda 약 60번, TIAGo++ 약 40번 들었다.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MPPI 계열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E.11 최적 수송으로 샘플을 옮기는 최적화기: MPOT와 OT-MPC (TP-0130)</a:t>
            </a:r>
            <a:r>
              <a:rPr sz="1050" b="0" i="0">
                <a:solidFill>
                  <a:srgbClr val="5A6478"/>
                </a:solidFill>
                <a:latin typeface="Arial"/>
                <a:ea typeface="Malgun Gothic"/>
                <a:cs typeface="Malgun Gothic"/>
              </a:rPr>
              <a:t>  2/6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30 / 183</a:t>
            </a:r>
          </a:p>
        </p:txBody>
      </p:sp>
      <p:pic>
        <p:nvPicPr>
          <p:cNvPr id="5" name="Picture 4" descr="image.jpg"/>
          <p:cNvPicPr>
            <a:picLocks noChangeAspect="1"/>
          </p:cNvPicPr>
          <p:nvPr/>
        </p:nvPicPr>
        <p:blipFill>
          <a:blip r:embed="rId3"/>
          <a:stretch>
            <a:fillRect/>
          </a:stretch>
        </p:blipFill>
        <p:spPr>
          <a:xfrm>
            <a:off x="1651000" y="1244600"/>
            <a:ext cx="8890000" cy="4445000"/>
          </a:xfrm>
          <a:prstGeom prst="rect">
            <a:avLst/>
          </a:prstGeom>
        </p:spPr>
      </p:pic>
      <p:sp>
        <p:nvSpPr>
          <p:cNvPr id="6" name="TextBox 5"/>
          <p:cNvSpPr txBox="1"/>
          <p:nvPr/>
        </p:nvSpPr>
        <p:spPr>
          <a:xfrm>
            <a:off x="1651000" y="5727700"/>
            <a:ext cx="889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MPOT (Fig. 8): 수렴까지의 계획 시간(초). 가로는 지평, 세로는 궤적 수이고 왼쪽이 질점, 오른쪽이 Panda다. 가장 짧은 칸도 질점 0.10 s, Panda 0.22 s다(가장 작은 묶음은 0.13 s, 0.25 s). 출처: arXiv:2309.15970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MPPI 계열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E.11 최적 수송으로 샘플을 옮기는 최적화기: MPOT와 OT-MPC (TP-0130)</a:t>
            </a:r>
            <a:r>
              <a:rPr sz="1050" b="0" i="0">
                <a:solidFill>
                  <a:srgbClr val="5A6478"/>
                </a:solidFill>
                <a:latin typeface="Arial"/>
                <a:ea typeface="Malgun Gothic"/>
                <a:cs typeface="Malgun Gothic"/>
              </a:rPr>
              <a:t>  3/6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31 / 183</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다른 연구실의 비교에서는 약점이 드러났다.</a:t>
            </a:r>
            <a:r>
              <a:rPr sz="1050" b="0" i="0">
                <a:solidFill>
                  <a:srgbClr val="16213A"/>
                </a:solidFill>
                <a:latin typeface="Arial"/>
                <a:ea typeface="Malgun Gothic"/>
                <a:cs typeface="Malgun Gothic"/>
              </a:rPr>
              <a:t> 물리 기반 신경장으로 실내 내비게이션을 푸는 </a:t>
            </a:r>
            <a:r>
              <a:rPr sz="1050" b="0" i="0">
                <a:solidFill>
                  <a:srgbClr val="1D4ED8"/>
                </a:solidFill>
                <a:latin typeface="Arial"/>
                <a:ea typeface="Malgun Gothic"/>
                <a:cs typeface="Malgun Gothic"/>
                <a:hlinkClick r:id="rId3"/>
              </a:rPr>
              <a:t>mNTFields</a:t>
            </a:r>
            <a:r>
              <a:rPr sz="1050" b="0" i="0">
                <a:solidFill>
                  <a:srgbClr val="16213A"/>
                </a:solidFill>
                <a:latin typeface="Arial"/>
                <a:ea typeface="Malgun Gothic"/>
                <a:cs typeface="Malgun Gothic"/>
              </a:rPr>
              <a:t>(2025)는 Gibson 실내 지도 8곳에서 MPOT를 비교했다. 지도마다 시작과 목표 200쌍을 모든 방법에 똑같이 주었다. 방이 7–19개인 지도에서 MPOT의 성공률은 91.0–96.5%였고, 방 22·24개에서는 77.0%와 65.0%로 떨어졌다. 방이 가장 많은 두 지도(방 30개 1,018 m², 방 42개 550 m²)에서는 11.5%와 23.0%였다. 저자들은 MPOT가 국소 최소에 빠지기 쉽고, 복잡한 지도에서는 시작과 목표가 가까운 문제만 풀었다고 적었다. </a:t>
            </a:r>
            <a:r>
              <a:rPr sz="1050" b="0" i="0">
                <a:solidFill>
                  <a:srgbClr val="1D4ED8"/>
                </a:solidFill>
                <a:latin typeface="Arial"/>
                <a:ea typeface="Malgun Gothic"/>
                <a:cs typeface="Malgun Gothic"/>
                <a:hlinkClick r:id="rId4"/>
              </a:rPr>
              <a:t>SPLANNING</a:t>
            </a:r>
            <a:r>
              <a:rPr sz="1050" b="0" i="0">
                <a:solidFill>
                  <a:srgbClr val="16213A"/>
                </a:solidFill>
                <a:latin typeface="Arial"/>
                <a:ea typeface="Malgun Gothic"/>
                <a:cs typeface="Malgun Gothic"/>
              </a:rPr>
              <a:t>의 7자유도 Kinova 팔 시뮬레이션에서는 장애물 기하를 정확히 받고도, 장애물 10·20·40개의 100장면 가운데 58·23·9번만 성공했다. 나머지 42·77·91번은 모두 충돌로 끝났다. 같은 표의 cuRobo도 59·45·22번 성공하고 나머지가 충돌이었다.</a:t>
            </a:r>
          </a:p>
        </p:txBody>
      </p:sp>
      <p:pic>
        <p:nvPicPr>
          <p:cNvPr id="6" name="Picture 5" descr="image.jpg"/>
          <p:cNvPicPr>
            <a:picLocks noChangeAspect="1"/>
          </p:cNvPicPr>
          <p:nvPr/>
        </p:nvPicPr>
        <p:blipFill>
          <a:blip r:embed="rId5"/>
          <a:stretch>
            <a:fillRect/>
          </a:stretch>
        </p:blipFill>
        <p:spPr>
          <a:xfrm>
            <a:off x="609600" y="2415977"/>
            <a:ext cx="4108450" cy="2667000"/>
          </a:xfrm>
          <a:prstGeom prst="rect">
            <a:avLst/>
          </a:prstGeom>
        </p:spPr>
      </p:pic>
      <p:sp>
        <p:nvSpPr>
          <p:cNvPr id="7" name="TextBox 6"/>
          <p:cNvSpPr txBox="1"/>
          <p:nvPr/>
        </p:nvSpPr>
        <p:spPr>
          <a:xfrm>
            <a:off x="609600" y="5121077"/>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mNTFields (Fig. 3 a): Gibson Sultan 지도(358 m²)의 한 시작과 목표. MPOT(빨강)의 경로는 가운데 큰 방에서 크게 휘었다. 보라는 FMM(fast marching method), 초록은 RRTConnect, 청록은 Lazy-PRM이다. 출처: arXiv:2510.01519</a:t>
            </a:r>
          </a:p>
        </p:txBody>
      </p:sp>
      <p:pic>
        <p:nvPicPr>
          <p:cNvPr id="8" name="Picture 7" descr="image.jpg"/>
          <p:cNvPicPr>
            <a:picLocks noChangeAspect="1"/>
          </p:cNvPicPr>
          <p:nvPr/>
        </p:nvPicPr>
        <p:blipFill>
          <a:blip r:embed="rId6"/>
          <a:stretch>
            <a:fillRect/>
          </a:stretch>
        </p:blipFill>
        <p:spPr>
          <a:xfrm>
            <a:off x="6172200" y="2415977"/>
            <a:ext cx="3378200" cy="2667000"/>
          </a:xfrm>
          <a:prstGeom prst="rect">
            <a:avLst/>
          </a:prstGeom>
        </p:spPr>
      </p:pic>
      <p:sp>
        <p:nvSpPr>
          <p:cNvPr id="9" name="TextBox 8"/>
          <p:cNvSpPr txBox="1"/>
          <p:nvPr/>
        </p:nvSpPr>
        <p:spPr>
          <a:xfrm>
            <a:off x="6172200" y="5121077"/>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mNTFields (Fig. 3 b): Gibson Sanctuary 지도(289 m²). 여러 번 꺾어야 하는 경로라 MPOT는 해를 내지 못했고, 그래서 빨간 선이 없다. 출처: arXiv:2510.01519</a:t>
            </a:r>
          </a:p>
        </p:txBody>
      </p:sp>
      <p:sp>
        <p:nvSpPr>
          <p:cNvPr id="10" name="TextBox 9"/>
          <p:cNvSpPr txBox="1"/>
          <p:nvPr/>
        </p:nvSpPr>
        <p:spPr>
          <a:xfrm>
            <a:off x="609600" y="549433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코드.</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7"/>
              </a:rPr>
              <a:t>anindex/mpot</a:t>
            </a:r>
            <a:r>
              <a:rPr sz="1050" b="0" i="0">
                <a:solidFill>
                  <a:srgbClr val="16213A"/>
                </a:solidFill>
                <a:latin typeface="Arial"/>
                <a:ea typeface="Malgun Gothic"/>
                <a:cs typeface="Malgun Gothic"/>
              </a:rPr>
              <a:t>는 MIT 라이선스의 PyTorch 코드다. 2026-05에 0.1.0(Beta)으로 정리됐지만 커밋은 15개이고 테스트가 없다. torch_robotics의 특정 커밋에 의존하고, 논문 표를 낸 벤치마크 스크립트 없이 예제 셋만 있다. 2026-10 기준으로 결함이 둘 있다.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MPPI 계열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E.11 최적 수송으로 샘플을 옮기는 최적화기: MPOT와 OT-MPC (TP-0130)</a:t>
            </a:r>
            <a:r>
              <a:rPr sz="1050" b="0" i="0">
                <a:solidFill>
                  <a:srgbClr val="5A6478"/>
                </a:solidFill>
                <a:latin typeface="Arial"/>
                <a:ea typeface="Malgun Gothic"/>
                <a:cs typeface="Malgun Gothic"/>
              </a:rPr>
              <a:t>  4/6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32 / 183</a:t>
            </a:r>
          </a:p>
        </p:txBody>
      </p:sp>
      <p:sp>
        <p:nvSpPr>
          <p:cNvPr id="5" name="TextBox 4"/>
          <p:cNvSpPr txBox="1"/>
          <p:nvPr/>
        </p:nvSpPr>
        <p:spPr>
          <a:xfrm>
            <a:off x="609600" y="1244600"/>
            <a:ext cx="10972800" cy="6748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반경 어닐링이 동작하지 않는다.</a:t>
            </a:r>
            <a:r>
              <a:rPr sz="1050" b="0" i="0">
                <a:solidFill>
                  <a:srgbClr val="16213A"/>
                </a:solidFill>
                <a:latin typeface="Arial"/>
                <a:ea typeface="Malgun Gothic"/>
                <a:cs typeface="Malgun Gothic"/>
              </a:rPr>
              <a:t> 2025-11의 JIT(just-in-time) 컴파일 리팩터부터 반경을 매 스텝 처음 반경 </a:t>
            </a:r>
            <a:r>
              <a:rPr sz="1050" b="0" i="1">
                <a:solidFill>
                  <a:srgbClr val="16213A"/>
                </a:solidFill>
                <a:latin typeface="Arial"/>
                <a:ea typeface="Malgun Gothic"/>
                <a:cs typeface="Malgun Gothic"/>
              </a:rPr>
              <a:t>r₀</a:t>
            </a:r>
            <a:r>
              <a:rPr sz="1050" b="0" i="0">
                <a:solidFill>
                  <a:srgbClr val="16213A"/>
                </a:solidFill>
                <a:latin typeface="Arial"/>
                <a:ea typeface="Malgun Gothic"/>
                <a:cs typeface="Malgun Gothic"/>
              </a:rPr>
              <a:t>에서 다시 계산한다. 스케줄러의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은 반복할수록 커지지 않으므로 반경은 </a:t>
            </a:r>
            <a:r>
              <a:rPr sz="1050" b="0" i="1">
                <a:solidFill>
                  <a:srgbClr val="16213A"/>
                </a:solidFill>
                <a:latin typeface="Arial"/>
                <a:ea typeface="Malgun Gothic"/>
                <a:cs typeface="Malgun Gothic"/>
              </a:rPr>
              <a:t>(1-ε) r₀</a:t>
            </a:r>
            <a:r>
              <a:rPr sz="1050" b="0" i="0">
                <a:solidFill>
                  <a:srgbClr val="16213A"/>
                </a:solidFill>
                <a:latin typeface="Arial"/>
                <a:ea typeface="Malgun Gothic"/>
                <a:cs typeface="Malgun Gothic"/>
              </a:rPr>
              <a:t> 아래로 줄지 않는다. 예제 설정에서는 처음 반경의 0.98–0.99배에 고정된다. 2023년 코드는 스텝마다 </a:t>
            </a:r>
            <a:r>
              <a:rPr sz="1050" b="0" i="1">
                <a:solidFill>
                  <a:srgbClr val="16213A"/>
                </a:solidFill>
                <a:latin typeface="Arial"/>
                <a:ea typeface="Malgun Gothic"/>
                <a:cs typeface="Malgun Gothic"/>
              </a:rPr>
              <a:t>r ← (1-ε) r</a:t>
            </a:r>
            <a:r>
              <a:rPr sz="1050" b="0" i="0">
                <a:solidFill>
                  <a:srgbClr val="16213A"/>
                </a:solidFill>
                <a:latin typeface="Arial"/>
                <a:ea typeface="Malgun Gothic"/>
                <a:cs typeface="Malgun Gothic"/>
              </a:rPr>
              <a:t>로 줄였다.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Consolas"/>
                <a:ea typeface="Malgun Gothic"/>
                <a:cs typeface="Malgun Gothic"/>
              </a:rPr>
              <a:t>polytope</a:t>
            </a:r>
            <a:r>
              <a:rPr sz="1050" b="1" i="0">
                <a:solidFill>
                  <a:srgbClr val="16213A"/>
                </a:solidFill>
                <a:latin typeface="Arial"/>
                <a:ea typeface="Malgun Gothic"/>
                <a:cs typeface="Malgun Gothic"/>
              </a:rPr>
              <a:t> 인자가 전달되지 않는다.</a:t>
            </a:r>
            <a:r>
              <a:rPr sz="1050" b="0" i="0">
                <a:solidFill>
                  <a:srgbClr val="16213A"/>
                </a:solidFill>
                <a:latin typeface="Arial"/>
                <a:ea typeface="Malgun Gothic"/>
                <a:cs typeface="Malgun Gothic"/>
              </a:rPr>
              <a:t> 첫 공개(2023-10)부터 </a:t>
            </a:r>
            <a:r>
              <a:rPr sz="1050" b="0" i="0">
                <a:solidFill>
                  <a:srgbClr val="16213A"/>
                </a:solidFill>
                <a:latin typeface="Consolas"/>
                <a:ea typeface="Malgun Gothic"/>
                <a:cs typeface="Malgun Gothic"/>
              </a:rPr>
              <a:t>MPOT(polytope=...)</a:t>
            </a:r>
            <a:r>
              <a:rPr sz="1050" b="0" i="0">
                <a:solidFill>
                  <a:srgbClr val="16213A"/>
                </a:solidFill>
                <a:latin typeface="Arial"/>
                <a:ea typeface="Malgun Gothic"/>
                <a:cs typeface="Malgun Gothic"/>
              </a:rPr>
              <a:t>가 Sinkhorn Step으로 넘어가지 않는다. 그래서 예제의 </a:t>
            </a:r>
            <a:r>
              <a:rPr sz="1050" b="0" i="0">
                <a:solidFill>
                  <a:srgbClr val="16213A"/>
                </a:solidFill>
                <a:latin typeface="Consolas"/>
                <a:ea typeface="Malgun Gothic"/>
                <a:cs typeface="Malgun Gothic"/>
              </a:rPr>
              <a:t>'cube'</a:t>
            </a:r>
            <a:r>
              <a:rPr sz="1050" b="0" i="0">
                <a:solidFill>
                  <a:srgbClr val="16213A"/>
                </a:solidFill>
                <a:latin typeface="Arial"/>
                <a:ea typeface="Malgun Gothic"/>
                <a:cs typeface="Malgun Gothic"/>
              </a:rPr>
              <a:t> 설정과 상관없이 늘 orthoplex를 쓴다.</a:t>
            </a:r>
          </a:p>
        </p:txBody>
      </p:sp>
      <p:sp>
        <p:nvSpPr>
          <p:cNvPr id="6" name="TextBox 5"/>
          <p:cNvSpPr txBox="1"/>
          <p:nvPr/>
        </p:nvSpPr>
        <p:spPr>
          <a:xfrm>
            <a:off x="609600" y="20083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후속 연구.</a:t>
            </a:r>
            <a:r>
              <a:rPr sz="1050" b="0" i="0">
                <a:solidFill>
                  <a:srgbClr val="16213A"/>
                </a:solidFill>
                <a:latin typeface="Arial"/>
                <a:ea typeface="Malgun Gothic"/>
                <a:cs typeface="Malgun Gothic"/>
              </a:rPr>
              <a:t> MPOT 제1저자(An T. Le)가 참여한 후속은 대부분 오프라인 계획이다. 그가 제1저자인 MPC 후속 MTP는 OT를 쓰지 않는다.</a:t>
            </a:r>
          </a:p>
        </p:txBody>
      </p:sp>
      <p:graphicFrame>
        <p:nvGraphicFramePr>
          <p:cNvPr id="7" name="Table 6"/>
          <p:cNvGraphicFramePr>
            <a:graphicFrameLocks noGrp="1"/>
          </p:cNvGraphicFramePr>
          <p:nvPr/>
        </p:nvGraphicFramePr>
        <p:xfrm>
          <a:off x="609600" y="2313781"/>
          <a:ext cx="10966450" cy="985440"/>
        </p:xfrm>
        <a:graphic>
          <a:graphicData uri="http://schemas.openxmlformats.org/drawingml/2006/table">
            <a:tbl>
              <a:tblPr firstRow="1" bandRow="1">
                <a:tableStyleId>{5C22544A-7EE6-4342-B048-85BDC9FD1C3A}</a:tableStyleId>
              </a:tblPr>
              <a:tblGrid>
                <a:gridCol w="1095276"/>
                <a:gridCol w="5873353"/>
                <a:gridCol w="3997821"/>
              </a:tblGrid>
              <a:tr h="197088">
                <a:tc>
                  <a:txBody>
                    <a:bodyPr wrap="square"/>
                    <a:lstStyle/>
                    <a:p>
                      <a:r>
                        <a:rPr sz="800" b="1" i="0">
                          <a:solidFill>
                            <a:srgbClr val="F4F1EA"/>
                          </a:solidFill>
                          <a:latin typeface="Arial"/>
                          <a:ea typeface="Malgun Gothic"/>
                          <a:cs typeface="Malgun Gothic"/>
                        </a:rPr>
                        <a:t>후속</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receding horizon</a:t>
                      </a:r>
                    </a:p>
                  </a:txBody>
                  <a:tcPr marL="63500" marR="63500" marT="12700" marB="12700">
                    <a:solidFill>
                      <a:srgbClr val="16213A"/>
                    </a:solidFill>
                  </a:tcPr>
                </a:tc>
              </a:tr>
              <a:tr h="197088">
                <a:tc>
                  <a:txBody>
                    <a:bodyPr wrap="square"/>
                    <a:lstStyle/>
                    <a:p>
                      <a:r>
                        <a:rPr sz="800" b="0" i="0">
                          <a:solidFill>
                            <a:srgbClr val="1D4ED8"/>
                          </a:solidFill>
                          <a:latin typeface="Arial"/>
                          <a:ea typeface="Malgun Gothic"/>
                          <a:cs typeface="Malgun Gothic"/>
                          <a:hlinkClick r:id="rId3"/>
                        </a:rPr>
                        <a:t>ssax</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Sinkhorn Step의 JAX 판(MIT, OTT-JAX 기반). 궤적과 GP 구조 없이 일반 함수를 최적화한다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아니다</a:t>
                      </a:r>
                    </a:p>
                  </a:txBody>
                  <a:tcPr marL="63500" marR="63500" marT="12700" marB="12700">
                    <a:solidFill>
                      <a:srgbClr val="FFFDF8"/>
                    </a:solidFill>
                  </a:tcPr>
                </a:tc>
              </a:tr>
              <a:tr h="197088">
                <a:tc>
                  <a:txBody>
                    <a:bodyPr wrap="square"/>
                    <a:lstStyle/>
                    <a:p>
                      <a:r>
                        <a:rPr sz="800" b="0" i="0">
                          <a:solidFill>
                            <a:srgbClr val="1D4ED8"/>
                          </a:solidFill>
                          <a:latin typeface="Arial"/>
                          <a:ea typeface="Malgun Gothic"/>
                          <a:cs typeface="Malgun Gothic"/>
                          <a:hlinkClick r:id="rId4"/>
                        </a:rPr>
                        <a:t>GTMP</a:t>
                      </a:r>
                      <a:r>
                        <a:rPr sz="800" b="0" i="0">
                          <a:solidFill>
                            <a:srgbClr val="16213A"/>
                          </a:solidFill>
                          <a:latin typeface="Arial"/>
                          <a:ea typeface="Malgun Gothic"/>
                          <a:cs typeface="Malgun Gothic"/>
                        </a:rPr>
                        <a:t> (RA-L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무작위 다분 그래프 위의 배치 계획기(JAX). Sinkhorn은 경로 다양성 지표로만 쓴다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아니다</a:t>
                      </a:r>
                    </a:p>
                  </a:txBody>
                  <a:tcPr marL="63500" marR="63500" marT="12700" marB="12700">
                    <a:solidFill>
                      <a:srgbClr val="F3F0E8"/>
                    </a:solidFill>
                  </a:tcPr>
                </a:tc>
              </a:tr>
              <a:tr h="197088">
                <a:tc>
                  <a:txBody>
                    <a:bodyPr wrap="square"/>
                    <a:lstStyle/>
                    <a:p>
                      <a:r>
                        <a:rPr sz="800" b="0" i="0">
                          <a:solidFill>
                            <a:srgbClr val="1D4ED8"/>
                          </a:solidFill>
                          <a:latin typeface="Arial"/>
                          <a:ea typeface="Malgun Gothic"/>
                          <a:cs typeface="Malgun Gothic"/>
                          <a:hlinkClick r:id="rId5"/>
                        </a:rPr>
                        <a:t>CLOT</a:t>
                      </a:r>
                      <a:r>
                        <a:rPr sz="800" b="0" i="0">
                          <a:solidFill>
                            <a:srgbClr val="16213A"/>
                          </a:solidFill>
                          <a:latin typeface="Arial"/>
                          <a:ea typeface="Malgun Gothic"/>
                          <a:cs typeface="Malgun Gothic"/>
                        </a:rPr>
                        <a:t> (ICRA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0차 Sinkhorn 스텝으로 다중 로봇 전체의 궤적 묶음을 최적화한다. 로봇 100대 넘게 평균 몇 초에 계획하고 하드웨어로 시연했다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아니다</a:t>
                      </a:r>
                    </a:p>
                  </a:txBody>
                  <a:tcPr marL="63500" marR="63500" marT="12700" marB="12700">
                    <a:solidFill>
                      <a:srgbClr val="FFFDF8"/>
                    </a:solidFill>
                  </a:tcPr>
                </a:tc>
              </a:tr>
              <a:tr h="197088">
                <a:tc>
                  <a:txBody>
                    <a:bodyPr wrap="square"/>
                    <a:lstStyle/>
                    <a:p>
                      <a:r>
                        <a:rPr sz="800" b="0" i="0">
                          <a:solidFill>
                            <a:srgbClr val="1D4ED8"/>
                          </a:solidFill>
                          <a:latin typeface="Arial"/>
                          <a:ea typeface="Malgun Gothic"/>
                          <a:cs typeface="Malgun Gothic"/>
                          <a:hlinkClick r:id="rId6"/>
                        </a:rPr>
                        <a:t>MTP</a:t>
                      </a:r>
                      <a:r>
                        <a:rPr sz="800" b="0" i="0">
                          <a:solidFill>
                            <a:srgbClr val="16213A"/>
                          </a:solidFill>
                          <a:latin typeface="Arial"/>
                          <a:ea typeface="Malgun Gothic"/>
                          <a:cs typeface="Malgun Gothic"/>
                        </a:rPr>
                        <a:t> (TMLR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무작위 다분 그래프와 스플라인 보간으로 제어열을 뽑고, 수정한 CEM(cross-entropy method)으로 갱신한다. OT는 쓰지 않는다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그렇다. 계획 한 번이 2.7 ms로 MPPI(2.6 ms)와 비슷하다(RTX 3090, 시뮬레이션만)</a:t>
                      </a:r>
                    </a:p>
                  </a:txBody>
                  <a:tcPr marL="63500" marR="63500" marT="12700" marB="12700">
                    <a:solidFill>
                      <a:srgbClr val="F3F0E8"/>
                    </a:solidFill>
                  </a:tcPr>
                </a:tc>
              </a:tr>
            </a:tbl>
          </a:graphicData>
        </a:graphic>
      </p:graphicFrame>
      <p:sp>
        <p:nvSpPr>
          <p:cNvPr id="8" name="TextBox 7"/>
          <p:cNvSpPr txBox="1"/>
          <p:nvPr/>
        </p:nvSpPr>
        <p:spPr>
          <a:xfrm>
            <a:off x="609600" y="364083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같은 저자의 후속(2026-05).</a:t>
            </a:r>
            <a:r>
              <a:rPr sz="1050" b="0" i="0">
                <a:solidFill>
                  <a:srgbClr val="16213A"/>
                </a:solidFill>
                <a:latin typeface="Arial"/>
                <a:ea typeface="Malgun Gothic"/>
                <a:cs typeface="Malgun Gothic"/>
              </a:rPr>
              <a:t> PolyStep은 Sinkhorn 반복을 떼고 softmax 배정과 무게중심 투영만 남겨, 기울기 없는 신경망 학습기로 옮겼다. 갱신 규칙이 MPPI와 같은 꼴이라 Controller 후보는 아니고, 기울기가 없는 정책 학습(E.12)에 쓸 후보다. 배경 0.2b ①b.</a:t>
            </a:r>
          </a:p>
        </p:txBody>
      </p:sp>
      <p:sp>
        <p:nvSpPr>
          <p:cNvPr id="9" name="TextBox 8"/>
          <p:cNvSpPr txBox="1"/>
          <p:nvPr/>
        </p:nvSpPr>
        <p:spPr>
          <a:xfrm>
            <a:off x="717550" y="4162723"/>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OT-MPC: 입자를 가까운 저비용 제안 쪽으로 옮긴다</a:t>
            </a:r>
          </a:p>
        </p:txBody>
      </p:sp>
      <p:sp>
        <p:nvSpPr>
          <p:cNvPr id="10" name="TextBox 9"/>
          <p:cNvSpPr txBox="1"/>
          <p:nvPr/>
        </p:nvSpPr>
        <p:spPr>
          <a:xfrm>
            <a:off x="609600" y="4465935"/>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OT-MPC(</a:t>
            </a:r>
            <a:r>
              <a:rPr sz="1050" b="0" i="0">
                <a:solidFill>
                  <a:srgbClr val="1D4ED8"/>
                </a:solidFill>
                <a:latin typeface="Arial"/>
                <a:ea typeface="Malgun Gothic"/>
                <a:cs typeface="Malgun Gothic"/>
                <a:hlinkClick r:id="rId7"/>
              </a:rPr>
              <a:t>arXiv:2605.02147</a:t>
            </a:r>
            <a:r>
              <a:rPr sz="1050" b="0" i="0">
                <a:solidFill>
                  <a:srgbClr val="16213A"/>
                </a:solidFill>
                <a:latin typeface="Arial"/>
                <a:ea typeface="Malgun Gothic"/>
                <a:cs typeface="Malgun Gothic"/>
              </a:rPr>
              <a:t>, 2026-05 v1)는 MPPI의 가중 평균 단계를 엔트로피 OT로 바꾼 receding horizon 제어기다. 저자는 MPPI를 낸 Georgia Tech의 Theodorou 연구실이다(Pacelli·Ratheesh·Theodorou). 제어열 입자 몇 개를 MPPI처럼 뽑은 제안과 짝짓고, 입자마다 가까운 저비용 제안의 무게중심으로 옮긴다. 입자가 하나면 정확히 MPPI가 된다. 검증은 시뮬레이션뿐이고, </a:t>
            </a:r>
            <a:r>
              <a:rPr sz="1050" b="0" i="0">
                <a:solidFill>
                  <a:srgbClr val="1D4ED8"/>
                </a:solidFill>
                <a:latin typeface="Arial"/>
                <a:ea typeface="Malgun Gothic"/>
                <a:cs typeface="Malgun Gothic"/>
                <a:hlinkClick r:id="rId8"/>
              </a:rPr>
              <a:t>프로젝트 페이지</a:t>
            </a:r>
            <a:r>
              <a:rPr sz="1050" b="0" i="0">
                <a:solidFill>
                  <a:srgbClr val="16213A"/>
                </a:solidFill>
                <a:latin typeface="Arial"/>
                <a:ea typeface="Malgun Gothic"/>
                <a:cs typeface="Malgun Gothic"/>
              </a:rPr>
              <a:t>에 코드 링크는 없다(2026-10).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MPPI 계열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E.11 최적 수송으로 샘플을 옮기는 최적화기: MPOT와 OT-MPC (TP-0130)</a:t>
            </a:r>
            <a:r>
              <a:rPr sz="1050" b="0" i="0">
                <a:solidFill>
                  <a:srgbClr val="5A6478"/>
                </a:solidFill>
                <a:latin typeface="Arial"/>
                <a:ea typeface="Malgun Gothic"/>
                <a:cs typeface="Malgun Gothic"/>
              </a:rPr>
              <a:t>  5/6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33 / 183</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제안의 무게는 rollout 전체 비용의 Gibbs 가중치 </a:t>
            </a:r>
            <a:r>
              <a:rPr sz="1050" b="0" i="1">
                <a:solidFill>
                  <a:srgbClr val="16213A"/>
                </a:solidFill>
                <a:latin typeface="Arial"/>
                <a:ea typeface="Malgun Gothic"/>
                <a:cs typeface="Malgun Gothic"/>
              </a:rPr>
              <a:t>p_j ∝ e^(-β S(y_j))</a:t>
            </a:r>
            <a:r>
              <a:rPr sz="1050" b="0" i="0">
                <a:solidFill>
                  <a:srgbClr val="16213A"/>
                </a:solidFill>
                <a:latin typeface="Arial"/>
                <a:ea typeface="Malgun Gothic"/>
                <a:cs typeface="Malgun Gothic"/>
              </a:rPr>
              <a:t>이고, 입자의 무게는 균등하다. 수송 비용은 제어 공간의 거리다. 그래서 입자는 멀리 있는 전역 최저점이 아니라 가까이 있는 싼 제안 쪽으로 움직인다. 장애물 양쪽처럼 서로 다른 모드가 평균되지 않고 남는다. 논문은 MPOT를 가장 비슷한 선행 연구로 꼽고, 차이를 비용이 들어가는 자리로 설명한다. MPOT는 비용을 수송 비용 행렬에 넣고, OT-MPC는 주변분포에 넣는다. MPC 주기마다 이 갱신을 몇 번 반복한 뒤, 비용이 가장 낮은 입자의 첫 제어를 실행하고 입자를 한 칸 앞당겨 다음 주기에 쓴다. 이득은 모드가 여럿인 과제에서 컸다. 3차원 밀집 장애물의 쿼드로터 Hard에서 성공률은 92% 대 MPPI 19%였다. 저자들은 MPPI의 실패가 충돌이 아니라, 길을 찾지 못하고 국소 최소에 갇힌 탓이라고 적었다. 쿼드로터 둘의 하중 운반(91% 대 22%)과 평면 Push-T(76% 대 4%)도 차이가 컸다.</a:t>
            </a:r>
          </a:p>
        </p:txBody>
      </p:sp>
      <p:sp>
        <p:nvSpPr>
          <p:cNvPr id="6" name="TextBox 5"/>
          <p:cNvSpPr txBox="1"/>
          <p:nvPr/>
        </p:nvSpPr>
        <p:spPr>
          <a:xfrm>
            <a:off x="609600" y="2415977"/>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들이기는 쉽지만, travplan과 가까운 과제에서 이득은 유의하지 않았다.</a:t>
            </a:r>
            <a:r>
              <a:rPr sz="1050" b="0" i="0">
                <a:solidFill>
                  <a:srgbClr val="16213A"/>
                </a:solidFill>
                <a:latin typeface="Arial"/>
                <a:ea typeface="Malgun Gothic"/>
                <a:cs typeface="Malgun Gothic"/>
              </a:rPr>
              <a:t> 갱신이 MPPI와 같은 rollout과 rollout 전체 비용 </a:t>
            </a:r>
            <a:r>
              <a:rPr sz="1050" b="0" i="1">
                <a:solidFill>
                  <a:srgbClr val="16213A"/>
                </a:solidFill>
                <a:latin typeface="Arial"/>
                <a:ea typeface="Malgun Gothic"/>
                <a:cs typeface="Malgun Gothic"/>
              </a:rPr>
              <a:t>S(u)</a:t>
            </a:r>
            <a:r>
              <a:rPr sz="1050" b="0" i="0">
                <a:solidFill>
                  <a:srgbClr val="16213A"/>
                </a:solidFill>
                <a:latin typeface="Arial"/>
                <a:ea typeface="Malgun Gothic"/>
                <a:cs typeface="Malgun Gothic"/>
              </a:rPr>
              <a:t>를 쓰므로 </a:t>
            </a:r>
            <a:r>
              <a:rPr sz="1050" b="0" i="0">
                <a:solidFill>
                  <a:srgbClr val="16213A"/>
                </a:solidFill>
                <a:latin typeface="Consolas"/>
                <a:ea typeface="Malgun Gothic"/>
                <a:cs typeface="Malgun Gothic"/>
              </a:rPr>
              <a:t>CostTerm</a:t>
            </a:r>
            <a:r>
              <a:rPr sz="1050" b="0" i="0">
                <a:solidFill>
                  <a:srgbClr val="16213A"/>
                </a:solidFill>
                <a:latin typeface="Arial"/>
                <a:ea typeface="Malgun Gothic"/>
                <a:cs typeface="Malgun Gothic"/>
              </a:rPr>
              <a:t>과 rollout 모델에 그대로 맞는다. 가장 가까운 과제는 이진 충돌 비용을 쓰는 2차원 자전거 모델 차량이다. 성공률은 Easy 100회에서 99% 대 95%, Hard 200회에서 93.5% 대 88.5%였다. 우리가 계산한 양측 Fisher 정확 검정은 p ≈ 0.21과 0.11이라 유의하지 않다. 성공한 실행의 평균 도달 스텝은 오히려 길었다(76.1 대 57.2, 89.5 대 61.7). 비교 조건도 같지 않았다. 차량 과제에서 OT-MPC는 지평 70스텝에 입자 20개를 두고, 8번 반복하며 반복마다 제안 200개를 뽑았다. MPPI는 지평 30스텝으로 8번 반복하며 반복마다 샘플 500개를 뽑았다. 비용 가중치도 방법마다 Optuna로 따로 맞췄다(장애물 가중치 479.0 대 281.1). 쿼드로터 비교도 지평(100 대 60)과 가중치가 달랐다. MPPI를 오래 조율한 Franka Push-T에서는 66% 대 64%였다.</a:t>
            </a:r>
          </a:p>
        </p:txBody>
      </p:sp>
      <p:sp>
        <p:nvSpPr>
          <p:cNvPr id="7" name="TextBox 6"/>
          <p:cNvSpPr txBox="1"/>
          <p:nvPr/>
        </p:nvSpPr>
        <p:spPr>
          <a:xfrm>
            <a:off x="609600" y="3587353"/>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travplan Controller에서는 </a:t>
            </a:r>
            <a:r>
              <a:rPr sz="1050" b="0" i="0">
                <a:solidFill>
                  <a:srgbClr val="16213A"/>
                </a:solidFill>
                <a:latin typeface="Consolas"/>
                <a:ea typeface="Malgun Gothic"/>
                <a:cs typeface="Malgun Gothic"/>
              </a:rPr>
              <a:t>ReferenceCost</a:t>
            </a:r>
            <a:r>
              <a:rPr sz="1050" b="0" i="0">
                <a:solidFill>
                  <a:srgbClr val="16213A"/>
                </a:solidFill>
                <a:latin typeface="Arial"/>
                <a:ea typeface="Malgun Gothic"/>
                <a:cs typeface="Malgun Gothic"/>
              </a:rPr>
              <a:t>가 rollout을 Planner 경로 쪽으로 당기므로, 모드를 고르는 일은 대부분 Planner 몫이다. 또 OT-MPC는 가중 평균이 아니라 가장 싼 입자를 실행하는데, 논문은 명령의 매끄러움을 보고하지 않았다.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MPPI 계열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E.11 최적 수송으로 샘플을 옮기는 최적화기: MPOT와 OT-MPC (TP-0130)</a:t>
            </a:r>
            <a:r>
              <a:rPr sz="1050" b="0" i="0">
                <a:solidFill>
                  <a:srgbClr val="5A6478"/>
                </a:solidFill>
                <a:latin typeface="Arial"/>
                <a:ea typeface="Malgun Gothic"/>
                <a:cs typeface="Malgun Gothic"/>
              </a:rPr>
              <a:t>  6/6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34 / 183</a:t>
            </a:r>
          </a:p>
        </p:txBody>
      </p:sp>
      <p:pic>
        <p:nvPicPr>
          <p:cNvPr id="5" name="Picture 4" descr="image.jpg"/>
          <p:cNvPicPr>
            <a:picLocks noChangeAspect="1"/>
          </p:cNvPicPr>
          <p:nvPr/>
        </p:nvPicPr>
        <p:blipFill>
          <a:blip r:embed="rId3"/>
          <a:stretch>
            <a:fillRect/>
          </a:stretch>
        </p:blipFill>
        <p:spPr>
          <a:xfrm>
            <a:off x="609600" y="1244600"/>
            <a:ext cx="5410200" cy="1339850"/>
          </a:xfrm>
          <a:prstGeom prst="rect">
            <a:avLst/>
          </a:prstGeom>
        </p:spPr>
      </p:pic>
      <p:sp>
        <p:nvSpPr>
          <p:cNvPr id="6" name="TextBox 5"/>
          <p:cNvSpPr txBox="1"/>
          <p:nvPr/>
        </p:nvSpPr>
        <p:spPr>
          <a:xfrm>
            <a:off x="609600" y="262255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OT-MPC (Fig. 2): 한 MPC 주기. (a) 제안을 뽑고, (b) Sinkhorn으로 입자(굵은 선)와 제안을 비용과 거리로 짝짓고, (c) 입자를 짝지은 제안의 무게중심 쪽으로 옮기고, (d) 가장 싼 입자를 실행한다. 장애물 양쪽의 모드가 평균되지 않고 남는다. 출처: arXiv:2605.02147</a:t>
            </a:r>
          </a:p>
        </p:txBody>
      </p:sp>
      <p:pic>
        <p:nvPicPr>
          <p:cNvPr id="7" name="Picture 6" descr="image.jpg"/>
          <p:cNvPicPr>
            <a:picLocks noChangeAspect="1"/>
          </p:cNvPicPr>
          <p:nvPr/>
        </p:nvPicPr>
        <p:blipFill>
          <a:blip r:embed="rId4"/>
          <a:stretch>
            <a:fillRect/>
          </a:stretch>
        </p:blipFill>
        <p:spPr>
          <a:xfrm>
            <a:off x="6172200" y="1244600"/>
            <a:ext cx="5410200" cy="2101850"/>
          </a:xfrm>
          <a:prstGeom prst="rect">
            <a:avLst/>
          </a:prstGeom>
        </p:spPr>
      </p:pic>
      <p:sp>
        <p:nvSpPr>
          <p:cNvPr id="8" name="TextBox 7"/>
          <p:cNvSpPr txBox="1"/>
          <p:nvPr/>
        </p:nvSpPr>
        <p:spPr>
          <a:xfrm>
            <a:off x="6172200" y="338455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OT-MPC (Fig. 3): 실험 과제. (a) 자전거 모델 차량, (b) 밀집 장애물 속 쿼드로터, (c) 쿼드로터 둘의 하중 운반, (d) Franka Push-T, (e) Go2 상자 밀기, (f) Go2 경사로다. travplan과 가장 가까운 것은 (a)이고, 큰 이득은 (b)와 (c)에서 나왔다. 출처: arXiv:2605.02147</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MPPI 계열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E.11 최적 수송으로 샘플을 옮기는 최적화기: MPOT와 OT-MPC (TP-0130)</a:t>
            </a:r>
            <a:r>
              <a:rPr sz="1050" b="0" i="0">
                <a:solidFill>
                  <a:srgbClr val="5A6478"/>
                </a:solidFill>
                <a:latin typeface="Arial"/>
                <a:ea typeface="Malgun Gothic"/>
                <a:cs typeface="Malgun Gothic"/>
              </a:rPr>
              <a:t>  자세히: OT-MPC의 Sinkhorn 좌표 하강과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35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무엇을 하나.</a:t>
            </a:r>
            <a:r>
              <a:rPr sz="1050" b="0" i="0">
                <a:solidFill>
                  <a:srgbClr val="16213A"/>
                </a:solidFill>
                <a:latin typeface="Arial"/>
                <a:ea typeface="Malgun Gothic"/>
                <a:cs typeface="Malgun Gothic"/>
              </a:rPr>
              <a:t> SCD(Sinkhorn Coordinate Descent)는 입자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개 </a:t>
            </a:r>
            <a:r>
              <a:rPr sz="1050" b="0" i="1">
                <a:solidFill>
                  <a:srgbClr val="16213A"/>
                </a:solidFill>
                <a:latin typeface="Arial"/>
                <a:ea typeface="Malgun Gothic"/>
                <a:cs typeface="Malgun Gothic"/>
              </a:rPr>
              <a:t>zᵢ</a:t>
            </a:r>
            <a:r>
              <a:rPr sz="1050" b="0" i="0">
                <a:solidFill>
                  <a:srgbClr val="16213A"/>
                </a:solidFill>
                <a:latin typeface="Arial"/>
                <a:ea typeface="Malgun Gothic"/>
                <a:cs typeface="Malgun Gothic"/>
              </a:rPr>
              <a:t>와 제안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개 </a:t>
            </a:r>
            <a:r>
              <a:rPr sz="1050" b="0" i="1">
                <a:solidFill>
                  <a:srgbClr val="16213A"/>
                </a:solidFill>
                <a:latin typeface="Arial"/>
                <a:ea typeface="Malgun Gothic"/>
                <a:cs typeface="Malgun Gothic"/>
              </a:rPr>
              <a:t>y_j</a:t>
            </a:r>
            <a:r>
              <a:rPr sz="1050" b="0" i="0">
                <a:solidFill>
                  <a:srgbClr val="16213A"/>
                </a:solidFill>
                <a:latin typeface="Arial"/>
                <a:ea typeface="Malgun Gothic"/>
                <a:cs typeface="Malgun Gothic"/>
              </a:rPr>
              <a:t> 사이의 엔트로피 OT 목적을 입자와 결합(coupling)에 대해 번갈아 최소화한다. 입자 하나는 제어열 하나다. 제안은 입자 둘레의 가우시안과 넓은 전역 분포를 섞어 반복마다 새로 뽑는다.</a:t>
            </a:r>
          </a:p>
        </p:txBody>
      </p:sp>
      <p:pic>
        <p:nvPicPr>
          <p:cNvPr id="6" name="Picture 5" descr="image.png"/>
          <p:cNvPicPr>
            <a:picLocks noChangeAspect="1"/>
          </p:cNvPicPr>
          <p:nvPr/>
        </p:nvPicPr>
        <p:blipFill>
          <a:blip r:embed="rId3"/>
          <a:stretch>
            <a:fillRect/>
          </a:stretch>
        </p:blipFill>
        <p:spPr>
          <a:xfrm>
            <a:off x="609600" y="1766491"/>
            <a:ext cx="3717925" cy="549275"/>
          </a:xfrm>
          <a:prstGeom prst="rect">
            <a:avLst/>
          </a:prstGeom>
        </p:spPr>
      </p:pic>
      <p:sp>
        <p:nvSpPr>
          <p:cNvPr id="7" name="TextBox 6"/>
          <p:cNvSpPr txBox="1"/>
          <p:nvPr/>
        </p:nvSpPr>
        <p:spPr>
          <a:xfrm>
            <a:off x="609600" y="231090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주변분포와 수송 비용.</a:t>
            </a:r>
            <a:r>
              <a:rPr sz="1050" b="0" i="0">
                <a:solidFill>
                  <a:srgbClr val="16213A"/>
                </a:solidFill>
                <a:latin typeface="Arial"/>
                <a:ea typeface="Malgun Gothic"/>
                <a:cs typeface="Malgun Gothic"/>
              </a:rPr>
              <a:t> 제안의 무게는 rollout 전체 비용의 Gibbs 가중치이고, 입자의 무게는 균등하다. 수송 비용은 제어 공간의 제곱 거리다.</a:t>
            </a:r>
          </a:p>
        </p:txBody>
      </p:sp>
      <p:pic>
        <p:nvPicPr>
          <p:cNvPr id="8" name="Picture 7" descr="image.png"/>
          <p:cNvPicPr>
            <a:picLocks noChangeAspect="1"/>
          </p:cNvPicPr>
          <p:nvPr/>
        </p:nvPicPr>
        <p:blipFill>
          <a:blip r:embed="rId4"/>
          <a:stretch>
            <a:fillRect/>
          </a:stretch>
        </p:blipFill>
        <p:spPr>
          <a:xfrm>
            <a:off x="609600" y="2616299"/>
            <a:ext cx="3930650" cy="460375"/>
          </a:xfrm>
          <a:prstGeom prst="rect">
            <a:avLst/>
          </a:prstGeom>
        </p:spPr>
      </p:pic>
      <p:sp>
        <p:nvSpPr>
          <p:cNvPr id="9" name="TextBox 8"/>
          <p:cNvSpPr txBox="1"/>
          <p:nvPr/>
        </p:nvSpPr>
        <p:spPr>
          <a:xfrm>
            <a:off x="609600" y="308193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결합과 갱신.</a:t>
            </a:r>
            <a:r>
              <a:rPr sz="1050" b="0" i="0">
                <a:solidFill>
                  <a:srgbClr val="16213A"/>
                </a:solidFill>
                <a:latin typeface="Arial"/>
                <a:ea typeface="Malgun Gothic"/>
                <a:cs typeface="Malgun Gothic"/>
              </a:rPr>
              <a:t> 결합은 MPOT와 같은 Sinkhorn 반복으로 푼다. 입자는 짝지은 제안의 무게중심 쪽으로 이완 계수 </a:t>
            </a:r>
            <a:r>
              <a:rPr sz="1050" b="0" i="1">
                <a:solidFill>
                  <a:srgbClr val="16213A"/>
                </a:solidFill>
                <a:latin typeface="Arial"/>
                <a:ea typeface="Malgun Gothic"/>
                <a:cs typeface="Malgun Gothic"/>
              </a:rPr>
              <a:t>η</a:t>
            </a:r>
            <a:r>
              <a:rPr sz="1050" b="0" i="0">
                <a:solidFill>
                  <a:srgbClr val="16213A"/>
                </a:solidFill>
                <a:latin typeface="Arial"/>
                <a:ea typeface="Malgun Gothic"/>
                <a:cs typeface="Malgun Gothic"/>
              </a:rPr>
              <a:t>만큼 움직인다.</a:t>
            </a:r>
          </a:p>
        </p:txBody>
      </p:sp>
      <p:pic>
        <p:nvPicPr>
          <p:cNvPr id="10" name="Picture 9" descr="image.png"/>
          <p:cNvPicPr>
            <a:picLocks noChangeAspect="1"/>
          </p:cNvPicPr>
          <p:nvPr/>
        </p:nvPicPr>
        <p:blipFill>
          <a:blip r:embed="rId5"/>
          <a:stretch>
            <a:fillRect/>
          </a:stretch>
        </p:blipFill>
        <p:spPr>
          <a:xfrm>
            <a:off x="609600" y="3387328"/>
            <a:ext cx="6578600" cy="530225"/>
          </a:xfrm>
          <a:prstGeom prst="rect">
            <a:avLst/>
          </a:prstGeom>
        </p:spPr>
      </p:pic>
      <p:sp>
        <p:nvSpPr>
          <p:cNvPr id="11" name="TextBox 10"/>
          <p:cNvSpPr txBox="1"/>
          <p:nvPr/>
        </p:nvSpPr>
        <p:spPr>
          <a:xfrm>
            <a:off x="609600" y="391477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MPPI와의 관계.</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N = 1</a:t>
            </a:r>
            <a:r>
              <a:rPr sz="1050" b="0" i="0">
                <a:solidFill>
                  <a:srgbClr val="16213A"/>
                </a:solidFill>
                <a:latin typeface="Arial"/>
                <a:ea typeface="Malgun Gothic"/>
                <a:cs typeface="Malgun Gothic"/>
              </a:rPr>
              <a:t>이면 주변분포 제약이 </a:t>
            </a:r>
            <a:r>
              <a:rPr sz="1050" b="0" i="1">
                <a:solidFill>
                  <a:srgbClr val="16213A"/>
                </a:solidFill>
                <a:latin typeface="Arial"/>
                <a:ea typeface="Malgun Gothic"/>
                <a:cs typeface="Malgun Gothic"/>
              </a:rPr>
              <a:t>Γ_(1j) = p_j</a:t>
            </a:r>
            <a:r>
              <a:rPr sz="1050" b="0" i="0">
                <a:solidFill>
                  <a:srgbClr val="16213A"/>
                </a:solidFill>
                <a:latin typeface="Arial"/>
                <a:ea typeface="Malgun Gothic"/>
                <a:cs typeface="Malgun Gothic"/>
              </a:rPr>
              <a:t>를 강제해, 무게중심이 MPPI 가중 평균(배경 0.2)이 된다. </a:t>
            </a:r>
            <a:r>
              <a:rPr sz="1050" b="0" i="1">
                <a:solidFill>
                  <a:srgbClr val="16213A"/>
                </a:solidFill>
                <a:latin typeface="Arial"/>
                <a:ea typeface="Malgun Gothic"/>
                <a:cs typeface="Malgun Gothic"/>
              </a:rPr>
              <a:t>ε → ∞</a:t>
            </a:r>
            <a:r>
              <a:rPr sz="1050" b="0" i="0">
                <a:solidFill>
                  <a:srgbClr val="16213A"/>
                </a:solidFill>
                <a:latin typeface="Arial"/>
                <a:ea typeface="Malgun Gothic"/>
                <a:cs typeface="Malgun Gothic"/>
              </a:rPr>
              <a:t>이면 </a:t>
            </a:r>
            <a:r>
              <a:rPr sz="1050" b="0" i="1">
                <a:solidFill>
                  <a:srgbClr val="16213A"/>
                </a:solidFill>
                <a:latin typeface="Arial"/>
                <a:ea typeface="Malgun Gothic"/>
                <a:cs typeface="Malgun Gothic"/>
              </a:rPr>
              <a:t>Γ_(ij) = qᵢ p_j</a:t>
            </a:r>
            <a:r>
              <a:rPr sz="1050" b="0" i="0">
                <a:solidFill>
                  <a:srgbClr val="16213A"/>
                </a:solidFill>
                <a:latin typeface="Arial"/>
                <a:ea typeface="Malgun Gothic"/>
                <a:cs typeface="Malgun Gothic"/>
              </a:rPr>
              <a:t>가 되어 모든 입자가 같은 무게중심으로 간다. 두 극한 모두 MPPI다. 제안을 고정하면 목적함수는 반복마다 늘지 않고 정지점으로 수렴한다(명제 2). 실제로는 반복마다 제안을 새로 뽑으므로 이 보장은 그대로 적용되지 않는다.</a:t>
            </a:r>
          </a:p>
        </p:txBody>
      </p:sp>
      <p:sp>
        <p:nvSpPr>
          <p:cNvPr id="12" name="TextBox 11"/>
          <p:cNvSpPr txBox="1"/>
          <p:nvPr/>
        </p:nvSpPr>
        <p:spPr>
          <a:xfrm>
            <a:off x="609600" y="443666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설정과 계산.</a:t>
            </a:r>
            <a:r>
              <a:rPr sz="1050" b="0" i="0">
                <a:solidFill>
                  <a:srgbClr val="16213A"/>
                </a:solidFill>
                <a:latin typeface="Arial"/>
                <a:ea typeface="Malgun Gothic"/>
                <a:cs typeface="Malgun Gothic"/>
              </a:rPr>
              <a:t> 논문의 권장값은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을 쌍별 거리 중앙값의 0.01–0.1배, </a:t>
            </a:r>
            <a:r>
              <a:rPr sz="1050" b="0" i="1">
                <a:solidFill>
                  <a:srgbClr val="16213A"/>
                </a:solidFill>
                <a:latin typeface="Arial"/>
                <a:ea typeface="Malgun Gothic"/>
                <a:cs typeface="Malgun Gothic"/>
              </a:rPr>
              <a:t>η</a:t>
            </a:r>
            <a:r>
              <a:rPr sz="1050" b="0" i="0">
                <a:solidFill>
                  <a:srgbClr val="16213A"/>
                </a:solidFill>
                <a:latin typeface="Arial"/>
                <a:ea typeface="Malgun Gothic"/>
                <a:cs typeface="Malgun Gothic"/>
              </a:rPr>
              <a:t>를 0.3–0.7, 입자를 10–20개로 두는 것이다. 결합 계산은 반복마다 </a:t>
            </a:r>
            <a:r>
              <a:rPr sz="1050" b="0" i="1">
                <a:solidFill>
                  <a:srgbClr val="16213A"/>
                </a:solidFill>
                <a:latin typeface="Arial"/>
                <a:ea typeface="Malgun Gothic"/>
                <a:cs typeface="Malgun Gothic"/>
              </a:rPr>
              <a:t>O(NM)</a:t>
            </a:r>
            <a:r>
              <a:rPr sz="1050" b="0" i="0">
                <a:solidFill>
                  <a:srgbClr val="16213A"/>
                </a:solidFill>
                <a:latin typeface="Arial"/>
                <a:ea typeface="Malgun Gothic"/>
                <a:cs typeface="Malgun Gothic"/>
              </a:rPr>
              <a:t>이고, MPPI의 평균은 </a:t>
            </a:r>
            <a:r>
              <a:rPr sz="1050" b="0" i="1">
                <a:solidFill>
                  <a:srgbClr val="16213A"/>
                </a:solidFill>
                <a:latin typeface="Arial"/>
                <a:ea typeface="Malgun Gothic"/>
                <a:cs typeface="Malgun Gothic"/>
              </a:rPr>
              <a:t>O(M)</a:t>
            </a:r>
            <a:r>
              <a:rPr sz="1050" b="0" i="0">
                <a:solidFill>
                  <a:srgbClr val="16213A"/>
                </a:solidFill>
                <a:latin typeface="Arial"/>
                <a:ea typeface="Malgun Gothic"/>
                <a:cs typeface="Malgun Gothic"/>
              </a:rPr>
              <a:t>이다. Sinkhorn과 무게중심 갱신은 8×800 결합에 1.6 ms, 8×50 결합에 0.2 ms였다. 차량 과제의 벽시계 시간은 27.81 ms로 MPPI의 24.57 ms와 비슷했다(JAX).</a:t>
            </a:r>
          </a:p>
        </p:txBody>
      </p:sp>
      <p:sp>
        <p:nvSpPr>
          <p:cNvPr id="13" name="TextBox 12"/>
          <p:cNvSpPr txBox="1"/>
          <p:nvPr/>
        </p:nvSpPr>
        <p:spPr>
          <a:xfrm>
            <a:off x="609600" y="495855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OT-MPC는 MPPI와 같은 </a:t>
            </a:r>
            <a:r>
              <a:rPr sz="1050" b="0" i="1">
                <a:solidFill>
                  <a:srgbClr val="16213A"/>
                </a:solidFill>
                <a:latin typeface="Arial"/>
                <a:ea typeface="Malgun Gothic"/>
                <a:cs typeface="Malgun Gothic"/>
              </a:rPr>
              <a:t>S(u)</a:t>
            </a:r>
            <a:r>
              <a:rPr sz="1050" b="0" i="0">
                <a:solidFill>
                  <a:srgbClr val="16213A"/>
                </a:solidFill>
                <a:latin typeface="Arial"/>
                <a:ea typeface="Malgun Gothic"/>
                <a:cs typeface="Malgun Gothic"/>
              </a:rPr>
              <a:t>와 rollout을 쓰므로, travplan에서는 가중 평균 단계만 바꾼 </a:t>
            </a:r>
            <a:r>
              <a:rPr sz="1050" b="0" i="0">
                <a:solidFill>
                  <a:srgbClr val="16213A"/>
                </a:solidFill>
                <a:latin typeface="Consolas"/>
                <a:ea typeface="Malgun Gothic"/>
                <a:cs typeface="Malgun Gothic"/>
              </a:rPr>
              <a:t>MPPIController</a:t>
            </a:r>
            <a:r>
              <a:rPr sz="1050" b="0" i="0">
                <a:solidFill>
                  <a:srgbClr val="16213A"/>
                </a:solidFill>
                <a:latin typeface="Arial"/>
                <a:ea typeface="Malgun Gothic"/>
                <a:cs typeface="Malgun Gothic"/>
              </a:rPr>
              <a:t> 하위 클래스가 된다. SMPPI가 노이즈 생성만 바꾼 것과 같은 자리다. 더 필요한 것은 입자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개의 상태, 주기당 여러 번의 반복, 가장 싼 입자의 실행이다. MPOT 제어열 판과 달리 꼭짓점별 rollout이 없으므로, rollout 수를 MPPI(768개)와 같게 맞출 수 있다.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MPPI 계열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E.11 최적 수송으로 샘플을 옮기는 최적화기: MPOT와 OT-MPC (TP-0130)</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36 / 183</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그래서 travplan은 최적화기보다 개선 여지를 먼저 쟀다</a:t>
            </a:r>
          </a:p>
        </p:txBody>
      </p:sp>
      <p:sp>
        <p:nvSpPr>
          <p:cNvPr id="6" name="TextBox 5"/>
          <p:cNvSpPr txBox="1"/>
          <p:nvPr/>
        </p:nvSpPr>
        <p:spPr>
          <a:xfrm>
            <a:off x="609600" y="154781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두 방법이 바꾸는 것은 최적화기뿐이고, 모델과 비용은 그대로다.</a:t>
            </a:r>
            <a:r>
              <a:rPr sz="1050" b="0" i="0">
                <a:solidFill>
                  <a:srgbClr val="16213A"/>
                </a:solidFill>
                <a:latin typeface="Arial"/>
                <a:ea typeface="Malgun Gothic"/>
                <a:cs typeface="Malgun Gothic"/>
              </a:rPr>
              <a:t> travplan MPPI 계열의 남은 실패 가운데 최적화기가 겨눌 수 있는 것은 멈춤(timeout)이다. 좁은 곳에서 앞으로 가는 샘플이 모두 제약을 어기면, 위반하지 않는 샘플은 정지 하나만 남는다(MPC 문서 M.3.13). 치명 실패는 지연에 따른 모델 불일치가 유력한 원인이다(M.3.14). GP 평균을 넣은 rollout은 램프의 치명 실패를 없앴지만 멈춤을 남겼고, 그 원인은 재지 않았다(M.3.19). OT-MPC가 크게 이긴 쿼드로터 과제에서도 MPPI의 실패는 국소 최소에 갇힌 멈춤이었다.</a:t>
            </a:r>
          </a:p>
        </p:txBody>
      </p:sp>
      <p:sp>
        <p:nvSpPr>
          <p:cNvPr id="7" name="TextBox 6"/>
          <p:cNvSpPr txBox="1"/>
          <p:nvPr/>
        </p:nvSpPr>
        <p:spPr>
          <a:xfrm>
            <a:off x="609600" y="2286198"/>
            <a:ext cx="10972800" cy="8659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새 Controller를 만들기 전에 가를 질문은 하나다. 멈춤이 최적화기의 한계인가, 아니면 지금의 목적함수와 모델에서 정지가 실제 최적인가. TP-0130은 멈춘 장면을 그대로 다시 돌려, 같은 요청에서 샘플을 늘린 MPPI와 위의 제어열 판 MPOT가 탈출할 제어열을 찾는지 쟀다. MPOT식 최적화기가 '센' 멈춤 장면은 10개 중 둘이고, 그 둘에서 같은 예산의 MPPI도 셌다. 그래서 MPOT 변형은 만들지 않는다. 판정과 멈춤 원인의 가설은 MPC 문서 M.3.20에 있다. Playground에서는 MPOT를 Controller가 아니라 </a:t>
            </a:r>
            <a:r>
              <a:rPr sz="1050" b="1" i="0">
                <a:solidFill>
                  <a:srgbClr val="16213A"/>
                </a:solidFill>
                <a:latin typeface="Arial"/>
                <a:ea typeface="Malgun Gothic"/>
                <a:cs typeface="Malgun Gothic"/>
              </a:rPr>
              <a:t>Planner</a:t>
            </a:r>
            <a:r>
              <a:rPr sz="1050" b="0" i="0">
                <a:solidFill>
                  <a:srgbClr val="16213A"/>
                </a:solidFill>
                <a:latin typeface="Arial"/>
                <a:ea typeface="Malgun Gothic"/>
                <a:cs typeface="Malgun Gothic"/>
              </a:rPr>
              <a:t> 자리(전역 경로)에 놓고 Dijkstra와 비교했다. 결과는 작업 기록 E.14(TP-0136)에 있다.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Controller · 안전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학습 동역학·적응</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Controller · 안전 (docs/research-controller.md)    37 / 183</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1" i="0">
                <a:solidFill>
                  <a:srgbClr val="F59E5B"/>
                </a:solidFill>
                <a:latin typeface="Arial"/>
                <a:ea typeface="Malgun Gothic"/>
                <a:cs typeface="Malgun Gothic"/>
              </a:rPr>
              <a:t>E. Controller — 학습 동역학과 추종 (참고)</a:t>
            </a:r>
          </a:p>
          <a:p>
            <a:pPr>
              <a:spcAft>
                <a:spcPts val="400"/>
              </a:spcAft>
            </a:pPr>
            <a:r>
              <a:rPr sz="1000" b="0" i="0">
                <a:solidFill>
                  <a:srgbClr val="C9D1E0"/>
                </a:solidFill>
                <a:latin typeface="Arial"/>
                <a:ea typeface="Malgun Gothic"/>
                <a:cs typeface="Malgun Gothic"/>
              </a:rPr>
              <a:t>E.2 학습 동역학과 온라인 적응의 마일스톤</a:t>
            </a:r>
          </a:p>
          <a:p>
            <a:pPr>
              <a:spcAft>
                <a:spcPts val="400"/>
              </a:spcAft>
            </a:pPr>
            <a:r>
              <a:rPr sz="1000" b="0" i="0">
                <a:solidFill>
                  <a:srgbClr val="C9D1E0"/>
                </a:solidFill>
                <a:latin typeface="Arial"/>
                <a:ea typeface="Malgun Gothic"/>
                <a:cs typeface="Malgun Gothic"/>
              </a:rPr>
              <a:t>E.3 동역학 모델을 상태 추정에 넣어 외란을 읽는다</a:t>
            </a:r>
          </a:p>
          <a:p>
            <a:pPr>
              <a:spcAft>
                <a:spcPts val="400"/>
              </a:spcAft>
            </a:pPr>
            <a:r>
              <a:rPr sz="1000" b="0" i="0">
                <a:solidFill>
                  <a:srgbClr val="C9D1E0"/>
                </a:solidFill>
                <a:latin typeface="Arial"/>
                <a:ea typeface="Malgun Gothic"/>
                <a:cs typeface="Malgun Gothic"/>
              </a:rPr>
              <a:t>E.4 반복되는 외란을 잠재 조건으로 기억한다</a:t>
            </a:r>
          </a:p>
          <a:p>
            <a:pPr>
              <a:spcAft>
                <a:spcPts val="400"/>
              </a:spcAft>
            </a:pPr>
            <a:r>
              <a:rPr sz="1000" b="0" i="0">
                <a:solidFill>
                  <a:srgbClr val="C9D1E0"/>
                </a:solidFill>
                <a:latin typeface="Arial"/>
                <a:ea typeface="Malgun Gothic"/>
                <a:cs typeface="Malgun Gothic"/>
              </a:rPr>
              <a:t>E.5 모르는 것 위에서의 보장: 학습 MPC의 세 갈래</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E.6 이 계보의 공개 코드와, travplan이 실제로 가져올 것</a:t>
            </a:r>
          </a:p>
          <a:p>
            <a:pPr>
              <a:spcAft>
                <a:spcPts val="400"/>
              </a:spcAft>
            </a:pPr>
            <a:r>
              <a:rPr sz="1000" b="0" i="0">
                <a:solidFill>
                  <a:srgbClr val="C9D1E0"/>
                </a:solidFill>
                <a:latin typeface="Arial"/>
                <a:ea typeface="Malgun Gothic"/>
                <a:cs typeface="Malgun Gothic"/>
              </a:rPr>
              <a:t>E.7 Zeilinger 그룹 더 보기: 경로를 품은 MPC, 성능을 지키는 자동 튜닝, 실험 플랫폼</a:t>
            </a:r>
          </a:p>
          <a:p>
            <a:pPr>
              <a:spcAft>
                <a:spcPts val="400"/>
              </a:spcAft>
            </a:pPr>
            <a:r>
              <a:rPr sz="1000" b="0" i="0">
                <a:solidFill>
                  <a:srgbClr val="C9D1E0"/>
                </a:solidFill>
                <a:latin typeface="Arial"/>
                <a:ea typeface="Malgun Gothic"/>
                <a:cs typeface="Malgun Gothic"/>
              </a:rPr>
              <a:t>E.8 GP와 희소 GP: 잔차 모델의 선택지</a:t>
            </a:r>
          </a:p>
          <a:p>
            <a:pPr>
              <a:spcAft>
                <a:spcPts val="400"/>
              </a:spcAft>
            </a:pPr>
            <a:r>
              <a:rPr sz="1000" b="0" i="0">
                <a:solidFill>
                  <a:srgbClr val="C9D1E0"/>
                </a:solidFill>
                <a:latin typeface="Arial"/>
                <a:ea typeface="Malgun Gothic"/>
                <a:cs typeface="Malgun Gothic"/>
              </a:rPr>
              <a:t>E.9 모바일 로봇에 GP를 붙인 사례들</a:t>
            </a:r>
          </a:p>
          <a:p>
            <a:pPr>
              <a:spcAft>
                <a:spcPts val="400"/>
              </a:spcAft>
            </a:pPr>
            <a:r>
              <a:rPr sz="1000" b="0" i="0">
                <a:solidFill>
                  <a:srgbClr val="C9D1E0"/>
                </a:solidFill>
                <a:latin typeface="Arial"/>
                <a:ea typeface="Malgun Gothic"/>
                <a:cs typeface="Malgun Gothic"/>
              </a:rPr>
              <a:t>E.10 GP가 모바일 로봇에서 앉는 자리는 셋이다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 Controller — 학습 동역학과 추종 (참고)</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38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travplan의 Controller(MPPI)는 개발 계획에서 빠져 있고 유지보수만 한다.</a:t>
            </a:r>
            <a:r>
              <a:rPr sz="1050" b="0" i="0">
                <a:solidFill>
                  <a:srgbClr val="16213A"/>
                </a:solidFill>
                <a:latin typeface="Arial"/>
                <a:ea typeface="Malgun Gothic"/>
                <a:cs typeface="Malgun Gothic"/>
              </a:rPr>
              <a:t> 이 절은 Controller를 손봐야 할 때 볼 기록이다. 가장 그럴듯한 계기는 Isaac Sim이나 실물에서 슬립이 커져, 지금의 운동학 모델로는 로봇 움직임을 예측하지 못할 때다. 출처는 A.10과 같은 </a:t>
            </a:r>
            <a:r>
              <a:rPr sz="1050" b="0" i="0">
                <a:solidFill>
                  <a:srgbClr val="1D4ED8"/>
                </a:solidFill>
                <a:latin typeface="Arial"/>
                <a:ea typeface="Malgun Gothic"/>
                <a:cs typeface="Malgun Gothic"/>
                <a:hlinkClick r:id="rId3"/>
              </a:rPr>
              <a:t>Notion 블록</a:t>
            </a:r>
            <a:r>
              <a:rPr sz="1050" b="0" i="0">
                <a:solidFill>
                  <a:srgbClr val="16213A"/>
                </a:solidFill>
                <a:latin typeface="Arial"/>
                <a:ea typeface="Malgun Gothic"/>
                <a:cs typeface="Malgun Gothic"/>
              </a:rPr>
              <a:t>의 Taekyung Kim·Wonsuk Lee 계열 연구다. MPPI 샘플링 쪽 기록(SMPPI, ProxPI)은 §B.5에 있다.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 계열이 바꾸는 것은 대부분 </a:t>
            </a:r>
            <a:r>
              <a:rPr sz="1050" b="1" i="0">
                <a:solidFill>
                  <a:srgbClr val="16213A"/>
                </a:solidFill>
                <a:latin typeface="Arial"/>
                <a:ea typeface="Malgun Gothic"/>
                <a:cs typeface="Malgun Gothic"/>
              </a:rPr>
              <a:t>MPPI가 미래를 굴려 보는 모델</a:t>
            </a:r>
            <a:r>
              <a:rPr sz="1050" b="0" i="0">
                <a:solidFill>
                  <a:srgbClr val="16213A"/>
                </a:solidFill>
                <a:latin typeface="Arial"/>
                <a:ea typeface="Malgun Gothic"/>
                <a:cs typeface="Malgun Gothic"/>
              </a:rPr>
              <a:t>이다.</a:t>
            </a:r>
          </a:p>
        </p:txBody>
      </p:sp>
      <p:sp>
        <p:nvSpPr>
          <p:cNvPr id="7" name="TextBox 6"/>
          <p:cNvSpPr txBox="1"/>
          <p:nvPr/>
        </p:nvSpPr>
        <p:spPr>
          <a:xfrm>
            <a:off x="609600" y="2071886"/>
            <a:ext cx="10972800" cy="1208484"/>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travplan 지금                                    이 계열이 바꾸는 부분</a:t>
            </a:r>
          </a:p>
          <a:p>
            <a:r>
              <a:rPr sz="750" b="0" i="0">
                <a:solidFill>
                  <a:srgbClr val="F4F1EA"/>
                </a:solidFill>
                <a:latin typeface="Consolas"/>
                <a:ea typeface="Malgun Gothic"/>
                <a:cs typeface="Malgun Gothic"/>
              </a:rPr>
              <a:t>Planner 궤적 ──▶ MPPIController ──▶ body twist    같은 MPPI 구조에서 rollout 모델을 학습 모델로 바꾼다</a:t>
            </a:r>
          </a:p>
          <a:p>
            <a:r>
              <a:rPr sz="750" b="0" i="0">
                <a:solidFill>
                  <a:srgbClr val="F4F1EA"/>
                </a:solidFill>
                <a:latin typeface="Consolas"/>
                <a:ea typeface="Malgun Gothic"/>
                <a:cs typeface="Malgun Gothic"/>
              </a:rPr>
              <a:t>                 rollout = SwerveModel(운동학)     ├─ 지형 인지 운동 모델(6자유도, 접촉 추정)   RA-L 2023</a:t>
            </a:r>
          </a:p>
          <a:p>
            <a:r>
              <a:rPr sz="750" b="0" i="0">
                <a:solidFill>
                  <a:srgbClr val="F4F1EA"/>
                </a:solidFill>
                <a:latin typeface="Consolas"/>
                <a:ea typeface="Malgun Gothic"/>
                <a:cs typeface="Malgun Gothic"/>
              </a:rPr>
              <a:t>                                                  ├─ 물리 + 신경망 차량 모델                  PENN</a:t>
            </a:r>
          </a:p>
          <a:p>
            <a:r>
              <a:rPr sz="750" b="0" i="0">
                <a:solidFill>
                  <a:srgbClr val="F4F1EA"/>
                </a:solidFill>
                <a:latin typeface="Consolas"/>
                <a:ea typeface="Malgun Gothic"/>
                <a:cs typeface="Malgun Gothic"/>
              </a:rPr>
              <a:t>                                                  ├─ 확률 앙상블(불확실성) + 능동 탐색          RSS 2023</a:t>
            </a:r>
          </a:p>
          <a:p>
            <a:r>
              <a:rPr sz="750" b="0" i="0">
                <a:solidFill>
                  <a:srgbClr val="F4F1EA"/>
                </a:solidFill>
                <a:latin typeface="Consolas"/>
                <a:ea typeface="Malgun Gothic"/>
                <a:cs typeface="Malgun Gothic"/>
              </a:rPr>
              <a:t>                                                  ├─ 잠재 문맥 온라인 적응                     RA-L 2026</a:t>
            </a:r>
          </a:p>
          <a:p>
            <a:r>
              <a:rPr sz="750" b="0" i="0">
                <a:solidFill>
                  <a:srgbClr val="F4F1EA"/>
                </a:solidFill>
                <a:latin typeface="Consolas"/>
                <a:ea typeface="Malgun Gothic"/>
                <a:cs typeface="Malgun Gothic"/>
              </a:rPr>
              <a:t>                                                  └─ 같은 신경망으로 최적화 + 고속 추종          TOAST</a:t>
            </a:r>
          </a:p>
        </p:txBody>
      </p:sp>
      <p:sp>
        <p:nvSpPr>
          <p:cNvPr id="8" name="TextBox 7"/>
          <p:cNvSpPr txBox="1"/>
          <p:nvPr/>
        </p:nvSpPr>
        <p:spPr>
          <a:xfrm>
            <a:off x="609600" y="336927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지형 인지 운동 모델 + MPPI</a:t>
            </a:r>
            <a:r>
              <a:rPr sz="1050" b="0" i="0">
                <a:solidFill>
                  <a:srgbClr val="16213A"/>
                </a:solidFill>
                <a:latin typeface="Arial"/>
                <a:ea typeface="Malgun Gothic"/>
                <a:cs typeface="Malgun Gothic"/>
              </a:rPr>
              <a:t>(</a:t>
            </a:r>
            <a:r>
              <a:rPr sz="1050" b="0" i="1">
                <a:solidFill>
                  <a:srgbClr val="16213A"/>
                </a:solidFill>
                <a:latin typeface="Arial"/>
                <a:ea typeface="Malgun Gothic"/>
                <a:cs typeface="Malgun Gothic"/>
              </a:rPr>
              <a:t>Learning Terrain-Aware Kinodynamic Model for Autonomous Off-Road Rally Driving With MPPI Control</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4"/>
              </a:rPr>
              <a:t>arXiv:2305.00676</a:t>
            </a:r>
            <a:r>
              <a:rPr sz="1050" b="0" i="0">
                <a:solidFill>
                  <a:srgbClr val="16213A"/>
                </a:solidFill>
                <a:latin typeface="Arial"/>
                <a:ea typeface="Malgun Gothic"/>
                <a:cs typeface="Malgun Gothic"/>
              </a:rPr>
              <a:t>, RA-L 2023). proprioception과 지형 인식을 조건으로 6자유도 운동을 예측하고, 힘의 정답 없이도 접촉 상호작용을 추정하는 모델을 MPPI rollout에 넣는다. travplan </a:t>
            </a:r>
            <a:r>
              <a:rPr sz="1050" b="0" i="0">
                <a:solidFill>
                  <a:srgbClr val="16213A"/>
                </a:solidFill>
                <a:latin typeface="Consolas"/>
                <a:ea typeface="Malgun Gothic"/>
                <a:cs typeface="Malgun Gothic"/>
              </a:rPr>
              <a:t>MPPIController</a:t>
            </a:r>
            <a:r>
              <a:rPr sz="1050" b="0" i="0">
                <a:solidFill>
                  <a:srgbClr val="16213A"/>
                </a:solidFill>
                <a:latin typeface="Arial"/>
                <a:ea typeface="Malgun Gothic"/>
                <a:cs typeface="Malgun Gothic"/>
              </a:rPr>
              <a:t>는 </a:t>
            </a:r>
            <a:r>
              <a:rPr sz="1050" b="0" i="0">
                <a:solidFill>
                  <a:srgbClr val="16213A"/>
                </a:solidFill>
                <a:latin typeface="Consolas"/>
                <a:ea typeface="Malgun Gothic"/>
                <a:cs typeface="Malgun Gothic"/>
              </a:rPr>
              <a:t>SwerveModel</a:t>
            </a:r>
            <a:r>
              <a:rPr sz="1050" b="0" i="0">
                <a:solidFill>
                  <a:srgbClr val="16213A"/>
                </a:solidFill>
                <a:latin typeface="Arial"/>
                <a:ea typeface="Malgun Gothic"/>
                <a:cs typeface="Malgun Gothic"/>
              </a:rPr>
              <a:t>(평면 운동학)을 굴린 뒤 </a:t>
            </a:r>
            <a:r>
              <a:rPr sz="1050" b="0" i="0">
                <a:solidFill>
                  <a:srgbClr val="16213A"/>
                </a:solidFill>
                <a:latin typeface="Consolas"/>
                <a:ea typeface="Malgun Gothic"/>
                <a:cs typeface="Malgun Gothic"/>
              </a:rPr>
              <a:t>terrain_attitude</a:t>
            </a:r>
            <a:r>
              <a:rPr sz="1050" b="0" i="0">
                <a:solidFill>
                  <a:srgbClr val="16213A"/>
                </a:solidFill>
                <a:latin typeface="Arial"/>
                <a:ea typeface="Malgun Gothic"/>
                <a:cs typeface="Malgun Gothic"/>
              </a:rPr>
              <a:t>로 자세만 지형에 투영한다. 이 논문은 그 자리를 학습 모델로 바꾼 사례다.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 Controller — 학습 동역학과 추종 (참고)</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39 / 183</a:t>
            </a:r>
          </a:p>
        </p:txBody>
      </p:sp>
      <p:pic>
        <p:nvPicPr>
          <p:cNvPr id="5" name="Picture 4" descr="image.jpg"/>
          <p:cNvPicPr>
            <a:picLocks noChangeAspect="1"/>
          </p:cNvPicPr>
          <p:nvPr/>
        </p:nvPicPr>
        <p:blipFill>
          <a:blip r:embed="rId3"/>
          <a:stretch>
            <a:fillRect/>
          </a:stretch>
        </p:blipFill>
        <p:spPr>
          <a:xfrm>
            <a:off x="3133725" y="1244600"/>
            <a:ext cx="5924550" cy="4445000"/>
          </a:xfrm>
          <a:prstGeom prst="rect">
            <a:avLst/>
          </a:prstGeom>
        </p:spPr>
      </p:pic>
      <p:sp>
        <p:nvSpPr>
          <p:cNvPr id="6" name="TextBox 5"/>
          <p:cNvSpPr txBox="1"/>
          <p:nvPr/>
        </p:nvSpPr>
        <p:spPr>
          <a:xfrm>
            <a:off x="3133725" y="5727700"/>
            <a:ext cx="59245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Terrain-Aware Kinodynamic MPPI (Fig. 1): MPPI 샘플 궤적과 최적 궤적. 지형 기하가 차량 운동에 미치는 영향을 예측해 위험한 궤적에 벌점을 준다. 출처: arXiv:2305.00676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 Controller — 학습 동역학과 추종 (참고)</a:t>
            </a:r>
            <a:r>
              <a:rPr sz="1050" b="0" i="0">
                <a:solidFill>
                  <a:srgbClr val="5A6478"/>
                </a:solidFill>
                <a:latin typeface="Arial"/>
                <a:ea typeface="Malgun Gothic"/>
                <a:cs typeface="Malgun Gothic"/>
              </a:rPr>
              <a:t>  자세히: 지형 인지 운동 모델 + MPPI의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40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상태.</a:t>
            </a:r>
            <a:r>
              <a:rPr sz="1050" b="0" i="0">
                <a:solidFill>
                  <a:srgbClr val="16213A"/>
                </a:solidFill>
                <a:latin typeface="Arial"/>
                <a:ea typeface="Malgun Gothic"/>
                <a:cs typeface="Malgun Gothic"/>
              </a:rPr>
              <a:t> 무게중심의 6자유도 proprioceptive 상태를 동역학 부분(몸체 선속도·각속도)과 운동학 부분(전역 위치·자세)으로 나눈다.</a:t>
            </a:r>
          </a:p>
        </p:txBody>
      </p:sp>
      <p:pic>
        <p:nvPicPr>
          <p:cNvPr id="6" name="Picture 5" descr="image.png"/>
          <p:cNvPicPr>
            <a:picLocks noChangeAspect="1"/>
          </p:cNvPicPr>
          <p:nvPr/>
        </p:nvPicPr>
        <p:blipFill>
          <a:blip r:embed="rId3"/>
          <a:stretch>
            <a:fillRect/>
          </a:stretch>
        </p:blipFill>
        <p:spPr>
          <a:xfrm>
            <a:off x="609600" y="1549995"/>
            <a:ext cx="5213350" cy="241300"/>
          </a:xfrm>
          <a:prstGeom prst="rect">
            <a:avLst/>
          </a:prstGeom>
        </p:spPr>
      </p:pic>
      <p:sp>
        <p:nvSpPr>
          <p:cNvPr id="7" name="TextBox 6"/>
          <p:cNvSpPr txBox="1"/>
          <p:nvPr/>
        </p:nvSpPr>
        <p:spPr>
          <a:xfrm>
            <a:off x="609600" y="182751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모델은 세 부분이다.</a:t>
            </a:r>
          </a:p>
        </p:txBody>
      </p:sp>
      <p:sp>
        <p:nvSpPr>
          <p:cNvPr id="8" name="TextBox 7"/>
          <p:cNvSpPr txBox="1"/>
          <p:nvPr/>
        </p:nvSpPr>
        <p:spPr>
          <a:xfrm>
            <a:off x="609600" y="2132905"/>
            <a:ext cx="10972800" cy="9167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높이 지도 인코더</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E_(enc)</a:t>
            </a:r>
            <a:r>
              <a:rPr sz="1050" b="0" i="0">
                <a:solidFill>
                  <a:srgbClr val="16213A"/>
                </a:solidFill>
                <a:latin typeface="Arial"/>
                <a:ea typeface="Malgun Gothic"/>
                <a:cs typeface="Malgun Gothic"/>
              </a:rPr>
              <a:t>: 로봇 주변 높이 지도 </a:t>
            </a:r>
            <a:r>
              <a:rPr sz="1050" b="0" i="1">
                <a:solidFill>
                  <a:srgbClr val="16213A"/>
                </a:solidFill>
                <a:latin typeface="Arial"/>
                <a:ea typeface="Malgun Gothic"/>
                <a:cs typeface="Malgun Gothic"/>
              </a:rPr>
              <a:t>Mₜ</a:t>
            </a:r>
            <a:r>
              <a:rPr sz="1050" b="0" i="0">
                <a:solidFill>
                  <a:srgbClr val="16213A"/>
                </a:solidFill>
                <a:latin typeface="Arial"/>
                <a:ea typeface="Malgun Gothic"/>
                <a:cs typeface="Malgun Gothic"/>
              </a:rPr>
              <a:t>를 CNN 3층 + 전결합 2층으로 지형 잠재 </a:t>
            </a:r>
            <a:r>
              <a:rPr sz="1050" b="0" i="1">
                <a:solidFill>
                  <a:srgbClr val="16213A"/>
                </a:solidFill>
                <a:latin typeface="Arial"/>
                <a:ea typeface="Malgun Gothic"/>
                <a:cs typeface="Malgun Gothic"/>
              </a:rPr>
              <a:t>hₜ</a:t>
            </a:r>
            <a:r>
              <a:rPr sz="1050" b="0" i="0">
                <a:solidFill>
                  <a:srgbClr val="16213A"/>
                </a:solidFill>
                <a:latin typeface="Arial"/>
                <a:ea typeface="Malgun Gothic"/>
                <a:cs typeface="Malgun Gothic"/>
              </a:rPr>
              <a:t>로 만든다.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동역학 예측망</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G_d</a:t>
            </a:r>
            <a:r>
              <a:rPr sz="1050" b="0" i="0">
                <a:solidFill>
                  <a:srgbClr val="16213A"/>
                </a:solidFill>
                <a:latin typeface="Arial"/>
                <a:ea typeface="Malgun Gothic"/>
                <a:cs typeface="Malgun Gothic"/>
              </a:rPr>
              <a:t>: 속도·제어 이력 </a:t>
            </a:r>
            <a:r>
              <a:rPr sz="1050" b="0" i="1">
                <a:solidFill>
                  <a:srgbClr val="16213A"/>
                </a:solidFill>
                <a:latin typeface="Arial"/>
                <a:ea typeface="Malgun Gothic"/>
                <a:cs typeface="Malgun Gothic"/>
              </a:rPr>
              <a:t>(x^d_(t-H+1:t), u_(t-H+1:t))</a:t>
            </a:r>
            <a:r>
              <a:rPr sz="1050" b="0" i="0">
                <a:solidFill>
                  <a:srgbClr val="16213A"/>
                </a:solidFill>
                <a:latin typeface="Arial"/>
                <a:ea typeface="Malgun Gothic"/>
                <a:cs typeface="Malgun Gothic"/>
              </a:rPr>
              <a:t>과 </a:t>
            </a:r>
            <a:r>
              <a:rPr sz="1050" b="0" i="1">
                <a:solidFill>
                  <a:srgbClr val="16213A"/>
                </a:solidFill>
                <a:latin typeface="Arial"/>
                <a:ea typeface="Malgun Gothic"/>
                <a:cs typeface="Malgun Gothic"/>
              </a:rPr>
              <a:t>hₜ</a:t>
            </a:r>
            <a:r>
              <a:rPr sz="1050" b="0" i="0">
                <a:solidFill>
                  <a:srgbClr val="16213A"/>
                </a:solidFill>
                <a:latin typeface="Arial"/>
                <a:ea typeface="Malgun Gothic"/>
                <a:cs typeface="Malgun Gothic"/>
              </a:rPr>
              <a:t>로 </a:t>
            </a:r>
            <a:r>
              <a:rPr sz="1050" b="1" i="0">
                <a:solidFill>
                  <a:srgbClr val="16213A"/>
                </a:solidFill>
                <a:latin typeface="Arial"/>
                <a:ea typeface="Malgun Gothic"/>
                <a:cs typeface="Malgun Gothic"/>
              </a:rPr>
              <a:t>속도 변화</a:t>
            </a:r>
            <a:r>
              <a:rPr sz="1050" b="0" i="0">
                <a:solidFill>
                  <a:srgbClr val="16213A"/>
                </a:solidFill>
                <a:latin typeface="Arial"/>
                <a:ea typeface="Malgun Gothic"/>
                <a:cs typeface="Malgun Gothic"/>
              </a:rPr>
              <a:t>를 예측한다. </a:t>
            </a:r>
            <a:r>
              <a:rPr sz="1050" b="1" i="0">
                <a:solidFill>
                  <a:srgbClr val="16213A"/>
                </a:solidFill>
                <a:latin typeface="Arial"/>
                <a:ea typeface="Malgun Gothic"/>
                <a:cs typeface="Malgun Gothic"/>
              </a:rPr>
              <a:t>확률 앙상블</a:t>
            </a:r>
            <a:r>
              <a:rPr sz="1050" b="0" i="0">
                <a:solidFill>
                  <a:srgbClr val="16213A"/>
                </a:solidFill>
                <a:latin typeface="Arial"/>
                <a:ea typeface="Malgun Gothic"/>
                <a:cs typeface="Malgun Gothic"/>
              </a:rPr>
              <a:t>이라 각 구성원이 평균과 표준편차를 내고 (우연 불확실성), 구성원끼리의 불일치로 인식 불확실성을 잰다.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명시적 운동학 층</a:t>
            </a:r>
            <a:r>
              <a:rPr sz="1050" b="0" i="0">
                <a:solidFill>
                  <a:srgbClr val="16213A"/>
                </a:solidFill>
                <a:latin typeface="Arial"/>
                <a:ea typeface="Malgun Gothic"/>
                <a:cs typeface="Malgun Gothic"/>
              </a:rPr>
              <a:t>: 예측한 몸체 속도를 고정 좌표계로 돌려 위치·자세 변화를 해석적으로 적분한다. 학습할 필요가 없는 부분은 물리로 둔다.</a:t>
            </a:r>
          </a:p>
        </p:txBody>
      </p:sp>
      <p:pic>
        <p:nvPicPr>
          <p:cNvPr id="9" name="Picture 8" descr="image.png"/>
          <p:cNvPicPr>
            <a:picLocks noChangeAspect="1"/>
          </p:cNvPicPr>
          <p:nvPr/>
        </p:nvPicPr>
        <p:blipFill>
          <a:blip r:embed="rId4"/>
          <a:stretch>
            <a:fillRect/>
          </a:stretch>
        </p:blipFill>
        <p:spPr>
          <a:xfrm>
            <a:off x="609600" y="3138587"/>
            <a:ext cx="4410075" cy="241300"/>
          </a:xfrm>
          <a:prstGeom prst="rect">
            <a:avLst/>
          </a:prstGeom>
        </p:spPr>
      </p:pic>
      <p:sp>
        <p:nvSpPr>
          <p:cNvPr id="10" name="TextBox 9"/>
          <p:cNvSpPr txBox="1"/>
          <p:nvPr/>
        </p:nvSpPr>
        <p:spPr>
          <a:xfrm>
            <a:off x="609600" y="3416102"/>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힘의 정답 데이터 없이도 접촉 상호작용의 효과를 예측하고, MPPI는 이 모델을 굴려 지형 때문에 위험해지는 궤적(큰 roll·충격)을 벌한다.</a:t>
            </a:r>
          </a:p>
        </p:txBody>
      </p:sp>
      <p:sp>
        <p:nvSpPr>
          <p:cNvPr id="11" name="TextBox 10"/>
          <p:cNvSpPr txBox="1"/>
          <p:nvPr/>
        </p:nvSpPr>
        <p:spPr>
          <a:xfrm>
            <a:off x="609600" y="372149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travplan </a:t>
            </a:r>
            <a:r>
              <a:rPr sz="1050" b="0" i="0">
                <a:solidFill>
                  <a:srgbClr val="16213A"/>
                </a:solidFill>
                <a:latin typeface="Consolas"/>
                <a:ea typeface="Malgun Gothic"/>
                <a:cs typeface="Malgun Gothic"/>
              </a:rPr>
              <a:t>MPPIController</a:t>
            </a:r>
            <a:r>
              <a:rPr sz="1050" b="0" i="0">
                <a:solidFill>
                  <a:srgbClr val="16213A"/>
                </a:solidFill>
                <a:latin typeface="Arial"/>
                <a:ea typeface="Malgun Gothic"/>
                <a:cs typeface="Malgun Gothic"/>
              </a:rPr>
              <a:t>는 평면 </a:t>
            </a:r>
            <a:r>
              <a:rPr sz="1050" b="0" i="0">
                <a:solidFill>
                  <a:srgbClr val="16213A"/>
                </a:solidFill>
                <a:latin typeface="Consolas"/>
                <a:ea typeface="Malgun Gothic"/>
                <a:cs typeface="Malgun Gothic"/>
              </a:rPr>
              <a:t>SwerveModel</a:t>
            </a:r>
            <a:r>
              <a:rPr sz="1050" b="0" i="0">
                <a:solidFill>
                  <a:srgbClr val="16213A"/>
                </a:solidFill>
                <a:latin typeface="Arial"/>
                <a:ea typeface="Malgun Gothic"/>
                <a:cs typeface="Malgun Gothic"/>
              </a:rPr>
              <a:t>을 굴린 뒤 </a:t>
            </a:r>
            <a:r>
              <a:rPr sz="1050" b="0" i="0">
                <a:solidFill>
                  <a:srgbClr val="16213A"/>
                </a:solidFill>
                <a:latin typeface="Consolas"/>
                <a:ea typeface="Malgun Gothic"/>
                <a:cs typeface="Malgun Gothic"/>
              </a:rPr>
              <a:t>terrain_attitude</a:t>
            </a:r>
            <a:r>
              <a:rPr sz="1050" b="0" i="0">
                <a:solidFill>
                  <a:srgbClr val="16213A"/>
                </a:solidFill>
                <a:latin typeface="Arial"/>
                <a:ea typeface="Malgun Gothic"/>
                <a:cs typeface="Malgun Gothic"/>
              </a:rPr>
              <a:t>로 자세만 지형에 투영한다. Isaac·실물에서 슬립이나 서스펜션 효과가 커지면, "학습 동역학 + 해석적 운동학 층" 구조로 rollout 모델을 바꿀 수 있다.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 Controller — 학습 동역학과 추종 (참고)</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41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물리 + 신경망 차량 모델(PENN)</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arXiv:2207.07920</a:t>
            </a:r>
            <a:r>
              <a:rPr sz="1050" b="0" i="0">
                <a:solidFill>
                  <a:srgbClr val="16213A"/>
                </a:solidFill>
                <a:latin typeface="Arial"/>
                <a:ea typeface="Malgun Gothic"/>
                <a:cs typeface="Malgun Gothic"/>
              </a:rPr>
              <a:t>, Kim·Lee·Lee 2022). 미분 가능한 물리 모델에 신경망을 결합해, 순수 신경망보다 빨리 배우고 일반화가 좋다. 잠재 특징이 추가 학습 없이 횡방향 타이어 힘을 나타내므로 위험 인지 주행에 쓴다.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 Controller — 학습 동역학과 추종 (참고)</a:t>
            </a:r>
            <a:r>
              <a:rPr sz="1050" b="0" i="0">
                <a:solidFill>
                  <a:srgbClr val="5A6478"/>
                </a:solidFill>
                <a:latin typeface="Arial"/>
                <a:ea typeface="Malgun Gothic"/>
                <a:cs typeface="Malgun Gothic"/>
              </a:rPr>
              <a:t>  자세히: PENN의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42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물리를 신경망의 마지막 층으로.</a:t>
            </a:r>
            <a:r>
              <a:rPr sz="1050" b="0" i="0">
                <a:solidFill>
                  <a:srgbClr val="16213A"/>
                </a:solidFill>
                <a:latin typeface="Arial"/>
                <a:ea typeface="Malgun Gothic"/>
                <a:cs typeface="Malgun Gothic"/>
              </a:rPr>
              <a:t> 동역학 자전거 모델(상태 </a:t>
            </a:r>
            <a:r>
              <a:rPr sz="1050" b="0" i="1">
                <a:solidFill>
                  <a:srgbClr val="16213A"/>
                </a:solidFill>
                <a:latin typeface="Arial"/>
                <a:ea typeface="Malgun Gothic"/>
                <a:cs typeface="Malgun Gothic"/>
              </a:rPr>
              <a:t>(vₓ, v_y, r)</a:t>
            </a:r>
            <a:r>
              <a:rPr sz="1050" b="0" i="0">
                <a:solidFill>
                  <a:srgbClr val="16213A"/>
                </a:solidFill>
                <a:latin typeface="Arial"/>
                <a:ea typeface="Malgun Gothic"/>
                <a:cs typeface="Malgun Gothic"/>
              </a:rPr>
              <a:t>, 입력 </a:t>
            </a:r>
            <a:r>
              <a:rPr sz="1050" b="0" i="1">
                <a:solidFill>
                  <a:srgbClr val="16213A"/>
                </a:solidFill>
                <a:latin typeface="Arial"/>
                <a:ea typeface="Malgun Gothic"/>
                <a:cs typeface="Malgun Gothic"/>
              </a:rPr>
              <a:t>(δ, v_(des))</a:t>
            </a:r>
            <a:r>
              <a:rPr sz="1050" b="0" i="0">
                <a:solidFill>
                  <a:srgbClr val="16213A"/>
                </a:solidFill>
                <a:latin typeface="Arial"/>
                <a:ea typeface="Malgun Gothic"/>
                <a:cs typeface="Malgun Gothic"/>
              </a:rPr>
              <a:t>)과 Pacejka 타이어 모델(magic formula)을 신경망의 마지막 은닉층으로 넣는다. 신경망 앞부분은 타이어 모델의 매개변수를 상황에 맞게 추정하고, 뒷부분은 물리식으로 가속을 계산한다.</a:t>
            </a:r>
          </a:p>
        </p:txBody>
      </p:sp>
      <p:pic>
        <p:nvPicPr>
          <p:cNvPr id="6" name="Picture 5" descr="image.png"/>
          <p:cNvPicPr>
            <a:picLocks noChangeAspect="1"/>
          </p:cNvPicPr>
          <p:nvPr/>
        </p:nvPicPr>
        <p:blipFill>
          <a:blip r:embed="rId3"/>
          <a:stretch>
            <a:fillRect/>
          </a:stretch>
        </p:blipFill>
        <p:spPr>
          <a:xfrm>
            <a:off x="609600" y="1766491"/>
            <a:ext cx="3765550" cy="327025"/>
          </a:xfrm>
          <a:prstGeom prst="rect">
            <a:avLst/>
          </a:prstGeom>
        </p:spPr>
      </p:pic>
      <p:sp>
        <p:nvSpPr>
          <p:cNvPr id="7" name="TextBox 6"/>
          <p:cNvSpPr txBox="1"/>
          <p:nvPr/>
        </p:nvSpPr>
        <p:spPr>
          <a:xfrm>
            <a:off x="609600" y="2119412"/>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 타이어 슬립각, </a:t>
            </a:r>
            <a:r>
              <a:rPr sz="1050" b="0" i="1">
                <a:solidFill>
                  <a:srgbClr val="16213A"/>
                </a:solidFill>
                <a:latin typeface="Arial"/>
                <a:ea typeface="Malgun Gothic"/>
                <a:cs typeface="Malgun Gothic"/>
              </a:rPr>
              <a:t>B, C, D, E</a:t>
            </a:r>
            <a:r>
              <a:rPr sz="1050" b="0" i="0">
                <a:solidFill>
                  <a:srgbClr val="16213A"/>
                </a:solidFill>
                <a:latin typeface="Arial"/>
                <a:ea typeface="Malgun Gothic"/>
                <a:cs typeface="Malgun Gothic"/>
              </a:rPr>
              <a:t>: 강성·형상·최대값·곡률 계수. Pacejka의 표준 형태다.)</a:t>
            </a:r>
          </a:p>
        </p:txBody>
      </p:sp>
      <p:sp>
        <p:nvSpPr>
          <p:cNvPr id="8" name="TextBox 7"/>
          <p:cNvSpPr txBox="1"/>
          <p:nvPr/>
        </p:nvSpPr>
        <p:spPr>
          <a:xfrm>
            <a:off x="609600" y="242480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효과.</a:t>
            </a:r>
            <a:r>
              <a:rPr sz="1050" b="0" i="0">
                <a:solidFill>
                  <a:srgbClr val="16213A"/>
                </a:solidFill>
                <a:latin typeface="Arial"/>
                <a:ea typeface="Malgun Gothic"/>
                <a:cs typeface="Malgun Gothic"/>
              </a:rPr>
              <a:t> 순수 신경망보다 빨리 배우고, 정확하고, 일반화가 좋다. 또 forward 도중 나오는 중간 값이 </a:t>
            </a:r>
            <a:r>
              <a:rPr sz="1050" b="1" i="0">
                <a:solidFill>
                  <a:srgbClr val="16213A"/>
                </a:solidFill>
                <a:latin typeface="Arial"/>
                <a:ea typeface="Malgun Gothic"/>
                <a:cs typeface="Malgun Gothic"/>
              </a:rPr>
              <a:t>횡방향 타이어 힘</a:t>
            </a:r>
            <a:r>
              <a:rPr sz="1050" b="0" i="0">
                <a:solidFill>
                  <a:srgbClr val="16213A"/>
                </a:solidFill>
                <a:latin typeface="Arial"/>
                <a:ea typeface="Malgun Gothic"/>
                <a:cs typeface="Malgun Gothic"/>
              </a:rPr>
              <a:t>이라, 따로 학습하지 않고도 마찰 한계에 얼마나 가까운지를 알 수 있다. MPC는 이 잠재 특징을 힌트로 마찰을 모르는 노면에서 위험 인지 주행을 한다.</a:t>
            </a:r>
          </a:p>
        </p:txBody>
      </p:sp>
      <p:sp>
        <p:nvSpPr>
          <p:cNvPr id="9" name="TextBox 8"/>
          <p:cNvSpPr txBox="1"/>
          <p:nvPr/>
        </p:nvSpPr>
        <p:spPr>
          <a:xfrm>
            <a:off x="609600" y="294669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스워브 모듈의 바퀴 슬립을 학습할 때 "물리 구조는 유지하고 계수만 학습"하는 방향의 참고다.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 Controller — 학습 동역학과 추종 (참고)</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43 / 183</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불확실성을 아는 동역학과 능동 탐색</a:t>
            </a:r>
            <a:r>
              <a:rPr sz="1050" b="0" i="0">
                <a:solidFill>
                  <a:srgbClr val="16213A"/>
                </a:solidFill>
                <a:latin typeface="Arial"/>
                <a:ea typeface="Malgun Gothic"/>
                <a:cs typeface="Malgun Gothic"/>
              </a:rPr>
              <a:t>(</a:t>
            </a:r>
            <a:r>
              <a:rPr sz="1050" b="0" i="1">
                <a:solidFill>
                  <a:srgbClr val="16213A"/>
                </a:solidFill>
                <a:latin typeface="Arial"/>
                <a:ea typeface="Malgun Gothic"/>
                <a:cs typeface="Malgun Gothic"/>
              </a:rPr>
              <a:t>Bridging Active Exploration and Uncertainty-Aware Deployment</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
              </a:rPr>
              <a:t>arXiv:2305.12240</a:t>
            </a:r>
            <a:r>
              <a:rPr sz="1050" b="0" i="0">
                <a:solidFill>
                  <a:srgbClr val="16213A"/>
                </a:solidFill>
                <a:latin typeface="Arial"/>
                <a:ea typeface="Malgun Gothic"/>
                <a:cs typeface="Malgun Gothic"/>
              </a:rPr>
              <a:t>, RSS 2023). 확률 앙상블 신경망으로 동역학을 배운다. 학습 때는 앙상블끼리 예측이 엇갈리는(Jensen-Rényi divergence가 큰) 곳을 일부러 탐색하고, 배포 때는 그 불확실성을 피한다. </a:t>
            </a:r>
            <a:r>
              <a:rPr sz="1050" b="1" i="0">
                <a:solidFill>
                  <a:srgbClr val="16213A"/>
                </a:solidFill>
                <a:latin typeface="Arial"/>
                <a:ea typeface="Malgun Gothic"/>
                <a:cs typeface="Malgun Gothic"/>
              </a:rPr>
              <a:t>탐색 쪽은 travplan TP-0022 E2(자기지도 라벨 수집 때의 탐색 정책)에 바로 쓸 수 있는 근거다.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 Controller — 학습 동역학과 추종 (참고)</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44 / 183</a:t>
            </a:r>
          </a:p>
        </p:txBody>
      </p:sp>
      <p:pic>
        <p:nvPicPr>
          <p:cNvPr id="5" name="Picture 4" descr="image.jpg"/>
          <p:cNvPicPr>
            <a:picLocks noChangeAspect="1"/>
          </p:cNvPicPr>
          <p:nvPr/>
        </p:nvPicPr>
        <p:blipFill>
          <a:blip r:embed="rId3"/>
          <a:stretch>
            <a:fillRect/>
          </a:stretch>
        </p:blipFill>
        <p:spPr>
          <a:xfrm>
            <a:off x="1377950" y="1244600"/>
            <a:ext cx="9436100" cy="4445000"/>
          </a:xfrm>
          <a:prstGeom prst="rect">
            <a:avLst/>
          </a:prstGeom>
        </p:spPr>
      </p:pic>
      <p:sp>
        <p:nvSpPr>
          <p:cNvPr id="6" name="TextBox 5"/>
          <p:cNvSpPr txBox="1"/>
          <p:nvPr/>
        </p:nvSpPr>
        <p:spPr>
          <a:xfrm>
            <a:off x="1377950" y="5727700"/>
            <a:ext cx="94361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Bridging (Fig. 4): 불확실성 인지 주행 결과. 궤적 위에 차량이 받은 회전 충격을 표시한다. 출처: arXiv:2305.12240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 Controller — 학습 동역학과 추종 (참고)</a:t>
            </a:r>
            <a:r>
              <a:rPr sz="1050" b="0" i="0">
                <a:solidFill>
                  <a:srgbClr val="5A6478"/>
                </a:solidFill>
                <a:latin typeface="Arial"/>
                <a:ea typeface="Malgun Gothic"/>
                <a:cs typeface="Malgun Gothic"/>
              </a:rPr>
              <a:t>  자세히: Bridging(능동 탐색 + 불확실성 인지 배포)의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45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확률 앙상블 신경망.</a:t>
            </a:r>
            <a:r>
              <a:rPr sz="1050" b="0" i="0">
                <a:solidFill>
                  <a:srgbClr val="16213A"/>
                </a:solidFill>
                <a:latin typeface="Arial"/>
                <a:ea typeface="Malgun Gothic"/>
                <a:cs typeface="Malgun Gothic"/>
              </a:rPr>
              <a:t> 구성원 </a:t>
            </a:r>
            <a:r>
              <a:rPr sz="1050" b="0" i="1">
                <a:solidFill>
                  <a:srgbClr val="16213A"/>
                </a:solidFill>
                <a:latin typeface="Arial"/>
                <a:ea typeface="Malgun Gothic"/>
                <a:cs typeface="Malgun Gothic"/>
              </a:rPr>
              <a:t>b</a:t>
            </a:r>
            <a:r>
              <a:rPr sz="1050" b="0" i="0">
                <a:solidFill>
                  <a:srgbClr val="16213A"/>
                </a:solidFill>
                <a:latin typeface="Arial"/>
                <a:ea typeface="Malgun Gothic"/>
                <a:cs typeface="Malgun Gothic"/>
              </a:rPr>
              <a:t>마다 가우시안을 낸다. 구성원 내부 분산은 우연 불확실성(노이즈), 구성원 사이의 차이는 인식 불확실성(데이터 부족)이다.</a:t>
            </a:r>
          </a:p>
        </p:txBody>
      </p:sp>
      <p:pic>
        <p:nvPicPr>
          <p:cNvPr id="6" name="Picture 5" descr="image.png"/>
          <p:cNvPicPr>
            <a:picLocks noChangeAspect="1"/>
          </p:cNvPicPr>
          <p:nvPr/>
        </p:nvPicPr>
        <p:blipFill>
          <a:blip r:embed="rId3"/>
          <a:stretch>
            <a:fillRect/>
          </a:stretch>
        </p:blipFill>
        <p:spPr>
          <a:xfrm>
            <a:off x="609600" y="1549995"/>
            <a:ext cx="4340225" cy="241300"/>
          </a:xfrm>
          <a:prstGeom prst="rect">
            <a:avLst/>
          </a:prstGeom>
        </p:spPr>
      </p:pic>
      <p:sp>
        <p:nvSpPr>
          <p:cNvPr id="7" name="TextBox 6"/>
          <p:cNvSpPr txBox="1"/>
          <p:nvPr/>
        </p:nvSpPr>
        <p:spPr>
          <a:xfrm>
            <a:off x="609600" y="182751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능동 탐색(학습 단계).</a:t>
            </a:r>
            <a:r>
              <a:rPr sz="1050" b="0" i="0">
                <a:solidFill>
                  <a:srgbClr val="16213A"/>
                </a:solidFill>
                <a:latin typeface="Arial"/>
                <a:ea typeface="Malgun Gothic"/>
                <a:cs typeface="Malgun Gothic"/>
              </a:rPr>
              <a:t> 앙상블 예측 분포들이 얼마나 엇갈리는지를 </a:t>
            </a:r>
            <a:r>
              <a:rPr sz="1050" b="1" i="0">
                <a:solidFill>
                  <a:srgbClr val="16213A"/>
                </a:solidFill>
                <a:latin typeface="Arial"/>
                <a:ea typeface="Malgun Gothic"/>
                <a:cs typeface="Malgun Gothic"/>
              </a:rPr>
              <a:t>Jensen-Rényi divergence</a:t>
            </a:r>
            <a:r>
              <a:rPr sz="1050" b="0" i="0">
                <a:solidFill>
                  <a:srgbClr val="16213A"/>
                </a:solidFill>
                <a:latin typeface="Arial"/>
                <a:ea typeface="Malgun Gothic"/>
                <a:cs typeface="Malgun Gothic"/>
              </a:rPr>
              <a:t>로 재고, 그 값이 큰(정보가 많은) 상태로 가도록 샘플링 MPC를 굴린다. 혼합의 엔트로피에서 구성원 엔트로피 평균을 뺀 값이라, 가우시안이면 닫힌 형태로 계산된다.</a:t>
            </a:r>
          </a:p>
        </p:txBody>
      </p:sp>
      <p:pic>
        <p:nvPicPr>
          <p:cNvPr id="8" name="Picture 7" descr="image.png"/>
          <p:cNvPicPr>
            <a:picLocks noChangeAspect="1"/>
          </p:cNvPicPr>
          <p:nvPr/>
        </p:nvPicPr>
        <p:blipFill>
          <a:blip r:embed="rId4"/>
          <a:stretch>
            <a:fillRect/>
          </a:stretch>
        </p:blipFill>
        <p:spPr>
          <a:xfrm>
            <a:off x="609600" y="2349401"/>
            <a:ext cx="3257550" cy="469900"/>
          </a:xfrm>
          <a:prstGeom prst="rect">
            <a:avLst/>
          </a:prstGeom>
        </p:spPr>
      </p:pic>
      <p:sp>
        <p:nvSpPr>
          <p:cNvPr id="9" name="TextBox 8"/>
          <p:cNvSpPr txBox="1"/>
          <p:nvPr/>
        </p:nvSpPr>
        <p:spPr>
          <a:xfrm>
            <a:off x="609600" y="282307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불확실성 인지 배포(사용 단계).</a:t>
            </a:r>
            <a:r>
              <a:rPr sz="1050" b="0" i="0">
                <a:solidFill>
                  <a:srgbClr val="16213A"/>
                </a:solidFill>
                <a:latin typeface="Arial"/>
                <a:ea typeface="Malgun Gothic"/>
                <a:cs typeface="Malgun Gothic"/>
              </a:rPr>
              <a:t> 같은 불확실성을 이번에는 </a:t>
            </a:r>
            <a:r>
              <a:rPr sz="1050" b="1" i="0">
                <a:solidFill>
                  <a:srgbClr val="16213A"/>
                </a:solidFill>
                <a:latin typeface="Arial"/>
                <a:ea typeface="Malgun Gothic"/>
                <a:cs typeface="Malgun Gothic"/>
              </a:rPr>
              <a:t>비용</a:t>
            </a:r>
            <a:r>
              <a:rPr sz="1050" b="0" i="0">
                <a:solidFill>
                  <a:srgbClr val="16213A"/>
                </a:solidFill>
                <a:latin typeface="Arial"/>
                <a:ea typeface="Malgun Gothic"/>
                <a:cs typeface="Malgun Gothic"/>
              </a:rPr>
              <a:t>으로 쓴다. 부드러운 벌점과 임계를 넘으면 버리는 강한 제약을 함께 둔다. 즉 한 모델로 "모르는 곳을 찾아가 배우기"와 "모르는 곳을 피하기"를 모두 한다.</a:t>
            </a:r>
          </a:p>
        </p:txBody>
      </p:sp>
      <p:sp>
        <p:nvSpPr>
          <p:cNvPr id="10" name="TextBox 9"/>
          <p:cNvSpPr txBox="1"/>
          <p:nvPr/>
        </p:nvSpPr>
        <p:spPr>
          <a:xfrm>
            <a:off x="609600" y="334496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TP-0022 E2(자기지도 라벨 수집 때의 탐색 정책)에 그대로 옮길 수 있다. TravNet 앙상블의 불일치가 큰 칸을 찾아가게 하면, 좋은 Planner가 피해 다녀 드물었던 "힘든 곳" 라벨을 모을 수 있다.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 Controller — 학습 동역학과 추종 (참고)</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46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잠재 문맥 온라인 적응</a:t>
            </a:r>
            <a:r>
              <a:rPr sz="1050" b="0" i="0">
                <a:solidFill>
                  <a:srgbClr val="16213A"/>
                </a:solidFill>
                <a:latin typeface="Arial"/>
                <a:ea typeface="Malgun Gothic"/>
                <a:cs typeface="Malgun Gothic"/>
              </a:rPr>
              <a:t>(</a:t>
            </a:r>
            <a:r>
              <a:rPr sz="1050" b="0" i="1">
                <a:solidFill>
                  <a:srgbClr val="16213A"/>
                </a:solidFill>
                <a:latin typeface="Arial"/>
                <a:ea typeface="Malgun Gothic"/>
                <a:cs typeface="Malgun Gothic"/>
              </a:rPr>
              <a:t>Guided Latent-Context Online Adaptation for Learned Vehicle Dynamics</a:t>
            </a:r>
            <a:r>
              <a:rPr sz="1050" b="0" i="0">
                <a:solidFill>
                  <a:srgbClr val="16213A"/>
                </a:solidFill>
                <a:latin typeface="Arial"/>
                <a:ea typeface="Malgun Gothic"/>
                <a:cs typeface="Malgun Gothic"/>
              </a:rPr>
              <a:t>, G. Park·W. Lee·F. C. Park, RA-L 2026). 학습한 동역학 모델을 잠재 문맥으로 현장에 맞춘다. 공개 arXiv 링크는 찾지 못했다(</a:t>
            </a:r>
            <a:r>
              <a:rPr sz="1050" b="0" i="0">
                <a:solidFill>
                  <a:srgbClr val="1D4ED8"/>
                </a:solidFill>
                <a:latin typeface="Arial"/>
                <a:ea typeface="Malgun Gothic"/>
                <a:cs typeface="Malgun Gothic"/>
                <a:hlinkClick r:id="rId3"/>
              </a:rPr>
              <a:t>저자 Scholar</a:t>
            </a:r>
            <a:r>
              <a:rPr sz="1050" b="0" i="0">
                <a:solidFill>
                  <a:srgbClr val="16213A"/>
                </a:solidFill>
                <a:latin typeface="Arial"/>
                <a:ea typeface="Malgun Gothic"/>
                <a:cs typeface="Malgun Gothic"/>
              </a:rPr>
              <a:t>).</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TOAST</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arXiv:2201.08321</a:t>
            </a:r>
            <a:r>
              <a:rPr sz="1050" b="0" i="0">
                <a:solidFill>
                  <a:srgbClr val="16213A"/>
                </a:solidFill>
                <a:latin typeface="Arial"/>
                <a:ea typeface="Malgun Gothic"/>
                <a:cs typeface="Malgun Gothic"/>
              </a:rPr>
              <a:t>, RA-L/IROS 2022). MPC가 쓰는 신경망 동역학을 그대로 써서 최적 추종 제어기를 만들고, MPC 갱신 주기보다 빠르게 외란을 보정한다. 기존 모델 기반 제어기에 덧붙이는 확장이다. travplan Controller 주기(지금 약 8 ms)가 모자라질 때의 구조 참고다.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 Controller — 학습 동역학과 추종 (참고)</a:t>
            </a:r>
            <a:r>
              <a:rPr sz="1050" b="0" i="0">
                <a:solidFill>
                  <a:srgbClr val="5A6478"/>
                </a:solidFill>
                <a:latin typeface="Arial"/>
                <a:ea typeface="Malgun Gothic"/>
                <a:cs typeface="Malgun Gothic"/>
              </a:rPr>
              <a:t>  자세히: TOAST의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47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문제.</a:t>
            </a:r>
            <a:r>
              <a:rPr sz="1050" b="0" i="0">
                <a:solidFill>
                  <a:srgbClr val="16213A"/>
                </a:solidFill>
                <a:latin typeface="Arial"/>
                <a:ea typeface="Malgun Gothic"/>
                <a:cs typeface="Malgun Gothic"/>
              </a:rPr>
              <a:t> MPC(여기서는 SMPPI)는 계산이 무거워, 다음 명령을 계산하는 동안 같은 명령을 유지해야 한다. 그 사이의 외란이나 모델 오차는 보정되지 않는다.</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해법.</a:t>
            </a:r>
            <a:r>
              <a:rPr sz="1050" b="0" i="0">
                <a:solidFill>
                  <a:srgbClr val="16213A"/>
                </a:solidFill>
                <a:latin typeface="Arial"/>
                <a:ea typeface="Malgun Gothic"/>
                <a:cs typeface="Malgun Gothic"/>
              </a:rPr>
              <a:t> MPC가 쓰는 </a:t>
            </a:r>
            <a:r>
              <a:rPr sz="1050" b="1" i="0">
                <a:solidFill>
                  <a:srgbClr val="16213A"/>
                </a:solidFill>
                <a:latin typeface="Arial"/>
                <a:ea typeface="Malgun Gothic"/>
                <a:cs typeface="Malgun Gothic"/>
              </a:rPr>
              <a:t>같은 신경망 동역학</a:t>
            </a:r>
            <a:r>
              <a:rPr sz="1050" b="0" i="0">
                <a:solidFill>
                  <a:srgbClr val="16213A"/>
                </a:solidFill>
                <a:latin typeface="Arial"/>
                <a:ea typeface="Malgun Gothic"/>
                <a:cs typeface="Malgun Gothic"/>
              </a:rPr>
              <a:t>을 선형화해, MPC 명령을 기준으로 삼는 최적 피드백 추종 제어기를 만든다. MPC 명령을 방해하지 않고, 그 사이 시간의 오차를 더 빠른 주기로 줄인다. 새 오차 함수나 별도 신경망을 학습하지 않고 이득을 적응적으로 계산한다. 신경망에 이력 정보가 들어 있어 일반적인 </a:t>
            </a:r>
            <a:r>
              <a:rPr sz="1050" b="0" i="1">
                <a:solidFill>
                  <a:srgbClr val="16213A"/>
                </a:solidFill>
                <a:latin typeface="Arial"/>
                <a:ea typeface="Malgun Gothic"/>
                <a:cs typeface="Malgun Gothic"/>
              </a:rPr>
              <a:t>ẋ = f(x, u)</a:t>
            </a:r>
            <a:r>
              <a:rPr sz="1050" b="0" i="0">
                <a:solidFill>
                  <a:srgbClr val="16213A"/>
                </a:solidFill>
                <a:latin typeface="Arial"/>
                <a:ea typeface="Malgun Gothic"/>
                <a:cs typeface="Malgun Gothic"/>
              </a:rPr>
              <a:t> 형태가 아니어도 된다.</a:t>
            </a:r>
          </a:p>
        </p:txBody>
      </p:sp>
      <p:pic>
        <p:nvPicPr>
          <p:cNvPr id="7" name="Picture 6" descr="image.png"/>
          <p:cNvPicPr>
            <a:picLocks noChangeAspect="1"/>
          </p:cNvPicPr>
          <p:nvPr/>
        </p:nvPicPr>
        <p:blipFill>
          <a:blip r:embed="rId3"/>
          <a:stretch>
            <a:fillRect/>
          </a:stretch>
        </p:blipFill>
        <p:spPr>
          <a:xfrm>
            <a:off x="609600" y="2071886"/>
            <a:ext cx="5740400" cy="241300"/>
          </a:xfrm>
          <a:prstGeom prst="rect">
            <a:avLst/>
          </a:prstGeom>
        </p:spPr>
      </p:pic>
      <p:sp>
        <p:nvSpPr>
          <p:cNvPr id="8" name="TextBox 7"/>
          <p:cNvSpPr txBox="1"/>
          <p:nvPr/>
        </p:nvSpPr>
        <p:spPr>
          <a:xfrm>
            <a:off x="609600" y="2349401"/>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(식은 구조를 보인 개념 형태다. 이득 계산은 논문을 따른다.)</a:t>
            </a:r>
          </a:p>
        </p:txBody>
      </p:sp>
      <p:sp>
        <p:nvSpPr>
          <p:cNvPr id="9" name="TextBox 8"/>
          <p:cNvSpPr txBox="1"/>
          <p:nvPr/>
        </p:nvSpPr>
        <p:spPr>
          <a:xfrm>
            <a:off x="609600" y="265479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travplan Controller는 10 Hz 재계획에 한 주기 약 8 ms라 지금은 여유가 있다. Orin에서 주기가 모자라면 "무거운 MPPI + 가벼운 고속 추종기" 2단 구조로 가는 참고다.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 Controller — 학습 동역학과 추종 (참고)</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48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SMPPI</a:t>
            </a:r>
            <a:r>
              <a:rPr sz="1050" b="0" i="0">
                <a:solidFill>
                  <a:srgbClr val="16213A"/>
                </a:solidFill>
                <a:latin typeface="Arial"/>
                <a:ea typeface="Malgun Gothic"/>
                <a:cs typeface="Malgun Gothic"/>
              </a:rPr>
              <a:t>(같은 저자, RA-L/IROS 2022)는 이미 </a:t>
            </a:r>
            <a:r>
              <a:rPr sz="1050" b="0" i="0">
                <a:solidFill>
                  <a:srgbClr val="16213A"/>
                </a:solidFill>
                <a:latin typeface="Consolas"/>
                <a:ea typeface="Malgun Gothic"/>
                <a:cs typeface="Malgun Gothic"/>
              </a:rPr>
              <a:t>SmoothMPPIController</a:t>
            </a:r>
            <a:r>
              <a:rPr sz="1050" b="0" i="0">
                <a:solidFill>
                  <a:srgbClr val="16213A"/>
                </a:solidFill>
                <a:latin typeface="Arial"/>
                <a:ea typeface="Malgun Gothic"/>
                <a:cs typeface="Malgun Gothic"/>
              </a:rPr>
              <a:t>로 반영했다(TP-0021, §B.5).</a:t>
            </a:r>
          </a:p>
        </p:txBody>
      </p:sp>
      <p:sp>
        <p:nvSpPr>
          <p:cNvPr id="6" name="TextBox 5"/>
          <p:cNvSpPr txBox="1"/>
          <p:nvPr/>
        </p:nvSpPr>
        <p:spPr>
          <a:xfrm>
            <a:off x="609600" y="1549995"/>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예측 점유를 안전 필터에 넣기 — Predictive Semantic Safety</a:t>
            </a:r>
            <a:r>
              <a:rPr sz="1050" b="0" i="0">
                <a:solidFill>
                  <a:srgbClr val="16213A"/>
                </a:solidFill>
                <a:latin typeface="Arial"/>
                <a:ea typeface="Malgun Gothic"/>
                <a:cs typeface="Malgun Gothic"/>
              </a:rPr>
              <a:t>(Kim et al. 2026, </a:t>
            </a:r>
            <a:r>
              <a:rPr sz="1050" b="0" i="0">
                <a:solidFill>
                  <a:srgbClr val="1D4ED8"/>
                </a:solidFill>
                <a:latin typeface="Arial"/>
                <a:ea typeface="Malgun Gothic"/>
                <a:cs typeface="Malgun Gothic"/>
                <a:hlinkClick r:id="rId3"/>
              </a:rPr>
              <a:t>프로젝트</a:t>
            </a:r>
            <a:r>
              <a:rPr sz="1050" b="0" i="0">
                <a:solidFill>
                  <a:srgbClr val="16213A"/>
                </a:solidFill>
                <a:latin typeface="Arial"/>
                <a:ea typeface="Malgun Gothic"/>
                <a:cs typeface="Malgun Gothic"/>
              </a:rPr>
              <a:t>). VLM이 RGB-D에서 "곧 떨어질 물체" 같은 물리 사건을 예측하고, conformal prediction으로 보정한 미래 점유로 바꾼 뒤, 백업 기동을 보존하는 QP 안전 필터로 명령을 최소한으로 고친다(MuJoCo 4족, 150회 중 149회 안전). §C의 CVaR-BF와 같은 저자 계열이고, 동적 장애물 예측을 안전 필터에 넣는 방식의 참고다.</a:t>
            </a:r>
          </a:p>
        </p:txBody>
      </p:sp>
      <p:sp>
        <p:nvSpPr>
          <p:cNvPr id="7" name="TextBox 6"/>
          <p:cNvSpPr txBox="1"/>
          <p:nvPr/>
        </p:nvSpPr>
        <p:spPr>
          <a:xfrm>
            <a:off x="609600" y="2288381"/>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Notion 블록에는 </a:t>
            </a:r>
            <a:r>
              <a:rPr sz="1050" b="0" i="1">
                <a:solidFill>
                  <a:srgbClr val="16213A"/>
                </a:solidFill>
                <a:latin typeface="Arial"/>
                <a:ea typeface="Malgun Gothic"/>
                <a:cs typeface="Malgun Gothic"/>
              </a:rPr>
              <a:t>Convex Optimization Based Robust Optimal Control for Autonomous Vehicle</a:t>
            </a:r>
            <a:r>
              <a:rPr sz="1050" b="0" i="0">
                <a:solidFill>
                  <a:srgbClr val="16213A"/>
                </a:solidFill>
                <a:latin typeface="Arial"/>
                <a:ea typeface="Malgun Gothic"/>
                <a:cs typeface="Malgun Gothic"/>
              </a:rPr>
              <a:t>(ICROS 2022) 발표 자료도 첨부돼 있다(공개 링크 없음).</a:t>
            </a:r>
          </a:p>
        </p:txBody>
      </p:sp>
      <p:graphicFrame>
        <p:nvGraphicFramePr>
          <p:cNvPr id="8" name="Table 7"/>
          <p:cNvGraphicFramePr>
            <a:graphicFrameLocks noGrp="1"/>
          </p:cNvGraphicFramePr>
          <p:nvPr/>
        </p:nvGraphicFramePr>
        <p:xfrm>
          <a:off x="609600" y="2593777"/>
          <a:ext cx="10966449" cy="1379616"/>
        </p:xfrm>
        <a:graphic>
          <a:graphicData uri="http://schemas.openxmlformats.org/drawingml/2006/table">
            <a:tbl>
              <a:tblPr firstRow="1" bandRow="1">
                <a:tableStyleId>{5C22544A-7EE6-4342-B048-85BDC9FD1C3A}</a:tableStyleId>
              </a:tblPr>
              <a:tblGrid>
                <a:gridCol w="3390602"/>
                <a:gridCol w="3682206"/>
                <a:gridCol w="3893641"/>
              </a:tblGrid>
              <a:tr h="197088">
                <a:tc>
                  <a:txBody>
                    <a:bodyPr wrap="square"/>
                    <a:lstStyle/>
                    <a:p>
                      <a:r>
                        <a:rPr sz="800" b="1" i="0">
                          <a:solidFill>
                            <a:srgbClr val="F4F1EA"/>
                          </a:solidFill>
                          <a:latin typeface="Arial"/>
                          <a:ea typeface="Malgun Gothic"/>
                          <a:cs typeface="Malgun Gothic"/>
                        </a:rPr>
                        <a:t>연구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Controller에서 바뀌는 부분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travplan에서 쓸 때</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지형 인지 운동 모델 (RA-L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rollout 모델 = 지형 조건 학습 6자유도 모델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슬립·충격이 커져 </a:t>
                      </a:r>
                      <a:r>
                        <a:rPr sz="800" b="0" i="0">
                          <a:solidFill>
                            <a:srgbClr val="16213A"/>
                          </a:solidFill>
                          <a:latin typeface="Consolas"/>
                          <a:ea typeface="Malgun Gothic"/>
                          <a:cs typeface="Malgun Gothic"/>
                        </a:rPr>
                        <a:t>SwerveModel</a:t>
                      </a:r>
                      <a:r>
                        <a:rPr sz="800" b="0" i="0">
                          <a:solidFill>
                            <a:srgbClr val="16213A"/>
                          </a:solidFill>
                          <a:latin typeface="Arial"/>
                          <a:ea typeface="Malgun Gothic"/>
                          <a:cs typeface="Malgun Gothic"/>
                        </a:rPr>
                        <a:t>이 안 맞을 때</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PENN (2022)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물리 + 신경망 하이브리드 차량 모델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같은 목적, 데이터가 적을 때</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Bridging (RSS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앙상블 불확실성으로 탐색·회피</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TP-0022 E2 탐색 정책</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Guided Latent-Context (RA-L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학습 모델의 온라인 적응</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실물 전이 단계</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TOAST (RA-L 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같은 신경망으로 고속 추종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Controller 주기가 모자랄 때</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Predictive Semantic Safety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예측 점유 → QP 안전 필터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 안전 필터 후보</a:t>
                      </a:r>
                    </a:p>
                  </a:txBody>
                  <a:tcPr marL="63500" marR="63500" marT="12700" marB="12700">
                    <a:solidFill>
                      <a:srgbClr val="F3F0E8"/>
                    </a:solidFill>
                  </a:tcP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E. Controller — 학습 동역학과 추종 (참고)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E.2 학습 동역학과 온라인 적응의 마일스톤</a:t>
            </a:r>
            <a:r>
              <a:rPr sz="1050" b="0" i="0">
                <a:solidFill>
                  <a:srgbClr val="5A6478"/>
                </a:solidFill>
                <a:latin typeface="Arial"/>
                <a:ea typeface="Malgun Gothic"/>
                <a:cs typeface="Malgun Gothic"/>
              </a:rPr>
              <a:t>  1/5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49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위 절의 연구들은 네 개의 마일스톤 위에 서 있다.</a:t>
            </a:r>
            <a:r>
              <a:rPr sz="1050" b="0" i="0">
                <a:solidFill>
                  <a:srgbClr val="16213A"/>
                </a:solidFill>
                <a:latin typeface="Arial"/>
                <a:ea typeface="Malgun Gothic"/>
                <a:cs typeface="Malgun Gothic"/>
              </a:rPr>
              <a:t> 불확실성을 아는 확률 앙상블 동역학(PETS, 2018), IMU로 지형 효과를 배우는 역운동 모델(IKD, 2021), 특권 정보를 잠재 벡터로 압축했다가 이력에서 추정하는 온라인 적응(RMA, 2021), 잠재 world model 안에서 MPPI로 계획하는 모델 기반 RL(TD-MPC2, 2023)이다.</a:t>
            </a:r>
          </a:p>
        </p:txBody>
      </p:sp>
      <p:graphicFrame>
        <p:nvGraphicFramePr>
          <p:cNvPr id="6" name="Table 5"/>
          <p:cNvGraphicFramePr>
            <a:graphicFrameLocks noGrp="1"/>
          </p:cNvGraphicFramePr>
          <p:nvPr/>
        </p:nvGraphicFramePr>
        <p:xfrm>
          <a:off x="609600" y="1766491"/>
          <a:ext cx="10966450" cy="985440"/>
        </p:xfrm>
        <a:graphic>
          <a:graphicData uri="http://schemas.openxmlformats.org/drawingml/2006/table">
            <a:tbl>
              <a:tblPr firstRow="1" bandRow="1">
                <a:tableStyleId>{5C22544A-7EE6-4342-B048-85BDC9FD1C3A}</a:tableStyleId>
              </a:tblPr>
              <a:tblGrid>
                <a:gridCol w="651470"/>
                <a:gridCol w="970657"/>
                <a:gridCol w="3913783"/>
                <a:gridCol w="3076178"/>
                <a:gridCol w="2354362"/>
              </a:tblGrid>
              <a:tr h="197088">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핵심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이어지는 연구(위 절)</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2018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PETS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확률 앙상블 동역학 + 궤적 샘플링 계획</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확률 앙상블과 능동 탐색(RSS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IKD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관성 관측을 넣은 역운동 모델로 고속 오프로드 추종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지형 인지 운동 모델 + MPPI(RA-L 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RMA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환경 요인을 잠재 벡터로, 배포 때는 최근 이력에서 추정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잠재 문맥 온라인 적응(RA-L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TD-MPC2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디코더 없는 잠재 world model 안에서 MPPI 계획</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TOAST, 학습 동역학 MPPI 전반</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3"/>
                        </a:rPr>
                        <a:t>nicklashansen/tdmpc2</a:t>
                      </a:r>
                      <a:r>
                        <a:rPr sz="800" b="0" i="0">
                          <a:solidFill>
                            <a:srgbClr val="16213A"/>
                          </a:solidFill>
                          <a:latin typeface="Arial"/>
                          <a:ea typeface="Malgun Gothic"/>
                          <a:cs typeface="Malgun Gothic"/>
                        </a:rPr>
                        <a:t> 1.0k</a:t>
                      </a:r>
                    </a:p>
                  </a:txBody>
                  <a:tcPr marL="63500" marR="63500" marT="12700" marB="12700">
                    <a:solidFill>
                      <a:srgbClr val="F3F0E8"/>
                    </a:solidFill>
                  </a:tcPr>
                </a:tc>
              </a:tr>
            </a:tbl>
          </a:graphicData>
        </a:graphic>
      </p:graphicFrame>
      <p:sp>
        <p:nvSpPr>
          <p:cNvPr id="7" name="TextBox 6"/>
          <p:cNvSpPr txBox="1"/>
          <p:nvPr/>
        </p:nvSpPr>
        <p:spPr>
          <a:xfrm>
            <a:off x="609600" y="309354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PETS — 불확실성을 아는 동역학으로 계획한다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arXiv:1805.12114</a:t>
            </a:r>
            <a:r>
              <a:rPr sz="1050" b="0" i="0">
                <a:solidFill>
                  <a:srgbClr val="16213A"/>
                </a:solidFill>
                <a:latin typeface="Arial"/>
                <a:ea typeface="Malgun Gothic"/>
                <a:cs typeface="Malgun Gothic"/>
              </a:rPr>
              <a:t>, NeurIPS 2018, UC Berkeley). 모델 기반 RL은 샘플 효율이 좋지만, 큰 신경망 동역학은 모델 오차 때문에 최종 성능이 모델 없는 RL에 못 미쳤다. PETS는 출력 분포(평균과 분산)를 내는 확률 신경망 여러 개의 앙상블로 동역학을 학습한다. 분산은 데이터 자체의 잡음을, 앙상블 사이의 불일치는 데이터가 부족한 곳의 모델 불확실성을 나타낸다. 계획은 샘플 궤적을 앙상블로 전파해 CEM으로 행동을 고른다. half-cheetah에서 Soft Actor-Critic보다 8배, PPO보다 125배 적은 샘플로 비슷한 최종 성능에 이르렀다.</a:t>
            </a:r>
          </a:p>
        </p:txBody>
      </p:sp>
      <p:pic>
        <p:nvPicPr>
          <p:cNvPr id="8" name="Picture 7" descr="image.jpg"/>
          <p:cNvPicPr>
            <a:picLocks noChangeAspect="1"/>
          </p:cNvPicPr>
          <p:nvPr/>
        </p:nvPicPr>
        <p:blipFill>
          <a:blip r:embed="rId5"/>
          <a:stretch>
            <a:fillRect/>
          </a:stretch>
        </p:blipFill>
        <p:spPr>
          <a:xfrm>
            <a:off x="1016000" y="3831927"/>
            <a:ext cx="10160000" cy="1435100"/>
          </a:xfrm>
          <a:prstGeom prst="rect">
            <a:avLst/>
          </a:prstGeom>
        </p:spPr>
      </p:pic>
      <p:sp>
        <p:nvSpPr>
          <p:cNvPr id="9" name="TextBox 8"/>
          <p:cNvSpPr txBox="1"/>
          <p:nvPr/>
        </p:nvSpPr>
        <p:spPr>
          <a:xfrm>
            <a:off x="1016000" y="5305127"/>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PETS (Fig. 1): 부트스트랩 앙상블 확률 동역학 모델과, 그 모델로 입자를 전파해 행동 열을 평가하는 궤적 샘플링 계획. 출처: arXiv:1805.12114</a:t>
            </a:r>
          </a:p>
        </p:txBody>
      </p:sp>
      <p:sp>
        <p:nvSpPr>
          <p:cNvPr id="10" name="TextBox 9"/>
          <p:cNvSpPr txBox="1"/>
          <p:nvPr/>
        </p:nvSpPr>
        <p:spPr>
          <a:xfrm>
            <a:off x="609600" y="5536208"/>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IKD — 관성 관측으로 지형 효과를 배운 역운동 모델</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6"/>
              </a:rPr>
              <a:t>arXiv:2102.12667</a:t>
            </a:r>
            <a:r>
              <a:rPr sz="1050" b="0" i="0">
                <a:solidFill>
                  <a:srgbClr val="16213A"/>
                </a:solidFill>
                <a:latin typeface="Arial"/>
                <a:ea typeface="Malgun Gothic"/>
                <a:cs typeface="Malgun Gothic"/>
              </a:rPr>
              <a:t>, RA-L 2021, UT Austin). 비정형 지형을 빠르게 달리면 작은 지형 차이도 크게 증폭돼, 계획한 궤적대로 움직이지 않는다. IKD는 원하는 상태 변화(속도와 곡률)와 최근 IMU 관측을 넣으면, 그 변화를 실제로 만드는 제어 입력을 내는 역운동 모델을 데이터로 학습한다. 자갈 같은 지형이 고속에서 언더스티어를 만드는 효과를 IMU가 보여 주기 때문이다. 1/10 크기 차량으로 실외 트랙을 달려, 계획 실행 성공률을 52.4%에서 86.9%로 높였고 보지 못한 실내 바닥에서도 효과가 유지됐다.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E. Controller — 학습 동역학과 추종 (참고)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E.2 학습 동역학과 온라인 적응의 마일스톤</a:t>
            </a:r>
            <a:r>
              <a:rPr sz="1050" b="0" i="0">
                <a:solidFill>
                  <a:srgbClr val="5A6478"/>
                </a:solidFill>
                <a:latin typeface="Arial"/>
                <a:ea typeface="Malgun Gothic"/>
                <a:cs typeface="Malgun Gothic"/>
              </a:rPr>
              <a:t>  2/5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50 / 183</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RMA — 환경을 잠재 벡터로 압축하고, 배포 때는 이력에서 추정한다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arXiv:2107.04034</a:t>
            </a:r>
            <a:r>
              <a:rPr sz="1050" b="0" i="0">
                <a:solidFill>
                  <a:srgbClr val="16213A"/>
                </a:solidFill>
                <a:latin typeface="Arial"/>
                <a:ea typeface="Malgun Gothic"/>
                <a:cs typeface="Malgun Gothic"/>
              </a:rPr>
              <a:t>, RSS 2021, UC Berkeley·CMU). 시뮬레이션에서는 마찰, 하중, 모터 세기 같은 환경 요인을 안다. RMA는 이 특권 정보를 인코더로 잠재 벡터(extrinsics)로 줄여 기본 보행 정책에 넣고 RL로 학습한다. 두 번째 단계에서 적응 모듈이 최근 상태·행동 이력만으로 같은 잠재 벡터를 추정하도록 지도 학습한다. 배포 때 적응 모듈은 10 Hz, 기본 정책은 100 Hz로 따로 돌아, 저가형 A1 로봇에서도 1초 안쪽으로 새 지형과 하중에 적응했다. 시뮬레이션에서만 학습하고 미세조정 없이 바위, 미끄러운 바닥, 모래, 계단에 배포했다.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E. Controller — 학습 동역학과 추종 (참고)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E.2 학습 동역학과 온라인 적응의 마일스톤</a:t>
            </a:r>
            <a:r>
              <a:rPr sz="1050" b="0" i="0">
                <a:solidFill>
                  <a:srgbClr val="5A6478"/>
                </a:solidFill>
                <a:latin typeface="Arial"/>
                <a:ea typeface="Malgun Gothic"/>
                <a:cs typeface="Malgun Gothic"/>
              </a:rPr>
              <a:t>  3/5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51 / 183</a:t>
            </a:r>
          </a:p>
        </p:txBody>
      </p:sp>
      <p:pic>
        <p:nvPicPr>
          <p:cNvPr id="5" name="Picture 4" descr="image.jpg"/>
          <p:cNvPicPr>
            <a:picLocks noChangeAspect="1"/>
          </p:cNvPicPr>
          <p:nvPr/>
        </p:nvPicPr>
        <p:blipFill>
          <a:blip r:embed="rId3"/>
          <a:stretch>
            <a:fillRect/>
          </a:stretch>
        </p:blipFill>
        <p:spPr>
          <a:xfrm>
            <a:off x="2743200" y="1244600"/>
            <a:ext cx="6705600" cy="4445000"/>
          </a:xfrm>
          <a:prstGeom prst="rect">
            <a:avLst/>
          </a:prstGeom>
        </p:spPr>
      </p:pic>
      <p:sp>
        <p:nvSpPr>
          <p:cNvPr id="6" name="TextBox 5"/>
          <p:cNvSpPr txBox="1"/>
          <p:nvPr/>
        </p:nvSpPr>
        <p:spPr>
          <a:xfrm>
            <a:off x="2743200" y="5727700"/>
            <a:ext cx="67056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RMA (Fig. 2): 1단계에서 특권 환경 요인을 잠재 벡터로 압축해 기본 정책을 학습하고, 2단계에서 적응 모듈이 상태·행동 이력으로 그 벡터를 추정한다. 배포 때 적응 모듈은 10 Hz, 정책은 100 Hz로 돈다. 출처: arXiv:2107.04034</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E. Controller — 학습 동역학과 추종 (참고)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E.2 학습 동역학과 온라인 적응의 마일스톤</a:t>
            </a:r>
            <a:r>
              <a:rPr sz="1050" b="0" i="0">
                <a:solidFill>
                  <a:srgbClr val="5A6478"/>
                </a:solidFill>
                <a:latin typeface="Arial"/>
                <a:ea typeface="Malgun Gothic"/>
                <a:cs typeface="Malgun Gothic"/>
              </a:rPr>
              <a:t>  4/5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52 / 183</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TD-MPC2 — 잠재 world model 안에서 MPPI로 계획한다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arXiv:2310.16828</a:t>
            </a:r>
            <a:r>
              <a:rPr sz="1050" b="0" i="0">
                <a:solidFill>
                  <a:srgbClr val="16213A"/>
                </a:solidFill>
                <a:latin typeface="Arial"/>
                <a:ea typeface="Malgun Gothic"/>
                <a:cs typeface="Malgun Gothic"/>
              </a:rPr>
              <a:t>, ICLR 2024, UC San Diego). 관측을 복원하는 디코더 없이, 보상과 가치 예측에 필요한 것만 담는 잠재 상태를 학습한다. 잠재 동역학, 보상, Q 함수, 정책 prior를 함께 학습하고, 행동은 잠재 공간에서 MPPI로 짧게 계획한 뒤 지평 너머는 학습한 가치로 잇는다. 4개 도메인 104개 과제에서 하이퍼파라미터 한 벌로 기준선을 크게 앞섰고, 3.17억 파라미터 에이전트 하나가 여러 몸체와 행동 공간의 80개 과제를 수행했다. 모델과 데이터를 키울수록 능력이 늘었다.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E. Controller — 학습 동역학과 추종 (참고)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E.2 학습 동역학과 온라인 적응의 마일스톤</a:t>
            </a:r>
            <a:r>
              <a:rPr sz="1050" b="0" i="0">
                <a:solidFill>
                  <a:srgbClr val="5A6478"/>
                </a:solidFill>
                <a:latin typeface="Arial"/>
                <a:ea typeface="Malgun Gothic"/>
                <a:cs typeface="Malgun Gothic"/>
              </a:rPr>
              <a:t>  5/5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53 / 183</a:t>
            </a:r>
          </a:p>
        </p:txBody>
      </p:sp>
      <p:pic>
        <p:nvPicPr>
          <p:cNvPr id="5" name="Picture 4" descr="image.jpg"/>
          <p:cNvPicPr>
            <a:picLocks noChangeAspect="1"/>
          </p:cNvPicPr>
          <p:nvPr/>
        </p:nvPicPr>
        <p:blipFill>
          <a:blip r:embed="rId3"/>
          <a:stretch>
            <a:fillRect/>
          </a:stretch>
        </p:blipFill>
        <p:spPr>
          <a:xfrm>
            <a:off x="3346450" y="1244600"/>
            <a:ext cx="5499100" cy="4445000"/>
          </a:xfrm>
          <a:prstGeom prst="rect">
            <a:avLst/>
          </a:prstGeom>
        </p:spPr>
      </p:pic>
      <p:sp>
        <p:nvSpPr>
          <p:cNvPr id="6" name="TextBox 5"/>
          <p:cNvSpPr txBox="1"/>
          <p:nvPr/>
        </p:nvSpPr>
        <p:spPr>
          <a:xfrm>
            <a:off x="3346450" y="5727700"/>
            <a:ext cx="54991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TD-MPC2 (Fig. 3): 관측을 정규화된 잠재 상태로 인코딩하고, 잠재 동역학으로 반복 예측하면서 스텝마다 보상, Q 값, 행동을 예측한다. 출처: arXiv:2310.16828</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E. Controller — 학습 동역학과 추종 (참고)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E.2 학습 동역학과 온라인 적응의 마일스톤</a:t>
            </a:r>
            <a:r>
              <a:rPr sz="1050" b="0" i="0">
                <a:solidFill>
                  <a:srgbClr val="5A6478"/>
                </a:solidFill>
                <a:latin typeface="Arial"/>
                <a:ea typeface="Malgun Gothic"/>
                <a:cs typeface="Malgun Gothic"/>
              </a:rPr>
              <a:t>  자세히: 확률 앙상블, 잠재 적응, 잠재 공간 계획의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54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PETS의 확률 앙상블.</a:t>
            </a:r>
            <a:r>
              <a:rPr sz="1050" b="0" i="0">
                <a:solidFill>
                  <a:srgbClr val="16213A"/>
                </a:solidFill>
                <a:latin typeface="Arial"/>
                <a:ea typeface="Malgun Gothic"/>
                <a:cs typeface="Malgun Gothic"/>
              </a:rPr>
              <a:t> 앙상블 멤버 </a:t>
            </a:r>
            <a:r>
              <a:rPr sz="1050" b="0" i="1">
                <a:solidFill>
                  <a:srgbClr val="16213A"/>
                </a:solidFill>
                <a:latin typeface="Arial"/>
                <a:ea typeface="Malgun Gothic"/>
                <a:cs typeface="Malgun Gothic"/>
              </a:rPr>
              <a:t>b = 1, …, B</a:t>
            </a:r>
            <a:r>
              <a:rPr sz="1050" b="0" i="0">
                <a:solidFill>
                  <a:srgbClr val="16213A"/>
                </a:solidFill>
                <a:latin typeface="Arial"/>
                <a:ea typeface="Malgun Gothic"/>
                <a:cs typeface="Malgun Gothic"/>
              </a:rPr>
              <a:t>가 각각 다음 상태의 가우시안을 낸다. 계획할 때는 입자마다 멤버 하나를 골라 전파해 두 불확실성을 함께 반영한다.</a:t>
            </a:r>
          </a:p>
        </p:txBody>
      </p:sp>
      <p:pic>
        <p:nvPicPr>
          <p:cNvPr id="6" name="Picture 5" descr="image.png"/>
          <p:cNvPicPr>
            <a:picLocks noChangeAspect="1"/>
          </p:cNvPicPr>
          <p:nvPr/>
        </p:nvPicPr>
        <p:blipFill>
          <a:blip r:embed="rId3"/>
          <a:stretch>
            <a:fillRect/>
          </a:stretch>
        </p:blipFill>
        <p:spPr>
          <a:xfrm>
            <a:off x="609600" y="1549995"/>
            <a:ext cx="6791325" cy="419100"/>
          </a:xfrm>
          <a:prstGeom prst="rect">
            <a:avLst/>
          </a:prstGeom>
        </p:spPr>
      </p:pic>
      <p:sp>
        <p:nvSpPr>
          <p:cNvPr id="7" name="TextBox 6"/>
          <p:cNvSpPr txBox="1"/>
          <p:nvPr/>
        </p:nvSpPr>
        <p:spPr>
          <a:xfrm>
            <a:off x="609600" y="1981994"/>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손실은 가우시안 음의 로그 우도라, 배경 0.8의 heteroscedastic 회귀와 같은 형태다.</a:t>
            </a:r>
          </a:p>
        </p:txBody>
      </p:sp>
      <p:sp>
        <p:nvSpPr>
          <p:cNvPr id="8" name="TextBox 7"/>
          <p:cNvSpPr txBox="1"/>
          <p:nvPr/>
        </p:nvSpPr>
        <p:spPr>
          <a:xfrm>
            <a:off x="609600" y="228738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IKD의 역운동 모델.</a:t>
            </a:r>
            <a:r>
              <a:rPr sz="1050" b="0" i="0">
                <a:solidFill>
                  <a:srgbClr val="16213A"/>
                </a:solidFill>
                <a:latin typeface="Arial"/>
                <a:ea typeface="Malgun Gothic"/>
                <a:cs typeface="Malgun Gothic"/>
              </a:rPr>
              <a:t> 순운동 </a:t>
            </a:r>
            <a:r>
              <a:rPr sz="1050" b="0" i="1">
                <a:solidFill>
                  <a:srgbClr val="16213A"/>
                </a:solidFill>
                <a:latin typeface="Arial"/>
                <a:ea typeface="Malgun Gothic"/>
                <a:cs typeface="Malgun Gothic"/>
              </a:rPr>
              <a:t>ẋ = f(x, u, w)</a:t>
            </a:r>
            <a:r>
              <a:rPr sz="1050" b="0" i="0">
                <a:solidFill>
                  <a:srgbClr val="16213A"/>
                </a:solidFill>
                <a:latin typeface="Arial"/>
                <a:ea typeface="Malgun Gothic"/>
                <a:cs typeface="Malgun Gothic"/>
              </a:rPr>
              <a:t>에서 지형 상태 </a:t>
            </a:r>
            <a:r>
              <a:rPr sz="1050" b="0" i="1">
                <a:solidFill>
                  <a:srgbClr val="16213A"/>
                </a:solidFill>
                <a:latin typeface="Arial"/>
                <a:ea typeface="Malgun Gothic"/>
                <a:cs typeface="Malgun Gothic"/>
              </a:rPr>
              <a:t>w</a:t>
            </a:r>
            <a:r>
              <a:rPr sz="1050" b="0" i="0">
                <a:solidFill>
                  <a:srgbClr val="16213A"/>
                </a:solidFill>
                <a:latin typeface="Arial"/>
                <a:ea typeface="Malgun Gothic"/>
                <a:cs typeface="Malgun Gothic"/>
              </a:rPr>
              <a:t>는 보이지 않는다. IKD는 원하는 상태 변화 </a:t>
            </a:r>
            <a:r>
              <a:rPr sz="1050" b="0" i="1">
                <a:solidFill>
                  <a:srgbClr val="16213A"/>
                </a:solidFill>
                <a:latin typeface="Arial"/>
                <a:ea typeface="Malgun Gothic"/>
                <a:cs typeface="Malgun Gothic"/>
              </a:rPr>
              <a:t>Δ x</a:t>
            </a:r>
            <a:r>
              <a:rPr sz="1050" b="0" i="0">
                <a:solidFill>
                  <a:srgbClr val="16213A"/>
                </a:solidFill>
                <a:latin typeface="Arial"/>
                <a:ea typeface="Malgun Gothic"/>
                <a:cs typeface="Malgun Gothic"/>
              </a:rPr>
              <a:t>와 관성 관측 </a:t>
            </a:r>
            <a:r>
              <a:rPr sz="1050" b="0" i="1">
                <a:solidFill>
                  <a:srgbClr val="16213A"/>
                </a:solidFill>
                <a:latin typeface="Arial"/>
                <a:ea typeface="Malgun Gothic"/>
                <a:cs typeface="Malgun Gothic"/>
              </a:rPr>
              <a:t>y</a:t>
            </a:r>
            <a:r>
              <a:rPr sz="1050" b="0" i="0">
                <a:solidFill>
                  <a:srgbClr val="16213A"/>
                </a:solidFill>
                <a:latin typeface="Arial"/>
                <a:ea typeface="Malgun Gothic"/>
                <a:cs typeface="Malgun Gothic"/>
              </a:rPr>
              <a:t>에서 제어를 바로 내는 </a:t>
            </a:r>
            <a:r>
              <a:rPr sz="1050" b="0" i="1">
                <a:solidFill>
                  <a:srgbClr val="16213A"/>
                </a:solidFill>
                <a:latin typeface="Arial"/>
                <a:ea typeface="Malgun Gothic"/>
                <a:cs typeface="Malgun Gothic"/>
              </a:rPr>
              <a:t>u = f⁺_θ(Δ x, y)</a:t>
            </a:r>
            <a:r>
              <a:rPr sz="1050" b="0" i="0">
                <a:solidFill>
                  <a:srgbClr val="16213A"/>
                </a:solidFill>
                <a:latin typeface="Arial"/>
                <a:ea typeface="Malgun Gothic"/>
                <a:cs typeface="Malgun Gothic"/>
              </a:rPr>
              <a:t>를 학습한다. 목표는 주행 시간과 계획 추종 오차의 합을 줄이는 것이다.</a:t>
            </a:r>
          </a:p>
        </p:txBody>
      </p:sp>
      <p:pic>
        <p:nvPicPr>
          <p:cNvPr id="9" name="Picture 8" descr="image.png"/>
          <p:cNvPicPr>
            <a:picLocks noChangeAspect="1"/>
          </p:cNvPicPr>
          <p:nvPr/>
        </p:nvPicPr>
        <p:blipFill>
          <a:blip r:embed="rId4"/>
          <a:stretch>
            <a:fillRect/>
          </a:stretch>
        </p:blipFill>
        <p:spPr>
          <a:xfrm>
            <a:off x="609600" y="2809280"/>
            <a:ext cx="2371725" cy="450850"/>
          </a:xfrm>
          <a:prstGeom prst="rect">
            <a:avLst/>
          </a:prstGeom>
        </p:spPr>
      </p:pic>
      <p:sp>
        <p:nvSpPr>
          <p:cNvPr id="10" name="TextBox 9"/>
          <p:cNvSpPr txBox="1"/>
          <p:nvPr/>
        </p:nvSpPr>
        <p:spPr>
          <a:xfrm>
            <a:off x="609600" y="326528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RMA의 두 단계.</a:t>
            </a:r>
            <a:r>
              <a:rPr sz="1050" b="0" i="0">
                <a:solidFill>
                  <a:srgbClr val="16213A"/>
                </a:solidFill>
                <a:latin typeface="Arial"/>
                <a:ea typeface="Malgun Gothic"/>
                <a:cs typeface="Malgun Gothic"/>
              </a:rPr>
              <a:t> 1단계는 환경 요인 </a:t>
            </a:r>
            <a:r>
              <a:rPr sz="1050" b="0" i="1">
                <a:solidFill>
                  <a:srgbClr val="16213A"/>
                </a:solidFill>
                <a:latin typeface="Arial"/>
                <a:ea typeface="Malgun Gothic"/>
                <a:cs typeface="Malgun Gothic"/>
              </a:rPr>
              <a:t>eₜ</a:t>
            </a:r>
            <a:r>
              <a:rPr sz="1050" b="0" i="0">
                <a:solidFill>
                  <a:srgbClr val="16213A"/>
                </a:solidFill>
                <a:latin typeface="Arial"/>
                <a:ea typeface="Malgun Gothic"/>
                <a:cs typeface="Malgun Gothic"/>
              </a:rPr>
              <a:t>를 인코더 </a:t>
            </a:r>
            <a:r>
              <a:rPr sz="1050" b="0" i="1">
                <a:solidFill>
                  <a:srgbClr val="16213A"/>
                </a:solidFill>
                <a:latin typeface="Arial"/>
                <a:ea typeface="Malgun Gothic"/>
                <a:cs typeface="Malgun Gothic"/>
              </a:rPr>
              <a:t>μ</a:t>
            </a:r>
            <a:r>
              <a:rPr sz="1050" b="0" i="0">
                <a:solidFill>
                  <a:srgbClr val="16213A"/>
                </a:solidFill>
                <a:latin typeface="Arial"/>
                <a:ea typeface="Malgun Gothic"/>
                <a:cs typeface="Malgun Gothic"/>
              </a:rPr>
              <a:t>로 줄인 </a:t>
            </a:r>
            <a:r>
              <a:rPr sz="1050" b="0" i="1">
                <a:solidFill>
                  <a:srgbClr val="16213A"/>
                </a:solidFill>
                <a:latin typeface="Arial"/>
                <a:ea typeface="Malgun Gothic"/>
                <a:cs typeface="Malgun Gothic"/>
              </a:rPr>
              <a:t>zₜ = μ(eₜ)</a:t>
            </a:r>
            <a:r>
              <a:rPr sz="1050" b="0" i="0">
                <a:solidFill>
                  <a:srgbClr val="16213A"/>
                </a:solidFill>
                <a:latin typeface="Arial"/>
                <a:ea typeface="Malgun Gothic"/>
                <a:cs typeface="Malgun Gothic"/>
              </a:rPr>
              <a:t>를 정책 </a:t>
            </a:r>
            <a:r>
              <a:rPr sz="1050" b="0" i="1">
                <a:solidFill>
                  <a:srgbClr val="16213A"/>
                </a:solidFill>
                <a:latin typeface="Arial"/>
                <a:ea typeface="Malgun Gothic"/>
                <a:cs typeface="Malgun Gothic"/>
              </a:rPr>
              <a:t>aₜ = π(xₜ, aₜ₋₁, zₜ)</a:t>
            </a:r>
            <a:r>
              <a:rPr sz="1050" b="0" i="0">
                <a:solidFill>
                  <a:srgbClr val="16213A"/>
                </a:solidFill>
                <a:latin typeface="Arial"/>
                <a:ea typeface="Malgun Gothic"/>
                <a:cs typeface="Malgun Gothic"/>
              </a:rPr>
              <a:t>에 넣고 RL로 학습한다. 2단계는 적응 모듈 </a:t>
            </a:r>
            <a:r>
              <a:rPr sz="1050" b="0" i="1">
                <a:solidFill>
                  <a:srgbClr val="16213A"/>
                </a:solidFill>
                <a:latin typeface="Arial"/>
                <a:ea typeface="Malgun Gothic"/>
                <a:cs typeface="Malgun Gothic"/>
              </a:rPr>
              <a:t>φ</a:t>
            </a:r>
            <a:r>
              <a:rPr sz="1050" b="0" i="0">
                <a:solidFill>
                  <a:srgbClr val="16213A"/>
                </a:solidFill>
                <a:latin typeface="Arial"/>
                <a:ea typeface="Malgun Gothic"/>
                <a:cs typeface="Malgun Gothic"/>
              </a:rPr>
              <a:t>가 최근 이력에서 </a:t>
            </a:r>
            <a:r>
              <a:rPr sz="1050" b="0" i="1">
                <a:solidFill>
                  <a:srgbClr val="16213A"/>
                </a:solidFill>
                <a:latin typeface="Arial"/>
                <a:ea typeface="Malgun Gothic"/>
                <a:cs typeface="Malgun Gothic"/>
              </a:rPr>
              <a:t>ẑₜ</a:t>
            </a:r>
            <a:r>
              <a:rPr sz="1050" b="0" i="0">
                <a:solidFill>
                  <a:srgbClr val="16213A"/>
                </a:solidFill>
                <a:latin typeface="Arial"/>
                <a:ea typeface="Malgun Gothic"/>
                <a:cs typeface="Malgun Gothic"/>
              </a:rPr>
              <a:t>를 추정하도록 회귀한다.</a:t>
            </a:r>
          </a:p>
        </p:txBody>
      </p:sp>
      <p:pic>
        <p:nvPicPr>
          <p:cNvPr id="11" name="Picture 10" descr="image.png"/>
          <p:cNvPicPr>
            <a:picLocks noChangeAspect="1"/>
          </p:cNvPicPr>
          <p:nvPr/>
        </p:nvPicPr>
        <p:blipFill>
          <a:blip r:embed="rId5"/>
          <a:stretch>
            <a:fillRect/>
          </a:stretch>
        </p:blipFill>
        <p:spPr>
          <a:xfrm>
            <a:off x="609600" y="3570684"/>
            <a:ext cx="3206750" cy="327025"/>
          </a:xfrm>
          <a:prstGeom prst="rect">
            <a:avLst/>
          </a:prstGeom>
        </p:spPr>
      </p:pic>
      <p:sp>
        <p:nvSpPr>
          <p:cNvPr id="12" name="TextBox 11"/>
          <p:cNvSpPr txBox="1"/>
          <p:nvPr/>
        </p:nvSpPr>
        <p:spPr>
          <a:xfrm>
            <a:off x="609600" y="392320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TD-MPC2의 계획.</a:t>
            </a:r>
            <a:r>
              <a:rPr sz="1050" b="0" i="0">
                <a:solidFill>
                  <a:srgbClr val="16213A"/>
                </a:solidFill>
                <a:latin typeface="Arial"/>
                <a:ea typeface="Malgun Gothic"/>
                <a:cs typeface="Malgun Gothic"/>
              </a:rPr>
              <a:t> 잠재 상태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에서 지평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 동안 보상을 더하고 끝에 Q 값을 붙인 목적을 MPPI로 최대화한다.</a:t>
            </a:r>
          </a:p>
        </p:txBody>
      </p:sp>
      <p:pic>
        <p:nvPicPr>
          <p:cNvPr id="13" name="Picture 12" descr="image.png"/>
          <p:cNvPicPr>
            <a:picLocks noChangeAspect="1"/>
          </p:cNvPicPr>
          <p:nvPr/>
        </p:nvPicPr>
        <p:blipFill>
          <a:blip r:embed="rId6"/>
          <a:stretch>
            <a:fillRect/>
          </a:stretch>
        </p:blipFill>
        <p:spPr>
          <a:xfrm>
            <a:off x="609600" y="4228604"/>
            <a:ext cx="4416425" cy="549275"/>
          </a:xfrm>
          <a:prstGeom prst="rect">
            <a:avLst/>
          </a:prstGeom>
        </p:spPr>
      </p:pic>
      <p:sp>
        <p:nvSpPr>
          <p:cNvPr id="14" name="TextBox 13"/>
          <p:cNvSpPr txBox="1"/>
          <p:nvPr/>
        </p:nvSpPr>
        <p:spPr>
          <a:xfrm>
            <a:off x="609600" y="4771529"/>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travplan Controller는 지금 </a:t>
            </a:r>
            <a:r>
              <a:rPr sz="1050" b="0" i="0">
                <a:solidFill>
                  <a:srgbClr val="16213A"/>
                </a:solidFill>
                <a:latin typeface="Consolas"/>
                <a:ea typeface="Malgun Gothic"/>
                <a:cs typeface="Malgun Gothic"/>
              </a:rPr>
              <a:t>SwerveModel</a:t>
            </a:r>
            <a:r>
              <a:rPr sz="1050" b="0" i="0">
                <a:solidFill>
                  <a:srgbClr val="16213A"/>
                </a:solidFill>
                <a:latin typeface="Arial"/>
                <a:ea typeface="Malgun Gothic"/>
                <a:cs typeface="Malgun Gothic"/>
              </a:rPr>
              <a:t>(운동학)을 굴린다. Isaac Sim이나 실물에서 슬립이 커지면 바꿀 순서는 이렇다. 먼저 IKD처럼 명령과 실제 움직임의 차이를 IMU·odometry로 보정하는 작은 역모델을 추종 층에 넣는다. 그다음 PETS식 앙상블로 불확실성을 재서 MPPI 비용에 넣는다. RMA식 잠재 적응은 지형과 하중이 자주 바뀔 때의 마지막 단계다. 모두 </a:t>
            </a:r>
            <a:r>
              <a:rPr sz="1050" b="0" i="0">
                <a:solidFill>
                  <a:srgbClr val="16213A"/>
                </a:solidFill>
                <a:latin typeface="Consolas"/>
                <a:ea typeface="Malgun Gothic"/>
                <a:cs typeface="Malgun Gothic"/>
              </a:rPr>
              <a:t>MPPIController</a:t>
            </a:r>
            <a:r>
              <a:rPr sz="1050" b="0" i="0">
                <a:solidFill>
                  <a:srgbClr val="16213A"/>
                </a:solidFill>
                <a:latin typeface="Arial"/>
                <a:ea typeface="Malgun Gothic"/>
                <a:cs typeface="Malgun Gothic"/>
              </a:rPr>
              <a:t>의 최적화기를 바꾸지 않고 rollout 모델과 </a:t>
            </a:r>
            <a:r>
              <a:rPr sz="1050" b="0" i="0">
                <a:solidFill>
                  <a:srgbClr val="16213A"/>
                </a:solidFill>
                <a:latin typeface="Consolas"/>
                <a:ea typeface="Malgun Gothic"/>
                <a:cs typeface="Malgun Gothic"/>
              </a:rPr>
              <a:t>CostTerm</a:t>
            </a:r>
            <a:r>
              <a:rPr sz="1050" b="0" i="0">
                <a:solidFill>
                  <a:srgbClr val="16213A"/>
                </a:solidFill>
                <a:latin typeface="Arial"/>
                <a:ea typeface="Malgun Gothic"/>
                <a:cs typeface="Malgun Gothic"/>
              </a:rPr>
              <a:t>만 바꾼다.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E. Controller — 학습 동역학과 추종 (참고)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E.3 동역학 모델을 상태 추정에 넣어 외란을 읽는다</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55 / 183</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HDVIO2.0 — 물리 모델 위에 신경망 잔차를 얹은 6자유도 동역학을 VIO 최적화에 넣는다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arXiv:2504.00969</a:t>
            </a:r>
            <a:r>
              <a:rPr sz="1050" b="0" i="0">
                <a:solidFill>
                  <a:srgbClr val="16213A"/>
                </a:solidFill>
                <a:latin typeface="Arial"/>
                <a:ea typeface="Malgun Gothic"/>
                <a:cs typeface="Malgun Gothic"/>
              </a:rPr>
              <a:t>, T-RO 2025, UZH RPG,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GPL-3.0, ★0.1k). 앞 절들은 학습 동역학을 MPPI rollout에 넣었다. 이 연구는 같은 종류의 모델을 반대쪽, 상태 추정에 넣는다. </a:t>
            </a:r>
            <a:r>
              <a:rPr sz="1050" b="1" i="0">
                <a:solidFill>
                  <a:srgbClr val="C2410C"/>
                </a:solidFill>
                <a:latin typeface="Arial"/>
                <a:ea typeface="Malgun Gothic"/>
                <a:cs typeface="Malgun Gothic"/>
              </a:rPr>
              <a:t>힘 정답 없이 위치·속도·자세만으로 잔차 동역학을 학습하고, 모델이 예측한 움직임과 실제 움직임의 차이를 외력 상태로 추정한다.</a:t>
            </a:r>
          </a:p>
        </p:txBody>
      </p:sp>
      <p:sp>
        <p:nvSpPr>
          <p:cNvPr id="6" name="TextBox 5"/>
          <p:cNvSpPr txBox="1"/>
          <p:nvPr/>
        </p:nvSpPr>
        <p:spPr>
          <a:xfrm>
            <a:off x="609600" y="198298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동작 방식.</a:t>
            </a:r>
            <a:r>
              <a:rPr sz="1050" b="0" i="0">
                <a:solidFill>
                  <a:srgbClr val="16213A"/>
                </a:solidFill>
                <a:latin typeface="Arial"/>
                <a:ea typeface="Malgun Gothic"/>
                <a:cs typeface="Malgun Gothic"/>
              </a:rPr>
              <a:t> 병진은 점질량, 회전은 강체라는 단순한 물리 모델이 대부분을 설명한다. 신경망은 그 위의 잔차만 맡는다. 시간 합성곱 신경망(TCN) 두 개가 각각 잔차 추력과 잔차 토크를 낸다. 입력은 추력·토크 명령과 자이로 측정의 최근 100 ms(100 Hz이므로 신호마다 10개)다. 전체 차량 상태를 알 필요가 없다는 것이 요점이다. 외력은 가우시안 확률 변수로 두고, 자세·속도·IMU bias와 함께 슬라이딩 윈도 최적화에서 같이 푼다. 그래서 바람 같은 연속 외란이 상태 추정의 부산물로 나온다.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E. Controller — 학습 동역학과 추종 (참고)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E.3 동역학 모델을 상태 추정에 넣어 외란을 읽는다</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56 / 183</a:t>
            </a:r>
          </a:p>
        </p:txBody>
      </p:sp>
      <p:pic>
        <p:nvPicPr>
          <p:cNvPr id="5" name="Picture 4" descr="image.jpg"/>
          <p:cNvPicPr>
            <a:picLocks noChangeAspect="1"/>
          </p:cNvPicPr>
          <p:nvPr/>
        </p:nvPicPr>
        <p:blipFill>
          <a:blip r:embed="rId3"/>
          <a:stretch>
            <a:fillRect/>
          </a:stretch>
        </p:blipFill>
        <p:spPr>
          <a:xfrm>
            <a:off x="3683000" y="1244600"/>
            <a:ext cx="4826000" cy="4254500"/>
          </a:xfrm>
          <a:prstGeom prst="rect">
            <a:avLst/>
          </a:prstGeom>
        </p:spPr>
      </p:pic>
      <p:sp>
        <p:nvSpPr>
          <p:cNvPr id="6" name="TextBox 5"/>
          <p:cNvSpPr txBox="1"/>
          <p:nvPr/>
        </p:nvSpPr>
        <p:spPr>
          <a:xfrm>
            <a:off x="3683000" y="5537200"/>
            <a:ext cx="482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HDVIO2.0 (Fig. 1): 영상·관성 측정에 동역학 측정을 더해 로봇 상태와 외란을 함께 추정한다. 동역학은 단순 물리 모델과 학습 요소를 합친 것이다. 출처: arXiv:2504.00969</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E. Controller — 학습 동역학과 추종 (참고)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E.3 동역학 모델을 상태 추정에 넣어 외란을 읽는다</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57 / 183</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NeuroBEM 고속 비행 데이터에서 힘 예측 오차가 BEM 0.982 N에서 0.491 N으로 절반이 됐다. Blackbird 자세 추정에서 절대 궤적 오차가 VIO 대비 Egg 8 m/s에서 1.79 m → 0.77 m, Mouse 5 m/s에서 1.10 m → 0.22 m다. 산업용 팬 세 대로 최대 25 km/h 바람을 만든 실험에서 외력 추정 오차는 원 궤적 기준 VIMO 0.62 N 대 0.51 N이다. TCN 추론은 Jetson TX2에서 약 180 Hz다. </a:t>
            </a:r>
            <a:r>
              <a:rPr sz="1050" b="1" i="0">
                <a:solidFill>
                  <a:srgbClr val="16213A"/>
                </a:solidFill>
                <a:latin typeface="Arial"/>
                <a:ea typeface="Malgun Gothic"/>
                <a:cs typeface="Malgun Gothic"/>
              </a:rPr>
              <a:t>학습에 힘 정답이 필요 없다.</a:t>
            </a:r>
            <a:r>
              <a:rPr sz="1050" b="0" i="0">
                <a:solidFill>
                  <a:srgbClr val="16213A"/>
                </a:solidFill>
                <a:latin typeface="Arial"/>
                <a:ea typeface="Malgun Gothic"/>
                <a:cs typeface="Malgun Gothic"/>
              </a:rPr>
              <a:t> 바람 없이 무작위 궤적을 10분쯤 날린 로그의 위치·속도·자세만 있으면 된다.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E. Controller — 학습 동역학과 추종 (참고)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E.3 동역학 모델을 상태 추정에 넣어 외란을 읽는다</a:t>
            </a:r>
            <a:r>
              <a:rPr sz="1050" b="0" i="0">
                <a:solidFill>
                  <a:srgbClr val="5A6478"/>
                </a:solidFill>
                <a:latin typeface="Arial"/>
                <a:ea typeface="Malgun Gothic"/>
                <a:cs typeface="Malgun Gothic"/>
              </a:rPr>
              <a:t>  자세히: 잔차 동역학과 최적화에 들어가는 동역학 항</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58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하이브리드 동역학.</a:t>
            </a:r>
            <a:r>
              <a:rPr sz="1050" b="0" i="0">
                <a:solidFill>
                  <a:srgbClr val="16213A"/>
                </a:solidFill>
                <a:latin typeface="Arial"/>
                <a:ea typeface="Malgun Gothic"/>
                <a:cs typeface="Malgun Gothic"/>
              </a:rPr>
              <a:t> 추력 </a:t>
            </a:r>
            <a:r>
              <a:rPr sz="1050" b="0" i="1">
                <a:solidFill>
                  <a:srgbClr val="16213A"/>
                </a:solidFill>
                <a:latin typeface="Arial"/>
                <a:ea typeface="Malgun Gothic"/>
                <a:cs typeface="Malgun Gothic"/>
              </a:rPr>
              <a:t>fₜ</a:t>
            </a:r>
            <a:r>
              <a:rPr sz="1050" b="0" i="0">
                <a:solidFill>
                  <a:srgbClr val="16213A"/>
                </a:solidFill>
                <a:latin typeface="Arial"/>
                <a:ea typeface="Malgun Gothic"/>
                <a:cs typeface="Malgun Gothic"/>
              </a:rPr>
              <a:t>와 토크 </a:t>
            </a:r>
            <a:r>
              <a:rPr sz="1050" b="0" i="1">
                <a:solidFill>
                  <a:srgbClr val="16213A"/>
                </a:solidFill>
                <a:latin typeface="Arial"/>
                <a:ea typeface="Malgun Gothic"/>
                <a:cs typeface="Malgun Gothic"/>
              </a:rPr>
              <a:t>τ</a:t>
            </a:r>
            <a:r>
              <a:rPr sz="1050" b="0" i="0">
                <a:solidFill>
                  <a:srgbClr val="16213A"/>
                </a:solidFill>
                <a:latin typeface="Arial"/>
                <a:ea typeface="Malgun Gothic"/>
                <a:cs typeface="Malgun Gothic"/>
              </a:rPr>
              <a:t>는 명령에서 오고, 학습 잔차 </a:t>
            </a:r>
            <a:r>
              <a:rPr sz="1050" b="0" i="1">
                <a:solidFill>
                  <a:srgbClr val="16213A"/>
                </a:solidFill>
                <a:latin typeface="Arial"/>
                <a:ea typeface="Malgun Gothic"/>
                <a:cs typeface="Malgun Gothic"/>
              </a:rPr>
              <a:t>fᵣₑₛ</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τᵣₑₛ</a:t>
            </a:r>
            <a:r>
              <a:rPr sz="1050" b="0" i="0">
                <a:solidFill>
                  <a:srgbClr val="16213A"/>
                </a:solidFill>
                <a:latin typeface="Arial"/>
                <a:ea typeface="Malgun Gothic"/>
                <a:cs typeface="Malgun Gothic"/>
              </a:rPr>
              <a:t>가 모델이 설명하지 못하는 공기역학을 메운다. </a:t>
            </a:r>
            <a:r>
              <a:rPr sz="1050" b="0" i="1">
                <a:solidFill>
                  <a:srgbClr val="16213A"/>
                </a:solidFill>
                <a:latin typeface="Arial"/>
                <a:ea typeface="Malgun Gothic"/>
                <a:cs typeface="Malgun Gothic"/>
              </a:rPr>
              <a:t>fₑ</a:t>
            </a:r>
            <a:r>
              <a:rPr sz="1050" b="0" i="0">
                <a:solidFill>
                  <a:srgbClr val="16213A"/>
                </a:solidFill>
                <a:latin typeface="Arial"/>
                <a:ea typeface="Malgun Gothic"/>
                <a:cs typeface="Malgun Gothic"/>
              </a:rPr>
              <a:t>는 추정할 외력이다.</a:t>
            </a:r>
          </a:p>
        </p:txBody>
      </p:sp>
      <p:pic>
        <p:nvPicPr>
          <p:cNvPr id="6" name="Picture 5" descr="image.png"/>
          <p:cNvPicPr>
            <a:picLocks noChangeAspect="1"/>
          </p:cNvPicPr>
          <p:nvPr/>
        </p:nvPicPr>
        <p:blipFill>
          <a:blip r:embed="rId3"/>
          <a:stretch>
            <a:fillRect/>
          </a:stretch>
        </p:blipFill>
        <p:spPr>
          <a:xfrm>
            <a:off x="609600" y="1549995"/>
            <a:ext cx="4356100" cy="241300"/>
          </a:xfrm>
          <a:prstGeom prst="rect">
            <a:avLst/>
          </a:prstGeom>
        </p:spPr>
      </p:pic>
      <p:sp>
        <p:nvSpPr>
          <p:cNvPr id="7" name="TextBox 6"/>
          <p:cNvSpPr txBox="1"/>
          <p:nvPr/>
        </p:nvSpPr>
        <p:spPr>
          <a:xfrm>
            <a:off x="609600" y="182751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신경망.</a:t>
            </a:r>
            <a:r>
              <a:rPr sz="1050" b="0" i="0">
                <a:solidFill>
                  <a:srgbClr val="16213A"/>
                </a:solidFill>
                <a:latin typeface="Arial"/>
                <a:ea typeface="Malgun Gothic"/>
                <a:cs typeface="Malgun Gothic"/>
              </a:rPr>
              <a:t> TCN은 64필터 4층에 128필터 3층을 쌓고 선형층으로 3차원 벡터를 낸다. 입력은 명령과 자이로의 최근 100 ms다. 각속도는 5차 B-spline(제어점 10개, </a:t>
            </a:r>
            <a:r>
              <a:rPr sz="1050" b="0" i="1">
                <a:solidFill>
                  <a:srgbClr val="16213A"/>
                </a:solidFill>
                <a:latin typeface="Arial"/>
                <a:ea typeface="Malgun Gothic"/>
                <a:cs typeface="Malgun Gothic"/>
              </a:rPr>
              <a:t>Δ t = 0.01</a:t>
            </a:r>
            <a:r>
              <a:rPr sz="1050" b="0" i="0">
                <a:solidFill>
                  <a:srgbClr val="16213A"/>
                </a:solidFill>
                <a:latin typeface="Arial"/>
                <a:ea typeface="Malgun Gothic"/>
                <a:cs typeface="Malgun Gothic"/>
              </a:rPr>
              <a:t> s)으로 연속 함수로 두어, 이산 IMU 샘플 사이에서도 회전 동역학을 적분한다.</a:t>
            </a:r>
          </a:p>
        </p:txBody>
      </p:sp>
      <p:sp>
        <p:nvSpPr>
          <p:cNvPr id="8" name="TextBox 7"/>
          <p:cNvSpPr txBox="1"/>
          <p:nvPr/>
        </p:nvSpPr>
        <p:spPr>
          <a:xfrm>
            <a:off x="609600" y="234940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최적화 항.</a:t>
            </a:r>
            <a:r>
              <a:rPr sz="1050" b="0" i="0">
                <a:solidFill>
                  <a:srgbClr val="16213A"/>
                </a:solidFill>
                <a:latin typeface="Arial"/>
                <a:ea typeface="Malgun Gothic"/>
                <a:cs typeface="Malgun Gothic"/>
              </a:rPr>
              <a:t> 슬라이딩 윈도 factor graph에 동역학 잔차 </a:t>
            </a:r>
            <a:r>
              <a:rPr sz="1050" b="0" i="1">
                <a:solidFill>
                  <a:srgbClr val="16213A"/>
                </a:solidFill>
                <a:latin typeface="Arial"/>
                <a:ea typeface="Malgun Gothic"/>
                <a:cs typeface="Malgun Gothic"/>
              </a:rPr>
              <a:t>e_d^k</a:t>
            </a:r>
            <a:r>
              <a:rPr sz="1050" b="0" i="0">
                <a:solidFill>
                  <a:srgbClr val="16213A"/>
                </a:solidFill>
                <a:latin typeface="Arial"/>
                <a:ea typeface="Malgun Gothic"/>
                <a:cs typeface="Malgun Gothic"/>
              </a:rPr>
              <a:t>를 넣는다. 사전적분한 위치·속도·자세 증분 </a:t>
            </a:r>
            <a:r>
              <a:rPr sz="1050" b="0" i="1">
                <a:solidFill>
                  <a:srgbClr val="16213A"/>
                </a:solidFill>
                <a:latin typeface="Arial"/>
                <a:ea typeface="Malgun Gothic"/>
                <a:cs typeface="Malgun Gothic"/>
              </a:rPr>
              <a:t>(α, β, γ)</a:t>
            </a:r>
            <a:r>
              <a:rPr sz="1050" b="0" i="0">
                <a:solidFill>
                  <a:srgbClr val="16213A"/>
                </a:solidFill>
                <a:latin typeface="Arial"/>
                <a:ea typeface="Malgun Gothic"/>
                <a:cs typeface="Malgun Gothic"/>
              </a:rPr>
              <a:t>과 동역학 모델이 예측한 증분의 차이, 그리고 외력의 시간 변화로 이루어진다.</a:t>
            </a:r>
          </a:p>
        </p:txBody>
      </p:sp>
      <p:pic>
        <p:nvPicPr>
          <p:cNvPr id="9" name="Picture 8" descr="image.png"/>
          <p:cNvPicPr>
            <a:picLocks noChangeAspect="1"/>
          </p:cNvPicPr>
          <p:nvPr/>
        </p:nvPicPr>
        <p:blipFill>
          <a:blip r:embed="rId4"/>
          <a:stretch>
            <a:fillRect/>
          </a:stretch>
        </p:blipFill>
        <p:spPr>
          <a:xfrm>
            <a:off x="609600" y="2654796"/>
            <a:ext cx="2955925" cy="247650"/>
          </a:xfrm>
          <a:prstGeom prst="rect">
            <a:avLst/>
          </a:prstGeom>
        </p:spPr>
      </p:pic>
      <p:sp>
        <p:nvSpPr>
          <p:cNvPr id="10" name="TextBox 9"/>
          <p:cNvSpPr txBox="1"/>
          <p:nvPr/>
        </p:nvSpPr>
        <p:spPr>
          <a:xfrm>
            <a:off x="609600" y="293945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라벨 없는 학습.</a:t>
            </a:r>
            <a:r>
              <a:rPr sz="1050" b="0" i="0">
                <a:solidFill>
                  <a:srgbClr val="16213A"/>
                </a:solidFill>
                <a:latin typeface="Arial"/>
                <a:ea typeface="Malgun Gothic"/>
                <a:cs typeface="Malgun Gothic"/>
              </a:rPr>
              <a:t> 힘 정답을 재려면 별도 장비가 필요하다. 이 연구는 그 대신 SLAM이나 모션 캡처로 얻은 위치·속도·자세만 지도 신호로 쓴다. 모델이 예측한 궤적이 관측한 궤적과 맞도록 잔차를 학습하므로, 로봇을 날린 로그가 곧 학습 데이터다.</a:t>
            </a:r>
          </a:p>
        </p:txBody>
      </p:sp>
      <p:sp>
        <p:nvSpPr>
          <p:cNvPr id="11" name="TextBox 10"/>
          <p:cNvSpPr txBox="1"/>
          <p:nvPr/>
        </p:nvSpPr>
        <p:spPr>
          <a:xfrm>
            <a:off x="609600" y="346134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travplan Controller의 rollout은 </a:t>
            </a:r>
            <a:r>
              <a:rPr sz="1050" b="0" i="0">
                <a:solidFill>
                  <a:srgbClr val="16213A"/>
                </a:solidFill>
                <a:latin typeface="Consolas"/>
                <a:ea typeface="Malgun Gothic"/>
                <a:cs typeface="Malgun Gothic"/>
              </a:rPr>
              <a:t>SwerveModel</a:t>
            </a:r>
            <a:r>
              <a:rPr sz="1050" b="0" i="0">
                <a:solidFill>
                  <a:srgbClr val="16213A"/>
                </a:solidFill>
                <a:latin typeface="Arial"/>
                <a:ea typeface="Malgun Gothic"/>
                <a:cs typeface="Malgun Gothic"/>
              </a:rPr>
              <a:t>(평면 운동학)이고, 지형이 미는 힘이나 슬립은 모델에 없다. 이 구조를 옮기면 </a:t>
            </a:r>
            <a:r>
              <a:rPr sz="1050" b="0" i="0">
                <a:solidFill>
                  <a:srgbClr val="16213A"/>
                </a:solidFill>
                <a:latin typeface="Consolas"/>
                <a:ea typeface="Malgun Gothic"/>
                <a:cs typeface="Malgun Gothic"/>
              </a:rPr>
              <a:t>SwerveModel</a:t>
            </a:r>
            <a:r>
              <a:rPr sz="1050" b="0" i="0">
                <a:solidFill>
                  <a:srgbClr val="16213A"/>
                </a:solidFill>
                <a:latin typeface="Arial"/>
                <a:ea typeface="Malgun Gothic"/>
                <a:cs typeface="Malgun Gothic"/>
              </a:rPr>
              <a:t>이 물리 부분, 작은 신경망이 잔차 부분을 맡고, 남는 차이를 외란 상태로 추정하게 된다. 학습 라벨은 주행 로그의 자세·속도면 되므로 Isaac Sim 폐루프(TP-0005)나 실물 로그에서 바로 얻는다.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E. Controller — 학습 동역학과 추종 (참고)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E.3 동역학 모델을 상태 추정에 넣어 외란을 읽는다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59 / 183</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E.2의 순서(IKD, PETS, RMA)는 모두 제어기 쪽 모델을 바꾸는 이야기였다. HDVIO2.0이 더하는 것은 두 가지다. 첫째, 학습을 잔차로 한정하는 구조다. 물리 모델이 대부분을 설명하니 신경망이 작아도 되고, 그래서 Jetson TX2에서 180 Hz가 나온다. travplan의 Orin 예산에 그대로 들어간다. 둘째, 라벨 없이 학습하는 방법이다. 슬립이나 지형 반력의 정답을 따로 잴 필요 없이 주행 로그의 자세·속도만 있으면 된다. 순서는 L0 충실도 항목을 먼저 넣는 것이다. 슬립 무작위화(TP-0033)와 스워브 모듈 모델(TP-0034)로 설명되는 부분을 물리 모델에 넣고, 그러고도 남는 차이를 잔차로 흡수한다. 다만 대상이 쿼드로터 공기역학이고 코드가 GPL-3.0이라, 구조와 학습 방식만 참고한다.</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E. Controller — 학습 동역학과 추종 (참고)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E.4 반복되는 외란을 잠재 조건으로 기억한다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60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Continual Robot Policy Learning via Variational Neural Dynamics</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arXiv:2606.27353</a:t>
            </a:r>
            <a:r>
              <a:rPr sz="1050" b="0" i="0">
                <a:solidFill>
                  <a:srgbClr val="16213A"/>
                </a:solidFill>
                <a:latin typeface="Arial"/>
                <a:ea typeface="Malgun Gothic"/>
                <a:cs typeface="Malgun Gothic"/>
              </a:rPr>
              <a:t>, 2026-06, UZH RPG, 코드 공개 미표기). 앞 절이 외란을 상태로 </a:t>
            </a:r>
            <a:r>
              <a:rPr sz="1050" b="1" i="0">
                <a:solidFill>
                  <a:srgbClr val="16213A"/>
                </a:solidFill>
                <a:latin typeface="Arial"/>
                <a:ea typeface="Malgun Gothic"/>
                <a:cs typeface="Malgun Gothic"/>
              </a:rPr>
              <a:t>읽는</a:t>
            </a:r>
            <a:r>
              <a:rPr sz="1050" b="0" i="0">
                <a:solidFill>
                  <a:srgbClr val="16213A"/>
                </a:solidFill>
                <a:latin typeface="Arial"/>
                <a:ea typeface="Malgun Gothic"/>
                <a:cs typeface="Malgun Gothic"/>
              </a:rPr>
              <a:t> 쪽이라면, 이쪽은 겪어 본 조건을 </a:t>
            </a:r>
            <a:r>
              <a:rPr sz="1050" b="1" i="0">
                <a:solidFill>
                  <a:srgbClr val="16213A"/>
                </a:solidFill>
                <a:latin typeface="Arial"/>
                <a:ea typeface="Malgun Gothic"/>
                <a:cs typeface="Malgun Gothic"/>
              </a:rPr>
              <a:t>기억해</a:t>
            </a:r>
            <a:r>
              <a:rPr sz="1050" b="0" i="0">
                <a:solidFill>
                  <a:srgbClr val="16213A"/>
                </a:solidFill>
                <a:latin typeface="Arial"/>
                <a:ea typeface="Malgun Gothic"/>
                <a:cs typeface="Malgun Gothic"/>
              </a:rPr>
              <a:t> 정책을 미리 대비시킨다. </a:t>
            </a:r>
            <a:r>
              <a:rPr sz="1050" b="1" i="0">
                <a:solidFill>
                  <a:srgbClr val="C2410C"/>
                </a:solidFill>
                <a:latin typeface="Arial"/>
                <a:ea typeface="Malgun Gothic"/>
                <a:cs typeface="Malgun Gothic"/>
              </a:rPr>
              <a:t>온라인으로 잔차를 다시 맞추는 대신 조건을 잠재 벡터로 남겨, 같은 바람이 돌아오면 다시 배우지 않는다.</a:t>
            </a:r>
          </a:p>
        </p:txBody>
      </p:sp>
      <p:sp>
        <p:nvSpPr>
          <p:cNvPr id="6" name="TextBox 5"/>
          <p:cNvSpPr txBox="1"/>
          <p:nvPr/>
        </p:nvSpPr>
        <p:spPr>
          <a:xfrm>
            <a:off x="609600" y="1766491"/>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동작 방식.</a:t>
            </a:r>
            <a:r>
              <a:rPr sz="1050" b="0" i="0">
                <a:solidFill>
                  <a:srgbClr val="16213A"/>
                </a:solidFill>
                <a:latin typeface="Arial"/>
                <a:ea typeface="Malgun Gothic"/>
                <a:cs typeface="Malgun Gothic"/>
              </a:rPr>
              <a:t> 동역학은 HDVIO2.0과 같은 꼴이다. 강체 물리 prior에 신경망 잔차를 더하되, 잔차가 잠재 조건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를 함께 받는다.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는 GRU 인코더가 최근 0.4초(50 Hz로 20스텝)의 상태·행동 이력에서 추정하는 12차원 벡터다. 정책은 미분 가능 시뮬레이션에서 학습한다. 인코더와 잔차를 얼린 뒤 병렬 환경마다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를 prior에서 뽑아 굴리고, 지평 250스텝을 BPTT로 역전파한다. 배포 때는 뽑은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를 인코더 출력으로 바꾸기만 하면 되므로 정책 인터페이스가 같다. </a:t>
            </a:r>
            <a:r>
              <a:rPr sz="1050" b="1" i="0">
                <a:solidFill>
                  <a:srgbClr val="16213A"/>
                </a:solidFill>
                <a:latin typeface="Arial"/>
                <a:ea typeface="Malgun Gothic"/>
                <a:cs typeface="Malgun Gothic"/>
              </a:rPr>
              <a:t>continual은 재생 버퍼에 있다.</a:t>
            </a:r>
            <a:r>
              <a:rPr sz="1050" b="0" i="0">
                <a:solidFill>
                  <a:srgbClr val="16213A"/>
                </a:solidFill>
                <a:latin typeface="Arial"/>
                <a:ea typeface="Malgun Gothic"/>
                <a:cs typeface="Malgun Gothic"/>
              </a:rPr>
              <a:t> 실제 주행 전이를 쌓아 두고, 잠재 모델을 갱신할 때마다 버퍼 전체를 다시 인코딩해 좌표계를 맞춘다. 그래서 잠재가 표류하지 않고, 지난번에 겪은 조건을 알아본다.</a:t>
            </a:r>
          </a:p>
        </p:txBody>
      </p:sp>
      <p:pic>
        <p:nvPicPr>
          <p:cNvPr id="7" name="Picture 6" descr="image.jpg"/>
          <p:cNvPicPr>
            <a:picLocks noChangeAspect="1"/>
          </p:cNvPicPr>
          <p:nvPr/>
        </p:nvPicPr>
        <p:blipFill>
          <a:blip r:embed="rId4"/>
          <a:stretch>
            <a:fillRect/>
          </a:stretch>
        </p:blipFill>
        <p:spPr>
          <a:xfrm>
            <a:off x="3943350" y="2721372"/>
            <a:ext cx="4305300" cy="1695450"/>
          </a:xfrm>
          <a:prstGeom prst="rect">
            <a:avLst/>
          </a:prstGeom>
        </p:spPr>
      </p:pic>
      <p:sp>
        <p:nvSpPr>
          <p:cNvPr id="8" name="TextBox 7"/>
          <p:cNvSpPr txBox="1"/>
          <p:nvPr/>
        </p:nvSpPr>
        <p:spPr>
          <a:xfrm>
            <a:off x="3943350" y="4454922"/>
            <a:ext cx="43053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Continual VND (Fig. 1): 실제 궤적에서 잠재 조건부 잔차 동역학을 배우고, prior에서 뽑은 잠재로 병렬 미분 가능 시뮬 정책 학습을 돌린다. 출처: arXiv:2606.27353</a:t>
            </a:r>
          </a:p>
        </p:txBody>
      </p:sp>
      <p:sp>
        <p:nvSpPr>
          <p:cNvPr id="9" name="TextBox 8"/>
          <p:cNvSpPr txBox="1"/>
          <p:nvPr/>
        </p:nvSpPr>
        <p:spPr>
          <a:xfrm>
            <a:off x="609600" y="4828183"/>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Agilicious 쿼드로터, 제어 50 Hz다. 큰 외란에서 호버 오차가 0.105 m에서 0.036 m로(−65.7%), 추종 오차가 0.137 m에서 0.064 m로(−53.3%) 줄었다(온라인 잔차 재적합 LOTF 대비). 반복되는 바람에서 회복은 약 5배 빠르다(약 11초 대 55초). 8자 궤적 추종 오차는 지속 갱신으로 41 cm에서 9 cm가 됐다. 프로펠러를 자른 고장에서도 갱신 두 번 만에 52 → 24 → 12 cm로 적응했다. 기준선은 L1-MPC, RMA, DATT, LOTF, 시험 조건으로 학습한 oracle이다.</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E. Controller — 학습 동역학과 추종 (참고)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E.4 반복되는 외란을 잠재 조건으로 기억한다</a:t>
            </a:r>
            <a:r>
              <a:rPr sz="1050" b="0" i="0">
                <a:solidFill>
                  <a:srgbClr val="5A6478"/>
                </a:solidFill>
                <a:latin typeface="Arial"/>
                <a:ea typeface="Malgun Gothic"/>
                <a:cs typeface="Malgun Gothic"/>
              </a:rPr>
              <a:t>  자세히: 잠재 조건부 잔차와 VAE가 아닌 이유</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61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잠재 조건부 잔차.</a:t>
            </a:r>
            <a:r>
              <a:rPr sz="1050" b="0" i="0">
                <a:solidFill>
                  <a:srgbClr val="16213A"/>
                </a:solidFill>
                <a:latin typeface="Arial"/>
                <a:ea typeface="Malgun Gothic"/>
                <a:cs typeface="Malgun Gothic"/>
              </a:rPr>
              <a:t> 물리 prior </a:t>
            </a:r>
            <a:r>
              <a:rPr sz="1050" b="0" i="1">
                <a:solidFill>
                  <a:srgbClr val="16213A"/>
                </a:solidFill>
                <a:latin typeface="Arial"/>
                <a:ea typeface="Malgun Gothic"/>
                <a:cs typeface="Malgun Gothic"/>
              </a:rPr>
              <a:t>fₚᵣᵢₒᵣ</a:t>
            </a:r>
            <a:r>
              <a:rPr sz="1050" b="0" i="0">
                <a:solidFill>
                  <a:srgbClr val="16213A"/>
                </a:solidFill>
                <a:latin typeface="Arial"/>
                <a:ea typeface="Malgun Gothic"/>
                <a:cs typeface="Malgun Gothic"/>
              </a:rPr>
              <a:t>는 외란 없는 강체 동역학을 RK4로 적분한다. 잔차 </a:t>
            </a:r>
            <a:r>
              <a:rPr sz="1050" b="0" i="1">
                <a:solidFill>
                  <a:srgbClr val="16213A"/>
                </a:solidFill>
                <a:latin typeface="Arial"/>
                <a:ea typeface="Malgun Gothic"/>
                <a:cs typeface="Malgun Gothic"/>
              </a:rPr>
              <a:t>D_ψ</a:t>
            </a:r>
            <a:r>
              <a:rPr sz="1050" b="0" i="0">
                <a:solidFill>
                  <a:srgbClr val="16213A"/>
                </a:solidFill>
                <a:latin typeface="Arial"/>
                <a:ea typeface="Malgun Gothic"/>
                <a:cs typeface="Malgun Gothic"/>
              </a:rPr>
              <a:t>는 FiLM으로 변조되는 MLP이고, 위치·속도·회전 벡터 보정을 낸다. 회전 잔차는 지수 사상으로 합성해 회전 다양체 위에 머문다.</a:t>
            </a:r>
          </a:p>
        </p:txBody>
      </p:sp>
      <p:pic>
        <p:nvPicPr>
          <p:cNvPr id="6" name="Picture 5" descr="image.png"/>
          <p:cNvPicPr>
            <a:picLocks noChangeAspect="1"/>
          </p:cNvPicPr>
          <p:nvPr/>
        </p:nvPicPr>
        <p:blipFill>
          <a:blip r:embed="rId3"/>
          <a:stretch>
            <a:fillRect/>
          </a:stretch>
        </p:blipFill>
        <p:spPr>
          <a:xfrm>
            <a:off x="609600" y="1766491"/>
            <a:ext cx="4629150" cy="241300"/>
          </a:xfrm>
          <a:prstGeom prst="rect">
            <a:avLst/>
          </a:prstGeom>
        </p:spPr>
      </p:pic>
      <p:sp>
        <p:nvSpPr>
          <p:cNvPr id="7" name="TextBox 6"/>
          <p:cNvSpPr txBox="1"/>
          <p:nvPr/>
        </p:nvSpPr>
        <p:spPr>
          <a:xfrm>
            <a:off x="609600" y="204400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VAE가 아니다.</a:t>
            </a:r>
            <a:r>
              <a:rPr sz="1050" b="0" i="0">
                <a:solidFill>
                  <a:srgbClr val="16213A"/>
                </a:solidFill>
                <a:latin typeface="Arial"/>
                <a:ea typeface="Malgun Gothic"/>
                <a:cs typeface="Malgun Gothic"/>
              </a:rPr>
              <a:t> 표본마다 KL을 걸거나 궤적을 복원하지 않는다. 인코더가 만드는 분포 전체를 최대 평균 불일치(MMD)로 표준 정규 분포에 맞출 뿐이다. 잠재는 잔차 예측 손실에서 정보를 얻고, MMD는 prior에서 뽑은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가 현실적인 동역학을 만들도록 보장한다. 정책 학습이 </a:t>
            </a:r>
            <a:r>
              <a:rPr sz="1050" b="0" i="1">
                <a:solidFill>
                  <a:srgbClr val="16213A"/>
                </a:solidFill>
                <a:latin typeface="Arial"/>
                <a:ea typeface="Malgun Gothic"/>
                <a:cs typeface="Malgun Gothic"/>
              </a:rPr>
              <a:t>z ∼ 𝒩(0, I)</a:t>
            </a:r>
            <a:r>
              <a:rPr sz="1050" b="0" i="0">
                <a:solidFill>
                  <a:srgbClr val="16213A"/>
                </a:solidFill>
                <a:latin typeface="Arial"/>
                <a:ea typeface="Malgun Gothic"/>
                <a:cs typeface="Malgun Gothic"/>
              </a:rPr>
              <a:t> 샘플에 의존하므로 이 보장이 필요하다.</a:t>
            </a:r>
          </a:p>
        </p:txBody>
      </p:sp>
      <p:pic>
        <p:nvPicPr>
          <p:cNvPr id="8" name="Picture 7" descr="image.png"/>
          <p:cNvPicPr>
            <a:picLocks noChangeAspect="1"/>
          </p:cNvPicPr>
          <p:nvPr/>
        </p:nvPicPr>
        <p:blipFill>
          <a:blip r:embed="rId4"/>
          <a:stretch>
            <a:fillRect/>
          </a:stretch>
        </p:blipFill>
        <p:spPr>
          <a:xfrm>
            <a:off x="609600" y="2565896"/>
            <a:ext cx="3657600" cy="241300"/>
          </a:xfrm>
          <a:prstGeom prst="rect">
            <a:avLst/>
          </a:prstGeom>
        </p:spPr>
      </p:pic>
      <p:sp>
        <p:nvSpPr>
          <p:cNvPr id="9" name="TextBox 8"/>
          <p:cNvSpPr txBox="1"/>
          <p:nvPr/>
        </p:nvSpPr>
        <p:spPr>
          <a:xfrm>
            <a:off x="609600" y="284341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정책 목적.</a:t>
            </a:r>
            <a:r>
              <a:rPr sz="1050" b="0" i="0">
                <a:solidFill>
                  <a:srgbClr val="16213A"/>
                </a:solidFill>
                <a:latin typeface="Arial"/>
                <a:ea typeface="Malgun Gothic"/>
                <a:cs typeface="Malgun Gothic"/>
              </a:rPr>
              <a:t> 얼린 동역학 위에서 환경마다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를 하나 뽑아 지평 </a:t>
            </a:r>
            <a:r>
              <a:rPr sz="1050" b="0" i="1">
                <a:solidFill>
                  <a:srgbClr val="16213A"/>
                </a:solidFill>
                <a:latin typeface="Arial"/>
                <a:ea typeface="Malgun Gothic"/>
                <a:cs typeface="Malgun Gothic"/>
              </a:rPr>
              <a:t>H = 250</a:t>
            </a:r>
            <a:r>
              <a:rPr sz="1050" b="0" i="0">
                <a:solidFill>
                  <a:srgbClr val="16213A"/>
                </a:solidFill>
                <a:latin typeface="Arial"/>
                <a:ea typeface="Malgun Gothic"/>
                <a:cs typeface="Malgun Gothic"/>
              </a:rPr>
              <a:t>을 굴리고 BPTT로 미분한다.</a:t>
            </a:r>
          </a:p>
        </p:txBody>
      </p:sp>
      <p:pic>
        <p:nvPicPr>
          <p:cNvPr id="10" name="Picture 9" descr="image.png"/>
          <p:cNvPicPr>
            <a:picLocks noChangeAspect="1"/>
          </p:cNvPicPr>
          <p:nvPr/>
        </p:nvPicPr>
        <p:blipFill>
          <a:blip r:embed="rId5"/>
          <a:stretch>
            <a:fillRect/>
          </a:stretch>
        </p:blipFill>
        <p:spPr>
          <a:xfrm>
            <a:off x="609600" y="3148806"/>
            <a:ext cx="3178175" cy="549275"/>
          </a:xfrm>
          <a:prstGeom prst="rect">
            <a:avLst/>
          </a:prstGeom>
        </p:spPr>
      </p:pic>
      <p:sp>
        <p:nvSpPr>
          <p:cNvPr id="11" name="TextBox 10"/>
          <p:cNvSpPr txBox="1"/>
          <p:nvPr/>
        </p:nvSpPr>
        <p:spPr>
          <a:xfrm>
            <a:off x="609600" y="369173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잠재가 무엇을 잡았는지 확인 가능하다는 점이 쓸모 있다. 학습된 잠재는 바람의 방향과 세기별로 군집을 이뤘다. travplan에서 같은 분석을 하면 노면 조건이 잠재로 분리되는지 볼 수 있다.</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E. Controller — 학습 동역학과 추종 (참고)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E.4 반복되는 외란을 잠재 조건으로 기억한다</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62 / 183</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E.2의 RMA가 "환경 요인을 잠재로 압축하고 배포 때는 이력에서 추정한다"였다. 이 연구는 두 가지를 더한다. 잠재를 정책뿐 아니라 </a:t>
            </a:r>
            <a:r>
              <a:rPr sz="1050" b="1" i="0">
                <a:solidFill>
                  <a:srgbClr val="16213A"/>
                </a:solidFill>
                <a:latin typeface="Arial"/>
                <a:ea typeface="Malgun Gothic"/>
                <a:cs typeface="Malgun Gothic"/>
              </a:rPr>
              <a:t>잔차 동역학에도</a:t>
            </a:r>
            <a:r>
              <a:rPr sz="1050" b="0" i="0">
                <a:solidFill>
                  <a:srgbClr val="16213A"/>
                </a:solidFill>
                <a:latin typeface="Arial"/>
                <a:ea typeface="Malgun Gothic"/>
                <a:cs typeface="Malgun Gothic"/>
              </a:rPr>
              <a:t> 조건으로 주고, 배포 로그를 쌓아 같은 조건이 돌아오면 재학습 없이 알아본다. 배달로봇에서 반복되는 숨은 조건은 바람이 아니라 노면과 하중이다. 젖은 보도, 자갈, 무거운 화물은 같은 구간을 반복 주행하는 동안 계속 돌아온다. 구조가 맞는다. 다만 전제가 걸린다. 정책 학습이 </a:t>
            </a:r>
            <a:r>
              <a:rPr sz="1050" b="1" i="0">
                <a:solidFill>
                  <a:srgbClr val="16213A"/>
                </a:solidFill>
                <a:latin typeface="Arial"/>
                <a:ea typeface="Malgun Gothic"/>
                <a:cs typeface="Malgun Gothic"/>
              </a:rPr>
              <a:t>미분 가능 시뮬레이션</a:t>
            </a:r>
            <a:r>
              <a:rPr sz="1050" b="0" i="0">
                <a:solidFill>
                  <a:srgbClr val="16213A"/>
                </a:solidFill>
                <a:latin typeface="Arial"/>
                <a:ea typeface="Malgun Gothic"/>
                <a:cs typeface="Malgun Gothic"/>
              </a:rPr>
              <a:t>을 요구하는데 travplan L0(</a:t>
            </a:r>
            <a:r>
              <a:rPr sz="1050" b="0" i="0">
                <a:solidFill>
                  <a:srgbClr val="16213A"/>
                </a:solidFill>
                <a:latin typeface="Consolas"/>
                <a:ea typeface="Malgun Gothic"/>
                <a:cs typeface="Malgun Gothic"/>
              </a:rPr>
              <a:t>KinematicSim</a:t>
            </a:r>
            <a:r>
              <a:rPr sz="1050" b="0" i="0">
                <a:solidFill>
                  <a:srgbClr val="16213A"/>
                </a:solidFill>
                <a:latin typeface="Arial"/>
                <a:ea typeface="Malgun Gothic"/>
                <a:cs typeface="Malgun Gothic"/>
              </a:rPr>
              <a:t>)은 미분 가능하지 않고, TP-0066은 PPO/GRPO로 가기로 했다. 그래서 현실적인 1단계는 잠재 조건 인코더만 떼어 Controller의 rollout 모델이나 Planner D의 조건 입력으로 넣고, 노면 조건이 실제로 군집되는지 보는 것이다. E.3과 묶으면 역할이 갈린다. HDVIO2.0은 지금 받는 외란을 상태로 추정해 읽고, 이 연구는 겪어 본 조건을 기억해 미리 대비한다.</a:t>
            </a:r>
          </a:p>
        </p:txBody>
      </p:sp>
      <p:sp>
        <p:nvSpPr>
          <p:cNvPr id="6" name="TextBox 5"/>
          <p:cNvSpPr txBox="1"/>
          <p:nvPr/>
        </p:nvSpPr>
        <p:spPr>
          <a:xfrm>
            <a:off x="717550" y="2415977"/>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OptCar: 범용 동역학 모델을 한 차량에 특화하고, 이력 문맥 하나로 지형에 맞춘다</a:t>
            </a:r>
          </a:p>
        </p:txBody>
      </p:sp>
      <p:sp>
        <p:nvSpPr>
          <p:cNvPr id="7" name="TextBox 6"/>
          <p:cNvSpPr txBox="1"/>
          <p:nvPr/>
        </p:nvSpPr>
        <p:spPr>
          <a:xfrm>
            <a:off x="609600" y="271918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OptCar는 여러 차량으로 사전학습한 범용 순운동(FKD, forward kinodynamic) 모델 AnyCar를 오프로드 차량 한 대에 특화해 MPPI rollout 모델로 쓴다</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
              </a:rPr>
              <a:t>arXiv:2607.13319</a:t>
            </a:r>
            <a:r>
              <a:rPr sz="1050" b="0" i="0">
                <a:solidFill>
                  <a:srgbClr val="16213A"/>
                </a:solidFill>
                <a:latin typeface="Arial"/>
                <a:ea typeface="Malgun Gothic"/>
                <a:cs typeface="Malgun Gothic"/>
              </a:rPr>
              <a:t>, 2026-07, CoRL 2026, UT Austin·DEVCOM ARL, Biswas 연구실,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코드 저장소는 확인하지 못했다. </a:t>
            </a:r>
            <a:r>
              <a:rPr sz="1050" b="1" i="0">
                <a:solidFill>
                  <a:srgbClr val="C2410C"/>
                </a:solidFill>
                <a:latin typeface="Arial"/>
                <a:ea typeface="Malgun Gothic"/>
                <a:cs typeface="Malgun Gothic"/>
              </a:rPr>
              <a:t>온라인 가중치 갱신 없이, 최근 이력을 압축한 문맥 토큰 하나가 지형 적응을 맡는다.</a:t>
            </a:r>
          </a:p>
        </p:txBody>
      </p:sp>
      <p:sp>
        <p:nvSpPr>
          <p:cNvPr id="8" name="TextBox 7"/>
          <p:cNvSpPr txBox="1"/>
          <p:nvPr/>
        </p:nvSpPr>
        <p:spPr>
          <a:xfrm>
            <a:off x="609600" y="324108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동작 방식.</a:t>
            </a:r>
            <a:r>
              <a:rPr sz="1050" b="0" i="0">
                <a:solidFill>
                  <a:srgbClr val="16213A"/>
                </a:solidFill>
                <a:latin typeface="Arial"/>
                <a:ea typeface="Malgun Gothic"/>
                <a:cs typeface="Malgun Gothic"/>
              </a:rPr>
              <a:t> 양방향 transformer 인코더(2층)가 최근 상태·행동 약 250개(0.02 s 간격, 약 5초)를 학습 가능한 문맥 토큰 하나로 압축한다. 인과 transformer 디코더(2블록)는 그 토큰을 FiLM으로 받아 몸체 좌표의 SE(3) 자세 증분 50스텝을 낸다. AnyCar는 이력 토큰마다 교차 attention을 걸었는데, 토큰 하나로 줄이자 6 m/s에서 도로 30%, 젖은 잔디 경사 19% 더 정확해졌다. 미세조정에는 지형마다 실제 주행 약 5분과, 그 지형으로 보정한 동적 자전거 모델이 만든 합성 데이터(약 40만 창)를 섞는다. 자전거 모델은 데이터만 만들고 rollout에는 쓰지 않는다. 모델은 약 30만 파라미터이고, Jetson AGX Orin에서 FP16 TensorRT로 MPPI(표본 600, 지평 50)를 37 Hz로 돌린다.</a:t>
            </a:r>
          </a:p>
        </p:txBody>
      </p:sp>
      <p:sp>
        <p:nvSpPr>
          <p:cNvPr id="9" name="TextBox 8"/>
          <p:cNvSpPr txBox="1"/>
          <p:nvPr/>
        </p:nvSpPr>
        <p:spPr>
          <a:xfrm>
            <a:off x="609600" y="419596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1/5 크기 오프로드 차량 실물로 2·4·6 m/s의 8자 주행을 했다. 6 m/s의 궤적 추종 오차는 실제 데이터로만 미세조정한 AnyCar보다 42–57% 작다. 덤불과 흙에서는 0.776 m에서 0.348 m로 줄었다. 합성 데이터를 섞으면 실제 데이터만 쓸 때보다 17–46% 낮아졌다. 학습에 없던 수레 끌기에서도 오차가 가장 낮았다(0.229 m). 도로 30분으로 학습한 전용 모델과 비교하면 도로에서는 약 14% 뒤지고 젖은 잔디 경사에서는 약 46% 앞선다.</a:t>
            </a:r>
          </a:p>
        </p:txBody>
      </p:sp>
      <p:sp>
        <p:nvSpPr>
          <p:cNvPr id="10" name="TextBox 9"/>
          <p:cNvSpPr txBox="1"/>
          <p:nvPr/>
        </p:nvSpPr>
        <p:spPr>
          <a:xfrm>
            <a:off x="609600" y="4934347"/>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OptCar의 요리법은 "보정한 물리 모델로 합성 데이터를 만들고 학습 모델이 rollout을 맡는다"이다. travplan에는 보정한 물리 모델이 이미 있다. </a:t>
            </a:r>
            <a:r>
              <a:rPr sz="1050" b="0" i="0">
                <a:solidFill>
                  <a:srgbClr val="16213A"/>
                </a:solidFill>
                <a:latin typeface="Consolas"/>
                <a:ea typeface="Malgun Gothic"/>
                <a:cs typeface="Malgun Gothic"/>
              </a:rPr>
              <a:t>robot/plant.py</a:t>
            </a:r>
            <a:r>
              <a:rPr sz="1050" b="0" i="0">
                <a:solidFill>
                  <a:srgbClr val="16213A"/>
                </a:solidFill>
                <a:latin typeface="Arial"/>
                <a:ea typeface="Malgun Gothic"/>
                <a:cs typeface="Malgun Gothic"/>
              </a:rPr>
              <a:t>의 1차 지연·슬립식이고,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는 그 식을 rollout에 그대로 넣었다(TP-0150). 학습 모델은 Isaac Sim이나 실물에서 그 식이 틀릴 때 필요하다. 그때의 순서는 이렇다. plant 식으로 합성 데이터를 만들고, Isaac 로그 몇 분으로 미세조정하고, 문맥 토큰을 노면 조건의 자리로 쓴다. 저자가 적은 한계도 그대로 걸린다. 합성 데이터가 평면 자전거 모델이라 경사 효과가 빠졌다. travplan의 남은 병목이 경사로(TP-0151)이므로, 경사 슬립은 합성 쪽이 아니라 실제 데이터 쪽에서 배워야 한다.</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E. Controller — 학습 동역학과 추종 (참고)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E.4 반복되는 외란을 잠재 조건으로 기억한다</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63 / 183</a:t>
            </a:r>
          </a:p>
        </p:txBody>
      </p:sp>
      <p:pic>
        <p:nvPicPr>
          <p:cNvPr id="5" name="Picture 4" descr="image.jpg"/>
          <p:cNvPicPr>
            <a:picLocks noChangeAspect="1"/>
          </p:cNvPicPr>
          <p:nvPr/>
        </p:nvPicPr>
        <p:blipFill>
          <a:blip r:embed="rId3"/>
          <a:stretch>
            <a:fillRect/>
          </a:stretch>
        </p:blipFill>
        <p:spPr>
          <a:xfrm>
            <a:off x="609600" y="1244600"/>
            <a:ext cx="5410200" cy="2273300"/>
          </a:xfrm>
          <a:prstGeom prst="rect">
            <a:avLst/>
          </a:prstGeom>
        </p:spPr>
      </p:pic>
      <p:sp>
        <p:nvSpPr>
          <p:cNvPr id="6" name="TextBox 5"/>
          <p:cNvSpPr txBox="1"/>
          <p:nvPr/>
        </p:nvSpPr>
        <p:spPr>
          <a:xfrm>
            <a:off x="609600" y="35560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OptCar (Fig. 2): 왼쪽은 이력을 문맥 벡터 하나로 압축해 FKD rollout을 조건화하는 구조, 오른쪽은 범용 사전학습 뒤 실제·합성 데이터로 특화하는 학습 흐름. 출처: arXiv:2607.13319</a:t>
            </a:r>
          </a:p>
        </p:txBody>
      </p:sp>
      <p:pic>
        <p:nvPicPr>
          <p:cNvPr id="7" name="Picture 6" descr="image.jpg"/>
          <p:cNvPicPr>
            <a:picLocks noChangeAspect="1"/>
          </p:cNvPicPr>
          <p:nvPr/>
        </p:nvPicPr>
        <p:blipFill>
          <a:blip r:embed="rId4"/>
          <a:stretch>
            <a:fillRect/>
          </a:stretch>
        </p:blipFill>
        <p:spPr>
          <a:xfrm>
            <a:off x="6172200" y="1244600"/>
            <a:ext cx="5410200" cy="1308100"/>
          </a:xfrm>
          <a:prstGeom prst="rect">
            <a:avLst/>
          </a:prstGeom>
        </p:spPr>
      </p:pic>
      <p:sp>
        <p:nvSpPr>
          <p:cNvPr id="8" name="TextBox 7"/>
          <p:cNvSpPr txBox="1"/>
          <p:nvPr/>
        </p:nvSpPr>
        <p:spPr>
          <a:xfrm>
            <a:off x="6172200" y="25908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OptCar (Fig. 5): 덤불·흙 지형에서 세 속도의 8자 주행을 위에서 본 모습. OptCar FT-RS와 AnyCar FT-R을 비교했다. 출처: arXiv:2607.13319</a:t>
            </a:r>
          </a:p>
        </p:txBody>
      </p:sp>
      <p:sp>
        <p:nvSpPr>
          <p:cNvPr id="9" name="TextBox 8"/>
          <p:cNvSpPr txBox="1"/>
          <p:nvPr/>
        </p:nvSpPr>
        <p:spPr>
          <a:xfrm>
            <a:off x="717550" y="392926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FE-RLS: 기저 함수의 계수만 재귀 최소제곱으로 갱신해 몇 초 안에 적응한다</a:t>
            </a:r>
          </a:p>
        </p:txBody>
      </p:sp>
      <p:sp>
        <p:nvSpPr>
          <p:cNvPr id="10" name="TextBox 9"/>
          <p:cNvSpPr txBox="1"/>
          <p:nvPr/>
        </p:nvSpPr>
        <p:spPr>
          <a:xfrm>
            <a:off x="609600" y="4232473"/>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Zero to Autonomy in Real-Time(FE-RLS)은 동역학을 학습한 신경 ODE 기저 함수 k개의 선형 결합으로 두고, 그 계수만 주행 중 재귀 최소제곱(RLS)으로 갱신한다</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arXiv:2509.12516</a:t>
            </a:r>
            <a:r>
              <a:rPr sz="1050" b="0" i="0">
                <a:solidFill>
                  <a:srgbClr val="16213A"/>
                </a:solidFill>
                <a:latin typeface="Arial"/>
                <a:ea typeface="Malgun Gothic"/>
                <a:cs typeface="Malgun Gothic"/>
              </a:rPr>
              <a:t>, 2025-09, RA-L 투고, UT Austin·DEVCOM ARL, Topcu 연구실). 코드 공개는 확인하지 못했다. 경사 하강 내부 루프가 없으므로 갱신은 계수 수의 제곱에 비례하는 상수 시간이다. 계수는 0(사전 지식 없음)에서 시작한다.</a:t>
            </a:r>
          </a:p>
        </p:txBody>
      </p:sp>
      <p:sp>
        <p:nvSpPr>
          <p:cNvPr id="11" name="TextBox 10"/>
          <p:cNvSpPr txBox="1"/>
          <p:nvPr/>
        </p:nvSpPr>
        <p:spPr>
          <a:xfrm>
            <a:off x="609600" y="4970859"/>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동작 방식과 결과.</a:t>
            </a:r>
            <a:r>
              <a:rPr sz="1050" b="0" i="0">
                <a:solidFill>
                  <a:srgbClr val="16213A"/>
                </a:solidFill>
                <a:latin typeface="Arial"/>
                <a:ea typeface="Malgun Gothic"/>
                <a:cs typeface="Malgun Gothic"/>
              </a:rPr>
              <a:t> 기저 수는 시뮬레이션과 실물 데이터의 오프라인 평가에서 8개이고, 실물 자율 주행 스택에서는 속도 때문에 3개다. 갱신된 모델을 MPPI가 rollout으로 굴린다. 시뮬레이션 Warthog는 얼음 지형에서 약 5초 만에 적응했고, MAML은 부정확한 rollout 때문에 장애물에 부딪혔다. 실물은 Clearpath Jackal(T4 GPU)이다. 아이스 링크 위에 잔디(turf)를 깔아 잔디와 얼음을 오가는 코스를 MPPI(표본 100, 지평 2.5 s)로 달렸다. 예측 오차가 신경 ODE와 MAML보다 낮았다고 그림으로 보고했고 표의 수치는 없다. 저자는 실물 속도가 느려 지형 차이가 덜 드러났다고 적었다. 한 번 추론에 2.5 ms로 신경 ODE(0.32 ms)보다 느리다.</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E. Controller — 학습 동역학과 추종 (참고)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E.4 반복되는 외란을 잠재 조건으로 기억한다</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64 / 183</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RLS 갱신은 travplan 잔차 모델(MPC 문서 M.3.6)과 같은 자리다. E.9에서 본 대로 travplan 잔차의 큰 몫은 선형인 지연이다. 그래서 잔차를 기저 몇 개의 선형 결합으로 두고 RLS로 갱신하는 편이 GP보다 싸고, E.9의 wBLR 결론과도 맞는다. FE-RLS는 기저를 오프라인으로 학습한다. travplan에서는 plant 식의 지연·슬립 계수가 기저 노릇을 하므로 학습 없이 같은 구조를 만들 수 있다. 노면이 바뀌는 L1 레벨 3에서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의 슬립 계수를 주행 중 추정하는 작은 실험이 첫 적용이다.</a:t>
            </a:r>
          </a:p>
        </p:txBody>
      </p:sp>
      <p:pic>
        <p:nvPicPr>
          <p:cNvPr id="6" name="Picture 5" descr="image.jpg"/>
          <p:cNvPicPr>
            <a:picLocks noChangeAspect="1"/>
          </p:cNvPicPr>
          <p:nvPr/>
        </p:nvPicPr>
        <p:blipFill>
          <a:blip r:embed="rId3"/>
          <a:stretch>
            <a:fillRect/>
          </a:stretch>
        </p:blipFill>
        <p:spPr>
          <a:xfrm>
            <a:off x="609600" y="1982986"/>
            <a:ext cx="4648200" cy="2667000"/>
          </a:xfrm>
          <a:prstGeom prst="rect">
            <a:avLst/>
          </a:prstGeom>
        </p:spPr>
      </p:pic>
      <p:sp>
        <p:nvSpPr>
          <p:cNvPr id="7" name="TextBox 6"/>
          <p:cNvSpPr txBox="1"/>
          <p:nvPr/>
        </p:nvSpPr>
        <p:spPr>
          <a:xfrm>
            <a:off x="609600" y="4688086"/>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FE-RLS (Fig. 1): 스트리밍 데이터로 함수 인코더 계수를 RLS로 갱신하면 rollout과 MPPI 성능이 좋아진다. 출처: arXiv:2509.12516</a:t>
            </a:r>
          </a:p>
        </p:txBody>
      </p:sp>
      <p:pic>
        <p:nvPicPr>
          <p:cNvPr id="8" name="Picture 7" descr="image.jpg"/>
          <p:cNvPicPr>
            <a:picLocks noChangeAspect="1"/>
          </p:cNvPicPr>
          <p:nvPr/>
        </p:nvPicPr>
        <p:blipFill>
          <a:blip r:embed="rId4"/>
          <a:stretch>
            <a:fillRect/>
          </a:stretch>
        </p:blipFill>
        <p:spPr>
          <a:xfrm>
            <a:off x="6172200" y="1982986"/>
            <a:ext cx="2749550" cy="2667000"/>
          </a:xfrm>
          <a:prstGeom prst="rect">
            <a:avLst/>
          </a:prstGeom>
        </p:spPr>
      </p:pic>
      <p:sp>
        <p:nvSpPr>
          <p:cNvPr id="9" name="TextBox 8"/>
          <p:cNvSpPr txBox="1"/>
          <p:nvPr/>
        </p:nvSpPr>
        <p:spPr>
          <a:xfrm>
            <a:off x="6172200" y="4688086"/>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FE-RLS (Fig. 8): 아이스 링크 위 잔디와 얼음이 섞인 코스에서 Jackal 실물이 적응하며 달리는 모습. 출처: arXiv:2509.12516</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E. Controller — 학습 동역학과 추종 (참고)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E.4 반복되는 외란을 잠재 조건으로 기억한다</a:t>
            </a:r>
            <a:r>
              <a:rPr sz="1050" b="0" i="0">
                <a:solidFill>
                  <a:srgbClr val="5A6478"/>
                </a:solidFill>
                <a:latin typeface="Arial"/>
                <a:ea typeface="Malgun Gothic"/>
                <a:cs typeface="Malgun Gothic"/>
              </a:rPr>
              <a:t>  자세히: 함수 인코더와 RLS 계수 갱신</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65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함수 인코더.</a:t>
            </a:r>
            <a:r>
              <a:rPr sz="1050" b="0" i="0">
                <a:solidFill>
                  <a:srgbClr val="16213A"/>
                </a:solidFill>
                <a:latin typeface="Arial"/>
                <a:ea typeface="Malgun Gothic"/>
                <a:cs typeface="Malgun Gothic"/>
              </a:rPr>
              <a:t> 상태 변화를 학습한 기저 </a:t>
            </a:r>
            <a:r>
              <a:rPr sz="1050" b="0" i="1">
                <a:solidFill>
                  <a:srgbClr val="16213A"/>
                </a:solidFill>
                <a:latin typeface="Arial"/>
                <a:ea typeface="Malgun Gothic"/>
                <a:cs typeface="Malgun Gothic"/>
              </a:rPr>
              <a:t>gᵢ</a:t>
            </a:r>
            <a:r>
              <a:rPr sz="1050" b="0" i="0">
                <a:solidFill>
                  <a:srgbClr val="16213A"/>
                </a:solidFill>
                <a:latin typeface="Arial"/>
                <a:ea typeface="Malgun Gothic"/>
                <a:cs typeface="Malgun Gothic"/>
              </a:rPr>
              <a:t>(신경 ODE)의 선형 결합으로 쓴다. 지형이 바뀌면 기저는 그대로이고 계수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만 바뀐다.</a:t>
            </a:r>
          </a:p>
        </p:txBody>
      </p:sp>
      <p:pic>
        <p:nvPicPr>
          <p:cNvPr id="6" name="Picture 5" descr="image.png"/>
          <p:cNvPicPr>
            <a:picLocks noChangeAspect="1"/>
          </p:cNvPicPr>
          <p:nvPr/>
        </p:nvPicPr>
        <p:blipFill>
          <a:blip r:embed="rId3"/>
          <a:stretch>
            <a:fillRect/>
          </a:stretch>
        </p:blipFill>
        <p:spPr>
          <a:xfrm>
            <a:off x="609600" y="1549995"/>
            <a:ext cx="2187575" cy="552450"/>
          </a:xfrm>
          <a:prstGeom prst="rect">
            <a:avLst/>
          </a:prstGeom>
        </p:spPr>
      </p:pic>
      <p:sp>
        <p:nvSpPr>
          <p:cNvPr id="7" name="TextBox 6"/>
          <p:cNvSpPr txBox="1"/>
          <p:nvPr/>
        </p:nvSpPr>
        <p:spPr>
          <a:xfrm>
            <a:off x="609600" y="209559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RLS 갱신.</a:t>
            </a:r>
            <a:r>
              <a:rPr sz="1050" b="0" i="0">
                <a:solidFill>
                  <a:srgbClr val="16213A"/>
                </a:solidFill>
                <a:latin typeface="Arial"/>
                <a:ea typeface="Malgun Gothic"/>
                <a:cs typeface="Malgun Gothic"/>
              </a:rPr>
              <a:t> 새 관측마다 회귀 벡터 </a:t>
            </a:r>
            <a:r>
              <a:rPr sz="1050" b="0" i="1">
                <a:solidFill>
                  <a:srgbClr val="16213A"/>
                </a:solidFill>
                <a:latin typeface="Arial"/>
                <a:ea typeface="Malgun Gothic"/>
                <a:cs typeface="Malgun Gothic"/>
              </a:rPr>
              <a:t>φₜ</a:t>
            </a:r>
            <a:r>
              <a:rPr sz="1050" b="0" i="0">
                <a:solidFill>
                  <a:srgbClr val="16213A"/>
                </a:solidFill>
                <a:latin typeface="Arial"/>
                <a:ea typeface="Malgun Gothic"/>
                <a:cs typeface="Malgun Gothic"/>
              </a:rPr>
              <a:t>(기저 출력)와 실제 상태 변화 </a:t>
            </a:r>
            <a:r>
              <a:rPr sz="1050" b="0" i="1">
                <a:solidFill>
                  <a:srgbClr val="16213A"/>
                </a:solidFill>
                <a:latin typeface="Arial"/>
                <a:ea typeface="Malgun Gothic"/>
                <a:cs typeface="Malgun Gothic"/>
              </a:rPr>
              <a:t>yₜ</a:t>
            </a:r>
            <a:r>
              <a:rPr sz="1050" b="0" i="0">
                <a:solidFill>
                  <a:srgbClr val="16213A"/>
                </a:solidFill>
                <a:latin typeface="Arial"/>
                <a:ea typeface="Malgun Gothic"/>
                <a:cs typeface="Malgun Gothic"/>
              </a:rPr>
              <a:t>로 계수와 공분산을 갱신한다. </a:t>
            </a:r>
            <a:r>
              <a:rPr sz="1050" b="0" i="1">
                <a:solidFill>
                  <a:srgbClr val="16213A"/>
                </a:solidFill>
                <a:latin typeface="Arial"/>
                <a:ea typeface="Malgun Gothic"/>
                <a:cs typeface="Malgun Gothic"/>
              </a:rPr>
              <a:t>γ</a:t>
            </a:r>
            <a:r>
              <a:rPr sz="1050" b="0" i="0">
                <a:solidFill>
                  <a:srgbClr val="16213A"/>
                </a:solidFill>
                <a:latin typeface="Arial"/>
                <a:ea typeface="Malgun Gothic"/>
                <a:cs typeface="Malgun Gothic"/>
              </a:rPr>
              <a:t>는 잊음 인자이고, 시작은 </a:t>
            </a:r>
            <a:r>
              <a:rPr sz="1050" b="0" i="1">
                <a:solidFill>
                  <a:srgbClr val="16213A"/>
                </a:solidFill>
                <a:latin typeface="Arial"/>
                <a:ea typeface="Malgun Gothic"/>
                <a:cs typeface="Malgun Gothic"/>
              </a:rPr>
              <a:t>c₀ = 0</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P₀ = η⁻¹ I</a:t>
            </a:r>
            <a:r>
              <a:rPr sz="1050" b="0" i="0">
                <a:solidFill>
                  <a:srgbClr val="16213A"/>
                </a:solidFill>
                <a:latin typeface="Arial"/>
                <a:ea typeface="Malgun Gothic"/>
                <a:cs typeface="Malgun Gothic"/>
              </a:rPr>
              <a:t>이다(MPPI 온도 </a:t>
            </a:r>
            <a:r>
              <a:rPr sz="1050" b="0" i="1">
                <a:solidFill>
                  <a:srgbClr val="16213A"/>
                </a:solidFill>
                <a:latin typeface="Arial"/>
                <a:ea typeface="Malgun Gothic"/>
                <a:cs typeface="Malgun Gothic"/>
              </a:rPr>
              <a:t>λ</a:t>
            </a:r>
            <a:r>
              <a:rPr sz="1050" b="0" i="0">
                <a:solidFill>
                  <a:srgbClr val="16213A"/>
                </a:solidFill>
                <a:latin typeface="Arial"/>
                <a:ea typeface="Malgun Gothic"/>
                <a:cs typeface="Malgun Gothic"/>
              </a:rPr>
              <a:t>와 다른 기호로 썼다).</a:t>
            </a:r>
          </a:p>
        </p:txBody>
      </p:sp>
      <p:pic>
        <p:nvPicPr>
          <p:cNvPr id="8" name="Picture 7" descr="image.png"/>
          <p:cNvPicPr>
            <a:picLocks noChangeAspect="1"/>
          </p:cNvPicPr>
          <p:nvPr/>
        </p:nvPicPr>
        <p:blipFill>
          <a:blip r:embed="rId4"/>
          <a:stretch>
            <a:fillRect/>
          </a:stretch>
        </p:blipFill>
        <p:spPr>
          <a:xfrm>
            <a:off x="609600" y="2400995"/>
            <a:ext cx="6178550" cy="419100"/>
          </a:xfrm>
          <a:prstGeom prst="rect">
            <a:avLst/>
          </a:prstGeom>
        </p:spPr>
      </p:pic>
      <p:sp>
        <p:nvSpPr>
          <p:cNvPr id="9" name="TextBox 8"/>
          <p:cNvSpPr txBox="1"/>
          <p:nvPr/>
        </p:nvSpPr>
        <p:spPr>
          <a:xfrm>
            <a:off x="609600" y="28327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잊음 인자는 노면이 바뀌는 속도를 정한다. 보도와 경사로가 몇 초 단위로 바뀌는 travplan 레벨 3에서는 </a:t>
            </a:r>
            <a:r>
              <a:rPr sz="1050" b="0" i="1">
                <a:solidFill>
                  <a:srgbClr val="16213A"/>
                </a:solidFill>
                <a:latin typeface="Arial"/>
                <a:ea typeface="Malgun Gothic"/>
                <a:cs typeface="Malgun Gothic"/>
              </a:rPr>
              <a:t>γ</a:t>
            </a:r>
            <a:r>
              <a:rPr sz="1050" b="0" i="0">
                <a:solidFill>
                  <a:srgbClr val="16213A"/>
                </a:solidFill>
                <a:latin typeface="Arial"/>
                <a:ea typeface="Malgun Gothic"/>
                <a:cs typeface="Malgun Gothic"/>
              </a:rPr>
              <a:t>를 작게 둬야 한다.</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E. Controller — 학습 동역학과 추종 (참고)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E.5 모르는 것 위에서의 보장: 학습 MPC의 세 갈래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66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Melanie Zeilinger(ETH Zürich)의 MIT Robotics 세미나 "Learning for Complex Control Systems — Guarantees in the Unknown" (2026-04-10, </a:t>
            </a:r>
            <a:r>
              <a:rPr sz="1050" b="1" i="0">
                <a:solidFill>
                  <a:srgbClr val="1D4ED8"/>
                </a:solidFill>
                <a:latin typeface="Arial"/>
                <a:ea typeface="Malgun Gothic"/>
                <a:cs typeface="Malgun Gothic"/>
                <a:hlinkClick r:id="rId3"/>
              </a:rPr>
              <a:t>영상</a:t>
            </a:r>
            <a:r>
              <a:rPr sz="1050" b="1" i="0">
                <a:solidFill>
                  <a:srgbClr val="16213A"/>
                </a:solidFill>
                <a:latin typeface="Arial"/>
                <a:ea typeface="Malgun Gothic"/>
                <a:cs typeface="Malgun Gothic"/>
              </a:rPr>
              <a:t>)을 계기로 그 그룹의 연구를 정리했다.</a:t>
            </a:r>
            <a:r>
              <a:rPr sz="1050" b="0" i="0">
                <a:solidFill>
                  <a:srgbClr val="16213A"/>
                </a:solidFill>
                <a:latin typeface="Arial"/>
                <a:ea typeface="Malgun Gothic"/>
                <a:cs typeface="Malgun Gothic"/>
              </a:rPr>
              <a:t> 강연 초록과 자막은 확보하지 못했으므로, 아래는 같은 그룹이 낸 논문으로 재구성한 것이다. E.3과 E.4가 "잔차를 어떻게 배우나"였다면, 이 절은 </a:t>
            </a:r>
            <a:r>
              <a:rPr sz="1050" b="1" i="0">
                <a:solidFill>
                  <a:srgbClr val="16213A"/>
                </a:solidFill>
                <a:latin typeface="Arial"/>
                <a:ea typeface="Malgun Gothic"/>
                <a:cs typeface="Malgun Gothic"/>
              </a:rPr>
              <a:t>배운 모델 위에서 어떻게 보장을 만드나</a:t>
            </a:r>
            <a:r>
              <a:rPr sz="1050" b="0" i="0">
                <a:solidFill>
                  <a:srgbClr val="16213A"/>
                </a:solidFill>
                <a:latin typeface="Arial"/>
                <a:ea typeface="Malgun Gothic"/>
                <a:cs typeface="Malgun Gothic"/>
              </a:rPr>
              <a:t>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세 갈래로 나뉜다.</a:t>
            </a:r>
            <a:r>
              <a:rPr sz="1050" b="0" i="0">
                <a:solidFill>
                  <a:srgbClr val="16213A"/>
                </a:solidFill>
                <a:latin typeface="Arial"/>
                <a:ea typeface="Malgun Gothic"/>
                <a:cs typeface="Malgun Gothic"/>
              </a:rPr>
              <a:t> 이 그룹의 개관 논문이 학습 MPC 연구를 셋으로 가른다(</a:t>
            </a:r>
            <a:r>
              <a:rPr sz="1050" b="0" i="0">
                <a:solidFill>
                  <a:srgbClr val="1D4ED8"/>
                </a:solidFill>
                <a:latin typeface="Arial"/>
                <a:ea typeface="Malgun Gothic"/>
                <a:cs typeface="Malgun Gothic"/>
                <a:hlinkClick r:id="rId4"/>
              </a:rPr>
              <a:t>Annual Review of Control, Robotics, and Autonomous Systems 3:269–296, 2020</a:t>
            </a:r>
            <a:r>
              <a:rPr sz="1050" b="0" i="0">
                <a:solidFill>
                  <a:srgbClr val="16213A"/>
                </a:solidFill>
                <a:latin typeface="Arial"/>
                <a:ea typeface="Malgun Gothic"/>
                <a:cs typeface="Malgun Gothic"/>
              </a:rPr>
              <a:t>, Hewing·Wabersich·Menner·Zeilinger).</a:t>
            </a:r>
          </a:p>
        </p:txBody>
      </p:sp>
      <p:graphicFrame>
        <p:nvGraphicFramePr>
          <p:cNvPr id="7" name="Table 6"/>
          <p:cNvGraphicFramePr>
            <a:graphicFrameLocks noGrp="1"/>
          </p:cNvGraphicFramePr>
          <p:nvPr/>
        </p:nvGraphicFramePr>
        <p:xfrm>
          <a:off x="609600" y="2288381"/>
          <a:ext cx="10966450" cy="788352"/>
        </p:xfrm>
        <a:graphic>
          <a:graphicData uri="http://schemas.openxmlformats.org/drawingml/2006/table">
            <a:tbl>
              <a:tblPr firstRow="1" bandRow="1">
                <a:tableStyleId>{5C22544A-7EE6-4342-B048-85BDC9FD1C3A}</a:tableStyleId>
              </a:tblPr>
              <a:tblGrid>
                <a:gridCol w="649089"/>
                <a:gridCol w="5463183"/>
                <a:gridCol w="4854178"/>
              </a:tblGrid>
              <a:tr h="197088">
                <a:tc>
                  <a:txBody>
                    <a:bodyPr wrap="square"/>
                    <a:lstStyle/>
                    <a:p>
                      <a:r>
                        <a:rPr sz="800" b="1" i="0">
                          <a:solidFill>
                            <a:srgbClr val="F4F1EA"/>
                          </a:solidFill>
                          <a:latin typeface="Arial"/>
                          <a:ea typeface="Malgun Gothic"/>
                          <a:cs typeface="Malgun Gothic"/>
                        </a:rPr>
                        <a:t>갈래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무엇을 학습하나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travplan의 위치</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기록한 데이터로 </a:t>
                      </a:r>
                      <a:r>
                        <a:rPr sz="800" b="1" i="0">
                          <a:solidFill>
                            <a:srgbClr val="16213A"/>
                          </a:solidFill>
                          <a:latin typeface="Arial"/>
                          <a:ea typeface="Malgun Gothic"/>
                          <a:cs typeface="Malgun Gothic"/>
                        </a:rPr>
                        <a:t>예측 모델</a:t>
                      </a:r>
                      <a:r>
                        <a:rPr sz="800" b="0" i="0">
                          <a:solidFill>
                            <a:srgbClr val="16213A"/>
                          </a:solidFill>
                          <a:latin typeface="Arial"/>
                          <a:ea typeface="Malgun Gothic"/>
                          <a:cs typeface="Malgun Gothic"/>
                        </a:rPr>
                        <a:t>을 자동 개선한다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E.2(IKD, PETS, RMA), E.3(HDVIO2.0), E.4(잠재 조건)</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폐루프 성능이 가장 좋은 </a:t>
                      </a:r>
                      <a:r>
                        <a:rPr sz="800" b="1" i="0">
                          <a:solidFill>
                            <a:srgbClr val="16213A"/>
                          </a:solidFill>
                          <a:latin typeface="Arial"/>
                          <a:ea typeface="Malgun Gothic"/>
                          <a:cs typeface="Malgun Gothic"/>
                        </a:rPr>
                        <a:t>MPC 파라미터화</a:t>
                      </a:r>
                      <a:r>
                        <a:rPr sz="800" b="0" i="0">
                          <a:solidFill>
                            <a:srgbClr val="16213A"/>
                          </a:solidFill>
                          <a:latin typeface="Arial"/>
                          <a:ea typeface="Malgun Gothic"/>
                          <a:cs typeface="Malgun Gothic"/>
                        </a:rPr>
                        <a:t>(비용·제약)를 추론한다</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아직 손대지 않은 축</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MPC로 학습 제어기에 </a:t>
                      </a:r>
                      <a:r>
                        <a:rPr sz="800" b="1" i="0">
                          <a:solidFill>
                            <a:srgbClr val="16213A"/>
                          </a:solidFill>
                          <a:latin typeface="Arial"/>
                          <a:ea typeface="Malgun Gothic"/>
                          <a:cs typeface="Malgun Gothic"/>
                        </a:rPr>
                        <a:t>제약 만족</a:t>
                      </a:r>
                      <a:r>
                        <a:rPr sz="800" b="0" i="0">
                          <a:solidFill>
                            <a:srgbClr val="16213A"/>
                          </a:solidFill>
                          <a:latin typeface="Arial"/>
                          <a:ea typeface="Malgun Gothic"/>
                          <a:cs typeface="Malgun Gothic"/>
                        </a:rPr>
                        <a:t>을 덧붙인다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C.4 예측 안전 필터</a:t>
                      </a:r>
                    </a:p>
                  </a:txBody>
                  <a:tcPr marL="63500" marR="63500" marT="12700" marB="12700">
                    <a:solidFill>
                      <a:srgbClr val="FFFDF8"/>
                    </a:solidFill>
                  </a:tcPr>
                </a:tc>
              </a:tr>
            </a:tbl>
          </a:graphicData>
        </a:graphic>
      </p:graphicFrame>
      <p:sp>
        <p:nvSpPr>
          <p:cNvPr id="8" name="TextBox 7"/>
          <p:cNvSpPr txBox="1"/>
          <p:nvPr/>
        </p:nvSpPr>
        <p:spPr>
          <a:xfrm>
            <a:off x="609600" y="336907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Cautious MPC — 잔차의 불확실성으로 제약을 조인다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arXiv:1705.10702</a:t>
            </a:r>
            <a:r>
              <a:rPr sz="1050" b="0" i="0">
                <a:solidFill>
                  <a:srgbClr val="16213A"/>
                </a:solidFill>
                <a:latin typeface="Arial"/>
                <a:ea typeface="Malgun Gothic"/>
                <a:cs typeface="Malgun Gothic"/>
              </a:rPr>
              <a:t>, Hewing·Kabzan·Zeilinger, IEEE TCST). 이름 있는 모델에 가우시안 과정(GP)으로 모델링한 비선형 잔차를 더한다. 여기까지는 E.3의 HDVIO2.0과 같은 구조다. 다른 점은 </a:t>
            </a:r>
            <a:r>
              <a:rPr sz="1050" b="1" i="0">
                <a:solidFill>
                  <a:srgbClr val="16213A"/>
                </a:solidFill>
                <a:latin typeface="Arial"/>
                <a:ea typeface="Malgun Gothic"/>
                <a:cs typeface="Malgun Gothic"/>
              </a:rPr>
              <a:t>GP가 잔차의 불확실성을 함께 내고, 그것을 예측 지평 위로 전파해 확률 제약(chance constraint)으로 바꾼다</a:t>
            </a:r>
            <a:r>
              <a:rPr sz="1050" b="0" i="0">
                <a:solidFill>
                  <a:srgbClr val="16213A"/>
                </a:solidFill>
                <a:latin typeface="Arial"/>
                <a:ea typeface="Malgun Gothic"/>
                <a:cs typeface="Malgun Gothic"/>
              </a:rPr>
              <a:t>는 것이다. 모델이 자신 없는 영역에서는 제약이 저절로 조여져 제어가 조심스러워진다. 상태 분포 전파는 근사로 처리하고, 원격조종 경주용 차 실물에서 성능과 안전이 </a:t>
            </a:r>
            <a:r>
              <a:rPr sz="1050" b="1" i="0">
                <a:solidFill>
                  <a:srgbClr val="16213A"/>
                </a:solidFill>
                <a:latin typeface="Arial"/>
                <a:ea typeface="Malgun Gothic"/>
                <a:cs typeface="Malgun Gothic"/>
              </a:rPr>
              <a:t>함께</a:t>
            </a:r>
            <a:r>
              <a:rPr sz="1050" b="0" i="0">
                <a:solidFill>
                  <a:srgbClr val="16213A"/>
                </a:solidFill>
                <a:latin typeface="Arial"/>
                <a:ea typeface="Malgun Gothic"/>
                <a:cs typeface="Malgun Gothic"/>
              </a:rPr>
              <a:t> 올랐다.</a:t>
            </a:r>
          </a:p>
        </p:txBody>
      </p:sp>
      <p:sp>
        <p:nvSpPr>
          <p:cNvPr id="9" name="TextBox 8"/>
          <p:cNvSpPr txBox="1"/>
          <p:nvPr/>
        </p:nvSpPr>
        <p:spPr>
          <a:xfrm>
            <a:off x="609600" y="4107458"/>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예측 제어 barrier 함수(PCBF) — 예측 안전 필터가 실행 불가능해지는 순간을 없앤다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6"/>
              </a:rPr>
              <a:t>arXiv:2105.10241</a:t>
            </a:r>
            <a:r>
              <a:rPr sz="1050" b="0" i="0">
                <a:solidFill>
                  <a:srgbClr val="16213A"/>
                </a:solidFill>
                <a:latin typeface="Arial"/>
                <a:ea typeface="Malgun Gothic"/>
                <a:cs typeface="Malgun Gothic"/>
              </a:rPr>
              <a:t>, Wabersich·Zeilinger, 2021–2022). C.4의 예측 안전 필터는 "안전한 입력열이 존재하는가"를 묻는데, 존재하지 않으면 최적화가 실행 불가능해지고 그때 무엇을 할지가 비어 있다. PCBF는 </a:t>
            </a:r>
            <a:r>
              <a:rPr sz="1050" b="1" i="0">
                <a:solidFill>
                  <a:srgbClr val="16213A"/>
                </a:solidFill>
                <a:latin typeface="Arial"/>
                <a:ea typeface="Malgun Gothic"/>
                <a:cs typeface="Malgun Gothic"/>
              </a:rPr>
              <a:t>항상 실행 가능한 소프트 제약 보조 문제</a:t>
            </a:r>
            <a:r>
              <a:rPr sz="1050" b="0" i="0">
                <a:solidFill>
                  <a:srgbClr val="16213A"/>
                </a:solidFill>
                <a:latin typeface="Arial"/>
                <a:ea typeface="Malgun Gothic"/>
                <a:cs typeface="Malgun Gothic"/>
              </a:rPr>
              <a:t>를 두고, 그 해가 원래 필터의 실행 가능 집합을 점근적으로 안정화하게 만든다. 안전 영역 밖으로 밀려나도 돌아오는 </a:t>
            </a:r>
            <a:r>
              <a:rPr sz="1050" b="1" i="0">
                <a:solidFill>
                  <a:srgbClr val="16213A"/>
                </a:solidFill>
                <a:latin typeface="Arial"/>
                <a:ea typeface="Malgun Gothic"/>
                <a:cs typeface="Malgun Gothic"/>
              </a:rPr>
              <a:t>회복 장치</a:t>
            </a:r>
            <a:r>
              <a:rPr sz="1050" b="0" i="0">
                <a:solidFill>
                  <a:srgbClr val="16213A"/>
                </a:solidFill>
                <a:latin typeface="Arial"/>
                <a:ea typeface="Malgun Gothic"/>
                <a:cs typeface="Malgun Gothic"/>
              </a:rPr>
              <a:t>가 생긴다. 실행 가능성은 제약 조이기와 종단 barrier 함수로 보장하고, 제약마다 손으로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를 설계할 필요가 없다.</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E. Controller — 학습 동역학과 추종 (참고)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E.5 모르는 것 위에서의 보장: 학습 MPC의 세 갈래</a:t>
            </a:r>
            <a:r>
              <a:rPr sz="1050" b="0" i="0">
                <a:solidFill>
                  <a:srgbClr val="5A6478"/>
                </a:solidFill>
                <a:latin typeface="Arial"/>
                <a:ea typeface="Malgun Gothic"/>
                <a:cs typeface="Malgun Gothic"/>
              </a:rPr>
              <a:t>  자세히: 확률 제약으로 조이기와 PCBF의 실행 가능성</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67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GP 잔차.</a:t>
            </a:r>
            <a:r>
              <a:rPr sz="1050" b="0" i="0">
                <a:solidFill>
                  <a:srgbClr val="16213A"/>
                </a:solidFill>
                <a:latin typeface="Arial"/>
                <a:ea typeface="Malgun Gothic"/>
                <a:cs typeface="Malgun Gothic"/>
              </a:rPr>
              <a:t> 이름 있는 모델 </a:t>
            </a:r>
            <a:r>
              <a:rPr sz="1050" b="0" i="1">
                <a:solidFill>
                  <a:srgbClr val="16213A"/>
                </a:solidFill>
                <a:latin typeface="Arial"/>
                <a:ea typeface="Malgun Gothic"/>
                <a:cs typeface="Malgun Gothic"/>
              </a:rPr>
              <a:t>f</a:t>
            </a:r>
            <a:r>
              <a:rPr sz="1050" b="0" i="0">
                <a:solidFill>
                  <a:srgbClr val="16213A"/>
                </a:solidFill>
                <a:latin typeface="Arial"/>
                <a:ea typeface="Malgun Gothic"/>
                <a:cs typeface="Malgun Gothic"/>
              </a:rPr>
              <a:t>에 잔차 </a:t>
            </a:r>
            <a:r>
              <a:rPr sz="1050" b="0" i="1">
                <a:solidFill>
                  <a:srgbClr val="16213A"/>
                </a:solidFill>
                <a:latin typeface="Arial"/>
                <a:ea typeface="Malgun Gothic"/>
                <a:cs typeface="Malgun Gothic"/>
              </a:rPr>
              <a:t>g</a:t>
            </a:r>
            <a:r>
              <a:rPr sz="1050" b="0" i="0">
                <a:solidFill>
                  <a:srgbClr val="16213A"/>
                </a:solidFill>
                <a:latin typeface="Arial"/>
                <a:ea typeface="Malgun Gothic"/>
                <a:cs typeface="Malgun Gothic"/>
              </a:rPr>
              <a:t>를 더하고, </a:t>
            </a:r>
            <a:r>
              <a:rPr sz="1050" b="0" i="1">
                <a:solidFill>
                  <a:srgbClr val="16213A"/>
                </a:solidFill>
                <a:latin typeface="Arial"/>
                <a:ea typeface="Malgun Gothic"/>
                <a:cs typeface="Malgun Gothic"/>
              </a:rPr>
              <a:t>g</a:t>
            </a:r>
            <a:r>
              <a:rPr sz="1050" b="0" i="0">
                <a:solidFill>
                  <a:srgbClr val="16213A"/>
                </a:solidFill>
                <a:latin typeface="Arial"/>
                <a:ea typeface="Malgun Gothic"/>
                <a:cs typeface="Malgun Gothic"/>
              </a:rPr>
              <a:t>를 GP로 둔다. 상태 </a:t>
            </a:r>
            <a:r>
              <a:rPr sz="1050" b="0" i="1">
                <a:solidFill>
                  <a:srgbClr val="16213A"/>
                </a:solidFill>
                <a:latin typeface="Arial"/>
                <a:ea typeface="Malgun Gothic"/>
                <a:cs typeface="Malgun Gothic"/>
              </a:rPr>
              <a:t>xₖ</a:t>
            </a:r>
            <a:r>
              <a:rPr sz="1050" b="0" i="0">
                <a:solidFill>
                  <a:srgbClr val="16213A"/>
                </a:solidFill>
                <a:latin typeface="Arial"/>
                <a:ea typeface="Malgun Gothic"/>
                <a:cs typeface="Malgun Gothic"/>
              </a:rPr>
              <a:t>가 분포로 퍼지므로 예측 지평 위에서 평균과 공분산을 함께 굴린다.</a:t>
            </a:r>
          </a:p>
        </p:txBody>
      </p:sp>
      <p:pic>
        <p:nvPicPr>
          <p:cNvPr id="6" name="Picture 5" descr="image.png"/>
          <p:cNvPicPr>
            <a:picLocks noChangeAspect="1"/>
          </p:cNvPicPr>
          <p:nvPr/>
        </p:nvPicPr>
        <p:blipFill>
          <a:blip r:embed="rId3"/>
          <a:stretch>
            <a:fillRect/>
          </a:stretch>
        </p:blipFill>
        <p:spPr>
          <a:xfrm>
            <a:off x="609600" y="1549995"/>
            <a:ext cx="4324350" cy="241300"/>
          </a:xfrm>
          <a:prstGeom prst="rect">
            <a:avLst/>
          </a:prstGeom>
        </p:spPr>
      </p:pic>
      <p:sp>
        <p:nvSpPr>
          <p:cNvPr id="7" name="TextBox 6"/>
          <p:cNvSpPr txBox="1"/>
          <p:nvPr/>
        </p:nvSpPr>
        <p:spPr>
          <a:xfrm>
            <a:off x="609600" y="182751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확률 제약.</a:t>
            </a:r>
            <a:r>
              <a:rPr sz="1050" b="0" i="0">
                <a:solidFill>
                  <a:srgbClr val="16213A"/>
                </a:solidFill>
                <a:latin typeface="Arial"/>
                <a:ea typeface="Malgun Gothic"/>
                <a:cs typeface="Malgun Gothic"/>
              </a:rPr>
              <a:t> 결정론적 제약 </a:t>
            </a:r>
            <a:r>
              <a:rPr sz="1050" b="0" i="1">
                <a:solidFill>
                  <a:srgbClr val="16213A"/>
                </a:solidFill>
                <a:latin typeface="Arial"/>
                <a:ea typeface="Malgun Gothic"/>
                <a:cs typeface="Malgun Gothic"/>
              </a:rPr>
              <a:t>h^⊤ x ≤ b</a:t>
            </a:r>
            <a:r>
              <a:rPr sz="1050" b="0" i="0">
                <a:solidFill>
                  <a:srgbClr val="16213A"/>
                </a:solidFill>
                <a:latin typeface="Arial"/>
                <a:ea typeface="Malgun Gothic"/>
                <a:cs typeface="Malgun Gothic"/>
              </a:rPr>
              <a:t>를 만족 확률로 바꾸면, 평균에 대한 제약을 표준편차만큼 조인 형태가 된다. </a:t>
            </a:r>
            <a:r>
              <a:rPr sz="1050" b="0" i="1">
                <a:solidFill>
                  <a:srgbClr val="16213A"/>
                </a:solidFill>
                <a:latin typeface="Arial"/>
                <a:ea typeface="Malgun Gothic"/>
                <a:cs typeface="Malgun Gothic"/>
              </a:rPr>
              <a:t>Φ⁻¹</a:t>
            </a:r>
            <a:r>
              <a:rPr sz="1050" b="0" i="0">
                <a:solidFill>
                  <a:srgbClr val="16213A"/>
                </a:solidFill>
                <a:latin typeface="Arial"/>
                <a:ea typeface="Malgun Gothic"/>
                <a:cs typeface="Malgun Gothic"/>
              </a:rPr>
              <a:t>은 정규 분포의 분위수다. 모델이 자신 없는 곳(큰 </a:t>
            </a:r>
            <a:r>
              <a:rPr sz="1050" b="0" i="1">
                <a:solidFill>
                  <a:srgbClr val="16213A"/>
                </a:solidFill>
                <a:latin typeface="Arial"/>
                <a:ea typeface="Malgun Gothic"/>
                <a:cs typeface="Malgun Gothic"/>
              </a:rPr>
              <a:t>Σₖ</a:t>
            </a:r>
            <a:r>
              <a:rPr sz="1050" b="0" i="0">
                <a:solidFill>
                  <a:srgbClr val="16213A"/>
                </a:solidFill>
                <a:latin typeface="Arial"/>
                <a:ea typeface="Malgun Gothic"/>
                <a:cs typeface="Malgun Gothic"/>
              </a:rPr>
              <a:t>)에서 여유가 커진다.</a:t>
            </a:r>
          </a:p>
        </p:txBody>
      </p:sp>
      <p:pic>
        <p:nvPicPr>
          <p:cNvPr id="8" name="Picture 7" descr="image.png"/>
          <p:cNvPicPr>
            <a:picLocks noChangeAspect="1"/>
          </p:cNvPicPr>
          <p:nvPr/>
        </p:nvPicPr>
        <p:blipFill>
          <a:blip r:embed="rId4"/>
          <a:stretch>
            <a:fillRect/>
          </a:stretch>
        </p:blipFill>
        <p:spPr>
          <a:xfrm>
            <a:off x="609600" y="2132905"/>
            <a:ext cx="4695825" cy="266700"/>
          </a:xfrm>
          <a:prstGeom prst="rect">
            <a:avLst/>
          </a:prstGeom>
        </p:spPr>
      </p:pic>
      <p:sp>
        <p:nvSpPr>
          <p:cNvPr id="9" name="TextBox 8"/>
          <p:cNvSpPr txBox="1"/>
          <p:nvPr/>
        </p:nvSpPr>
        <p:spPr>
          <a:xfrm>
            <a:off x="609600" y="243056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PCBF.</a:t>
            </a:r>
            <a:r>
              <a:rPr sz="1050" b="0" i="0">
                <a:solidFill>
                  <a:srgbClr val="16213A"/>
                </a:solidFill>
                <a:latin typeface="Arial"/>
                <a:ea typeface="Malgun Gothic"/>
                <a:cs typeface="Malgun Gothic"/>
              </a:rPr>
              <a:t> 예측 안전 필터(C.4)는 종단 제약 </a:t>
            </a:r>
            <a:r>
              <a:rPr sz="1050" b="0" i="1">
                <a:solidFill>
                  <a:srgbClr val="16213A"/>
                </a:solidFill>
                <a:latin typeface="Arial"/>
                <a:ea typeface="Malgun Gothic"/>
                <a:cs typeface="Malgun Gothic"/>
              </a:rPr>
              <a:t>x_N ∈ 𝒮_f</a:t>
            </a:r>
            <a:r>
              <a:rPr sz="1050" b="0" i="0">
                <a:solidFill>
                  <a:srgbClr val="16213A"/>
                </a:solidFill>
                <a:latin typeface="Arial"/>
                <a:ea typeface="Malgun Gothic"/>
                <a:cs typeface="Malgun Gothic"/>
              </a:rPr>
              <a:t>를 딱딱하게 걸어 실행 불가능해질 수 있다. PCBF는 제약 위반량 </a:t>
            </a:r>
            <a:r>
              <a:rPr sz="1050" b="0" i="1">
                <a:solidFill>
                  <a:srgbClr val="16213A"/>
                </a:solidFill>
                <a:latin typeface="Arial"/>
                <a:ea typeface="Malgun Gothic"/>
                <a:cs typeface="Malgun Gothic"/>
              </a:rPr>
              <a:t>ξₖ ≥ 0</a:t>
            </a:r>
            <a:r>
              <a:rPr sz="1050" b="0" i="0">
                <a:solidFill>
                  <a:srgbClr val="16213A"/>
                </a:solidFill>
                <a:latin typeface="Arial"/>
                <a:ea typeface="Malgun Gothic"/>
                <a:cs typeface="Malgun Gothic"/>
              </a:rPr>
              <a:t>을 변수로 올려 항상 해가 있게 하고, 그 위반량에 벌점을 주면서 종단에 barrier 함수를 둔다. 최적 위반량의 합이 barrier 함수 역할을 해, 집합 밖에서 안으로 끌어당긴다.</a:t>
            </a:r>
          </a:p>
        </p:txBody>
      </p:sp>
      <p:pic>
        <p:nvPicPr>
          <p:cNvPr id="10" name="Picture 9" descr="image.png"/>
          <p:cNvPicPr>
            <a:picLocks noChangeAspect="1"/>
          </p:cNvPicPr>
          <p:nvPr/>
        </p:nvPicPr>
        <p:blipFill>
          <a:blip r:embed="rId5"/>
          <a:stretch>
            <a:fillRect/>
          </a:stretch>
        </p:blipFill>
        <p:spPr>
          <a:xfrm>
            <a:off x="609600" y="2952452"/>
            <a:ext cx="5584825" cy="422275"/>
          </a:xfrm>
          <a:prstGeom prst="rect">
            <a:avLst/>
          </a:prstGeom>
        </p:spPr>
      </p:pic>
      <p:sp>
        <p:nvSpPr>
          <p:cNvPr id="11" name="TextBox 10"/>
          <p:cNvSpPr txBox="1"/>
          <p:nvPr/>
        </p:nvSpPr>
        <p:spPr>
          <a:xfrm>
            <a:off x="609600" y="338633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travplan Controller의 rollout은 </a:t>
            </a:r>
            <a:r>
              <a:rPr sz="1050" b="0" i="0">
                <a:solidFill>
                  <a:srgbClr val="16213A"/>
                </a:solidFill>
                <a:latin typeface="Consolas"/>
                <a:ea typeface="Malgun Gothic"/>
                <a:cs typeface="Malgun Gothic"/>
              </a:rPr>
              <a:t>SwerveModel</a:t>
            </a:r>
            <a:r>
              <a:rPr sz="1050" b="0" i="0">
                <a:solidFill>
                  <a:srgbClr val="16213A"/>
                </a:solidFill>
                <a:latin typeface="Arial"/>
                <a:ea typeface="Malgun Gothic"/>
                <a:cs typeface="Malgun Gothic"/>
              </a:rPr>
              <a:t>이고 불확실성이 없다. TravMap의 σ 채널은 있지만 </a:t>
            </a:r>
            <a:r>
              <a:rPr sz="1050" b="0" i="0">
                <a:solidFill>
                  <a:srgbClr val="16213A"/>
                </a:solidFill>
                <a:latin typeface="Consolas"/>
                <a:ea typeface="Malgun Gothic"/>
                <a:cs typeface="Malgun Gothic"/>
              </a:rPr>
              <a:t>RiskCost</a:t>
            </a:r>
            <a:r>
              <a:rPr sz="1050" b="0" i="0">
                <a:solidFill>
                  <a:srgbClr val="16213A"/>
                </a:solidFill>
                <a:latin typeface="Arial"/>
                <a:ea typeface="Malgun Gothic"/>
                <a:cs typeface="Malgun Gothic"/>
              </a:rPr>
              <a:t>의 부드러운 비용으로만 쓰인다. 위 확률 제약은 σ를 </a:t>
            </a:r>
            <a:r>
              <a:rPr sz="1050" b="1" i="0">
                <a:solidFill>
                  <a:srgbClr val="16213A"/>
                </a:solidFill>
                <a:latin typeface="Arial"/>
                <a:ea typeface="Malgun Gothic"/>
                <a:cs typeface="Malgun Gothic"/>
              </a:rPr>
              <a:t>제약을 조이는 양</a:t>
            </a:r>
            <a:r>
              <a:rPr sz="1050" b="0" i="0">
                <a:solidFill>
                  <a:srgbClr val="16213A"/>
                </a:solidFill>
                <a:latin typeface="Arial"/>
                <a:ea typeface="Malgun Gothic"/>
                <a:cs typeface="Malgun Gothic"/>
              </a:rPr>
              <a:t>으로 바꾸는 방법이다. MPPI는 제약을 벌점으로 다루므로 그대로 옮기려면 벌점 문턱을 σ에 따라 움직이게 하는 형태가 된다.</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E. Controller — 학습 동역학과 추종 (참고)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E.5 모르는 것 위에서의 보장: 학습 MPC의 세 갈래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68 / 183</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travplan Controller는 세 갈래 가운데 첫째만 건드리고 있고, 둘째는 아예 비어 있다.</a:t>
            </a:r>
            <a:r>
              <a:rPr sz="1050" b="0" i="0">
                <a:solidFill>
                  <a:srgbClr val="16213A"/>
                </a:solidFill>
                <a:latin typeface="Arial"/>
                <a:ea typeface="Malgun Gothic"/>
                <a:cs typeface="Malgun Gothic"/>
              </a:rPr>
              <a:t> 순서를 이렇게 본다. 첫째, 잔차에 </a:t>
            </a:r>
            <a:r>
              <a:rPr sz="1050" b="1" i="0">
                <a:solidFill>
                  <a:srgbClr val="16213A"/>
                </a:solidFill>
                <a:latin typeface="Arial"/>
                <a:ea typeface="Malgun Gothic"/>
                <a:cs typeface="Malgun Gothic"/>
              </a:rPr>
              <a:t>불확실성을 붙인다.</a:t>
            </a:r>
            <a:r>
              <a:rPr sz="1050" b="0" i="0">
                <a:solidFill>
                  <a:srgbClr val="16213A"/>
                </a:solidFill>
                <a:latin typeface="Arial"/>
                <a:ea typeface="Malgun Gothic"/>
                <a:cs typeface="Malgun Gothic"/>
              </a:rPr>
              <a:t> E.3의 HDVIO2.0은 잔차를 배우지만 얼마나 믿을지를 내지 않는다. E.2의 PETS식 앙상블이나 여기의 GP로 바꾸면 그 값이 나온다. 둘째, 그 불확실성과 TravMap의 σ로 </a:t>
            </a:r>
            <a:r>
              <a:rPr sz="1050" b="1" i="0">
                <a:solidFill>
                  <a:srgbClr val="16213A"/>
                </a:solidFill>
                <a:latin typeface="Arial"/>
                <a:ea typeface="Malgun Gothic"/>
                <a:cs typeface="Malgun Gothic"/>
              </a:rPr>
              <a:t>비용이 아니라 제약을 조인다.</a:t>
            </a:r>
            <a:r>
              <a:rPr sz="1050" b="0" i="0">
                <a:solidFill>
                  <a:srgbClr val="16213A"/>
                </a:solidFill>
                <a:latin typeface="Arial"/>
                <a:ea typeface="Malgun Gothic"/>
                <a:cs typeface="Malgun Gothic"/>
              </a:rPr>
              <a:t> 지금 σ는 </a:t>
            </a:r>
            <a:r>
              <a:rPr sz="1050" b="0" i="0">
                <a:solidFill>
                  <a:srgbClr val="16213A"/>
                </a:solidFill>
                <a:latin typeface="Consolas"/>
                <a:ea typeface="Malgun Gothic"/>
                <a:cs typeface="Malgun Gothic"/>
              </a:rPr>
              <a:t>RiskCost</a:t>
            </a:r>
            <a:r>
              <a:rPr sz="1050" b="0" i="0">
                <a:solidFill>
                  <a:srgbClr val="16213A"/>
                </a:solidFill>
                <a:latin typeface="Arial"/>
                <a:ea typeface="Malgun Gothic"/>
                <a:cs typeface="Malgun Gothic"/>
              </a:rPr>
              <a:t>의 한 항일 뿐이어서, 지도가 못 본 곳을 지날 때 제어가 더 조심스러워지지 않는다. 셋째, C.4에 적은 예측 안전 필터를 얹되 </a:t>
            </a:r>
            <a:r>
              <a:rPr sz="1050" b="1" i="0">
                <a:solidFill>
                  <a:srgbClr val="16213A"/>
                </a:solidFill>
                <a:latin typeface="Arial"/>
                <a:ea typeface="Malgun Gothic"/>
                <a:cs typeface="Malgun Gothic"/>
              </a:rPr>
              <a:t>PCBF의 회복 장치까지</a:t>
            </a:r>
            <a:r>
              <a:rPr sz="1050" b="0" i="0">
                <a:solidFill>
                  <a:srgbClr val="16213A"/>
                </a:solidFill>
                <a:latin typeface="Arial"/>
                <a:ea typeface="Malgun Gothic"/>
                <a:cs typeface="Malgun Gothic"/>
              </a:rPr>
              <a:t> 가져온다. travplan에서 안전 대체 정책은 Planner D의 이전 계획이나 GuidancePlanner 경로이고, 필터가 실행 불가능해지는 상황은 가림으로 치명 링이 갑자기 나타날 때(TP-0047, TP-0067)다. 그때 "돌아올 방향"을 주는 것이 PCBF의 몫이다.</a:t>
            </a:r>
          </a:p>
        </p:txBody>
      </p:sp>
      <p:sp>
        <p:nvSpPr>
          <p:cNvPr id="6" name="TextBox 5"/>
          <p:cNvSpPr txBox="1"/>
          <p:nvPr/>
        </p:nvSpPr>
        <p:spPr>
          <a:xfrm>
            <a:off x="609600" y="2199481"/>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둘째 갈래도 값이 있다. travplan의 MPPI 비용 가중치는 지금 손으로 정한다. 폐루프 성능에서 가중치를 추론하는 방법은 벤치마크가 이미 자동화돼 있으므로(</a:t>
            </a:r>
            <a:r>
              <a:rPr sz="1050" b="0" i="0">
                <a:solidFill>
                  <a:srgbClr val="16213A"/>
                </a:solidFill>
                <a:latin typeface="Consolas"/>
                <a:ea typeface="Malgun Gothic"/>
                <a:cs typeface="Malgun Gothic"/>
              </a:rPr>
              <a:t>scripts/run_benchmark.py</a:t>
            </a:r>
            <a:r>
              <a:rPr sz="1050" b="0" i="0">
                <a:solidFill>
                  <a:srgbClr val="16213A"/>
                </a:solidFill>
                <a:latin typeface="Arial"/>
                <a:ea typeface="Malgun Gothic"/>
                <a:cs typeface="Malgun Gothic"/>
              </a:rPr>
              <a:t>) 붙이기 쉽다. 다만 MPPI는 개발 계획에서 빠져 있으므로(§E 머리말) 지금은 기록만 해 둔다. 이 갈래를 실제 코드로 어떻게 돌리는지는 E.6이다. 셋째 갈래를 Planner 쪽에서 푸는 길(생성 과정 안에 barrier를 넣기)은 Planner 문서 B.8.2에 있다.</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E. Controller — 학습 동역학과 추종 (참고)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E.6 이 계보의 공개 코드와, travplan이 실제로 가져올 것</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69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E.5가 논문이라면 이 절은 돌릴 수 있는 코드다.</a:t>
            </a:r>
            <a:r>
              <a:rPr sz="1050" b="0" i="0">
                <a:solidFill>
                  <a:srgbClr val="16213A"/>
                </a:solidFill>
                <a:latin typeface="Arial"/>
                <a:ea typeface="Malgun Gothic"/>
                <a:cs typeface="Malgun Gothic"/>
              </a:rPr>
              <a:t> 같은 그룹이 도구 셋을 공개해 뒀는데 travplan 적합도가 확연히 다르다. 그래서 여기에는 </a:t>
            </a:r>
            <a:r>
              <a:rPr sz="1050" b="1" i="0">
                <a:solidFill>
                  <a:srgbClr val="16213A"/>
                </a:solidFill>
                <a:latin typeface="Arial"/>
                <a:ea typeface="Malgun Gothic"/>
                <a:cs typeface="Malgun Gothic"/>
              </a:rPr>
              <a:t>넣지 않기로 한 것과 그 이유</a:t>
            </a:r>
            <a:r>
              <a:rPr sz="1050" b="0" i="0">
                <a:solidFill>
                  <a:srgbClr val="16213A"/>
                </a:solidFill>
                <a:latin typeface="Arial"/>
                <a:ea typeface="Malgun Gothic"/>
                <a:cs typeface="Malgun Gothic"/>
              </a:rPr>
              <a:t>도 같이 적는다.</a:t>
            </a:r>
          </a:p>
        </p:txBody>
      </p:sp>
      <p:graphicFrame>
        <p:nvGraphicFramePr>
          <p:cNvPr id="6" name="Table 5"/>
          <p:cNvGraphicFramePr>
            <a:graphicFrameLocks noGrp="1"/>
          </p:cNvGraphicFramePr>
          <p:nvPr/>
        </p:nvGraphicFramePr>
        <p:xfrm>
          <a:off x="609600" y="1549995"/>
          <a:ext cx="10966450" cy="788352"/>
        </p:xfrm>
        <a:graphic>
          <a:graphicData uri="http://schemas.openxmlformats.org/drawingml/2006/table">
            <a:tbl>
              <a:tblPr firstRow="1" bandRow="1">
                <a:tableStyleId>{5C22544A-7EE6-4342-B048-85BDC9FD1C3A}</a:tableStyleId>
              </a:tblPr>
              <a:tblGrid>
                <a:gridCol w="865981"/>
                <a:gridCol w="6986786"/>
                <a:gridCol w="3113683"/>
              </a:tblGrid>
              <a:tr h="197088">
                <a:tc>
                  <a:txBody>
                    <a:bodyPr wrap="square"/>
                    <a:lstStyle/>
                    <a:p>
                      <a:r>
                        <a:rPr sz="800" b="1" i="0">
                          <a:solidFill>
                            <a:srgbClr val="F4F1EA"/>
                          </a:solidFill>
                          <a:latin typeface="Arial"/>
                          <a:ea typeface="Malgun Gothic"/>
                          <a:cs typeface="Malgun Gothic"/>
                        </a:rPr>
                        <a:t>도구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무엇인가</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 적합도</a:t>
                      </a:r>
                    </a:p>
                  </a:txBody>
                  <a:tcPr marL="63500" marR="63500" marT="12700" marB="12700">
                    <a:solidFill>
                      <a:srgbClr val="16213A"/>
                    </a:solidFill>
                  </a:tcPr>
                </a:tc>
              </a:tr>
              <a:tr h="197088">
                <a:tc>
                  <a:txBody>
                    <a:bodyPr wrap="square"/>
                    <a:lstStyle/>
                    <a:p>
                      <a:r>
                        <a:rPr sz="800" b="0" i="0">
                          <a:solidFill>
                            <a:srgbClr val="1D4ED8"/>
                          </a:solidFill>
                          <a:latin typeface="Arial"/>
                          <a:ea typeface="Malgun Gothic"/>
                          <a:cs typeface="Malgun Gothic"/>
                          <a:hlinkClick r:id="rId3"/>
                        </a:rPr>
                        <a:t>l4acados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실시간 SQP 솔버 acados에 Python 학습 모델(GP·신경망)을 잔차로 꽂는 틀. 외부 sensitivity를 Python 모듈로 넘기고 Jacobian 근사·병렬화를 지원</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낮음</a:t>
                      </a:r>
                      <a:r>
                        <a:rPr sz="800" b="0" i="0">
                          <a:solidFill>
                            <a:srgbClr val="16213A"/>
                          </a:solidFill>
                          <a:latin typeface="Arial"/>
                          <a:ea typeface="Malgun Gothic"/>
                          <a:cs typeface="Malgun Gothic"/>
                        </a:rPr>
                        <a:t> — Controller가 MPPI(샘플링)라 Jacobian 자체를 안 쓴다</a:t>
                      </a:r>
                    </a:p>
                  </a:txBody>
                  <a:tcPr marL="63500" marR="63500" marT="12700" marB="12700">
                    <a:solidFill>
                      <a:srgbClr val="FFFDF8"/>
                    </a:solidFill>
                  </a:tcPr>
                </a:tc>
              </a:tr>
              <a:tr h="197088">
                <a:tc>
                  <a:txBody>
                    <a:bodyPr wrap="square"/>
                    <a:lstStyle/>
                    <a:p>
                      <a:r>
                        <a:rPr sz="800" b="0" i="0">
                          <a:solidFill>
                            <a:srgbClr val="1D4ED8"/>
                          </a:solidFill>
                          <a:latin typeface="Arial"/>
                          <a:ea typeface="Malgun Gothic"/>
                          <a:cs typeface="Malgun Gothic"/>
                          <a:hlinkClick r:id="rId4"/>
                        </a:rPr>
                        <a:t>ampyc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강건·확률 MPC를 Python으로 정리한 교육용 구현 모음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중간 — 제약 조이기를 구현할 때 읽을 코드</a:t>
                      </a:r>
                    </a:p>
                  </a:txBody>
                  <a:tcPr marL="63500" marR="63500" marT="12700" marB="12700">
                    <a:solidFill>
                      <a:srgbClr val="F3F0E8"/>
                    </a:solidFill>
                  </a:tcPr>
                </a:tc>
              </a:tr>
              <a:tr h="197088">
                <a:tc>
                  <a:txBody>
                    <a:bodyPr wrap="square"/>
                    <a:lstStyle/>
                    <a:p>
                      <a:r>
                        <a:rPr sz="800" b="0" i="0">
                          <a:solidFill>
                            <a:srgbClr val="1D4ED8"/>
                          </a:solidFill>
                          <a:latin typeface="Arial"/>
                          <a:ea typeface="Malgun Gothic"/>
                          <a:cs typeface="Malgun Gothic"/>
                          <a:hlinkClick r:id="rId5"/>
                        </a:rPr>
                        <a:t>bayesopt4ros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ROS 공식 배포판에 올라간 베이즈 최적화 노드</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높음</a:t>
                      </a:r>
                      <a:r>
                        <a:rPr sz="800" b="0" i="0">
                          <a:solidFill>
                            <a:srgbClr val="16213A"/>
                          </a:solidFill>
                          <a:latin typeface="Arial"/>
                          <a:ea typeface="Malgun Gothic"/>
                          <a:cs typeface="Malgun Gothic"/>
                        </a:rPr>
                        <a:t> — 손으로 맞추는 문턱값이 지금도 많다</a:t>
                      </a:r>
                    </a:p>
                  </a:txBody>
                  <a:tcPr marL="63500" marR="63500" marT="12700" marB="12700">
                    <a:solidFill>
                      <a:srgbClr val="FFFDF8"/>
                    </a:solidFill>
                  </a:tcPr>
                </a:tc>
              </a:tr>
            </a:tbl>
          </a:graphicData>
        </a:graphic>
      </p:graphicFrame>
      <p:sp>
        <p:nvSpPr>
          <p:cNvPr id="7" name="TextBox 6"/>
          <p:cNvSpPr txBox="1"/>
          <p:nvPr/>
        </p:nvSpPr>
        <p:spPr>
          <a:xfrm>
            <a:off x="609600" y="263068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bayesopt4ros — E.5에서 비어 있다고 적은 둘째 갈래가 여기 있다.</a:t>
            </a:r>
            <a:r>
              <a:rPr sz="1050" b="0" i="0">
                <a:solidFill>
                  <a:srgbClr val="16213A"/>
                </a:solidFill>
                <a:latin typeface="Arial"/>
                <a:ea typeface="Malgun Gothic"/>
                <a:cs typeface="Malgun Gothic"/>
              </a:rPr>
              <a:t> 이 그룹은 MPC 파라미터 추론을 베이즈 최적화로 구현한다. 문맥 베이즈 최적화로 차량 동역학 학습과 MPC 파라미터 튜닝을 함께 돌린 연구가 1:28 경주차에서 </a:t>
            </a:r>
            <a:r>
              <a:rPr sz="1050" b="1" i="0">
                <a:solidFill>
                  <a:srgbClr val="16213A"/>
                </a:solidFill>
                <a:latin typeface="Arial"/>
                <a:ea typeface="Malgun Gothic"/>
                <a:cs typeface="Malgun Gothic"/>
              </a:rPr>
              <a:t>3,000랩 넘게</a:t>
            </a:r>
            <a:r>
              <a:rPr sz="1050" b="0" i="0">
                <a:solidFill>
                  <a:srgbClr val="16213A"/>
                </a:solidFill>
                <a:latin typeface="Arial"/>
                <a:ea typeface="Malgun Gothic"/>
                <a:cs typeface="Malgun Gothic"/>
              </a:rPr>
              <a:t> 실측됐다 (</a:t>
            </a:r>
            <a:r>
              <a:rPr sz="1050" b="0" i="0">
                <a:solidFill>
                  <a:srgbClr val="1D4ED8"/>
                </a:solidFill>
                <a:latin typeface="Arial"/>
                <a:ea typeface="Malgun Gothic"/>
                <a:cs typeface="Malgun Gothic"/>
                <a:hlinkClick r:id="rId6"/>
              </a:rPr>
              <a:t>arXiv:2110.02710</a:t>
            </a:r>
            <a:r>
              <a:rPr sz="1050" b="0" i="0">
                <a:solidFill>
                  <a:srgbClr val="16213A"/>
                </a:solidFill>
                <a:latin typeface="Arial"/>
                <a:ea typeface="Malgun Gothic"/>
                <a:cs typeface="Malgun Gothic"/>
              </a:rPr>
              <a:t>, IROS 2022, Fröhlich·Küttel·Arcari·Hewing·Zeilinger·Carron). 여기서 "문맥"은 학습한 동역학 모델이 인코딩한 환경 조건이고, 조건이 바뀌어도 이전 조건의 데이터를 재사용해 적은 시행으로 랩타임을 줄인다.</a:t>
            </a:r>
          </a:p>
        </p:txBody>
      </p:sp>
      <p:sp>
        <p:nvSpPr>
          <p:cNvPr id="8" name="TextBox 7"/>
          <p:cNvSpPr txBox="1"/>
          <p:nvPr/>
        </p:nvSpPr>
        <p:spPr>
          <a:xfrm>
            <a:off x="609600" y="3369072"/>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 이게 지금 값이 있는 이유.</a:t>
            </a:r>
            <a:r>
              <a:rPr sz="1050" b="0" i="0">
                <a:solidFill>
                  <a:srgbClr val="16213A"/>
                </a:solidFill>
                <a:latin typeface="Arial"/>
                <a:ea typeface="Malgun Gothic"/>
                <a:cs typeface="Malgun Gothic"/>
              </a:rPr>
              <a:t> TP-0067에서 </a:t>
            </a:r>
            <a:r>
              <a:rPr sz="1050" b="0" i="0">
                <a:solidFill>
                  <a:srgbClr val="16213A"/>
                </a:solidFill>
                <a:latin typeface="Consolas"/>
                <a:ea typeface="Malgun Gothic"/>
                <a:cs typeface="Malgun Gothic"/>
              </a:rPr>
              <a:t>shadow_depth_m</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shadow_evidence_m</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shadow_margin_m</a:t>
            </a:r>
            <a:r>
              <a:rPr sz="1050" b="0" i="0">
                <a:solidFill>
                  <a:srgbClr val="16213A"/>
                </a:solidFill>
                <a:latin typeface="Arial"/>
                <a:ea typeface="Malgun Gothic"/>
                <a:cs typeface="Malgun Gothic"/>
              </a:rPr>
              <a:t>을 손으로 맞췄다. 규칙 설계를 네 번 실패하고 다섯 번째에 통과했는데, 그 과정은 전부 사람이 후보를 내고 벤치마크를 돌린 것이다. travplan은 폐루프 평가가 이미 자동화돼 있어(</a:t>
            </a:r>
            <a:r>
              <a:rPr sz="1050" b="0" i="0">
                <a:solidFill>
                  <a:srgbClr val="16213A"/>
                </a:solidFill>
                <a:latin typeface="Consolas"/>
                <a:ea typeface="Malgun Gothic"/>
                <a:cs typeface="Malgun Gothic"/>
              </a:rPr>
              <a:t>scripts/run_benchmark.py</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scripts/eval_shadow_false_alarm.py</a:t>
            </a:r>
            <a:r>
              <a:rPr sz="1050" b="0" i="0">
                <a:solidFill>
                  <a:srgbClr val="16213A"/>
                </a:solidFill>
                <a:latin typeface="Arial"/>
                <a:ea typeface="Malgun Gothic"/>
                <a:cs typeface="Malgun Gothic"/>
              </a:rPr>
              <a:t>) 목적 함수가 준비돼 있다. 붙일 자리는 MPPI 가중치가 아니라 </a:t>
            </a:r>
            <a:r>
              <a:rPr sz="1050" b="1" i="0">
                <a:solidFill>
                  <a:srgbClr val="16213A"/>
                </a:solidFill>
                <a:latin typeface="Consolas"/>
                <a:ea typeface="Malgun Gothic"/>
                <a:cs typeface="Malgun Gothic"/>
              </a:rPr>
              <a:t>TravMapBuilder</a:t>
            </a:r>
            <a:r>
              <a:rPr sz="1050" b="1" i="0">
                <a:solidFill>
                  <a:srgbClr val="16213A"/>
                </a:solidFill>
                <a:latin typeface="Arial"/>
                <a:ea typeface="Malgun Gothic"/>
                <a:cs typeface="Malgun Gothic"/>
              </a:rPr>
              <a:t>의 문턱값들</a:t>
            </a:r>
            <a:r>
              <a:rPr sz="1050" b="0" i="0">
                <a:solidFill>
                  <a:srgbClr val="16213A"/>
                </a:solidFill>
                <a:latin typeface="Arial"/>
                <a:ea typeface="Malgun Gothic"/>
                <a:cs typeface="Malgun Gothic"/>
              </a:rPr>
              <a:t>이다(MPPI는 개발 계획 제외, §E 머리말). 문맥은 시나리오(내리막 연석·포트홀·배수로)로 두면 된다. 다만 성공률은 12/12처럼 이산적이고 잡음이 커서 목적 함수로 나쁘다. 오탐 셀 수와 치명 recall처럼 연속인 대리 지표를 써야 한다.</a:t>
            </a:r>
          </a:p>
        </p:txBody>
      </p:sp>
      <p:sp>
        <p:nvSpPr>
          <p:cNvPr id="9" name="TextBox 8"/>
          <p:cNvSpPr txBox="1"/>
          <p:nvPr/>
        </p:nvSpPr>
        <p:spPr>
          <a:xfrm>
            <a:off x="609600" y="4323953"/>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l4acados·zero-order — 지금 쓸 것은 아니지만 길목을 표시해 둔다.</a:t>
            </a:r>
            <a:r>
              <a:rPr sz="1050" b="0" i="0">
                <a:solidFill>
                  <a:srgbClr val="16213A"/>
                </a:solidFill>
                <a:latin typeface="Arial"/>
                <a:ea typeface="Malgun Gothic"/>
                <a:cs typeface="Malgun Gothic"/>
              </a:rPr>
              <a:t> GP 잔차를 MPC에 넣으면 매 스텝 GP 추론과 그 Jacobian이 필요해 실시간이 어렵다. zero-order 근사는 </a:t>
            </a:r>
            <a:r>
              <a:rPr sz="1050" b="1" i="0">
                <a:solidFill>
                  <a:srgbClr val="16213A"/>
                </a:solidFill>
                <a:latin typeface="Arial"/>
                <a:ea typeface="Malgun Gothic"/>
                <a:cs typeface="Malgun Gothic"/>
              </a:rPr>
              <a:t>분산은 제약 조이기에 그대로 쓰되 Jacobian 기여만 떨어뜨려</a:t>
            </a:r>
            <a:r>
              <a:rPr sz="1050" b="0" i="0">
                <a:solidFill>
                  <a:srgbClr val="16213A"/>
                </a:solidFill>
                <a:latin typeface="Arial"/>
                <a:ea typeface="Malgun Gothic"/>
                <a:cs typeface="Malgun Gothic"/>
              </a:rPr>
              <a:t> SQP 반복을 싸게 만든다 (</a:t>
            </a:r>
            <a:r>
              <a:rPr sz="1050" b="0" i="0">
                <a:solidFill>
                  <a:srgbClr val="1D4ED8"/>
                </a:solidFill>
                <a:latin typeface="Arial"/>
                <a:ea typeface="Malgun Gothic"/>
                <a:cs typeface="Malgun Gothic"/>
                <a:hlinkClick r:id="rId7"/>
              </a:rPr>
              <a:t>arXiv:2211.15522</a:t>
            </a:r>
            <a:r>
              <a:rPr sz="1050" b="0" i="0">
                <a:solidFill>
                  <a:srgbClr val="16213A"/>
                </a:solidFill>
                <a:latin typeface="Arial"/>
                <a:ea typeface="Malgun Gothic"/>
                <a:cs typeface="Malgun Gothic"/>
              </a:rPr>
              <a:t>, European Journal of Control 74, 2023). l4acados는 이것을 acados 위에 일반화한 오픈소스다(</a:t>
            </a:r>
            <a:r>
              <a:rPr sz="1050" b="0" i="0">
                <a:solidFill>
                  <a:srgbClr val="1D4ED8"/>
                </a:solidFill>
                <a:latin typeface="Arial"/>
                <a:ea typeface="Malgun Gothic"/>
                <a:cs typeface="Malgun Gothic"/>
                <a:hlinkClick r:id="rId8"/>
              </a:rPr>
              <a:t>arXiv:2411.19258</a:t>
            </a:r>
            <a:r>
              <a:rPr sz="1050" b="0" i="0">
                <a:solidFill>
                  <a:srgbClr val="16213A"/>
                </a:solidFill>
                <a:latin typeface="Arial"/>
                <a:ea typeface="Malgun Gothic"/>
                <a:cs typeface="Malgun Gothic"/>
              </a:rPr>
              <a:t>, IEEE TCST). travplan Controller는 기울기를 안 쓰므로 이 가속 자체는 필요 없다. 의미는 다른 데 있다 — </a:t>
            </a:r>
            <a:r>
              <a:rPr sz="1050" b="1" i="0">
                <a:solidFill>
                  <a:srgbClr val="16213A"/>
                </a:solidFill>
                <a:latin typeface="Arial"/>
                <a:ea typeface="Malgun Gothic"/>
                <a:cs typeface="Malgun Gothic"/>
              </a:rPr>
              <a:t>E.5가 말한 "잔차에 불확실성을 붙이고 그것으로 제약을 조인다"가 실물에서 도는 형태로 공개돼 있다</a:t>
            </a:r>
            <a:r>
              <a:rPr sz="1050" b="0" i="0">
                <a:solidFill>
                  <a:srgbClr val="16213A"/>
                </a:solidFill>
                <a:latin typeface="Arial"/>
                <a:ea typeface="Malgun Gothic"/>
                <a:cs typeface="Malgun Gothic"/>
              </a:rPr>
              <a:t>는 것이다. MPPI를 유지하는 한 옮겨올 것은 분산 전파와 제약 조이기 공식이지 솔버가 아니다.</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E. Controller — 학습 동역학과 추종 (참고)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E.6 이 계보의 공개 코드와, travplan이 실제로 가져올 것</a:t>
            </a:r>
            <a:r>
              <a:rPr sz="1050" b="0" i="0">
                <a:solidFill>
                  <a:srgbClr val="5A6478"/>
                </a:solidFill>
                <a:latin typeface="Arial"/>
                <a:ea typeface="Malgun Gothic"/>
                <a:cs typeface="Malgun Gothic"/>
              </a:rPr>
              <a:t>  자세히: zero-order 근사와 베이즈 최적화의 목적 함수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70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zero-order 근사.</a:t>
            </a:r>
            <a:r>
              <a:rPr sz="1050" b="0" i="0">
                <a:solidFill>
                  <a:srgbClr val="16213A"/>
                </a:solidFill>
                <a:latin typeface="Arial"/>
                <a:ea typeface="Malgun Gothic"/>
                <a:cs typeface="Malgun Gothic"/>
              </a:rPr>
              <a:t> GP-MPC는 평균 </a:t>
            </a:r>
            <a:r>
              <a:rPr sz="1050" b="0" i="1">
                <a:solidFill>
                  <a:srgbClr val="16213A"/>
                </a:solidFill>
                <a:latin typeface="Arial"/>
                <a:ea typeface="Malgun Gothic"/>
                <a:cs typeface="Malgun Gothic"/>
              </a:rPr>
              <a:t>μₖ</a:t>
            </a:r>
            <a:r>
              <a:rPr sz="1050" b="0" i="0">
                <a:solidFill>
                  <a:srgbClr val="16213A"/>
                </a:solidFill>
                <a:latin typeface="Arial"/>
                <a:ea typeface="Malgun Gothic"/>
                <a:cs typeface="Malgun Gothic"/>
              </a:rPr>
              <a:t>와 공분산 </a:t>
            </a:r>
            <a:r>
              <a:rPr sz="1050" b="0" i="1">
                <a:solidFill>
                  <a:srgbClr val="16213A"/>
                </a:solidFill>
                <a:latin typeface="Arial"/>
                <a:ea typeface="Malgun Gothic"/>
                <a:cs typeface="Malgun Gothic"/>
              </a:rPr>
              <a:t>Σₖ</a:t>
            </a:r>
            <a:r>
              <a:rPr sz="1050" b="0" i="0">
                <a:solidFill>
                  <a:srgbClr val="16213A"/>
                </a:solidFill>
                <a:latin typeface="Arial"/>
                <a:ea typeface="Malgun Gothic"/>
                <a:cs typeface="Malgun Gothic"/>
              </a:rPr>
              <a:t>를 함께 굴리는데, </a:t>
            </a:r>
            <a:r>
              <a:rPr sz="1050" b="0" i="1">
                <a:solidFill>
                  <a:srgbClr val="16213A"/>
                </a:solidFill>
                <a:latin typeface="Arial"/>
                <a:ea typeface="Malgun Gothic"/>
                <a:cs typeface="Malgun Gothic"/>
              </a:rPr>
              <a:t>Σₖ</a:t>
            </a:r>
            <a:r>
              <a:rPr sz="1050" b="0" i="0">
                <a:solidFill>
                  <a:srgbClr val="16213A"/>
                </a:solidFill>
                <a:latin typeface="Arial"/>
                <a:ea typeface="Malgun Gothic"/>
                <a:cs typeface="Malgun Gothic"/>
              </a:rPr>
              <a:t>가 평균 궤적에 의존하므로 SQP의 Jacobian에 </a:t>
            </a:r>
            <a:r>
              <a:rPr sz="1050" b="0" i="1">
                <a:solidFill>
                  <a:srgbClr val="16213A"/>
                </a:solidFill>
                <a:latin typeface="Arial"/>
                <a:ea typeface="Malgun Gothic"/>
                <a:cs typeface="Malgun Gothic"/>
              </a:rPr>
              <a:t>∂ Σ / ∂ x</a:t>
            </a:r>
            <a:r>
              <a:rPr sz="1050" b="0" i="0">
                <a:solidFill>
                  <a:srgbClr val="16213A"/>
                </a:solidFill>
                <a:latin typeface="Arial"/>
                <a:ea typeface="Malgun Gothic"/>
                <a:cs typeface="Malgun Gothic"/>
              </a:rPr>
              <a:t>가 들어가 비용이 커진다. 이 항만 버리고 </a:t>
            </a:r>
            <a:r>
              <a:rPr sz="1050" b="0" i="1">
                <a:solidFill>
                  <a:srgbClr val="16213A"/>
                </a:solidFill>
                <a:latin typeface="Arial"/>
                <a:ea typeface="Malgun Gothic"/>
                <a:cs typeface="Malgun Gothic"/>
              </a:rPr>
              <a:t>Σ</a:t>
            </a:r>
            <a:r>
              <a:rPr sz="1050" b="0" i="0">
                <a:solidFill>
                  <a:srgbClr val="16213A"/>
                </a:solidFill>
                <a:latin typeface="Arial"/>
                <a:ea typeface="Malgun Gothic"/>
                <a:cs typeface="Malgun Gothic"/>
              </a:rPr>
              <a:t>는 </a:t>
            </a:r>
            <a:r>
              <a:rPr sz="1050" b="1" i="0">
                <a:solidFill>
                  <a:srgbClr val="16213A"/>
                </a:solidFill>
                <a:latin typeface="Arial"/>
                <a:ea typeface="Malgun Gothic"/>
                <a:cs typeface="Malgun Gothic"/>
              </a:rPr>
              <a:t>이전 반복의 궤적에서 고정</a:t>
            </a:r>
            <a:r>
              <a:rPr sz="1050" b="0" i="0">
                <a:solidFill>
                  <a:srgbClr val="16213A"/>
                </a:solidFill>
                <a:latin typeface="Arial"/>
                <a:ea typeface="Malgun Gothic"/>
                <a:cs typeface="Malgun Gothic"/>
              </a:rPr>
              <a:t>한 값 </a:t>
            </a:r>
            <a:r>
              <a:rPr sz="1050" b="0" i="1">
                <a:solidFill>
                  <a:srgbClr val="16213A"/>
                </a:solidFill>
                <a:latin typeface="Arial"/>
                <a:ea typeface="Malgun Gothic"/>
                <a:cs typeface="Malgun Gothic"/>
              </a:rPr>
              <a:t>Σ̄ₖ</a:t>
            </a:r>
            <a:r>
              <a:rPr sz="1050" b="0" i="0">
                <a:solidFill>
                  <a:srgbClr val="16213A"/>
                </a:solidFill>
                <a:latin typeface="Arial"/>
                <a:ea typeface="Malgun Gothic"/>
                <a:cs typeface="Malgun Gothic"/>
              </a:rPr>
              <a:t>로 쓴다. 제약 조이기는 그대로 남으므로 보수성은 유지되고, 반복 한 번이 크게 싸진다.</a:t>
            </a:r>
          </a:p>
        </p:txBody>
      </p:sp>
      <p:pic>
        <p:nvPicPr>
          <p:cNvPr id="6" name="Picture 5" descr="image.png"/>
          <p:cNvPicPr>
            <a:picLocks noChangeAspect="1"/>
          </p:cNvPicPr>
          <p:nvPr/>
        </p:nvPicPr>
        <p:blipFill>
          <a:blip r:embed="rId3"/>
          <a:stretch>
            <a:fillRect/>
          </a:stretch>
        </p:blipFill>
        <p:spPr>
          <a:xfrm>
            <a:off x="609600" y="1766491"/>
            <a:ext cx="5260975" cy="266700"/>
          </a:xfrm>
          <a:prstGeom prst="rect">
            <a:avLst/>
          </a:prstGeom>
        </p:spPr>
      </p:pic>
      <p:sp>
        <p:nvSpPr>
          <p:cNvPr id="7" name="TextBox 6"/>
          <p:cNvSpPr txBox="1"/>
          <p:nvPr/>
        </p:nvSpPr>
        <p:spPr>
          <a:xfrm>
            <a:off x="609600" y="206742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문맥 베이즈 최적화.</a:t>
            </a:r>
            <a:r>
              <a:rPr sz="1050" b="0" i="0">
                <a:solidFill>
                  <a:srgbClr val="16213A"/>
                </a:solidFill>
                <a:latin typeface="Arial"/>
                <a:ea typeface="Malgun Gothic"/>
                <a:cs typeface="Malgun Gothic"/>
              </a:rPr>
              <a:t> 파라미터 </a:t>
            </a:r>
            <a:r>
              <a:rPr sz="1050" b="0" i="1">
                <a:solidFill>
                  <a:srgbClr val="16213A"/>
                </a:solidFill>
                <a:latin typeface="Arial"/>
                <a:ea typeface="Malgun Gothic"/>
                <a:cs typeface="Malgun Gothic"/>
              </a:rPr>
              <a:t>θ</a:t>
            </a:r>
            <a:r>
              <a:rPr sz="1050" b="0" i="0">
                <a:solidFill>
                  <a:srgbClr val="16213A"/>
                </a:solidFill>
                <a:latin typeface="Arial"/>
                <a:ea typeface="Malgun Gothic"/>
                <a:cs typeface="Malgun Gothic"/>
              </a:rPr>
              <a:t>와 문맥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에 대한 폐루프 성능 </a:t>
            </a:r>
            <a:r>
              <a:rPr sz="1050" b="0" i="1">
                <a:solidFill>
                  <a:srgbClr val="16213A"/>
                </a:solidFill>
                <a:latin typeface="Arial"/>
                <a:ea typeface="Malgun Gothic"/>
                <a:cs typeface="Malgun Gothic"/>
              </a:rPr>
              <a:t>f(θ, c)</a:t>
            </a:r>
            <a:r>
              <a:rPr sz="1050" b="0" i="0">
                <a:solidFill>
                  <a:srgbClr val="16213A"/>
                </a:solidFill>
                <a:latin typeface="Arial"/>
                <a:ea typeface="Malgun Gothic"/>
                <a:cs typeface="Malgun Gothic"/>
              </a:rPr>
              <a:t>를 GP로 모델링하고, 획득 함수로 다음 시행을 고른다. 문맥을 입력에 넣었기 때문에 조건이 달라져도 이전 데이터가 사전 정보로 남는다.</a:t>
            </a:r>
          </a:p>
        </p:txBody>
      </p:sp>
      <p:pic>
        <p:nvPicPr>
          <p:cNvPr id="8" name="Picture 7" descr="image.png"/>
          <p:cNvPicPr>
            <a:picLocks noChangeAspect="1"/>
          </p:cNvPicPr>
          <p:nvPr/>
        </p:nvPicPr>
        <p:blipFill>
          <a:blip r:embed="rId4"/>
          <a:stretch>
            <a:fillRect/>
          </a:stretch>
        </p:blipFill>
        <p:spPr>
          <a:xfrm>
            <a:off x="609600" y="2589312"/>
            <a:ext cx="5572125" cy="304800"/>
          </a:xfrm>
          <a:prstGeom prst="rect">
            <a:avLst/>
          </a:prstGeom>
        </p:spPr>
      </p:pic>
      <p:sp>
        <p:nvSpPr>
          <p:cNvPr id="9" name="TextBox 8"/>
          <p:cNvSpPr txBox="1"/>
          <p:nvPr/>
        </p:nvSpPr>
        <p:spPr>
          <a:xfrm>
            <a:off x="609600" y="292179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 대입.</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θ = (shadow_depth_m, shadow_evidence_m, shadow_margin_m)</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는 시나리오, </a:t>
            </a:r>
            <a:r>
              <a:rPr sz="1050" b="0" i="1">
                <a:solidFill>
                  <a:srgbClr val="16213A"/>
                </a:solidFill>
                <a:latin typeface="Arial"/>
                <a:ea typeface="Malgun Gothic"/>
                <a:cs typeface="Malgun Gothic"/>
              </a:rPr>
              <a:t>f</a:t>
            </a:r>
            <a:r>
              <a:rPr sz="1050" b="0" i="0">
                <a:solidFill>
                  <a:srgbClr val="16213A"/>
                </a:solidFill>
                <a:latin typeface="Arial"/>
                <a:ea typeface="Malgun Gothic"/>
                <a:cs typeface="Malgun Gothic"/>
              </a:rPr>
              <a:t>는 </a:t>
            </a:r>
            <a:r>
              <a:rPr sz="1050" b="0" i="0">
                <a:solidFill>
                  <a:srgbClr val="16213A"/>
                </a:solidFill>
                <a:latin typeface="Consolas"/>
                <a:ea typeface="Malgun Gothic"/>
                <a:cs typeface="Malgun Gothic"/>
              </a:rPr>
              <a:t>eval_shadow_false_alarm.py</a:t>
            </a:r>
            <a:r>
              <a:rPr sz="1050" b="0" i="0">
                <a:solidFill>
                  <a:srgbClr val="16213A"/>
                </a:solidFill>
                <a:latin typeface="Arial"/>
                <a:ea typeface="Malgun Gothic"/>
                <a:cs typeface="Malgun Gothic"/>
              </a:rPr>
              <a:t>의 (오탐 셀 수, 치명 recall) 가중합. 시행 하나가 4 시나리오 × 3 seed라 수십 분이므로, 시행 예산이 작은 베이즈 최적화가 격자 탐색보다 맞는 도구다.</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E. Controller — 학습 동역학과 추종 (참고)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E.6 이 계보의 공개 코드와, travplan이 실제로 가져올 것</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71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넣지 않은 것과 이유.</a:t>
            </a:r>
            <a:r>
              <a:rPr sz="1050" b="0" i="0">
                <a:solidFill>
                  <a:srgbClr val="16213A"/>
                </a:solidFill>
                <a:latin typeface="Arial"/>
                <a:ea typeface="Malgun Gothic"/>
                <a:cs typeface="Malgun Gothic"/>
              </a:rPr>
              <a:t> 목록에 있던 나머지는 확인은 했지만 문서에 절을 주지 않았다.</a:t>
            </a:r>
          </a:p>
        </p:txBody>
      </p:sp>
      <p:sp>
        <p:nvSpPr>
          <p:cNvPr id="6" name="TextBox 5"/>
          <p:cNvSpPr txBox="1"/>
          <p:nvPr/>
        </p:nvSpPr>
        <p:spPr>
          <a:xfrm>
            <a:off x="609600" y="1549995"/>
            <a:ext cx="10972800" cy="11078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강건 MPC의 system level synthesis·외란 피드백 계열</a:t>
            </a:r>
            <a:r>
              <a:rPr sz="1050" b="0" i="0">
                <a:solidFill>
                  <a:srgbClr val="16213A"/>
                </a:solidFill>
                <a:latin typeface="Arial"/>
                <a:ea typeface="Malgun Gothic"/>
                <a:cs typeface="Malgun Gothic"/>
              </a:rPr>
              <a:t>(Leeman 외, </a:t>
            </a:r>
            <a:r>
              <a:rPr sz="1050" b="0" i="0">
                <a:solidFill>
                  <a:srgbClr val="1D4ED8"/>
                </a:solidFill>
                <a:latin typeface="Arial"/>
                <a:ea typeface="Malgun Gothic"/>
                <a:cs typeface="Malgun Gothic"/>
                <a:hlinkClick r:id="rId3"/>
              </a:rPr>
              <a:t>IEEE TAC 2025</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4"/>
              </a:rPr>
              <a:t>arXiv:2509.18760</a:t>
            </a:r>
            <a:r>
              <a:rPr sz="1050" b="0" i="0">
                <a:solidFill>
                  <a:srgbClr val="16213A"/>
                </a:solidFill>
                <a:latin typeface="Arial"/>
                <a:ea typeface="Malgun Gothic"/>
                <a:cs typeface="Malgun Gothic"/>
              </a:rPr>
              <a:t>, ICRA 2026,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명목 모델·외란 피드백 이득·모델 오차 상한을 순차 볼록 계획으로 함께 최적화해 강건 제약 만족과 재귀 실행 가능성을 보장한다. 이론은 좋지만 </a:t>
            </a:r>
            <a:r>
              <a:rPr sz="1050" b="1" i="0">
                <a:solidFill>
                  <a:srgbClr val="16213A"/>
                </a:solidFill>
                <a:latin typeface="Arial"/>
                <a:ea typeface="Malgun Gothic"/>
                <a:cs typeface="Malgun Gothic"/>
              </a:rPr>
              <a:t>MPPI를 버려야 들어온다.</a:t>
            </a:r>
            <a:r>
              <a:rPr sz="1050" b="0" i="0">
                <a:solidFill>
                  <a:srgbClr val="16213A"/>
                </a:solidFill>
                <a:latin typeface="Arial"/>
                <a:ea typeface="Malgun Gothic"/>
                <a:cs typeface="Malgun Gothic"/>
              </a:rPr>
              <a:t> 그리고 </a:t>
            </a:r>
            <a:r>
              <a:rPr sz="1050" b="1" i="0">
                <a:solidFill>
                  <a:srgbClr val="C2410C"/>
                </a:solidFill>
                <a:latin typeface="Arial"/>
                <a:ea typeface="Malgun Gothic"/>
                <a:cs typeface="Malgun Gothic"/>
              </a:rPr>
              <a:t>travplan의 주된 불확실성은 동역학의 외란이 아니라 지각이다</a:t>
            </a:r>
            <a:r>
              <a:rPr sz="1050" b="0" i="0">
                <a:solidFill>
                  <a:srgbClr val="16213A"/>
                </a:solidFill>
                <a:latin typeface="Arial"/>
                <a:ea typeface="Malgun Gothic"/>
                <a:cs typeface="Malgun Gothic"/>
              </a:rPr>
              <a:t> — 못 본 셀, 가림이 만든 그림자, 지도의 σ다. 이 그룹의 장치들은 외란 쪽에 맞춰져 있어 옮길 때 대응이 1:1이 아니다.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안전 탐색 계열</a:t>
            </a:r>
            <a:r>
              <a:rPr sz="1050" b="0" i="0">
                <a:solidFill>
                  <a:srgbClr val="16213A"/>
                </a:solidFill>
                <a:latin typeface="Arial"/>
                <a:ea typeface="Malgun Gothic"/>
                <a:cs typeface="Malgun Gothic"/>
              </a:rPr>
              <a:t>(Koller·Berkenkamp·Turchetta·Zeilinger, </a:t>
            </a:r>
            <a:r>
              <a:rPr sz="1050" b="0" i="0">
                <a:solidFill>
                  <a:srgbClr val="1D4ED8"/>
                </a:solidFill>
                <a:latin typeface="Arial"/>
                <a:ea typeface="Malgun Gothic"/>
                <a:cs typeface="Malgun Gothic"/>
                <a:hlinkClick r:id="rId6"/>
              </a:rPr>
              <a:t>arXiv:1906.12189</a:t>
            </a:r>
            <a:r>
              <a:rPr sz="1050" b="0" i="0">
                <a:solidFill>
                  <a:srgbClr val="16213A"/>
                </a:solidFill>
                <a:latin typeface="Arial"/>
                <a:ea typeface="Malgun Gothic"/>
                <a:cs typeface="Malgun Gothic"/>
              </a:rPr>
              <a:t>; Prajapat 외, </a:t>
            </a:r>
            <a:r>
              <a:rPr sz="1050" b="0" i="0">
                <a:solidFill>
                  <a:srgbClr val="1D4ED8"/>
                </a:solidFill>
                <a:latin typeface="Arial"/>
                <a:ea typeface="Malgun Gothic"/>
                <a:cs typeface="Malgun Gothic"/>
                <a:hlinkClick r:id="rId7"/>
              </a:rPr>
              <a:t>arXiv:2402.06562</a:t>
            </a:r>
            <a:r>
              <a:rPr sz="1050" b="0" i="0">
                <a:solidFill>
                  <a:srgbClr val="16213A"/>
                </a:solidFill>
                <a:latin typeface="Arial"/>
                <a:ea typeface="Malgun Gothic"/>
                <a:cs typeface="Malgun Gothic"/>
              </a:rPr>
              <a:t>). 실물에서 동역학을 탐색하며 배우는 설정이다. travplan은 시뮬에서 학습하고 실물 온라인 학습 계획이 없어(PRD P1) 지금은 쓸 자리가 없다. 다만 "탐색해도 되는 영역을 불확실성으로 정한다"는 발상은 L1 인식 루프에서 미관측 영역을 다룰 때 다시 볼 값이 있다.</a:t>
            </a:r>
          </a:p>
        </p:txBody>
      </p:sp>
      <p:sp>
        <p:nvSpPr>
          <p:cNvPr id="7" name="TextBox 6"/>
          <p:cNvSpPr txBox="1"/>
          <p:nvPr/>
        </p:nvSpPr>
        <p:spPr>
          <a:xfrm>
            <a:off x="609600" y="274677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출처를 바로잡은 것.</a:t>
            </a:r>
            <a:r>
              <a:rPr sz="1050" b="0" i="0">
                <a:solidFill>
                  <a:srgbClr val="16213A"/>
                </a:solidFill>
                <a:latin typeface="Arial"/>
                <a:ea typeface="Malgun Gothic"/>
                <a:cs typeface="Malgun Gothic"/>
              </a:rPr>
              <a:t> 받은 목록에 서지가 어긋난 항목이 셋 있었다.</a:t>
            </a:r>
          </a:p>
        </p:txBody>
      </p:sp>
      <p:sp>
        <p:nvSpPr>
          <p:cNvPr id="8" name="TextBox 7"/>
          <p:cNvSpPr txBox="1"/>
          <p:nvPr/>
        </p:nvSpPr>
        <p:spPr>
          <a:xfrm>
            <a:off x="609600" y="3052167"/>
            <a:ext cx="10972800" cy="11332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0" i="0">
                <a:solidFill>
                  <a:srgbClr val="16213A"/>
                </a:solidFill>
                <a:latin typeface="Arial"/>
                <a:ea typeface="Malgun Gothic"/>
                <a:cs typeface="Malgun Gothic"/>
              </a:rPr>
              <a:t>"Annual Reviews 2024, Carron 외, </a:t>
            </a:r>
            <a:r>
              <a:rPr sz="1050" b="0" i="1">
                <a:solidFill>
                  <a:srgbClr val="16213A"/>
                </a:solidFill>
                <a:latin typeface="Arial"/>
                <a:ea typeface="Malgun Gothic"/>
                <a:cs typeface="Malgun Gothic"/>
              </a:rPr>
              <a:t>Learning-based MPC: Toward Safe and Efficient Real-World Autonomy</a:t>
            </a:r>
            <a:r>
              <a:rPr sz="1050" b="0" i="0">
                <a:solidFill>
                  <a:srgbClr val="16213A"/>
                </a:solidFill>
                <a:latin typeface="Arial"/>
                <a:ea typeface="Malgun Gothic"/>
                <a:cs typeface="Malgun Gothic"/>
              </a:rPr>
              <a:t>"는 찾지 못했다. 확인되는 것은 Hewing·Wabersich·Menner·Zeilinger, </a:t>
            </a:r>
            <a:r>
              <a:rPr sz="1050" b="0" i="1">
                <a:solidFill>
                  <a:srgbClr val="16213A"/>
                </a:solidFill>
                <a:latin typeface="Arial"/>
                <a:ea typeface="Malgun Gothic"/>
                <a:cs typeface="Malgun Gothic"/>
              </a:rPr>
              <a:t>Toward Safe Learning in Control</a:t>
            </a:r>
            <a:r>
              <a:rPr sz="1050" b="0" i="0">
                <a:solidFill>
                  <a:srgbClr val="16213A"/>
                </a:solidFill>
                <a:latin typeface="Arial"/>
                <a:ea typeface="Malgun Gothic"/>
                <a:cs typeface="Malgun Gothic"/>
              </a:rPr>
              <a:t>, Annual Review 2020이고 </a:t>
            </a:r>
            <a:r>
              <a:rPr sz="1050" b="1" i="0">
                <a:solidFill>
                  <a:srgbClr val="16213A"/>
                </a:solidFill>
                <a:latin typeface="Arial"/>
                <a:ea typeface="Malgun Gothic"/>
                <a:cs typeface="Malgun Gothic"/>
              </a:rPr>
              <a:t>E.5가 이미 그 논문</a:t>
            </a:r>
            <a:r>
              <a:rPr sz="1050" b="0" i="0">
                <a:solidFill>
                  <a:srgbClr val="16213A"/>
                </a:solidFill>
                <a:latin typeface="Arial"/>
                <a:ea typeface="Malgun Gothic"/>
                <a:cs typeface="Malgun Gothic"/>
              </a:rPr>
              <a:t>이다.</a:t>
            </a:r>
          </a:p>
          <a:p>
            <a:pPr>
              <a:spcBef>
                <a:spcPts val="200"/>
              </a:spcBef>
            </a:pPr>
            <a:r>
              <a:rPr sz="1050" b="0" i="0">
                <a:solidFill>
                  <a:srgbClr val="5A6478"/>
                </a:solidFill>
                <a:latin typeface="Arial"/>
                <a:ea typeface="Malgun Gothic"/>
                <a:cs typeface="Malgun Gothic"/>
              </a:rPr>
              <a:t>2. </a:t>
            </a:r>
            <a:r>
              <a:rPr sz="1050" b="0" i="0">
                <a:solidFill>
                  <a:srgbClr val="16213A"/>
                </a:solidFill>
                <a:latin typeface="Arial"/>
                <a:ea typeface="Malgun Gothic"/>
                <a:cs typeface="Malgun Gothic"/>
              </a:rPr>
              <a:t>"ECC 2023 zero-order"는 European Journal of Control 74(2023) 게재분이다. "TCST 2025 Zero-Order Approximations"의 저자 목록 (Lahr·Näf·Wabersich·Frey·Carron·Diehl·Zeilinger)은 </a:t>
            </a:r>
            <a:r>
              <a:rPr sz="1050" b="1" i="0">
                <a:solidFill>
                  <a:srgbClr val="16213A"/>
                </a:solidFill>
                <a:latin typeface="Arial"/>
                <a:ea typeface="Malgun Gothic"/>
                <a:cs typeface="Malgun Gothic"/>
              </a:rPr>
              <a:t>l4acados 논문의 것</a:t>
            </a:r>
            <a:r>
              <a:rPr sz="1050" b="0" i="0">
                <a:solidFill>
                  <a:srgbClr val="16213A"/>
                </a:solidFill>
                <a:latin typeface="Arial"/>
                <a:ea typeface="Malgun Gothic"/>
                <a:cs typeface="Malgun Gothic"/>
              </a:rPr>
              <a:t>이다. 둘은 다른 논문이다.</a:t>
            </a:r>
          </a:p>
          <a:p>
            <a:pPr>
              <a:spcBef>
                <a:spcPts val="200"/>
              </a:spcBef>
            </a:pPr>
            <a:r>
              <a:rPr sz="1050" b="0" i="0">
                <a:solidFill>
                  <a:srgbClr val="5A6478"/>
                </a:solidFill>
                <a:latin typeface="Arial"/>
                <a:ea typeface="Malgun Gothic"/>
                <a:cs typeface="Malgun Gothic"/>
              </a:rPr>
              <a:t>3. </a:t>
            </a:r>
            <a:r>
              <a:rPr sz="1050" b="0" i="0">
                <a:solidFill>
                  <a:srgbClr val="16213A"/>
                </a:solidFill>
                <a:latin typeface="Arial"/>
                <a:ea typeface="Malgun Gothic"/>
                <a:cs typeface="Malgun Gothic"/>
              </a:rPr>
              <a:t>"Automatica 2021 예측 안전 필터"는 C.4에 이미 있는 2018년 논문의 학술지판이다.</a:t>
            </a:r>
          </a:p>
        </p:txBody>
      </p:sp>
      <p:sp>
        <p:nvSpPr>
          <p:cNvPr id="9" name="TextBox 8"/>
          <p:cNvSpPr txBox="1"/>
          <p:nvPr/>
        </p:nvSpPr>
        <p:spPr>
          <a:xfrm>
            <a:off x="609600" y="427434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비용 함수를 역으로 배우는 갈래</a:t>
            </a:r>
            <a:r>
              <a:rPr sz="1050" b="0" i="0">
                <a:solidFill>
                  <a:srgbClr val="16213A"/>
                </a:solidFill>
                <a:latin typeface="Arial"/>
                <a:ea typeface="Malgun Gothic"/>
                <a:cs typeface="Malgun Gothic"/>
              </a:rPr>
              <a:t>(Didier의 이중 수준 최적화로 인용된 항목)는 그 서지를 확인하지 못했다. 확인되는 가까운 연구는 Menner·Worsnop·Zeilinger의 제약 역최적제어(IEEE TCST)로, </a:t>
            </a:r>
            <a:r>
              <a:rPr sz="1050" b="1" i="0">
                <a:solidFill>
                  <a:srgbClr val="16213A"/>
                </a:solidFill>
                <a:latin typeface="Arial"/>
                <a:ea typeface="Malgun Gothic"/>
                <a:cs typeface="Malgun Gothic"/>
              </a:rPr>
              <a:t>시연에서</a:t>
            </a:r>
            <a:r>
              <a:rPr sz="1050" b="0" i="0">
                <a:solidFill>
                  <a:srgbClr val="16213A"/>
                </a:solidFill>
                <a:latin typeface="Arial"/>
                <a:ea typeface="Malgun Gothic"/>
                <a:cs typeface="Malgun Gothic"/>
              </a:rPr>
              <a:t> 비용 함수를 역으로 뽑는 방법이다. travplan에는 시연이 아니라 벤치마크 점수가 있으므로 같은 자리에 들어갈 도구는 역최적제어가 아니라 위의 베이즈 최적화다.</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E. Controller — 학습 동역학과 추종 (참고)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E.7 Zeilinger 그룹 더 보기: 경로를 품은 MPC, 성능을 지키는 자동 튜닝, 실험 플랫폼</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72 / 183</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E.5와 E.6이 "학습 모델 위의 보장"이었다면, 이 절은 같은 그룹이 그 보장을 로봇 내비게이션과 튜닝 절차에 옮긴 결과다.</a:t>
            </a:r>
            <a:r>
              <a:rPr sz="1050" b="0" i="0">
                <a:solidFill>
                  <a:srgbClr val="16213A"/>
                </a:solidFill>
                <a:latin typeface="Arial"/>
                <a:ea typeface="Malgun Gothic"/>
                <a:cs typeface="Malgun Gothic"/>
              </a:rPr>
              <a:t> 그룹은 ETH Zürich IDSC(Institute for Dynamic Systems and Control)의 Intelligent Control Systems 그룹이고, Melanie N. Zeilinger 교수가 이끈다. 아래 논문 대부분에 Andrea Carron이 함께 올라 있다. 2026-09 기준 travplan에 닿는 결과는 셋이다. </a:t>
            </a:r>
            <a:r>
              <a:rPr sz="1050" b="1" i="0">
                <a:solidFill>
                  <a:srgbClr val="C2410C"/>
                </a:solidFill>
                <a:latin typeface="Arial"/>
                <a:ea typeface="Malgun Gothic"/>
                <a:cs typeface="Malgun Gothic"/>
              </a:rPr>
              <a:t>가장 가까운 것은 전역 경로를 MPC 최적화 안에 넣어 막힘 없이 보장을 유지한 내비게이션 MPC다.</a:t>
            </a:r>
            <a:r>
              <a:rPr sz="1050" b="0" i="0">
                <a:solidFill>
                  <a:srgbClr val="16213A"/>
                </a:solidFill>
                <a:latin typeface="Arial"/>
                <a:ea typeface="Malgun Gothic"/>
                <a:cs typeface="Malgun Gothic"/>
              </a:rPr>
              <a:t> 이것이 travplan의 Planner와 Controller 경계를 어떻게 그을지에 대한 한 답이다.</a:t>
            </a:r>
          </a:p>
        </p:txBody>
      </p:sp>
      <p:graphicFrame>
        <p:nvGraphicFramePr>
          <p:cNvPr id="6" name="Table 5"/>
          <p:cNvGraphicFramePr>
            <a:graphicFrameLocks noGrp="1"/>
          </p:cNvGraphicFramePr>
          <p:nvPr/>
        </p:nvGraphicFramePr>
        <p:xfrm>
          <a:off x="609600" y="1982986"/>
          <a:ext cx="10966450" cy="788352"/>
        </p:xfrm>
        <a:graphic>
          <a:graphicData uri="http://schemas.openxmlformats.org/drawingml/2006/table">
            <a:tbl>
              <a:tblPr firstRow="1" bandRow="1">
                <a:tableStyleId>{5C22544A-7EE6-4342-B048-85BDC9FD1C3A}</a:tableStyleId>
              </a:tblPr>
              <a:tblGrid>
                <a:gridCol w="1990824"/>
                <a:gridCol w="4979988"/>
                <a:gridCol w="3995638"/>
              </a:tblGrid>
              <a:tr h="197088">
                <a:tc>
                  <a:txBody>
                    <a:bodyPr wrap="square"/>
                    <a:lstStyle/>
                    <a:p>
                      <a:r>
                        <a:rPr sz="800" b="1" i="0">
                          <a:solidFill>
                            <a:srgbClr val="F4F1EA"/>
                          </a:solidFill>
                          <a:latin typeface="Arial"/>
                          <a:ea typeface="Malgun Gothic"/>
                          <a:cs typeface="Malgun Gothic"/>
                        </a:rPr>
                        <a:t>결과</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무엇인가</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travplan에서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경로를 품은 MPC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Dijkstra 경로 구간을 MPC 결정 변수에 넣고 재귀 실행 가능성·충돌 회피를 보장</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GuidancePlanner → Controller 경계, Planner D 멈춤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COAT-MPC (RA-L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성능이 문턱 아래로 떨어지지 않게 제약을 건 베이즈 최적화 튜너</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TravMapBuilder</a:t>
                      </a:r>
                      <a:r>
                        <a:rPr sz="800" b="0" i="0">
                          <a:solidFill>
                            <a:srgbClr val="16213A"/>
                          </a:solidFill>
                          <a:latin typeface="Arial"/>
                          <a:ea typeface="Malgun Gothic"/>
                          <a:cs typeface="Malgun Gothic"/>
                        </a:rPr>
                        <a:t> 문턱값 튜닝(E.6 bayesopt4ros의 개선판)</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Chronos·CRS (ICRA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1:28 소형 차량과 제어·추정 소프트웨어 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실험 플랫폼 설계의 참고</a:t>
                      </a:r>
                    </a:p>
                  </a:txBody>
                  <a:tcPr marL="63500" marR="63500" marT="12700" marB="12700">
                    <a:solidFill>
                      <a:srgbClr val="FFFDF8"/>
                    </a:solidFill>
                  </a:tcPr>
                </a:tc>
              </a:tr>
            </a:tbl>
          </a:graphicData>
        </a:graphic>
      </p:graphicFrame>
      <p:sp>
        <p:nvSpPr>
          <p:cNvPr id="7" name="TextBox 6"/>
          <p:cNvSpPr txBox="1"/>
          <p:nvPr/>
        </p:nvSpPr>
        <p:spPr>
          <a:xfrm>
            <a:off x="609600" y="3063677"/>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경로를 품은 MPC — 전역 경로를 최적화 안에 넣어 막힘과 보장을 함께 푼다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arXiv:2509.15917</a:t>
            </a:r>
            <a:r>
              <a:rPr sz="1050" b="0" i="0">
                <a:solidFill>
                  <a:srgbClr val="16213A"/>
                </a:solidFill>
                <a:latin typeface="Arial"/>
                <a:ea typeface="Malgun Gothic"/>
                <a:cs typeface="Malgun Gothic"/>
              </a:rPr>
              <a:t>, Köhler·Zhang·Soloperto·Carron·Zeilinger, 2025-09, 2026-03 개정,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지평이 짧은 MPC는 장애물이 빽빽하면 목표 쪽 벽 앞에서 멈춘다. 전역 경로를 참조로만 넘기면 이 멈춤은 풀리지만, 참조를 바꿀 때마다 보장이 깨진다. 이 방법은 가시성 그래프 위의 Dijkstra 최단 경로에서 앞쪽 구간 3개를 </a:t>
            </a:r>
            <a:r>
              <a:rPr sz="1050" b="1" i="0">
                <a:solidFill>
                  <a:srgbClr val="16213A"/>
                </a:solidFill>
                <a:latin typeface="Arial"/>
                <a:ea typeface="Malgun Gothic"/>
                <a:cs typeface="Malgun Gothic"/>
              </a:rPr>
              <a:t>MPC의 결정 변수</a:t>
            </a:r>
            <a:r>
              <a:rPr sz="1050" b="0" i="0">
                <a:solidFill>
                  <a:srgbClr val="16213A"/>
                </a:solidFill>
                <a:latin typeface="Arial"/>
                <a:ea typeface="Malgun Gothic"/>
                <a:cs typeface="Malgun Gothic"/>
              </a:rPr>
              <a:t>로 올린다. MPC는 궤적과 함께 "궤적이 끝나는 인공 정지점"과 "그 정지점에서 목표까지 이어지는 직선 구간들"을 같이 최적화한다. 비용은 추종 비용에 구간 길이의 합을 더한 것이다. 구간이 장애물과 겹치지 않는다는 제약과 종단 정지 제약 덕분에 재귀 실행 가능성, 충돌 회피, 목표 수렴이 보장된다. 목표가 운행 중에 바뀌어도 보장은 유지된다.</a:t>
            </a:r>
          </a:p>
        </p:txBody>
      </p:sp>
      <p:sp>
        <p:nvSpPr>
          <p:cNvPr id="8" name="TextBox 7"/>
          <p:cNvSpPr txBox="1"/>
          <p:nvPr/>
        </p:nvSpPr>
        <p:spPr>
          <a:xfrm>
            <a:off x="609600" y="4018558"/>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동작은 이렇다. 장애물은 부풀린 볼록 다면체이고, 충돌 회피는 분리 초평면 승수로 매끄럽게 바꾼 제약이다. 로봇은 운동학 자전거 모델(상태 6, 입력 2)이고, 지평 20스텝을 20 Hz로 acados SQP-RTI가 푼다. 전역 경로를 넣는 비용은 계산 시간 17–35%다. 무작위 밀집 환경 시뮬레이션에서 성공률은 100%였고, 전역 경로 없는 MPC는 빽빽한 장면 대부분에서 멈췄다. 1:28 소형 차량 실물에서 사람이 목표를 바꿔 주면 50–100 ms 안에 반응했고, 새 목표에 2–3초 안에 도달했다.</a:t>
            </a:r>
          </a:p>
        </p:txBody>
      </p:sp>
      <p:sp>
        <p:nvSpPr>
          <p:cNvPr id="9" name="TextBox 8"/>
          <p:cNvSpPr txBox="1"/>
          <p:nvPr/>
        </p:nvSpPr>
        <p:spPr>
          <a:xfrm>
            <a:off x="609600" y="4756944"/>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이 논문의 멈춤은 Planner D의 이전 8/12 멈춤과 같은 종류다.</a:t>
            </a:r>
            <a:r>
              <a:rPr sz="1050" b="0" i="0">
                <a:solidFill>
                  <a:srgbClr val="16213A"/>
                </a:solidFill>
                <a:latin typeface="Arial"/>
                <a:ea typeface="Malgun Gothic"/>
                <a:cs typeface="Malgun Gothic"/>
              </a:rPr>
              <a:t> 그때 원인은 MPPI 시간 참조 모드에 진행 항이 없는 것이었고(</a:t>
            </a:r>
            <a:r>
              <a:rPr sz="1050" b="0" i="0">
                <a:solidFill>
                  <a:srgbClr val="16213A"/>
                </a:solidFill>
                <a:latin typeface="Consolas"/>
                <a:ea typeface="Malgun Gothic"/>
                <a:cs typeface="Malgun Gothic"/>
              </a:rPr>
              <a:t>docs/ARCHITECTURE.md</a:t>
            </a:r>
            <a:r>
              <a:rPr sz="1050" b="0" i="0">
                <a:solidFill>
                  <a:srgbClr val="16213A"/>
                </a:solidFill>
                <a:latin typeface="Arial"/>
                <a:ea typeface="Malgun Gothic"/>
                <a:cs typeface="Malgun Gothic"/>
              </a:rPr>
              <a:t> §4), 진행 항을 더해 12/12가 됐다. 이 논문은 같은 문제를 "경로 구간 길이를 비용에 넣고, 구간 자체를 최적화 변수로 둔다"로 푼다. travplan에 그대로 들어오지는 않는다. 두 가지가 다르기 때문이다. 첫째, travplan Controller는 기울기 없는 MPPI이고 최적화기는 건드리지 않는다는 규칙이 있다. 둘째, TravMap은 볼록 다면체가 아니라 격자 비용 지도다. 옮길 수 있는 것은 </a:t>
            </a:r>
            <a:r>
              <a:rPr sz="1050" b="1" i="0">
                <a:solidFill>
                  <a:srgbClr val="16213A"/>
                </a:solidFill>
                <a:latin typeface="Arial"/>
                <a:ea typeface="Malgun Gothic"/>
                <a:cs typeface="Malgun Gothic"/>
              </a:rPr>
              <a:t>구조</a:t>
            </a:r>
            <a:r>
              <a:rPr sz="1050" b="0" i="0">
                <a:solidFill>
                  <a:srgbClr val="16213A"/>
                </a:solidFill>
                <a:latin typeface="Arial"/>
                <a:ea typeface="Malgun Gothic"/>
                <a:cs typeface="Malgun Gothic"/>
              </a:rPr>
              <a:t>다. GuidancePlanner의 Dijkstra 경로에서 "앞 구간의 남은 길이"를 </a:t>
            </a:r>
            <a:r>
              <a:rPr sz="1050" b="0" i="0">
                <a:solidFill>
                  <a:srgbClr val="16213A"/>
                </a:solidFill>
                <a:latin typeface="Consolas"/>
                <a:ea typeface="Malgun Gothic"/>
                <a:cs typeface="Malgun Gothic"/>
              </a:rPr>
              <a:t>CostTerm</a:t>
            </a:r>
            <a:r>
              <a:rPr sz="1050" b="0" i="0">
                <a:solidFill>
                  <a:srgbClr val="16213A"/>
                </a:solidFill>
                <a:latin typeface="Arial"/>
                <a:ea typeface="Malgun Gothic"/>
                <a:cs typeface="Malgun Gothic"/>
              </a:rPr>
              <a:t>의 종단 항으로 두면, Planner D의 궤적이 짧게 끝나도 Controller가 목표 쪽 진행을 잃지 않는다. waypoint를 건너뛰는 규칙(논문의 중간 목표 갱신)은 Planner D에 subgoal을 넘길 때 그대로 쓸 수 있다.</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E. Controller — 학습 동역학과 추종 (참고)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E.7 Zeilinger 그룹 더 보기: 경로를 품은 MPC, 성능을 지키는 자동 튜닝, 실험 플랫폼</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73 / 183</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COAT-MPC — 튜닝하는 동안에도 성능이 문턱 아래로 떨어지지 않게 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arXiv:2503.07127</a:t>
            </a:r>
            <a:r>
              <a:rPr sz="1050" b="0" i="0">
                <a:solidFill>
                  <a:srgbClr val="16213A"/>
                </a:solidFill>
                <a:latin typeface="Arial"/>
                <a:ea typeface="Malgun Gothic"/>
                <a:cs typeface="Malgun Gothic"/>
              </a:rPr>
              <a:t>, Gassol Puigjaner·Prajapat·Carron·Krause·Zeilinger, IEEE RA-L 2025). E.6의 bayesopt4ros는 좋은 파라미터를 적은 시행으로 찾지만, 탐색 도중에 나쁜 파라미터를 시험하는 것은 막지 않는다. COAT-MPC는 폐루프 성능을 GP 사후분포로 두고, </a:t>
            </a:r>
            <a:r>
              <a:rPr sz="1050" b="1" i="0">
                <a:solidFill>
                  <a:srgbClr val="16213A"/>
                </a:solidFill>
                <a:latin typeface="Arial"/>
                <a:ea typeface="Malgun Gothic"/>
                <a:cs typeface="Malgun Gothic"/>
              </a:rPr>
              <a:t>성능이 정한 문턱 이상일 확률이 높은 영역 안에서만</a:t>
            </a:r>
            <a:r>
              <a:rPr sz="1050" b="0" i="0">
                <a:solidFill>
                  <a:srgbClr val="16213A"/>
                </a:solidFill>
                <a:latin typeface="Arial"/>
                <a:ea typeface="Malgun Gothic"/>
                <a:cs typeface="Malgun Gothic"/>
              </a:rPr>
              <a:t> 낙관적인 후보를 고른다. 문턱 제약은 임의로 높은 확률로 만족되고, 유한 시간 안에 최적 성능으로 수렴한다는 증명이 있다. 자율 경주에서 기존 베이즈 최적화보다 제약 위반과 누적 regret이 모두 작았다.</a:t>
            </a:r>
          </a:p>
        </p:txBody>
      </p:sp>
      <p:sp>
        <p:nvSpPr>
          <p:cNvPr id="6" name="TextBox 5"/>
          <p:cNvSpPr txBox="1"/>
          <p:nvPr/>
        </p:nvSpPr>
        <p:spPr>
          <a:xfrm>
            <a:off x="609600" y="219948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E.6에서 붙일 자리로 적은 </a:t>
            </a:r>
            <a:r>
              <a:rPr sz="1050" b="0" i="0">
                <a:solidFill>
                  <a:srgbClr val="16213A"/>
                </a:solidFill>
                <a:latin typeface="Consolas"/>
                <a:ea typeface="Malgun Gothic"/>
                <a:cs typeface="Malgun Gothic"/>
              </a:rPr>
              <a:t>TravMapBuilder</a:t>
            </a:r>
            <a:r>
              <a:rPr sz="1050" b="0" i="0">
                <a:solidFill>
                  <a:srgbClr val="16213A"/>
                </a:solidFill>
                <a:latin typeface="Arial"/>
                <a:ea typeface="Malgun Gothic"/>
                <a:cs typeface="Malgun Gothic"/>
              </a:rPr>
              <a:t>의 문턱값 튜닝(</a:t>
            </a:r>
            <a:r>
              <a:rPr sz="1050" b="0" i="0">
                <a:solidFill>
                  <a:srgbClr val="16213A"/>
                </a:solidFill>
                <a:latin typeface="Consolas"/>
                <a:ea typeface="Malgun Gothic"/>
                <a:cs typeface="Malgun Gothic"/>
              </a:rPr>
              <a:t>shadow_depth_m</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shadow_evidence_m</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shadow_margin_m</a:t>
            </a:r>
            <a:r>
              <a:rPr sz="1050" b="0" i="0">
                <a:solidFill>
                  <a:srgbClr val="16213A"/>
                </a:solidFill>
                <a:latin typeface="Arial"/>
                <a:ea typeface="Malgun Gothic"/>
                <a:cs typeface="Malgun Gothic"/>
              </a:rPr>
              <a:t>)은 목적이 둘로 갈린다. 오탐 셀 수는 줄이고, 포트홀 치명 재현율은 지켜야 한다. </a:t>
            </a:r>
            <a:r>
              <a:rPr sz="1050" b="1" i="0">
                <a:solidFill>
                  <a:srgbClr val="C2410C"/>
                </a:solidFill>
                <a:latin typeface="Arial"/>
                <a:ea typeface="Malgun Gothic"/>
                <a:cs typeface="Malgun Gothic"/>
              </a:rPr>
              <a:t>COAT-MPC의 형식은 이 요구와 정확히 맞는다.</a:t>
            </a:r>
            <a:r>
              <a:rPr sz="1050" b="0" i="0">
                <a:solidFill>
                  <a:srgbClr val="16213A"/>
                </a:solidFill>
                <a:latin typeface="Arial"/>
                <a:ea typeface="Malgun Gothic"/>
                <a:cs typeface="Malgun Gothic"/>
              </a:rPr>
              <a:t> 목적 함수는 오탐 셀 수, 제약은 "치명 재현율 ≥ 0.88(TP-0067 값)"으로 두면 된다. 튜닝 중에 재현율을 깎는 후보를 시험하지 않으므로, 벤치마크 시행을 버리지 않는다. TP-0067에서 사람이 네 번 실패하고 다섯 번째에 통과한 과정이 이 탐색의 대상이다.</a:t>
            </a:r>
          </a:p>
        </p:txBody>
      </p:sp>
      <p:sp>
        <p:nvSpPr>
          <p:cNvPr id="7" name="TextBox 6"/>
          <p:cNvSpPr txBox="1"/>
          <p:nvPr/>
        </p:nvSpPr>
        <p:spPr>
          <a:xfrm>
            <a:off x="609600" y="293786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예측 안전 필터를 실물 경주에 올린 연구</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arXiv:2102.11907</a:t>
            </a:r>
            <a:r>
              <a:rPr sz="1050" b="0" i="0">
                <a:solidFill>
                  <a:srgbClr val="16213A"/>
                </a:solidFill>
                <a:latin typeface="Arial"/>
                <a:ea typeface="Malgun Gothic"/>
                <a:cs typeface="Malgun Gothic"/>
              </a:rPr>
              <a:t>, Tearle·Wabersich·Carron·Zeilinger, IEEE RA-L 2021)도 같은 그룹이다. C.4의 예측 안전 필터를 학습 기반 경주 제어기 뒤에 붙여 소형 차량에서 돌렸다. C.4의 이론이 실시간 차량에서 돈다는 근거로 기록해 둔다.</a:t>
            </a:r>
          </a:p>
        </p:txBody>
      </p:sp>
      <p:sp>
        <p:nvSpPr>
          <p:cNvPr id="8" name="TextBox 7"/>
          <p:cNvSpPr txBox="1"/>
          <p:nvPr/>
        </p:nvSpPr>
        <p:spPr>
          <a:xfrm>
            <a:off x="609600" y="3459758"/>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Chronos·CRS — 이 그룹 실험이 돌아가는 소형 차량과 소프트웨어</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arXiv:2209.12048</a:t>
            </a:r>
            <a:r>
              <a:rPr sz="1050" b="0" i="0">
                <a:solidFill>
                  <a:srgbClr val="16213A"/>
                </a:solidFill>
                <a:latin typeface="Arial"/>
                <a:ea typeface="Malgun Gothic"/>
                <a:cs typeface="Malgun Gothic"/>
              </a:rPr>
              <a:t>, Carron 외, ICRA 2023, </a:t>
            </a:r>
            <a:r>
              <a:rPr sz="1050" b="0" i="0">
                <a:solidFill>
                  <a:srgbClr val="1D4ED8"/>
                </a:solidFill>
                <a:latin typeface="Arial"/>
                <a:ea typeface="Malgun Gothic"/>
                <a:cs typeface="Malgun Gothic"/>
                <a:hlinkClick r:id="rId6"/>
              </a:rPr>
              <a:t>코드</a:t>
            </a:r>
            <a:r>
              <a:rPr sz="1050" b="0" i="0">
                <a:solidFill>
                  <a:srgbClr val="16213A"/>
                </a:solidFill>
                <a:latin typeface="Arial"/>
                <a:ea typeface="Malgun Gothic"/>
                <a:cs typeface="Malgun Gothic"/>
              </a:rPr>
              <a:t>, BSD-2-Clause). Chronos는 전자부를 공개한 1:28 차량이고, CRS는 시스템 식별·상태 추정· MPC·다중 에이전트 조정을 한 틀에 넣은 소프트웨어다. 위의 경로를 품은 MPC, E.6의 문맥 베이즈 최적화, 이 절의 안전 필터 실험이 모두 이 플랫폼에서 나왔다. travplan에는 직접 쓸 코드가 아니다. 다만 "같은 소형 플랫폼 위에서 식별·추정·제어를 한 저장소로 반복한다"는 운영 방식은 P1 Isaac 폐루프를 실물로 옮길 때 참고할 값이 있다.</a:t>
            </a:r>
          </a:p>
        </p:txBody>
      </p:sp>
      <p:sp>
        <p:nvSpPr>
          <p:cNvPr id="9" name="TextBox 8"/>
          <p:cNvSpPr txBox="1"/>
          <p:nvPr/>
        </p:nvSpPr>
        <p:spPr>
          <a:xfrm>
            <a:off x="609600" y="419814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공개 코드(2026-09, GitHub 별).</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7"/>
              </a:rPr>
              <a:t>ClutteredEnvironment</a:t>
            </a:r>
            <a:r>
              <a:rPr sz="1050" b="0" i="0">
                <a:solidFill>
                  <a:srgbClr val="16213A"/>
                </a:solidFill>
                <a:latin typeface="Arial"/>
                <a:ea typeface="Malgun Gothic"/>
                <a:cs typeface="Malgun Gothic"/>
              </a:rPr>
              <a:t> 143, </a:t>
            </a:r>
            <a:r>
              <a:rPr sz="1050" b="0" i="0">
                <a:solidFill>
                  <a:srgbClr val="1D4ED8"/>
                </a:solidFill>
                <a:latin typeface="Arial"/>
                <a:ea typeface="Malgun Gothic"/>
                <a:cs typeface="Malgun Gothic"/>
                <a:hlinkClick r:id="rId8"/>
              </a:rPr>
              <a:t>l4acados</a:t>
            </a:r>
            <a:r>
              <a:rPr sz="1050" b="0" i="0">
                <a:solidFill>
                  <a:srgbClr val="16213A"/>
                </a:solidFill>
                <a:latin typeface="Arial"/>
                <a:ea typeface="Malgun Gothic"/>
                <a:cs typeface="Malgun Gothic"/>
              </a:rPr>
              <a:t> 94, </a:t>
            </a:r>
            <a:r>
              <a:rPr sz="1050" b="0" i="0">
                <a:solidFill>
                  <a:srgbClr val="1D4ED8"/>
                </a:solidFill>
                <a:latin typeface="Arial"/>
                <a:ea typeface="Malgun Gothic"/>
                <a:cs typeface="Malgun Gothic"/>
                <a:hlinkClick r:id="rId9"/>
              </a:rPr>
              <a:t>ampyc</a:t>
            </a:r>
            <a:r>
              <a:rPr sz="1050" b="0" i="0">
                <a:solidFill>
                  <a:srgbClr val="16213A"/>
                </a:solidFill>
                <a:latin typeface="Arial"/>
                <a:ea typeface="Malgun Gothic"/>
                <a:cs typeface="Malgun Gothic"/>
              </a:rPr>
              <a:t> 32, </a:t>
            </a:r>
            <a:r>
              <a:rPr sz="1050" b="0" i="0">
                <a:solidFill>
                  <a:srgbClr val="1D4ED8"/>
                </a:solidFill>
                <a:latin typeface="Arial"/>
                <a:ea typeface="Malgun Gothic"/>
                <a:cs typeface="Malgun Gothic"/>
                <a:hlinkClick r:id="rId10"/>
              </a:rPr>
              <a:t>bayesopt4ros</a:t>
            </a:r>
            <a:r>
              <a:rPr sz="1050" b="0" i="0">
                <a:solidFill>
                  <a:srgbClr val="16213A"/>
                </a:solidFill>
                <a:latin typeface="Arial"/>
                <a:ea typeface="Malgun Gothic"/>
                <a:cs typeface="Malgun Gothic"/>
              </a:rPr>
              <a:t> 19, </a:t>
            </a:r>
            <a:r>
              <a:rPr sz="1050" b="0" i="0">
                <a:solidFill>
                  <a:srgbClr val="1D4ED8"/>
                </a:solidFill>
                <a:latin typeface="Arial"/>
                <a:ea typeface="Malgun Gothic"/>
                <a:cs typeface="Malgun Gothic"/>
                <a:hlinkClick r:id="rId6"/>
              </a:rPr>
              <a:t>crs</a:t>
            </a:r>
            <a:r>
              <a:rPr sz="1050" b="0" i="0">
                <a:solidFill>
                  <a:srgbClr val="16213A"/>
                </a:solidFill>
                <a:latin typeface="Arial"/>
                <a:ea typeface="Malgun Gothic"/>
                <a:cs typeface="Malgun Gothic"/>
              </a:rPr>
              <a:t> 5. COAT-MPC의 코드 공개는 확인하지 못했다.</a:t>
            </a:r>
          </a:p>
        </p:txBody>
      </p:sp>
      <p:sp>
        <p:nvSpPr>
          <p:cNvPr id="10" name="TextBox 9"/>
          <p:cNvSpPr txBox="1"/>
          <p:nvPr/>
        </p:nvSpPr>
        <p:spPr>
          <a:xfrm>
            <a:off x="609600" y="4503539"/>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정리: 이 그룹에서 travplan이 가져올 순서.</a:t>
            </a:r>
            <a:r>
              <a:rPr sz="1050" b="0" i="0">
                <a:solidFill>
                  <a:srgbClr val="16213A"/>
                </a:solidFill>
                <a:latin typeface="Arial"/>
                <a:ea typeface="Malgun Gothic"/>
                <a:cs typeface="Malgun Gothic"/>
              </a:rPr>
              <a:t> 첫째, TP-0068·TP-0069의 GP 잔차와 σ 제약 조이기(E.5, </a:t>
            </a:r>
            <a:r>
              <a:rPr sz="1050" b="0" i="0">
                <a:solidFill>
                  <a:srgbClr val="16213A"/>
                </a:solidFill>
                <a:latin typeface="Consolas"/>
                <a:ea typeface="Malgun Gothic"/>
                <a:cs typeface="Malgun Gothic"/>
              </a:rPr>
              <a:t>docs/design-gp-dynamics.md</a:t>
            </a:r>
            <a:r>
              <a:rPr sz="1050" b="0" i="0">
                <a:solidFill>
                  <a:srgbClr val="16213A"/>
                </a:solidFill>
                <a:latin typeface="Arial"/>
                <a:ea typeface="Malgun Gothic"/>
                <a:cs typeface="Malgun Gothic"/>
              </a:rPr>
              <a:t>). 둘째, </a:t>
            </a:r>
            <a:r>
              <a:rPr sz="1050" b="0" i="0">
                <a:solidFill>
                  <a:srgbClr val="16213A"/>
                </a:solidFill>
                <a:latin typeface="Consolas"/>
                <a:ea typeface="Malgun Gothic"/>
                <a:cs typeface="Malgun Gothic"/>
              </a:rPr>
              <a:t>TravMapBuilder</a:t>
            </a:r>
            <a:r>
              <a:rPr sz="1050" b="0" i="0">
                <a:solidFill>
                  <a:srgbClr val="16213A"/>
                </a:solidFill>
                <a:latin typeface="Arial"/>
                <a:ea typeface="Malgun Gothic"/>
                <a:cs typeface="Malgun Gothic"/>
              </a:rPr>
              <a:t> 문턱값을 COAT-MPC 형식으로 자동 튜닝한다. 셋째, Dijkstra 경로의 남은 길이를 Controller 종단 비용으로 넣는 구조를 Planner D 멈춤 대책의 후보로 둔다. 같은 층에서 다리 로봇 쪽이 푼 방식, 즉 학습 동역학에 실패 확률을 붙여 MPPI에 넣는 방식은 Planner 문서 B.14(ETH RSL)에 있다.</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E. Controller — 학습 동역학과 추종 (참고)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E.8 GP와 희소 GP: 잔차 모델의 선택지</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74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E.5–E.7이 "보장을 어떻게 만드나"였다면 이 절은 그 보장의 재료인 잔차 모델 자체다.</a:t>
            </a:r>
            <a:r>
              <a:rPr sz="1050" b="0" i="0">
                <a:solidFill>
                  <a:srgbClr val="16213A"/>
                </a:solidFill>
                <a:latin typeface="Arial"/>
                <a:ea typeface="Malgun Gothic"/>
                <a:cs typeface="Malgun Gothic"/>
              </a:rPr>
              <a:t> travplan이 실제로 구현하고 재 본 결과는 MPC 문서 M.3.6·M.3.8에 있고, 여기에는 계보와 고를 때 보는 축을 적는다.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계보는 세 갈래다.</a:t>
            </a:r>
          </a:p>
        </p:txBody>
      </p:sp>
      <p:graphicFrame>
        <p:nvGraphicFramePr>
          <p:cNvPr id="7" name="Table 6"/>
          <p:cNvGraphicFramePr>
            <a:graphicFrameLocks noGrp="1"/>
          </p:cNvGraphicFramePr>
          <p:nvPr/>
        </p:nvGraphicFramePr>
        <p:xfrm>
          <a:off x="609600" y="2071886"/>
          <a:ext cx="10966450" cy="788352"/>
        </p:xfrm>
        <a:graphic>
          <a:graphicData uri="http://schemas.openxmlformats.org/drawingml/2006/table">
            <a:tbl>
              <a:tblPr firstRow="1" bandRow="1">
                <a:tableStyleId>{5C22544A-7EE6-4342-B048-85BDC9FD1C3A}</a:tableStyleId>
              </a:tblPr>
              <a:tblGrid>
                <a:gridCol w="1840607"/>
                <a:gridCol w="3517305"/>
                <a:gridCol w="3040459"/>
                <a:gridCol w="2568079"/>
              </a:tblGrid>
              <a:tr h="197088">
                <a:tc>
                  <a:txBody>
                    <a:bodyPr wrap="square"/>
                    <a:lstStyle/>
                    <a:p>
                      <a:r>
                        <a:rPr sz="800" b="1" i="0">
                          <a:solidFill>
                            <a:srgbClr val="F4F1EA"/>
                          </a:solidFill>
                          <a:latin typeface="Arial"/>
                          <a:ea typeface="Malgun Gothic"/>
                          <a:cs typeface="Malgun Gothic"/>
                        </a:rPr>
                        <a:t>갈래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대표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하는 일</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비용</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정확 GP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Rasmussen·Williams</a:t>
                      </a:r>
                    </a:p>
                  </a:txBody>
                  <a:tcPr marL="63500" marR="63500" marT="12700" marB="12700">
                    <a:solidFill>
                      <a:srgbClr val="FFFDF8"/>
                    </a:solidFill>
                  </a:tcPr>
                </a:tc>
                <a:tc>
                  <a:txBody>
                    <a:bodyPr wrap="square"/>
                    <a:lstStyle/>
                    <a:p>
                      <a:r>
                        <a:rPr sz="800" b="0" i="1">
                          <a:solidFill>
                            <a:srgbClr val="16213A"/>
                          </a:solidFill>
                          <a:latin typeface="Arial"/>
                          <a:ea typeface="Malgun Gothic"/>
                          <a:cs typeface="Malgun Gothic"/>
                        </a:rPr>
                        <a:t>K⁻¹</a:t>
                      </a:r>
                      <a:r>
                        <a:rPr sz="800" b="0" i="0">
                          <a:solidFill>
                            <a:srgbClr val="16213A"/>
                          </a:solidFill>
                          <a:latin typeface="Arial"/>
                          <a:ea typeface="Malgun Gothic"/>
                          <a:cs typeface="Malgun Gothic"/>
                        </a:rPr>
                        <a:t>을 그대로 푼다</a:t>
                      </a:r>
                    </a:p>
                  </a:txBody>
                  <a:tcPr marL="63500" marR="63500" marT="12700" marB="12700">
                    <a:solidFill>
                      <a:srgbClr val="FFFDF8"/>
                    </a:solidFill>
                  </a:tcPr>
                </a:tc>
                <a:tc>
                  <a:txBody>
                    <a:bodyPr wrap="square"/>
                    <a:lstStyle/>
                    <a:p>
                      <a:r>
                        <a:rPr sz="800" b="0" i="1">
                          <a:solidFill>
                            <a:srgbClr val="16213A"/>
                          </a:solidFill>
                          <a:latin typeface="Arial"/>
                          <a:ea typeface="Malgun Gothic"/>
                          <a:cs typeface="Malgun Gothic"/>
                        </a:rPr>
                        <a:t>O(n³)</a:t>
                      </a:r>
                      <a:r>
                        <a:rPr sz="800" b="0" i="0">
                          <a:solidFill>
                            <a:srgbClr val="16213A"/>
                          </a:solidFill>
                          <a:latin typeface="Arial"/>
                          <a:ea typeface="Malgun Gothic"/>
                          <a:cs typeface="Malgun Gothic"/>
                        </a:rPr>
                        <a:t> 학습, </a:t>
                      </a:r>
                      <a:r>
                        <a:rPr sz="800" b="0" i="1">
                          <a:solidFill>
                            <a:srgbClr val="16213A"/>
                          </a:solidFill>
                          <a:latin typeface="Arial"/>
                          <a:ea typeface="Malgun Gothic"/>
                          <a:cs typeface="Malgun Gothic"/>
                        </a:rPr>
                        <a:t>O(n)</a:t>
                      </a:r>
                      <a:r>
                        <a:rPr sz="800" b="0" i="0">
                          <a:solidFill>
                            <a:srgbClr val="16213A"/>
                          </a:solidFill>
                          <a:latin typeface="Arial"/>
                          <a:ea typeface="Malgun Gothic"/>
                          <a:cs typeface="Malgun Gothic"/>
                        </a:rPr>
                        <a:t>/</a:t>
                      </a:r>
                      <a:r>
                        <a:rPr sz="800" b="0" i="1">
                          <a:solidFill>
                            <a:srgbClr val="16213A"/>
                          </a:solidFill>
                          <a:latin typeface="Arial"/>
                          <a:ea typeface="Malgun Gothic"/>
                          <a:cs typeface="Malgun Gothic"/>
                        </a:rPr>
                        <a:t>O(n²)</a:t>
                      </a:r>
                      <a:r>
                        <a:rPr sz="800" b="0" i="0">
                          <a:solidFill>
                            <a:srgbClr val="16213A"/>
                          </a:solidFill>
                          <a:latin typeface="Arial"/>
                          <a:ea typeface="Malgun Gothic"/>
                          <a:cs typeface="Malgun Gothic"/>
                        </a:rPr>
                        <a:t> 예측</a:t>
                      </a:r>
                    </a:p>
                  </a:txBody>
                  <a:tcPr marL="63500" marR="63500" marT="12700" marB="12700">
                    <a:solidFill>
                      <a:srgbClr val="FFFDF8"/>
                    </a:solidFill>
                  </a:tcPr>
                </a:tc>
              </a:tr>
              <a:tr h="197088">
                <a:tc>
                  <a:txBody>
                    <a:bodyPr wrap="square"/>
                    <a:lstStyle/>
                    <a:p>
                      <a:r>
                        <a:rPr sz="800" b="1" i="0">
                          <a:solidFill>
                            <a:srgbClr val="16213A"/>
                          </a:solidFill>
                          <a:latin typeface="Arial"/>
                          <a:ea typeface="Malgun Gothic"/>
                          <a:cs typeface="Malgun Gothic"/>
                        </a:rPr>
                        <a:t>유도점(inducing point)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DTC·FITC → </a:t>
                      </a:r>
                      <a:r>
                        <a:rPr sz="800" b="0" i="0">
                          <a:solidFill>
                            <a:srgbClr val="1D4ED8"/>
                          </a:solidFill>
                          <a:latin typeface="Arial"/>
                          <a:ea typeface="Malgun Gothic"/>
                          <a:cs typeface="Malgun Gothic"/>
                          <a:hlinkClick r:id="rId3"/>
                        </a:rPr>
                        <a:t>Titsias 2009</a:t>
                      </a:r>
                      <a:r>
                        <a:rPr sz="800" b="0" i="0">
                          <a:solidFill>
                            <a:srgbClr val="16213A"/>
                          </a:solidFill>
                          <a:latin typeface="Arial"/>
                          <a:ea typeface="Malgun Gothic"/>
                          <a:cs typeface="Malgun Gothic"/>
                        </a:rPr>
                        <a:t> VFE → Hensman SVGP</a:t>
                      </a:r>
                    </a:p>
                  </a:txBody>
                  <a:tcPr marL="63500" marR="63500" marT="12700" marB="12700">
                    <a:solidFill>
                      <a:srgbClr val="F3F0E8"/>
                    </a:solidFill>
                  </a:tcPr>
                </a:tc>
                <a:tc>
                  <a:txBody>
                    <a:bodyPr wrap="square"/>
                    <a:lstStyle/>
                    <a:p>
                      <a:r>
                        <a:rPr sz="800" b="0" i="1">
                          <a:solidFill>
                            <a:srgbClr val="16213A"/>
                          </a:solidFill>
                          <a:latin typeface="Arial"/>
                          <a:ea typeface="Malgun Gothic"/>
                          <a:cs typeface="Malgun Gothic"/>
                        </a:rPr>
                        <a:t>m ≪ n</a:t>
                      </a:r>
                      <a:r>
                        <a:rPr sz="800" b="0" i="0">
                          <a:solidFill>
                            <a:srgbClr val="16213A"/>
                          </a:solidFill>
                          <a:latin typeface="Arial"/>
                          <a:ea typeface="Malgun Gothic"/>
                          <a:cs typeface="Malgun Gothic"/>
                        </a:rPr>
                        <a:t>개의 가상 입력으로 사후분포를 요약</a:t>
                      </a:r>
                    </a:p>
                  </a:txBody>
                  <a:tcPr marL="63500" marR="63500" marT="12700" marB="12700">
                    <a:solidFill>
                      <a:srgbClr val="F3F0E8"/>
                    </a:solidFill>
                  </a:tcPr>
                </a:tc>
                <a:tc>
                  <a:txBody>
                    <a:bodyPr wrap="square"/>
                    <a:lstStyle/>
                    <a:p>
                      <a:r>
                        <a:rPr sz="800" b="0" i="1">
                          <a:solidFill>
                            <a:srgbClr val="16213A"/>
                          </a:solidFill>
                          <a:latin typeface="Arial"/>
                          <a:ea typeface="Malgun Gothic"/>
                          <a:cs typeface="Malgun Gothic"/>
                        </a:rPr>
                        <a:t>O(nm²)</a:t>
                      </a:r>
                      <a:r>
                        <a:rPr sz="800" b="0" i="0">
                          <a:solidFill>
                            <a:srgbClr val="16213A"/>
                          </a:solidFill>
                          <a:latin typeface="Arial"/>
                          <a:ea typeface="Malgun Gothic"/>
                          <a:cs typeface="Malgun Gothic"/>
                        </a:rPr>
                        <a:t>, 예측 </a:t>
                      </a:r>
                      <a:r>
                        <a:rPr sz="800" b="0" i="1">
                          <a:solidFill>
                            <a:srgbClr val="16213A"/>
                          </a:solidFill>
                          <a:latin typeface="Arial"/>
                          <a:ea typeface="Malgun Gothic"/>
                          <a:cs typeface="Malgun Gothic"/>
                        </a:rPr>
                        <a:t>O(m)</a:t>
                      </a:r>
                      <a:r>
                        <a:rPr sz="800" b="0" i="0">
                          <a:solidFill>
                            <a:srgbClr val="16213A"/>
                          </a:solidFill>
                          <a:latin typeface="Arial"/>
                          <a:ea typeface="Malgun Gothic"/>
                          <a:cs typeface="Malgun Gothic"/>
                        </a:rPr>
                        <a:t>/</a:t>
                      </a:r>
                      <a:r>
                        <a:rPr sz="800" b="0" i="1">
                          <a:solidFill>
                            <a:srgbClr val="16213A"/>
                          </a:solidFill>
                          <a:latin typeface="Arial"/>
                          <a:ea typeface="Malgun Gothic"/>
                          <a:cs typeface="Malgun Gothic"/>
                        </a:rPr>
                        <a:t>O(m²)</a:t>
                      </a:r>
                    </a:p>
                  </a:txBody>
                  <a:tcPr marL="63500" marR="63500" marT="12700" marB="12700">
                    <a:solidFill>
                      <a:srgbClr val="F3F0E8"/>
                    </a:solidFill>
                  </a:tcPr>
                </a:tc>
              </a:tr>
              <a:tr h="197088">
                <a:tc>
                  <a:txBody>
                    <a:bodyPr wrap="square"/>
                    <a:lstStyle/>
                    <a:p>
                      <a:r>
                        <a:rPr sz="800" b="1" i="0">
                          <a:solidFill>
                            <a:srgbClr val="16213A"/>
                          </a:solidFill>
                          <a:latin typeface="Arial"/>
                          <a:ea typeface="Malgun Gothic"/>
                          <a:cs typeface="Malgun Gothic"/>
                        </a:rPr>
                        <a:t>유한 기저(random features)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Rahimi-Recht, Lázaro-Gredilla 2010 (sparse spectrum)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커널을 </a:t>
                      </a:r>
                      <a:r>
                        <a:rPr sz="800" b="0" i="1">
                          <a:solidFill>
                            <a:srgbClr val="16213A"/>
                          </a:solidFill>
                          <a:latin typeface="Arial"/>
                          <a:ea typeface="Malgun Gothic"/>
                          <a:cs typeface="Malgun Gothic"/>
                        </a:rPr>
                        <a:t>D</a:t>
                      </a:r>
                      <a:r>
                        <a:rPr sz="800" b="0" i="0">
                          <a:solidFill>
                            <a:srgbClr val="16213A"/>
                          </a:solidFill>
                          <a:latin typeface="Arial"/>
                          <a:ea typeface="Malgun Gothic"/>
                          <a:cs typeface="Malgun Gothic"/>
                        </a:rPr>
                        <a:t>차원 특징 사상으로 바꿔 베이즈 선형회귀로</a:t>
                      </a:r>
                    </a:p>
                  </a:txBody>
                  <a:tcPr marL="63500" marR="63500" marT="12700" marB="12700">
                    <a:solidFill>
                      <a:srgbClr val="FFFDF8"/>
                    </a:solidFill>
                  </a:tcPr>
                </a:tc>
                <a:tc>
                  <a:txBody>
                    <a:bodyPr wrap="square"/>
                    <a:lstStyle/>
                    <a:p>
                      <a:r>
                        <a:rPr sz="800" b="0" i="1">
                          <a:solidFill>
                            <a:srgbClr val="16213A"/>
                          </a:solidFill>
                          <a:latin typeface="Arial"/>
                          <a:ea typeface="Malgun Gothic"/>
                          <a:cs typeface="Malgun Gothic"/>
                        </a:rPr>
                        <a:t>O(D³)</a:t>
                      </a:r>
                      <a:r>
                        <a:rPr sz="800" b="0" i="0">
                          <a:solidFill>
                            <a:srgbClr val="16213A"/>
                          </a:solidFill>
                          <a:latin typeface="Arial"/>
                          <a:ea typeface="Malgun Gothic"/>
                          <a:cs typeface="Malgun Gothic"/>
                        </a:rPr>
                        <a:t> 한 번, 예측 </a:t>
                      </a:r>
                      <a:r>
                        <a:rPr sz="800" b="1" i="1">
                          <a:solidFill>
                            <a:srgbClr val="16213A"/>
                          </a:solidFill>
                          <a:latin typeface="Arial"/>
                          <a:ea typeface="Malgun Gothic"/>
                          <a:cs typeface="Malgun Gothic"/>
                        </a:rPr>
                        <a:t>O(D)</a:t>
                      </a:r>
                      <a:r>
                        <a:rPr sz="800" b="1" i="0">
                          <a:solidFill>
                            <a:srgbClr val="16213A"/>
                          </a:solidFill>
                          <a:latin typeface="Arial"/>
                          <a:ea typeface="Malgun Gothic"/>
                          <a:cs typeface="Malgun Gothic"/>
                        </a:rPr>
                        <a:t>, 데이터 양과 무관</a:t>
                      </a:r>
                    </a:p>
                  </a:txBody>
                  <a:tcPr marL="63500" marR="63500" marT="12700" marB="12700">
                    <a:solidFill>
                      <a:srgbClr val="FFFDF8"/>
                    </a:solidFill>
                  </a:tcPr>
                </a:tc>
              </a:tr>
            </a:tbl>
          </a:graphicData>
        </a:graphic>
      </p:graphicFrame>
      <p:sp>
        <p:nvSpPr>
          <p:cNvPr id="8" name="TextBox 7"/>
          <p:cNvSpPr txBox="1"/>
          <p:nvPr/>
        </p:nvSpPr>
        <p:spPr>
          <a:xfrm>
            <a:off x="609600" y="31525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유도점 계열에서 갈리는 지점은 보정 방향이다.</a:t>
            </a:r>
            <a:r>
              <a:rPr sz="1050" b="0" i="0">
                <a:solidFill>
                  <a:srgbClr val="16213A"/>
                </a:solidFill>
                <a:latin typeface="Arial"/>
                <a:ea typeface="Malgun Gothic"/>
                <a:cs typeface="Malgun Gothic"/>
              </a:rPr>
              <a:t> FITC는 잡음을 입력에 따라 다르게 잡을 수 있어 </a:t>
            </a:r>
            <a:r>
              <a:rPr sz="1050" b="1" i="0">
                <a:solidFill>
                  <a:srgbClr val="16213A"/>
                </a:solidFill>
                <a:latin typeface="Arial"/>
                <a:ea typeface="Malgun Gothic"/>
                <a:cs typeface="Malgun Gothic"/>
              </a:rPr>
              <a:t>잡음을 과소평가하고 과신하는</a:t>
            </a:r>
            <a:r>
              <a:rPr sz="1050" b="0" i="0">
                <a:solidFill>
                  <a:srgbClr val="16213A"/>
                </a:solidFill>
                <a:latin typeface="Arial"/>
                <a:ea typeface="Malgun Gothic"/>
                <a:cs typeface="Malgun Gothic"/>
              </a:rPr>
              <a:t> 쪽으로 틀리고, Titsias의 VFE는 참 사후분포와의 KL을 줄이는 하한을 올리므로 </a:t>
            </a:r>
            <a:r>
              <a:rPr sz="1050" b="1" i="0">
                <a:solidFill>
                  <a:srgbClr val="16213A"/>
                </a:solidFill>
                <a:latin typeface="Arial"/>
                <a:ea typeface="Malgun Gothic"/>
                <a:cs typeface="Malgun Gothic"/>
              </a:rPr>
              <a:t>보수적으로</a:t>
            </a:r>
            <a:r>
              <a:rPr sz="1050" b="0" i="0">
                <a:solidFill>
                  <a:srgbClr val="16213A"/>
                </a:solidFill>
                <a:latin typeface="Arial"/>
                <a:ea typeface="Malgun Gothic"/>
                <a:cs typeface="Malgun Gothic"/>
              </a:rPr>
              <a:t> 틀린다. 이 차이를 실험으로 정리한 것이 </a:t>
            </a:r>
            <a:r>
              <a:rPr sz="1050" b="0" i="0">
                <a:solidFill>
                  <a:srgbClr val="1D4ED8"/>
                </a:solidFill>
                <a:latin typeface="Arial"/>
                <a:ea typeface="Malgun Gothic"/>
                <a:cs typeface="Malgun Gothic"/>
                <a:hlinkClick r:id="rId4"/>
              </a:rPr>
              <a:t>arXiv:1606.04820</a:t>
            </a:r>
            <a:r>
              <a:rPr sz="1050" b="0" i="0">
                <a:solidFill>
                  <a:srgbClr val="16213A"/>
                </a:solidFill>
                <a:latin typeface="Arial"/>
                <a:ea typeface="Malgun Gothic"/>
                <a:cs typeface="Malgun Gothic"/>
              </a:rPr>
              <a:t>(Bauer·van der Wilk·Rasmussen)이다. </a:t>
            </a:r>
            <a:r>
              <a:rPr sz="1050" b="1" i="0">
                <a:solidFill>
                  <a:srgbClr val="C2410C"/>
                </a:solidFill>
                <a:latin typeface="Arial"/>
                <a:ea typeface="Malgun Gothic"/>
                <a:cs typeface="Malgun Gothic"/>
              </a:rPr>
              <a:t>안전에 쓰는 분산이라면 과신하는 근사를 고르면 안 된다.</a:t>
            </a:r>
          </a:p>
        </p:txBody>
      </p:sp>
      <p:sp>
        <p:nvSpPr>
          <p:cNvPr id="9" name="TextBox 8"/>
          <p:cNvSpPr txBox="1"/>
          <p:nvPr/>
        </p:nvSpPr>
        <p:spPr>
          <a:xfrm>
            <a:off x="609600" y="367446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온라인·스트리밍.</a:t>
            </a:r>
            <a:r>
              <a:rPr sz="1050" b="0" i="0">
                <a:solidFill>
                  <a:srgbClr val="16213A"/>
                </a:solidFill>
                <a:latin typeface="Arial"/>
                <a:ea typeface="Malgun Gothic"/>
                <a:cs typeface="Malgun Gothic"/>
              </a:rPr>
              <a:t> 제어에서는 데이터가 계속 들어온다. 고정 예산으로 활성 집합을 관리하는 원조가 Csató·Opper의 sparse online GP(Neural Computation 2002)이고, 여기에 하이퍼파라미터 갱신까지 변분으로 묶은 것이 </a:t>
            </a:r>
            <a:r>
              <a:rPr sz="1050" b="0" i="0">
                <a:solidFill>
                  <a:srgbClr val="1D4ED8"/>
                </a:solidFill>
                <a:latin typeface="Arial"/>
                <a:ea typeface="Malgun Gothic"/>
                <a:cs typeface="Malgun Gothic"/>
                <a:hlinkClick r:id="rId5"/>
              </a:rPr>
              <a:t>Streaming Sparse GP</a:t>
            </a:r>
            <a:r>
              <a:rPr sz="1050" b="0" i="0">
                <a:solidFill>
                  <a:srgbClr val="16213A"/>
                </a:solidFill>
                <a:latin typeface="Arial"/>
                <a:ea typeface="Malgun Gothic"/>
                <a:cs typeface="Malgun Gothic"/>
              </a:rPr>
              <a:t>(Bui·Nguyen·Turner, NeurIPS 2017)다. travplan이 쓰는 고정 크기 딕셔너리는 전자의 가장 단순한 형태다(M.3.6).</a:t>
            </a:r>
          </a:p>
        </p:txBody>
      </p:sp>
      <p:sp>
        <p:nvSpPr>
          <p:cNvPr id="10" name="TextBox 9"/>
          <p:cNvSpPr txBox="1"/>
          <p:nvPr/>
        </p:nvSpPr>
        <p:spPr>
          <a:xfrm>
            <a:off x="609600" y="419635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로봇 제어에서 실제로 쓰인 방식.</a:t>
            </a:r>
          </a:p>
        </p:txBody>
      </p:sp>
      <p:graphicFrame>
        <p:nvGraphicFramePr>
          <p:cNvPr id="11" name="Table 10"/>
          <p:cNvGraphicFramePr>
            <a:graphicFrameLocks noGrp="1"/>
          </p:cNvGraphicFramePr>
          <p:nvPr/>
        </p:nvGraphicFramePr>
        <p:xfrm>
          <a:off x="609600" y="4501753"/>
          <a:ext cx="10966449" cy="1182528"/>
        </p:xfrm>
        <a:graphic>
          <a:graphicData uri="http://schemas.openxmlformats.org/drawingml/2006/table">
            <a:tbl>
              <a:tblPr firstRow="1" bandRow="1">
                <a:tableStyleId>{5C22544A-7EE6-4342-B048-85BDC9FD1C3A}</a:tableStyleId>
              </a:tblPr>
              <a:tblGrid>
                <a:gridCol w="3487638"/>
                <a:gridCol w="3583384"/>
                <a:gridCol w="3895427"/>
              </a:tblGrid>
              <a:tr h="197088">
                <a:tc>
                  <a:txBody>
                    <a:bodyPr wrap="square"/>
                    <a:lstStyle/>
                    <a:p>
                      <a:r>
                        <a:rPr sz="800" b="1" i="0">
                          <a:solidFill>
                            <a:srgbClr val="F4F1EA"/>
                          </a:solidFill>
                          <a:latin typeface="Arial"/>
                          <a:ea typeface="Malgun Gothic"/>
                          <a:cs typeface="Malgun Gothic"/>
                        </a:rPr>
                        <a:t>연구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희소화</a:t>
                      </a:r>
                    </a:p>
                  </a:txBody>
                  <a:tcPr marL="63500" marR="63500" marT="12700" marB="12700">
                    <a:solidFill>
                      <a:srgbClr val="16213A"/>
                    </a:solidFill>
                  </a:tcPr>
                </a:tc>
              </a:tr>
              <a:tr h="197088">
                <a:tc>
                  <a:txBody>
                    <a:bodyPr wrap="square"/>
                    <a:lstStyle/>
                    <a:p>
                      <a:r>
                        <a:rPr sz="800" b="0" i="0">
                          <a:solidFill>
                            <a:srgbClr val="1D4ED8"/>
                          </a:solidFill>
                          <a:latin typeface="Arial"/>
                          <a:ea typeface="Malgun Gothic"/>
                          <a:cs typeface="Malgun Gothic"/>
                          <a:hlinkClick r:id="rId6"/>
                        </a:rPr>
                        <a:t>Data-Driven MPC for Quadrotors</a:t>
                      </a:r>
                      <a:r>
                        <a:rPr sz="800" b="0" i="0">
                          <a:solidFill>
                            <a:srgbClr val="16213A"/>
                          </a:solidFill>
                          <a:latin typeface="Arial"/>
                          <a:ea typeface="Malgun Gothic"/>
                          <a:cs typeface="Malgun Gothic"/>
                        </a:rPr>
                        <a:t> (RA-L 2021, UZH RPG)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공력 잔차를 GP로 배워 NMPC에 넣어 고속 추종 오차 </a:t>
                      </a:r>
                      <a:r>
                        <a:rPr sz="800" b="1" i="0">
                          <a:solidFill>
                            <a:srgbClr val="16213A"/>
                          </a:solidFill>
                          <a:latin typeface="Arial"/>
                          <a:ea typeface="Malgun Gothic"/>
                          <a:cs typeface="Malgun Gothic"/>
                        </a:rPr>
                        <a:t>70% 감소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400점에서 뽑은 </a:t>
                      </a:r>
                      <a:r>
                        <a:rPr sz="800" b="1" i="0">
                          <a:solidFill>
                            <a:srgbClr val="16213A"/>
                          </a:solidFill>
                          <a:latin typeface="Arial"/>
                          <a:ea typeface="Malgun Gothic"/>
                          <a:cs typeface="Malgun Gothic"/>
                        </a:rPr>
                        <a:t>유도점 20개</a:t>
                      </a:r>
                      <a:r>
                        <a:rPr sz="800" b="0" i="0">
                          <a:solidFill>
                            <a:srgbClr val="16213A"/>
                          </a:solidFill>
                          <a:latin typeface="Arial"/>
                          <a:ea typeface="Malgun Gothic"/>
                          <a:cs typeface="Malgun Gothic"/>
                        </a:rPr>
                        <a:t>. 15–25가 성능·계산의 최적 구간이었다</a:t>
                      </a:r>
                    </a:p>
                  </a:txBody>
                  <a:tcPr marL="63500" marR="63500" marT="12700" marB="12700">
                    <a:solidFill>
                      <a:srgbClr val="FFFDF8"/>
                    </a:solidFill>
                  </a:tcPr>
                </a:tc>
              </a:tr>
              <a:tr h="197088">
                <a:tc>
                  <a:txBody>
                    <a:bodyPr wrap="square"/>
                    <a:lstStyle/>
                    <a:p>
                      <a:r>
                        <a:rPr sz="800" b="0" i="0">
                          <a:solidFill>
                            <a:srgbClr val="1D4ED8"/>
                          </a:solidFill>
                          <a:latin typeface="Arial"/>
                          <a:ea typeface="Malgun Gothic"/>
                          <a:cs typeface="Malgun Gothic"/>
                          <a:hlinkClick r:id="rId7"/>
                        </a:rPr>
                        <a:t>Computationally Efficient Data-Driven MPC</a:t>
                      </a:r>
                      <a:r>
                        <a:rPr sz="800" b="0" i="0">
                          <a:solidFill>
                            <a:srgbClr val="16213A"/>
                          </a:solidFill>
                          <a:latin typeface="Arial"/>
                          <a:ea typeface="Malgun Gothic"/>
                          <a:cs typeface="Malgun Gothic"/>
                        </a:rPr>
                        <a:t> (2023)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위의 후속, 계산을 더 줄임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유도점</a:t>
                      </a:r>
                    </a:p>
                  </a:txBody>
                  <a:tcPr marL="63500" marR="63500" marT="12700" marB="12700">
                    <a:solidFill>
                      <a:srgbClr val="F3F0E8"/>
                    </a:solidFill>
                  </a:tcPr>
                </a:tc>
              </a:tr>
              <a:tr h="197088">
                <a:tc>
                  <a:txBody>
                    <a:bodyPr wrap="square"/>
                    <a:lstStyle/>
                    <a:p>
                      <a:r>
                        <a:rPr sz="800" b="0" i="0">
                          <a:solidFill>
                            <a:srgbClr val="1D4ED8"/>
                          </a:solidFill>
                          <a:latin typeface="Arial"/>
                          <a:ea typeface="Malgun Gothic"/>
                          <a:cs typeface="Malgun Gothic"/>
                          <a:hlinkClick r:id="rId8"/>
                        </a:rPr>
                        <a:t>GaPT</a:t>
                      </a:r>
                      <a:r>
                        <a:rPr sz="800" b="0" i="0">
                          <a:solidFill>
                            <a:srgbClr val="16213A"/>
                          </a:solidFill>
                          <a:latin typeface="Arial"/>
                          <a:ea typeface="Malgun Gothic"/>
                          <a:cs typeface="Malgun Gothic"/>
                        </a:rPr>
                        <a:t> (ICRA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온라인 회귀 툴킷, 쿼드로터 동역학</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스트리밍</a:t>
                      </a:r>
                    </a:p>
                  </a:txBody>
                  <a:tcPr marL="63500" marR="63500" marT="12700" marB="12700">
                    <a:solidFill>
                      <a:srgbClr val="FFFDF8"/>
                    </a:solidFill>
                  </a:tcPr>
                </a:tc>
              </a:tr>
              <a:tr h="197088">
                <a:tc>
                  <a:txBody>
                    <a:bodyPr wrap="square"/>
                    <a:lstStyle/>
                    <a:p>
                      <a:r>
                        <a:rPr sz="800" b="0" i="0">
                          <a:solidFill>
                            <a:srgbClr val="1D4ED8"/>
                          </a:solidFill>
                          <a:latin typeface="Arial"/>
                          <a:ea typeface="Malgun Gothic"/>
                          <a:cs typeface="Malgun Gothic"/>
                          <a:hlinkClick r:id="rId9"/>
                        </a:rPr>
                        <a:t>Multi-Sparse GP</a:t>
                      </a:r>
                      <a:r>
                        <a:rPr sz="800" b="0" i="0">
                          <a:solidFill>
                            <a:srgbClr val="16213A"/>
                          </a:solidFill>
                          <a:latin typeface="Arial"/>
                          <a:ea typeface="Malgun Gothic"/>
                          <a:cs typeface="Malgun Gothic"/>
                        </a:rPr>
                        <a:t> (2020)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반파라메트릭 제어(명목 + 잔차)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다중 희소 GP</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Cautious MPC (E.5)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GP 분산을 확률 제약으로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정확 GP + zero-order(E.6)</a:t>
                      </a:r>
                    </a:p>
                  </a:txBody>
                  <a:tcPr marL="63500" marR="63500" marT="12700" marB="12700">
                    <a:solidFill>
                      <a:srgbClr val="FFFDF8"/>
                    </a:solidFill>
                  </a:tcPr>
                </a:tc>
              </a:tr>
            </a:tbl>
          </a:graphicData>
        </a:graphic>
      </p:graphicFrame>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E. Controller — 학습 동역학과 추종 (참고)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E.8 GP와 희소 GP: 잔차 모델의 선택지</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75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쿼드로터 쪽 숫자가 특히 참고할 만하다 — </a:t>
            </a:r>
            <a:r>
              <a:rPr sz="1050" b="1" i="0">
                <a:solidFill>
                  <a:srgbClr val="C2410C"/>
                </a:solidFill>
                <a:latin typeface="Arial"/>
                <a:ea typeface="Malgun Gothic"/>
                <a:cs typeface="Malgun Gothic"/>
              </a:rPr>
              <a:t>유도점 20개</a:t>
            </a:r>
            <a:r>
              <a:rPr sz="1050" b="1" i="0">
                <a:solidFill>
                  <a:srgbClr val="C2410C"/>
                </a:solidFill>
                <a:latin typeface="Arial"/>
                <a:ea typeface="Malgun Gothic"/>
                <a:cs typeface="Malgun Gothic"/>
              </a:rPr>
              <a:t>로 실물 70% 개선을 냈다.</a:t>
            </a:r>
            <a:r>
              <a:rPr sz="1050" b="0" i="0">
                <a:solidFill>
                  <a:srgbClr val="16213A"/>
                </a:solidFill>
                <a:latin typeface="Arial"/>
                <a:ea typeface="Malgun Gothic"/>
                <a:cs typeface="Malgun Gothic"/>
              </a:rPr>
              <a:t> 잔차 모델은 크지 않아도 된다는 뜻이다.</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고를 때 보는 축은 넷이다.</a:t>
            </a:r>
            <a:r>
              <a:rPr sz="1050" b="0" i="0">
                <a:solidFill>
                  <a:srgbClr val="16213A"/>
                </a:solidFill>
                <a:latin typeface="Arial"/>
                <a:ea typeface="Malgun Gothic"/>
                <a:cs typeface="Malgun Gothic"/>
              </a:rPr>
              <a:t> 정확도, </a:t>
            </a:r>
            <a:r>
              <a:rPr sz="1050" b="1" i="0">
                <a:solidFill>
                  <a:srgbClr val="16213A"/>
                </a:solidFill>
                <a:latin typeface="Arial"/>
                <a:ea typeface="Malgun Gothic"/>
                <a:cs typeface="Malgun Gothic"/>
              </a:rPr>
              <a:t>보정 방향</a:t>
            </a:r>
            <a:r>
              <a:rPr sz="1050" b="0" i="0">
                <a:solidFill>
                  <a:srgbClr val="16213A"/>
                </a:solidFill>
                <a:latin typeface="Arial"/>
                <a:ea typeface="Malgun Gothic"/>
                <a:cs typeface="Malgun Gothic"/>
              </a:rPr>
              <a:t>(과신인가 보수인가), 갱신·예측 시간, 그리고 </a:t>
            </a:r>
            <a:r>
              <a:rPr sz="1050" b="1" i="0">
                <a:solidFill>
                  <a:srgbClr val="16213A"/>
                </a:solidFill>
                <a:latin typeface="Arial"/>
                <a:ea typeface="Malgun Gothic"/>
                <a:cs typeface="Malgun Gothic"/>
              </a:rPr>
              <a:t>분포 밖 거동</a:t>
            </a:r>
            <a:r>
              <a:rPr sz="1050" b="0" i="0">
                <a:solidFill>
                  <a:srgbClr val="16213A"/>
                </a:solidFill>
                <a:latin typeface="Arial"/>
                <a:ea typeface="Malgun Gothic"/>
                <a:cs typeface="Malgun Gothic"/>
              </a:rPr>
              <a:t>이다. 마지막 축이 제어에서 특히 중요한데, MPC의 예측 지평은 로봇이 아직 가 보지 않은 곳을 지나므로 질의가 늘 학습 분포 가장자리에 있기 때문이다. travplan에서 이 넷을 모두 재 본 표가 M.3.8이다.</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E. Controller — 학습 동역학과 추종 (참고)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E.9 모바일 로봇에 GP를 붙인 사례들</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76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E.8이 방법이면 이 절은 실물이다.</a:t>
            </a:r>
            <a:r>
              <a:rPr sz="1050" b="0" i="0">
                <a:solidFill>
                  <a:srgbClr val="16213A"/>
                </a:solidFill>
                <a:latin typeface="Arial"/>
                <a:ea typeface="Malgun Gothic"/>
                <a:cs typeface="Malgun Gothic"/>
              </a:rPr>
              <a:t> 쿼드로터·로봇 팔은 사례가 많지만 travplan과 설정이 같은 것은 </a:t>
            </a:r>
            <a:r>
              <a:rPr sz="1050" b="1" i="0">
                <a:solidFill>
                  <a:srgbClr val="16213A"/>
                </a:solidFill>
                <a:latin typeface="Arial"/>
                <a:ea typeface="Malgun Gothic"/>
                <a:cs typeface="Malgun Gothic"/>
              </a:rPr>
              <a:t>바퀴로 실외를 달리는 로봇</a:t>
            </a:r>
            <a:r>
              <a:rPr sz="1050" b="0" i="0">
                <a:solidFill>
                  <a:srgbClr val="16213A"/>
                </a:solidFill>
                <a:latin typeface="Arial"/>
                <a:ea typeface="Malgun Gothic"/>
                <a:cs typeface="Malgun Gothic"/>
              </a:rPr>
              <a:t>이다. 그쪽만 모았다.</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먼저 틀을 하나 빌린다. Zeilinger 그룹이 2025년에 GP-MPC를 정리하면서 남은 과제를 셋으로 꼽았다 (</a:t>
            </a:r>
            <a:r>
              <a:rPr sz="1050" b="0" i="0">
                <a:solidFill>
                  <a:srgbClr val="1D4ED8"/>
                </a:solidFill>
                <a:latin typeface="Arial"/>
                <a:ea typeface="Malgun Gothic"/>
                <a:cs typeface="Malgun Gothic"/>
                <a:hlinkClick r:id="rId3"/>
              </a:rPr>
              <a:t>arXiv:2502.02310</a:t>
            </a:r>
            <a:r>
              <a:rPr sz="1050" b="0" i="0">
                <a:solidFill>
                  <a:srgbClr val="16213A"/>
                </a:solidFill>
                <a:latin typeface="Arial"/>
                <a:ea typeface="Malgun Gothic"/>
                <a:cs typeface="Malgun Gothic"/>
              </a:rPr>
              <a:t>, Scampicchio·Arcari·Lahr·Zeilinger). </a:t>
            </a:r>
            <a:r>
              <a:rPr sz="1050" b="1" i="0">
                <a:solidFill>
                  <a:srgbClr val="C2410C"/>
                </a:solidFill>
                <a:latin typeface="Arial"/>
                <a:ea typeface="Malgun Gothic"/>
                <a:cs typeface="Malgun Gothic"/>
              </a:rPr>
              <a:t>이 셋이 travplan이 실제로 부딪힌 것과 같다.</a:t>
            </a:r>
          </a:p>
        </p:txBody>
      </p:sp>
      <p:graphicFrame>
        <p:nvGraphicFramePr>
          <p:cNvPr id="7" name="Table 6"/>
          <p:cNvGraphicFramePr>
            <a:graphicFrameLocks noGrp="1"/>
          </p:cNvGraphicFramePr>
          <p:nvPr/>
        </p:nvGraphicFramePr>
        <p:xfrm>
          <a:off x="609600" y="2071886"/>
          <a:ext cx="10966450" cy="788352"/>
        </p:xfrm>
        <a:graphic>
          <a:graphicData uri="http://schemas.openxmlformats.org/drawingml/2006/table">
            <a:tbl>
              <a:tblPr firstRow="1" bandRow="1">
                <a:tableStyleId>{5C22544A-7EE6-4342-B048-85BDC9FD1C3A}</a:tableStyleId>
              </a:tblPr>
              <a:tblGrid>
                <a:gridCol w="3753346"/>
                <a:gridCol w="7213104"/>
              </a:tblGrid>
              <a:tr h="197088">
                <a:tc>
                  <a:txBody>
                    <a:bodyPr wrap="square"/>
                    <a:lstStyle/>
                    <a:p>
                      <a:r>
                        <a:rPr sz="800" b="1" i="0">
                          <a:solidFill>
                            <a:srgbClr val="F4F1EA"/>
                          </a:solidFill>
                          <a:latin typeface="Arial"/>
                          <a:ea typeface="Malgun Gothic"/>
                          <a:cs typeface="Malgun Gothic"/>
                        </a:rPr>
                        <a:t>서베이가 꼽은 과제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travplan에서 만난 형태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(i) GP 회귀의 </a:t>
                      </a:r>
                      <a:r>
                        <a:rPr sz="800" b="1" i="0">
                          <a:solidFill>
                            <a:srgbClr val="16213A"/>
                          </a:solidFill>
                          <a:latin typeface="Arial"/>
                          <a:ea typeface="Malgun Gothic"/>
                          <a:cs typeface="Malgun Gothic"/>
                        </a:rPr>
                        <a:t>확장성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정확 GP는 1,400점에서 refresh 121 ms — 제어 주기 밖 (MPC 문서 M.3.8)</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(ii) 다루기 쉬운 MPC로 만드는 </a:t>
                      </a:r>
                      <a:r>
                        <a:rPr sz="800" b="1" i="0">
                          <a:solidFill>
                            <a:srgbClr val="16213A"/>
                          </a:solidFill>
                          <a:latin typeface="Arial"/>
                          <a:ea typeface="Malgun Gothic"/>
                          <a:cs typeface="Malgun Gothic"/>
                        </a:rPr>
                        <a:t>근사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잔차 평균을 acados 파라미터로 → 0차 근사 (M.3.6)</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(iii) 운용 중 데이터로 하는 </a:t>
                      </a:r>
                      <a:r>
                        <a:rPr sz="800" b="1" i="0">
                          <a:solidFill>
                            <a:srgbClr val="16213A"/>
                          </a:solidFill>
                          <a:latin typeface="Arial"/>
                          <a:ea typeface="Malgun Gothic"/>
                          <a:cs typeface="Malgun Gothic"/>
                        </a:rPr>
                        <a:t>온라인 갱신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고정 크기 딕셔너리 + 주기적 재분해 (M.3.6)</a:t>
                      </a:r>
                    </a:p>
                  </a:txBody>
                  <a:tcPr marL="63500" marR="63500" marT="12700" marB="12700">
                    <a:solidFill>
                      <a:srgbClr val="FFFDF8"/>
                    </a:solidFill>
                  </a:tcPr>
                </a:tc>
              </a:tr>
            </a:tbl>
          </a:graphicData>
        </a:graphic>
      </p:graphicFrame>
      <p:sp>
        <p:nvSpPr>
          <p:cNvPr id="8" name="TextBox 7"/>
          <p:cNvSpPr txBox="1"/>
          <p:nvPr/>
        </p:nvSpPr>
        <p:spPr>
          <a:xfrm>
            <a:off x="609600" y="31525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바퀴 로봇 사례.</a:t>
            </a:r>
          </a:p>
        </p:txBody>
      </p:sp>
      <p:graphicFrame>
        <p:nvGraphicFramePr>
          <p:cNvPr id="9" name="Table 8"/>
          <p:cNvGraphicFramePr>
            <a:graphicFrameLocks noGrp="1"/>
          </p:cNvGraphicFramePr>
          <p:nvPr/>
        </p:nvGraphicFramePr>
        <p:xfrm>
          <a:off x="609600" y="3457972"/>
          <a:ext cx="10966450" cy="1379616"/>
        </p:xfrm>
        <a:graphic>
          <a:graphicData uri="http://schemas.openxmlformats.org/drawingml/2006/table">
            <a:tbl>
              <a:tblPr firstRow="1" bandRow="1">
                <a:tableStyleId>{5C22544A-7EE6-4342-B048-85BDC9FD1C3A}</a:tableStyleId>
              </a:tblPr>
              <a:tblGrid>
                <a:gridCol w="3367683"/>
                <a:gridCol w="1808857"/>
                <a:gridCol w="2881015"/>
                <a:gridCol w="2908895"/>
              </a:tblGrid>
              <a:tr h="197088">
                <a:tc>
                  <a:txBody>
                    <a:bodyPr wrap="square"/>
                    <a:lstStyle/>
                    <a:p>
                      <a:r>
                        <a:rPr sz="800" b="1" i="0">
                          <a:solidFill>
                            <a:srgbClr val="F4F1EA"/>
                          </a:solidFill>
                          <a:latin typeface="Arial"/>
                          <a:ea typeface="Malgun Gothic"/>
                          <a:cs typeface="Malgun Gothic"/>
                        </a:rPr>
                        <a:t>연구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로봇</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GP가 배운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실측 규모</a:t>
                      </a:r>
                    </a:p>
                  </a:txBody>
                  <a:tcPr marL="63500" marR="63500" marT="12700" marB="12700">
                    <a:solidFill>
                      <a:srgbClr val="16213A"/>
                    </a:solidFill>
                  </a:tcPr>
                </a:tc>
              </a:tr>
              <a:tr h="197088">
                <a:tc>
                  <a:txBody>
                    <a:bodyPr wrap="square"/>
                    <a:lstStyle/>
                    <a:p>
                      <a:r>
                        <a:rPr sz="800" b="0" i="0">
                          <a:solidFill>
                            <a:srgbClr val="1D4ED8"/>
                          </a:solidFill>
                          <a:latin typeface="Arial"/>
                          <a:ea typeface="Malgun Gothic"/>
                          <a:cs typeface="Malgun Gothic"/>
                          <a:hlinkClick r:id="rId4"/>
                        </a:rPr>
                        <a:t>LB-NMPC</a:t>
                      </a:r>
                      <a:r>
                        <a:rPr sz="800" b="0" i="0">
                          <a:solidFill>
                            <a:srgbClr val="16213A"/>
                          </a:solidFill>
                          <a:latin typeface="Arial"/>
                          <a:ea typeface="Malgun Gothic"/>
                          <a:cs typeface="Malgun Gothic"/>
                        </a:rPr>
                        <a:t> (Ostafew·Schoellig·Barfoot, JFR 2016)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실외 지상 로봇 </a:t>
                      </a:r>
                      <a:r>
                        <a:rPr sz="800" b="1" i="0">
                          <a:solidFill>
                            <a:srgbClr val="16213A"/>
                          </a:solidFill>
                          <a:latin typeface="Arial"/>
                          <a:ea typeface="Malgun Gothic"/>
                          <a:cs typeface="Malgun Gothic"/>
                        </a:rPr>
                        <a:t>3종, 50–600 kg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간단한 사전 차량 모델 위의 </a:t>
                      </a:r>
                      <a:r>
                        <a:rPr sz="800" b="1" i="0">
                          <a:solidFill>
                            <a:srgbClr val="16213A"/>
                          </a:solidFill>
                          <a:latin typeface="Arial"/>
                          <a:ea typeface="Malgun Gothic"/>
                          <a:cs typeface="Malgun Gothic"/>
                        </a:rPr>
                        <a:t>외란</a:t>
                      </a:r>
                      <a:r>
                        <a:rPr sz="800" b="0" i="0">
                          <a:solidFill>
                            <a:srgbClr val="16213A"/>
                          </a:solidFill>
                          <a:latin typeface="Arial"/>
                          <a:ea typeface="Malgun Gothic"/>
                          <a:cs typeface="Malgun Gothic"/>
                        </a:rPr>
                        <a:t>을 상태·입력의 함수로</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3 km 주행</a:t>
                      </a:r>
                      <a:r>
                        <a:rPr sz="800" b="0" i="0">
                          <a:solidFill>
                            <a:srgbClr val="16213A"/>
                          </a:solidFill>
                          <a:latin typeface="Arial"/>
                          <a:ea typeface="Malgun Gothic"/>
                          <a:cs typeface="Malgun Gothic"/>
                        </a:rPr>
                        <a:t>, 0.35–1.2 m/s, 시각 기반 항법(GPS 없음)</a:t>
                      </a:r>
                    </a:p>
                  </a:txBody>
                  <a:tcPr marL="63500" marR="63500" marT="12700" marB="12700">
                    <a:solidFill>
                      <a:srgbClr val="FFFDF8"/>
                    </a:solidFill>
                  </a:tcPr>
                </a:tc>
              </a:tr>
              <a:tr h="197088">
                <a:tc>
                  <a:txBody>
                    <a:bodyPr wrap="square"/>
                    <a:lstStyle/>
                    <a:p>
                      <a:r>
                        <a:rPr sz="800" b="0" i="0">
                          <a:solidFill>
                            <a:srgbClr val="1D4ED8"/>
                          </a:solidFill>
                          <a:latin typeface="Arial"/>
                          <a:ea typeface="Malgun Gothic"/>
                          <a:cs typeface="Malgun Gothic"/>
                          <a:hlinkClick r:id="rId5"/>
                        </a:rPr>
                        <a:t>Robust Constrained LB-NMPC</a:t>
                      </a:r>
                      <a:r>
                        <a:rPr sz="800" b="0" i="0">
                          <a:solidFill>
                            <a:srgbClr val="16213A"/>
                          </a:solidFill>
                          <a:latin typeface="Arial"/>
                          <a:ea typeface="Malgun Gothic"/>
                          <a:cs typeface="Malgun Gothic"/>
                        </a:rPr>
                        <a:t> (같은 팀, IJRR 2016)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위와 같음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위 + 제약 강건화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반복 경로 추종</a:t>
                      </a:r>
                    </a:p>
                  </a:txBody>
                  <a:tcPr marL="63500" marR="63500" marT="12700" marB="12700">
                    <a:solidFill>
                      <a:srgbClr val="F3F0E8"/>
                    </a:solidFill>
                  </a:tcPr>
                </a:tc>
              </a:tr>
              <a:tr h="197088">
                <a:tc>
                  <a:txBody>
                    <a:bodyPr wrap="square"/>
                    <a:lstStyle/>
                    <a:p>
                      <a:r>
                        <a:rPr sz="800" b="0" i="0">
                          <a:solidFill>
                            <a:srgbClr val="1D4ED8"/>
                          </a:solidFill>
                          <a:latin typeface="Arial"/>
                          <a:ea typeface="Malgun Gothic"/>
                          <a:cs typeface="Malgun Gothic"/>
                          <a:hlinkClick r:id="rId6"/>
                        </a:rPr>
                        <a:t>Learn Fast, Forget Slow</a:t>
                      </a:r>
                      <a:r>
                        <a:rPr sz="800" b="0" i="0">
                          <a:solidFill>
                            <a:srgbClr val="16213A"/>
                          </a:solidFill>
                          <a:latin typeface="Arial"/>
                          <a:ea typeface="Malgun Gothic"/>
                          <a:cs typeface="Malgun Gothic"/>
                        </a:rPr>
                        <a:t> (McKinnon·Schoellig, RA-L 2019)</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900 kg 지상 로봇</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반복 과제에서 </a:t>
                      </a:r>
                      <a:r>
                        <a:rPr sz="800" b="1" i="0">
                          <a:solidFill>
                            <a:srgbClr val="16213A"/>
                          </a:solidFill>
                          <a:latin typeface="Arial"/>
                          <a:ea typeface="Malgun Gothic"/>
                          <a:cs typeface="Malgun Gothic"/>
                        </a:rPr>
                        <a:t>변해 가는</a:t>
                      </a:r>
                      <a:r>
                        <a:rPr sz="800" b="0" i="0">
                          <a:solidFill>
                            <a:srgbClr val="16213A"/>
                          </a:solidFill>
                          <a:latin typeface="Arial"/>
                          <a:ea typeface="Malgun Gothic"/>
                          <a:cs typeface="Malgun Gothic"/>
                        </a:rPr>
                        <a:t> 동역학</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3.0 km</a:t>
                      </a:r>
                      <a:r>
                        <a:rPr sz="800" b="0" i="0">
                          <a:solidFill>
                            <a:srgbClr val="16213A"/>
                          </a:solidFill>
                          <a:latin typeface="Arial"/>
                          <a:ea typeface="Malgun Gothic"/>
                          <a:cs typeface="Malgun Gothic"/>
                        </a:rPr>
                        <a:t>, 물리적·인공적 동역학 변화</a:t>
                      </a:r>
                    </a:p>
                  </a:txBody>
                  <a:tcPr marL="63500" marR="63500" marT="12700" marB="12700">
                    <a:solidFill>
                      <a:srgbClr val="FFFDF8"/>
                    </a:solidFill>
                  </a:tcPr>
                </a:tc>
              </a:tr>
              <a:tr h="197088">
                <a:tc>
                  <a:txBody>
                    <a:bodyPr wrap="square"/>
                    <a:lstStyle/>
                    <a:p>
                      <a:r>
                        <a:rPr sz="800" b="0" i="0">
                          <a:solidFill>
                            <a:srgbClr val="1D4ED8"/>
                          </a:solidFill>
                          <a:latin typeface="Arial"/>
                          <a:ea typeface="Malgun Gothic"/>
                          <a:cs typeface="Malgun Gothic"/>
                          <a:hlinkClick r:id="rId7"/>
                        </a:rPr>
                        <a:t>Probabilistic Motion Model</a:t>
                      </a:r>
                      <a:r>
                        <a:rPr sz="800" b="0" i="0">
                          <a:solidFill>
                            <a:srgbClr val="16213A"/>
                          </a:solidFill>
                          <a:latin typeface="Arial"/>
                          <a:ea typeface="Malgun Gothic"/>
                          <a:cs typeface="Malgun Gothic"/>
                        </a:rPr>
                        <a:t> (Trivedi 외, ICRA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스키드 스티어 오프로드</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타이어-지면 상호작용</a:t>
                      </a:r>
                      <a:r>
                        <a:rPr sz="800" b="0" i="0">
                          <a:solidFill>
                            <a:srgbClr val="16213A"/>
                          </a:solidFill>
                          <a:latin typeface="Arial"/>
                          <a:ea typeface="Malgun Gothic"/>
                          <a:cs typeface="Malgun Gothic"/>
                        </a:rPr>
                        <a:t>이 속도에 주는 비선형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미지 지형으로 일반화</a:t>
                      </a:r>
                    </a:p>
                  </a:txBody>
                  <a:tcPr marL="63500" marR="63500" marT="12700" marB="12700">
                    <a:solidFill>
                      <a:srgbClr val="F3F0E8"/>
                    </a:solidFill>
                  </a:tcPr>
                </a:tc>
              </a:tr>
              <a:tr h="197088">
                <a:tc>
                  <a:txBody>
                    <a:bodyPr wrap="square"/>
                    <a:lstStyle/>
                    <a:p>
                      <a:r>
                        <a:rPr sz="800" b="0" i="0">
                          <a:solidFill>
                            <a:srgbClr val="1D4ED8"/>
                          </a:solidFill>
                          <a:latin typeface="Arial"/>
                          <a:ea typeface="Malgun Gothic"/>
                          <a:cs typeface="Malgun Gothic"/>
                          <a:hlinkClick r:id="rId8"/>
                        </a:rPr>
                        <a:t>MPC + On-line Sparse GP</a:t>
                      </a:r>
                      <a:r>
                        <a:rPr sz="800" b="0" i="0">
                          <a:solidFill>
                            <a:srgbClr val="16213A"/>
                          </a:solidFill>
                          <a:latin typeface="Arial"/>
                          <a:ea typeface="Malgun Gothic"/>
                          <a:cs typeface="Malgun Gothic"/>
                        </a:rPr>
                        <a:t> (IFAC 2017)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스키드 스티어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명령 속도 → 실제 속도</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온라인 희소 GP</a:t>
                      </a:r>
                      <a:r>
                        <a:rPr sz="800" b="0" i="0">
                          <a:solidFill>
                            <a:srgbClr val="16213A"/>
                          </a:solidFill>
                          <a:latin typeface="Arial"/>
                          <a:ea typeface="Malgun Gothic"/>
                          <a:cs typeface="Malgun Gothic"/>
                        </a:rPr>
                        <a:t>로 주행 중 갱신</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Cooperative GP-MPC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다중 에이전트 내비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잔차 + 그 불확실성을 </a:t>
                      </a:r>
                      <a:r>
                        <a:rPr sz="800" b="1" i="0">
                          <a:solidFill>
                            <a:srgbClr val="16213A"/>
                          </a:solidFill>
                          <a:latin typeface="Arial"/>
                          <a:ea typeface="Malgun Gothic"/>
                          <a:cs typeface="Malgun Gothic"/>
                        </a:rPr>
                        <a:t>확률 제약 충돌 회피</a:t>
                      </a:r>
                      <a:r>
                        <a:rPr sz="800" b="0" i="0">
                          <a:solidFill>
                            <a:srgbClr val="16213A"/>
                          </a:solidFill>
                          <a:latin typeface="Arial"/>
                          <a:ea typeface="Malgun Gothic"/>
                          <a:cs typeface="Malgun Gothic"/>
                        </a:rPr>
                        <a:t>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분산 최적화</a:t>
                      </a:r>
                    </a:p>
                  </a:txBody>
                  <a:tcPr marL="63500" marR="63500" marT="12700" marB="12700">
                    <a:solidFill>
                      <a:srgbClr val="F3F0E8"/>
                    </a:solidFill>
                  </a:tcPr>
                </a:tc>
              </a:tr>
            </a:tbl>
          </a:graphicData>
        </a:graphic>
      </p:graphicFrame>
      <p:sp>
        <p:nvSpPr>
          <p:cNvPr id="10" name="TextBox 9"/>
          <p:cNvSpPr txBox="1"/>
          <p:nvPr/>
        </p:nvSpPr>
        <p:spPr>
          <a:xfrm>
            <a:off x="609600" y="527774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Ostafew의 구조가 travplan과 같다.</a:t>
            </a:r>
            <a:r>
              <a:rPr sz="1050" b="0" i="0">
                <a:solidFill>
                  <a:srgbClr val="16213A"/>
                </a:solidFill>
                <a:latin typeface="Arial"/>
                <a:ea typeface="Malgun Gothic"/>
                <a:cs typeface="Malgun Gothic"/>
              </a:rPr>
              <a:t> 명목 모델은 단순하게 두고 그 위의 외란만 GP로 배워 NMPC에 넣는다. 규모도 비슷하다 — 0.35–1.2 m/s는 travplan의 1.5 m/s와 같은 자리이고, 50–600 kg은 AntBot의 60 kg을 포함한다.</a:t>
            </a:r>
          </a:p>
        </p:txBody>
      </p:sp>
      <p:sp>
        <p:nvSpPr>
          <p:cNvPr id="11" name="TextBox 10"/>
          <p:cNvSpPr txBox="1"/>
          <p:nvPr/>
        </p:nvSpPr>
        <p:spPr>
          <a:xfrm>
            <a:off x="609600" y="579963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그런데 같은 연구실의 후속이 GP를 버렸다.</a:t>
            </a:r>
            <a:r>
              <a:rPr sz="1050" b="0" i="0">
                <a:solidFill>
                  <a:srgbClr val="16213A"/>
                </a:solidFill>
                <a:latin typeface="Arial"/>
                <a:ea typeface="Malgun Gothic"/>
                <a:cs typeface="Malgun Gothic"/>
              </a:rPr>
              <a:t> McKinnon·Schoellig는 900 kg 로봇 3 km 실측에서 </a:t>
            </a:r>
            <a:r>
              <a:rPr sz="1050" b="1" i="0">
                <a:solidFill>
                  <a:srgbClr val="16213A"/>
                </a:solidFill>
                <a:latin typeface="Arial"/>
                <a:ea typeface="Malgun Gothic"/>
                <a:cs typeface="Malgun Gothic"/>
              </a:rPr>
              <a:t>가중 베이즈 선형회귀(wBLR)가 GPR보다 평균도 불확실성도 더 정확했다</a:t>
            </a:r>
            <a:r>
              <a:rPr sz="1050" b="0" i="0">
                <a:solidFill>
                  <a:srgbClr val="16213A"/>
                </a:solidFill>
                <a:latin typeface="Arial"/>
                <a:ea typeface="Malgun Gothic"/>
                <a:cs typeface="Malgun Gothic"/>
              </a:rPr>
              <a:t>고 보고한다. 계산이 싸고, 지평을 길게 볼 수 있고, 최적화가 쉬우며, 새 운용 조건으로 튜닝 없이 일반화했다. 그 위에 Tube MPC를 얹어 불확실성 증가를 눌렀다.</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E. Controller — 학습 동역학과 추종 (참고)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E.9 모바일 로봇에 GP를 붙인 사례들</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77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이 결과를 travplan의 실측이 그대로 따라간다.</a:t>
            </a:r>
            <a:r>
              <a:rPr sz="1050" b="0" i="0">
                <a:solidFill>
                  <a:srgbClr val="16213A"/>
                </a:solidFill>
                <a:latin typeface="Arial"/>
                <a:ea typeface="Malgun Gothic"/>
                <a:cs typeface="Malgun Gothic"/>
              </a:rPr>
              <a:t> M.3.6에서 잰 잔차는 </a:t>
            </a:r>
            <a:r>
              <a:rPr sz="1050" b="0" i="1">
                <a:solidFill>
                  <a:srgbClr val="16213A"/>
                </a:solidFill>
                <a:latin typeface="Arial"/>
                <a:ea typeface="Malgun Gothic"/>
                <a:cs typeface="Malgun Gothic"/>
              </a:rPr>
              <a:t>dvₓ</a:t>
            </a:r>
            <a:r>
              <a:rPr sz="1050" b="0" i="0">
                <a:solidFill>
                  <a:srgbClr val="16213A"/>
                </a:solidFill>
                <a:latin typeface="Arial"/>
                <a:ea typeface="Malgun Gothic"/>
                <a:cs typeface="Malgun Gothic"/>
              </a:rPr>
              <a:t>·</a:t>
            </a:r>
            <a:r>
              <a:rPr sz="1050" b="0" i="1">
                <a:solidFill>
                  <a:srgbClr val="16213A"/>
                </a:solidFill>
                <a:latin typeface="Arial"/>
                <a:ea typeface="Malgun Gothic"/>
                <a:cs typeface="Malgun Gothic"/>
              </a:rPr>
              <a:t>dv_y</a:t>
            </a:r>
            <a:r>
              <a:rPr sz="1050" b="0" i="0">
                <a:solidFill>
                  <a:srgbClr val="16213A"/>
                </a:solidFill>
                <a:latin typeface="Arial"/>
                <a:ea typeface="Malgun Gothic"/>
                <a:cs typeface="Malgun Gothic"/>
              </a:rPr>
              <a:t>에서 </a:t>
            </a:r>
            <a:r>
              <a:rPr sz="1050" b="1" i="0">
                <a:solidFill>
                  <a:srgbClr val="16213A"/>
                </a:solidFill>
                <a:latin typeface="Arial"/>
                <a:ea typeface="Malgun Gothic"/>
                <a:cs typeface="Malgun Gothic"/>
              </a:rPr>
              <a:t>선형모형이 GP와 같았고</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R²</a:t>
            </a:r>
            <a:r>
              <a:rPr sz="1050" b="0" i="0">
                <a:solidFill>
                  <a:srgbClr val="16213A"/>
                </a:solidFill>
                <a:latin typeface="Arial"/>
                <a:ea typeface="Malgun Gothic"/>
                <a:cs typeface="Malgun Gothic"/>
              </a:rPr>
              <a:t> 0.71/0.95), GP가 이긴 곳은 </a:t>
            </a:r>
            <a:r>
              <a:rPr sz="1050" b="0" i="1">
                <a:solidFill>
                  <a:srgbClr val="16213A"/>
                </a:solidFill>
                <a:latin typeface="Arial"/>
                <a:ea typeface="Malgun Gothic"/>
                <a:cs typeface="Malgun Gothic"/>
              </a:rPr>
              <a:t>dω</a:t>
            </a:r>
            <a:r>
              <a:rPr sz="1050" b="0" i="0">
                <a:solidFill>
                  <a:srgbClr val="16213A"/>
                </a:solidFill>
                <a:latin typeface="Arial"/>
                <a:ea typeface="Malgun Gothic"/>
                <a:cs typeface="Malgun Gothic"/>
              </a:rPr>
              <a:t> 하나였다. 이유도 같다 — 바퀴 로봇 잔차의 큰 몫은 </a:t>
            </a:r>
            <a:r>
              <a:rPr sz="1050" b="1" i="0">
                <a:solidFill>
                  <a:srgbClr val="16213A"/>
                </a:solidFill>
                <a:latin typeface="Arial"/>
                <a:ea typeface="Malgun Gothic"/>
                <a:cs typeface="Malgun Gothic"/>
              </a:rPr>
              <a:t>액추에이터 지연</a:t>
            </a:r>
            <a:r>
              <a:rPr sz="1050" b="0" i="0">
                <a:solidFill>
                  <a:srgbClr val="16213A"/>
                </a:solidFill>
                <a:latin typeface="Arial"/>
                <a:ea typeface="Malgun Gothic"/>
                <a:cs typeface="Malgun Gothic"/>
              </a:rPr>
              <a:t>이고 그것은 선형이다. 비선형은 조향 포화와 비동축 스크럽처럼 요 축에 몰린다.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그래서 셋을 기억해 둔다.</a:t>
            </a:r>
          </a:p>
        </p:txBody>
      </p:sp>
      <p:sp>
        <p:nvSpPr>
          <p:cNvPr id="7" name="TextBox 6"/>
          <p:cNvSpPr txBox="1"/>
          <p:nvPr/>
        </p:nvSpPr>
        <p:spPr>
          <a:xfrm>
            <a:off x="609600" y="2071886"/>
            <a:ext cx="10972800" cy="9167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GP를 쓰는 이유는 "더 잘 맞아서"가 아니다.</a:t>
            </a:r>
            <a:r>
              <a:rPr sz="1050" b="0" i="0">
                <a:solidFill>
                  <a:srgbClr val="16213A"/>
                </a:solidFill>
                <a:latin typeface="Arial"/>
                <a:ea typeface="Malgun Gothic"/>
                <a:cs typeface="Malgun Gothic"/>
              </a:rPr>
              <a:t> 지연이 지배하는 채널에서는 선형회귀로 충분하다. GP는 </a:t>
            </a:r>
            <a:r>
              <a:rPr sz="1050" b="1" i="0">
                <a:solidFill>
                  <a:srgbClr val="16213A"/>
                </a:solidFill>
                <a:latin typeface="Arial"/>
                <a:ea typeface="Malgun Gothic"/>
                <a:cs typeface="Malgun Gothic"/>
              </a:rPr>
              <a:t>비선형이 남는 채널</a:t>
            </a:r>
            <a:r>
              <a:rPr sz="1050" b="0" i="0">
                <a:solidFill>
                  <a:srgbClr val="16213A"/>
                </a:solidFill>
                <a:latin typeface="Arial"/>
                <a:ea typeface="Malgun Gothic"/>
                <a:cs typeface="Malgun Gothic"/>
              </a:rPr>
              <a:t>과 </a:t>
            </a:r>
            <a:r>
              <a:rPr sz="1050" b="1" i="0">
                <a:solidFill>
                  <a:srgbClr val="16213A"/>
                </a:solidFill>
                <a:latin typeface="Arial"/>
                <a:ea typeface="Malgun Gothic"/>
                <a:cs typeface="Malgun Gothic"/>
              </a:rPr>
              <a:t>분산이 필요한 곳</a:t>
            </a:r>
            <a:r>
              <a:rPr sz="1050" b="0" i="0">
                <a:solidFill>
                  <a:srgbClr val="16213A"/>
                </a:solidFill>
                <a:latin typeface="Arial"/>
                <a:ea typeface="Malgun Gothic"/>
                <a:cs typeface="Malgun Gothic"/>
              </a:rPr>
              <a:t>에 쓴다.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E.8의 RFF는 사실상 wBLR의 커널판이다.</a:t>
            </a:r>
            <a:r>
              <a:rPr sz="1050" b="0" i="0">
                <a:solidFill>
                  <a:srgbClr val="16213A"/>
                </a:solidFill>
                <a:latin typeface="Arial"/>
                <a:ea typeface="Malgun Gothic"/>
                <a:cs typeface="Malgun Gothic"/>
              </a:rPr>
              <a:t> 무작위 특징 위의 베이즈 선형회귀이므로, McKinnon의 결론과 travplan의 RFF 결과(정확도는 정확 GP에 근접, 예측 0.21–0.35 ms)가 같은 이야기를 한다.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스키드 스티어 쪽이 슬립을 다룬다.</a:t>
            </a:r>
            <a:r>
              <a:rPr sz="1050" b="0" i="0">
                <a:solidFill>
                  <a:srgbClr val="16213A"/>
                </a:solidFill>
                <a:latin typeface="Arial"/>
                <a:ea typeface="Malgun Gothic"/>
                <a:cs typeface="Malgun Gothic"/>
              </a:rPr>
              <a:t> travplan의 비동축 스워브는 스키드 스티어보다 슬립이 적지만, 지형 의존 슬립을 GP로 배우는 방식(Trivedi 2024)은 TP-0033을 켠 뒤 그대로 참고할 수 있다.</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E. Controller — 학습 동역학과 추종 (참고)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E.10 GP가 모바일 로봇에서 앉는 자리는 셋이다</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78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E.9는 </a:t>
            </a:r>
            <a:r>
              <a:rPr sz="1050" b="1" i="0">
                <a:solidFill>
                  <a:srgbClr val="16213A"/>
                </a:solidFill>
                <a:latin typeface="Arial"/>
                <a:ea typeface="Malgun Gothic"/>
                <a:cs typeface="Malgun Gothic"/>
              </a:rPr>
              <a:t>동역학 잔차</a:t>
            </a:r>
            <a:r>
              <a:rPr sz="1050" b="0" i="0">
                <a:solidFill>
                  <a:srgbClr val="16213A"/>
                </a:solidFill>
                <a:latin typeface="Arial"/>
                <a:ea typeface="Malgun Gothic"/>
                <a:cs typeface="Malgun Gothic"/>
              </a:rPr>
              <a:t> 한 자리만 봤다. 사례를 더 모으니 바퀴 로봇에서 GP가 앉는 자리가 셋이고, travplan에는 셋 다 대응하는 칸이 이미 있다.</a:t>
            </a:r>
          </a:p>
        </p:txBody>
      </p:sp>
      <p:graphicFrame>
        <p:nvGraphicFramePr>
          <p:cNvPr id="6" name="Table 5"/>
          <p:cNvGraphicFramePr>
            <a:graphicFrameLocks noGrp="1"/>
          </p:cNvGraphicFramePr>
          <p:nvPr/>
        </p:nvGraphicFramePr>
        <p:xfrm>
          <a:off x="609600" y="1549995"/>
          <a:ext cx="10966450" cy="788352"/>
        </p:xfrm>
        <a:graphic>
          <a:graphicData uri="http://schemas.openxmlformats.org/drawingml/2006/table">
            <a:tbl>
              <a:tblPr firstRow="1" bandRow="1">
                <a:tableStyleId>{5C22544A-7EE6-4342-B048-85BDC9FD1C3A}</a:tableStyleId>
              </a:tblPr>
              <a:tblGrid>
                <a:gridCol w="2351782"/>
                <a:gridCol w="3485852"/>
                <a:gridCol w="5128816"/>
              </a:tblGrid>
              <a:tr h="197088">
                <a:tc>
                  <a:txBody>
                    <a:bodyPr wrap="square"/>
                    <a:lstStyle/>
                    <a:p>
                      <a:r>
                        <a:rPr sz="800" b="1" i="0">
                          <a:solidFill>
                            <a:srgbClr val="F4F1EA"/>
                          </a:solidFill>
                          <a:latin typeface="Arial"/>
                          <a:ea typeface="Malgun Gothic"/>
                          <a:cs typeface="Malgun Gothic"/>
                        </a:rPr>
                        <a:t>자리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회귀하는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travplan의 대응</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① 동역학 잔차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(상태, 입력) → 실현 오차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E.9, TP-0068 (MPC 문서 M.3.6)</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② 지형 → 슬립·통과성</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지형 기하·종류 → 슬립비, 통과 비용</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TravNet 자리</a:t>
                      </a:r>
                      <a:r>
                        <a:rPr sz="800" b="0" i="0">
                          <a:solidFill>
                            <a:srgbClr val="16213A"/>
                          </a:solidFill>
                          <a:latin typeface="Arial"/>
                          <a:ea typeface="Malgun Gothic"/>
                          <a:cs typeface="Malgun Gothic"/>
                        </a:rPr>
                        <a:t>(인식 A.7, TP-0010·0022), TP-0033</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③ 지도 자체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관측한 점 → 고도장 + 불확실성</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TravMap의 </a:t>
                      </a:r>
                      <a:r>
                        <a:rPr sz="800" b="1" i="0">
                          <a:solidFill>
                            <a:srgbClr val="16213A"/>
                          </a:solidFill>
                          <a:latin typeface="Consolas"/>
                          <a:ea typeface="Malgun Gothic"/>
                          <a:cs typeface="Malgun Gothic"/>
                        </a:rPr>
                        <a:t>ELEV</a:t>
                      </a:r>
                      <a:r>
                        <a:rPr sz="800" b="1" i="0">
                          <a:solidFill>
                            <a:srgbClr val="16213A"/>
                          </a:solidFill>
                          <a:latin typeface="Arial"/>
                          <a:ea typeface="Malgun Gothic"/>
                          <a:cs typeface="Malgun Gothic"/>
                        </a:rPr>
                        <a:t>·</a:t>
                      </a:r>
                      <a:r>
                        <a:rPr sz="800" b="1" i="0">
                          <a:solidFill>
                            <a:srgbClr val="16213A"/>
                          </a:solidFill>
                          <a:latin typeface="Consolas"/>
                          <a:ea typeface="Malgun Gothic"/>
                          <a:cs typeface="Malgun Gothic"/>
                        </a:rPr>
                        <a:t>SIGMA</a:t>
                      </a:r>
                      <a:r>
                        <a:rPr sz="800" b="1" i="0">
                          <a:solidFill>
                            <a:srgbClr val="16213A"/>
                          </a:solidFill>
                          <a:latin typeface="Arial"/>
                          <a:ea typeface="Malgun Gothic"/>
                          <a:cs typeface="Malgun Gothic"/>
                        </a:rPr>
                        <a:t> 채널</a:t>
                      </a:r>
                    </a:p>
                  </a:txBody>
                  <a:tcPr marL="63500" marR="63500" marT="12700" marB="12700">
                    <a:solidFill>
                      <a:srgbClr val="FFFDF8"/>
                    </a:solidFill>
                  </a:tcPr>
                </a:tc>
              </a:tr>
            </a:tbl>
          </a:graphicData>
        </a:graphic>
      </p:graphicFrame>
      <p:sp>
        <p:nvSpPr>
          <p:cNvPr id="7" name="TextBox 6"/>
          <p:cNvSpPr txBox="1"/>
          <p:nvPr/>
        </p:nvSpPr>
        <p:spPr>
          <a:xfrm>
            <a:off x="609600" y="26306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지형 → 슬립.</a:t>
            </a:r>
            <a:r>
              <a:rPr sz="1050" b="0" i="0">
                <a:solidFill>
                  <a:srgbClr val="16213A"/>
                </a:solidFill>
                <a:latin typeface="Arial"/>
                <a:ea typeface="Malgun Gothic"/>
                <a:cs typeface="Malgun Gothic"/>
              </a:rPr>
              <a:t> 행성 탐사차 쪽이 이 갈래를 가장 오래 팠다. 시각으로 분류한 지형 종류마다 </a:t>
            </a:r>
            <a:r>
              <a:rPr sz="1050" b="1" i="0">
                <a:solidFill>
                  <a:srgbClr val="16213A"/>
                </a:solidFill>
                <a:latin typeface="Arial"/>
                <a:ea typeface="Malgun Gothic"/>
                <a:cs typeface="Malgun Gothic"/>
              </a:rPr>
              <a:t>기하 → 슬립</a:t>
            </a:r>
            <a:r>
              <a:rPr sz="1050" b="0" i="0">
                <a:solidFill>
                  <a:srgbClr val="16213A"/>
                </a:solidFill>
                <a:latin typeface="Arial"/>
                <a:ea typeface="Malgun Gothic"/>
                <a:cs typeface="Malgun Gothic"/>
              </a:rPr>
              <a:t>을 GP로 배우고 (</a:t>
            </a:r>
            <a:r>
              <a:rPr sz="1050" b="0" i="0">
                <a:solidFill>
                  <a:srgbClr val="1D4ED8"/>
                </a:solidFill>
                <a:latin typeface="Arial"/>
                <a:ea typeface="Malgun Gothic"/>
                <a:cs typeface="Malgun Gothic"/>
                <a:hlinkClick r:id="rId3"/>
              </a:rPr>
              <a:t>Locally-adaptive slip prediction</a:t>
            </a:r>
            <a:r>
              <a:rPr sz="1050" b="0" i="0">
                <a:solidFill>
                  <a:srgbClr val="16213A"/>
                </a:solidFill>
                <a:latin typeface="Arial"/>
                <a:ea typeface="Malgun Gothic"/>
                <a:cs typeface="Malgun Gothic"/>
              </a:rPr>
              <a:t>, ICRA 2017), 종·횡 슬립의 평균과 최댓값을 신뢰구간과 함께 낸다(</a:t>
            </a:r>
            <a:r>
              <a:rPr sz="1050" b="0" i="0">
                <a:solidFill>
                  <a:srgbClr val="1D4ED8"/>
                </a:solidFill>
                <a:latin typeface="Arial"/>
                <a:ea typeface="Malgun Gothic"/>
                <a:cs typeface="Malgun Gothic"/>
                <a:hlinkClick r:id="rId4"/>
              </a:rPr>
              <a:t>Applied Sciences 2022</a:t>
            </a:r>
            <a:r>
              <a:rPr sz="1050" b="0" i="0">
                <a:solidFill>
                  <a:srgbClr val="16213A"/>
                </a:solidFill>
                <a:latin typeface="Arial"/>
                <a:ea typeface="Malgun Gothic"/>
                <a:cs typeface="Malgun Gothic"/>
              </a:rPr>
              <a:t>). 예측한 통과성을 확률적으로 융합해 경로 계획에 넣은 것이 </a:t>
            </a:r>
            <a:r>
              <a:rPr sz="1050" b="0" i="0">
                <a:solidFill>
                  <a:srgbClr val="1D4ED8"/>
                </a:solidFill>
                <a:latin typeface="Arial"/>
                <a:ea typeface="Malgun Gothic"/>
                <a:cs typeface="Malgun Gothic"/>
                <a:hlinkClick r:id="rId5"/>
              </a:rPr>
              <a:t>arXiv:2303.01169</a:t>
            </a:r>
            <a:r>
              <a:rPr sz="1050" b="0" i="0">
                <a:solidFill>
                  <a:srgbClr val="16213A"/>
                </a:solidFill>
                <a:latin typeface="Arial"/>
                <a:ea typeface="Malgun Gothic"/>
                <a:cs typeface="Malgun Gothic"/>
              </a:rPr>
              <a:t>다.</a:t>
            </a:r>
          </a:p>
        </p:txBody>
      </p:sp>
      <p:sp>
        <p:nvSpPr>
          <p:cNvPr id="8" name="TextBox 7"/>
          <p:cNvSpPr txBox="1"/>
          <p:nvPr/>
        </p:nvSpPr>
        <p:spPr>
          <a:xfrm>
            <a:off x="609600" y="3152577"/>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주장 두 개가 travplan에 그대로 걸린다. 첫째, </a:t>
            </a:r>
            <a:r>
              <a:rPr sz="1050" b="1" i="0">
                <a:solidFill>
                  <a:srgbClr val="C2410C"/>
                </a:solidFill>
                <a:latin typeface="Arial"/>
                <a:ea typeface="Malgun Gothic"/>
                <a:cs typeface="Malgun Gothic"/>
              </a:rPr>
              <a:t>현지에서 모은 데이터로 회귀한 것이 미리 보정해 둔 슬립 곡선보다 평균도 불확실성도 낫다.</a:t>
            </a:r>
            <a:r>
              <a:rPr sz="1050" b="0" i="0">
                <a:solidFill>
                  <a:srgbClr val="16213A"/>
                </a:solidFill>
                <a:latin typeface="Arial"/>
                <a:ea typeface="Malgun Gothic"/>
                <a:cs typeface="Malgun Gothic"/>
              </a:rPr>
              <a:t> 둘째, </a:t>
            </a:r>
            <a:r>
              <a:rPr sz="1050" b="1" i="0">
                <a:solidFill>
                  <a:srgbClr val="16213A"/>
                </a:solidFill>
                <a:latin typeface="Arial"/>
                <a:ea typeface="Malgun Gothic"/>
                <a:cs typeface="Malgun Gothic"/>
              </a:rPr>
              <a:t>국소 적응의 이득이 고슬립 모래에서 가장 크다</a:t>
            </a:r>
            <a:r>
              <a:rPr sz="1050" b="0" i="0">
                <a:solidFill>
                  <a:srgbClr val="16213A"/>
                </a:solidFill>
                <a:latin typeface="Arial"/>
                <a:ea typeface="Malgun Gothic"/>
                <a:cs typeface="Malgun Gothic"/>
              </a:rPr>
              <a:t> — 즉 위험한 구간이 곧 모델이 약한 구간이고, 거기서 온라인 갱신이 가장 값지다. M.3.6의 고정 크기 딕셔너리가 하는 일이 바로 이것이다.</a:t>
            </a:r>
          </a:p>
        </p:txBody>
      </p:sp>
      <p:sp>
        <p:nvSpPr>
          <p:cNvPr id="9" name="TextBox 8"/>
          <p:cNvSpPr txBox="1"/>
          <p:nvPr/>
        </p:nvSpPr>
        <p:spPr>
          <a:xfrm>
            <a:off x="609600" y="3674467"/>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travplan에서 이 자리는 TravNet이다. </a:t>
            </a:r>
            <a:r>
              <a:rPr sz="1050" b="1" i="0">
                <a:solidFill>
                  <a:srgbClr val="C2410C"/>
                </a:solidFill>
                <a:latin typeface="Arial"/>
                <a:ea typeface="Malgun Gothic"/>
                <a:cs typeface="Malgun Gothic"/>
              </a:rPr>
              <a:t>지금 TravNet은 점 추정이라 σ를 내지 않는다.</a:t>
            </a:r>
            <a:r>
              <a:rPr sz="1050" b="0" i="0">
                <a:solidFill>
                  <a:srgbClr val="16213A"/>
                </a:solidFill>
                <a:latin typeface="Arial"/>
                <a:ea typeface="Malgun Gothic"/>
                <a:cs typeface="Malgun Gothic"/>
              </a:rPr>
              <a:t> 같은 자리에 GP(또는 희소 GP)를 두면 </a:t>
            </a:r>
            <a:r>
              <a:rPr sz="1050" b="0" i="0">
                <a:solidFill>
                  <a:srgbClr val="16213A"/>
                </a:solidFill>
                <a:latin typeface="Consolas"/>
                <a:ea typeface="Malgun Gothic"/>
                <a:cs typeface="Malgun Gothic"/>
              </a:rPr>
              <a:t>TravMap</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SIGMA</a:t>
            </a:r>
            <a:r>
              <a:rPr sz="1050" b="0" i="0">
                <a:solidFill>
                  <a:srgbClr val="16213A"/>
                </a:solidFill>
                <a:latin typeface="Arial"/>
                <a:ea typeface="Malgun Gothic"/>
                <a:cs typeface="Malgun Gothic"/>
              </a:rPr>
              <a:t> 채널이 학습된 값으로 채워지고, 그것이 TP-0069가 제약을 조일 재료가 된다. 통과성 추정 전반의 지형은 </a:t>
            </a:r>
            <a:r>
              <a:rPr sz="1050" b="0" i="0">
                <a:solidFill>
                  <a:srgbClr val="1D4ED8"/>
                </a:solidFill>
                <a:latin typeface="Arial"/>
                <a:ea typeface="Malgun Gothic"/>
                <a:cs typeface="Malgun Gothic"/>
                <a:hlinkClick r:id="rId6"/>
              </a:rPr>
              <a:t>A Survey of Traversability Estimation</a:t>
            </a:r>
            <a:r>
              <a:rPr sz="1050" b="0" i="0">
                <a:solidFill>
                  <a:srgbClr val="16213A"/>
                </a:solidFill>
                <a:latin typeface="Arial"/>
                <a:ea typeface="Malgun Gothic"/>
                <a:cs typeface="Malgun Gothic"/>
              </a:rPr>
              <a:t>에 정리돼 있다.</a:t>
            </a:r>
          </a:p>
        </p:txBody>
      </p:sp>
      <p:sp>
        <p:nvSpPr>
          <p:cNvPr id="10" name="TextBox 9"/>
          <p:cNvSpPr txBox="1"/>
          <p:nvPr/>
        </p:nvSpPr>
        <p:spPr>
          <a:xfrm>
            <a:off x="609600" y="4196358"/>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③ 지도 자체.</a:t>
            </a:r>
            <a:r>
              <a:rPr sz="1050" b="0" i="0">
                <a:solidFill>
                  <a:srgbClr val="16213A"/>
                </a:solidFill>
                <a:latin typeface="Arial"/>
                <a:ea typeface="Malgun Gothic"/>
                <a:cs typeface="Malgun Gothic"/>
              </a:rPr>
              <a:t> GP를 지형 모델로 쓰는 계보가 따로 있다(Vasudevan·Ramos·Nettleton·Durrant-Whyte, </a:t>
            </a:r>
            <a:r>
              <a:rPr sz="1050" b="0" i="1">
                <a:solidFill>
                  <a:srgbClr val="16213A"/>
                </a:solidFill>
                <a:latin typeface="Arial"/>
                <a:ea typeface="Malgun Gothic"/>
                <a:cs typeface="Malgun Gothic"/>
              </a:rPr>
              <a:t>Gaussian process modeling of large-scale terrain</a:t>
            </a:r>
            <a:r>
              <a:rPr sz="1050" b="0" i="0">
                <a:solidFill>
                  <a:srgbClr val="16213A"/>
                </a:solidFill>
                <a:latin typeface="Arial"/>
                <a:ea typeface="Malgun Gothic"/>
                <a:cs typeface="Malgun Gothic"/>
              </a:rPr>
              <a:t>, JFR 2009). 다중 해상도이고, 불확실성을 자연스럽게 다루며, </a:t>
            </a:r>
            <a:r>
              <a:rPr sz="1050" b="1" i="0">
                <a:solidFill>
                  <a:srgbClr val="16213A"/>
                </a:solidFill>
                <a:latin typeface="Arial"/>
                <a:ea typeface="Malgun Gothic"/>
                <a:cs typeface="Malgun Gothic"/>
              </a:rPr>
              <a:t>관측 결손</a:t>
            </a:r>
            <a:r>
              <a:rPr sz="1050" b="0" i="0">
                <a:solidFill>
                  <a:srgbClr val="16213A"/>
                </a:solidFill>
                <a:latin typeface="Arial"/>
                <a:ea typeface="Malgun Gothic"/>
                <a:cs typeface="Malgun Gothic"/>
              </a:rPr>
              <a:t>(가림, 먼 거리의 성김)에 대응한다. travplan이 미관측 칸을 NaN으로 두고 그림자 상한·깊이 prior로 메우는 자리(TP-0044·0047·0067)와 같은 문제다. 격자 전체에 GP를 돌리는 비용이 걸림돌이고, 최신판은 Neural Process로 바꿔 푼다(</a:t>
            </a:r>
            <a:r>
              <a:rPr sz="1050" b="0" i="0">
                <a:solidFill>
                  <a:srgbClr val="1D4ED8"/>
                </a:solidFill>
                <a:latin typeface="Arial"/>
                <a:ea typeface="Malgun Gothic"/>
                <a:cs typeface="Malgun Gothic"/>
                <a:hlinkClick r:id="rId7"/>
              </a:rPr>
              <a:t>arXiv:2508.03890</a:t>
            </a:r>
            <a:r>
              <a:rPr sz="1050" b="0" i="0">
                <a:solidFill>
                  <a:srgbClr val="16213A"/>
                </a:solidFill>
                <a:latin typeface="Arial"/>
                <a:ea typeface="Malgun Gothic"/>
                <a:cs typeface="Malgun Gothic"/>
              </a:rPr>
              <a:t>, off-road 고도 모델링).</a:t>
            </a:r>
          </a:p>
        </p:txBody>
      </p:sp>
      <p:sp>
        <p:nvSpPr>
          <p:cNvPr id="11" name="TextBox 10"/>
          <p:cNvSpPr txBox="1"/>
          <p:nvPr/>
        </p:nvSpPr>
        <p:spPr>
          <a:xfrm>
            <a:off x="609600" y="4934744"/>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그리고 앞서 적은 것을 하나 고친다.</a:t>
            </a:r>
            <a:r>
              <a:rPr sz="1050" b="0" i="0">
                <a:solidFill>
                  <a:srgbClr val="16213A"/>
                </a:solidFill>
                <a:latin typeface="Arial"/>
                <a:ea typeface="Malgun Gothic"/>
                <a:cs typeface="Malgun Gothic"/>
              </a:rPr>
              <a:t> MPC 문서 M.1에 "MPPI에는 hard 제약이 없으니 GP 분산을 쓰려면 acados NMPC가 필요하다"고 적었다. </a:t>
            </a:r>
            <a:r>
              <a:rPr sz="1050" b="1" i="0">
                <a:solidFill>
                  <a:srgbClr val="C2410C"/>
                </a:solidFill>
                <a:latin typeface="Arial"/>
                <a:ea typeface="Malgun Gothic"/>
                <a:cs typeface="Malgun Gothic"/>
              </a:rPr>
              <a:t>그렇지 않다.</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8"/>
              </a:rPr>
              <a:t>Data-Driven Sampling Based Stochastic MPC</a:t>
            </a:r>
            <a:r>
              <a:rPr sz="1050" b="0" i="0">
                <a:solidFill>
                  <a:srgbClr val="16213A"/>
                </a:solidFill>
                <a:latin typeface="Arial"/>
                <a:ea typeface="Malgun Gothic"/>
                <a:cs typeface="Malgun Gothic"/>
              </a:rPr>
              <a:t>(Trivedi 외, ICRA 2025, E.9의 스키드 스티어 운동 모델과 같은 연구실)는 동적 유니사이클에 GP 잔차를 더하고 </a:t>
            </a:r>
            <a:r>
              <a:rPr sz="1050" b="1" i="0">
                <a:solidFill>
                  <a:srgbClr val="16213A"/>
                </a:solidFill>
                <a:latin typeface="Arial"/>
                <a:ea typeface="Malgun Gothic"/>
                <a:cs typeface="Malgun Gothic"/>
              </a:rPr>
              <a:t>장애물 회피와 경로 추종을 확률 제약으로 세워 MPPI로 푼다.</a:t>
            </a:r>
            <a:r>
              <a:rPr sz="1050" b="0" i="0">
                <a:solidFill>
                  <a:srgbClr val="16213A"/>
                </a:solidFill>
                <a:latin typeface="Arial"/>
                <a:ea typeface="Malgun Gothic"/>
                <a:cs typeface="Malgun Gothic"/>
              </a:rPr>
              <a:t> GPU 가속으로 실시간이고 스키드 스티어 실물에서 검증했다.</a:t>
            </a:r>
          </a:p>
        </p:txBody>
      </p:sp>
      <p:sp>
        <p:nvSpPr>
          <p:cNvPr id="12" name="TextBox 11"/>
          <p:cNvSpPr txBox="1"/>
          <p:nvPr/>
        </p:nvSpPr>
        <p:spPr>
          <a:xfrm>
            <a:off x="609600" y="567313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그래서 travplan에는 길이 둘 다 열려 있다.</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E. Controller — 학습 동역학과 추종 (참고)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E.10 GP가 모바일 로봇에서 앉는 자리는 셋이다</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79 / 183</a:t>
            </a:r>
          </a:p>
        </p:txBody>
      </p:sp>
      <p:graphicFrame>
        <p:nvGraphicFramePr>
          <p:cNvPr id="5" name="Table 4"/>
          <p:cNvGraphicFramePr>
            <a:graphicFrameLocks noGrp="1"/>
          </p:cNvGraphicFramePr>
          <p:nvPr/>
        </p:nvGraphicFramePr>
        <p:xfrm>
          <a:off x="609600" y="1244600"/>
          <a:ext cx="10966450" cy="833040"/>
        </p:xfrm>
        <a:graphic>
          <a:graphicData uri="http://schemas.openxmlformats.org/drawingml/2006/table">
            <a:tbl>
              <a:tblPr firstRow="1" bandRow="1">
                <a:tableStyleId>{5C22544A-7EE6-4342-B048-85BDC9FD1C3A}</a:tableStyleId>
              </a:tblPr>
              <a:tblGrid>
                <a:gridCol w="1284188"/>
                <a:gridCol w="1653580"/>
                <a:gridCol w="1466255"/>
                <a:gridCol w="6562427"/>
              </a:tblGrid>
              <a:tr h="197088">
                <a:tc>
                  <a:txBody>
                    <a:bodyPr wrap="square"/>
                    <a:lstStyle/>
                    <a:p>
                      <a:r>
                        <a:rPr sz="800" b="1" i="0">
                          <a:solidFill>
                            <a:srgbClr val="F4F1EA"/>
                          </a:solidFill>
                          <a:latin typeface="Arial"/>
                          <a:ea typeface="Malgun Gothic"/>
                          <a:cs typeface="Malgun Gothic"/>
                        </a:rPr>
                        <a:t>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내용</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강점</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상태</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(a) acados NMPC + 조인 제약</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잔차 평균을 파라미터로, 분산으로 제약을 조인다</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hard 제약·튜브·0차 GP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정적 38/40, GP 평균으로 plant 37 → 44/48(MPC 문서 M.3.10–M.3.12). 분산 조임(TP-0069)이 다음</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(b) MPPI + chance constraint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샘플 비용에 확률 제약을 세운다</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비평활 비용</a:t>
                      </a:r>
                      <a:r>
                        <a:rPr sz="800" b="0" i="0">
                          <a:solidFill>
                            <a:srgbClr val="16213A"/>
                          </a:solidFill>
                          <a:latin typeface="Arial"/>
                          <a:ea typeface="Malgun Gothic"/>
                          <a:cs typeface="Malgun Gothic"/>
                        </a:rPr>
                        <a:t>(치명 셀, 이진 충돌)을 그대로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구현(TP-0076). 0선을 실패 경계에 맞춘 뒤(TP-0119) plant 96 에피소드 89/96, 기준 88/96과 차이는 유의하지 않다. 남은 치명 실패에 기하 원인은 없고 지연 편향이 유력하다(MPC 문서 M.3.13–M.3.14)</a:t>
                      </a:r>
                    </a:p>
                  </a:txBody>
                  <a:tcPr marL="63500" marR="63500" marT="12700" marB="12700">
                    <a:solidFill>
                      <a:srgbClr val="F3F0E8"/>
                    </a:solidFill>
                  </a:tcPr>
                </a:tc>
              </a:tr>
            </a:tbl>
          </a:graphicData>
        </a:graphic>
      </p:graphicFrame>
      <p:sp>
        <p:nvSpPr>
          <p:cNvPr id="6" name="TextBox 5"/>
          <p:cNvSpPr txBox="1"/>
          <p:nvPr/>
        </p:nvSpPr>
        <p:spPr>
          <a:xfrm>
            <a:off x="609600" y="2381151"/>
            <a:ext cx="10972800" cy="43299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2026-09-30에 "MPPI는 개발 계획 제외" 규칙이 해제됐다(CLAUDE.md, PRD §7).</a:t>
            </a:r>
            <a:r>
              <a:rPr sz="1050" b="0" i="0">
                <a:solidFill>
                  <a:srgbClr val="16213A"/>
                </a:solidFill>
                <a:latin typeface="Arial"/>
                <a:ea typeface="Malgun Gothic"/>
                <a:cs typeface="Malgun Gothic"/>
              </a:rPr>
              <a:t> 둘 중 하나를 고르는 것이 아니라 </a:t>
            </a:r>
            <a:r>
              <a:rPr sz="1050" b="1" i="0">
                <a:solidFill>
                  <a:srgbClr val="16213A"/>
                </a:solidFill>
                <a:latin typeface="Arial"/>
                <a:ea typeface="Malgun Gothic"/>
                <a:cs typeface="Malgun Gothic"/>
              </a:rPr>
              <a:t>둘 다 개발하고 같은 벤치마크에서 비교한다.</a:t>
            </a:r>
            <a:r>
              <a:rPr sz="1050" b="0" i="0">
                <a:solidFill>
                  <a:srgbClr val="16213A"/>
                </a:solidFill>
                <a:latin typeface="Arial"/>
                <a:ea typeface="Malgun Gothic"/>
                <a:cs typeface="Malgun Gothic"/>
              </a:rPr>
              <a:t> 강점이 갈리기 때문이다 — MPPI는 절벽 비용을 샘플로 넘고, NMPC는 제약을 형식적으로 건다. 잔차 GP와 ESDF는 둘이 공유하므로 두 번 만들 것은 없다.</a:t>
            </a:r>
          </a:p>
        </p:txBody>
      </p:sp>
      <p:sp>
        <p:nvSpPr>
          <p:cNvPr id="7" name="TextBox 6"/>
          <p:cNvSpPr txBox="1"/>
          <p:nvPr/>
        </p:nvSpPr>
        <p:spPr>
          <a:xfrm>
            <a:off x="609600" y="290304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마지막으로 보도 배달 자체.</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
              </a:rPr>
              <a:t>Robust Route Planning for Sidewalk Delivery Robots</a:t>
            </a:r>
            <a:r>
              <a:rPr sz="1050" b="0" i="0">
                <a:solidFill>
                  <a:srgbClr val="16213A"/>
                </a:solidFill>
                <a:latin typeface="Arial"/>
                <a:ea typeface="Malgun Gothic"/>
                <a:cs typeface="Malgun Gothic"/>
              </a:rPr>
              <a:t>(2025)는 층이 다르다 — 동역학이 아니라 </a:t>
            </a:r>
            <a:r>
              <a:rPr sz="1050" b="1" i="0">
                <a:solidFill>
                  <a:srgbClr val="16213A"/>
                </a:solidFill>
                <a:latin typeface="Arial"/>
                <a:ea typeface="Malgun Gothic"/>
                <a:cs typeface="Malgun Gothic"/>
              </a:rPr>
              <a:t>주행 시간의 불확실성</a:t>
            </a:r>
            <a:r>
              <a:rPr sz="1050" b="0" i="0">
                <a:solidFill>
                  <a:srgbClr val="16213A"/>
                </a:solidFill>
                <a:latin typeface="Arial"/>
                <a:ea typeface="Malgun Gothic"/>
                <a:cs typeface="Malgun Gothic"/>
              </a:rPr>
              <a:t>을 집합으로 잡아 경로를 고른다. travplan의 전역 경로 위쪽 층이고, TP-0038의 100 m당 지표와 이어 볼 값이 있다.</a:t>
            </a:r>
          </a:p>
        </p:txBody>
      </p:sp>
      <p:sp>
        <p:nvSpPr>
          <p:cNvPr id="8" name="TextBox 7"/>
          <p:cNvSpPr txBox="1"/>
          <p:nvPr/>
        </p:nvSpPr>
        <p:spPr>
          <a:xfrm>
            <a:off x="717550" y="3424932"/>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고도 불확실성을 바퀴 접촉의 최댓값으로 닫힌 형태로 전파한다</a:t>
            </a:r>
          </a:p>
        </p:txBody>
      </p:sp>
      <p:sp>
        <p:nvSpPr>
          <p:cNvPr id="9" name="TextBox 8"/>
          <p:cNvSpPr txBox="1"/>
          <p:nvPr/>
        </p:nvSpPr>
        <p:spPr>
          <a:xfrm>
            <a:off x="609600" y="3728145"/>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바퀴가 놓이는 높이는 바퀴 발자국 안 칸 높이의 최댓값이다. 이 연구는 칸마다 가우시안 불확실성이 있을 때 그 최댓값의 평균과 분산을 Clark의 근사로 닫힌 형태로 구한다</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4"/>
              </a:rPr>
              <a:t>arXiv:2610.06103</a:t>
            </a:r>
            <a:r>
              <a:rPr sz="1050" b="0" i="0">
                <a:solidFill>
                  <a:srgbClr val="16213A"/>
                </a:solidFill>
                <a:latin typeface="Arial"/>
                <a:ea typeface="Malgun Gothic"/>
                <a:cs typeface="Malgun Gothic"/>
              </a:rPr>
              <a:t>, 2026-10, ICRA 2027 투고, CTU Prague, Kučera·Zimmermann). 코드는 공개 예정이라고만 적었다. </a:t>
            </a:r>
            <a:r>
              <a:rPr sz="1050" b="1" i="0">
                <a:solidFill>
                  <a:srgbClr val="C2410C"/>
                </a:solidFill>
                <a:latin typeface="Arial"/>
                <a:ea typeface="Malgun Gothic"/>
                <a:cs typeface="Malgun Gothic"/>
              </a:rPr>
              <a:t>평균 지도에서 이긴 칸 하나로만 선형화하면 최댓값의 평균이 부푸는 몫과 경쟁하는 칸의 분산을 놓친다.</a:t>
            </a:r>
          </a:p>
        </p:txBody>
      </p:sp>
      <p:sp>
        <p:nvSpPr>
          <p:cNvPr id="10" name="TextBox 9"/>
          <p:cNvSpPr txBox="1"/>
          <p:nvPr/>
        </p:nvSpPr>
        <p:spPr>
          <a:xfrm>
            <a:off x="609600" y="446653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동작 방식.</a:t>
            </a:r>
            <a:r>
              <a:rPr sz="1050" b="0" i="0">
                <a:solidFill>
                  <a:srgbClr val="16213A"/>
                </a:solidFill>
                <a:latin typeface="Arial"/>
                <a:ea typeface="Malgun Gothic"/>
                <a:cs typeface="Malgun Gothic"/>
              </a:rPr>
              <a:t> 두 가우시안의 최댓값의 1·2차 모멘트(Clark 1961)를 발자국 칸에 차례로 적용해 접고, 접을 때마다 가우시안으로 모멘트를 맞춘다. 공유하는 지도 칸과의 공분산도 따라간다. 그 위에서 pitch·roll 제곱합 같은 2차 경로 비용의 평균과 분산을 가우시안 2차형식의 정확한 공식으로 낸다. 경로 전체를 합치면 표준편차가 여전히 작게 나와서, 매개변수 둘로 된 보정 법칙을 주행 두 개에 맞춰 곱한다. 경로 순위는 평균에 표준편차의 배수를 더한 가우시안 CVaR(q = 0.90)로 매긴다.</a:t>
            </a:r>
          </a:p>
        </p:txBody>
      </p:sp>
      <p:sp>
        <p:nvSpPr>
          <p:cNvPr id="11" name="TextBox 10"/>
          <p:cNvSpPr txBox="1"/>
          <p:nvPr/>
        </p:nvSpPr>
        <p:spPr>
          <a:xfrm>
            <a:off x="609600" y="5204916"/>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BASEPROD 반사막 로버 고도 데이터의 보지 않은 주행 18개를 두 지도 조건(미리 보기, 지나온 뒤)에서 4 m 창 317개와 323개로 잘라 2만 표본 몬테카를로와 비교했다. 보정한 접기의 CVaR 오차 중앙값은 선형화보다 2.7–3.4배 작았다. 기준 최선 경로를 고른 비율은 98%로, 선형화 93–96%, 평균 지도 88–90%보다 높다. 다만 미리 보는 조건에서 선형화와의 차이는 유의하지 않았다(p = 0.09). 계획 하나에 약 5.5 µs(RTX 3090, 계획 256개 × 40스텝)이고, 32표본 몬테카를로의 0.4배다. 저자가 적은 가장 큰 한계는 지도 자체의 보정이다. 드론 측량과 비교하니 ±1σ 안에 드는 점이 20–21%뿐이었다 (명목 68%). 실험은 닫힌 루프 주행이 아니라 오프라인 평가다.</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E. Controller — 학습 동역학과 추종 (참고)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E.10 GP가 모바일 로봇에서 앉는 자리는 셋이다</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80 / 183</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위 표의 ③(지도 자체)과 확률 제약 길 (b)를 잇는 계산이다. TravMap에는 </a:t>
            </a:r>
            <a:r>
              <a:rPr sz="1050" b="0" i="0">
                <a:solidFill>
                  <a:srgbClr val="16213A"/>
                </a:solidFill>
                <a:latin typeface="Consolas"/>
                <a:ea typeface="Malgun Gothic"/>
                <a:cs typeface="Malgun Gothic"/>
              </a:rPr>
              <a:t>ELEV</a:t>
            </a:r>
            <a:r>
              <a:rPr sz="1050" b="0" i="0">
                <a:solidFill>
                  <a:srgbClr val="16213A"/>
                </a:solidFill>
                <a:latin typeface="Arial"/>
                <a:ea typeface="Malgun Gothic"/>
                <a:cs typeface="Malgun Gothic"/>
              </a:rPr>
              <a:t>와 </a:t>
            </a:r>
            <a:r>
              <a:rPr sz="1050" b="0" i="0">
                <a:solidFill>
                  <a:srgbClr val="16213A"/>
                </a:solidFill>
                <a:latin typeface="Consolas"/>
                <a:ea typeface="Malgun Gothic"/>
                <a:cs typeface="Malgun Gothic"/>
              </a:rPr>
              <a:t>SIGMA</a:t>
            </a:r>
            <a:r>
              <a:rPr sz="1050" b="0" i="0">
                <a:solidFill>
                  <a:srgbClr val="16213A"/>
                </a:solidFill>
                <a:latin typeface="Arial"/>
                <a:ea typeface="Malgun Gothic"/>
                <a:cs typeface="Malgun Gothic"/>
              </a:rPr>
              <a:t>가 있다. 지금 </a:t>
            </a:r>
            <a:r>
              <a:rPr sz="1050" b="0" i="0">
                <a:solidFill>
                  <a:srgbClr val="16213A"/>
                </a:solidFill>
                <a:latin typeface="Consolas"/>
                <a:ea typeface="Malgun Gothic"/>
                <a:cs typeface="Malgun Gothic"/>
              </a:rPr>
              <a:t>SIGMA</a:t>
            </a:r>
            <a:r>
              <a:rPr sz="1050" b="0" i="0">
                <a:solidFill>
                  <a:srgbClr val="16213A"/>
                </a:solidFill>
                <a:latin typeface="Arial"/>
                <a:ea typeface="Malgun Gothic"/>
                <a:cs typeface="Malgun Gothic"/>
              </a:rPr>
              <a:t>는 </a:t>
            </a:r>
            <a:r>
              <a:rPr sz="1050" b="0" i="0">
                <a:solidFill>
                  <a:srgbClr val="16213A"/>
                </a:solidFill>
                <a:latin typeface="Consolas"/>
                <a:ea typeface="Malgun Gothic"/>
                <a:cs typeface="Malgun Gothic"/>
              </a:rPr>
              <a:t>RiskCost</a:t>
            </a:r>
            <a:r>
              <a:rPr sz="1050" b="0" i="0">
                <a:solidFill>
                  <a:srgbClr val="16213A"/>
                </a:solidFill>
                <a:latin typeface="Arial"/>
                <a:ea typeface="Malgun Gothic"/>
                <a:cs typeface="Malgun Gothic"/>
              </a:rPr>
              <a:t>(CVaR)에서 cost에 더하는 몫으로만 들어가고, rollout 자세(</a:t>
            </a:r>
            <a:r>
              <a:rPr sz="1050" b="0" i="0">
                <a:solidFill>
                  <a:srgbClr val="16213A"/>
                </a:solidFill>
                <a:latin typeface="Consolas"/>
                <a:ea typeface="Malgun Gothic"/>
                <a:cs typeface="Malgun Gothic"/>
              </a:rPr>
              <a:t>terrain_attitude</a:t>
            </a:r>
            <a:r>
              <a:rPr sz="1050" b="0" i="0">
                <a:solidFill>
                  <a:srgbClr val="16213A"/>
                </a:solidFill>
                <a:latin typeface="Arial"/>
                <a:ea typeface="Malgun Gothic"/>
                <a:cs typeface="Malgun Gothic"/>
              </a:rPr>
              <a:t>)는 평균 고도의 기울기 채널로 계산하고, 바퀴 접촉 높이는 따로 계산하지 않는다. 바퀴 네 개의 접촉 높이를 접기로 계산하면 rollout마다 pitch의 평균과 분산이 나오고, 그 CVaR를 </a:t>
            </a:r>
            <a:r>
              <a:rPr sz="1050" b="0" i="0">
                <a:solidFill>
                  <a:srgbClr val="16213A"/>
                </a:solidFill>
                <a:latin typeface="Consolas"/>
                <a:ea typeface="Malgun Gothic"/>
                <a:cs typeface="Malgun Gothic"/>
              </a:rPr>
              <a:t>CostTerm</a:t>
            </a:r>
            <a:r>
              <a:rPr sz="1050" b="0" i="0">
                <a:solidFill>
                  <a:srgbClr val="16213A"/>
                </a:solidFill>
                <a:latin typeface="Arial"/>
                <a:ea typeface="Malgun Gothic"/>
                <a:cs typeface="Malgun Gothic"/>
              </a:rPr>
              <a:t> 하나로 넣을 수 있다. 계획 하나에 마이크로초 단위라 768 rollout × 40스텝에도 부담이 작다. 다만 이 수치는 GPU 커널 기준이라 PyTorch 구현은 따로 재야 한다. 순서는 이 논문의 마지막 결과가 정한다. σ가 실제 오차를 덮지 못하면 전파를 정확히 해도 이득이 없다. 그래서 L1 매퍼의 </a:t>
            </a:r>
            <a:r>
              <a:rPr sz="1050" b="0" i="0">
                <a:solidFill>
                  <a:srgbClr val="16213A"/>
                </a:solidFill>
                <a:latin typeface="Consolas"/>
                <a:ea typeface="Malgun Gothic"/>
                <a:cs typeface="Malgun Gothic"/>
              </a:rPr>
              <a:t>SIGMA</a:t>
            </a:r>
            <a:r>
              <a:rPr sz="1050" b="0" i="0">
                <a:solidFill>
                  <a:srgbClr val="16213A"/>
                </a:solidFill>
                <a:latin typeface="Arial"/>
                <a:ea typeface="Malgun Gothic"/>
                <a:cs typeface="Malgun Gothic"/>
              </a:rPr>
              <a:t>가 실제 고도 오차를 얼마나 덮는지(인식 문서의 지도 품질 지표)를 먼저 잰다. C.2의 DUCCT-MPPI 보정 평가와 같은 교훈이다.</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E. Controller — 학습 동역학과 추종 (참고)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E.10 GP가 모바일 로봇에서 앉는 자리는 셋이다</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81 / 183</a:t>
            </a:r>
          </a:p>
        </p:txBody>
      </p:sp>
      <p:pic>
        <p:nvPicPr>
          <p:cNvPr id="5" name="Picture 4" descr="image.jpg"/>
          <p:cNvPicPr>
            <a:picLocks noChangeAspect="1"/>
          </p:cNvPicPr>
          <p:nvPr/>
        </p:nvPicPr>
        <p:blipFill>
          <a:blip r:embed="rId3"/>
          <a:stretch>
            <a:fillRect/>
          </a:stretch>
        </p:blipFill>
        <p:spPr>
          <a:xfrm>
            <a:off x="2787650" y="1244600"/>
            <a:ext cx="6616700" cy="4445000"/>
          </a:xfrm>
          <a:prstGeom prst="rect">
            <a:avLst/>
          </a:prstGeom>
        </p:spPr>
      </p:pic>
      <p:sp>
        <p:nvSpPr>
          <p:cNvPr id="6" name="TextBox 5"/>
          <p:cNvSpPr txBox="1"/>
          <p:nvPr/>
        </p:nvSpPr>
        <p:spPr>
          <a:xfrm>
            <a:off x="2787650" y="5727700"/>
            <a:ext cx="66167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접촉 최댓값 전파 (Fig. 4): BASEPROD 고도 지도의 4 m 창. 평균 지도를 CVaR 위험으로 칠하고 위험이 가장 큰 자리에 로봇을 그렸다. 뒤쪽 접촉의 경쟁과 스텝별 비용의 ±1σ 띠도 보인다. 출처: arXiv:2610.06103</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학습 동역학·적응 · E. Controller — 학습 동역학과 추종 (참고)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E.10 GP가 모바일 로봇에서 앉는 자리는 셋이다</a:t>
            </a:r>
            <a:r>
              <a:rPr sz="1050" b="0" i="0">
                <a:solidFill>
                  <a:srgbClr val="5A6478"/>
                </a:solidFill>
                <a:latin typeface="Arial"/>
                <a:ea typeface="Malgun Gothic"/>
                <a:cs typeface="Malgun Gothic"/>
              </a:rPr>
              <a:t>  자세히: 접촉 높이와 Clark의 최댓값 모멘트</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82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접촉 높이.</a:t>
            </a:r>
            <a:r>
              <a:rPr sz="1050" b="0" i="0">
                <a:solidFill>
                  <a:srgbClr val="16213A"/>
                </a:solidFill>
                <a:latin typeface="Arial"/>
                <a:ea typeface="Malgun Gothic"/>
                <a:cs typeface="Malgun Gothic"/>
              </a:rPr>
              <a:t> 바퀴 발자국의 칸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마다 불확실한 높이 </a:t>
            </a:r>
            <a:r>
              <a:rPr sz="1050" b="0" i="1">
                <a:solidFill>
                  <a:srgbClr val="16213A"/>
                </a:solidFill>
                <a:latin typeface="Arial"/>
                <a:ea typeface="Malgun Gothic"/>
                <a:cs typeface="Malgun Gothic"/>
              </a:rPr>
              <a:t>h_c</a:t>
            </a:r>
            <a:r>
              <a:rPr sz="1050" b="0" i="0">
                <a:solidFill>
                  <a:srgbClr val="16213A"/>
                </a:solidFill>
                <a:latin typeface="Arial"/>
                <a:ea typeface="Malgun Gothic"/>
                <a:cs typeface="Malgun Gothic"/>
              </a:rPr>
              <a:t>와 바퀴 모양에 따른 기하 오프셋 </a:t>
            </a:r>
            <a:r>
              <a:rPr sz="1050" b="0" i="1">
                <a:solidFill>
                  <a:srgbClr val="16213A"/>
                </a:solidFill>
                <a:latin typeface="Arial"/>
                <a:ea typeface="Malgun Gothic"/>
                <a:cs typeface="Malgun Gothic"/>
              </a:rPr>
              <a:t>κ_c</a:t>
            </a:r>
            <a:r>
              <a:rPr sz="1050" b="0" i="0">
                <a:solidFill>
                  <a:srgbClr val="16213A"/>
                </a:solidFill>
                <a:latin typeface="Arial"/>
                <a:ea typeface="Malgun Gothic"/>
                <a:cs typeface="Malgun Gothic"/>
              </a:rPr>
              <a:t>가 있다.</a:t>
            </a:r>
          </a:p>
        </p:txBody>
      </p:sp>
      <p:pic>
        <p:nvPicPr>
          <p:cNvPr id="6" name="Picture 5" descr="image.png"/>
          <p:cNvPicPr>
            <a:picLocks noChangeAspect="1"/>
          </p:cNvPicPr>
          <p:nvPr/>
        </p:nvPicPr>
        <p:blipFill>
          <a:blip r:embed="rId3"/>
          <a:stretch>
            <a:fillRect/>
          </a:stretch>
        </p:blipFill>
        <p:spPr>
          <a:xfrm>
            <a:off x="609600" y="1549995"/>
            <a:ext cx="2835275" cy="298450"/>
          </a:xfrm>
          <a:prstGeom prst="rect">
            <a:avLst/>
          </a:prstGeom>
        </p:spPr>
      </p:pic>
      <p:sp>
        <p:nvSpPr>
          <p:cNvPr id="7" name="TextBox 6"/>
          <p:cNvSpPr txBox="1"/>
          <p:nvPr/>
        </p:nvSpPr>
        <p:spPr>
          <a:xfrm>
            <a:off x="609600" y="187483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Clark의 두 변수 최댓값.</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X₁, X₂</a:t>
            </a:r>
            <a:r>
              <a:rPr sz="1050" b="0" i="0">
                <a:solidFill>
                  <a:srgbClr val="16213A"/>
                </a:solidFill>
                <a:latin typeface="Arial"/>
                <a:ea typeface="Malgun Gothic"/>
                <a:cs typeface="Malgun Gothic"/>
              </a:rPr>
              <a:t>가 결합 가우시안이고 </a:t>
            </a:r>
            <a:r>
              <a:rPr sz="1050" b="0" i="1">
                <a:solidFill>
                  <a:srgbClr val="16213A"/>
                </a:solidFill>
                <a:latin typeface="Arial"/>
                <a:ea typeface="Malgun Gothic"/>
                <a:cs typeface="Malgun Gothic"/>
              </a:rPr>
              <a:t>θ² = σ₁² + σ₂² - 2ρσ₁σ₂</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α = (μ₁ - μ₂)/θ</a:t>
            </a:r>
            <a:r>
              <a:rPr sz="1050" b="0" i="0">
                <a:solidFill>
                  <a:srgbClr val="16213A"/>
                </a:solidFill>
                <a:latin typeface="Arial"/>
                <a:ea typeface="Malgun Gothic"/>
                <a:cs typeface="Malgun Gothic"/>
              </a:rPr>
              <a:t>이면 평균은 다음과 같다. </a:t>
            </a:r>
            <a:r>
              <a:rPr sz="1050" b="0" i="1">
                <a:solidFill>
                  <a:srgbClr val="16213A"/>
                </a:solidFill>
                <a:latin typeface="Arial"/>
                <a:ea typeface="Malgun Gothic"/>
                <a:cs typeface="Malgun Gothic"/>
              </a:rPr>
              <a:t>Φ</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φ</a:t>
            </a:r>
            <a:r>
              <a:rPr sz="1050" b="0" i="0">
                <a:solidFill>
                  <a:srgbClr val="16213A"/>
                </a:solidFill>
                <a:latin typeface="Arial"/>
                <a:ea typeface="Malgun Gothic"/>
                <a:cs typeface="Malgun Gothic"/>
              </a:rPr>
              <a:t>는 표준 정규 누적분포와 밀도다. 2차 모멘트도 같은 꼴로 닫힌다.</a:t>
            </a:r>
          </a:p>
        </p:txBody>
      </p:sp>
      <p:pic>
        <p:nvPicPr>
          <p:cNvPr id="8" name="Picture 7" descr="image.png"/>
          <p:cNvPicPr>
            <a:picLocks noChangeAspect="1"/>
          </p:cNvPicPr>
          <p:nvPr/>
        </p:nvPicPr>
        <p:blipFill>
          <a:blip r:embed="rId4"/>
          <a:stretch>
            <a:fillRect/>
          </a:stretch>
        </p:blipFill>
        <p:spPr>
          <a:xfrm>
            <a:off x="609600" y="2180233"/>
            <a:ext cx="3463925" cy="238125"/>
          </a:xfrm>
          <a:prstGeom prst="rect">
            <a:avLst/>
          </a:prstGeom>
        </p:spPr>
      </p:pic>
      <p:sp>
        <p:nvSpPr>
          <p:cNvPr id="9" name="TextBox 8"/>
          <p:cNvSpPr txBox="1"/>
          <p:nvPr/>
        </p:nvSpPr>
        <p:spPr>
          <a:xfrm>
            <a:off x="609600" y="2457748"/>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마지막 항 </a:t>
            </a:r>
            <a:r>
              <a:rPr sz="1050" b="0" i="1">
                <a:solidFill>
                  <a:srgbClr val="16213A"/>
                </a:solidFill>
                <a:latin typeface="Arial"/>
                <a:ea typeface="Malgun Gothic"/>
                <a:cs typeface="Malgun Gothic"/>
              </a:rPr>
              <a:t>θ φ(α)</a:t>
            </a:r>
            <a:r>
              <a:rPr sz="1050" b="0" i="0">
                <a:solidFill>
                  <a:srgbClr val="16213A"/>
                </a:solidFill>
                <a:latin typeface="Arial"/>
                <a:ea typeface="Malgun Gothic"/>
                <a:cs typeface="Malgun Gothic"/>
              </a:rPr>
              <a:t>가 Jensen 부등식으로 평균이 부푸는 몫이다. 두 칸의 평균이 비슷할수록(</a:t>
            </a:r>
            <a:r>
              <a:rPr sz="1050" b="0" i="1">
                <a:solidFill>
                  <a:srgbClr val="16213A"/>
                </a:solidFill>
                <a:latin typeface="Arial"/>
                <a:ea typeface="Malgun Gothic"/>
                <a:cs typeface="Malgun Gothic"/>
              </a:rPr>
              <a:t>α ≈ 0</a:t>
            </a:r>
            <a:r>
              <a:rPr sz="1050" b="0" i="0">
                <a:solidFill>
                  <a:srgbClr val="16213A"/>
                </a:solidFill>
                <a:latin typeface="Arial"/>
                <a:ea typeface="Malgun Gothic"/>
                <a:cs typeface="Malgun Gothic"/>
              </a:rPr>
              <a:t>) 커지고, 선형화는 이 몫을 0으로 둔다.</a:t>
            </a:r>
          </a:p>
        </p:txBody>
      </p:sp>
      <p:sp>
        <p:nvSpPr>
          <p:cNvPr id="10" name="TextBox 9"/>
          <p:cNvSpPr txBox="1"/>
          <p:nvPr/>
        </p:nvSpPr>
        <p:spPr>
          <a:xfrm>
            <a:off x="609600" y="276314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보정.</a:t>
            </a:r>
            <a:r>
              <a:rPr sz="1050" b="0" i="0">
                <a:solidFill>
                  <a:srgbClr val="16213A"/>
                </a:solidFill>
                <a:latin typeface="Arial"/>
                <a:ea typeface="Malgun Gothic"/>
                <a:cs typeface="Malgun Gothic"/>
              </a:rPr>
              <a:t> 접기를 여러 번 하면 표준편차를 과소 추정한다. 저자는 경쟁 깊이 </a:t>
            </a:r>
            <a:r>
              <a:rPr sz="1050" b="0" i="1">
                <a:solidFill>
                  <a:srgbClr val="16213A"/>
                </a:solidFill>
                <a:latin typeface="Arial"/>
                <a:ea typeface="Malgun Gothic"/>
                <a:cs typeface="Malgun Gothic"/>
              </a:rPr>
              <a:t>α_w</a:t>
            </a:r>
            <a:r>
              <a:rPr sz="1050" b="0" i="0">
                <a:solidFill>
                  <a:srgbClr val="16213A"/>
                </a:solidFill>
                <a:latin typeface="Arial"/>
                <a:ea typeface="Malgun Gothic"/>
                <a:cs typeface="Malgun Gothic"/>
              </a:rPr>
              <a:t>에 대한 법칙 </a:t>
            </a:r>
            <a:r>
              <a:rPr sz="1050" b="0" i="1">
                <a:solidFill>
                  <a:srgbClr val="16213A"/>
                </a:solidFill>
                <a:latin typeface="Arial"/>
                <a:ea typeface="Malgun Gothic"/>
                <a:cs typeface="Malgun Gothic"/>
              </a:rPr>
              <a:t>d(α_w) = 1 - β e^(-γ α_w)</a:t>
            </a:r>
            <a:r>
              <a:rPr sz="1050" b="0" i="0">
                <a:solidFill>
                  <a:srgbClr val="16213A"/>
                </a:solidFill>
                <a:latin typeface="Arial"/>
                <a:ea typeface="Malgun Gothic"/>
                <a:cs typeface="Malgun Gothic"/>
              </a:rPr>
              <a:t>(</a:t>
            </a:r>
            <a:r>
              <a:rPr sz="1050" b="0" i="1">
                <a:solidFill>
                  <a:srgbClr val="16213A"/>
                </a:solidFill>
                <a:latin typeface="Arial"/>
                <a:ea typeface="Malgun Gothic"/>
                <a:cs typeface="Malgun Gothic"/>
              </a:rPr>
              <a:t>β = 0.110</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γ = 1.02</a:t>
            </a:r>
            <a:r>
              <a:rPr sz="1050" b="0" i="0">
                <a:solidFill>
                  <a:srgbClr val="16213A"/>
                </a:solidFill>
                <a:latin typeface="Arial"/>
                <a:ea typeface="Malgun Gothic"/>
                <a:cs typeface="Malgun Gothic"/>
              </a:rPr>
              <a:t>)를 맞추고 예측 표준편차에 </a:t>
            </a:r>
            <a:r>
              <a:rPr sz="1050" b="0" i="1">
                <a:solidFill>
                  <a:srgbClr val="16213A"/>
                </a:solidFill>
                <a:latin typeface="Arial"/>
                <a:ea typeface="Malgun Gothic"/>
                <a:cs typeface="Malgun Gothic"/>
              </a:rPr>
              <a:t>1/d</a:t>
            </a:r>
            <a:r>
              <a:rPr sz="1050" b="0" i="0">
                <a:solidFill>
                  <a:srgbClr val="16213A"/>
                </a:solidFill>
                <a:latin typeface="Arial"/>
                <a:ea typeface="Malgun Gothic"/>
                <a:cs typeface="Malgun Gothic"/>
              </a:rPr>
              <a:t>를 곱한다.</a:t>
            </a:r>
          </a:p>
        </p:txBody>
      </p:sp>
      <p:sp>
        <p:nvSpPr>
          <p:cNvPr id="11" name="TextBox 10"/>
          <p:cNvSpPr txBox="1"/>
          <p:nvPr/>
        </p:nvSpPr>
        <p:spPr>
          <a:xfrm>
            <a:off x="609600" y="306853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포트홀 가장자리와 연석처럼 높이가 다른 칸이 한 바퀴 아래서 경쟁하는 곳이 travplan 치명 실패가 나는 곳이다. 평균이 부푸는 몫이 바로 거기서 커진다.</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Controller · 안전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안전 필터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Controller · 안전 (docs/research-controller.md)    83 / 183</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1" i="0">
                <a:solidFill>
                  <a:srgbClr val="F59E5B"/>
                </a:solidFill>
                <a:latin typeface="Arial"/>
                <a:ea typeface="Malgun Gothic"/>
                <a:cs typeface="Malgun Gothic"/>
              </a:rPr>
              <a:t>C. 동적 장애물 안전 필터</a:t>
            </a:r>
          </a:p>
          <a:p>
            <a:pPr>
              <a:spcAft>
                <a:spcPts val="400"/>
              </a:spcAft>
            </a:pPr>
            <a:r>
              <a:rPr sz="1000" b="0" i="0">
                <a:solidFill>
                  <a:srgbClr val="C9D1E0"/>
                </a:solidFill>
                <a:latin typeface="Arial"/>
                <a:ea typeface="Malgun Gothic"/>
                <a:cs typeface="Malgun Gothic"/>
              </a:rPr>
              <a:t>C.1 두 구조</a:t>
            </a:r>
          </a:p>
          <a:p>
            <a:pPr>
              <a:spcAft>
                <a:spcPts val="400"/>
              </a:spcAft>
            </a:pPr>
            <a:r>
              <a:rPr sz="1000" b="0" i="0">
                <a:solidFill>
                  <a:srgbClr val="C9D1E0"/>
                </a:solidFill>
                <a:latin typeface="Arial"/>
                <a:ea typeface="Malgun Gothic"/>
                <a:cs typeface="Malgun Gothic"/>
              </a:rPr>
              <a:t>C.2 방식별 설명</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C.3 비교</a:t>
            </a:r>
          </a:p>
          <a:p>
            <a:pPr>
              <a:spcAft>
                <a:spcPts val="400"/>
              </a:spcAft>
            </a:pPr>
            <a:r>
              <a:rPr sz="1000" b="0" i="0">
                <a:solidFill>
                  <a:srgbClr val="C9D1E0"/>
                </a:solidFill>
                <a:latin typeface="Arial"/>
                <a:ea typeface="Malgun Gothic"/>
                <a:cs typeface="Malgun Gothic"/>
              </a:rPr>
              <a:t>C.4 안전 필터의 계보: CBF-QP, 도달 가능성, 예측 안전 필터</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안전 필터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C. 동적 장애물 안전 필터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84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보행자처럼 움직이는 장애물은 두 가지 방식으로 다룬다.</a:t>
            </a:r>
            <a:r>
              <a:rPr sz="1050" b="0" i="0">
                <a:solidFill>
                  <a:srgbClr val="16213A"/>
                </a:solidFill>
                <a:latin typeface="Arial"/>
                <a:ea typeface="Malgun Gothic"/>
                <a:cs typeface="Malgun Gothic"/>
              </a:rPr>
              <a:t> 예측을 비용에 녹여 최적화가 알아서 피하게 하거나(비용 통합형), 어떤 명령이 나오든 마지막에 안전 필터가 최소한으로 고치게 한다(외부 필터형). travplan은 비용 통합형으로 시작했고, 외부 필터는 라이선스 문제가 풀리면 더한다.</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안전 필터 · C. 동적 장애물 안전 필터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C.1 두 구조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85 / 183</a:t>
            </a:r>
          </a:p>
        </p:txBody>
      </p:sp>
      <p:sp>
        <p:nvSpPr>
          <p:cNvPr id="5" name="TextBox 4"/>
          <p:cNvSpPr txBox="1"/>
          <p:nvPr/>
        </p:nvSpPr>
        <p:spPr>
          <a:xfrm>
            <a:off x="609600" y="1244600"/>
            <a:ext cx="10972800" cy="1208484"/>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(1) 비용 통합형 — travplan 채택(P2.4)                (2) 외부 안전 필터형 — CBF-QP 계열</a:t>
            </a:r>
          </a:p>
          <a:p>
            <a:r>
              <a:rPr sz="750" b="0" i="0">
                <a:solidFill>
                  <a:srgbClr val="F4F1EA"/>
                </a:solidFill>
                <a:latin typeface="Consolas"/>
                <a:ea typeface="Malgun Gothic"/>
                <a:cs typeface="Malgun Gothic"/>
              </a:rPr>
              <a:t>┌──────────────┐                                    ┌──────────────┐    ┌──────────┐</a:t>
            </a:r>
          </a:p>
          <a:p>
            <a:r>
              <a:rPr sz="750" b="0" i="0">
                <a:solidFill>
                  <a:srgbClr val="F4F1EA"/>
                </a:solidFill>
                <a:latin typeface="Consolas"/>
                <a:ea typeface="Malgun Gothic"/>
                <a:cs typeface="Malgun Gothic"/>
              </a:rPr>
              <a:t>│ MPPI 샘플링    │  비용(예측 위치와의 거리·CVaR)       │ 임의의 명령     │──▶ │ QP 안전   │──▶ 최종 명령</a:t>
            </a:r>
          </a:p>
          <a:p>
            <a:r>
              <a:rPr sz="750" b="0" i="0">
                <a:solidFill>
                  <a:srgbClr val="F4F1EA"/>
                </a:solidFill>
                <a:latin typeface="Consolas"/>
                <a:ea typeface="Malgun Gothic"/>
                <a:cs typeface="Malgun Gothic"/>
              </a:rPr>
              <a:t>│ + CostTerm    │ ──────────────────▶ 최적 제어       │ (Controller 등)│    │ 필터      │   (최소 수정)</a:t>
            </a:r>
          </a:p>
          <a:p>
            <a:r>
              <a:rPr sz="750" b="0" i="0">
                <a:solidFill>
                  <a:srgbClr val="F4F1EA"/>
                </a:solidFill>
                <a:latin typeface="Consolas"/>
                <a:ea typeface="Malgun Gothic"/>
                <a:cs typeface="Malgun Gothic"/>
              </a:rPr>
              <a:t>└──────────────┘                                    └──────────────┘    └──────────┘</a:t>
            </a:r>
          </a:p>
          <a:p>
            <a:r>
              <a:rPr sz="750" b="0" i="0">
                <a:solidFill>
                  <a:srgbClr val="F4F1EA"/>
                </a:solidFill>
                <a:latin typeface="Consolas"/>
                <a:ea typeface="Malgun Gothic"/>
                <a:cs typeface="Malgun Gothic"/>
              </a:rPr>
              <a:t> travplan RiskCost·시간가변 비용 레이어와                 OcclusionCBF, 표준 CBF-QP, CVaR-BF</a:t>
            </a:r>
          </a:p>
          <a:p>
            <a:r>
              <a:rPr sz="750" b="0" i="0">
                <a:solidFill>
                  <a:srgbClr val="F4F1EA"/>
                </a:solidFill>
                <a:latin typeface="Consolas"/>
                <a:ea typeface="Malgun Gothic"/>
                <a:cs typeface="Malgun Gothic"/>
              </a:rPr>
              <a:t> 같은 CostTerm 인터페이스로 바로 붙는다</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안전 필터 · C. 동적 장애물 안전 필터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C.2 방식별 설명</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86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시간가변 비용 레이어</a:t>
            </a:r>
            <a:r>
              <a:rPr sz="1050" b="0" i="0">
                <a:solidFill>
                  <a:srgbClr val="16213A"/>
                </a:solidFill>
                <a:latin typeface="Arial"/>
                <a:ea typeface="Malgun Gothic"/>
                <a:cs typeface="Malgun Gothic"/>
              </a:rPr>
              <a:t>(travplan 채택, P2.4·TP-0012) — 예측한 장애물 위치 주변에 거리에 따라 줄어드는 비용을 얹는다. 가장 쉽고 기존 구조를 그대로 쓴다. 구현이 끝났고, 횡단 보행자 시나리오에서 충돌을 1/3에서 0/3으로 줄였다. 지금은 </a:t>
            </a:r>
            <a:r>
              <a:rPr sz="1050" b="0" i="0">
                <a:solidFill>
                  <a:srgbClr val="16213A"/>
                </a:solidFill>
                <a:latin typeface="Consolas"/>
                <a:ea typeface="Malgun Gothic"/>
                <a:cs typeface="Malgun Gothic"/>
              </a:rPr>
              <a:t>ControlRequest.dynamic_obstacles</a:t>
            </a:r>
            <a:r>
              <a:rPr sz="1050" b="0" i="0">
                <a:solidFill>
                  <a:srgbClr val="16213A"/>
                </a:solidFill>
                <a:latin typeface="Arial"/>
                <a:ea typeface="Malgun Gothic"/>
                <a:cs typeface="Malgun Gothic"/>
              </a:rPr>
              <a:t>로 Controller의 </a:t>
            </a:r>
            <a:r>
              <a:rPr sz="1050" b="0" i="0">
                <a:solidFill>
                  <a:srgbClr val="16213A"/>
                </a:solidFill>
                <a:latin typeface="Consolas"/>
                <a:ea typeface="Malgun Gothic"/>
                <a:cs typeface="Malgun Gothic"/>
              </a:rPr>
              <a:t>RiskCost</a:t>
            </a:r>
            <a:r>
              <a:rPr sz="1050" b="0" i="0">
                <a:solidFill>
                  <a:srgbClr val="16213A"/>
                </a:solidFill>
                <a:latin typeface="Arial"/>
                <a:ea typeface="Malgun Gothic"/>
                <a:cs typeface="Malgun Gothic"/>
              </a:rPr>
              <a:t>에 들어간다.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RA-MPPI / DRA-MPPI</a:t>
            </a:r>
            <a:r>
              <a:rPr sz="1050" b="0" i="0">
                <a:solidFill>
                  <a:srgbClr val="16213A"/>
                </a:solidFill>
                <a:latin typeface="Arial"/>
                <a:ea typeface="Malgun Gothic"/>
                <a:cs typeface="Malgun Gothic"/>
              </a:rPr>
              <a:t> — 장애물 위치 분포(가우시안·GMM)를 MPPI 샘플과 함께 몬테카를로로 뽑아, 충돌 확률이 임계를 넘는 궤적을 벌하거나 버린다. travplan의 샘플링 + CVaR </a:t>
            </a:r>
            <a:r>
              <a:rPr sz="1050" b="0" i="0">
                <a:solidFill>
                  <a:srgbClr val="16213A"/>
                </a:solidFill>
                <a:latin typeface="Consolas"/>
                <a:ea typeface="Malgun Gothic"/>
                <a:cs typeface="Malgun Gothic"/>
              </a:rPr>
              <a:t>RiskCost</a:t>
            </a:r>
            <a:r>
              <a:rPr sz="1050" b="0" i="0">
                <a:solidFill>
                  <a:srgbClr val="16213A"/>
                </a:solidFill>
                <a:latin typeface="Arial"/>
                <a:ea typeface="Malgun Gothic"/>
                <a:cs typeface="Malgun Gothic"/>
              </a:rPr>
              <a:t>와 구조가 가장 가깝다. DRA-MPPI는 RTX 2080 노트북 GPU에서 반복당 97–115 ms(약 5 Hz)이고 Orin 실측은 없다. MPPI 자체를 개선하는 일이라 2026-09-25 개발 계획에서 뺐다.</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안전 필터 · C. 동적 장애물 안전 필터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C.2 방식별 설명</a:t>
            </a:r>
            <a:r>
              <a:rPr sz="1050" b="0" i="0">
                <a:solidFill>
                  <a:srgbClr val="5A6478"/>
                </a:solidFill>
                <a:latin typeface="Arial"/>
                <a:ea typeface="Malgun Gothic"/>
                <a:cs typeface="Malgun Gothic"/>
              </a:rPr>
              <a:t>  자세히: RA-MPPI와 DRA-MPPI의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87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RA-MPPI</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arXiv:2209.12842</a:t>
            </a:r>
            <a:r>
              <a:rPr sz="1050" b="0" i="0">
                <a:solidFill>
                  <a:srgbClr val="16213A"/>
                </a:solidFill>
                <a:latin typeface="Arial"/>
                <a:ea typeface="Malgun Gothic"/>
                <a:cs typeface="Malgun Gothic"/>
              </a:rPr>
              <a:t>). 원래 MPPI는 기대 비용만 줄인다(배경 0.2).</a:t>
            </a:r>
          </a:p>
        </p:txBody>
      </p:sp>
      <p:pic>
        <p:nvPicPr>
          <p:cNvPr id="6" name="Picture 5" descr="image.png"/>
          <p:cNvPicPr>
            <a:picLocks noChangeAspect="1"/>
          </p:cNvPicPr>
          <p:nvPr/>
        </p:nvPicPr>
        <p:blipFill>
          <a:blip r:embed="rId4"/>
          <a:stretch>
            <a:fillRect/>
          </a:stretch>
        </p:blipFill>
        <p:spPr>
          <a:xfrm>
            <a:off x="609600" y="1549995"/>
            <a:ext cx="5476875" cy="555625"/>
          </a:xfrm>
          <a:prstGeom prst="rect">
            <a:avLst/>
          </a:prstGeom>
        </p:spPr>
      </p:pic>
      <p:sp>
        <p:nvSpPr>
          <p:cNvPr id="7" name="TextBox 6"/>
          <p:cNvSpPr txBox="1"/>
          <p:nvPr/>
        </p:nvSpPr>
        <p:spPr>
          <a:xfrm>
            <a:off x="609600" y="209798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RA-MPPI는 시뮬레이션 모델 </a:t>
            </a:r>
            <a:r>
              <a:rPr sz="1050" b="0" i="1">
                <a:solidFill>
                  <a:srgbClr val="16213A"/>
                </a:solidFill>
                <a:latin typeface="Arial"/>
                <a:ea typeface="Malgun Gothic"/>
                <a:cs typeface="Malgun Gothic"/>
              </a:rPr>
              <a:t>F</a:t>
            </a:r>
            <a:r>
              <a:rPr sz="1050" b="0" i="0">
                <a:solidFill>
                  <a:srgbClr val="16213A"/>
                </a:solidFill>
                <a:latin typeface="Arial"/>
                <a:ea typeface="Malgun Gothic"/>
                <a:cs typeface="Malgun Gothic"/>
              </a:rPr>
              <a:t>를 더 일반적인 확률 시스템 </a:t>
            </a:r>
            <a:r>
              <a:rPr sz="1050" b="0" i="1">
                <a:solidFill>
                  <a:srgbClr val="16213A"/>
                </a:solidFill>
                <a:latin typeface="Arial"/>
                <a:ea typeface="Malgun Gothic"/>
                <a:cs typeface="Malgun Gothic"/>
              </a:rPr>
              <a:t>F̃(x̃ₖ, uₖ, wₖ)</a:t>
            </a:r>
            <a:r>
              <a:rPr sz="1050" b="0" i="0">
                <a:solidFill>
                  <a:srgbClr val="16213A"/>
                </a:solidFill>
                <a:latin typeface="Arial"/>
                <a:ea typeface="Malgun Gothic"/>
                <a:cs typeface="Malgun Gothic"/>
              </a:rPr>
              <a:t>의 기댓값으로 보고, 실현 궤적의 손실 </a:t>
            </a:r>
            <a:r>
              <a:rPr sz="1050" b="0" i="1">
                <a:solidFill>
                  <a:srgbClr val="16213A"/>
                </a:solidFill>
                <a:latin typeface="Arial"/>
                <a:ea typeface="Malgun Gothic"/>
                <a:cs typeface="Malgun Gothic"/>
              </a:rPr>
              <a:t>L(x̃)</a:t>
            </a:r>
            <a:r>
              <a:rPr sz="1050" b="0" i="0">
                <a:solidFill>
                  <a:srgbClr val="16213A"/>
                </a:solidFill>
                <a:latin typeface="Arial"/>
                <a:ea typeface="Malgun Gothic"/>
                <a:cs typeface="Malgun Gothic"/>
              </a:rPr>
              <a:t>에 </a:t>
            </a:r>
            <a:r>
              <a:rPr sz="1050" b="1" i="0">
                <a:solidFill>
                  <a:srgbClr val="16213A"/>
                </a:solidFill>
                <a:latin typeface="Arial"/>
                <a:ea typeface="Malgun Gothic"/>
                <a:cs typeface="Malgun Gothic"/>
              </a:rPr>
              <a:t>CVaR 제약</a:t>
            </a:r>
            <a:r>
              <a:rPr sz="1050" b="0" i="0">
                <a:solidFill>
                  <a:srgbClr val="16213A"/>
                </a:solidFill>
                <a:latin typeface="Arial"/>
                <a:ea typeface="Malgun Gothic"/>
                <a:cs typeface="Malgun Gothic"/>
              </a:rPr>
              <a:t>을 건다 (배경 0.3). 샘플마다 교란 </a:t>
            </a:r>
            <a:r>
              <a:rPr sz="1050" b="0" i="1">
                <a:solidFill>
                  <a:srgbClr val="16213A"/>
                </a:solidFill>
                <a:latin typeface="Arial"/>
                <a:ea typeface="Malgun Gothic"/>
                <a:cs typeface="Malgun Gothic"/>
              </a:rPr>
              <a:t>w</a:t>
            </a:r>
            <a:r>
              <a:rPr sz="1050" b="0" i="0">
                <a:solidFill>
                  <a:srgbClr val="16213A"/>
                </a:solidFill>
                <a:latin typeface="Arial"/>
                <a:ea typeface="Malgun Gothic"/>
                <a:cs typeface="Malgun Gothic"/>
              </a:rPr>
              <a:t>를 여러 번 뽑아 CVaR를 추정하고, 제약을 어기는 샘플에 벌점을 준다.</a:t>
            </a:r>
          </a:p>
        </p:txBody>
      </p:sp>
      <p:pic>
        <p:nvPicPr>
          <p:cNvPr id="8" name="Picture 7" descr="image.png"/>
          <p:cNvPicPr>
            <a:picLocks noChangeAspect="1"/>
          </p:cNvPicPr>
          <p:nvPr/>
        </p:nvPicPr>
        <p:blipFill>
          <a:blip r:embed="rId5"/>
          <a:stretch>
            <a:fillRect/>
          </a:stretch>
        </p:blipFill>
        <p:spPr>
          <a:xfrm>
            <a:off x="609600" y="2619871"/>
            <a:ext cx="4473575" cy="298450"/>
          </a:xfrm>
          <a:prstGeom prst="rect">
            <a:avLst/>
          </a:prstGeom>
        </p:spPr>
      </p:pic>
      <p:sp>
        <p:nvSpPr>
          <p:cNvPr id="9" name="TextBox 8"/>
          <p:cNvSpPr txBox="1"/>
          <p:nvPr/>
        </p:nvSpPr>
        <p:spPr>
          <a:xfrm>
            <a:off x="609600" y="29464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DRA-MPPI</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6"/>
              </a:rPr>
              <a:t>arXiv:2506.21205</a:t>
            </a:r>
            <a:r>
              <a:rPr sz="1050" b="0" i="0">
                <a:solidFill>
                  <a:srgbClr val="16213A"/>
                </a:solidFill>
                <a:latin typeface="Arial"/>
                <a:ea typeface="Malgun Gothic"/>
                <a:cs typeface="Malgun Gothic"/>
              </a:rPr>
              <a:t>, IROS 2025). 보행자 위치를 가우시안 혼합(MoG)으로 예측하고, 여러 장애물과의 </a:t>
            </a:r>
            <a:r>
              <a:rPr sz="1050" b="1" i="0">
                <a:solidFill>
                  <a:srgbClr val="16213A"/>
                </a:solidFill>
                <a:latin typeface="Arial"/>
                <a:ea typeface="Malgun Gothic"/>
                <a:cs typeface="Malgun Gothic"/>
              </a:rPr>
              <a:t>결합 충돌 확률</a:t>
            </a:r>
            <a:r>
              <a:rPr sz="1050" b="0" i="0">
                <a:solidFill>
                  <a:srgbClr val="16213A"/>
                </a:solidFill>
                <a:latin typeface="Arial"/>
                <a:ea typeface="Malgun Gothic"/>
                <a:cs typeface="Malgun Gothic"/>
              </a:rPr>
              <a:t>에 확률 제약을 건다(</a:t>
            </a:r>
            <a:r>
              <a:rPr sz="1050" b="0" i="1">
                <a:solidFill>
                  <a:srgbClr val="16213A"/>
                </a:solidFill>
                <a:latin typeface="Arial"/>
                <a:ea typeface="Malgun Gothic"/>
                <a:cs typeface="Malgun Gothic"/>
              </a:rPr>
              <a:t>r</a:t>
            </a:r>
            <a:r>
              <a:rPr sz="1050" b="0" i="0">
                <a:solidFill>
                  <a:srgbClr val="16213A"/>
                </a:solidFill>
                <a:latin typeface="Arial"/>
                <a:ea typeface="Malgun Gothic"/>
                <a:cs typeface="Malgun Gothic"/>
              </a:rPr>
              <a:t>: 로봇과 장애물 반경의 합, </a:t>
            </a:r>
            <a:r>
              <a:rPr sz="1050" b="0" i="1">
                <a:solidFill>
                  <a:srgbClr val="16213A"/>
                </a:solidFill>
                <a:latin typeface="Arial"/>
                <a:ea typeface="Malgun Gothic"/>
                <a:cs typeface="Malgun Gothic"/>
              </a:rPr>
              <a:t>σ</a:t>
            </a:r>
            <a:r>
              <a:rPr sz="1050" b="0" i="0">
                <a:solidFill>
                  <a:srgbClr val="16213A"/>
                </a:solidFill>
                <a:latin typeface="Arial"/>
                <a:ea typeface="Malgun Gothic"/>
                <a:cs typeface="Malgun Gothic"/>
              </a:rPr>
              <a:t>: 허용 충돌 확률).</a:t>
            </a:r>
          </a:p>
        </p:txBody>
      </p:sp>
      <p:pic>
        <p:nvPicPr>
          <p:cNvPr id="10" name="Picture 9" descr="image.png"/>
          <p:cNvPicPr>
            <a:picLocks noChangeAspect="1"/>
          </p:cNvPicPr>
          <p:nvPr/>
        </p:nvPicPr>
        <p:blipFill>
          <a:blip r:embed="rId7"/>
          <a:stretch>
            <a:fillRect/>
          </a:stretch>
        </p:blipFill>
        <p:spPr>
          <a:xfrm>
            <a:off x="609600" y="3468291"/>
            <a:ext cx="5251450" cy="552450"/>
          </a:xfrm>
          <a:prstGeom prst="rect">
            <a:avLst/>
          </a:prstGeom>
        </p:spPr>
      </p:pic>
      <p:sp>
        <p:nvSpPr>
          <p:cNvPr id="11" name="TextBox 10"/>
          <p:cNvSpPr txBox="1"/>
          <p:nvPr/>
        </p:nvSpPr>
        <p:spPr>
          <a:xfrm>
            <a:off x="609600" y="4014391"/>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 확률을 MPPI 샘플 수백 개에 대해 몬테카를로로 병렬 추정해 비용에 넣는다. 가우시안이 아닌 예측도 근사 없이 다룬다. RTX 2080 노트북 GPU에서 반복당 97–115 ms.</a:t>
            </a:r>
          </a:p>
        </p:txBody>
      </p:sp>
      <p:sp>
        <p:nvSpPr>
          <p:cNvPr id="12" name="TextBox 11"/>
          <p:cNvSpPr txBox="1"/>
          <p:nvPr/>
        </p:nvSpPr>
        <p:spPr>
          <a:xfrm>
            <a:off x="609600" y="43197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travplan과의 관계.</a:t>
            </a:r>
            <a:r>
              <a:rPr sz="1050" b="0" i="0">
                <a:solidFill>
                  <a:srgbClr val="16213A"/>
                </a:solidFill>
                <a:latin typeface="Arial"/>
                <a:ea typeface="Malgun Gothic"/>
                <a:cs typeface="Malgun Gothic"/>
              </a:rPr>
              <a:t> travplan </a:t>
            </a:r>
            <a:r>
              <a:rPr sz="1050" b="0" i="0">
                <a:solidFill>
                  <a:srgbClr val="16213A"/>
                </a:solidFill>
                <a:latin typeface="Consolas"/>
                <a:ea typeface="Malgun Gothic"/>
                <a:cs typeface="Malgun Gothic"/>
              </a:rPr>
              <a:t>RiskCost</a:t>
            </a:r>
            <a:r>
              <a:rPr sz="1050" b="0" i="0">
                <a:solidFill>
                  <a:srgbClr val="16213A"/>
                </a:solidFill>
                <a:latin typeface="Arial"/>
                <a:ea typeface="Malgun Gothic"/>
                <a:cs typeface="Malgun Gothic"/>
              </a:rPr>
              <a:t>는 보행자를 등속 원판 + 시간에 따라 커지는 반경으로 예측하고, 겹침에 강한 벌점을 준다. 결합 확률을 몬테카를로로 재지는 않는다. MPPI 개선이라 계획에서는 뺐지만, 보행자 예측을 MoG로 바꿀 때 비용을 어떻게 만들지의 참고다.</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안전 필터 · C. 동적 장애물 안전 필터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C.2 방식별 설명</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88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표준 CBF-QP</a:t>
            </a:r>
            <a:r>
              <a:rPr sz="1050" b="0" i="0">
                <a:solidFill>
                  <a:srgbClr val="16213A"/>
                </a:solidFill>
                <a:latin typeface="Arial"/>
                <a:ea typeface="Malgun Gothic"/>
                <a:cs typeface="Malgun Gothic"/>
              </a:rPr>
              <a:t> — 매 스텝 작은 QP를 풀어, barrier 함수가 음수가 되지 않도록 명령을 최소한으로 고친다. 보이는 장애물에만 반응하고 0.6–0.8 ms로 빠르다.</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OcclusionCBF</a:t>
            </a:r>
            <a:r>
              <a:rPr sz="1050" b="0" i="0">
                <a:solidFill>
                  <a:srgbClr val="16213A"/>
                </a:solidFill>
                <a:latin typeface="Arial"/>
                <a:ea typeface="Malgun Gothic"/>
                <a:cs typeface="Malgun Gothic"/>
              </a:rPr>
              <a:t> — 가려진 영역을 시간 인덱스 도달 가능 점유로 넉넉하게 추정하고, 백업 rollout이 그 점유 전체와 인증된 종단 집합에 대해 안전한지 검증한다. 그래서 사각지대에서도 </a:t>
            </a:r>
            <a:r>
              <a:rPr sz="1050" b="1" i="0">
                <a:solidFill>
                  <a:srgbClr val="16213A"/>
                </a:solidFill>
                <a:latin typeface="Arial"/>
                <a:ea typeface="Malgun Gothic"/>
                <a:cs typeface="Malgun Gothic"/>
              </a:rPr>
              <a:t>보이기 전에</a:t>
            </a:r>
            <a:r>
              <a:rPr sz="1050" b="0" i="0">
                <a:solidFill>
                  <a:srgbClr val="16213A"/>
                </a:solidFill>
                <a:latin typeface="Arial"/>
                <a:ea typeface="Malgun Gothic"/>
                <a:cs typeface="Malgun Gothic"/>
              </a:rPr>
              <a:t> 개입한다. 1.6–4.5 ms지만 </a:t>
            </a:r>
            <a:r>
              <a:rPr sz="1050" b="1" i="0">
                <a:solidFill>
                  <a:srgbClr val="16213A"/>
                </a:solidFill>
                <a:latin typeface="Arial"/>
                <a:ea typeface="Malgun Gothic"/>
                <a:cs typeface="Malgun Gothic"/>
              </a:rPr>
              <a:t>참조 구현이 상용 Gurobi를 요구</a:t>
            </a:r>
            <a:r>
              <a:rPr sz="1050" b="0" i="0">
                <a:solidFill>
                  <a:srgbClr val="16213A"/>
                </a:solidFill>
                <a:latin typeface="Arial"/>
                <a:ea typeface="Malgun Gothic"/>
                <a:cs typeface="Malgun Gothic"/>
              </a:rPr>
              <a:t>해서 보류했다.</a:t>
            </a:r>
          </a:p>
        </p:txBody>
      </p:sp>
      <p:graphicFrame>
        <p:nvGraphicFramePr>
          <p:cNvPr id="7" name="Table 6"/>
          <p:cNvGraphicFramePr>
            <a:graphicFrameLocks noGrp="1"/>
          </p:cNvGraphicFramePr>
          <p:nvPr/>
        </p:nvGraphicFramePr>
        <p:xfrm>
          <a:off x="609600" y="2071886"/>
          <a:ext cx="10966450" cy="2695416"/>
        </p:xfrm>
        <a:graphic>
          <a:graphicData uri="http://schemas.openxmlformats.org/drawingml/2006/table">
            <a:tbl>
              <a:tblPr firstRow="1" bandRow="1">
                <a:tableStyleId>{5C22544A-7EE6-4342-B048-85BDC9FD1C3A}</a:tableStyleId>
              </a:tblPr>
              <a:tblGrid>
                <a:gridCol w="5483225"/>
                <a:gridCol w="5483225"/>
              </a:tblGrid>
              <a:tr h="197088">
                <a:tc>
                  <a:txBody>
                    <a:bodyPr wrap="square"/>
                    <a:lstStyle/>
                    <a:p>
                      <a:r>
                        <a:rPr sz="800" b="1" i="0">
                          <a:solidFill>
                            <a:srgbClr val="F4F1EA"/>
                          </a:solidFill>
                          <a:latin typeface="Arial"/>
                          <a:ea typeface="Malgun Gothic"/>
                          <a:cs typeface="Malgun Gothic"/>
                        </a:rPr>
                        <a:t>감지 후 반응(일반 CBF-QP)</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감지 전 개입(OcclusionCBF)</a:t>
                      </a:r>
                    </a:p>
                  </a:txBody>
                  <a:tcPr marL="63500" marR="63500" marT="12700" marB="12700">
                    <a:solidFill>
                      <a:srgbClr val="16213A"/>
                    </a:solidFill>
                  </a:tcPr>
                </a:tc>
              </a:tr>
              <a:tr h="2498328">
                <a:tc>
                  <a:txBody>
                    <a:bodyPr wrap="square"/>
                    <a:lstStyle/>
                    <a:p/>
                  </a:txBody>
                  <a:tcPr marL="63500" marR="63500" marT="12700" marB="12700">
                    <a:solidFill>
                      <a:srgbClr val="FFFDF8"/>
                    </a:solidFill>
                  </a:tcPr>
                </a:tc>
                <a:tc>
                  <a:txBody>
                    <a:bodyPr wrap="square"/>
                    <a:lstStyle/>
                    <a:p/>
                  </a:txBody>
                  <a:tcPr marL="63500" marR="63500" marT="12700" marB="12700">
                    <a:solidFill>
                      <a:srgbClr val="FFFDF8"/>
                    </a:solidFill>
                  </a:tcPr>
                </a:tc>
              </a:tr>
            </a:tbl>
          </a:graphicData>
        </a:graphic>
      </p:graphicFrame>
      <p:sp>
        <p:nvSpPr>
          <p:cNvPr id="8" name="TextBox 7"/>
          <p:cNvSpPr txBox="1"/>
          <p:nvPr/>
        </p:nvSpPr>
        <p:spPr>
          <a:xfrm>
            <a:off x="609600" y="553640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Risk Adaptive CVaR Barrier Functions</a:t>
            </a:r>
            <a:r>
              <a:rPr sz="1050" b="0" i="0">
                <a:solidFill>
                  <a:srgbClr val="16213A"/>
                </a:solidFill>
                <a:latin typeface="Arial"/>
                <a:ea typeface="Malgun Gothic"/>
                <a:cs typeface="Malgun Gothic"/>
              </a:rPr>
              <a:t>(IROS 2025) — CVaR와 동적 영역 기반 barrier 함수를 결합하고, 위험 수준을 상황에 맞게 스스로 조절한다. 공식 구현의 </a:t>
            </a:r>
            <a:r>
              <a:rPr sz="1050" b="0" i="0">
                <a:solidFill>
                  <a:srgbClr val="16213A"/>
                </a:solidFill>
                <a:latin typeface="Consolas"/>
                <a:ea typeface="Malgun Gothic"/>
                <a:cs typeface="Malgun Gothic"/>
              </a:rPr>
              <a:t>requirements.txt</a:t>
            </a:r>
            <a:r>
              <a:rPr sz="1050" b="0" i="0">
                <a:solidFill>
                  <a:srgbClr val="16213A"/>
                </a:solidFill>
                <a:latin typeface="Arial"/>
                <a:ea typeface="Malgun Gothic"/>
                <a:cs typeface="Malgun Gothic"/>
              </a:rPr>
              <a:t>를 직접 확인한 결과 의존성은 </a:t>
            </a:r>
            <a:r>
              <a:rPr sz="1050" b="0" i="0">
                <a:solidFill>
                  <a:srgbClr val="16213A"/>
                </a:solidFill>
                <a:latin typeface="Consolas"/>
                <a:ea typeface="Malgun Gothic"/>
                <a:cs typeface="Malgun Gothic"/>
              </a:rPr>
              <a:t>casadi</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numpy</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scipy</a:t>
            </a:r>
            <a:r>
              <a:rPr sz="1050" b="0" i="0">
                <a:solidFill>
                  <a:srgbClr val="16213A"/>
                </a:solidFill>
                <a:latin typeface="Arial"/>
                <a:ea typeface="Malgun Gothic"/>
                <a:cs typeface="Malgun Gothic"/>
              </a:rPr>
              <a:t>뿐이다. </a:t>
            </a:r>
            <a:r>
              <a:rPr sz="1050" b="1" i="0">
                <a:solidFill>
                  <a:srgbClr val="16213A"/>
                </a:solidFill>
                <a:latin typeface="Arial"/>
                <a:ea typeface="Malgun Gothic"/>
                <a:cs typeface="Malgun Gothic"/>
              </a:rPr>
              <a:t>Gurobi나 cvxpy가 아니라 오픈소스 CasADi</a:t>
            </a:r>
            <a:r>
              <a:rPr sz="1050" b="0" i="0">
                <a:solidFill>
                  <a:srgbClr val="16213A"/>
                </a:solidFill>
                <a:latin typeface="Arial"/>
                <a:ea typeface="Malgun Gothic"/>
                <a:cs typeface="Malgun Gothic"/>
              </a:rPr>
              <a:t>(내부적으로 qpOASES·IPOPT)로 푼다. OcclusionCBF와 달리 라이선스 걸림돌이 없고, travplan </a:t>
            </a:r>
            <a:r>
              <a:rPr sz="1050" b="0" i="0">
                <a:solidFill>
                  <a:srgbClr val="16213A"/>
                </a:solidFill>
                <a:latin typeface="Consolas"/>
                <a:ea typeface="Malgun Gothic"/>
                <a:cs typeface="Malgun Gothic"/>
              </a:rPr>
              <a:t>RiskCost</a:t>
            </a:r>
            <a:r>
              <a:rPr sz="1050" b="0" i="0">
                <a:solidFill>
                  <a:srgbClr val="16213A"/>
                </a:solidFill>
                <a:latin typeface="Arial"/>
                <a:ea typeface="Malgun Gothic"/>
                <a:cs typeface="Malgun Gothic"/>
              </a:rPr>
              <a:t>가 이미 CVaR를 쓰므로 개념적으로도 가장 가깝다. TP-0014의 1순위 후보다.</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안전 필터 · C. 동적 장애물 안전 필터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C.2 방식별 설명</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89 / 183</a:t>
            </a:r>
          </a:p>
        </p:txBody>
      </p:sp>
      <p:pic>
        <p:nvPicPr>
          <p:cNvPr id="5" name="Picture 4" descr="image.png"/>
          <p:cNvPicPr>
            <a:picLocks noChangeAspect="1"/>
          </p:cNvPicPr>
          <p:nvPr/>
        </p:nvPicPr>
        <p:blipFill>
          <a:blip r:embed="rId3"/>
          <a:stretch>
            <a:fillRect/>
          </a:stretch>
        </p:blipFill>
        <p:spPr>
          <a:xfrm>
            <a:off x="3657600" y="1244600"/>
            <a:ext cx="4876800" cy="1625600"/>
          </a:xfrm>
          <a:prstGeom prst="rect">
            <a:avLst/>
          </a:prstGeom>
        </p:spPr>
      </p:pic>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안전 필터 · C. 동적 장애물 안전 필터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C.2 방식별 설명</a:t>
            </a:r>
            <a:r>
              <a:rPr sz="1050" b="0" i="0">
                <a:solidFill>
                  <a:srgbClr val="5A6478"/>
                </a:solidFill>
                <a:latin typeface="Arial"/>
                <a:ea typeface="Malgun Gothic"/>
                <a:cs typeface="Malgun Gothic"/>
              </a:rPr>
              <a:t>  자세히: Adaptive CVaR Barrier Functions의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90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이산 CBF</a:t>
            </a:r>
            <a:r>
              <a:rPr sz="1050" b="0" i="0">
                <a:solidFill>
                  <a:srgbClr val="16213A"/>
                </a:solidFill>
                <a:latin typeface="Arial"/>
                <a:ea typeface="Malgun Gothic"/>
                <a:cs typeface="Malgun Gothic"/>
              </a:rPr>
              <a:t>(배경 0.4). </a:t>
            </a:r>
            <a:r>
              <a:rPr sz="1050" b="0" i="1">
                <a:solidFill>
                  <a:srgbClr val="16213A"/>
                </a:solidFill>
                <a:latin typeface="Arial"/>
                <a:ea typeface="Malgun Gothic"/>
                <a:cs typeface="Malgun Gothic"/>
              </a:rPr>
              <a:t>α(r) = γ r</a:t>
            </a:r>
            <a:r>
              <a:rPr sz="1050" b="0" i="0">
                <a:solidFill>
                  <a:srgbClr val="16213A"/>
                </a:solidFill>
                <a:latin typeface="Arial"/>
                <a:ea typeface="Malgun Gothic"/>
                <a:cs typeface="Malgun Gothic"/>
              </a:rPr>
              <a:t>로 두면 </a:t>
            </a:r>
            <a:r>
              <a:rPr sz="1050" b="0" i="1">
                <a:solidFill>
                  <a:srgbClr val="16213A"/>
                </a:solidFill>
                <a:latin typeface="Arial"/>
                <a:ea typeface="Malgun Gothic"/>
                <a:cs typeface="Malgun Gothic"/>
              </a:rPr>
              <a:t>h(xₖ₊₁) ≥ (1-γ) h(xₖ)</a:t>
            </a:r>
            <a:r>
              <a:rPr sz="1050" b="0" i="0">
                <a:solidFill>
                  <a:srgbClr val="16213A"/>
                </a:solidFill>
                <a:latin typeface="Arial"/>
                <a:ea typeface="Malgun Gothic"/>
                <a:cs typeface="Malgun Gothic"/>
              </a:rPr>
              <a:t>이고, 명목 명령 </a:t>
            </a:r>
            <a:r>
              <a:rPr sz="1050" b="0" i="1">
                <a:solidFill>
                  <a:srgbClr val="16213A"/>
                </a:solidFill>
                <a:latin typeface="Arial"/>
                <a:ea typeface="Malgun Gothic"/>
                <a:cs typeface="Malgun Gothic"/>
              </a:rPr>
              <a:t>ūₖ</a:t>
            </a:r>
            <a:r>
              <a:rPr sz="1050" b="0" i="0">
                <a:solidFill>
                  <a:srgbClr val="16213A"/>
                </a:solidFill>
                <a:latin typeface="Arial"/>
                <a:ea typeface="Malgun Gothic"/>
                <a:cs typeface="Malgun Gothic"/>
              </a:rPr>
              <a:t>를 최소한만 고치는 QP로 강제한다.</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확률적 안전 → CVaR.</a:t>
            </a:r>
            <a:r>
              <a:rPr sz="1050" b="0" i="0">
                <a:solidFill>
                  <a:srgbClr val="16213A"/>
                </a:solidFill>
                <a:latin typeface="Arial"/>
                <a:ea typeface="Malgun Gothic"/>
                <a:cs typeface="Malgun Gothic"/>
              </a:rPr>
              <a:t> 장애물의 다음 상태가 확률 변수라 </a:t>
            </a:r>
            <a:r>
              <a:rPr sz="1050" b="0" i="1">
                <a:solidFill>
                  <a:srgbClr val="16213A"/>
                </a:solidFill>
                <a:latin typeface="Arial"/>
                <a:ea typeface="Malgun Gothic"/>
                <a:cs typeface="Malgun Gothic"/>
              </a:rPr>
              <a:t>hₖ₊₁</a:t>
            </a:r>
            <a:r>
              <a:rPr sz="1050" b="0" i="0">
                <a:solidFill>
                  <a:srgbClr val="16213A"/>
                </a:solidFill>
                <a:latin typeface="Arial"/>
                <a:ea typeface="Malgun Gothic"/>
                <a:cs typeface="Malgun Gothic"/>
              </a:rPr>
              <a:t>도 확률 변수다. 충돌 확률 조건 </a:t>
            </a:r>
            <a:r>
              <a:rPr sz="1050" b="0" i="1">
                <a:solidFill>
                  <a:srgbClr val="16213A"/>
                </a:solidFill>
                <a:latin typeface="Arial"/>
                <a:ea typeface="Malgun Gothic"/>
                <a:cs typeface="Malgun Gothic"/>
              </a:rPr>
              <a:t>P(hₖ₊₁ ≥ 0) ≥ 1 - β</a:t>
            </a:r>
            <a:r>
              <a:rPr sz="1050" b="0" i="0">
                <a:solidFill>
                  <a:srgbClr val="16213A"/>
                </a:solidFill>
                <a:latin typeface="Arial"/>
                <a:ea typeface="Malgun Gothic"/>
                <a:cs typeface="Malgun Gothic"/>
              </a:rPr>
              <a:t>는 VaR 조건과 같고, 이를 CVaR로 강화한다. 시점마다 CVaR 연산을 합성한 CVaR-safety가 성립하면 안전 집합에 머문다.</a:t>
            </a:r>
          </a:p>
        </p:txBody>
      </p:sp>
      <p:pic>
        <p:nvPicPr>
          <p:cNvPr id="7" name="Picture 6" descr="image.png"/>
          <p:cNvPicPr>
            <a:picLocks noChangeAspect="1"/>
          </p:cNvPicPr>
          <p:nvPr/>
        </p:nvPicPr>
        <p:blipFill>
          <a:blip r:embed="rId3"/>
          <a:stretch>
            <a:fillRect/>
          </a:stretch>
        </p:blipFill>
        <p:spPr>
          <a:xfrm>
            <a:off x="609600" y="2071886"/>
            <a:ext cx="3676650" cy="327025"/>
          </a:xfrm>
          <a:prstGeom prst="rect">
            <a:avLst/>
          </a:prstGeom>
        </p:spPr>
      </p:pic>
      <p:sp>
        <p:nvSpPr>
          <p:cNvPr id="8" name="TextBox 7"/>
          <p:cNvSpPr txBox="1"/>
          <p:nvPr/>
        </p:nvSpPr>
        <p:spPr>
          <a:xfrm>
            <a:off x="609600" y="242064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문제: 고정 </a:t>
            </a:r>
            <a:r>
              <a:rPr sz="1050" b="1" i="1">
                <a:solidFill>
                  <a:srgbClr val="16213A"/>
                </a:solidFill>
                <a:latin typeface="Arial"/>
                <a:ea typeface="Malgun Gothic"/>
                <a:cs typeface="Malgun Gothic"/>
              </a:rPr>
              <a:t>β</a:t>
            </a:r>
            <a:r>
              <a:rPr sz="1050" b="1" i="0">
                <a:solidFill>
                  <a:srgbClr val="16213A"/>
                </a:solidFill>
                <a:latin typeface="Arial"/>
                <a:ea typeface="Malgun Gothic"/>
                <a:cs typeface="Malgun Gothic"/>
              </a:rPr>
              <a:t>의 딜레마.</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β</a:t>
            </a:r>
            <a:r>
              <a:rPr sz="1050" b="0" i="0">
                <a:solidFill>
                  <a:srgbClr val="16213A"/>
                </a:solidFill>
                <a:latin typeface="Arial"/>
                <a:ea typeface="Malgun Gothic"/>
                <a:cs typeface="Malgun Gothic"/>
              </a:rPr>
              <a:t>가 크면 제약이 느슨해져 장애물 가까이 가고(위험), 작으면 제약이 빡빡해져 QP가 풀리지 않거나 지나치게 보수적이 된다.</a:t>
            </a:r>
          </a:p>
        </p:txBody>
      </p:sp>
      <p:sp>
        <p:nvSpPr>
          <p:cNvPr id="9" name="TextBox 8"/>
          <p:cNvSpPr txBox="1"/>
          <p:nvPr/>
        </p:nvSpPr>
        <p:spPr>
          <a:xfrm>
            <a:off x="609600" y="272603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해법: 매 스텝 </a:t>
            </a:r>
            <a:r>
              <a:rPr sz="1050" b="1" i="1">
                <a:solidFill>
                  <a:srgbClr val="16213A"/>
                </a:solidFill>
                <a:latin typeface="Arial"/>
                <a:ea typeface="Malgun Gothic"/>
                <a:cs typeface="Malgun Gothic"/>
              </a:rPr>
              <a:t>β</a:t>
            </a:r>
            <a:r>
              <a:rPr sz="1050" b="1" i="0">
                <a:solidFill>
                  <a:srgbClr val="16213A"/>
                </a:solidFill>
                <a:latin typeface="Arial"/>
                <a:ea typeface="Malgun Gothic"/>
                <a:cs typeface="Malgun Gothic"/>
              </a:rPr>
              <a:t>를 고른다.</a:t>
            </a:r>
            <a:r>
              <a:rPr sz="1050" b="0" i="0">
                <a:solidFill>
                  <a:srgbClr val="16213A"/>
                </a:solidFill>
                <a:latin typeface="Arial"/>
                <a:ea typeface="Malgun Gothic"/>
                <a:cs typeface="Malgun Gothic"/>
              </a:rPr>
              <a:t> 제약을 만족하는 제어 집합 </a:t>
            </a:r>
            <a:r>
              <a:rPr sz="1050" b="0" i="1">
                <a:solidFill>
                  <a:srgbClr val="16213A"/>
                </a:solidFill>
                <a:latin typeface="Arial"/>
                <a:ea typeface="Malgun Gothic"/>
                <a:cs typeface="Malgun Gothic"/>
              </a:rPr>
              <a:t>𝒰^k_β</a:t>
            </a:r>
            <a:r>
              <a:rPr sz="1050" b="0" i="0">
                <a:solidFill>
                  <a:srgbClr val="16213A"/>
                </a:solidFill>
                <a:latin typeface="Arial"/>
                <a:ea typeface="Malgun Gothic"/>
                <a:cs typeface="Malgun Gothic"/>
              </a:rPr>
              <a:t>가 비어 있지 않은 가장 작은 </a:t>
            </a:r>
            <a:r>
              <a:rPr sz="1050" b="0" i="1">
                <a:solidFill>
                  <a:srgbClr val="16213A"/>
                </a:solidFill>
                <a:latin typeface="Arial"/>
                <a:ea typeface="Malgun Gothic"/>
                <a:cs typeface="Malgun Gothic"/>
              </a:rPr>
              <a:t>β</a:t>
            </a:r>
            <a:r>
              <a:rPr sz="1050" b="0" i="0">
                <a:solidFill>
                  <a:srgbClr val="16213A"/>
                </a:solidFill>
                <a:latin typeface="Arial"/>
                <a:ea typeface="Malgun Gothic"/>
                <a:cs typeface="Malgun Gothic"/>
              </a:rPr>
              <a:t>(상한 </a:t>
            </a:r>
            <a:r>
              <a:rPr sz="1050" b="0" i="1">
                <a:solidFill>
                  <a:srgbClr val="16213A"/>
                </a:solidFill>
                <a:latin typeface="Arial"/>
                <a:ea typeface="Malgun Gothic"/>
                <a:cs typeface="Malgun Gothic"/>
              </a:rPr>
              <a:t>βᵤ</a:t>
            </a:r>
            <a:r>
              <a:rPr sz="1050" b="0" i="0">
                <a:solidFill>
                  <a:srgbClr val="16213A"/>
                </a:solidFill>
                <a:latin typeface="Arial"/>
                <a:ea typeface="Malgun Gothic"/>
                <a:cs typeface="Malgun Gothic"/>
              </a:rPr>
              <a:t> 이하)를 쓴다. 안전하게 풀 수 있을 때는 가장 보수적으로, 그렇지 않을 때만 완화한다. 여기에 동적 영역 기반 barrier를 더하고, max 연산자는 보조 변수로 바꿔 </a:t>
            </a:r>
            <a:r>
              <a:rPr sz="1050" b="1" i="0">
                <a:solidFill>
                  <a:srgbClr val="16213A"/>
                </a:solidFill>
                <a:latin typeface="Arial"/>
                <a:ea typeface="Malgun Gothic"/>
                <a:cs typeface="Malgun Gothic"/>
              </a:rPr>
              <a:t>평범한 QP</a:t>
            </a:r>
            <a:r>
              <a:rPr sz="1050" b="0" i="0">
                <a:solidFill>
                  <a:srgbClr val="16213A"/>
                </a:solidFill>
                <a:latin typeface="Arial"/>
                <a:ea typeface="Malgun Gothic"/>
                <a:cs typeface="Malgun Gothic"/>
              </a:rPr>
              <a:t>로 만든다.</a:t>
            </a:r>
          </a:p>
        </p:txBody>
      </p:sp>
      <p:pic>
        <p:nvPicPr>
          <p:cNvPr id="10" name="Picture 9" descr="image.png"/>
          <p:cNvPicPr>
            <a:picLocks noChangeAspect="1"/>
          </p:cNvPicPr>
          <p:nvPr/>
        </p:nvPicPr>
        <p:blipFill>
          <a:blip r:embed="rId4"/>
          <a:stretch>
            <a:fillRect/>
          </a:stretch>
        </p:blipFill>
        <p:spPr>
          <a:xfrm>
            <a:off x="609600" y="3247926"/>
            <a:ext cx="2374900" cy="241300"/>
          </a:xfrm>
          <a:prstGeom prst="rect">
            <a:avLst/>
          </a:prstGeom>
        </p:spPr>
      </p:pic>
      <p:sp>
        <p:nvSpPr>
          <p:cNvPr id="11" name="TextBox 10"/>
          <p:cNvSpPr txBox="1"/>
          <p:nvPr/>
        </p:nvSpPr>
        <p:spPr>
          <a:xfrm>
            <a:off x="609600" y="3526334"/>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구현은 CasADi(오픈소스)로 풀며 Gurobi가 필요 없다.</a:t>
            </a:r>
          </a:p>
        </p:txBody>
      </p:sp>
      <p:sp>
        <p:nvSpPr>
          <p:cNvPr id="12" name="TextBox 11"/>
          <p:cNvSpPr txBox="1"/>
          <p:nvPr/>
        </p:nvSpPr>
        <p:spPr>
          <a:xfrm>
            <a:off x="609600" y="383172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Controller(MPPI) 출력 뒤에 붙일 안전 필터의 1순위 후보다(TP-0014).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는 TravMap 치명 셀과 </a:t>
            </a:r>
            <a:r>
              <a:rPr sz="1050" b="0" i="0">
                <a:solidFill>
                  <a:srgbClr val="16213A"/>
                </a:solidFill>
                <a:latin typeface="Consolas"/>
                <a:ea typeface="Malgun Gothic"/>
                <a:cs typeface="Malgun Gothic"/>
              </a:rPr>
              <a:t>DynamicObstacles</a:t>
            </a:r>
            <a:r>
              <a:rPr sz="1050" b="0" i="0">
                <a:solidFill>
                  <a:srgbClr val="16213A"/>
                </a:solidFill>
                <a:latin typeface="Arial"/>
                <a:ea typeface="Malgun Gothic"/>
                <a:cs typeface="Malgun Gothic"/>
              </a:rPr>
              <a:t> 원판까지의 거리로 만들 수 있다.</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안전 필터 · C. 동적 장애물 안전 필터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C.2 방식별 설명</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91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OA-MPC / OACP / Control-Tree MPC</a:t>
            </a:r>
            <a:r>
              <a:rPr sz="1050" b="0" i="0">
                <a:solidFill>
                  <a:srgbClr val="16213A"/>
                </a:solidFill>
                <a:latin typeface="Arial"/>
                <a:ea typeface="Malgun Gothic"/>
                <a:cs typeface="Malgun Gothic"/>
              </a:rPr>
              <a:t> — 가림을 다루는 다른 대안들이지만 모두 48–200 ms로 Orin 예산 밖이다(OcclusionCBF 논문의 비교 기준).</a:t>
            </a:r>
          </a:p>
        </p:txBody>
      </p:sp>
      <p:sp>
        <p:nvSpPr>
          <p:cNvPr id="6" name="TextBox 5"/>
          <p:cNvSpPr txBox="1"/>
          <p:nvPr/>
        </p:nvSpPr>
        <p:spPr>
          <a:xfrm>
            <a:off x="717550" y="1549995"/>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DUCCT-MPPI와 위험 보정 평가: 확률 제약 MPPI는 입력 불확실성이 맞을 때만 안전하다</a:t>
            </a:r>
          </a:p>
        </p:txBody>
      </p:sp>
      <p:sp>
        <p:nvSpPr>
          <p:cNvPr id="7" name="TextBox 6"/>
          <p:cNvSpPr txBox="1"/>
          <p:nvPr/>
        </p:nvSpPr>
        <p:spPr>
          <a:xfrm>
            <a:off x="609600" y="185320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확률 제약 MPPI는 위치 추정과 보행자 예측이 내는 불확실성이 맞다고 가정한다. 이 연구는 그 가정이 틀릴 때 생기는 실패를 닫힌 루프에서 재는 방법을 내놓는다</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
              </a:rPr>
              <a:t>arXiv:2605.28330</a:t>
            </a:r>
            <a:r>
              <a:rPr sz="1050" b="0" i="0">
                <a:solidFill>
                  <a:srgbClr val="16213A"/>
                </a:solidFill>
                <a:latin typeface="Arial"/>
                <a:ea typeface="Malgun Gothic"/>
                <a:cs typeface="Malgun Gothic"/>
              </a:rPr>
              <a:t>, 2026-05, IROS 2026 투고, Aschaffenburg 응용과학대). 코드 공개는 확인하지 못했다. </a:t>
            </a:r>
            <a:r>
              <a:rPr sz="1050" b="1" i="0">
                <a:solidFill>
                  <a:srgbClr val="C2410C"/>
                </a:solidFill>
                <a:latin typeface="Arial"/>
                <a:ea typeface="Malgun Gothic"/>
                <a:cs typeface="Malgun Gothic"/>
              </a:rPr>
              <a:t>불확실성이 과신이면 안전을 어기고, 과소신이면 멈추거나 위험이 문턱 아래로 묽어진다.</a:t>
            </a:r>
          </a:p>
        </p:txBody>
      </p:sp>
      <p:sp>
        <p:nvSpPr>
          <p:cNvPr id="8" name="TextBox 7"/>
          <p:cNvSpPr txBox="1"/>
          <p:nvPr/>
        </p:nvSpPr>
        <p:spPr>
          <a:xfrm>
            <a:off x="609600" y="2375098"/>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동작 방식.</a:t>
            </a:r>
            <a:r>
              <a:rPr sz="1050" b="0" i="0">
                <a:solidFill>
                  <a:srgbClr val="16213A"/>
                </a:solidFill>
                <a:latin typeface="Arial"/>
                <a:ea typeface="Malgun Gothic"/>
                <a:cs typeface="Malgun Gothic"/>
              </a:rPr>
              <a:t> 위치 추정 공분산을 이전 주기의 명목 궤적을 따라 무향 변환(UT, unscented transform)으로 한 번만 전파한다. 모든 rollout은 이 튜브 하나를 공유한다. 로봇 점유는 공분산의 주축 좌표에서 오차 함수로 닫힌 형태로 구한다. 보행자는 DRA-MPPI처럼 몬테카를로로 뽑아 결합 충돌 확률을 내고, 둘을 곱해 rollout의 스텝별 충돌 위험을 만든다. 위험은 비용에 더하는 벌점과, 문턱을 넘는 rollout을 버리는 기각에 함께 쓴다. 보정은 실행한 스텝의 예측 위험과 실제 충돌 여부를 Brier 점수와 로그 손실로 비교해 잰다. 둘 다 확률 예측을 채점하는 적정 점수 규칙(proper scoring rule)이다.</a:t>
            </a:r>
          </a:p>
        </p:txBody>
      </p:sp>
      <p:sp>
        <p:nvSpPr>
          <p:cNvPr id="9" name="TextBox 8"/>
          <p:cNvSpPr txBox="1"/>
          <p:nvPr/>
        </p:nvSpPr>
        <p:spPr>
          <a:xfrm>
            <a:off x="609600" y="3113484"/>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Nav2·Gazebo의 TurtleBot3 시뮬레이션이고 실물은 없다. 6 × 40 m 복도에서 36 m를 주행하며 보행자 3·6·9명을 두고 설정마다 100번 이상 돌렸다. 9명에서 성공률은 Nav2 기본 MPPI 47.83%, DRA-MPPI 50.38%, DUCCT-MPPI 77.97%다. 보정을 일부러 틀어 본 실험이 이 연구의 핵심이다. 9명 조건에서 보행자 예측이 과신이면 로그 손실이 1.04를 넘는다. 예측은 과소신, 위치 추정은 과신으로 두면 성공률이 95.41%로 가장 높지만 도달 시간이 길어진다(멈춤). 두 모듈을 모두 과소신으로 두면 성공률이 67.33%로 떨어진다. 저자는 이를 확률 희석(probability dilution)이라 부른다. 위험이 넓게 퍼지면 스텝별 위험값이 작아지고, 그만큼 벌점이 작아진다. 실제로 평균 속도는 0.72에서 0.80 m/s로 오르고 평균 예측 위험은 1.59%에서 0.76%로 내려갔다. 로봇이 덜 조심하게 된 것이다. 계산 시간은 보고하지 않았다(RTX 4090, 20 Hz 설정).</a:t>
            </a:r>
          </a:p>
        </p:txBody>
      </p:sp>
      <p:sp>
        <p:nvSpPr>
          <p:cNvPr id="10" name="TextBox 9"/>
          <p:cNvSpPr txBox="1"/>
          <p:nvPr/>
        </p:nvSpPr>
        <p:spPr>
          <a:xfrm>
            <a:off x="609600" y="428486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travplan </a:t>
            </a:r>
            <a:r>
              <a:rPr sz="1050" b="0" i="0">
                <a:solidFill>
                  <a:srgbClr val="16213A"/>
                </a:solidFill>
                <a:latin typeface="Consolas"/>
                <a:ea typeface="Malgun Gothic"/>
                <a:cs typeface="Malgun Gothic"/>
              </a:rPr>
              <a:t>RiskCost</a:t>
            </a:r>
            <a:r>
              <a:rPr sz="1050" b="0" i="0">
                <a:solidFill>
                  <a:srgbClr val="16213A"/>
                </a:solidFill>
                <a:latin typeface="Arial"/>
                <a:ea typeface="Malgun Gothic"/>
                <a:cs typeface="Malgun Gothic"/>
              </a:rPr>
              <a:t>의 보행자 예측과 확률 제약 MPPI(</a:t>
            </a:r>
            <a:r>
              <a:rPr sz="1050" b="0" i="0">
                <a:solidFill>
                  <a:srgbClr val="16213A"/>
                </a:solidFill>
                <a:latin typeface="Consolas"/>
                <a:ea typeface="Malgun Gothic"/>
                <a:cs typeface="Malgun Gothic"/>
              </a:rPr>
              <a:t>control/mppi/chance.py</a:t>
            </a:r>
            <a:r>
              <a:rPr sz="1050" b="0" i="0">
                <a:solidFill>
                  <a:srgbClr val="16213A"/>
                </a:solidFill>
                <a:latin typeface="Arial"/>
                <a:ea typeface="Malgun Gothic"/>
                <a:cs typeface="Malgun Gothic"/>
              </a:rPr>
              <a:t>, TP-0076)는 모두 입력 불확실성이 맞다고 가정한다. 이 보정 평가를 옮기려면 두 가지가 먼저 필요하다.</a:t>
            </a:r>
          </a:p>
        </p:txBody>
      </p:sp>
      <p:sp>
        <p:nvSpPr>
          <p:cNvPr id="11" name="TextBox 10"/>
          <p:cNvSpPr txBox="1"/>
          <p:nvPr/>
        </p:nvSpPr>
        <p:spPr>
          <a:xfrm>
            <a:off x="609600" y="4806752"/>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첫째는 확률 출력이다. </a:t>
            </a:r>
            <a:r>
              <a:rPr sz="1050" b="0" i="0">
                <a:solidFill>
                  <a:srgbClr val="16213A"/>
                </a:solidFill>
                <a:latin typeface="Consolas"/>
                <a:ea typeface="Malgun Gothic"/>
                <a:cs typeface="Malgun Gothic"/>
              </a:rPr>
              <a:t>RiskCost</a:t>
            </a:r>
            <a:r>
              <a:rPr sz="1050" b="0" i="0">
                <a:solidFill>
                  <a:srgbClr val="16213A"/>
                </a:solidFill>
                <a:latin typeface="Arial"/>
                <a:ea typeface="Malgun Gothic"/>
                <a:cs typeface="Malgun Gothic"/>
              </a:rPr>
              <a:t>는 확률이 아니라 비용을 낸다. 보행자는 등속 원판에 시간에 따라 커지는 반경이고, 겹치면(층 비용 1 이상) 고정 벌점이 붙는다. 그래서 "실행 스텝에서 보행자와 겹치는 표본의 가중 비율" 같은 확률 출력을 먼저 정의해야 Brier 점수를 낼 수 있다. </a:t>
            </a:r>
            <a:r>
              <a:rPr sz="1050" b="0" i="0">
                <a:solidFill>
                  <a:srgbClr val="16213A"/>
                </a:solidFill>
                <a:latin typeface="Consolas"/>
                <a:ea typeface="Malgun Gothic"/>
                <a:cs typeface="Malgun Gothic"/>
              </a:rPr>
              <a:t>chance.py</a:t>
            </a:r>
            <a:r>
              <a:rPr sz="1050" b="0" i="0">
                <a:solidFill>
                  <a:srgbClr val="16213A"/>
                </a:solidFill>
                <a:latin typeface="Arial"/>
                <a:ea typeface="Malgun Gothic"/>
                <a:cs typeface="Malgun Gothic"/>
              </a:rPr>
              <a:t>는 GP 잔차의 위치 σ로 z 값을 내므로 정규 분포의 꼬리 확률로 바로 바꿀 수 있다.</a:t>
            </a:r>
          </a:p>
        </p:txBody>
      </p:sp>
      <p:sp>
        <p:nvSpPr>
          <p:cNvPr id="12" name="TextBox 11"/>
          <p:cNvSpPr txBox="1"/>
          <p:nvPr/>
        </p:nvSpPr>
        <p:spPr>
          <a:xfrm>
            <a:off x="609600" y="5328642"/>
            <a:ext cx="10972800" cy="8659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둘째는 사건 수다. TP-0154의 720 에피소드에서 충돌은 8건이고, 원인은 이미 갈렸다(STATE.md의 TP-0160·0161·0162). 레벨 3의 4건은 모든 표본이 같은 hard 벌점에 걸린 포화였고, 등급화 벌점(</a:t>
            </a:r>
            <a:r>
              <a:rPr sz="1050" b="0" i="0">
                <a:solidFill>
                  <a:srgbClr val="16213A"/>
                </a:solidFill>
                <a:latin typeface="Consolas"/>
                <a:ea typeface="Malgun Gothic"/>
                <a:cs typeface="Malgun Gothic"/>
              </a:rPr>
              <a:t>mppi_plant_lag_pg</a:t>
            </a:r>
            <a:r>
              <a:rPr sz="1050" b="0" i="0">
                <a:solidFill>
                  <a:srgbClr val="16213A"/>
                </a:solidFill>
                <a:latin typeface="Arial"/>
                <a:ea typeface="Malgun Gothic"/>
                <a:cs typeface="Malgun Gothic"/>
              </a:rPr>
              <a:t>)으로 없어졌다. bumps_potholes 레벨 0 seed 1의 4건은 조향 한계 때문에 비키지 못하고 멈춘 로봇에 보행자가 부딪힌 것이다. 8건으로는 스텝 단위 Brier 점수와 로그 손실이 가를 것이 거의 없다. 그래서 간격이 문턱보다 작아진 근접 사건까지 세어 신뢰도 도표(reliability diagram)를 그린다. 남는 질문은 레벨 0 도달이 116에서 107/120으로 준 것이 과소신 멈춤 탓인가이다. 확률 희석은 L1 belief의 </a:t>
            </a:r>
            <a:r>
              <a:rPr sz="1050" b="0" i="0">
                <a:solidFill>
                  <a:srgbClr val="16213A"/>
                </a:solidFill>
                <a:latin typeface="Consolas"/>
                <a:ea typeface="Malgun Gothic"/>
                <a:cs typeface="Malgun Gothic"/>
              </a:rPr>
              <a:t>SIGMA</a:t>
            </a:r>
            <a:r>
              <a:rPr sz="1050" b="0" i="0">
                <a:solidFill>
                  <a:srgbClr val="16213A"/>
                </a:solidFill>
                <a:latin typeface="Arial"/>
                <a:ea typeface="Malgun Gothic"/>
                <a:cs typeface="Malgun Gothic"/>
              </a:rPr>
              <a:t>를 확률 제약에 넣을 때도 생긴다. 그래서 조임 폭을 정하기 전에 보정부터 잰다.</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안전 필터 · C. 동적 장애물 안전 필터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C.2 방식별 설명</a:t>
            </a:r>
            <a:r>
              <a:rPr sz="1050" b="0" i="0">
                <a:solidFill>
                  <a:srgbClr val="5A6478"/>
                </a:solidFill>
                <a:latin typeface="Arial"/>
                <a:ea typeface="Malgun Gothic"/>
                <a:cs typeface="Malgun Gothic"/>
              </a:rPr>
              <a:t>  자세히: DUCCT-MPPI의 점유 확률과 보정 점수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92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로봇 점유.</a:t>
            </a:r>
            <a:r>
              <a:rPr sz="1050" b="0" i="0">
                <a:solidFill>
                  <a:srgbClr val="16213A"/>
                </a:solidFill>
                <a:latin typeface="Arial"/>
                <a:ea typeface="Malgun Gothic"/>
                <a:cs typeface="Malgun Gothic"/>
              </a:rPr>
              <a:t> 로봇과 보행자를 합친 한 변 </a:t>
            </a:r>
            <a:r>
              <a:rPr sz="1050" b="0" i="1">
                <a:solidFill>
                  <a:srgbClr val="16213A"/>
                </a:solidFill>
                <a:latin typeface="Arial"/>
                <a:ea typeface="Malgun Gothic"/>
                <a:cs typeface="Malgun Gothic"/>
              </a:rPr>
              <a:t>l</a:t>
            </a:r>
            <a:r>
              <a:rPr sz="1050" b="0" i="0">
                <a:solidFill>
                  <a:srgbClr val="16213A"/>
                </a:solidFill>
                <a:latin typeface="Arial"/>
                <a:ea typeface="Malgun Gothic"/>
                <a:cs typeface="Malgun Gothic"/>
              </a:rPr>
              <a:t>의 정사각형(반폭 </a:t>
            </a:r>
            <a:r>
              <a:rPr sz="1050" b="0" i="1">
                <a:solidFill>
                  <a:srgbClr val="16213A"/>
                </a:solidFill>
                <a:latin typeface="Arial"/>
                <a:ea typeface="Malgun Gothic"/>
                <a:cs typeface="Malgun Gothic"/>
              </a:rPr>
              <a:t>L</a:t>
            </a:r>
            <a:r>
              <a:rPr sz="1050" b="0" i="0">
                <a:solidFill>
                  <a:srgbClr val="16213A"/>
                </a:solidFill>
                <a:latin typeface="Arial"/>
                <a:ea typeface="Malgun Gothic"/>
                <a:cs typeface="Malgun Gothic"/>
              </a:rPr>
              <a:t>)으로 두고, 위치 공분산의 주축 좌표 </a:t>
            </a:r>
            <a:r>
              <a:rPr sz="1050" b="0" i="1">
                <a:solidFill>
                  <a:srgbClr val="16213A"/>
                </a:solidFill>
                <a:latin typeface="Arial"/>
                <a:ea typeface="Malgun Gothic"/>
                <a:cs typeface="Malgun Gothic"/>
              </a:rPr>
              <a:t>ξᵢ</a:t>
            </a:r>
            <a:r>
              <a:rPr sz="1050" b="0" i="0">
                <a:solidFill>
                  <a:srgbClr val="16213A"/>
                </a:solidFill>
                <a:latin typeface="Arial"/>
                <a:ea typeface="Malgun Gothic"/>
                <a:cs typeface="Malgun Gothic"/>
              </a:rPr>
              <a:t>와 고윳값 </a:t>
            </a:r>
            <a:r>
              <a:rPr sz="1050" b="0" i="1">
                <a:solidFill>
                  <a:srgbClr val="16213A"/>
                </a:solidFill>
                <a:latin typeface="Arial"/>
                <a:ea typeface="Malgun Gothic"/>
                <a:cs typeface="Malgun Gothic"/>
              </a:rPr>
              <a:t>λᵢ</a:t>
            </a:r>
            <a:r>
              <a:rPr sz="1050" b="0" i="0">
                <a:solidFill>
                  <a:srgbClr val="16213A"/>
                </a:solidFill>
                <a:latin typeface="Arial"/>
                <a:ea typeface="Malgun Gothic"/>
                <a:cs typeface="Malgun Gothic"/>
              </a:rPr>
              <a:t>로 점유 확률을 닫힌 형태로 쓴다.</a:t>
            </a:r>
          </a:p>
        </p:txBody>
      </p:sp>
      <p:pic>
        <p:nvPicPr>
          <p:cNvPr id="6" name="Picture 5" descr="image.png"/>
          <p:cNvPicPr>
            <a:picLocks noChangeAspect="1"/>
          </p:cNvPicPr>
          <p:nvPr/>
        </p:nvPicPr>
        <p:blipFill>
          <a:blip r:embed="rId3"/>
          <a:stretch>
            <a:fillRect/>
          </a:stretch>
        </p:blipFill>
        <p:spPr>
          <a:xfrm>
            <a:off x="609600" y="1549995"/>
            <a:ext cx="3181350" cy="546100"/>
          </a:xfrm>
          <a:prstGeom prst="rect">
            <a:avLst/>
          </a:prstGeom>
        </p:spPr>
      </p:pic>
      <p:sp>
        <p:nvSpPr>
          <p:cNvPr id="7" name="TextBox 6"/>
          <p:cNvSpPr txBox="1"/>
          <p:nvPr/>
        </p:nvSpPr>
        <p:spPr>
          <a:xfrm>
            <a:off x="609600" y="209044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rollout 위험.</a:t>
            </a:r>
            <a:r>
              <a:rPr sz="1050" b="0" i="0">
                <a:solidFill>
                  <a:srgbClr val="16213A"/>
                </a:solidFill>
                <a:latin typeface="Arial"/>
                <a:ea typeface="Malgun Gothic"/>
                <a:cs typeface="Malgun Gothic"/>
              </a:rPr>
              <a:t> 보행자 표본 </a:t>
            </a:r>
            <a:r>
              <a:rPr sz="1050" b="0" i="1">
                <a:solidFill>
                  <a:srgbClr val="16213A"/>
                </a:solidFill>
                <a:latin typeface="Arial"/>
                <a:ea typeface="Malgun Gothic"/>
                <a:cs typeface="Malgun Gothic"/>
              </a:rPr>
              <a:t>N_(MC)</a:t>
            </a:r>
            <a:r>
              <a:rPr sz="1050" b="0" i="0">
                <a:solidFill>
                  <a:srgbClr val="16213A"/>
                </a:solidFill>
                <a:latin typeface="Arial"/>
                <a:ea typeface="Malgun Gothic"/>
                <a:cs typeface="Malgun Gothic"/>
              </a:rPr>
              <a:t>개의 결합 점유 </a:t>
            </a:r>
            <a:r>
              <a:rPr sz="1050" b="0" i="1">
                <a:solidFill>
                  <a:srgbClr val="16213A"/>
                </a:solidFill>
                <a:latin typeface="Arial"/>
                <a:ea typeface="Malgun Gothic"/>
                <a:cs typeface="Malgun Gothic"/>
              </a:rPr>
              <a:t>𝒫_(joint) = 1 - ∏ₒ (1 - 𝒫ₒ)</a:t>
            </a:r>
            <a:r>
              <a:rPr sz="1050" b="0" i="0">
                <a:solidFill>
                  <a:srgbClr val="16213A"/>
                </a:solidFill>
                <a:latin typeface="Arial"/>
                <a:ea typeface="Malgun Gothic"/>
                <a:cs typeface="Malgun Gothic"/>
              </a:rPr>
              <a:t>에 로봇 점유를 곱해 더한다. 비용에는 </a:t>
            </a:r>
            <a:r>
              <a:rPr sz="1050" b="0" i="1">
                <a:solidFill>
                  <a:srgbClr val="16213A"/>
                </a:solidFill>
                <a:latin typeface="Arial"/>
                <a:ea typeface="Malgun Gothic"/>
                <a:cs typeface="Malgun Gothic"/>
              </a:rPr>
              <a:t>Sₖ ← Sₖ + λᵣᵢₛₖ ∑ₜ 𝒫̂_(k,t)</a:t>
            </a:r>
            <a:r>
              <a:rPr sz="1050" b="0" i="0">
                <a:solidFill>
                  <a:srgbClr val="16213A"/>
                </a:solidFill>
                <a:latin typeface="Arial"/>
                <a:ea typeface="Malgun Gothic"/>
                <a:cs typeface="Malgun Gothic"/>
              </a:rPr>
              <a:t>로 더하고, </a:t>
            </a:r>
            <a:r>
              <a:rPr sz="1050" b="0" i="1">
                <a:solidFill>
                  <a:srgbClr val="16213A"/>
                </a:solidFill>
                <a:latin typeface="Arial"/>
                <a:ea typeface="Malgun Gothic"/>
                <a:cs typeface="Malgun Gothic"/>
              </a:rPr>
              <a:t>𝒫̂_(k,t)</a:t>
            </a:r>
            <a:r>
              <a:rPr sz="1050" b="0" i="0">
                <a:solidFill>
                  <a:srgbClr val="16213A"/>
                </a:solidFill>
                <a:latin typeface="Arial"/>
                <a:ea typeface="Malgun Gothic"/>
                <a:cs typeface="Malgun Gothic"/>
              </a:rPr>
              <a:t>가 문턱을 넘으면 그 rollout을 버린다.</a:t>
            </a:r>
          </a:p>
        </p:txBody>
      </p:sp>
      <p:pic>
        <p:nvPicPr>
          <p:cNvPr id="8" name="Picture 7" descr="image.png"/>
          <p:cNvPicPr>
            <a:picLocks noChangeAspect="1"/>
          </p:cNvPicPr>
          <p:nvPr/>
        </p:nvPicPr>
        <p:blipFill>
          <a:blip r:embed="rId4"/>
          <a:stretch>
            <a:fillRect/>
          </a:stretch>
        </p:blipFill>
        <p:spPr>
          <a:xfrm>
            <a:off x="609600" y="2395835"/>
            <a:ext cx="2590800" cy="517525"/>
          </a:xfrm>
          <a:prstGeom prst="rect">
            <a:avLst/>
          </a:prstGeom>
        </p:spPr>
      </p:pic>
      <p:sp>
        <p:nvSpPr>
          <p:cNvPr id="9" name="TextBox 8"/>
          <p:cNvSpPr txBox="1"/>
          <p:nvPr/>
        </p:nvSpPr>
        <p:spPr>
          <a:xfrm>
            <a:off x="609600" y="291078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보정 점수.</a:t>
            </a:r>
            <a:r>
              <a:rPr sz="1050" b="0" i="0">
                <a:solidFill>
                  <a:srgbClr val="16213A"/>
                </a:solidFill>
                <a:latin typeface="Arial"/>
                <a:ea typeface="Malgun Gothic"/>
                <a:cs typeface="Malgun Gothic"/>
              </a:rPr>
              <a:t> 실행 스텝의 위험 </a:t>
            </a:r>
            <a:r>
              <a:rPr sz="1050" b="0" i="1">
                <a:solidFill>
                  <a:srgbClr val="16213A"/>
                </a:solidFill>
                <a:latin typeface="Arial"/>
                <a:ea typeface="Malgun Gothic"/>
                <a:cs typeface="Malgun Gothic"/>
              </a:rPr>
              <a:t>P̂ₜ = ∑ₖ wₖ 𝒫̂_(k,1)</a:t>
            </a:r>
            <a:r>
              <a:rPr sz="1050" b="0" i="0">
                <a:solidFill>
                  <a:srgbClr val="16213A"/>
                </a:solidFill>
                <a:latin typeface="Arial"/>
                <a:ea typeface="Malgun Gothic"/>
                <a:cs typeface="Malgun Gothic"/>
              </a:rPr>
              <a:t>과 실제 충돌 </a:t>
            </a:r>
            <a:r>
              <a:rPr sz="1050" b="0" i="1">
                <a:solidFill>
                  <a:srgbClr val="16213A"/>
                </a:solidFill>
                <a:latin typeface="Arial"/>
                <a:ea typeface="Malgun Gothic"/>
                <a:cs typeface="Malgun Gothic"/>
              </a:rPr>
              <a:t>yₜ ∈ {0, 1}</a:t>
            </a:r>
            <a:r>
              <a:rPr sz="1050" b="0" i="0">
                <a:solidFill>
                  <a:srgbClr val="16213A"/>
                </a:solidFill>
                <a:latin typeface="Arial"/>
                <a:ea typeface="Malgun Gothic"/>
                <a:cs typeface="Malgun Gothic"/>
              </a:rPr>
              <a:t>로 Brier 점수와 로그 손실을 낸다. 둘 다 작을수록 보정이 맞다.</a:t>
            </a:r>
          </a:p>
        </p:txBody>
      </p:sp>
      <p:pic>
        <p:nvPicPr>
          <p:cNvPr id="10" name="Picture 9" descr="image.png"/>
          <p:cNvPicPr>
            <a:picLocks noChangeAspect="1"/>
          </p:cNvPicPr>
          <p:nvPr/>
        </p:nvPicPr>
        <p:blipFill>
          <a:blip r:embed="rId5"/>
          <a:stretch>
            <a:fillRect/>
          </a:stretch>
        </p:blipFill>
        <p:spPr>
          <a:xfrm>
            <a:off x="609600" y="3216176"/>
            <a:ext cx="5343525" cy="457200"/>
          </a:xfrm>
          <a:prstGeom prst="rect">
            <a:avLst/>
          </a:prstGeom>
        </p:spPr>
      </p:pic>
      <p:sp>
        <p:nvSpPr>
          <p:cNvPr id="11" name="TextBox 10"/>
          <p:cNvSpPr txBox="1"/>
          <p:nvPr/>
        </p:nvSpPr>
        <p:spPr>
          <a:xfrm>
            <a:off x="609600" y="368220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적어 둘 것.</a:t>
            </a:r>
            <a:r>
              <a:rPr sz="1050" b="0" i="0">
                <a:solidFill>
                  <a:srgbClr val="16213A"/>
                </a:solidFill>
                <a:latin typeface="Arial"/>
                <a:ea typeface="Malgun Gothic"/>
                <a:cs typeface="Malgun Gothic"/>
              </a:rPr>
              <a:t> 두 식은 모두 충돌 확률의 상한이지만 같은 </a:t>
            </a:r>
            <a:r>
              <a:rPr sz="1050" b="0" i="1">
                <a:solidFill>
                  <a:srgbClr val="16213A"/>
                </a:solidFill>
                <a:latin typeface="Arial"/>
                <a:ea typeface="Malgun Gothic"/>
                <a:cs typeface="Malgun Gothic"/>
              </a:rPr>
              <a:t>σ</a:t>
            </a:r>
            <a:r>
              <a:rPr sz="1050" b="0" i="0">
                <a:solidFill>
                  <a:srgbClr val="16213A"/>
                </a:solidFill>
                <a:latin typeface="Arial"/>
                <a:ea typeface="Malgun Gothic"/>
                <a:cs typeface="Malgun Gothic"/>
              </a:rPr>
              <a:t>를 다른 뜻으로 쓴다. 제약은 충돌 확률 상한을 </a:t>
            </a:r>
            <a:r>
              <a:rPr sz="1050" b="0" i="1">
                <a:solidFill>
                  <a:srgbClr val="16213A"/>
                </a:solidFill>
                <a:latin typeface="Arial"/>
                <a:ea typeface="Malgun Gothic"/>
                <a:cs typeface="Malgun Gothic"/>
              </a:rPr>
              <a:t>1 - σ = 0.05</a:t>
            </a:r>
            <a:r>
              <a:rPr sz="1050" b="0" i="0">
                <a:solidFill>
                  <a:srgbClr val="16213A"/>
                </a:solidFill>
                <a:latin typeface="Arial"/>
                <a:ea typeface="Malgun Gothic"/>
                <a:cs typeface="Malgun Gothic"/>
              </a:rPr>
              <a:t>로 두는데, 기각 규칙은 </a:t>
            </a:r>
            <a:r>
              <a:rPr sz="1050" b="0" i="1">
                <a:solidFill>
                  <a:srgbClr val="16213A"/>
                </a:solidFill>
                <a:latin typeface="Arial"/>
                <a:ea typeface="Malgun Gothic"/>
                <a:cs typeface="Malgun Gothic"/>
              </a:rPr>
              <a:t>𝒫̂ &gt; σ = 0.95</a:t>
            </a:r>
            <a:r>
              <a:rPr sz="1050" b="0" i="0">
                <a:solidFill>
                  <a:srgbClr val="16213A"/>
                </a:solidFill>
                <a:latin typeface="Arial"/>
                <a:ea typeface="Malgun Gothic"/>
                <a:cs typeface="Malgun Gothic"/>
              </a:rPr>
              <a:t>일 때만 버린다. 보고된 평균 예측 위험(0.76–1.59%)으로 보면 기각은 거의 일어나지 않는다. 안전은 사실상 벌점 항에서 나온다. 확률 희석이 바꾸는 것도 이 벌점의 크기다.</a:t>
            </a:r>
          </a:p>
        </p:txBody>
      </p:sp>
      <p:sp>
        <p:nvSpPr>
          <p:cNvPr id="12" name="TextBox 11"/>
          <p:cNvSpPr txBox="1"/>
          <p:nvPr/>
        </p:nvSpPr>
        <p:spPr>
          <a:xfrm>
            <a:off x="609600" y="420409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위의 </a:t>
            </a:r>
            <a:r>
              <a:rPr sz="1050" b="0" i="1">
                <a:solidFill>
                  <a:srgbClr val="16213A"/>
                </a:solidFill>
                <a:latin typeface="Arial"/>
                <a:ea typeface="Malgun Gothic"/>
                <a:cs typeface="Malgun Gothic"/>
              </a:rPr>
              <a:t>P̂ₜ</a:t>
            </a:r>
            <a:r>
              <a:rPr sz="1050" b="0" i="0">
                <a:solidFill>
                  <a:srgbClr val="16213A"/>
                </a:solidFill>
                <a:latin typeface="Arial"/>
                <a:ea typeface="Malgun Gothic"/>
                <a:cs typeface="Malgun Gothic"/>
              </a:rPr>
              <a:t> 자리에 </a:t>
            </a:r>
            <a:r>
              <a:rPr sz="1050" b="0" i="0">
                <a:solidFill>
                  <a:srgbClr val="16213A"/>
                </a:solidFill>
                <a:latin typeface="Consolas"/>
                <a:ea typeface="Malgun Gothic"/>
                <a:cs typeface="Malgun Gothic"/>
              </a:rPr>
              <a:t>RiskCost</a:t>
            </a:r>
            <a:r>
              <a:rPr sz="1050" b="0" i="0">
                <a:solidFill>
                  <a:srgbClr val="16213A"/>
                </a:solidFill>
                <a:latin typeface="Arial"/>
                <a:ea typeface="Malgun Gothic"/>
                <a:cs typeface="Malgun Gothic"/>
              </a:rPr>
              <a:t>가 실행 스텝에서 본 겹침 위험을, </a:t>
            </a:r>
            <a:r>
              <a:rPr sz="1050" b="0" i="1">
                <a:solidFill>
                  <a:srgbClr val="16213A"/>
                </a:solidFill>
                <a:latin typeface="Arial"/>
                <a:ea typeface="Malgun Gothic"/>
                <a:cs typeface="Malgun Gothic"/>
              </a:rPr>
              <a:t>yₜ</a:t>
            </a:r>
            <a:r>
              <a:rPr sz="1050" b="0" i="0">
                <a:solidFill>
                  <a:srgbClr val="16213A"/>
                </a:solidFill>
                <a:latin typeface="Arial"/>
                <a:ea typeface="Malgun Gothic"/>
                <a:cs typeface="Malgun Gothic"/>
              </a:rPr>
              <a:t> 자리에 벤치마크의 충돌 판정을 두면 된다.</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안전 필터 · C. 동적 장애물 안전 필터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C.3 비교</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93 / 183</a:t>
            </a:r>
          </a:p>
        </p:txBody>
      </p:sp>
      <p:graphicFrame>
        <p:nvGraphicFramePr>
          <p:cNvPr id="5" name="Table 4"/>
          <p:cNvGraphicFramePr>
            <a:graphicFrameLocks noGrp="1"/>
          </p:cNvGraphicFramePr>
          <p:nvPr/>
        </p:nvGraphicFramePr>
        <p:xfrm>
          <a:off x="609600" y="1244600"/>
          <a:ext cx="10966450" cy="1576704"/>
        </p:xfrm>
        <a:graphic>
          <a:graphicData uri="http://schemas.openxmlformats.org/drawingml/2006/table">
            <a:tbl>
              <a:tblPr firstRow="1" bandRow="1">
                <a:tableStyleId>{5C22544A-7EE6-4342-B048-85BDC9FD1C3A}</a:tableStyleId>
              </a:tblPr>
              <a:tblGrid>
                <a:gridCol w="1666081"/>
                <a:gridCol w="1810643"/>
                <a:gridCol w="1887538"/>
                <a:gridCol w="1254522"/>
                <a:gridCol w="1495524"/>
                <a:gridCol w="2852142"/>
              </a:tblGrid>
              <a:tr h="197088">
                <a:tc>
                  <a:txBody>
                    <a:bodyPr wrap="square"/>
                    <a:lstStyle/>
                    <a:p>
                      <a:r>
                        <a:rPr sz="800" b="1" i="0">
                          <a:solidFill>
                            <a:srgbClr val="F4F1EA"/>
                          </a:solidFill>
                          <a:latin typeface="Arial"/>
                          <a:ea typeface="Malgun Gothic"/>
                          <a:cs typeface="Malgun Gothic"/>
                        </a:rPr>
                        <a:t>방식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스텝당 지연</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안전 보장</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솔버·의존성</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가림 대응</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 통합</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시간가변 비용 레이어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거의 0(TravMap 조회)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없음(휴리스틱)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부분적(마지막 관측 위치 유지)</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채택·구현 완료</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RA-MPPI / DRA-MPPI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97–115 ms(RTX 2080)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확률적(chance constraint)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MPPI 샘플러 확장</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계획에서 제외(MPPI 개선)</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DUCCT-MPPI(2026)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논문 미보고(RTX 4090, 20 Hz 설정)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확률적(chance constraint), 보정 평가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MPPI 샘플러 확장</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확률 출력을 정의한 뒤 근접 사건 신뢰도 도표(TP-0154 로그)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표준 CBF-QP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0.6–0.8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강함(barrier 불변)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소형 QP(OSQP 등)</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없음(반응형)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중간(새 QP 계층)</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OcclusionCBF</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1.6–4.5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강함 + 가림 인증</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Gurobi(상용)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 사전 개입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어려움(라이선스) — </a:t>
                      </a:r>
                      <a:r>
                        <a:rPr sz="800" b="1" i="0">
                          <a:solidFill>
                            <a:srgbClr val="16213A"/>
                          </a:solidFill>
                          <a:latin typeface="Arial"/>
                          <a:ea typeface="Malgun Gothic"/>
                          <a:cs typeface="Malgun Gothic"/>
                        </a:rPr>
                        <a:t>보류</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CVaR-BF(Adaptive)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논문 미보고(CBF-QP급 추정)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확률적(CVaR) + 적응형 여유</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CasADi(오픈소스, 확인)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중간 — 가장 유력(TP-0014)</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OA-MPC / OACP / Control-Tree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48–200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강함(최악 경우)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MPC 솔버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Orin 예산 밖</a:t>
                      </a:r>
                    </a:p>
                  </a:txBody>
                  <a:tcPr marL="63500" marR="63500" marT="12700" marB="12700">
                    <a:solidFill>
                      <a:srgbClr val="FFFDF8"/>
                    </a:solidFill>
                  </a:tcPr>
                </a:tc>
              </a:tr>
            </a:tbl>
          </a:graphicData>
        </a:graphic>
      </p:graphicFrame>
      <p:sp>
        <p:nvSpPr>
          <p:cNvPr id="6" name="TextBox 5"/>
          <p:cNvSpPr txBox="1"/>
          <p:nvPr/>
        </p:nvSpPr>
        <p:spPr>
          <a:xfrm>
            <a:off x="609600" y="331073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결론.</a:t>
            </a:r>
            <a:r>
              <a:rPr sz="1050" b="0" i="0">
                <a:solidFill>
                  <a:srgbClr val="16213A"/>
                </a:solidFill>
                <a:latin typeface="Arial"/>
                <a:ea typeface="Malgun Gothic"/>
                <a:cs typeface="Malgun Gothic"/>
              </a:rPr>
              <a:t> 동적 장애물은 지금의 시간가변 비용 레이어로 충분히 시작했다. </a:t>
            </a:r>
            <a:r>
              <a:rPr sz="1050" b="1" i="0">
                <a:solidFill>
                  <a:srgbClr val="C2410C"/>
                </a:solidFill>
                <a:latin typeface="Arial"/>
                <a:ea typeface="Malgun Gothic"/>
                <a:cs typeface="Malgun Gothic"/>
              </a:rPr>
              <a:t>다음 단계는 Controller 뒤에 붙는 </a:t>
            </a:r>
            <a:r>
              <a:rPr sz="1050" b="1" i="0">
                <a:solidFill>
                  <a:srgbClr val="C2410C"/>
                </a:solidFill>
                <a:latin typeface="Arial"/>
                <a:ea typeface="Malgun Gothic"/>
                <a:cs typeface="Malgun Gothic"/>
              </a:rPr>
              <a:t>CVaR-BF 안전 필터</a:t>
            </a:r>
            <a:r>
              <a:rPr sz="1050" b="1" i="0">
                <a:solidFill>
                  <a:srgbClr val="C2410C"/>
                </a:solidFill>
                <a:latin typeface="Arial"/>
                <a:ea typeface="Malgun Gothic"/>
                <a:cs typeface="Malgun Gothic"/>
              </a:rPr>
              <a:t>다.</a:t>
            </a:r>
            <a:r>
              <a:rPr sz="1050" b="0" i="0">
                <a:solidFill>
                  <a:srgbClr val="16213A"/>
                </a:solidFill>
                <a:latin typeface="Arial"/>
                <a:ea typeface="Malgun Gothic"/>
                <a:cs typeface="Malgun Gothic"/>
              </a:rPr>
              <a:t> 라이선스가 확인됐고 travplan의 CVaR </a:t>
            </a:r>
            <a:r>
              <a:rPr sz="1050" b="0" i="0">
                <a:solidFill>
                  <a:srgbClr val="16213A"/>
                </a:solidFill>
                <a:latin typeface="Consolas"/>
                <a:ea typeface="Malgun Gothic"/>
                <a:cs typeface="Malgun Gothic"/>
              </a:rPr>
              <a:t>RiskCost</a:t>
            </a:r>
            <a:r>
              <a:rPr sz="1050" b="0" i="0">
                <a:solidFill>
                  <a:srgbClr val="16213A"/>
                </a:solidFill>
                <a:latin typeface="Arial"/>
                <a:ea typeface="Malgun Gothic"/>
                <a:cs typeface="Malgun Gothic"/>
              </a:rPr>
              <a:t>와 개념이 가장 가깝다. OcclusionCBF와 OA-MPC 계열은 라이선스와 지연 문제로 계속 보류한다. 예측 점유를 안전 필터에 넣는 최신 방식(Predictive Semantic Safety)은 §E에 있다.</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안전 필터 · C. 동적 장애물 안전 필터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C.4 안전 필터의 계보: CBF-QP, 도달 가능성, 예측 안전 필터</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94 / 183</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안전 필터는 세 갈래에서 왔다.</a:t>
            </a:r>
            <a:r>
              <a:rPr sz="1050" b="0" i="0">
                <a:solidFill>
                  <a:srgbClr val="16213A"/>
                </a:solidFill>
                <a:latin typeface="Arial"/>
                <a:ea typeface="Malgun Gothic"/>
                <a:cs typeface="Malgun Gothic"/>
              </a:rPr>
              <a:t> 명령에 barrier 부등식을 거는 CBF-QP(2016–2019), 안전하게 되돌아올 수 있는 상태 집합을 미리 계산하는 Hamilton-Jacobi 도달 가능성(2017), 짧은 MPC로 "이 명령을 써도 안전한 대안이 남는가"를 확인하는 예측 안전 필터(2018)다. 2023년 리뷰는 이 셋을 "감시 + 개입"이라는 한 구조로 묶었다. 위 C.2의 OcclusionCBF와 CVaR-BF는 CBF-QP 갈래의 최신판이다. 2025년에는 인식한 점유 지도에서 barrier 함수를 바로 만드는 Poisson 안전 함수가 나왔고, 다리 로봇 내비(RoM-Nav, Planner 문서 B.9)의 안전 필터로 쓰인다.</a:t>
            </a:r>
          </a:p>
        </p:txBody>
      </p:sp>
      <p:graphicFrame>
        <p:nvGraphicFramePr>
          <p:cNvPr id="6" name="Table 5"/>
          <p:cNvGraphicFramePr>
            <a:graphicFrameLocks noGrp="1"/>
          </p:cNvGraphicFramePr>
          <p:nvPr/>
        </p:nvGraphicFramePr>
        <p:xfrm>
          <a:off x="609600" y="1982986"/>
          <a:ext cx="10966450" cy="3153408"/>
        </p:xfrm>
        <a:graphic>
          <a:graphicData uri="http://schemas.openxmlformats.org/drawingml/2006/table">
            <a:tbl>
              <a:tblPr firstRow="1" bandRow="1">
                <a:tableStyleId>{5C22544A-7EE6-4342-B048-85BDC9FD1C3A}</a:tableStyleId>
              </a:tblPr>
              <a:tblGrid>
                <a:gridCol w="481211"/>
                <a:gridCol w="1763117"/>
                <a:gridCol w="1071761"/>
                <a:gridCol w="5242223"/>
                <a:gridCol w="2408138"/>
              </a:tblGrid>
              <a:tr h="197088">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갈래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핵심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2016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CBF-QP (Ames 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barrier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CBF와 CLF를 한 QP로 묶어 안전과 목표를 함께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2017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HJ 도달 가능성 개관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도달 가능성</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가치 함수로 안전 집합을 계산, GPU level set 도구</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3"/>
                        </a:rPr>
                        <a:t>StanfordASL/hj_reachability</a:t>
                      </a:r>
                      <a:r>
                        <a:rPr sz="800" b="0" i="0">
                          <a:solidFill>
                            <a:srgbClr val="16213A"/>
                          </a:solidFill>
                          <a:latin typeface="Arial"/>
                          <a:ea typeface="Malgun Gothic"/>
                          <a:cs typeface="Malgun Gothic"/>
                        </a:rPr>
                        <a:t> 0.2k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2018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예측 안전 필터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예측(MPC)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 제어기의 명령을 MPC로 검사하고 최소로 고친다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예측 제어 barrier 함수(PCBF)</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예측 + barrier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항상 실행 가능한 소프트 제약으로 실행 가능 집합을 안정화, 회복 장치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2019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CBF 이론과 응용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barrier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CBF의 이론과 로봇 응용을 정리한 튜토리얼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이산 시간 CBF + MPC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barrier + 예측</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MPC 안에 이산 CBF 제약</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HybridRobotics/NMPC-DCLF-DCBF</a:t>
                      </a:r>
                      <a:r>
                        <a:rPr sz="800" b="0" i="0">
                          <a:solidFill>
                            <a:srgbClr val="16213A"/>
                          </a:solidFill>
                          <a:latin typeface="Arial"/>
                          <a:ea typeface="Malgun Gothic"/>
                          <a:cs typeface="Malgun Gothic"/>
                        </a:rPr>
                        <a:t> 0.3k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safe-control-gym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벤치마크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제어·RL의 안전 방법을 같은 환경에서 비교</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utiasDSL/safe-control-gym</a:t>
                      </a:r>
                      <a:r>
                        <a:rPr sz="800" b="0" i="0">
                          <a:solidFill>
                            <a:srgbClr val="16213A"/>
                          </a:solidFill>
                          <a:latin typeface="Arial"/>
                          <a:ea typeface="Malgun Gothic"/>
                          <a:cs typeface="Malgun Gothic"/>
                        </a:rPr>
                        <a:t> 0.9k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안전 필터 통합 관점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리뷰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세 갈래를 감시와 개입이라는 한 구조로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ABS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도달 가능성(학습)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정책 조건 도달-회피 가치로 빠른 정책과 회복 정책을 전환(Planner 문서 B.9)</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6"/>
                        </a:rPr>
                        <a:t>LeCAR-Lab/ABS</a:t>
                      </a:r>
                      <a:r>
                        <a:rPr sz="800" b="0" i="0">
                          <a:solidFill>
                            <a:srgbClr val="16213A"/>
                          </a:solidFill>
                          <a:latin typeface="Arial"/>
                          <a:ea typeface="Malgun Gothic"/>
                          <a:cs typeface="Malgun Gothic"/>
                        </a:rPr>
                        <a:t> 0.6k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Poisson 안전 함수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barrier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점유 지도에서 Poisson 방정식을 풀어 CBF를 곧바로 만든다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Poisson 안전 함수 + CBF MPC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barrier + 예측</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로봇 모양(Minkowski 차)과 움직이는 장애물까지 넣은 예측 안전 필터, G1·Go2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GS-MPPI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barrier + 표본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여러 제약을 합성 CBF 하나로 묶고, 닫힌 형태 안전 제어를 rollout 동역학에 넣어 모든 표본을 안전하게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표본 안전 필터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예측(표본)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안전 표본이 하나도 없을 때만 백업, 시나리오 기법으로 괜한 개입에 확률 상한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Exact-Safe MPPI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barrier + 표본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여러 CBF를 정확한 최솟값과 δ-활성 집합으로 합쳐 좁은 틈을 지킨다</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7"/>
                        </a:rPr>
                        <a:t>lc-lab25/Exact-Safe-MPPI</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safe_control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구현 모음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단일·다중 로봇 내비의 CBF-QP, MPC-CBF 등</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8"/>
                        </a:rPr>
                        <a:t>tkkim-robot/safe_control</a:t>
                      </a:r>
                      <a:r>
                        <a:rPr sz="800" b="0" i="0">
                          <a:solidFill>
                            <a:srgbClr val="16213A"/>
                          </a:solidFill>
                          <a:latin typeface="Arial"/>
                          <a:ea typeface="Malgun Gothic"/>
                          <a:cs typeface="Malgun Gothic"/>
                        </a:rPr>
                        <a:t> 0.3k</a:t>
                      </a:r>
                    </a:p>
                  </a:txBody>
                  <a:tcPr marL="63500" marR="63500" marT="12700" marB="12700">
                    <a:solidFill>
                      <a:srgbClr val="FFFDF8"/>
                    </a:solidFill>
                  </a:tcPr>
                </a:tc>
              </a:tr>
            </a:tbl>
          </a:graphicData>
        </a:graphic>
      </p:graphicFrame>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안전 필터 · C. 동적 장애물 안전 필터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C.4 안전 필터의 계보: CBF-QP, 도달 가능성, 예측 안전 필터</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95 / 183</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CBF-QP — 안전과 목표를 한 QP로</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arXiv:1609.06408</a:t>
            </a:r>
            <a:r>
              <a:rPr sz="1050" b="0" i="0">
                <a:solidFill>
                  <a:srgbClr val="16213A"/>
                </a:solidFill>
                <a:latin typeface="Arial"/>
                <a:ea typeface="Malgun Gothic"/>
                <a:cs typeface="Malgun Gothic"/>
              </a:rPr>
              <a:t>, IEEE TAC 2017, Caltech 등). 자동차 적응형 순항 제어처럼 목표(속도 유지)와 안전(차간 거리)이 부딪히는 시스템을 겨냥했다. 안전 조건은 집합의 전방 불변성으로 정의하고, 이를 보장하는 barrier 함수 두 종류를 일반화해 제어 입력에 대한 부등식 제약(CBF)을 얻었다. 목표는 control Lyapunov 함수(CLF) 제약으로 표현하고, 두 제약을 한 QP에 넣어 매 스텝 푼다. 둘이 부딪히면 CLF 제약을 완화 변수로 풀어 안전을 우선한다. 뒤이은 튜토리얼 (</a:t>
            </a:r>
            <a:r>
              <a:rPr sz="1050" b="0" i="0">
                <a:solidFill>
                  <a:srgbClr val="1D4ED8"/>
                </a:solidFill>
                <a:latin typeface="Arial"/>
                <a:ea typeface="Malgun Gothic"/>
                <a:cs typeface="Malgun Gothic"/>
                <a:hlinkClick r:id="rId4"/>
              </a:rPr>
              <a:t>arXiv:1903.11199</a:t>
            </a:r>
            <a:r>
              <a:rPr sz="1050" b="0" i="0">
                <a:solidFill>
                  <a:srgbClr val="16213A"/>
                </a:solidFill>
                <a:latin typeface="Arial"/>
                <a:ea typeface="Malgun Gothic"/>
                <a:cs typeface="Malgun Gothic"/>
              </a:rPr>
              <a:t>, ECC 2019)이 이론과 로봇 응용을 정리해 표준 참고가 됐다(배경 0.4).</a:t>
            </a:r>
          </a:p>
        </p:txBody>
      </p:sp>
      <p:sp>
        <p:nvSpPr>
          <p:cNvPr id="6" name="TextBox 5"/>
          <p:cNvSpPr txBox="1"/>
          <p:nvPr/>
        </p:nvSpPr>
        <p:spPr>
          <a:xfrm>
            <a:off x="609600" y="2199481"/>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HJ 도달 가능성 — 어디서부터는 이미 늦었는지 계산한다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arXiv:1709.07523</a:t>
            </a:r>
            <a:r>
              <a:rPr sz="1050" b="0" i="0">
                <a:solidFill>
                  <a:srgbClr val="16213A"/>
                </a:solidFill>
                <a:latin typeface="Arial"/>
                <a:ea typeface="Malgun Gothic"/>
                <a:cs typeface="Malgun Gothic"/>
              </a:rPr>
              <a:t>, CDC 2017, UC Berkeley). 외란이 최악으로 작용해도 위험 집합을 피할 수 있는 상태들의 집합을 Hamilton-Jacobi 편미분 방정식의 해(가치 함수)로 계산한다. 일반 비선형 동역학과 유계 외란을 형식적으로 다루는 것이 장점이고, 상태 차원에 대해 계산량이 지수적으로 커지는 것이 한계다. 이 개관은 기본 이론, GPU 병렬 level set 도구 사용법, 고차원 문제를 분해로 줄이는 최근 연구를 정리했다. 학습 정책에 HJ 도달 가능성을 넣는 최근 예는 Safe Score Matching이다(NeurIPS 2026). 확산 정책의 denoiser를 안전 집합 안에서는 보상 쪽으로, 밖에서는 최악 위반이 줄어드는 쪽으로 이끈다. 강화학습 문서 R.13에 정리했다.</a:t>
            </a:r>
          </a:p>
        </p:txBody>
      </p:sp>
      <p:sp>
        <p:nvSpPr>
          <p:cNvPr id="7" name="TextBox 6"/>
          <p:cNvSpPr txBox="1"/>
          <p:nvPr/>
        </p:nvSpPr>
        <p:spPr>
          <a:xfrm>
            <a:off x="609600" y="315436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예측 안전 필터 — 학습 제어기 뒤에 붙는 MPC 검사기</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6"/>
              </a:rPr>
              <a:t>arXiv:1812.05506</a:t>
            </a:r>
            <a:r>
              <a:rPr sz="1050" b="0" i="0">
                <a:solidFill>
                  <a:srgbClr val="16213A"/>
                </a:solidFill>
                <a:latin typeface="Arial"/>
                <a:ea typeface="Malgun Gothic"/>
                <a:cs typeface="Malgun Gothic"/>
              </a:rPr>
              <a:t>, 2018, ETH Zurich). RL 같은 학습 제어기는 상태와 입력 제약을 명시적으로 지키지 못한다. 예측 안전 필터는 학습 제어기가 낸 명령을 받아, 그 명령으로 시작해도 이후 안전한 입력열이 존재하는지를 짧은 MPC로 확인한다. 존재하면 명령을 그대로 쓰고, 없으면 첫 입력이 원래 명령에 가장 가까운 안전한 입력열로 바꾼다. 데이터로 학습한 모델과 상태·입력에 따른 불확실성을 고려한다. 어떤 RL 알고리즘이든 그대로 붙일 수 있다.</a:t>
            </a:r>
          </a:p>
        </p:txBody>
      </p:sp>
      <p:sp>
        <p:nvSpPr>
          <p:cNvPr id="8" name="TextBox 7"/>
          <p:cNvSpPr txBox="1"/>
          <p:nvPr/>
        </p:nvSpPr>
        <p:spPr>
          <a:xfrm>
            <a:off x="609600" y="389274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PCBF는 이 필터의 실행 불가능 문제를 없앤다</a:t>
            </a:r>
            <a:r>
              <a:rPr sz="1050" b="0" i="0">
                <a:solidFill>
                  <a:srgbClr val="16213A"/>
                </a:solidFill>
                <a:latin typeface="Arial"/>
                <a:ea typeface="Malgun Gothic"/>
                <a:cs typeface="Malgun Gothic"/>
              </a:rPr>
              <a:t>(E.5). 안전한 입력열이 없을 때 최적화가 풀리지 않는 대신, 항상 풀리는 소프트 제약 문제로 바꾸고 그 해가 원래 실행 가능 집합으로 돌아오게 만든다.</a:t>
            </a:r>
          </a:p>
        </p:txBody>
      </p:sp>
      <p:sp>
        <p:nvSpPr>
          <p:cNvPr id="9" name="TextBox 8"/>
          <p:cNvSpPr txBox="1"/>
          <p:nvPr/>
        </p:nvSpPr>
        <p:spPr>
          <a:xfrm>
            <a:off x="609600" y="4198144"/>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안전 필터의 통합 관점</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7"/>
              </a:rPr>
              <a:t>arXiv:2309.05837</a:t>
            </a:r>
            <a:r>
              <a:rPr sz="1050" b="0" i="0">
                <a:solidFill>
                  <a:srgbClr val="16213A"/>
                </a:solidFill>
                <a:latin typeface="Arial"/>
                <a:ea typeface="Malgun Gothic"/>
                <a:cs typeface="Malgun Gothic"/>
              </a:rPr>
              <a:t>, Annual Review of Control, Robotics, and Autonomous Systems, Princeton). 모델 기반 안전 제어는 일반화와 확장이 어렵고, 데이터 기반 방법은 보장이 약해 예측할 수 없는 치명적 실패를 낸다. 이 리뷰는 겉보기에 다른 안전 필터들(가치 함수 기반, CBF, 예측·rollout 기반)이 같은 모듈 구조를 가진다는 것을 보였다. 안전 대체 정책, 지금 상태가 아직 회복 가능한지 판단하는 감시기, 필요할 때만 명령을 바꾸는 개입 방식이다. 이 관점에서 더 확장 가능한 합성, 강건한 감시, 효율적 개입이 다음 과제로 제시됐다.</a:t>
            </a:r>
          </a:p>
        </p:txBody>
      </p:sp>
      <p:sp>
        <p:nvSpPr>
          <p:cNvPr id="10" name="TextBox 9"/>
          <p:cNvSpPr txBox="1"/>
          <p:nvPr/>
        </p:nvSpPr>
        <p:spPr>
          <a:xfrm>
            <a:off x="609600" y="493653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Poisson 안전 함수 — 점유 지도에서 barrier 함수를 곧바로 만든다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8"/>
              </a:rPr>
              <a:t>arXiv:2505.06794</a:t>
            </a:r>
            <a:r>
              <a:rPr sz="1050" b="0" i="0">
                <a:solidFill>
                  <a:srgbClr val="16213A"/>
                </a:solidFill>
                <a:latin typeface="Arial"/>
                <a:ea typeface="Malgun Gothic"/>
                <a:cs typeface="Malgun Gothic"/>
              </a:rPr>
              <a:t>, 2025, Caltech, Bahati·Bena·Ames, </a:t>
            </a:r>
            <a:r>
              <a:rPr sz="1050" b="0" i="0">
                <a:solidFill>
                  <a:srgbClr val="1D4ED8"/>
                </a:solidFill>
                <a:latin typeface="Arial"/>
                <a:ea typeface="Malgun Gothic"/>
                <a:cs typeface="Malgun Gothic"/>
                <a:hlinkClick r:id="rId9"/>
              </a:rPr>
              <a:t>영상</a:t>
            </a:r>
            <a:r>
              <a:rPr sz="1050" b="0" i="0">
                <a:solidFill>
                  <a:srgbClr val="16213A"/>
                </a:solidFill>
                <a:latin typeface="Arial"/>
                <a:ea typeface="Malgun Gothic"/>
                <a:cs typeface="Malgun Gothic"/>
              </a:rPr>
              <a:t>). CBF를 쓰려면 안전 집합을 나타내는 함수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가 필요한데, 복잡하고 변하는 환경에서는 이 함수를 손으로 만들기 어렵다. 이 연구는 인식한 점유 지도에서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를 편미분 방정식으로 계산한다. 자유 공간을 영역으로, 장애물 경계를 </a:t>
            </a:r>
            <a:r>
              <a:rPr sz="1050" b="0" i="1">
                <a:solidFill>
                  <a:srgbClr val="16213A"/>
                </a:solidFill>
                <a:latin typeface="Arial"/>
                <a:ea typeface="Malgun Gothic"/>
                <a:cs typeface="Malgun Gothic"/>
              </a:rPr>
              <a:t>h = 0</a:t>
            </a:r>
            <a:r>
              <a:rPr sz="1050" b="0" i="0">
                <a:solidFill>
                  <a:srgbClr val="16213A"/>
                </a:solidFill>
                <a:latin typeface="Arial"/>
                <a:ea typeface="Malgun Gothic"/>
                <a:cs typeface="Malgun Gothic"/>
              </a:rPr>
              <a:t>인 Dirichlet 경계 조건으로 두고 Poisson 방정식 </a:t>
            </a:r>
            <a:r>
              <a:rPr sz="1050" b="0" i="1">
                <a:solidFill>
                  <a:srgbClr val="16213A"/>
                </a:solidFill>
                <a:latin typeface="Arial"/>
                <a:ea typeface="Malgun Gothic"/>
                <a:cs typeface="Malgun Gothic"/>
              </a:rPr>
              <a:t>Δ h = f</a:t>
            </a:r>
            <a:r>
              <a:rPr sz="1050" b="0" i="0">
                <a:solidFill>
                  <a:srgbClr val="16213A"/>
                </a:solidFill>
                <a:latin typeface="Arial"/>
                <a:ea typeface="Malgun Gothic"/>
                <a:cs typeface="Malgun Gothic"/>
              </a:rPr>
              <a:t>를 푼다. 음의 forcing 함수 </a:t>
            </a:r>
            <a:r>
              <a:rPr sz="1050" b="0" i="1">
                <a:solidFill>
                  <a:srgbClr val="16213A"/>
                </a:solidFill>
                <a:latin typeface="Arial"/>
                <a:ea typeface="Malgun Gothic"/>
                <a:cs typeface="Malgun Gothic"/>
              </a:rPr>
              <a:t>f</a:t>
            </a:r>
            <a:r>
              <a:rPr sz="1050" b="0" i="0">
                <a:solidFill>
                  <a:srgbClr val="16213A"/>
                </a:solidFill>
                <a:latin typeface="Arial"/>
                <a:ea typeface="Malgun Gothic"/>
                <a:cs typeface="Malgun Gothic"/>
              </a:rPr>
              <a:t> 덕분에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는 자유 공간 안에서 양수이고, 경계에서 멀어질수록 커지며, 기울기가 경계 근처에서도 0이 되지 않는다. 그래서 거리장보다 CBF로 쓰기 좋다. GPU에서 SOR(successive over-relaxation)로 120 × 120 격자를 0.2–0.3 ms에 풀고, 이전 해로 시작해 10 Hz로 갱신한다. 로봇은 단일 적분기(속도 명령) 축소 모델로 보고 CBF-QP를 건다. Unitree Go2에서는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가 늘 양수였고, G1에서는 보행 제어기의 속도 추종 지연 때문에 잠깐 음수가 됐다.</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안전 필터 · C. 동적 장애물 안전 필터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C.4 안전 필터의 계보: CBF-QP, 도달 가능성, 예측 안전 필터</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96 / 183</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후속 두 편.</a:t>
            </a:r>
            <a:r>
              <a:rPr sz="1050" b="0" i="0">
                <a:solidFill>
                  <a:srgbClr val="16213A"/>
                </a:solidFill>
                <a:latin typeface="Arial"/>
                <a:ea typeface="Malgun Gothic"/>
                <a:cs typeface="Malgun Gothic"/>
              </a:rPr>
              <a:t> 하나는 이 함수를 예측 안전 필터로 옮겼다(</a:t>
            </a:r>
            <a:r>
              <a:rPr sz="1050" b="0" i="0">
                <a:solidFill>
                  <a:srgbClr val="1D4ED8"/>
                </a:solidFill>
                <a:latin typeface="Arial"/>
                <a:ea typeface="Malgun Gothic"/>
                <a:cs typeface="Malgun Gothic"/>
                <a:hlinkClick r:id="rId3"/>
              </a:rPr>
              <a:t>arXiv:2508.11129</a:t>
            </a:r>
            <a:r>
              <a:rPr sz="1050" b="0" i="0">
                <a:solidFill>
                  <a:srgbClr val="16213A"/>
                </a:solidFill>
                <a:latin typeface="Arial"/>
                <a:ea typeface="Malgun Gothic"/>
                <a:cs typeface="Malgun Gothic"/>
              </a:rPr>
              <a:t>, Humanoids 2025). 로봇 모양을 Minkowski 차로 방향마다 빼서 긴 짐을 든 G1처럼 비대칭인 몸체도 다루고, 장애물 경계의 움직임을 광류로 추정해 시간에 따라 변하는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를 만든다. 평면 속도 </a:t>
            </a:r>
            <a:r>
              <a:rPr sz="1050" b="0" i="1">
                <a:solidFill>
                  <a:srgbClr val="16213A"/>
                </a:solidFill>
                <a:latin typeface="Arial"/>
                <a:ea typeface="Malgun Gothic"/>
                <a:cs typeface="Malgun Gothic"/>
              </a:rPr>
              <a:t>(vₓ, v_y, ω)</a:t>
            </a:r>
            <a:r>
              <a:rPr sz="1050" b="0" i="0">
                <a:solidFill>
                  <a:srgbClr val="16213A"/>
                </a:solidFill>
                <a:latin typeface="Arial"/>
                <a:ea typeface="Malgun Gothic"/>
                <a:cs typeface="Malgun Gothic"/>
              </a:rPr>
              <a:t> 축소 모델의 MPC에 이산 CBF 제약을 넣어 OSQP로 100 Hz에 푼다. 다른 하나는 장애물마다 위험도를 다르게 줬다 (</a:t>
            </a:r>
            <a:r>
              <a:rPr sz="1050" b="0" i="0">
                <a:solidFill>
                  <a:srgbClr val="1D4ED8"/>
                </a:solidFill>
                <a:latin typeface="Arial"/>
                <a:ea typeface="Malgun Gothic"/>
                <a:cs typeface="Malgun Gothic"/>
                <a:hlinkClick r:id="rId4"/>
              </a:rPr>
              <a:t>arXiv:2510.25913</a:t>
            </a:r>
            <a:r>
              <a:rPr sz="1050" b="0" i="0">
                <a:solidFill>
                  <a:srgbClr val="16213A"/>
                </a:solidFill>
                <a:latin typeface="Arial"/>
                <a:ea typeface="Malgun Gothic"/>
                <a:cs typeface="Malgun Gothic"/>
              </a:rPr>
              <a:t>, 2025). Laplace 방정식으로 안내 벡터장을 만들고, 위험한 장애물 경계에 더 큰 유출량을 줘서 그 주변의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가 더 천천히 커지게 한다. 같은 안전 보장 아래 위험한 장애물을 더 멀리 돌아간다.</a:t>
            </a:r>
          </a:p>
        </p:txBody>
      </p:sp>
      <p:sp>
        <p:nvSpPr>
          <p:cNvPr id="6" name="TextBox 5"/>
          <p:cNvSpPr txBox="1"/>
          <p:nvPr/>
        </p:nvSpPr>
        <p:spPr>
          <a:xfrm>
            <a:off x="609600" y="219948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TravMap의 치명 셀을 Dirichlet 경계로 두면, 격자 하나를 풀어 MPPI 뒤의 CBF 안전 필터를 바로 만들 수 있다.</a:t>
            </a:r>
            <a:r>
              <a:rPr sz="1050" b="0" i="0">
                <a:solidFill>
                  <a:srgbClr val="16213A"/>
                </a:solidFill>
                <a:latin typeface="Arial"/>
                <a:ea typeface="Malgun Gothic"/>
                <a:cs typeface="Malgun Gothic"/>
              </a:rPr>
              <a:t> travplan은 이미 격자 지도와 GPU를 쓰므로 계산 부담이 작다. 위험도별 유출량(2510.25913)은 TravMap cost를 경계 조건으로 넣는 길이다. G1에서 본 속도 추종 지연 문제는 스워브 모듈의 조향 지연에도 같게 생기므로, 축소 모델에 여유를 두거나 예측 필터를 쓴다. 안전 필터 후보 비교(C.3)에 넣을 만하다.</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안전 필터 · C. 동적 장애물 안전 필터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C.4 안전 필터의 계보: CBF-QP, 도달 가능성, 예측 안전 필터</a:t>
            </a:r>
            <a:r>
              <a:rPr sz="1050" b="0" i="0">
                <a:solidFill>
                  <a:srgbClr val="5A6478"/>
                </a:solidFill>
                <a:latin typeface="Arial"/>
                <a:ea typeface="Malgun Gothic"/>
                <a:cs typeface="Malgun Gothic"/>
              </a:rPr>
              <a:t>  자세히: 세 갈래의 안전 조건을 한 틀로 보기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97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CBF-QP.</a:t>
            </a:r>
            <a:r>
              <a:rPr sz="1050" b="0" i="0">
                <a:solidFill>
                  <a:srgbClr val="16213A"/>
                </a:solidFill>
                <a:latin typeface="Arial"/>
                <a:ea typeface="Malgun Gothic"/>
                <a:cs typeface="Malgun Gothic"/>
              </a:rPr>
              <a:t> 안전 집합 </a:t>
            </a:r>
            <a:r>
              <a:rPr sz="1050" b="0" i="1">
                <a:solidFill>
                  <a:srgbClr val="16213A"/>
                </a:solidFill>
                <a:latin typeface="Arial"/>
                <a:ea typeface="Malgun Gothic"/>
                <a:cs typeface="Malgun Gothic"/>
              </a:rPr>
              <a:t>𝒞 = {x : h(x) ≥ 0}</a:t>
            </a:r>
            <a:r>
              <a:rPr sz="1050" b="0" i="0">
                <a:solidFill>
                  <a:srgbClr val="16213A"/>
                </a:solidFill>
                <a:latin typeface="Arial"/>
                <a:ea typeface="Malgun Gothic"/>
                <a:cs typeface="Malgun Gothic"/>
              </a:rPr>
              <a:t>에서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가 너무 빨리 줄지 않게 제약하고, 목표 CLF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는 완화 변수 </a:t>
            </a:r>
            <a:r>
              <a:rPr sz="1050" b="0" i="1">
                <a:solidFill>
                  <a:srgbClr val="16213A"/>
                </a:solidFill>
                <a:latin typeface="Arial"/>
                <a:ea typeface="Malgun Gothic"/>
                <a:cs typeface="Malgun Gothic"/>
              </a:rPr>
              <a:t>δ</a:t>
            </a:r>
            <a:r>
              <a:rPr sz="1050" b="0" i="0">
                <a:solidFill>
                  <a:srgbClr val="16213A"/>
                </a:solidFill>
                <a:latin typeface="Arial"/>
                <a:ea typeface="Malgun Gothic"/>
                <a:cs typeface="Malgun Gothic"/>
              </a:rPr>
              <a:t>와 함께 넣는다(배경 0.4).</a:t>
            </a:r>
          </a:p>
        </p:txBody>
      </p:sp>
      <p:pic>
        <p:nvPicPr>
          <p:cNvPr id="6" name="Picture 5" descr="image.png"/>
          <p:cNvPicPr>
            <a:picLocks noChangeAspect="1"/>
          </p:cNvPicPr>
          <p:nvPr/>
        </p:nvPicPr>
        <p:blipFill>
          <a:blip r:embed="rId3"/>
          <a:stretch>
            <a:fillRect/>
          </a:stretch>
        </p:blipFill>
        <p:spPr>
          <a:xfrm>
            <a:off x="609600" y="1549995"/>
            <a:ext cx="5943600" cy="330200"/>
          </a:xfrm>
          <a:prstGeom prst="rect">
            <a:avLst/>
          </a:prstGeom>
        </p:spPr>
      </p:pic>
      <p:sp>
        <p:nvSpPr>
          <p:cNvPr id="7" name="TextBox 6"/>
          <p:cNvSpPr txBox="1"/>
          <p:nvPr/>
        </p:nvSpPr>
        <p:spPr>
          <a:xfrm>
            <a:off x="609600" y="190252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HJ 도달 가능성.</a:t>
            </a:r>
            <a:r>
              <a:rPr sz="1050" b="0" i="0">
                <a:solidFill>
                  <a:srgbClr val="16213A"/>
                </a:solidFill>
                <a:latin typeface="Arial"/>
                <a:ea typeface="Malgun Gothic"/>
                <a:cs typeface="Malgun Gothic"/>
              </a:rPr>
              <a:t> 실패 집합을 </a:t>
            </a:r>
            <a:r>
              <a:rPr sz="1050" b="0" i="1">
                <a:solidFill>
                  <a:srgbClr val="16213A"/>
                </a:solidFill>
                <a:latin typeface="Arial"/>
                <a:ea typeface="Malgun Gothic"/>
                <a:cs typeface="Malgun Gothic"/>
              </a:rPr>
              <a:t>ℓ(x) &lt; 0</a:t>
            </a:r>
            <a:r>
              <a:rPr sz="1050" b="0" i="0">
                <a:solidFill>
                  <a:srgbClr val="16213A"/>
                </a:solidFill>
                <a:latin typeface="Arial"/>
                <a:ea typeface="Malgun Gothic"/>
                <a:cs typeface="Malgun Gothic"/>
              </a:rPr>
              <a:t>으로 정의하면, 가치 함수 </a:t>
            </a:r>
            <a:r>
              <a:rPr sz="1050" b="0" i="1">
                <a:solidFill>
                  <a:srgbClr val="16213A"/>
                </a:solidFill>
                <a:latin typeface="Arial"/>
                <a:ea typeface="Malgun Gothic"/>
                <a:cs typeface="Malgun Gothic"/>
              </a:rPr>
              <a:t>V(x, t)</a:t>
            </a:r>
            <a:r>
              <a:rPr sz="1050" b="0" i="0">
                <a:solidFill>
                  <a:srgbClr val="16213A"/>
                </a:solidFill>
                <a:latin typeface="Arial"/>
                <a:ea typeface="Malgun Gothic"/>
                <a:cs typeface="Malgun Gothic"/>
              </a:rPr>
              <a:t>는 제어가 최선을, 외란이 최악을 다하는 게임의 해다. 안전 집합은 </a:t>
            </a:r>
            <a:r>
              <a:rPr sz="1050" b="0" i="1">
                <a:solidFill>
                  <a:srgbClr val="16213A"/>
                </a:solidFill>
                <a:latin typeface="Arial"/>
                <a:ea typeface="Malgun Gothic"/>
                <a:cs typeface="Malgun Gothic"/>
              </a:rPr>
              <a:t>V ≥ 0</a:t>
            </a:r>
            <a:r>
              <a:rPr sz="1050" b="0" i="0">
                <a:solidFill>
                  <a:srgbClr val="16213A"/>
                </a:solidFill>
                <a:latin typeface="Arial"/>
                <a:ea typeface="Malgun Gothic"/>
                <a:cs typeface="Malgun Gothic"/>
              </a:rPr>
              <a:t>인 곳이고, 경계 가까이에서만 안전 제어로 개입한다.</a:t>
            </a:r>
          </a:p>
        </p:txBody>
      </p:sp>
      <p:pic>
        <p:nvPicPr>
          <p:cNvPr id="8" name="Picture 7" descr="image.png"/>
          <p:cNvPicPr>
            <a:picLocks noChangeAspect="1"/>
          </p:cNvPicPr>
          <p:nvPr/>
        </p:nvPicPr>
        <p:blipFill>
          <a:blip r:embed="rId4"/>
          <a:stretch>
            <a:fillRect/>
          </a:stretch>
        </p:blipFill>
        <p:spPr>
          <a:xfrm>
            <a:off x="609600" y="2207915"/>
            <a:ext cx="5153025" cy="384175"/>
          </a:xfrm>
          <a:prstGeom prst="rect">
            <a:avLst/>
          </a:prstGeom>
        </p:spPr>
      </p:pic>
      <p:sp>
        <p:nvSpPr>
          <p:cNvPr id="9" name="TextBox 8"/>
          <p:cNvSpPr txBox="1"/>
          <p:nvPr/>
        </p:nvSpPr>
        <p:spPr>
          <a:xfrm>
            <a:off x="609600" y="260816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예측 안전 필터.</a:t>
            </a:r>
            <a:r>
              <a:rPr sz="1050" b="0" i="0">
                <a:solidFill>
                  <a:srgbClr val="16213A"/>
                </a:solidFill>
                <a:latin typeface="Arial"/>
                <a:ea typeface="Malgun Gothic"/>
                <a:cs typeface="Malgun Gothic"/>
              </a:rPr>
              <a:t> 학습 제어기의 명령 </a:t>
            </a:r>
            <a:r>
              <a:rPr sz="1050" b="0" i="1">
                <a:solidFill>
                  <a:srgbClr val="16213A"/>
                </a:solidFill>
                <a:latin typeface="Arial"/>
                <a:ea typeface="Malgun Gothic"/>
                <a:cs typeface="Malgun Gothic"/>
              </a:rPr>
              <a:t>u_L</a:t>
            </a:r>
            <a:r>
              <a:rPr sz="1050" b="0" i="0">
                <a:solidFill>
                  <a:srgbClr val="16213A"/>
                </a:solidFill>
                <a:latin typeface="Arial"/>
                <a:ea typeface="Malgun Gothic"/>
                <a:cs typeface="Malgun Gothic"/>
              </a:rPr>
              <a:t>에 가장 가까운 첫 입력을 가지면서,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스텝 뒤 불변 안전 집합 </a:t>
            </a:r>
            <a:r>
              <a:rPr sz="1050" b="0" i="1">
                <a:solidFill>
                  <a:srgbClr val="16213A"/>
                </a:solidFill>
                <a:latin typeface="Arial"/>
                <a:ea typeface="Malgun Gothic"/>
                <a:cs typeface="Malgun Gothic"/>
              </a:rPr>
              <a:t>𝒮_f</a:t>
            </a:r>
            <a:r>
              <a:rPr sz="1050" b="0" i="0">
                <a:solidFill>
                  <a:srgbClr val="16213A"/>
                </a:solidFill>
                <a:latin typeface="Arial"/>
                <a:ea typeface="Malgun Gothic"/>
                <a:cs typeface="Malgun Gothic"/>
              </a:rPr>
              <a:t>에 도달하는 입력열을 찾는다.</a:t>
            </a:r>
          </a:p>
        </p:txBody>
      </p:sp>
      <p:pic>
        <p:nvPicPr>
          <p:cNvPr id="10" name="Picture 9" descr="image.png"/>
          <p:cNvPicPr>
            <a:picLocks noChangeAspect="1"/>
          </p:cNvPicPr>
          <p:nvPr/>
        </p:nvPicPr>
        <p:blipFill>
          <a:blip r:embed="rId5"/>
          <a:stretch>
            <a:fillRect/>
          </a:stretch>
        </p:blipFill>
        <p:spPr>
          <a:xfrm>
            <a:off x="609600" y="2913559"/>
            <a:ext cx="5006975" cy="320675"/>
          </a:xfrm>
          <a:prstGeom prst="rect">
            <a:avLst/>
          </a:prstGeom>
        </p:spPr>
      </p:pic>
      <p:sp>
        <p:nvSpPr>
          <p:cNvPr id="11" name="TextBox 10"/>
          <p:cNvSpPr txBox="1"/>
          <p:nvPr/>
        </p:nvSpPr>
        <p:spPr>
          <a:xfrm>
            <a:off x="609600" y="325923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통합 관점.</a:t>
            </a:r>
            <a:r>
              <a:rPr sz="1050" b="0" i="0">
                <a:solidFill>
                  <a:srgbClr val="16213A"/>
                </a:solidFill>
                <a:latin typeface="Arial"/>
                <a:ea typeface="Malgun Gothic"/>
                <a:cs typeface="Malgun Gothic"/>
              </a:rPr>
              <a:t> 세 방법 모두 "감시기가 위험하다고 판단하면 대체 정책으로 개입한다"로 쓸 수 있다. CBF-QP는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와 그 변화율로, HJ는 가치 함수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로, 예측 필터는 안전한 입력열의 존재로 감시한다.</a:t>
            </a:r>
          </a:p>
        </p:txBody>
      </p:sp>
      <p:sp>
        <p:nvSpPr>
          <p:cNvPr id="12" name="TextBox 11"/>
          <p:cNvSpPr txBox="1"/>
          <p:nvPr/>
        </p:nvSpPr>
        <p:spPr>
          <a:xfrm>
            <a:off x="609600" y="356463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travplan의 다음 안전 층 후보인 CVaR-BF(TP-0014)는 CBF-QP 갈래의 확률판이다. 예측 안전 필터는 travplan 구조와 더 잘 맞는다. Planner D의 이전 계획(</a:t>
            </a:r>
            <a:r>
              <a:rPr sz="1050" b="0" i="0">
                <a:solidFill>
                  <a:srgbClr val="16213A"/>
                </a:solidFill>
                <a:latin typeface="Consolas"/>
                <a:ea typeface="Malgun Gothic"/>
                <a:cs typeface="Malgun Gothic"/>
              </a:rPr>
              <a:t>keep_previous</a:t>
            </a:r>
            <a:r>
              <a:rPr sz="1050" b="0" i="0">
                <a:solidFill>
                  <a:srgbClr val="16213A"/>
                </a:solidFill>
                <a:latin typeface="Arial"/>
                <a:ea typeface="Malgun Gothic"/>
                <a:cs typeface="Malgun Gothic"/>
              </a:rPr>
              <a:t>)이나 GuidancePlanner 경로를 "안전 대체 정책"으로 두고, Controller 명령이 그 대체 계획으로 돌아갈 여지를 남기는지만 짧은 rollout으로 검사하면 된다. 이미 가진 rollout 코드(</a:t>
            </a:r>
            <a:r>
              <a:rPr sz="1050" b="0" i="0">
                <a:solidFill>
                  <a:srgbClr val="16213A"/>
                </a:solidFill>
                <a:latin typeface="Consolas"/>
                <a:ea typeface="Malgun Gothic"/>
                <a:cs typeface="Malgun Gothic"/>
              </a:rPr>
              <a:t>SwerveModel.rollout</a:t>
            </a:r>
            <a:r>
              <a:rPr sz="1050" b="0" i="0">
                <a:solidFill>
                  <a:srgbClr val="16213A"/>
                </a:solidFill>
                <a:latin typeface="Arial"/>
                <a:ea typeface="Malgun Gothic"/>
                <a:cs typeface="Malgun Gothic"/>
              </a:rPr>
              <a:t>)로 구현할 수 있다.</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안전 필터 · C. 동적 장애물 안전 필터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C.4 안전 필터의 계보: CBF-QP, 도달 가능성, 예측 안전 필터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98 / 183</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Exact-Safe MPPI: 여러 barrier를 soft-min으로 합치면 좁은 틈이 닫힌다</a:t>
            </a:r>
          </a:p>
        </p:txBody>
      </p:sp>
      <p:sp>
        <p:nvSpPr>
          <p:cNvPr id="6" name="TextBox 5"/>
          <p:cNvSpPr txBox="1"/>
          <p:nvPr/>
        </p:nvSpPr>
        <p:spPr>
          <a:xfrm>
            <a:off x="609600" y="1547812"/>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GS-MPPI는 여러 제약을 합성 CBF 하나로 묶고, 거기서 나온 안전 제어 법칙을 rollout 동역학에 넣어 모든 rollout을 안전하게 만든다. Exact-Safe MPPI는 barrier를 합치는 방식을 고친다</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
              </a:rPr>
              <a:t>arXiv:2610.07369</a:t>
            </a:r>
            <a:r>
              <a:rPr sz="1050" b="0" i="0">
                <a:solidFill>
                  <a:srgbClr val="16213A"/>
                </a:solidFill>
                <a:latin typeface="Arial"/>
                <a:ea typeface="Malgun Gothic"/>
                <a:cs typeface="Malgun Gothic"/>
              </a:rPr>
              <a:t>, 2026-10, ACC 2027 투고, University of New Mexico,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GS-MPPI(Guaranteed-Safe MPPI, </a:t>
            </a:r>
            <a:r>
              <a:rPr sz="1050" b="0" i="0">
                <a:solidFill>
                  <a:srgbClr val="1D4ED8"/>
                </a:solidFill>
                <a:latin typeface="Arial"/>
                <a:ea typeface="Malgun Gothic"/>
                <a:cs typeface="Malgun Gothic"/>
                <a:hlinkClick r:id="rId5"/>
              </a:rPr>
              <a:t>arXiv:2410.02154</a:t>
            </a:r>
            <a:r>
              <a:rPr sz="1050" b="0" i="0">
                <a:solidFill>
                  <a:srgbClr val="16213A"/>
                </a:solidFill>
                <a:latin typeface="Arial"/>
                <a:ea typeface="Malgun Gothic"/>
                <a:cs typeface="Malgun Gothic"/>
              </a:rPr>
              <a:t>, Rabiee·Hoagg)는 장애물마다 있는 barrier를 soft-min 하나로 합치고, 그 합성 CBF에서 안전 제어를 닫힌 형태로 얻는다. 표본마다 QP를 풀지 않는다. </a:t>
            </a:r>
            <a:r>
              <a:rPr sz="1050" b="1" i="0">
                <a:solidFill>
                  <a:srgbClr val="C2410C"/>
                </a:solidFill>
                <a:latin typeface="Arial"/>
                <a:ea typeface="Malgun Gothic"/>
                <a:cs typeface="Malgun Gothic"/>
              </a:rPr>
              <a:t>soft-min은 늘 실제 최솟값보다 작아서, 모든 제약을 만족하는 상태도 안전 집합에서 빼 버린다.</a:t>
            </a:r>
          </a:p>
        </p:txBody>
      </p:sp>
      <p:sp>
        <p:nvSpPr>
          <p:cNvPr id="7" name="TextBox 6"/>
          <p:cNvSpPr txBox="1"/>
          <p:nvPr/>
        </p:nvSpPr>
        <p:spPr>
          <a:xfrm>
            <a:off x="609600" y="2502694"/>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동작 방식.</a:t>
            </a:r>
            <a:r>
              <a:rPr sz="1050" b="0" i="0">
                <a:solidFill>
                  <a:srgbClr val="16213A"/>
                </a:solidFill>
                <a:latin typeface="Arial"/>
                <a:ea typeface="Malgun Gothic"/>
                <a:cs typeface="Malgun Gothic"/>
              </a:rPr>
              <a:t> soft-min 대신 정확한 최솟값을 쓴다. 최솟값에서 δ 안에 드는 barrier를 모두 활성 집합으로 묶어 QP에서 동시에 제약한다. 동점인 곳에서는 Clarke 일반화 기울기를 쓴다. 완화 변수는 barrier 값에 곱해져 경계에서 사라진다. 그래서 경계 위에서는 완화 없는 CBF 조건이 성립한다. 저자는 Filippov 해에 대해 정확한 안전 집합의 전방 불변성을 보였다. 샘플마다, rollout 스텝마다 QP를 풀고, 실행할 평균 제어도 한 번 더 거른다.</a:t>
            </a:r>
          </a:p>
        </p:txBody>
      </p:sp>
      <p:sp>
        <p:nvSpPr>
          <p:cNvPr id="8" name="TextBox 7"/>
          <p:cNvSpPr txBox="1"/>
          <p:nvPr/>
        </p:nvSpPr>
        <p:spPr>
          <a:xfrm>
            <a:off x="609600" y="324108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이중 적분기 시뮬레이션뿐이다. 두 장애물 사이 틈을 지나는 실험에서 틈 폭과 soft-min 날카로움으로 만든 지표가 ln 2보다 작으면 soft-min 실행 1,050번 가운데 틈을 지난 것이 하나도 없었다(99.6%가 교착). 정확한 합성은 틈을 지났다. 4,950번 실행 모두 안전 위반이 없었다. 제약 9개 비교에서 soft-min은 날카로움을 200과 1000으로 올리자 위반 34건과 53건을 냈고, 정확한 합성은 0건이었다. 가장 가까운 barrier 하나만 제약하면 위반과 떨림이 생겼다. 계산 시간은 보고하지 않았다.</a:t>
            </a:r>
          </a:p>
        </p:txBody>
      </p:sp>
      <p:sp>
        <p:nvSpPr>
          <p:cNvPr id="9" name="TextBox 8"/>
          <p:cNvSpPr txBox="1"/>
          <p:nvPr/>
        </p:nvSpPr>
        <p:spPr>
          <a:xfrm>
            <a:off x="609600" y="3979466"/>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TravMap에서는 치명 셀 하나하나가 barrier 후보다. barrier가 많을수록 soft-min이 깎는 몫이 커지고, 좁은 통로가 먼저 닫힌다. 레벨 3 경사로의 0.2 m 띠가 그런 곳이다. 그래서 CBF를 MPPI 안에 넣는다면 barrier를 칸마다 두고 합치는 방식은 피한다. 위 Poisson 안전 함수처럼 격자 전체를 하나의 매끄러운 함수로 풀면 합성 문제 자체가 없다. 계산 비용은 두 방법이 다르다. GS-MPPI의 닫힌 형태 안전 제어는 PyTorch에서 표본 전체를 한꺼번에 계산할 수 있고, 문제는 틈이 닫힌다는 점이다. Exact-Safe MPPI는 표본 768개 × 40스텝마다 δ-활성 집합의 QP를 풀어야 해서 지금의 PyTorch MPPI 예산 밖이다.</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안전 필터 · C. 동적 장애물 안전 필터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C.4 안전 필터의 계보: CBF-QP, 도달 가능성, 예측 안전 필터</a:t>
            </a:r>
            <a:r>
              <a:rPr sz="1050" b="0" i="0">
                <a:solidFill>
                  <a:srgbClr val="5A6478"/>
                </a:solidFill>
                <a:latin typeface="Arial"/>
                <a:ea typeface="Malgun Gothic"/>
                <a:cs typeface="Malgun Gothic"/>
              </a:rPr>
              <a:t>  자세히: soft-min이 잃는 몫과 δ-활성 집합</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99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soft-min.</a:t>
            </a:r>
            <a:r>
              <a:rPr sz="1050" b="0" i="0">
                <a:solidFill>
                  <a:srgbClr val="16213A"/>
                </a:solidFill>
                <a:latin typeface="Arial"/>
                <a:ea typeface="Malgun Gothic"/>
                <a:cs typeface="Malgun Gothic"/>
              </a:rPr>
              <a:t> barrier </a:t>
            </a:r>
            <a:r>
              <a:rPr sz="1050" b="0" i="1">
                <a:solidFill>
                  <a:srgbClr val="16213A"/>
                </a:solidFill>
                <a:latin typeface="Arial"/>
                <a:ea typeface="Malgun Gothic"/>
                <a:cs typeface="Malgun Gothic"/>
              </a:rPr>
              <a:t>b_j</a:t>
            </a:r>
            <a:r>
              <a:rPr sz="1050" b="0" i="0">
                <a:solidFill>
                  <a:srgbClr val="16213A"/>
                </a:solidFill>
                <a:latin typeface="Arial"/>
                <a:ea typeface="Malgun Gothic"/>
                <a:cs typeface="Malgun Gothic"/>
              </a:rPr>
              <a:t>(상대 차수에 맞춘 마지막 함수)를 날카로움 </a:t>
            </a:r>
            <a:r>
              <a:rPr sz="1050" b="0" i="1">
                <a:solidFill>
                  <a:srgbClr val="16213A"/>
                </a:solidFill>
                <a:latin typeface="Arial"/>
                <a:ea typeface="Malgun Gothic"/>
                <a:cs typeface="Malgun Gothic"/>
              </a:rPr>
              <a:t>ρ</a:t>
            </a:r>
            <a:r>
              <a:rPr sz="1050" b="0" i="0">
                <a:solidFill>
                  <a:srgbClr val="16213A"/>
                </a:solidFill>
                <a:latin typeface="Arial"/>
                <a:ea typeface="Malgun Gothic"/>
                <a:cs typeface="Malgun Gothic"/>
              </a:rPr>
              <a:t>로 합친다. 늘 </a:t>
            </a:r>
            <a:r>
              <a:rPr sz="1050" b="0" i="1">
                <a:solidFill>
                  <a:srgbClr val="16213A"/>
                </a:solidFill>
                <a:latin typeface="Arial"/>
                <a:ea typeface="Malgun Gothic"/>
                <a:cs typeface="Malgun Gothic"/>
              </a:rPr>
              <a:t>h_ρ ≤ hₘᵢₙ</a:t>
            </a:r>
            <a:r>
              <a:rPr sz="1050" b="0" i="0">
                <a:solidFill>
                  <a:srgbClr val="16213A"/>
                </a:solidFill>
                <a:latin typeface="Arial"/>
                <a:ea typeface="Malgun Gothic"/>
                <a:cs typeface="Malgun Gothic"/>
              </a:rPr>
              <a:t>이다.</a:t>
            </a:r>
          </a:p>
        </p:txBody>
      </p:sp>
      <p:pic>
        <p:nvPicPr>
          <p:cNvPr id="6" name="Picture 5" descr="image.png"/>
          <p:cNvPicPr>
            <a:picLocks noChangeAspect="1"/>
          </p:cNvPicPr>
          <p:nvPr/>
        </p:nvPicPr>
        <p:blipFill>
          <a:blip r:embed="rId3"/>
          <a:stretch>
            <a:fillRect/>
          </a:stretch>
        </p:blipFill>
        <p:spPr>
          <a:xfrm>
            <a:off x="609600" y="1549995"/>
            <a:ext cx="3124200" cy="495300"/>
          </a:xfrm>
          <a:prstGeom prst="rect">
            <a:avLst/>
          </a:prstGeom>
        </p:spPr>
      </p:pic>
      <p:sp>
        <p:nvSpPr>
          <p:cNvPr id="7" name="TextBox 6"/>
          <p:cNvSpPr txBox="1"/>
          <p:nvPr/>
        </p:nvSpPr>
        <p:spPr>
          <a:xfrm>
            <a:off x="609600" y="2047478"/>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개가 동점이면 그 차이가 정확히 </a:t>
            </a:r>
            <a:r>
              <a:rPr sz="1050" b="0" i="1">
                <a:solidFill>
                  <a:srgbClr val="16213A"/>
                </a:solidFill>
                <a:latin typeface="Arial"/>
                <a:ea typeface="Malgun Gothic"/>
                <a:cs typeface="Malgun Gothic"/>
              </a:rPr>
              <a:t>ln k / ρ</a:t>
            </a:r>
            <a:r>
              <a:rPr sz="1050" b="0" i="0">
                <a:solidFill>
                  <a:srgbClr val="16213A"/>
                </a:solidFill>
                <a:latin typeface="Arial"/>
                <a:ea typeface="Malgun Gothic"/>
                <a:cs typeface="Malgun Gothic"/>
              </a:rPr>
              <a:t>다. 두 장애물 사이 틈에서는 두 barrier가 거의 같으므로 틈 가운데가 </a:t>
            </a:r>
            <a:r>
              <a:rPr sz="1050" b="0" i="1">
                <a:solidFill>
                  <a:srgbClr val="16213A"/>
                </a:solidFill>
                <a:latin typeface="Arial"/>
                <a:ea typeface="Malgun Gothic"/>
                <a:cs typeface="Malgun Gothic"/>
              </a:rPr>
              <a:t>ln 2/ρ</a:t>
            </a:r>
            <a:r>
              <a:rPr sz="1050" b="0" i="0">
                <a:solidFill>
                  <a:srgbClr val="16213A"/>
                </a:solidFill>
                <a:latin typeface="Arial"/>
                <a:ea typeface="Malgun Gothic"/>
                <a:cs typeface="Malgun Gothic"/>
              </a:rPr>
              <a:t>만큼 안전 집합에서 깎인다.</a:t>
            </a:r>
          </a:p>
        </p:txBody>
      </p:sp>
      <p:sp>
        <p:nvSpPr>
          <p:cNvPr id="8" name="TextBox 7"/>
          <p:cNvSpPr txBox="1"/>
          <p:nvPr/>
        </p:nvSpPr>
        <p:spPr>
          <a:xfrm>
            <a:off x="609600" y="235287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δ-활성 집합과 QP.</a:t>
            </a:r>
            <a:r>
              <a:rPr sz="1050" b="0" i="0">
                <a:solidFill>
                  <a:srgbClr val="16213A"/>
                </a:solidFill>
                <a:latin typeface="Arial"/>
                <a:ea typeface="Malgun Gothic"/>
                <a:cs typeface="Malgun Gothic"/>
              </a:rPr>
              <a:t> 최솟값에서 </a:t>
            </a:r>
            <a:r>
              <a:rPr sz="1050" b="0" i="1">
                <a:solidFill>
                  <a:srgbClr val="16213A"/>
                </a:solidFill>
                <a:latin typeface="Arial"/>
                <a:ea typeface="Malgun Gothic"/>
                <a:cs typeface="Malgun Gothic"/>
              </a:rPr>
              <a:t>δ</a:t>
            </a:r>
            <a:r>
              <a:rPr sz="1050" b="0" i="0">
                <a:solidFill>
                  <a:srgbClr val="16213A"/>
                </a:solidFill>
                <a:latin typeface="Arial"/>
                <a:ea typeface="Malgun Gothic"/>
                <a:cs typeface="Malgun Gothic"/>
              </a:rPr>
              <a:t> 안에 드는 barrier를 모두 모은다.</a:t>
            </a:r>
          </a:p>
        </p:txBody>
      </p:sp>
      <p:pic>
        <p:nvPicPr>
          <p:cNvPr id="9" name="Picture 8" descr="image.png"/>
          <p:cNvPicPr>
            <a:picLocks noChangeAspect="1"/>
          </p:cNvPicPr>
          <p:nvPr/>
        </p:nvPicPr>
        <p:blipFill>
          <a:blip r:embed="rId4"/>
          <a:stretch>
            <a:fillRect/>
          </a:stretch>
        </p:blipFill>
        <p:spPr>
          <a:xfrm>
            <a:off x="609600" y="2658269"/>
            <a:ext cx="2533650" cy="241300"/>
          </a:xfrm>
          <a:prstGeom prst="rect">
            <a:avLst/>
          </a:prstGeom>
        </p:spPr>
      </p:pic>
      <p:sp>
        <p:nvSpPr>
          <p:cNvPr id="10" name="TextBox 9"/>
          <p:cNvSpPr txBox="1"/>
          <p:nvPr/>
        </p:nvSpPr>
        <p:spPr>
          <a:xfrm>
            <a:off x="609600" y="2935784"/>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샘플 제어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에 가장 가까운 </a:t>
            </a:r>
            <a:r>
              <a:rPr sz="1050" b="0" i="1">
                <a:solidFill>
                  <a:srgbClr val="16213A"/>
                </a:solidFill>
                <a:latin typeface="Arial"/>
                <a:ea typeface="Malgun Gothic"/>
                <a:cs typeface="Malgun Gothic"/>
              </a:rPr>
              <a:t>û</a:t>
            </a:r>
            <a:r>
              <a:rPr sz="1050" b="0" i="0">
                <a:solidFill>
                  <a:srgbClr val="16213A"/>
                </a:solidFill>
                <a:latin typeface="Arial"/>
                <a:ea typeface="Malgun Gothic"/>
                <a:cs typeface="Malgun Gothic"/>
              </a:rPr>
              <a:t>를 찾되, 활성 barrier마다 CBF 조건을 건다. 완화 </a:t>
            </a:r>
            <a:r>
              <a:rPr sz="1050" b="0" i="1">
                <a:solidFill>
                  <a:srgbClr val="16213A"/>
                </a:solidFill>
                <a:latin typeface="Arial"/>
                <a:ea typeface="Malgun Gothic"/>
                <a:cs typeface="Malgun Gothic"/>
              </a:rPr>
              <a:t>μ̂_j</a:t>
            </a:r>
            <a:r>
              <a:rPr sz="1050" b="0" i="0">
                <a:solidFill>
                  <a:srgbClr val="16213A"/>
                </a:solidFill>
                <a:latin typeface="Arial"/>
                <a:ea typeface="Malgun Gothic"/>
                <a:cs typeface="Malgun Gothic"/>
              </a:rPr>
              <a:t>는 </a:t>
            </a:r>
            <a:r>
              <a:rPr sz="1050" b="0" i="1">
                <a:solidFill>
                  <a:srgbClr val="16213A"/>
                </a:solidFill>
                <a:latin typeface="Arial"/>
                <a:ea typeface="Malgun Gothic"/>
                <a:cs typeface="Malgun Gothic"/>
              </a:rPr>
              <a:t>b_j</a:t>
            </a:r>
            <a:r>
              <a:rPr sz="1050" b="0" i="0">
                <a:solidFill>
                  <a:srgbClr val="16213A"/>
                </a:solidFill>
                <a:latin typeface="Arial"/>
                <a:ea typeface="Malgun Gothic"/>
                <a:cs typeface="Malgun Gothic"/>
              </a:rPr>
              <a:t>에 곱해지므로 경계(</a:t>
            </a:r>
            <a:r>
              <a:rPr sz="1050" b="0" i="1">
                <a:solidFill>
                  <a:srgbClr val="16213A"/>
                </a:solidFill>
                <a:latin typeface="Arial"/>
                <a:ea typeface="Malgun Gothic"/>
                <a:cs typeface="Malgun Gothic"/>
              </a:rPr>
              <a:t>b_j = 0</a:t>
            </a:r>
            <a:r>
              <a:rPr sz="1050" b="0" i="0">
                <a:solidFill>
                  <a:srgbClr val="16213A"/>
                </a:solidFill>
                <a:latin typeface="Arial"/>
                <a:ea typeface="Malgun Gothic"/>
                <a:cs typeface="Malgun Gothic"/>
              </a:rPr>
              <a:t>)에서는 사라진다.</a:t>
            </a:r>
          </a:p>
        </p:txBody>
      </p:sp>
      <p:pic>
        <p:nvPicPr>
          <p:cNvPr id="11" name="Picture 10" descr="image.png"/>
          <p:cNvPicPr>
            <a:picLocks noChangeAspect="1"/>
          </p:cNvPicPr>
          <p:nvPr/>
        </p:nvPicPr>
        <p:blipFill>
          <a:blip r:embed="rId5"/>
          <a:stretch>
            <a:fillRect/>
          </a:stretch>
        </p:blipFill>
        <p:spPr>
          <a:xfrm>
            <a:off x="609600" y="3241179"/>
            <a:ext cx="4464050" cy="327025"/>
          </a:xfrm>
          <a:prstGeom prst="rect">
            <a:avLst/>
          </a:prstGeom>
        </p:spPr>
      </p:pic>
      <p:sp>
        <p:nvSpPr>
          <p:cNvPr id="12" name="TextBox 11"/>
          <p:cNvSpPr txBox="1"/>
          <p:nvPr/>
        </p:nvSpPr>
        <p:spPr>
          <a:xfrm>
            <a:off x="609600" y="359370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정확한 최솟값은 거리장(ESDF) 값과 같지만, 틈 가운데(중심축)에서 ESDF 기울기가 불연속이다. Exact-Safe MPPI가 Clarke 기울기와 δ-활성 집합으로 다루는 것이 바로 이 자리다. 그래서 ESDF 하나로 같은 효과가 싸게 나오지는 않는다. 기울기가 어디서나 매끄러운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가 필요하면 Poisson 안전 함수가 그 길이다.</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안전 필터 · C. 동적 장애물 안전 필터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C.4 안전 필터의 계보: CBF-QP, 도달 가능성, 예측 안전 필터</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100 / 183</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표본 안전 필터: 모든 후보가 위험할 때만 개입하고, 그 보수성을 확률로 묶는다</a:t>
            </a:r>
          </a:p>
        </p:txBody>
      </p:sp>
      <p:sp>
        <p:nvSpPr>
          <p:cNvPr id="6" name="TextBox 5"/>
          <p:cNvSpPr txBox="1"/>
          <p:nvPr/>
        </p:nvSpPr>
        <p:spPr>
          <a:xfrm>
            <a:off x="609600" y="154781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필터는 명목 제어기의 명령을 받아, 그 뒤로 안전한 제어열이 하나라도 남는지 Stein 변분 MPC(SV-MPC) 표본으로 확인한다</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
              </a:rPr>
              <a:t>arXiv:2604.22149</a:t>
            </a:r>
            <a:r>
              <a:rPr sz="1050" b="0" i="0">
                <a:solidFill>
                  <a:srgbClr val="16213A"/>
                </a:solidFill>
                <a:latin typeface="Arial"/>
                <a:ea typeface="Malgun Gothic"/>
                <a:cs typeface="Malgun Gothic"/>
              </a:rPr>
              <a:t>, 2026-04, KAIST, Park·Sung·Ahn). 코드 공개는 확인하지 못했다. </a:t>
            </a:r>
            <a:r>
              <a:rPr sz="1050" b="1" i="0">
                <a:solidFill>
                  <a:srgbClr val="C2410C"/>
                </a:solidFill>
                <a:latin typeface="Arial"/>
                <a:ea typeface="Malgun Gothic"/>
                <a:cs typeface="Malgun Gothic"/>
              </a:rPr>
              <a:t>남은 안전 표본이 하나도 없을 때만 백업으로 바꾸고, 그 개입이 쓸데없을 확률에 상한을 건다.</a:t>
            </a:r>
          </a:p>
        </p:txBody>
      </p:sp>
      <p:sp>
        <p:nvSpPr>
          <p:cNvPr id="7" name="TextBox 6"/>
          <p:cNvSpPr txBox="1"/>
          <p:nvPr/>
        </p:nvSpPr>
        <p:spPr>
          <a:xfrm>
            <a:off x="609600" y="2069703"/>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동작 방식.</a:t>
            </a:r>
            <a:r>
              <a:rPr sz="1050" b="0" i="0">
                <a:solidFill>
                  <a:srgbClr val="16213A"/>
                </a:solidFill>
                <a:latin typeface="Arial"/>
                <a:ea typeface="Malgun Gothic"/>
                <a:cs typeface="Malgun Gothic"/>
              </a:rPr>
              <a:t> 명목 명령을 한 스텝 적용했다고 보고 거기서 제어열을 뽑는다. 표본은 "궤적이 안전하다"는 조건 아래의 사후분포에서 Stein 변분 경사 하강으로 뽑는다. 입자 사이 RBF 커널의 반발항이 비볼록 환경의 여러 안전 영역을 따로 잡는다. 표본이 안전하다는 것은 지평 동안 최대 위반이 음수이고, 끝 상태가 안전 불변 집합(최대 제동으로 멈출 수 있는 상태) 안에 있다는 뜻이다. 그런 표본이 하나라도 있으면 명목 명령을 그대로 쓴다. 없으면 저장해 둔 안전한 백업 제어열의 첫 입력을 쓴다. 보장은 시나리오 기법에서 온다. 표본 수가 충분하면, 필터가 개입했을 때 무작위 표본이 안전할 확률이 작다는 것을 높은 확률로 보장한다. 곧 "괜히 개입하는 정도"에 상한을 건다.</a:t>
            </a:r>
          </a:p>
        </p:txBody>
      </p:sp>
      <p:sp>
        <p:nvSpPr>
          <p:cNvPr id="8" name="TextBox 7"/>
          <p:cNvSpPr txBox="1"/>
          <p:nvPr/>
        </p:nvSpPr>
        <p:spPr>
          <a:xfrm>
            <a:off x="609600" y="3024584"/>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시뮬레이션뿐이다. 신호 없는 교차로에서 Decision Transformer가 운전하는 차량 3·4·5대일 때, 필터 없이 100건 중 4·12·15건 충돌했다. 필터를 켜면 충돌은 0건이고 개입률은 0.08·0.21·0.38이었다. 충돌하지 않았을 경우에도 개입한 적이 있다. 같은 필터를 CEM 표본으로 만들면 개입한 격자 상태가 더 많았고(단일 로봇, ε = 0.1·표본 757개에서 5,730 대 4,672) 닫힌 루프에서 교착에 빠졌다. 계산 시간은 보고하지 않았다.</a:t>
            </a:r>
          </a:p>
        </p:txBody>
      </p:sp>
      <p:sp>
        <p:nvSpPr>
          <p:cNvPr id="9" name="TextBox 8"/>
          <p:cNvSpPr txBox="1"/>
          <p:nvPr/>
        </p:nvSpPr>
        <p:spPr>
          <a:xfrm>
            <a:off x="609600" y="376297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이 필터는 C.4 예측 안전 필터를 표본으로 구현한 것이다. travplan MPPI는 이미 768개 rollout을 굴리므로 SV-MPC가 없어도 같은 감시기를 만들 수 있다. 다만 논문의 안전 판정은 끝 상태가 정지 가능한 불변 집합 안에 있어야 한다는 것이다. travplan rollout은 정지로 끝나지 않으므로, rollout마다 </a:t>
            </a:r>
            <a:r>
              <a:rPr sz="1050" b="0" i="0">
                <a:solidFill>
                  <a:srgbClr val="16213A"/>
                </a:solidFill>
                <a:latin typeface="Consolas"/>
                <a:ea typeface="Malgun Gothic"/>
                <a:cs typeface="Malgun Gothic"/>
              </a:rPr>
              <a:t>LagSlipSwerveModel</a:t>
            </a:r>
            <a:r>
              <a:rPr sz="1050" b="0" i="0">
                <a:solidFill>
                  <a:srgbClr val="16213A"/>
                </a:solidFill>
                <a:latin typeface="Arial"/>
                <a:ea typeface="Malgun Gothic"/>
                <a:cs typeface="Malgun Gothic"/>
              </a:rPr>
              <a:t>로 제동 꼬리를 붙여 정지까지 굴려야 한다. plant의 0.2 s 지연은 제동 거리를 늘린다. 그렇게 정지할 수 있는 rollout이 하나라도 있으면 그대로 두고, 없을 때만 백업으로 바꾼다. 백업은 저장해 두고 이미 안전을 확인한 제어열(직전 주기의 안전한 정지열)이어야 한다. "Guidance 경로 추종"은 안전이 확인된 열이 아니므로 백업이 될 수 없다. 시나리오 경계는 "얼마나 자주 괜히 멈추나"를 표본 수와 묶는다. 남은 병목이 시간 초과(TP-0151)이므로, 이 필터를 넣는다면 바로 그 값을 재야 한다. 다만 MPPI 표본은 안전 조건부 분포가 아니라 비용 가중 분포에서 나온다. 그래서 경계 자체는 그대로 성립하지만 개입이 더 잦을 수 있다. 저자의 CEM 비교가 그 차이를 보여 준다.</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안전 필터 · C. 동적 장애물 안전 필터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C.4 안전 필터의 계보: CBF-QP, 도달 가능성, 예측 안전 필터</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101 / 183</a:t>
            </a:r>
          </a:p>
        </p:txBody>
      </p:sp>
      <p:pic>
        <p:nvPicPr>
          <p:cNvPr id="5" name="Picture 4" descr="image.jpg"/>
          <p:cNvPicPr>
            <a:picLocks noChangeAspect="1"/>
          </p:cNvPicPr>
          <p:nvPr/>
        </p:nvPicPr>
        <p:blipFill>
          <a:blip r:embed="rId3"/>
          <a:stretch>
            <a:fillRect/>
          </a:stretch>
        </p:blipFill>
        <p:spPr>
          <a:xfrm>
            <a:off x="609600" y="1244600"/>
            <a:ext cx="2870200" cy="2667000"/>
          </a:xfrm>
          <a:prstGeom prst="rect">
            <a:avLst/>
          </a:prstGeom>
        </p:spPr>
      </p:pic>
      <p:sp>
        <p:nvSpPr>
          <p:cNvPr id="6" name="TextBox 5"/>
          <p:cNvSpPr txBox="1"/>
          <p:nvPr/>
        </p:nvSpPr>
        <p:spPr>
          <a:xfrm>
            <a:off x="609600" y="39497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표본 안전 필터 (Fig. 1): SV-MPC로 만든 필터(a)와 CEM으로 만든 필터(b)의 닫힌 루프 궤적. CEM 쪽은 교착에 빠진다. 출처: arXiv:2604.22149</a:t>
            </a:r>
          </a:p>
        </p:txBody>
      </p:sp>
      <p:pic>
        <p:nvPicPr>
          <p:cNvPr id="7" name="Picture 6" descr="image.jpg"/>
          <p:cNvPicPr>
            <a:picLocks noChangeAspect="1"/>
          </p:cNvPicPr>
          <p:nvPr/>
        </p:nvPicPr>
        <p:blipFill>
          <a:blip r:embed="rId4"/>
          <a:stretch>
            <a:fillRect/>
          </a:stretch>
        </p:blipFill>
        <p:spPr>
          <a:xfrm>
            <a:off x="6172200" y="1244600"/>
            <a:ext cx="2355850" cy="2667000"/>
          </a:xfrm>
          <a:prstGeom prst="rect">
            <a:avLst/>
          </a:prstGeom>
        </p:spPr>
      </p:pic>
      <p:sp>
        <p:nvSpPr>
          <p:cNvPr id="8" name="TextBox 7"/>
          <p:cNvSpPr txBox="1"/>
          <p:nvPr/>
        </p:nvSpPr>
        <p:spPr>
          <a:xfrm>
            <a:off x="6172200" y="39497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표본 안전 필터 (Fig. 3): 차량 3대 교차로. 필터 없이 충돌(a), 필터로 충돌 회피(b), 세 차량의 속도(c). 출처: arXiv:2604.22149</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안전 필터 · C. 동적 장애물 안전 필터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C.4 안전 필터의 계보: CBF-QP, 도달 가능성, 예측 안전 필터</a:t>
            </a:r>
            <a:r>
              <a:rPr sz="1050" b="0" i="0">
                <a:solidFill>
                  <a:srgbClr val="5A6478"/>
                </a:solidFill>
                <a:latin typeface="Arial"/>
                <a:ea typeface="Malgun Gothic"/>
                <a:cs typeface="Malgun Gothic"/>
              </a:rPr>
              <a:t>  자세히: 안전 판정과 시나리오 경계</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102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안전 판정.</a:t>
            </a:r>
            <a:r>
              <a:rPr sz="1050" b="0" i="0">
                <a:solidFill>
                  <a:srgbClr val="16213A"/>
                </a:solidFill>
                <a:latin typeface="Arial"/>
                <a:ea typeface="Malgun Gothic"/>
                <a:cs typeface="Malgun Gothic"/>
              </a:rPr>
              <a:t> 표본 제어열 </a:t>
            </a:r>
            <a:r>
              <a:rPr sz="1050" b="0" i="1">
                <a:solidFill>
                  <a:srgbClr val="16213A"/>
                </a:solidFill>
                <a:latin typeface="Arial"/>
                <a:ea typeface="Malgun Gothic"/>
                <a:cs typeface="Malgun Gothic"/>
              </a:rPr>
              <a:t>U</a:t>
            </a:r>
            <a:r>
              <a:rPr sz="1050" b="0" i="0">
                <a:solidFill>
                  <a:srgbClr val="16213A"/>
                </a:solidFill>
                <a:latin typeface="Arial"/>
                <a:ea typeface="Malgun Gothic"/>
                <a:cs typeface="Malgun Gothic"/>
              </a:rPr>
              <a:t>를 명목 명령 뒤의 상태에서 굴리고, 지평 동안 수준 함수 </a:t>
            </a:r>
            <a:r>
              <a:rPr sz="1050" b="0" i="1">
                <a:solidFill>
                  <a:srgbClr val="16213A"/>
                </a:solidFill>
                <a:latin typeface="Arial"/>
                <a:ea typeface="Malgun Gothic"/>
                <a:cs typeface="Malgun Gothic"/>
              </a:rPr>
              <a:t>ℓ</a:t>
            </a:r>
            <a:r>
              <a:rPr sz="1050" b="0" i="0">
                <a:solidFill>
                  <a:srgbClr val="16213A"/>
                </a:solidFill>
                <a:latin typeface="Arial"/>
                <a:ea typeface="Malgun Gothic"/>
                <a:cs typeface="Malgun Gothic"/>
              </a:rPr>
              <a:t>(장애물 거리에서 반경 합을 뺀 값)의 최소를 본다. </a:t>
            </a:r>
            <a:r>
              <a:rPr sz="1050" b="0" i="1">
                <a:solidFill>
                  <a:srgbClr val="16213A"/>
                </a:solidFill>
                <a:latin typeface="Arial"/>
                <a:ea typeface="Malgun Gothic"/>
                <a:cs typeface="Malgun Gothic"/>
              </a:rPr>
              <a:t>C(U) &lt; 0</a:t>
            </a:r>
            <a:r>
              <a:rPr sz="1050" b="0" i="0">
                <a:solidFill>
                  <a:srgbClr val="16213A"/>
                </a:solidFill>
                <a:latin typeface="Arial"/>
                <a:ea typeface="Malgun Gothic"/>
                <a:cs typeface="Malgun Gothic"/>
              </a:rPr>
              <a:t>이면 안전하다. 사후분포의 우도는 </a:t>
            </a:r>
            <a:r>
              <a:rPr sz="1050" b="0" i="1">
                <a:solidFill>
                  <a:srgbClr val="16213A"/>
                </a:solidFill>
                <a:latin typeface="Arial"/>
                <a:ea typeface="Malgun Gothic"/>
                <a:cs typeface="Malgun Gothic"/>
              </a:rPr>
              <a:t>L = exp(-α C)</a:t>
            </a:r>
            <a:r>
              <a:rPr sz="1050" b="0" i="0">
                <a:solidFill>
                  <a:srgbClr val="16213A"/>
                </a:solidFill>
                <a:latin typeface="Arial"/>
                <a:ea typeface="Malgun Gothic"/>
                <a:cs typeface="Malgun Gothic"/>
              </a:rPr>
              <a:t>다.</a:t>
            </a:r>
          </a:p>
        </p:txBody>
      </p:sp>
      <p:pic>
        <p:nvPicPr>
          <p:cNvPr id="6" name="Picture 5" descr="image.png"/>
          <p:cNvPicPr>
            <a:picLocks noChangeAspect="1"/>
          </p:cNvPicPr>
          <p:nvPr/>
        </p:nvPicPr>
        <p:blipFill>
          <a:blip r:embed="rId3"/>
          <a:stretch>
            <a:fillRect/>
          </a:stretch>
        </p:blipFill>
        <p:spPr>
          <a:xfrm>
            <a:off x="609600" y="1766491"/>
            <a:ext cx="2632075" cy="320675"/>
          </a:xfrm>
          <a:prstGeom prst="rect">
            <a:avLst/>
          </a:prstGeom>
        </p:spPr>
      </p:pic>
      <p:sp>
        <p:nvSpPr>
          <p:cNvPr id="7" name="TextBox 6"/>
          <p:cNvSpPr txBox="1"/>
          <p:nvPr/>
        </p:nvSpPr>
        <p:spPr>
          <a:xfrm>
            <a:off x="609600" y="211187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개입 규칙.</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minᵢ C(Uᵢ) &lt; 0</a:t>
            </a:r>
            <a:r>
              <a:rPr sz="1050" b="0" i="0">
                <a:solidFill>
                  <a:srgbClr val="16213A"/>
                </a:solidFill>
                <a:latin typeface="Arial"/>
                <a:ea typeface="Malgun Gothic"/>
                <a:cs typeface="Malgun Gothic"/>
              </a:rPr>
              <a:t>이면 명목 명령을 쓰고, 아니면 저장한 백업 제어열의 첫 입력을 쓰고 백업을 한 칸 민다.</a:t>
            </a:r>
          </a:p>
        </p:txBody>
      </p:sp>
      <p:sp>
        <p:nvSpPr>
          <p:cNvPr id="8" name="TextBox 7"/>
          <p:cNvSpPr txBox="1"/>
          <p:nvPr/>
        </p:nvSpPr>
        <p:spPr>
          <a:xfrm>
            <a:off x="609600" y="241726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시나리오 경계.</a:t>
            </a:r>
            <a:r>
              <a:rPr sz="1050" b="0" i="0">
                <a:solidFill>
                  <a:srgbClr val="16213A"/>
                </a:solidFill>
                <a:latin typeface="Arial"/>
                <a:ea typeface="Malgun Gothic"/>
                <a:cs typeface="Malgun Gothic"/>
              </a:rPr>
              <a:t> 표본 수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이 다음을 만족하면, 개입했을 때 무작위 표본이 안전할 확률이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 이하임을 </a:t>
            </a:r>
            <a:r>
              <a:rPr sz="1050" b="0" i="1">
                <a:solidFill>
                  <a:srgbClr val="16213A"/>
                </a:solidFill>
                <a:latin typeface="Arial"/>
                <a:ea typeface="Malgun Gothic"/>
                <a:cs typeface="Malgun Gothic"/>
              </a:rPr>
              <a:t>1 - β</a:t>
            </a:r>
            <a:r>
              <a:rPr sz="1050" b="0" i="0">
                <a:solidFill>
                  <a:srgbClr val="16213A"/>
                </a:solidFill>
                <a:latin typeface="Arial"/>
                <a:ea typeface="Malgun Gothic"/>
                <a:cs typeface="Malgun Gothic"/>
              </a:rPr>
              <a:t> 이상의 확률로 보장한다. 이 경계는 어떤 표본 분포에도 성립하므로, 실제 쓸모는 분포의 질에 달렸다.</a:t>
            </a:r>
          </a:p>
        </p:txBody>
      </p:sp>
      <p:pic>
        <p:nvPicPr>
          <p:cNvPr id="9" name="Picture 8" descr="image.png"/>
          <p:cNvPicPr>
            <a:picLocks noChangeAspect="1"/>
          </p:cNvPicPr>
          <p:nvPr/>
        </p:nvPicPr>
        <p:blipFill>
          <a:blip r:embed="rId4"/>
          <a:stretch>
            <a:fillRect/>
          </a:stretch>
        </p:blipFill>
        <p:spPr>
          <a:xfrm>
            <a:off x="609600" y="2939157"/>
            <a:ext cx="1362075" cy="396875"/>
          </a:xfrm>
          <a:prstGeom prst="rect">
            <a:avLst/>
          </a:prstGeom>
        </p:spPr>
      </p:pic>
      <p:sp>
        <p:nvSpPr>
          <p:cNvPr id="10" name="TextBox 9"/>
          <p:cNvSpPr txBox="1"/>
          <p:nvPr/>
        </p:nvSpPr>
        <p:spPr>
          <a:xfrm>
            <a:off x="609600" y="3351014"/>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예를 들어 </a:t>
            </a:r>
            <a:r>
              <a:rPr sz="1050" b="0" i="1">
                <a:solidFill>
                  <a:srgbClr val="16213A"/>
                </a:solidFill>
                <a:latin typeface="Arial"/>
                <a:ea typeface="Malgun Gothic"/>
                <a:cs typeface="Malgun Gothic"/>
              </a:rPr>
              <a:t>ε = 0.1</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β = 10⁻⁶</a:t>
            </a:r>
            <a:r>
              <a:rPr sz="1050" b="0" i="0">
                <a:solidFill>
                  <a:srgbClr val="16213A"/>
                </a:solidFill>
                <a:latin typeface="Arial"/>
                <a:ea typeface="Malgun Gothic"/>
                <a:cs typeface="Malgun Gothic"/>
              </a:rPr>
              <a:t>이면 </a:t>
            </a:r>
            <a:r>
              <a:rPr sz="1050" b="0" i="1">
                <a:solidFill>
                  <a:srgbClr val="16213A"/>
                </a:solidFill>
                <a:latin typeface="Arial"/>
                <a:ea typeface="Malgun Gothic"/>
                <a:cs typeface="Malgun Gothic"/>
              </a:rPr>
              <a:t>N ≥ 297</a:t>
            </a:r>
            <a:r>
              <a:rPr sz="1050" b="0" i="0">
                <a:solidFill>
                  <a:srgbClr val="16213A"/>
                </a:solidFill>
                <a:latin typeface="Arial"/>
                <a:ea typeface="Malgun Gothic"/>
                <a:cs typeface="Malgun Gothic"/>
              </a:rPr>
              <a:t>이다. 논문의 </a:t>
            </a:r>
            <a:r>
              <a:rPr sz="1050" b="0" i="1">
                <a:solidFill>
                  <a:srgbClr val="16213A"/>
                </a:solidFill>
                <a:latin typeface="Arial"/>
                <a:ea typeface="Malgun Gothic"/>
                <a:cs typeface="Malgun Gothic"/>
              </a:rPr>
              <a:t>N = 757</a:t>
            </a:r>
            <a:r>
              <a:rPr sz="1050" b="0" i="0">
                <a:solidFill>
                  <a:srgbClr val="16213A"/>
                </a:solidFill>
                <a:latin typeface="Arial"/>
                <a:ea typeface="Malgun Gothic"/>
                <a:cs typeface="Malgun Gothic"/>
              </a:rPr>
              <a:t>은 </a:t>
            </a:r>
            <a:r>
              <a:rPr sz="1050" b="0" i="1">
                <a:solidFill>
                  <a:srgbClr val="16213A"/>
                </a:solidFill>
                <a:latin typeface="Arial"/>
                <a:ea typeface="Malgun Gothic"/>
                <a:cs typeface="Malgun Gothic"/>
              </a:rPr>
              <a:t>ε = 0.1</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β = 10⁻¹⁶</a:t>
            </a:r>
            <a:r>
              <a:rPr sz="1050" b="0" i="0">
                <a:solidFill>
                  <a:srgbClr val="16213A"/>
                </a:solidFill>
                <a:latin typeface="Arial"/>
                <a:ea typeface="Malgun Gothic"/>
                <a:cs typeface="Malgun Gothic"/>
              </a:rPr>
              <a:t>에서 나온다. travplan MPPI의 표본 768개는 이 조건을 넉넉히 넘는다.</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Controller · 안전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하위 제어 · 4족 RL</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Controller · 안전 (docs/research-controller.md)    103 / 183</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1" i="0">
                <a:solidFill>
                  <a:srgbClr val="F59E5B"/>
                </a:solidFill>
                <a:latin typeface="Arial"/>
                <a:ea typeface="Malgun Gothic"/>
                <a:cs typeface="Malgun Gothic"/>
              </a:rPr>
              <a:t>F. 하위 제어: 4족 보행 RL</a:t>
            </a:r>
          </a:p>
          <a:p>
            <a:pPr>
              <a:spcAft>
                <a:spcPts val="400"/>
              </a:spcAft>
            </a:pPr>
            <a:r>
              <a:rPr sz="1000" b="0" i="0">
                <a:solidFill>
                  <a:srgbClr val="C9D1E0"/>
                </a:solidFill>
                <a:latin typeface="Arial"/>
                <a:ea typeface="Malgun Gothic"/>
                <a:cs typeface="Malgun Gothic"/>
              </a:rPr>
              <a:t>F.1 계보 — 액추에이터 모델에서 자동 커리큘럼까지</a:t>
            </a:r>
          </a:p>
          <a:p>
            <a:pPr>
              <a:spcAft>
                <a:spcPts val="400"/>
              </a:spcAft>
            </a:pPr>
            <a:r>
              <a:rPr sz="1000" b="0" i="0">
                <a:solidFill>
                  <a:srgbClr val="C9D1E0"/>
                </a:solidFill>
                <a:latin typeface="Arial"/>
                <a:ea typeface="Malgun Gothic"/>
                <a:cs typeface="Malgun Gothic"/>
              </a:rPr>
              <a:t>F.2 LP-ACRL — 난이도 순서를 사람이 정하지 않는다</a:t>
            </a:r>
          </a:p>
          <a:p>
            <a:pPr>
              <a:spcAft>
                <a:spcPts val="400"/>
              </a:spcAft>
            </a:pPr>
            <a:r>
              <a:rPr sz="1000" b="0" i="0">
                <a:solidFill>
                  <a:srgbClr val="C9D1E0"/>
                </a:solidFill>
                <a:latin typeface="Arial"/>
                <a:ea typeface="Malgun Gothic"/>
                <a:cs typeface="Malgun Gothic"/>
              </a:rPr>
              <a:t>F.3 travplan에 주는 것 — 지금 바로 걸리는 자리가 있다</a:t>
            </a:r>
          </a:p>
          <a:p>
            <a:pPr>
              <a:spcAft>
                <a:spcPts val="400"/>
              </a:spcAft>
            </a:pPr>
            <a:r>
              <a:rPr sz="1000" b="0" i="0">
                <a:solidFill>
                  <a:srgbClr val="C9D1E0"/>
                </a:solidFill>
                <a:latin typeface="Arial"/>
                <a:ea typeface="Malgun Gothic"/>
                <a:cs typeface="Malgun Gothic"/>
              </a:rPr>
              <a:t>F.4 무엇을 보고 걷나 — 갈래가 셋이다</a:t>
            </a:r>
          </a:p>
          <a:p>
            <a:pPr>
              <a:spcAft>
                <a:spcPts val="400"/>
              </a:spcAft>
            </a:pPr>
            <a:r>
              <a:rPr sz="1000" b="0" i="0">
                <a:solidFill>
                  <a:srgbClr val="C9D1E0"/>
                </a:solidFill>
                <a:latin typeface="Arial"/>
                <a:ea typeface="Malgun Gothic"/>
                <a:cs typeface="Malgun Gothic"/>
              </a:rPr>
              <a:t>F.5 RL과 MPC를 섞는 갈래 — travplan의 Controller 결정과 같은 질문</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F.6 오픈소스 — 학습 틀은 Isaac Lab·mjlab과 rsl_rl로 모였다</a:t>
            </a:r>
          </a:p>
          <a:p>
            <a:pPr>
              <a:spcAft>
                <a:spcPts val="400"/>
              </a:spcAft>
            </a:pPr>
            <a:r>
              <a:rPr sz="1000" b="0" i="0">
                <a:solidFill>
                  <a:srgbClr val="C9D1E0"/>
                </a:solidFill>
                <a:latin typeface="Arial"/>
                <a:ea typeface="Malgun Gothic"/>
                <a:cs typeface="Malgun Gothic"/>
              </a:rPr>
              <a:t>F.6.1 DreamWaQ 비공식 구현 — 넷을 코드로 읽었다</a:t>
            </a:r>
          </a:p>
          <a:p>
            <a:pPr>
              <a:spcAft>
                <a:spcPts val="400"/>
              </a:spcAft>
            </a:pPr>
            <a:r>
              <a:rPr sz="1000" b="0" i="0">
                <a:solidFill>
                  <a:srgbClr val="C9D1E0"/>
                </a:solidFill>
                <a:latin typeface="Arial"/>
                <a:ea typeface="Malgun Gothic"/>
                <a:cs typeface="Malgun Gothic"/>
              </a:rPr>
              <a:t>F.6.2 Extreme Parkour — 논문과 공개 코드를 읽었다</a:t>
            </a:r>
          </a:p>
          <a:p>
            <a:pPr>
              <a:spcAft>
                <a:spcPts val="400"/>
              </a:spcAft>
            </a:pPr>
            <a:r>
              <a:rPr sz="1000" b="0" i="0">
                <a:solidFill>
                  <a:srgbClr val="C9D1E0"/>
                </a:solidFill>
                <a:latin typeface="Arial"/>
                <a:ea typeface="Malgun Gothic"/>
                <a:cs typeface="Malgun Gothic"/>
              </a:rPr>
              <a:t>F.7 장단점 비교 — travplan 관점에서</a:t>
            </a:r>
          </a:p>
          <a:p>
            <a:pPr>
              <a:spcAft>
                <a:spcPts val="400"/>
              </a:spcAft>
            </a:pPr>
            <a:r>
              <a:rPr sz="1000" b="0" i="0">
                <a:solidFill>
                  <a:srgbClr val="C9D1E0"/>
                </a:solidFill>
                <a:latin typeface="Arial"/>
                <a:ea typeface="Malgun Gothic"/>
                <a:cs typeface="Malgun Gothic"/>
              </a:rPr>
              <a:t>F.8 휴머노이드 전신 제어: GR00T-WholeBodyControl의 분리형 WBC</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 하위 제어: 4족 보행 RL</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104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travplan은 body twist까지만 낸다.</a:t>
            </a:r>
            <a:r>
              <a:rPr sz="1050" b="0" i="0">
                <a:solidFill>
                  <a:srgbClr val="16213A"/>
                </a:solidFill>
                <a:latin typeface="Arial"/>
                <a:ea typeface="Malgun Gothic"/>
                <a:cs typeface="Malgun Gothic"/>
              </a:rPr>
              <a:t> 그 아래(관절 토크·위치)는 스워브의 경우 모듈 역기구학이 모델로 풀어 주므로 RL이 필요 없다(비동축은 닫힌 해가 없어 고정점 반복 3회로 푼다). 그런데도 이 계열을 여기 두는 이유가 셋이다.</a:t>
            </a:r>
          </a:p>
        </p:txBody>
      </p:sp>
      <p:sp>
        <p:nvSpPr>
          <p:cNvPr id="6" name="TextBox 5"/>
          <p:cNvSpPr txBox="1"/>
          <p:nvPr/>
        </p:nvSpPr>
        <p:spPr>
          <a:xfrm>
            <a:off x="609600" y="1766491"/>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커리큘럼이 같은 문제다.</a:t>
            </a:r>
            <a:r>
              <a:rPr sz="1050" b="0" i="0">
                <a:solidFill>
                  <a:srgbClr val="16213A"/>
                </a:solidFill>
                <a:latin typeface="Arial"/>
                <a:ea typeface="Malgun Gothic"/>
                <a:cs typeface="Malgun Gothic"/>
              </a:rPr>
              <a:t> travplan에도 지형 난이도 레벨(TP-0039)과 Planner D의 RL 후학습(TP-0066)이 있고, "다음에 어떤 과제를 뽑을 것인가"를 지금은 무작위로 답하고 있다.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입력이 같다.</a:t>
            </a:r>
            <a:r>
              <a:rPr sz="1050" b="0" i="0">
                <a:solidFill>
                  <a:srgbClr val="16213A"/>
                </a:solidFill>
                <a:latin typeface="Arial"/>
                <a:ea typeface="Malgun Gothic"/>
                <a:cs typeface="Malgun Gothic"/>
              </a:rPr>
              <a:t> 이 정책들은 지형 높이 샘플을 관측으로 받는다. TravMap이 주는 것과 같은 종류다.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sim-to-real 장치가 같다.</a:t>
            </a:r>
            <a:r>
              <a:rPr sz="1050" b="0" i="0">
                <a:solidFill>
                  <a:srgbClr val="16213A"/>
                </a:solidFill>
                <a:latin typeface="Arial"/>
                <a:ea typeface="Malgun Gothic"/>
                <a:cs typeface="Malgun Gothic"/>
              </a:rPr>
              <a:t> 액추에이터 모델, 특권 정보 증류, 도메인 무작위화는 travplan의 plant(TP-0033·0034)와 GP 잔차(TP-0068)가 다루는 문제와 뿌리가 같다.</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F.1 계보 — 액추에이터 모델에서 자동 커리큘럼까지</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105 / 183</a:t>
            </a:r>
          </a:p>
        </p:txBody>
      </p:sp>
      <p:graphicFrame>
        <p:nvGraphicFramePr>
          <p:cNvPr id="5" name="Table 4"/>
          <p:cNvGraphicFramePr>
            <a:graphicFrameLocks noGrp="1"/>
          </p:cNvGraphicFramePr>
          <p:nvPr/>
        </p:nvGraphicFramePr>
        <p:xfrm>
          <a:off x="609600" y="1244600"/>
          <a:ext cx="10966450" cy="1379616"/>
        </p:xfrm>
        <a:graphic>
          <a:graphicData uri="http://schemas.openxmlformats.org/drawingml/2006/table">
            <a:tbl>
              <a:tblPr firstRow="1" bandRow="1">
                <a:tableStyleId>{5C22544A-7EE6-4342-B048-85BDC9FD1C3A}</a:tableStyleId>
              </a:tblPr>
              <a:tblGrid>
                <a:gridCol w="489645"/>
                <a:gridCol w="4947741"/>
                <a:gridCol w="3905448"/>
                <a:gridCol w="1623616"/>
              </a:tblGrid>
              <a:tr h="197088">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핵심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travplan과 닿는 곳</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2019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Hwangbo 외, </a:t>
                      </a:r>
                      <a:r>
                        <a:rPr sz="800" b="0" i="1">
                          <a:solidFill>
                            <a:srgbClr val="16213A"/>
                          </a:solidFill>
                          <a:latin typeface="Arial"/>
                          <a:ea typeface="Malgun Gothic"/>
                          <a:cs typeface="Malgun Gothic"/>
                        </a:rPr>
                        <a:t>Learning agile and dynamic motor skills</a:t>
                      </a:r>
                      <a:r>
                        <a:rPr sz="800" b="0" i="0">
                          <a:solidFill>
                            <a:srgbClr val="16213A"/>
                          </a:solidFill>
                          <a:latin typeface="Arial"/>
                          <a:ea typeface="Malgun Gothic"/>
                          <a:cs typeface="Malgun Gothic"/>
                        </a:rPr>
                        <a:t> (Science Robotics)</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actuator net</a:t>
                      </a:r>
                      <a:r>
                        <a:rPr sz="800" b="0" i="0">
                          <a:solidFill>
                            <a:srgbClr val="16213A"/>
                          </a:solidFill>
                          <a:latin typeface="Arial"/>
                          <a:ea typeface="Malgun Gothic"/>
                          <a:cs typeface="Malgun Gothic"/>
                        </a:rPr>
                        <a:t>으로 모터·감속기 동역학을 학습해 sim-to-real 격차를 메움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잔차 학습의 원조(E.9)</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3"/>
                        </a:rPr>
                        <a:t>Lee 외</a:t>
                      </a:r>
                      <a:r>
                        <a:rPr sz="800" b="0" i="0">
                          <a:solidFill>
                            <a:srgbClr val="16213A"/>
                          </a:solidFill>
                          <a:latin typeface="Arial"/>
                          <a:ea typeface="Malgun Gothic"/>
                          <a:cs typeface="Malgun Gothic"/>
                        </a:rPr>
                        <a:t>, </a:t>
                      </a:r>
                      <a:r>
                        <a:rPr sz="800" b="0" i="1">
                          <a:solidFill>
                            <a:srgbClr val="16213A"/>
                          </a:solidFill>
                          <a:latin typeface="Arial"/>
                          <a:ea typeface="Malgun Gothic"/>
                          <a:cs typeface="Malgun Gothic"/>
                        </a:rPr>
                        <a:t>Learning quadrupedal locomotion over challenging terrain</a:t>
                      </a:r>
                      <a:r>
                        <a:rPr sz="800" b="0" i="0">
                          <a:solidFill>
                            <a:srgbClr val="16213A"/>
                          </a:solidFill>
                          <a:latin typeface="Arial"/>
                          <a:ea typeface="Malgun Gothic"/>
                          <a:cs typeface="Malgun Gothic"/>
                        </a:rPr>
                        <a:t> (Science Robotics)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특권 정보 교사 → 고유수용 학생 증류, 험지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배경 0.12의 증류</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4"/>
                        </a:rPr>
                        <a:t>Rudin 외</a:t>
                      </a:r>
                      <a:r>
                        <a:rPr sz="800" b="0" i="0">
                          <a:solidFill>
                            <a:srgbClr val="16213A"/>
                          </a:solidFill>
                          <a:latin typeface="Arial"/>
                          <a:ea typeface="Malgun Gothic"/>
                          <a:cs typeface="Malgun Gothic"/>
                        </a:rPr>
                        <a:t>, </a:t>
                      </a:r>
                      <a:r>
                        <a:rPr sz="800" b="0" i="1">
                          <a:solidFill>
                            <a:srgbClr val="16213A"/>
                          </a:solidFill>
                          <a:latin typeface="Arial"/>
                          <a:ea typeface="Malgun Gothic"/>
                          <a:cs typeface="Malgun Gothic"/>
                        </a:rPr>
                        <a:t>Learning to Walk in Minutes</a:t>
                      </a:r>
                      <a:r>
                        <a:rPr sz="800" b="0" i="0">
                          <a:solidFill>
                            <a:srgbClr val="16213A"/>
                          </a:solidFill>
                          <a:latin typeface="Arial"/>
                          <a:ea typeface="Malgun Gothic"/>
                          <a:cs typeface="Malgun Gothic"/>
                        </a:rPr>
                        <a:t> (CoRL 2021, PMLR 164)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GPU 대규모 병렬 + </a:t>
                      </a:r>
                      <a:r>
                        <a:rPr sz="800" b="1" i="0">
                          <a:solidFill>
                            <a:srgbClr val="16213A"/>
                          </a:solidFill>
                          <a:latin typeface="Arial"/>
                          <a:ea typeface="Malgun Gothic"/>
                          <a:cs typeface="Malgun Gothic"/>
                        </a:rPr>
                        <a:t>게임식 지형 커리큘럼</a:t>
                      </a:r>
                      <a:r>
                        <a:rPr sz="800" b="0" i="0">
                          <a:solidFill>
                            <a:srgbClr val="16213A"/>
                          </a:solidFill>
                          <a:latin typeface="Arial"/>
                          <a:ea typeface="Malgun Gothic"/>
                          <a:cs typeface="Malgun Gothic"/>
                        </a:rPr>
                        <a:t>(잘하면 올리고 못하면 내린다)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지형 난이도 레벨(TP-0039)</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Miki 외 (Science Robotics)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고유수용 + 외수용을 합치는 belief encoder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인식 A.7.1</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Hoeller 외</a:t>
                      </a:r>
                      <a:r>
                        <a:rPr sz="800" b="0" i="0">
                          <a:solidFill>
                            <a:srgbClr val="16213A"/>
                          </a:solidFill>
                          <a:latin typeface="Arial"/>
                          <a:ea typeface="Malgun Gothic"/>
                          <a:cs typeface="Malgun Gothic"/>
                        </a:rPr>
                        <a:t>, </a:t>
                      </a:r>
                      <a:r>
                        <a:rPr sz="800" b="0" i="1">
                          <a:solidFill>
                            <a:srgbClr val="16213A"/>
                          </a:solidFill>
                          <a:latin typeface="Arial"/>
                          <a:ea typeface="Malgun Gothic"/>
                          <a:cs typeface="Malgun Gothic"/>
                        </a:rPr>
                        <a:t>ANYmal Parkour</a:t>
                      </a:r>
                      <a:r>
                        <a:rPr sz="800" b="0" i="0">
                          <a:solidFill>
                            <a:srgbClr val="16213A"/>
                          </a:solidFill>
                          <a:latin typeface="Arial"/>
                          <a:ea typeface="Malgun Gothic"/>
                          <a:cs typeface="Malgun Gothic"/>
                        </a:rPr>
                        <a:t> (Science Robotics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기술별 정책 + 항법, 지각 기반 민첩 주행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Planner 문서 B.14</a:t>
                      </a:r>
                    </a:p>
                  </a:txBody>
                  <a:tcPr marL="63500" marR="63500" marT="12700" marB="12700">
                    <a:solidFill>
                      <a:srgbClr val="FFFDF8"/>
                    </a:solidFill>
                  </a:tcPr>
                </a:tc>
              </a:tr>
              <a:tr h="197088">
                <a:tc>
                  <a:txBody>
                    <a:bodyPr wrap="square"/>
                    <a:lstStyle/>
                    <a:p>
                      <a:r>
                        <a:rPr sz="800" b="1" i="0">
                          <a:solidFill>
                            <a:srgbClr val="16213A"/>
                          </a:solidFill>
                          <a:latin typeface="Arial"/>
                          <a:ea typeface="Malgun Gothic"/>
                          <a:cs typeface="Malgun Gothic"/>
                        </a:rPr>
                        <a:t>2026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Li·Li·Hutter</a:t>
                      </a:r>
                      <a:r>
                        <a:rPr sz="800" b="0" i="0">
                          <a:solidFill>
                            <a:srgbClr val="16213A"/>
                          </a:solidFill>
                          <a:latin typeface="Arial"/>
                          <a:ea typeface="Malgun Gothic"/>
                          <a:cs typeface="Malgun Gothic"/>
                        </a:rPr>
                        <a:t>, </a:t>
                      </a:r>
                      <a:r>
                        <a:rPr sz="800" b="0" i="1">
                          <a:solidFill>
                            <a:srgbClr val="16213A"/>
                          </a:solidFill>
                          <a:latin typeface="Arial"/>
                          <a:ea typeface="Malgun Gothic"/>
                          <a:cs typeface="Malgun Gothic"/>
                        </a:rPr>
                        <a:t>Scaling Rough Terrain Locomotion with Automatic Curriculum RL</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학습 진척으로 과제 분포를 자동 조절</a:t>
                      </a:r>
                      <a:r>
                        <a:rPr sz="800" b="0" i="0">
                          <a:solidFill>
                            <a:srgbClr val="16213A"/>
                          </a:solidFill>
                          <a:latin typeface="Arial"/>
                          <a:ea typeface="Malgun Gothic"/>
                          <a:cs typeface="Malgun Gothic"/>
                        </a:rPr>
                        <a:t>(LP-ACRL)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아래 F.2</a:t>
                      </a:r>
                    </a:p>
                  </a:txBody>
                  <a:tcPr marL="63500" marR="63500" marT="12700" marB="12700">
                    <a:solidFill>
                      <a:srgbClr val="F3F0E8"/>
                    </a:solidFill>
                  </a:tcPr>
                </a:tc>
              </a:tr>
            </a:tbl>
          </a:graphicData>
        </a:graphic>
      </p:graphicFrame>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F.2 LP-ACRL — 난이도 순서를 사람이 정하지 않는다</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106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문제.</a:t>
            </a:r>
            <a:r>
              <a:rPr sz="1050" b="0" i="0">
                <a:solidFill>
                  <a:srgbClr val="16213A"/>
                </a:solidFill>
                <a:latin typeface="Arial"/>
                <a:ea typeface="Malgun Gothic"/>
                <a:cs typeface="Malgun Gothic"/>
              </a:rPr>
              <a:t> 커리큘럼 학습은 보통 </a:t>
            </a:r>
            <a:r>
              <a:rPr sz="1050" b="1" i="0">
                <a:solidFill>
                  <a:srgbClr val="16213A"/>
                </a:solidFill>
                <a:latin typeface="Arial"/>
                <a:ea typeface="Malgun Gothic"/>
                <a:cs typeface="Malgun Gothic"/>
              </a:rPr>
              <a:t>난이도 순으로 정렬한 과제 열</a:t>
            </a:r>
            <a:r>
              <a:rPr sz="1050" b="0" i="0">
                <a:solidFill>
                  <a:srgbClr val="16213A"/>
                </a:solidFill>
                <a:latin typeface="Arial"/>
                <a:ea typeface="Malgun Gothic"/>
                <a:cs typeface="Malgun Gothic"/>
              </a:rPr>
              <a:t>을 사람이 만든다. 그런데 지형 종류와 속도 명령을 동시에 다뤄야 하면 </a:t>
            </a:r>
            <a:r>
              <a:rPr sz="1050" b="1" i="0">
                <a:solidFill>
                  <a:srgbClr val="C2410C"/>
                </a:solidFill>
                <a:latin typeface="Arial"/>
                <a:ea typeface="Malgun Gothic"/>
                <a:cs typeface="Malgun Gothic"/>
              </a:rPr>
              <a:t>순서를 매길 수가 없다</a:t>
            </a:r>
            <a:r>
              <a:rPr sz="1050" b="0" i="0">
                <a:solidFill>
                  <a:srgbClr val="16213A"/>
                </a:solidFill>
                <a:latin typeface="Arial"/>
                <a:ea typeface="Malgun Gothic"/>
                <a:cs typeface="Malgun Gothic"/>
              </a:rPr>
              <a:t> — 자갈이 계단보다 쉬운가? 2 m/s 평지가 1 m/s 계단보다 쉬운가? 답이 정해지지 않는다.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방법.</a:t>
            </a:r>
            <a:r>
              <a:rPr sz="1050" b="0" i="0">
                <a:solidFill>
                  <a:srgbClr val="16213A"/>
                </a:solidFill>
                <a:latin typeface="Arial"/>
                <a:ea typeface="Malgun Gothic"/>
                <a:cs typeface="Malgun Gothic"/>
              </a:rPr>
              <a:t> 과제 </a:t>
            </a:r>
            <a:r>
              <a:rPr sz="1050" b="0" i="1">
                <a:solidFill>
                  <a:srgbClr val="16213A"/>
                </a:solidFill>
                <a:latin typeface="Arial"/>
                <a:ea typeface="Malgun Gothic"/>
                <a:cs typeface="Malgun Gothic"/>
              </a:rPr>
              <a:t>ζ</a:t>
            </a:r>
            <a:r>
              <a:rPr sz="1050" b="0" i="0">
                <a:solidFill>
                  <a:srgbClr val="16213A"/>
                </a:solidFill>
                <a:latin typeface="Arial"/>
                <a:ea typeface="Malgun Gothic"/>
                <a:cs typeface="Malgun Gothic"/>
              </a:rPr>
              <a:t>의 </a:t>
            </a:r>
            <a:r>
              <a:rPr sz="1050" b="1" i="0">
                <a:solidFill>
                  <a:srgbClr val="16213A"/>
                </a:solidFill>
                <a:latin typeface="Arial"/>
                <a:ea typeface="Malgun Gothic"/>
                <a:cs typeface="Malgun Gothic"/>
              </a:rPr>
              <a:t>학습 진척(learning progress)</a:t>
            </a:r>
            <a:r>
              <a:rPr sz="1050" b="0" i="0">
                <a:solidFill>
                  <a:srgbClr val="16213A"/>
                </a:solidFill>
                <a:latin typeface="Arial"/>
                <a:ea typeface="Malgun Gothic"/>
                <a:cs typeface="Malgun Gothic"/>
              </a:rPr>
              <a:t>을 연속한 두 학습 단계의 에피소드 보상 차이로 재고, 그 값에 softmax를 걸어 샘플링 확률로 쓴다. 난이도 사전 지식이 필요 없다.</a:t>
            </a:r>
          </a:p>
        </p:txBody>
      </p:sp>
      <p:pic>
        <p:nvPicPr>
          <p:cNvPr id="7" name="Picture 6" descr="image.png"/>
          <p:cNvPicPr>
            <a:picLocks noChangeAspect="1"/>
          </p:cNvPicPr>
          <p:nvPr/>
        </p:nvPicPr>
        <p:blipFill>
          <a:blip r:embed="rId3"/>
          <a:stretch>
            <a:fillRect/>
          </a:stretch>
        </p:blipFill>
        <p:spPr>
          <a:xfrm>
            <a:off x="609600" y="2071886"/>
            <a:ext cx="3908425" cy="241300"/>
          </a:xfrm>
          <a:prstGeom prst="rect">
            <a:avLst/>
          </a:prstGeom>
        </p:spPr>
      </p:pic>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F.2 LP-ACRL — 난이도 순서를 사람이 정하지 않는다</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107 / 183</a:t>
            </a:r>
          </a:p>
        </p:txBody>
      </p:sp>
      <p:pic>
        <p:nvPicPr>
          <p:cNvPr id="5" name="Picture 4" descr="image.jpg"/>
          <p:cNvPicPr>
            <a:picLocks noChangeAspect="1"/>
          </p:cNvPicPr>
          <p:nvPr/>
        </p:nvPicPr>
        <p:blipFill>
          <a:blip r:embed="rId3"/>
          <a:stretch>
            <a:fillRect/>
          </a:stretch>
        </p:blipFill>
        <p:spPr>
          <a:xfrm>
            <a:off x="2527300" y="1244600"/>
            <a:ext cx="7137400" cy="4445000"/>
          </a:xfrm>
          <a:prstGeom prst="rect">
            <a:avLst/>
          </a:prstGeom>
        </p:spPr>
      </p:pic>
      <p:sp>
        <p:nvSpPr>
          <p:cNvPr id="6" name="TextBox 5"/>
          <p:cNvSpPr txBox="1"/>
          <p:nvPr/>
        </p:nvSpPr>
        <p:spPr>
          <a:xfrm>
            <a:off x="2527300" y="5727700"/>
            <a:ext cx="71374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LP-ACRL의 흐름. 학습 진척을 온라인으로 재서 과제 표집 분포를 갱신한다. 출처: arXiv:2601.17428</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F.2 LP-ACRL — 난이도 순서를 사람이 정하지 않는다</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108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실험은 셋으로 키워 간다.</a:t>
            </a:r>
            <a:r>
              <a:rPr sz="1050" b="0" i="0">
                <a:solidFill>
                  <a:srgbClr val="16213A"/>
                </a:solidFill>
                <a:latin typeface="Arial"/>
                <a:ea typeface="Malgun Gothic"/>
                <a:cs typeface="Malgun Gothic"/>
              </a:rPr>
              <a:t> 평지 속도 추종 8개 과제(0–4.0 m/s) → 지형 6종 → </a:t>
            </a:r>
            <a:r>
              <a:rPr sz="1050" b="1" i="0">
                <a:solidFill>
                  <a:srgbClr val="16213A"/>
                </a:solidFill>
                <a:latin typeface="Arial"/>
                <a:ea typeface="Malgun Gothic"/>
                <a:cs typeface="Malgun Gothic"/>
              </a:rPr>
              <a:t>확장 600개</a:t>
            </a:r>
            <a:r>
              <a:rPr sz="1050" b="0" i="0">
                <a:solidFill>
                  <a:srgbClr val="16213A"/>
                </a:solidFill>
                <a:latin typeface="Arial"/>
                <a:ea typeface="Malgun Gothic"/>
                <a:cs typeface="Malgun Gothic"/>
              </a:rPr>
              <a:t>(선속도 5단계 × 각속도 6단계 × 지형 5종 × 지형별 난이도 4단계). 비교 대상은 ALP, Prioritized Level Replay, 저보상 우선, 손으로 짠 커리큘럼, 균등 표집이다.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600개 과제에서 LP-ACRL은 1,500 iteration에 성공률 80%에 닿았고, 기준선들은 3,000 이후에도 고전했다.</a:t>
            </a:r>
          </a:p>
        </p:txBody>
      </p:sp>
      <p:sp>
        <p:nvSpPr>
          <p:cNvPr id="7" name="TextBox 6"/>
          <p:cNvSpPr txBox="1"/>
          <p:nvPr/>
        </p:nvSpPr>
        <p:spPr>
          <a:xfrm>
            <a:off x="609600" y="20718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실물은 ANYmal D다.</a:t>
            </a:r>
            <a:r>
              <a:rPr sz="1050" b="0" i="0">
                <a:solidFill>
                  <a:srgbClr val="16213A"/>
                </a:solidFill>
                <a:latin typeface="Arial"/>
                <a:ea typeface="Malgun Gothic"/>
                <a:cs typeface="Malgun Gothic"/>
              </a:rPr>
              <a:t> 평지 </a:t>
            </a:r>
            <a:r>
              <a:rPr sz="1050" b="1" i="0">
                <a:solidFill>
                  <a:srgbClr val="16213A"/>
                </a:solidFill>
                <a:latin typeface="Arial"/>
                <a:ea typeface="Malgun Gothic"/>
                <a:cs typeface="Malgun Gothic"/>
              </a:rPr>
              <a:t>3.0 m/s</a:t>
            </a:r>
            <a:r>
              <a:rPr sz="1050" b="0" i="0">
                <a:solidFill>
                  <a:srgbClr val="16213A"/>
                </a:solidFill>
                <a:latin typeface="Arial"/>
                <a:ea typeface="Malgun Gothic"/>
                <a:cs typeface="Malgun Gothic"/>
              </a:rPr>
              <a:t>, 계단·경사·자갈 같은 험지에서 </a:t>
            </a:r>
            <a:r>
              <a:rPr sz="1050" b="1" i="0">
                <a:solidFill>
                  <a:srgbClr val="16213A"/>
                </a:solidFill>
                <a:latin typeface="Arial"/>
                <a:ea typeface="Malgun Gothic"/>
                <a:cs typeface="Malgun Gothic"/>
              </a:rPr>
              <a:t>2.5 m/s</a:t>
            </a:r>
            <a:r>
              <a:rPr sz="1050" b="0" i="0">
                <a:solidFill>
                  <a:srgbClr val="16213A"/>
                </a:solidFill>
                <a:latin typeface="Arial"/>
                <a:ea typeface="Malgun Gothic"/>
                <a:cs typeface="Malgun Gothic"/>
              </a:rPr>
              <a:t>, 각속도 </a:t>
            </a:r>
            <a:r>
              <a:rPr sz="1050" b="1" i="0">
                <a:solidFill>
                  <a:srgbClr val="16213A"/>
                </a:solidFill>
                <a:latin typeface="Arial"/>
                <a:ea typeface="Malgun Gothic"/>
                <a:cs typeface="Malgun Gothic"/>
              </a:rPr>
              <a:t>3.0 rad/s</a:t>
            </a:r>
            <a:r>
              <a:rPr sz="1050" b="0" i="0">
                <a:solidFill>
                  <a:srgbClr val="16213A"/>
                </a:solidFill>
                <a:latin typeface="Arial"/>
                <a:ea typeface="Malgun Gothic"/>
                <a:cs typeface="Malgun Gothic"/>
              </a:rPr>
              <a:t>까지 나왔다.</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F.2 LP-ACRL — 난이도 순서를 사람이 정하지 않는다</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109 / 183</a:t>
            </a:r>
          </a:p>
        </p:txBody>
      </p:sp>
      <p:pic>
        <p:nvPicPr>
          <p:cNvPr id="5" name="Picture 4" descr="image.jpg"/>
          <p:cNvPicPr>
            <a:picLocks noChangeAspect="1"/>
          </p:cNvPicPr>
          <p:nvPr/>
        </p:nvPicPr>
        <p:blipFill>
          <a:blip r:embed="rId3"/>
          <a:stretch>
            <a:fillRect/>
          </a:stretch>
        </p:blipFill>
        <p:spPr>
          <a:xfrm>
            <a:off x="2759075" y="1244600"/>
            <a:ext cx="6673850" cy="4445000"/>
          </a:xfrm>
          <a:prstGeom prst="rect">
            <a:avLst/>
          </a:prstGeom>
        </p:spPr>
      </p:pic>
      <p:sp>
        <p:nvSpPr>
          <p:cNvPr id="6" name="TextBox 5"/>
          <p:cNvSpPr txBox="1"/>
          <p:nvPr/>
        </p:nvSpPr>
        <p:spPr>
          <a:xfrm>
            <a:off x="2759075" y="5727700"/>
            <a:ext cx="667385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학습한 정책을 ANYmal D에 올린 실물 주행 여섯 장면: 경사판, 실내 계단 내려가기, 자갈, 철제 계단, 실외 돌계단, 포장면. 출처: arXiv:2601.17428</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F.2 LP-ACRL — 난이도 순서를 사람이 정하지 않는다</a:t>
            </a:r>
            <a:r>
              <a:rPr sz="1050" b="0" i="0">
                <a:solidFill>
                  <a:srgbClr val="5A6478"/>
                </a:solidFill>
                <a:latin typeface="Arial"/>
                <a:ea typeface="Malgun Gothic"/>
                <a:cs typeface="Malgun Gothic"/>
              </a:rPr>
              <a:t>  자세히: 배경 — 이 논문을 읽으려면 알아야 할 네 가지</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110 / 183</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강화학습과 정책.</a:t>
            </a:r>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정책</a:t>
            </a:r>
            <a:r>
              <a:rPr sz="1050" b="0" i="0">
                <a:solidFill>
                  <a:srgbClr val="16213A"/>
                </a:solidFill>
                <a:latin typeface="Arial"/>
                <a:ea typeface="Malgun Gothic"/>
                <a:cs typeface="Malgun Gothic"/>
              </a:rPr>
              <a:t>은 "지금 본 것"을 넣으면 "지금 할 것"을 내주는 함수이고, 여기서는 신경망이다. 넣는 것은 로봇의 자세·관절 상태·속도 명령과 발밑 지형의 높이 격자, 나오는 것은 관절 12개의 목표 위치다. 로봇은 이 정책으로 시뮬레이션에서 수없이 걸어 보고 잘 걸으면 </a:t>
            </a:r>
            <a:r>
              <a:rPr sz="1050" b="1" i="0">
                <a:solidFill>
                  <a:srgbClr val="16213A"/>
                </a:solidFill>
                <a:latin typeface="Arial"/>
                <a:ea typeface="Malgun Gothic"/>
                <a:cs typeface="Malgun Gothic"/>
              </a:rPr>
              <a:t>보상</a:t>
            </a:r>
            <a:r>
              <a:rPr sz="1050" b="0" i="0">
                <a:solidFill>
                  <a:srgbClr val="16213A"/>
                </a:solidFill>
                <a:latin typeface="Arial"/>
                <a:ea typeface="Malgun Gothic"/>
                <a:cs typeface="Malgun Gothic"/>
              </a:rPr>
              <a:t>을 받는다. 보상을 더 받도록 가중치를 조금씩 고치는 것이 강화학습이다. </a:t>
            </a:r>
            <a:r>
              <a:rPr sz="1050" b="1" i="0">
                <a:solidFill>
                  <a:srgbClr val="C2410C"/>
                </a:solidFill>
                <a:latin typeface="Arial"/>
                <a:ea typeface="Malgun Gothic"/>
                <a:cs typeface="Malgun Gothic"/>
              </a:rPr>
              <a:t>보상은 "얼마나 잘했나"를 재는 자이지 "무엇을 연습할까"를 정하지 않는다.</a:t>
            </a:r>
            <a:r>
              <a:rPr sz="1050" b="0" i="0">
                <a:solidFill>
                  <a:srgbClr val="16213A"/>
                </a:solidFill>
                <a:latin typeface="Arial"/>
                <a:ea typeface="Malgun Gothic"/>
                <a:cs typeface="Malgun Gothic"/>
              </a:rPr>
              <a:t> 이 논문이 건드리는 것은 뒤쪽이다.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커리큘럼 학습.</a:t>
            </a:r>
            <a:r>
              <a:rPr sz="1050" b="0" i="0">
                <a:solidFill>
                  <a:srgbClr val="16213A"/>
                </a:solidFill>
                <a:latin typeface="Arial"/>
                <a:ea typeface="Malgun Gothic"/>
                <a:cs typeface="Malgun Gothic"/>
              </a:rPr>
              <a:t> 사람을 가르칠 때 쉬운 것부터 주듯, 로봇도 평지에서 천천히 걷는 것부터 시키고 되면 계단을 준다. 이 </a:t>
            </a:r>
            <a:r>
              <a:rPr sz="1050" b="1" i="0">
                <a:solidFill>
                  <a:srgbClr val="16213A"/>
                </a:solidFill>
                <a:latin typeface="Arial"/>
                <a:ea typeface="Malgun Gothic"/>
                <a:cs typeface="Malgun Gothic"/>
              </a:rPr>
              <a:t>과제를 주는 순서</a:t>
            </a:r>
            <a:r>
              <a:rPr sz="1050" b="0" i="0">
                <a:solidFill>
                  <a:srgbClr val="16213A"/>
                </a:solidFill>
                <a:latin typeface="Arial"/>
                <a:ea typeface="Malgun Gothic"/>
                <a:cs typeface="Malgun Gothic"/>
              </a:rPr>
              <a:t>가 커리큘럼이다. 문제는 그 순서를 보통 사람이 손으로 짠다는 것이다. 축이 하나면 쉽지만 (속도만 다루면 느린 것부터), </a:t>
            </a:r>
            <a:r>
              <a:rPr sz="1050" b="1" i="0">
                <a:solidFill>
                  <a:srgbClr val="C2410C"/>
                </a:solidFill>
                <a:latin typeface="Arial"/>
                <a:ea typeface="Malgun Gothic"/>
                <a:cs typeface="Malgun Gothic"/>
              </a:rPr>
              <a:t>축이 여럿이면 순서가 정의되지 않는다</a:t>
            </a:r>
            <a:r>
              <a:rPr sz="1050" b="0" i="0">
                <a:solidFill>
                  <a:srgbClr val="16213A"/>
                </a:solidFill>
                <a:latin typeface="Arial"/>
                <a:ea typeface="Malgun Gothic"/>
                <a:cs typeface="Malgun Gothic"/>
              </a:rPr>
              <a:t> — 자갈과 계단 중 무엇이 쉬운가?</a:t>
            </a:r>
          </a:p>
        </p:txBody>
      </p:sp>
      <p:sp>
        <p:nvSpPr>
          <p:cNvPr id="7" name="TextBox 6"/>
          <p:cNvSpPr txBox="1"/>
          <p:nvPr/>
        </p:nvSpPr>
        <p:spPr>
          <a:xfrm>
            <a:off x="609600" y="25048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sim-to-real.</a:t>
            </a:r>
            <a:r>
              <a:rPr sz="1050" b="0" i="0">
                <a:solidFill>
                  <a:srgbClr val="16213A"/>
                </a:solidFill>
                <a:latin typeface="Arial"/>
                <a:ea typeface="Malgun Gothic"/>
                <a:cs typeface="Malgun Gothic"/>
              </a:rPr>
              <a:t> 실물 로봇으로 수백만 번 넘어뜨리며 배울 수는 없다. 시뮬레이터(여기서는 Isaac Lab)에서 로봇 수천 대를 GPU로 동시에 굴려 배운 뒤 정책을 실물로 옮긴다. 옮길 때 성능이 떨어지는 것이 이 분야의 오랜 숙제다.</a:t>
            </a:r>
          </a:p>
        </p:txBody>
      </p:sp>
      <p:sp>
        <p:nvSpPr>
          <p:cNvPr id="8" name="TextBox 7"/>
          <p:cNvSpPr txBox="1"/>
          <p:nvPr/>
        </p:nvSpPr>
        <p:spPr>
          <a:xfrm>
            <a:off x="609600" y="302676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교사–학생 증류.</a:t>
            </a:r>
            <a:r>
              <a:rPr sz="1050" b="0" i="0">
                <a:solidFill>
                  <a:srgbClr val="16213A"/>
                </a:solidFill>
                <a:latin typeface="Arial"/>
                <a:ea typeface="Malgun Gothic"/>
                <a:cs typeface="Malgun Gothic"/>
              </a:rPr>
              <a:t> 시뮬에서는 로봇이 알 수 없는 것까지 알 수 있다(지형의 정확한 모양, 마찰 계수). 이것이 </a:t>
            </a:r>
            <a:r>
              <a:rPr sz="1050" b="1" i="0">
                <a:solidFill>
                  <a:srgbClr val="16213A"/>
                </a:solidFill>
                <a:latin typeface="Arial"/>
                <a:ea typeface="Malgun Gothic"/>
                <a:cs typeface="Malgun Gothic"/>
              </a:rPr>
              <a:t>특권 정보</a:t>
            </a:r>
            <a:r>
              <a:rPr sz="1050" b="0" i="0">
                <a:solidFill>
                  <a:srgbClr val="16213A"/>
                </a:solidFill>
                <a:latin typeface="Arial"/>
                <a:ea typeface="Malgun Gothic"/>
                <a:cs typeface="Malgun Gothic"/>
              </a:rPr>
              <a:t>다. 특권 정보를 받는 </a:t>
            </a:r>
            <a:r>
              <a:rPr sz="1050" b="1" i="0">
                <a:solidFill>
                  <a:srgbClr val="16213A"/>
                </a:solidFill>
                <a:latin typeface="Arial"/>
                <a:ea typeface="Malgun Gothic"/>
                <a:cs typeface="Malgun Gothic"/>
              </a:rPr>
              <a:t>교사</a:t>
            </a:r>
            <a:r>
              <a:rPr sz="1050" b="0" i="0">
                <a:solidFill>
                  <a:srgbClr val="16213A"/>
                </a:solidFill>
                <a:latin typeface="Arial"/>
                <a:ea typeface="Malgun Gothic"/>
                <a:cs typeface="Malgun Gothic"/>
              </a:rPr>
              <a:t> 정책을 먼저 잘 학습시킨 뒤, 실제 센서만 보는 </a:t>
            </a:r>
            <a:r>
              <a:rPr sz="1050" b="1" i="0">
                <a:solidFill>
                  <a:srgbClr val="16213A"/>
                </a:solidFill>
                <a:latin typeface="Arial"/>
                <a:ea typeface="Malgun Gothic"/>
                <a:cs typeface="Malgun Gothic"/>
              </a:rPr>
              <a:t>학생</a:t>
            </a:r>
            <a:r>
              <a:rPr sz="1050" b="0" i="0">
                <a:solidFill>
                  <a:srgbClr val="16213A"/>
                </a:solidFill>
                <a:latin typeface="Arial"/>
                <a:ea typeface="Malgun Gothic"/>
                <a:cs typeface="Malgun Gothic"/>
              </a:rPr>
              <a:t> 정책이 교사를 흉내 내게 하는 것이 증류다. 이 논문도 실물 배포에는 학생을 쓴다(아래).</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F.2 LP-ACRL — 난이도 순서를 사람이 정하지 않는다</a:t>
            </a:r>
            <a:r>
              <a:rPr sz="1050" b="0" i="0">
                <a:solidFill>
                  <a:srgbClr val="5A6478"/>
                </a:solidFill>
                <a:latin typeface="Arial"/>
                <a:ea typeface="Malgun Gothic"/>
                <a:cs typeface="Malgun Gothic"/>
              </a:rPr>
              <a:t>  자세히: 왜 "난이도"가 아니라 "진척"인가</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111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과제는 셋으로 갈린다.</a:t>
            </a:r>
          </a:p>
        </p:txBody>
      </p:sp>
      <p:sp>
        <p:nvSpPr>
          <p:cNvPr id="6" name="TextBox 5"/>
          <p:cNvSpPr txBox="1"/>
          <p:nvPr/>
        </p:nvSpPr>
        <p:spPr>
          <a:xfrm>
            <a:off x="609600" y="1549995"/>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이미 잘하는 과제</a:t>
            </a:r>
            <a:r>
              <a:rPr sz="1050" b="0" i="0">
                <a:solidFill>
                  <a:srgbClr val="16213A"/>
                </a:solidFill>
                <a:latin typeface="Arial"/>
                <a:ea typeface="Malgun Gothic"/>
                <a:cs typeface="Malgun Gothic"/>
              </a:rPr>
              <a:t> — 더 줘도 늘 것이 없다. 시간 낭비다.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너무 어려운 과제</a:t>
            </a:r>
            <a:r>
              <a:rPr sz="1050" b="0" i="0">
                <a:solidFill>
                  <a:srgbClr val="16213A"/>
                </a:solidFill>
                <a:latin typeface="Arial"/>
                <a:ea typeface="Malgun Gothic"/>
                <a:cs typeface="Malgun Gothic"/>
              </a:rPr>
              <a:t> — 줘도 안 는다. 역시 시간 낭비다.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지금 늘고 있는 과제</a:t>
            </a:r>
            <a:r>
              <a:rPr sz="1050" b="0" i="0">
                <a:solidFill>
                  <a:srgbClr val="16213A"/>
                </a:solidFill>
                <a:latin typeface="Arial"/>
                <a:ea typeface="Malgun Gothic"/>
                <a:cs typeface="Malgun Gothic"/>
              </a:rPr>
              <a:t> — 여기가 배울 것이 남은 자리다.</a:t>
            </a:r>
          </a:p>
        </p:txBody>
      </p:sp>
      <p:sp>
        <p:nvSpPr>
          <p:cNvPr id="7" name="TextBox 6"/>
          <p:cNvSpPr txBox="1"/>
          <p:nvPr/>
        </p:nvSpPr>
        <p:spPr>
          <a:xfrm>
            <a:off x="609600" y="2339181"/>
            <a:ext cx="10972800" cy="43299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보상의 </a:t>
            </a:r>
            <a:r>
              <a:rPr sz="1050" b="1" i="0">
                <a:solidFill>
                  <a:srgbClr val="C2410C"/>
                </a:solidFill>
                <a:latin typeface="Arial"/>
                <a:ea typeface="Malgun Gothic"/>
                <a:cs typeface="Malgun Gothic"/>
              </a:rPr>
              <a:t>값</a:t>
            </a:r>
            <a:r>
              <a:rPr sz="1050" b="1" i="0">
                <a:solidFill>
                  <a:srgbClr val="C2410C"/>
                </a:solidFill>
                <a:latin typeface="Arial"/>
                <a:ea typeface="Malgun Gothic"/>
                <a:cs typeface="Malgun Gothic"/>
              </a:rPr>
              <a:t>만 보면 앞의 둘을 구분하지 못한다.</a:t>
            </a:r>
            <a:r>
              <a:rPr sz="1050" b="0" i="0">
                <a:solidFill>
                  <a:srgbClr val="16213A"/>
                </a:solidFill>
                <a:latin typeface="Arial"/>
                <a:ea typeface="Malgun Gothic"/>
                <a:cs typeface="Malgun Gothic"/>
              </a:rPr>
              <a:t> 보상이 낮은 과제를 더 주는 방법(기준선 중 하나인 저보상 우선)은 "너무 어려운 과제"에 시간을 다 쓰게 된다. 그래서 값이 아니라 </a:t>
            </a:r>
            <a:r>
              <a:rPr sz="1050" b="1" i="0">
                <a:solidFill>
                  <a:srgbClr val="16213A"/>
                </a:solidFill>
                <a:latin typeface="Arial"/>
                <a:ea typeface="Malgun Gothic"/>
                <a:cs typeface="Malgun Gothic"/>
              </a:rPr>
              <a:t>변화</a:t>
            </a:r>
            <a:r>
              <a:rPr sz="1050" b="0" i="0">
                <a:solidFill>
                  <a:srgbClr val="16213A"/>
                </a:solidFill>
                <a:latin typeface="Arial"/>
                <a:ea typeface="Malgun Gothic"/>
                <a:cs typeface="Malgun Gothic"/>
              </a:rPr>
              <a:t>를 본다. 그것이 학습 진척이다.</a:t>
            </a:r>
          </a:p>
        </p:txBody>
      </p:sp>
      <p:pic>
        <p:nvPicPr>
          <p:cNvPr id="8" name="Picture 7" descr="image.png"/>
          <p:cNvPicPr>
            <a:picLocks noChangeAspect="1"/>
          </p:cNvPicPr>
          <p:nvPr/>
        </p:nvPicPr>
        <p:blipFill>
          <a:blip r:embed="rId3"/>
          <a:stretch>
            <a:fillRect/>
          </a:stretch>
        </p:blipFill>
        <p:spPr>
          <a:xfrm>
            <a:off x="609600" y="2861072"/>
            <a:ext cx="2921000" cy="460375"/>
          </a:xfrm>
          <a:prstGeom prst="rect">
            <a:avLst/>
          </a:prstGeom>
        </p:spPr>
      </p:pic>
      <p:sp>
        <p:nvSpPr>
          <p:cNvPr id="9" name="TextBox 8"/>
          <p:cNvSpPr txBox="1"/>
          <p:nvPr/>
        </p:nvSpPr>
        <p:spPr>
          <a:xfrm>
            <a:off x="609600" y="3328789"/>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 값이 크면 그 과제에서 실력이 빠르게 늘고 있다는 뜻이다. 모든 과제의 LP에 softmax를 씌우면 확률이 되고, 온도 </a:t>
            </a:r>
            <a:r>
              <a:rPr sz="1050" b="0" i="1">
                <a:solidFill>
                  <a:srgbClr val="16213A"/>
                </a:solidFill>
                <a:latin typeface="Arial"/>
                <a:ea typeface="Malgun Gothic"/>
                <a:cs typeface="Malgun Gothic"/>
              </a:rPr>
              <a:t>β</a:t>
            </a:r>
            <a:r>
              <a:rPr sz="1050" b="0" i="0">
                <a:solidFill>
                  <a:srgbClr val="16213A"/>
                </a:solidFill>
                <a:latin typeface="Arial"/>
                <a:ea typeface="Malgun Gothic"/>
                <a:cs typeface="Malgun Gothic"/>
              </a:rPr>
              <a:t>가 작을수록 잘 늘고 있는 과제에 몰아준다.</a:t>
            </a:r>
          </a:p>
        </p:txBody>
      </p:sp>
      <p:pic>
        <p:nvPicPr>
          <p:cNvPr id="10" name="Picture 9" descr="image.png"/>
          <p:cNvPicPr>
            <a:picLocks noChangeAspect="1"/>
          </p:cNvPicPr>
          <p:nvPr/>
        </p:nvPicPr>
        <p:blipFill>
          <a:blip r:embed="rId4"/>
          <a:stretch>
            <a:fillRect/>
          </a:stretch>
        </p:blipFill>
        <p:spPr>
          <a:xfrm>
            <a:off x="609600" y="3634184"/>
            <a:ext cx="2495550" cy="492125"/>
          </a:xfrm>
          <a:prstGeom prst="rect">
            <a:avLst/>
          </a:prstGeom>
        </p:spPr>
      </p:pic>
      <p:sp>
        <p:nvSpPr>
          <p:cNvPr id="11" name="TextBox 10"/>
          <p:cNvSpPr txBox="1"/>
          <p:nvPr/>
        </p:nvSpPr>
        <p:spPr>
          <a:xfrm>
            <a:off x="609600" y="4128691"/>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학습은 </a:t>
            </a:r>
            <a:r>
              <a:rPr sz="1050" b="1" i="0">
                <a:solidFill>
                  <a:srgbClr val="16213A"/>
                </a:solidFill>
                <a:latin typeface="Arial"/>
                <a:ea typeface="Malgun Gothic"/>
                <a:cs typeface="Malgun Gothic"/>
              </a:rPr>
              <a:t>단계(stage)</a:t>
            </a:r>
            <a:r>
              <a:rPr sz="1050" b="0" i="0">
                <a:solidFill>
                  <a:srgbClr val="16213A"/>
                </a:solidFill>
                <a:latin typeface="Arial"/>
                <a:ea typeface="Malgun Gothic"/>
                <a:cs typeface="Malgun Gothic"/>
              </a:rPr>
              <a:t>로 나뉜다. 한 단계 동안 이 분포로 과제를 뽑아 학습하고, 단계가 끝나면 과제별 평균 보상을 다시 재서 LP를 갱신하고 분포를 다시 만든다. 그것이 전부다.</a:t>
            </a:r>
          </a:p>
        </p:txBody>
      </p:sp>
      <p:sp>
        <p:nvSpPr>
          <p:cNvPr id="12" name="TextBox 11"/>
          <p:cNvSpPr txBox="1"/>
          <p:nvPr/>
        </p:nvSpPr>
        <p:spPr>
          <a:xfrm>
            <a:off x="609600" y="44340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기준선 ALP와의 차이가 미묘하지만 중요하다.</a:t>
            </a:r>
            <a:r>
              <a:rPr sz="1050" b="0" i="0">
                <a:solidFill>
                  <a:srgbClr val="16213A"/>
                </a:solidFill>
                <a:latin typeface="Arial"/>
                <a:ea typeface="Malgun Gothic"/>
                <a:cs typeface="Malgun Gothic"/>
              </a:rPr>
              <a:t> ALP는 </a:t>
            </a:r>
            <a:r>
              <a:rPr sz="1050" b="0" i="1">
                <a:solidFill>
                  <a:srgbClr val="16213A"/>
                </a:solidFill>
                <a:latin typeface="Arial"/>
                <a:ea typeface="Malgun Gothic"/>
                <a:cs typeface="Malgun Gothic"/>
              </a:rPr>
              <a:t>|LP|</a:t>
            </a:r>
            <a:r>
              <a:rPr sz="1050" b="0" i="0">
                <a:solidFill>
                  <a:srgbClr val="16213A"/>
                </a:solidFill>
                <a:latin typeface="Arial"/>
                <a:ea typeface="Malgun Gothic"/>
                <a:cs typeface="Malgun Gothic"/>
              </a:rPr>
              <a:t>로 절대값을 쓴다. 그러면 </a:t>
            </a:r>
            <a:r>
              <a:rPr sz="1050" b="1" i="0">
                <a:solidFill>
                  <a:srgbClr val="16213A"/>
                </a:solidFill>
                <a:latin typeface="Arial"/>
                <a:ea typeface="Malgun Gothic"/>
                <a:cs typeface="Malgun Gothic"/>
              </a:rPr>
              <a:t>성능이 떨어지고 있는 과제</a:t>
            </a:r>
            <a:r>
              <a:rPr sz="1050" b="0" i="0">
                <a:solidFill>
                  <a:srgbClr val="16213A"/>
                </a:solidFill>
                <a:latin typeface="Arial"/>
                <a:ea typeface="Malgun Gothic"/>
                <a:cs typeface="Malgun Gothic"/>
              </a:rPr>
              <a:t>도 "변화가 크다"고 보고 더 뽑는다. LP-ACRL은 부호를 살려 </a:t>
            </a:r>
            <a:r>
              <a:rPr sz="1050" b="1" i="0">
                <a:solidFill>
                  <a:srgbClr val="16213A"/>
                </a:solidFill>
                <a:latin typeface="Arial"/>
                <a:ea typeface="Malgun Gothic"/>
                <a:cs typeface="Malgun Gothic"/>
              </a:rPr>
              <a:t>오르고 있는 쪽</a:t>
            </a:r>
            <a:r>
              <a:rPr sz="1050" b="0" i="0">
                <a:solidFill>
                  <a:srgbClr val="16213A"/>
                </a:solidFill>
                <a:latin typeface="Arial"/>
                <a:ea typeface="Malgun Gothic"/>
                <a:cs typeface="Malgun Gothic"/>
              </a:rPr>
              <a:t>만 키운다.</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F.2 LP-ACRL — 난이도 순서를 사람이 정하지 않는다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112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과제 공간을 어떻게 쪼개나.</a:t>
            </a:r>
            <a:r>
              <a:rPr sz="1050" b="0" i="0">
                <a:solidFill>
                  <a:srgbClr val="16213A"/>
                </a:solidFill>
                <a:latin typeface="Arial"/>
                <a:ea typeface="Malgun Gothic"/>
                <a:cs typeface="Malgun Gothic"/>
              </a:rPr>
              <a:t> 범주형 차원(지형 종류)은 그대로 두고, 연속형 차원(속도 명령)은 겹치지 않는 구간으로 자른다. 확장 실험의 600개는 </a:t>
            </a:r>
            <a:r>
              <a:rPr sz="1050" b="0" i="1">
                <a:solidFill>
                  <a:srgbClr val="16213A"/>
                </a:solidFill>
                <a:latin typeface="Arial"/>
                <a:ea typeface="Malgun Gothic"/>
                <a:cs typeface="Malgun Gothic"/>
              </a:rPr>
              <a:t>|vₓ| ∈ [0, 2.5]</a:t>
            </a:r>
            <a:r>
              <a:rPr sz="1050" b="0" i="0">
                <a:solidFill>
                  <a:srgbClr val="16213A"/>
                </a:solidFill>
                <a:latin typeface="Arial"/>
                <a:ea typeface="Malgun Gothic"/>
                <a:cs typeface="Malgun Gothic"/>
              </a:rPr>
              <a:t> m/s를 5구간, </a:t>
            </a:r>
            <a:r>
              <a:rPr sz="1050" b="0" i="1">
                <a:solidFill>
                  <a:srgbClr val="16213A"/>
                </a:solidFill>
                <a:latin typeface="Arial"/>
                <a:ea typeface="Malgun Gothic"/>
                <a:cs typeface="Malgun Gothic"/>
              </a:rPr>
              <a:t>|ω_z| ∈ [0, 3.0]</a:t>
            </a:r>
            <a:r>
              <a:rPr sz="1050" b="0" i="0">
                <a:solidFill>
                  <a:srgbClr val="16213A"/>
                </a:solidFill>
                <a:latin typeface="Arial"/>
                <a:ea typeface="Malgun Gothic"/>
                <a:cs typeface="Malgun Gothic"/>
              </a:rPr>
              <a:t> rad/s를 6구간, 지형 5종, 지형별 난이도 4단계로 만든 곱이다.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관측과 행동.</a:t>
            </a:r>
            <a:r>
              <a:rPr sz="1050" b="0" i="0">
                <a:solidFill>
                  <a:srgbClr val="16213A"/>
                </a:solidFill>
                <a:latin typeface="Arial"/>
                <a:ea typeface="Malgun Gothic"/>
                <a:cs typeface="Malgun Gothic"/>
              </a:rPr>
              <a:t> 고유수용(기저 선속도·각속도·중력 벡터), 속도 명령, 관절 위치·속도, 직전 행동, 그리고 </a:t>
            </a:r>
            <a:r>
              <a:rPr sz="1050" b="1" i="0">
                <a:solidFill>
                  <a:srgbClr val="16213A"/>
                </a:solidFill>
                <a:latin typeface="Arial"/>
                <a:ea typeface="Malgun Gothic"/>
                <a:cs typeface="Malgun Gothic"/>
              </a:rPr>
              <a:t>지형 높이 격자 275개</a:t>
            </a:r>
            <a:r>
              <a:rPr sz="1050" b="0" i="0">
                <a:solidFill>
                  <a:srgbClr val="16213A"/>
                </a:solidFill>
                <a:latin typeface="Arial"/>
                <a:ea typeface="Malgun Gothic"/>
                <a:cs typeface="Malgun Gothic"/>
              </a:rPr>
              <a:t>(로봇 기준 2.4 m × 1.0 m, 해상도 0.1 m → 25 × 11)가 관측이고, 행동은 관절 위치 목표 12개다. 높이 격자를 관측으로 받는다는 점이 travplan의 TravMap과 같은 구조다. (논문 본문은 같은 격자를 "108개"라고 적지만, 표와 격자 크기는 275로 맞는다.)</a:t>
            </a:r>
          </a:p>
        </p:txBody>
      </p:sp>
      <p:sp>
        <p:nvSpPr>
          <p:cNvPr id="7" name="TextBox 6"/>
          <p:cNvSpPr txBox="1"/>
          <p:nvPr/>
        </p:nvSpPr>
        <p:spPr>
          <a:xfrm>
            <a:off x="609600" y="22883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보상은 표준 로코모션 구성이다.</a:t>
            </a:r>
            <a:r>
              <a:rPr sz="1050" b="0" i="0">
                <a:solidFill>
                  <a:srgbClr val="16213A"/>
                </a:solidFill>
                <a:latin typeface="Arial"/>
                <a:ea typeface="Malgun Gothic"/>
                <a:cs typeface="Malgun Gothic"/>
              </a:rPr>
              <a:t> 선속도·각속도 추종에 </a:t>
            </a:r>
            <a:r>
              <a:rPr sz="1050" b="0" i="1">
                <a:solidFill>
                  <a:srgbClr val="16213A"/>
                </a:solidFill>
                <a:latin typeface="Arial"/>
                <a:ea typeface="Malgun Gothic"/>
                <a:cs typeface="Malgun Gothic"/>
              </a:rPr>
              <a:t>φ(x) = exp(-‖ x ‖² / 0.25)</a:t>
            </a:r>
            <a:r>
              <a:rPr sz="1050" b="0" i="0">
                <a:solidFill>
                  <a:srgbClr val="16213A"/>
                </a:solidFill>
                <a:latin typeface="Arial"/>
                <a:ea typeface="Malgun Gothic"/>
                <a:cs typeface="Malgun Gothic"/>
              </a:rPr>
              <a:t>를 쓰고, 수직 속도·자세 각속도·관절 가속·토크·행동 변화율·충돌에 벌점을 주며, 발이 공중에 머문 시간에 보상을 준다. </a:t>
            </a:r>
            <a:r>
              <a:rPr sz="1050" b="1" i="0">
                <a:solidFill>
                  <a:srgbClr val="C2410C"/>
                </a:solidFill>
                <a:latin typeface="Arial"/>
                <a:ea typeface="Malgun Gothic"/>
                <a:cs typeface="Malgun Gothic"/>
              </a:rPr>
              <a:t>LP-ACRL은 보상을 바꾸지 않는다. 바꾸는 것은 </a:t>
            </a:r>
            <a:r>
              <a:rPr sz="1050" b="1" i="0">
                <a:solidFill>
                  <a:srgbClr val="C2410C"/>
                </a:solidFill>
                <a:latin typeface="Arial"/>
                <a:ea typeface="Malgun Gothic"/>
                <a:cs typeface="Malgun Gothic"/>
              </a:rPr>
              <a:t>어떤 과제를 얼마나 자주 보여줄지</a:t>
            </a:r>
            <a:r>
              <a:rPr sz="1050" b="1" i="0">
                <a:solidFill>
                  <a:srgbClr val="C2410C"/>
                </a:solidFill>
                <a:latin typeface="Arial"/>
                <a:ea typeface="Malgun Gothic"/>
                <a:cs typeface="Malgun Gothic"/>
              </a:rPr>
              <a:t>뿐이다.</a:t>
            </a:r>
          </a:p>
        </p:txBody>
      </p:sp>
      <p:sp>
        <p:nvSpPr>
          <p:cNvPr id="8" name="TextBox 7"/>
          <p:cNvSpPr txBox="1"/>
          <p:nvPr/>
        </p:nvSpPr>
        <p:spPr>
          <a:xfrm>
            <a:off x="609600" y="281027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비교한 기준선 다섯.</a:t>
            </a:r>
            <a:r>
              <a:rPr sz="1050" b="0" i="0">
                <a:solidFill>
                  <a:srgbClr val="16213A"/>
                </a:solidFill>
                <a:latin typeface="Arial"/>
                <a:ea typeface="Malgun Gothic"/>
                <a:cs typeface="Malgun Gothic"/>
              </a:rPr>
              <a:t> 절대 학습 진척(ALP, 부호를 버리고 크기만 쓴다), Prioritized Level Replay(GAE 기반 예측 오차로 고른다), 저보상 우선(보상이 낮은 과제를 더 뽑는다), 손으로 짠 커리큘럼(속도 범위를 sigmoid로 넓힌다), 그리고 균등 표집이다. </a:t>
            </a:r>
            <a:r>
              <a:rPr sz="1050" b="1" i="0">
                <a:solidFill>
                  <a:srgbClr val="C2410C"/>
                </a:solidFill>
                <a:latin typeface="Arial"/>
                <a:ea typeface="Malgun Gothic"/>
                <a:cs typeface="Malgun Gothic"/>
              </a:rPr>
              <a:t>travplan이 지금 쓰는 방식이 마지막 것이다.</a:t>
            </a:r>
          </a:p>
        </p:txBody>
      </p:sp>
      <p:sp>
        <p:nvSpPr>
          <p:cNvPr id="9" name="TextBox 8"/>
          <p:cNvSpPr txBox="1"/>
          <p:nvPr/>
        </p:nvSpPr>
        <p:spPr>
          <a:xfrm>
            <a:off x="609600" y="333216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실물에는 증류한 학생 정책을 올린다.</a:t>
            </a:r>
            <a:r>
              <a:rPr sz="1050" b="0" i="0">
                <a:solidFill>
                  <a:srgbClr val="16213A"/>
                </a:solidFill>
                <a:latin typeface="Arial"/>
                <a:ea typeface="Malgun Gothic"/>
                <a:cs typeface="Malgun Gothic"/>
              </a:rPr>
              <a:t> 실제 로봇의 높이 격자는 </a:t>
            </a:r>
            <a:r>
              <a:rPr sz="1050" b="1" i="0">
                <a:solidFill>
                  <a:srgbClr val="16213A"/>
                </a:solidFill>
                <a:latin typeface="Arial"/>
                <a:ea typeface="Malgun Gothic"/>
                <a:cs typeface="Malgun Gothic"/>
              </a:rPr>
              <a:t>elevation mapping</a:t>
            </a:r>
            <a:r>
              <a:rPr sz="1050" b="0" i="0">
                <a:solidFill>
                  <a:srgbClr val="16213A"/>
                </a:solidFill>
                <a:latin typeface="Arial"/>
                <a:ea typeface="Malgun Gothic"/>
                <a:cs typeface="Malgun Gothic"/>
              </a:rPr>
              <a:t>으로 만드는데 속도가 붙으면 잡음이 커진다. 그래서 교사(LP-ACRL로 학습) → 학생(LSTM + MLP) 증류로 시간 정보를 쓰게 해 잡음에 견디게 했다. </a:t>
            </a:r>
            <a:r>
              <a:rPr sz="1050" b="1" i="0">
                <a:solidFill>
                  <a:srgbClr val="C2410C"/>
                </a:solidFill>
                <a:latin typeface="Arial"/>
                <a:ea typeface="Malgun Gothic"/>
                <a:cs typeface="Malgun Gothic"/>
              </a:rPr>
              <a:t>travplan의 L1이 쓰는 것이 같은 elevation mapping이고, Planner D가 L1 belief에서 떨어지는 것이 TP-0055다.</a:t>
            </a:r>
            <a:r>
              <a:rPr sz="1050" b="0" i="0">
                <a:solidFill>
                  <a:srgbClr val="16213A"/>
                </a:solidFill>
                <a:latin typeface="Arial"/>
                <a:ea typeface="Malgun Gothic"/>
                <a:cs typeface="Malgun Gothic"/>
              </a:rPr>
              <a:t> 같은 처방(특권 교사 → 시간 정보를 쓰는 학생)이 그 자리에 그대로 온다.</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F.3 travplan에 주는 것 — 지금 바로 걸리는 자리가 있다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113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travplan은 지금 지형 난이도 레벨을 </a:t>
            </a:r>
            <a:r>
              <a:rPr sz="1050" b="1" i="0">
                <a:solidFill>
                  <a:srgbClr val="C2410C"/>
                </a:solidFill>
                <a:latin typeface="Arial"/>
                <a:ea typeface="Malgun Gothic"/>
                <a:cs typeface="Malgun Gothic"/>
              </a:rPr>
              <a:t>무작위로</a:t>
            </a:r>
            <a:r>
              <a:rPr sz="1050" b="1" i="0">
                <a:solidFill>
                  <a:srgbClr val="C2410C"/>
                </a:solidFill>
                <a:latin typeface="Arial"/>
                <a:ea typeface="Malgun Gothic"/>
                <a:cs typeface="Malgun Gothic"/>
              </a:rPr>
              <a:t> 뽑고, 레벨 3에서 실패하고 있다.</a:t>
            </a:r>
            <a:r>
              <a:rPr sz="1050" b="0" i="0">
                <a:solidFill>
                  <a:srgbClr val="16213A"/>
                </a:solidFill>
                <a:latin typeface="Arial"/>
                <a:ea typeface="Malgun Gothic"/>
                <a:cs typeface="Malgun Gothic"/>
              </a:rPr>
              <a:t> 열린 작업 둘이 정확히 그 자리다.</a:t>
            </a:r>
          </a:p>
        </p:txBody>
      </p:sp>
      <p:graphicFrame>
        <p:nvGraphicFramePr>
          <p:cNvPr id="6" name="Table 5"/>
          <p:cNvGraphicFramePr>
            <a:graphicFrameLocks noGrp="1"/>
          </p:cNvGraphicFramePr>
          <p:nvPr/>
        </p:nvGraphicFramePr>
        <p:xfrm>
          <a:off x="609600" y="1549995"/>
          <a:ext cx="10966450" cy="985440"/>
        </p:xfrm>
        <a:graphic>
          <a:graphicData uri="http://schemas.openxmlformats.org/drawingml/2006/table">
            <a:tbl>
              <a:tblPr firstRow="1" bandRow="1">
                <a:tableStyleId>{5C22544A-7EE6-4342-B048-85BDC9FD1C3A}</a:tableStyleId>
              </a:tblPr>
              <a:tblGrid>
                <a:gridCol w="2798068"/>
                <a:gridCol w="2367558"/>
                <a:gridCol w="5800824"/>
              </a:tblGrid>
              <a:tr h="197088">
                <a:tc>
                  <a:txBody>
                    <a:bodyPr wrap="square"/>
                    <a:lstStyle/>
                    <a:p>
                      <a:r>
                        <a:rPr sz="800" b="1" i="0">
                          <a:solidFill>
                            <a:srgbClr val="F4F1EA"/>
                          </a:solidFill>
                          <a:latin typeface="Arial"/>
                          <a:ea typeface="Malgun Gothic"/>
                          <a:cs typeface="Malgun Gothic"/>
                        </a:rPr>
                        <a:t>travplan</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지금 하는 방식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LP-ACRL의 답</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TP-0039 지형 난이도 레벨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레벨을 인자로 고정하거나 무작위</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진척이 큰 레벨을 더 뽑는다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TP-0073 시연 수집 </a:t>
                      </a:r>
                      <a:r>
                        <a:rPr sz="800" b="0" i="0">
                          <a:solidFill>
                            <a:srgbClr val="16213A"/>
                          </a:solidFill>
                          <a:latin typeface="Consolas"/>
                          <a:ea typeface="Malgun Gothic"/>
                          <a:cs typeface="Malgun Gothic"/>
                        </a:rPr>
                        <a:t>--levels</a:t>
                      </a:r>
                      <a:r>
                        <a:rPr sz="800" b="0" i="0">
                          <a:solidFill>
                            <a:srgbClr val="16213A"/>
                          </a:solidFill>
                          <a:latin typeface="Arial"/>
                          <a:ea typeface="Malgun Gothic"/>
                          <a:cs typeface="Malgun Gothic"/>
                        </a:rPr>
                        <a:t> 무작위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균등 표집</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균등 표집은 LP-ACRL의 기준선 중 하나다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TP-0050 레벨 3 실패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원인 진단 중(생성기의 치명 샘플)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진척이 0인 과제는 표집이 저절로 줄어 </a:t>
                      </a:r>
                      <a:r>
                        <a:rPr sz="800" b="1" i="0">
                          <a:solidFill>
                            <a:srgbClr val="16213A"/>
                          </a:solidFill>
                          <a:latin typeface="Arial"/>
                          <a:ea typeface="Malgun Gothic"/>
                          <a:cs typeface="Malgun Gothic"/>
                        </a:rPr>
                        <a:t>다른 과제를 갉아먹지 않는다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TP-0066 Planner D RL 후학습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시나리오·seed 균등</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과제 공간이 (시나리오 × 레벨 × 보행자)로 다차원이라 순서를 매길 수 없다 — 같은 문제</a:t>
                      </a:r>
                    </a:p>
                  </a:txBody>
                  <a:tcPr marL="63500" marR="63500" marT="12700" marB="12700">
                    <a:solidFill>
                      <a:srgbClr val="F3F0E8"/>
                    </a:solidFill>
                  </a:tcPr>
                </a:tc>
              </a:tr>
            </a:tbl>
          </a:graphicData>
        </a:graphic>
      </p:graphicFrame>
      <p:sp>
        <p:nvSpPr>
          <p:cNvPr id="7" name="TextBox 6"/>
          <p:cNvSpPr txBox="1"/>
          <p:nvPr/>
        </p:nvSpPr>
        <p:spPr>
          <a:xfrm>
            <a:off x="609600" y="287704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옮길 때 조심할 것 둘.</a:t>
            </a:r>
            <a:r>
              <a:rPr sz="1050" b="0" i="0">
                <a:solidFill>
                  <a:srgbClr val="16213A"/>
                </a:solidFill>
                <a:latin typeface="Arial"/>
                <a:ea typeface="Malgun Gothic"/>
                <a:cs typeface="Malgun Gothic"/>
              </a:rPr>
              <a:t> 첫째, LP는 </a:t>
            </a:r>
            <a:r>
              <a:rPr sz="1050" b="1" i="0">
                <a:solidFill>
                  <a:srgbClr val="16213A"/>
                </a:solidFill>
                <a:latin typeface="Arial"/>
                <a:ea typeface="Malgun Gothic"/>
                <a:cs typeface="Malgun Gothic"/>
              </a:rPr>
              <a:t>보상의 차이</a:t>
            </a:r>
            <a:r>
              <a:rPr sz="1050" b="0" i="0">
                <a:solidFill>
                  <a:srgbClr val="16213A"/>
                </a:solidFill>
                <a:latin typeface="Arial"/>
                <a:ea typeface="Malgun Gothic"/>
                <a:cs typeface="Malgun Gothic"/>
              </a:rPr>
              <a:t>라 보상이 잡음이 크면 진척 추정도 흔들린다. travplan의 폐루프 지표는 성공/실패가 이산적이라(12/12) 그대로 쓰기 어렵고, GT cost나 진행 거리 같은 연속 지표를 보상으로 써야 한다. 둘째, 진척이 큰 과제를 더 뽑으면 </a:t>
            </a:r>
            <a:r>
              <a:rPr sz="1050" b="1" i="0">
                <a:solidFill>
                  <a:srgbClr val="16213A"/>
                </a:solidFill>
                <a:latin typeface="Arial"/>
                <a:ea typeface="Malgun Gothic"/>
                <a:cs typeface="Malgun Gothic"/>
              </a:rPr>
              <a:t>이미 푼 과제를 잊는다</a:t>
            </a:r>
            <a:r>
              <a:rPr sz="1050" b="0" i="0">
                <a:solidFill>
                  <a:srgbClr val="16213A"/>
                </a:solidFill>
                <a:latin typeface="Arial"/>
                <a:ea typeface="Malgun Gothic"/>
                <a:cs typeface="Malgun Gothic"/>
              </a:rPr>
              <a:t>. 위 논문은 학습 단계를 나눠 다시 재는 것으로 다루는데, travplan처럼 과제 수가 적으면 균등 표집을 일부 섞는 편이 간단하다.</a:t>
            </a:r>
          </a:p>
        </p:txBody>
      </p:sp>
      <p:sp>
        <p:nvSpPr>
          <p:cNvPr id="8" name="TextBox 7"/>
          <p:cNvSpPr txBox="1"/>
          <p:nvPr/>
        </p:nvSpPr>
        <p:spPr>
          <a:xfrm>
            <a:off x="609600" y="361543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하나 더 있다 — TP-0055.</a:t>
            </a:r>
            <a:r>
              <a:rPr sz="1050" b="0" i="0">
                <a:solidFill>
                  <a:srgbClr val="16213A"/>
                </a:solidFill>
                <a:latin typeface="Arial"/>
                <a:ea typeface="Malgun Gothic"/>
                <a:cs typeface="Malgun Gothic"/>
              </a:rPr>
              <a:t> 이 논문이 실물 배포에서 겪은 문제가 travplan의 L1 문제와 같다. 높이 격자를 elevation mapping으로 만들면 잡음이 끼고, 그 위에서 정책이 흔들린다. 논문의 답은 </a:t>
            </a:r>
            <a:r>
              <a:rPr sz="1050" b="1" i="0">
                <a:solidFill>
                  <a:srgbClr val="16213A"/>
                </a:solidFill>
                <a:latin typeface="Arial"/>
                <a:ea typeface="Malgun Gothic"/>
                <a:cs typeface="Malgun Gothic"/>
              </a:rPr>
              <a:t>특권 교사 → LSTM 학생 증류</a:t>
            </a:r>
            <a:r>
              <a:rPr sz="1050" b="0" i="0">
                <a:solidFill>
                  <a:srgbClr val="16213A"/>
                </a:solidFill>
                <a:latin typeface="Arial"/>
                <a:ea typeface="Malgun Gothic"/>
                <a:cs typeface="Malgun Gothic"/>
              </a:rPr>
              <a:t>다. travplan의 Planner D는 L0에서 39–40/40이고, L1 belief에서 35/40이다(TP-0098 뒤). 매퍼 상한과 깊이 prior를 켜면 38/40이다. 남은 격차에 같은 처방(TP-0055)을 쓸 자리다.</a:t>
            </a:r>
          </a:p>
        </p:txBody>
      </p:sp>
      <p:sp>
        <p:nvSpPr>
          <p:cNvPr id="9" name="TextBox 8"/>
          <p:cNvSpPr txBox="1"/>
          <p:nvPr/>
        </p:nvSpPr>
        <p:spPr>
          <a:xfrm>
            <a:off x="609600" y="4353818"/>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그 아래 층 자체는 아직 travplan의 범위가 아니다.</a:t>
            </a:r>
            <a:r>
              <a:rPr sz="1050" b="0" i="0">
                <a:solidFill>
                  <a:srgbClr val="16213A"/>
                </a:solidFill>
                <a:latin typeface="Arial"/>
                <a:ea typeface="Malgun Gothic"/>
                <a:cs typeface="Malgun Gothic"/>
              </a:rPr>
              <a:t> 스워브 모듈은 역기구학을 모델로 풀 수 있어 관절 RL이 필요 없다 (모듈 모델은 </a:t>
            </a:r>
            <a:r>
              <a:rPr sz="1050" b="0" i="0">
                <a:solidFill>
                  <a:srgbClr val="16213A"/>
                </a:solidFill>
                <a:latin typeface="Consolas"/>
                <a:ea typeface="Malgun Gothic"/>
                <a:cs typeface="Malgun Gothic"/>
              </a:rPr>
              <a:t>travplan/robot/plant.py</a:t>
            </a:r>
            <a:r>
              <a:rPr sz="1050" b="0" i="0">
                <a:solidFill>
                  <a:srgbClr val="16213A"/>
                </a:solidFill>
                <a:latin typeface="Arial"/>
                <a:ea typeface="Malgun Gothic"/>
                <a:cs typeface="Malgun Gothic"/>
              </a:rPr>
              <a:t>, 비동축은 고정점 반복 3회). 다만 액추에이터 모델은 지금도 관련이 있다 — Hwangbo의 actuator net이 Isaac Lab의 </a:t>
            </a:r>
            <a:r>
              <a:rPr sz="1050" b="0" i="0">
                <a:solidFill>
                  <a:srgbClr val="16213A"/>
                </a:solidFill>
                <a:latin typeface="Consolas"/>
                <a:ea typeface="Malgun Gothic"/>
                <a:cs typeface="Malgun Gothic"/>
              </a:rPr>
              <a:t>ActuatorNetMLP</a:t>
            </a:r>
            <a:r>
              <a:rPr sz="1050" b="0" i="0">
                <a:solidFill>
                  <a:srgbClr val="16213A"/>
                </a:solidFill>
                <a:latin typeface="Arial"/>
                <a:ea typeface="Malgun Gothic"/>
                <a:cs typeface="Malgun Gothic"/>
              </a:rPr>
              <a:t>로 이어지고, 그 파라메트릭 판이 unitree_rl_lab의 </a:t>
            </a:r>
            <a:r>
              <a:rPr sz="1050" b="0" i="0">
                <a:solidFill>
                  <a:srgbClr val="16213A"/>
                </a:solidFill>
                <a:latin typeface="Consolas"/>
                <a:ea typeface="Malgun Gothic"/>
                <a:cs typeface="Malgun Gothic"/>
              </a:rPr>
              <a:t>UnitreeActuator</a:t>
            </a:r>
            <a:r>
              <a:rPr sz="1050" b="0" i="0">
                <a:solidFill>
                  <a:srgbClr val="16213A"/>
                </a:solidFill>
                <a:latin typeface="Arial"/>
                <a:ea typeface="Malgun Gothic"/>
                <a:cs typeface="Malgun Gothic"/>
              </a:rPr>
              <a:t>다 (시뮬레이션 문서 S.5.3c). travplan의 plant가 넣은 1차 지연이 그 자리의 가장 단순한 형태다.</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F.4 무엇을 보고 걷나 — 갈래가 셋이다</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114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LP-ACRL은 </a:t>
            </a:r>
            <a:r>
              <a:rPr sz="1050" b="1" i="0">
                <a:solidFill>
                  <a:srgbClr val="16213A"/>
                </a:solidFill>
                <a:latin typeface="Arial"/>
                <a:ea typeface="Malgun Gothic"/>
                <a:cs typeface="Malgun Gothic"/>
              </a:rPr>
              <a:t>높이 격자를 본다</a:t>
            </a:r>
            <a:r>
              <a:rPr sz="1050" b="0" i="0">
                <a:solidFill>
                  <a:srgbClr val="16213A"/>
                </a:solidFill>
                <a:latin typeface="Arial"/>
                <a:ea typeface="Malgun Gothic"/>
                <a:cs typeface="Malgun Gothic"/>
              </a:rPr>
              <a:t>. 그런데 그것이 유일한 길이 아니다. 이 계열은 "정책이 무엇을 관측하는가"로 크게 셋으로 갈리고, travplan이 어느 쪽을 참고할지는 이 갈래에 달려 있다.</a:t>
            </a:r>
          </a:p>
        </p:txBody>
      </p:sp>
      <p:graphicFrame>
        <p:nvGraphicFramePr>
          <p:cNvPr id="6" name="Table 5"/>
          <p:cNvGraphicFramePr>
            <a:graphicFrameLocks noGrp="1"/>
          </p:cNvGraphicFramePr>
          <p:nvPr/>
        </p:nvGraphicFramePr>
        <p:xfrm>
          <a:off x="609600" y="1549995"/>
          <a:ext cx="10966449" cy="788352"/>
        </p:xfrm>
        <a:graphic>
          <a:graphicData uri="http://schemas.openxmlformats.org/drawingml/2006/table">
            <a:tbl>
              <a:tblPr firstRow="1" bandRow="1">
                <a:tableStyleId>{5C22544A-7EE6-4342-B048-85BDC9FD1C3A}</a:tableStyleId>
              </a:tblPr>
              <a:tblGrid>
                <a:gridCol w="1325959"/>
                <a:gridCol w="1258193"/>
                <a:gridCol w="2385318"/>
                <a:gridCol w="2932509"/>
                <a:gridCol w="3064470"/>
              </a:tblGrid>
              <a:tr h="197088">
                <a:tc>
                  <a:txBody>
                    <a:bodyPr wrap="square"/>
                    <a:lstStyle/>
                    <a:p>
                      <a:r>
                        <a:rPr sz="800" b="1" i="0">
                          <a:solidFill>
                            <a:srgbClr val="F4F1EA"/>
                          </a:solidFill>
                          <a:latin typeface="Arial"/>
                          <a:ea typeface="Malgun Gothic"/>
                          <a:cs typeface="Malgun Gothic"/>
                        </a:rPr>
                        <a:t>갈래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관측</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대표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강점</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약점</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(a) </a:t>
                      </a:r>
                      <a:r>
                        <a:rPr sz="800" b="1" i="0">
                          <a:solidFill>
                            <a:srgbClr val="16213A"/>
                          </a:solidFill>
                          <a:latin typeface="Arial"/>
                          <a:ea typeface="Malgun Gothic"/>
                          <a:cs typeface="Malgun Gothic"/>
                        </a:rPr>
                        <a:t>외수용 격자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고유수용 + 높이 지도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Miki 2022, LP-ACRL, ANYmal Parkour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지형을 미리 보고 발을 놓는다. 계단·징검다리에 강하다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지도가 틀리면 같이 틀린다. 매핑 파이프라인이 필요하다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(b) </a:t>
                      </a:r>
                      <a:r>
                        <a:rPr sz="800" b="1" i="0">
                          <a:solidFill>
                            <a:srgbClr val="16213A"/>
                          </a:solidFill>
                          <a:latin typeface="Arial"/>
                          <a:ea typeface="Malgun Gothic"/>
                          <a:cs typeface="Malgun Gothic"/>
                        </a:rPr>
                        <a:t>고유수용만(blind)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관절·IMU만</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DreamWaQ</a:t>
                      </a:r>
                      <a:r>
                        <a:rPr sz="800" b="0" i="0">
                          <a:solidFill>
                            <a:srgbClr val="16213A"/>
                          </a:solidFill>
                          <a:latin typeface="Arial"/>
                          <a:ea typeface="Malgun Gothic"/>
                          <a:cs typeface="Malgun Gothic"/>
                        </a:rPr>
                        <a:t>, DreamRiser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센서가 싸고 매핑이 없다. 지도 오류에 면역이다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앞을 못 보니 미리 대비하지 못한다. 높은 계단에서 약하다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 </a:t>
                      </a:r>
                      <a:r>
                        <a:rPr sz="800" b="1" i="0">
                          <a:solidFill>
                            <a:srgbClr val="16213A"/>
                          </a:solidFill>
                          <a:latin typeface="Arial"/>
                          <a:ea typeface="Malgun Gothic"/>
                          <a:cs typeface="Malgun Gothic"/>
                        </a:rPr>
                        <a:t>카메라 직접</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깊이 영상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Extreme Parkour(F.6.2), Robot Parkour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지도를 거치지 않아 지연이 적다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시야·조명에 약하고 학습이 무겁다</a:t>
                      </a:r>
                    </a:p>
                  </a:txBody>
                  <a:tcPr marL="63500" marR="63500" marT="12700" marB="12700">
                    <a:solidFill>
                      <a:srgbClr val="FFFDF8"/>
                    </a:solidFill>
                  </a:tcPr>
                </a:tc>
              </a:tr>
            </a:tbl>
          </a:graphicData>
        </a:graphic>
      </p:graphicFrame>
      <p:sp>
        <p:nvSpPr>
          <p:cNvPr id="7" name="TextBox 6"/>
          <p:cNvSpPr txBox="1"/>
          <p:nvPr/>
        </p:nvSpPr>
        <p:spPr>
          <a:xfrm>
            <a:off x="609600" y="2630686"/>
            <a:ext cx="10972800" cy="216495"/>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(a)와 (b)의 차이는 travplan 지형에서 직접 재 봤다</a:t>
            </a:r>
            <a:r>
              <a:rPr sz="1050" b="0" i="0">
                <a:solidFill>
                  <a:srgbClr val="16213A"/>
                </a:solidFill>
                <a:latin typeface="Arial"/>
                <a:ea typeface="Malgun Gothic"/>
                <a:cs typeface="Malgun Gothic"/>
              </a:rPr>
              <a:t> — 결과와 수치는 작업 기록 E.12(TP-0129)에 있다.</a:t>
            </a:r>
          </a:p>
        </p:txBody>
      </p:sp>
      <p:sp>
        <p:nvSpPr>
          <p:cNvPr id="8" name="TextBox 7"/>
          <p:cNvSpPr txBox="1"/>
          <p:nvPr/>
        </p:nvSpPr>
        <p:spPr>
          <a:xfrm>
            <a:off x="609600" y="2936081"/>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(b) DreamWaQ — 지형을 "상상"한다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arXiv:2301.10602</a:t>
            </a:r>
            <a:r>
              <a:rPr sz="1050" b="0" i="0">
                <a:solidFill>
                  <a:srgbClr val="16213A"/>
                </a:solidFill>
                <a:latin typeface="Arial"/>
                <a:ea typeface="Malgun Gothic"/>
                <a:cs typeface="Malgun Gothic"/>
              </a:rPr>
              <a:t>, ICRA 2023, KAIST </a:t>
            </a:r>
            <a:r>
              <a:rPr sz="1050" b="1" i="0">
                <a:solidFill>
                  <a:srgbClr val="16213A"/>
                </a:solidFill>
                <a:latin typeface="Arial"/>
                <a:ea typeface="Malgun Gothic"/>
                <a:cs typeface="Malgun Gothic"/>
              </a:rPr>
              <a:t>Urban Robotics Lab</a:t>
            </a:r>
            <a:r>
              <a:rPr sz="1050" b="0" i="0">
                <a:solidFill>
                  <a:srgbClr val="16213A"/>
                </a:solidFill>
                <a:latin typeface="Arial"/>
                <a:ea typeface="Malgun Gothic"/>
                <a:cs typeface="Malgun Gothic"/>
              </a:rPr>
              <a:t>, Nahrendra·Yu·Myung). </a:t>
            </a:r>
            <a:r>
              <a:rPr sz="1050" b="1" i="0">
                <a:solidFill>
                  <a:srgbClr val="C2410C"/>
                </a:solidFill>
                <a:latin typeface="Arial"/>
                <a:ea typeface="Malgun Gothic"/>
                <a:cs typeface="Malgun Gothic"/>
              </a:rPr>
              <a:t>이 한 편이 </a:t>
            </a:r>
            <a:r>
              <a:rPr sz="1050" b="1" i="0">
                <a:solidFill>
                  <a:srgbClr val="C2410C"/>
                </a:solidFill>
                <a:latin typeface="Arial"/>
                <a:ea typeface="Malgun Gothic"/>
                <a:cs typeface="Malgun Gothic"/>
              </a:rPr>
              <a:t>Dream* 계열 다섯 편의 줄기</a:t>
            </a:r>
            <a:r>
              <a:rPr sz="1050" b="1" i="0">
                <a:solidFill>
                  <a:srgbClr val="C2410C"/>
                </a:solidFill>
                <a:latin typeface="Arial"/>
                <a:ea typeface="Malgun Gothic"/>
                <a:cs typeface="Malgun Gothic"/>
              </a:rPr>
              <a:t>다</a:t>
            </a:r>
            <a:r>
              <a:rPr sz="1050" b="0" i="0">
                <a:solidFill>
                  <a:srgbClr val="16213A"/>
                </a:solidFill>
                <a:latin typeface="Arial"/>
                <a:ea typeface="Malgun Gothic"/>
                <a:cs typeface="Malgun Gothic"/>
              </a:rPr>
              <a:t>(아래 상자). </a:t>
            </a:r>
            <a:r>
              <a:rPr sz="1050" b="1" i="0">
                <a:solidFill>
                  <a:srgbClr val="C2410C"/>
                </a:solidFill>
                <a:latin typeface="Arial"/>
                <a:ea typeface="Malgun Gothic"/>
                <a:cs typeface="Malgun Gothic"/>
              </a:rPr>
              <a:t>외수용 센서 없이 고유수용만으로 주변 지형을 암묵적으로 추정한다.</a:t>
            </a:r>
            <a:r>
              <a:rPr sz="1050" b="0" i="0">
                <a:solidFill>
                  <a:srgbClr val="16213A"/>
                </a:solidFill>
                <a:latin typeface="Arial"/>
                <a:ea typeface="Malgun Gothic"/>
                <a:cs typeface="Malgun Gothic"/>
              </a:rPr>
              <a:t> 문맥 보조 추정기(CENet)가 관절 이력에서 지형·동역학 문맥을 잠재 벡터로 뽑고, 정책은 그 잠재 벡터를 조건으로 받는다. E.2의 RMA와 같은 뼈대인데 대상이 "환경 파라미터"가 아니라 </a:t>
            </a:r>
            <a:r>
              <a:rPr sz="1050" b="1" i="0">
                <a:solidFill>
                  <a:srgbClr val="16213A"/>
                </a:solidFill>
                <a:latin typeface="Arial"/>
                <a:ea typeface="Malgun Gothic"/>
                <a:cs typeface="Malgun Gothic"/>
              </a:rPr>
              <a:t>지형</a:t>
            </a:r>
            <a:r>
              <a:rPr sz="1050" b="0" i="0">
                <a:solidFill>
                  <a:srgbClr val="16213A"/>
                </a:solidFill>
                <a:latin typeface="Arial"/>
                <a:ea typeface="Malgun Gothic"/>
                <a:cs typeface="Malgun Gothic"/>
              </a:rPr>
              <a:t>이다. ICRA 2023 자율 사족보행 대회에서 1위였고, 경사 36°·고도차 22 m의 실외 장거리 주행을 보였다. ⚠️ </a:t>
            </a:r>
            <a:r>
              <a:rPr sz="1050" b="1" i="0">
                <a:solidFill>
                  <a:srgbClr val="16213A"/>
                </a:solidFill>
                <a:latin typeface="Arial"/>
                <a:ea typeface="Malgun Gothic"/>
                <a:cs typeface="Malgun Gothic"/>
              </a:rPr>
              <a:t>정정(2026-10-02)</a:t>
            </a:r>
            <a:r>
              <a:rPr sz="1050" b="0" i="0">
                <a:solidFill>
                  <a:srgbClr val="16213A"/>
                </a:solidFill>
                <a:latin typeface="Arial"/>
                <a:ea typeface="Malgun Gothic"/>
                <a:cs typeface="Malgun Gothic"/>
              </a:rPr>
              <a:t>: 처음에는 "보상 함수를 다시 맞추지 않고도 다른 4족 로봇으로 옮겨진다"고 적었는데 </a:t>
            </a:r>
            <a:r>
              <a:rPr sz="1050" b="1" i="0">
                <a:solidFill>
                  <a:srgbClr val="C2410C"/>
                </a:solidFill>
                <a:latin typeface="Arial"/>
                <a:ea typeface="Malgun Gothic"/>
                <a:cs typeface="Malgun Gothic"/>
              </a:rPr>
              <a:t>그것은 </a:t>
            </a:r>
            <a:r>
              <a:rPr sz="1050" b="1" i="0">
                <a:solidFill>
                  <a:srgbClr val="C2410C"/>
                </a:solidFill>
                <a:latin typeface="Arial"/>
                <a:ea typeface="Malgun Gothic"/>
                <a:cs typeface="Malgun Gothic"/>
              </a:rPr>
              <a:t>논문 본문에 없는 주장</a:t>
            </a:r>
            <a:r>
              <a:rPr sz="1050" b="1" i="0">
                <a:solidFill>
                  <a:srgbClr val="C2410C"/>
                </a:solidFill>
                <a:latin typeface="Arial"/>
                <a:ea typeface="Malgun Gothic"/>
                <a:cs typeface="Malgun Gothic"/>
              </a:rPr>
              <a:t>이다.</a:t>
            </a:r>
            <a:r>
              <a:rPr sz="1050" b="0" i="0">
                <a:solidFill>
                  <a:srgbClr val="16213A"/>
                </a:solidFill>
                <a:latin typeface="Arial"/>
                <a:ea typeface="Malgun Gothic"/>
                <a:cs typeface="Malgun Gothic"/>
              </a:rPr>
              <a:t> ⚠️ </a:t>
            </a:r>
            <a:r>
              <a:rPr sz="1050" b="1" i="0">
                <a:solidFill>
                  <a:srgbClr val="16213A"/>
                </a:solidFill>
                <a:latin typeface="Arial"/>
                <a:ea typeface="Malgun Gothic"/>
                <a:cs typeface="Malgun Gothic"/>
              </a:rPr>
              <a:t>보완(2026-10-06)</a:t>
            </a:r>
            <a:r>
              <a:rPr sz="1050" b="0" i="0">
                <a:solidFill>
                  <a:srgbClr val="16213A"/>
                </a:solidFill>
                <a:latin typeface="Arial"/>
                <a:ea typeface="Malgun Gothic"/>
                <a:cs typeface="Malgun Gothic"/>
              </a:rPr>
              <a:t>: 출처는 다른 논문이 아니라 DreamWaQ 프로젝트 페이지의 Scalability 절이다. 논문 속 DreamWaQ는 Unitree A1 </a:t>
            </a:r>
            <a:r>
              <a:rPr sz="1050" b="1" i="0">
                <a:solidFill>
                  <a:srgbClr val="16213A"/>
                </a:solidFill>
                <a:latin typeface="Arial"/>
                <a:ea typeface="Malgun Gothic"/>
                <a:cs typeface="Malgun Gothic"/>
              </a:rPr>
              <a:t>한 대</a:t>
            </a:r>
            <a:r>
              <a:rPr sz="1050" b="0" i="0">
                <a:solidFill>
                  <a:srgbClr val="16213A"/>
                </a:solidFill>
                <a:latin typeface="Arial"/>
                <a:ea typeface="Malgun Gothic"/>
                <a:cs typeface="Malgun Gothic"/>
              </a:rPr>
              <a:t>에서만 돌고, 새로움으로 내세우는 것은 단일 플랫폼에서의 blind 보행이다. </a:t>
            </a:r>
            <a:r>
              <a:rPr sz="1050" b="1" i="0">
                <a:solidFill>
                  <a:srgbClr val="C2410C"/>
                </a:solidFill>
                <a:latin typeface="Arial"/>
                <a:ea typeface="Malgun Gothic"/>
                <a:cs typeface="Malgun Gothic"/>
              </a:rPr>
              <a:t>고도차 22 m는 논문 본문에 있고(§III-G </a:t>
            </a:r>
            <a:r>
              <a:rPr sz="1050" b="1" i="1">
                <a:solidFill>
                  <a:srgbClr val="C2410C"/>
                </a:solidFill>
                <a:latin typeface="Arial"/>
                <a:ea typeface="Malgun Gothic"/>
                <a:cs typeface="Malgun Gothic"/>
              </a:rPr>
              <a:t>"Course B was an on-campus hill with an elevation gain of up to 22 m"</a:t>
            </a:r>
            <a:r>
              <a:rPr sz="1050" b="1" i="0">
                <a:solidFill>
                  <a:srgbClr val="C2410C"/>
                </a:solidFill>
                <a:latin typeface="Arial"/>
                <a:ea typeface="Malgun Gothic"/>
                <a:cs typeface="Malgun Gothic"/>
              </a:rPr>
              <a:t>), </a:t>
            </a:r>
            <a:r>
              <a:rPr sz="1050" b="1" i="0">
                <a:solidFill>
                  <a:srgbClr val="C2410C"/>
                </a:solidFill>
                <a:latin typeface="Arial"/>
                <a:ea typeface="Malgun Gothic"/>
                <a:cs typeface="Malgun Gothic"/>
              </a:rPr>
              <a:t>경사 36°만 본문 밖</a:t>
            </a:r>
            <a:r>
              <a:rPr sz="1050" b="1" i="0">
                <a:solidFill>
                  <a:srgbClr val="C2410C"/>
                </a:solidFill>
                <a:latin typeface="Arial"/>
                <a:ea typeface="Malgun Gothic"/>
                <a:cs typeface="Malgun Gothic"/>
              </a:rPr>
              <a:t>이다</a:t>
            </a:r>
            <a:r>
              <a:rPr sz="1050" b="0" i="0">
                <a:solidFill>
                  <a:srgbClr val="16213A"/>
                </a:solidFill>
                <a:latin typeface="Arial"/>
                <a:ea typeface="Malgun Gothic"/>
                <a:cs typeface="Malgun Gothic"/>
              </a:rPr>
              <a:t> — 둘을 묶어 프로젝트 자료로 돌린 것은 과한 정정이었다(2026-10-02 재확인).</a:t>
            </a:r>
          </a:p>
        </p:txBody>
      </p:sp>
      <p:sp>
        <p:nvSpPr>
          <p:cNvPr id="9" name="TextBox 8"/>
          <p:cNvSpPr txBox="1"/>
          <p:nvPr/>
        </p:nvSpPr>
        <p:spPr>
          <a:xfrm>
            <a:off x="609600" y="4323953"/>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복구 동작 — 넘어진 뒤 일어나는 것도 같은 방식으로</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arXiv:2306.12712</a:t>
            </a:r>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RSS 2023 워크숍</a:t>
            </a:r>
            <a:r>
              <a:rPr sz="1050" b="0" i="0">
                <a:solidFill>
                  <a:srgbClr val="16213A"/>
                </a:solidFill>
                <a:latin typeface="Arial"/>
                <a:ea typeface="Malgun Gothic"/>
                <a:cs typeface="Malgun Gothic"/>
              </a:rPr>
              <a:t>, KAIST). travplan이 이것을 "DreamRiser"라 불러 왔는데, 그 이름은 </a:t>
            </a:r>
            <a:r>
              <a:rPr sz="1050" b="1" i="0">
                <a:solidFill>
                  <a:srgbClr val="C2410C"/>
                </a:solidFill>
                <a:latin typeface="Arial"/>
                <a:ea typeface="Malgun Gothic"/>
                <a:cs typeface="Malgun Gothic"/>
              </a:rPr>
              <a:t>논문 제목에는 없고 저자들의 프로젝트 페이지가 쓰는 통칭</a:t>
            </a:r>
            <a:r>
              <a:rPr sz="1050" b="0" i="0">
                <a:solidFill>
                  <a:srgbClr val="16213A"/>
                </a:solidFill>
                <a:latin typeface="Arial"/>
                <a:ea typeface="Malgun Gothic"/>
                <a:cs typeface="Malgun Gothic"/>
              </a:rPr>
              <a:t>이다(</a:t>
            </a:r>
            <a:r>
              <a:rPr sz="1050" b="0" i="0">
                <a:solidFill>
                  <a:srgbClr val="1D4ED8"/>
                </a:solidFill>
                <a:latin typeface="Arial"/>
                <a:ea typeface="Malgun Gothic"/>
                <a:cs typeface="Malgun Gothic"/>
                <a:hlinkClick r:id="rId5"/>
              </a:rPr>
              <a:t>sites.google.com/view/dreamriser</a:t>
            </a:r>
            <a:r>
              <a:rPr sz="1050" b="0" i="0">
                <a:solidFill>
                  <a:srgbClr val="16213A"/>
                </a:solidFill>
                <a:latin typeface="Arial"/>
                <a:ea typeface="Malgun Gothic"/>
                <a:cs typeface="Malgun Gothic"/>
              </a:rPr>
              <a:t>). 정식 제목은 </a:t>
            </a:r>
            <a:r>
              <a:rPr sz="1050" b="0" i="1">
                <a:solidFill>
                  <a:srgbClr val="16213A"/>
                </a:solidFill>
                <a:latin typeface="Arial"/>
                <a:ea typeface="Malgun Gothic"/>
                <a:cs typeface="Malgun Gothic"/>
              </a:rPr>
              <a:t>Robust Recovery Motion Control for Quadrupedal Robots via Learned Terrain Imagination</a:t>
            </a:r>
            <a:r>
              <a:rPr sz="1050" b="0" i="0">
                <a:solidFill>
                  <a:srgbClr val="16213A"/>
                </a:solidFill>
                <a:latin typeface="Arial"/>
                <a:ea typeface="Malgun Gothic"/>
                <a:cs typeface="Malgun Gothic"/>
              </a:rPr>
              <a:t>이고, ⚠️ </a:t>
            </a:r>
            <a:r>
              <a:rPr sz="1050" b="1" i="0">
                <a:solidFill>
                  <a:srgbClr val="C2410C"/>
                </a:solidFill>
                <a:latin typeface="Arial"/>
                <a:ea typeface="Malgun Gothic"/>
                <a:cs typeface="Malgun Gothic"/>
              </a:rPr>
              <a:t>정규 학회 논문이 아니라 </a:t>
            </a:r>
            <a:r>
              <a:rPr sz="1050" b="1" i="0">
                <a:solidFill>
                  <a:srgbClr val="C2410C"/>
                </a:solidFill>
                <a:latin typeface="Arial"/>
                <a:ea typeface="Malgun Gothic"/>
                <a:cs typeface="Malgun Gothic"/>
              </a:rPr>
              <a:t>RSS 2023 워크숍 논문</a:t>
            </a:r>
            <a:r>
              <a:rPr sz="1050" b="1" i="0">
                <a:solidFill>
                  <a:srgbClr val="C2410C"/>
                </a:solidFill>
                <a:latin typeface="Arial"/>
                <a:ea typeface="Malgun Gothic"/>
                <a:cs typeface="Malgun Gothic"/>
              </a:rPr>
              <a:t>이다</a:t>
            </a:r>
            <a:r>
              <a:rPr sz="1050" b="0" i="0">
                <a:solidFill>
                  <a:srgbClr val="16213A"/>
                </a:solidFill>
                <a:latin typeface="Arial"/>
                <a:ea typeface="Malgun Gothic"/>
                <a:cs typeface="Malgun Gothic"/>
              </a:rPr>
              <a:t>(arXiv Comments). 같은 "학습된 지형 상상"으로 </a:t>
            </a:r>
            <a:r>
              <a:rPr sz="1050" b="1" i="0">
                <a:solidFill>
                  <a:srgbClr val="16213A"/>
                </a:solidFill>
                <a:latin typeface="Arial"/>
                <a:ea typeface="Malgun Gothic"/>
                <a:cs typeface="Malgun Gothic"/>
              </a:rPr>
              <a:t>복구 동작</a:t>
            </a:r>
            <a:r>
              <a:rPr sz="1050" b="0" i="0">
                <a:solidFill>
                  <a:srgbClr val="16213A"/>
                </a:solidFill>
                <a:latin typeface="Arial"/>
                <a:ea typeface="Malgun Gothic"/>
                <a:cs typeface="Malgun Gothic"/>
              </a:rPr>
              <a:t>을 배운다. 스펀지·플라스틱 상자·울퉁불퉁한 바닥처럼 학습 분포 밖 지형에서 A1·Go1이 넘어진 뒤 일어나 다시 걷는다. </a:t>
            </a:r>
            <a:r>
              <a:rPr sz="1050" b="1" i="0">
                <a:solidFill>
                  <a:srgbClr val="C2410C"/>
                </a:solidFill>
                <a:latin typeface="Arial"/>
                <a:ea typeface="Malgun Gothic"/>
                <a:cs typeface="Malgun Gothic"/>
              </a:rPr>
              <a:t>로코모션 정책이 아니라 실패 뒤의 회복을 다룬 것이 특징이다.</a:t>
            </a:r>
          </a:p>
        </p:txBody>
      </p:sp>
      <p:sp>
        <p:nvSpPr>
          <p:cNvPr id="10" name="TextBox 9"/>
          <p:cNvSpPr txBox="1"/>
          <p:nvPr/>
        </p:nvSpPr>
        <p:spPr>
          <a:xfrm>
            <a:off x="609600" y="5278834"/>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DreamWaQ++ — (b)에서 (a)로 건너오면서 "믿을지 말지"를 배운다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6"/>
              </a:rPr>
              <a:t>arXiv:2409.19709</a:t>
            </a:r>
            <a:r>
              <a:rPr sz="1050" b="0" i="0">
                <a:solidFill>
                  <a:srgbClr val="16213A"/>
                </a:solidFill>
                <a:latin typeface="Arial"/>
                <a:ea typeface="Malgun Gothic"/>
                <a:cs typeface="Malgun Gothic"/>
              </a:rPr>
              <a:t>, IEEE T-RO </a:t>
            </a:r>
            <a:r>
              <a:rPr sz="1050" b="1" i="0">
                <a:solidFill>
                  <a:srgbClr val="16213A"/>
                </a:solidFill>
                <a:latin typeface="Arial"/>
                <a:ea typeface="Malgun Gothic"/>
                <a:cs typeface="Malgun Gothic"/>
              </a:rPr>
              <a:t>2026</a:t>
            </a:r>
            <a:r>
              <a:rPr sz="1050" b="0" i="0">
                <a:solidFill>
                  <a:srgbClr val="16213A"/>
                </a:solidFill>
                <a:latin typeface="Arial"/>
                <a:ea typeface="Malgun Gothic"/>
                <a:cs typeface="Malgun Gothic"/>
              </a:rPr>
              <a:t>, DOI 10.1109/TRO.2026.3653774, KAIST·KRAFTON·MIT). blind 기반 위에 외수용을 더하되, </a:t>
            </a:r>
            <a:r>
              <a:rPr sz="1050" b="1" i="0">
                <a:solidFill>
                  <a:srgbClr val="16213A"/>
                </a:solidFill>
                <a:latin typeface="Arial"/>
                <a:ea typeface="Malgun Gothic"/>
                <a:cs typeface="Malgun Gothic"/>
              </a:rPr>
              <a:t>PointNet 인코더 + 학습된 신뢰도 필터</a:t>
            </a:r>
            <a:r>
              <a:rPr sz="1050" b="0" i="0">
                <a:solidFill>
                  <a:srgbClr val="16213A"/>
                </a:solidFill>
                <a:latin typeface="Arial"/>
                <a:ea typeface="Malgun Gothic"/>
                <a:cs typeface="Malgun Gothic"/>
              </a:rPr>
              <a:t>를 두고 MLP-Mixer로 두 흐름을 50 Hz에 합친다. 계단 성공률 97.8%, 계단 50개 코스를 35초에, 합산 30 cm 장애물까지 넘는다. 시뮬에서 계단 구성별로 20–40%p 높은 성공률이다.</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F.4 무엇을 보고 걷나 — 갈래가 셋이다</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115 / 183</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정정 둘(2026-10-02).</a:t>
            </a:r>
            <a:r>
              <a:rPr sz="1050" b="0" i="0">
                <a:solidFill>
                  <a:srgbClr val="16213A"/>
                </a:solidFill>
                <a:latin typeface="Arial"/>
                <a:ea typeface="Malgun Gothic"/>
                <a:cs typeface="Malgun Gothic"/>
              </a:rPr>
              <a:t> ① 이것을 "지도 + 고유수용"으로 적었는데 </a:t>
            </a:r>
            <a:r>
              <a:rPr sz="1050" b="1" i="0">
                <a:solidFill>
                  <a:srgbClr val="C2410C"/>
                </a:solidFill>
                <a:latin typeface="Arial"/>
                <a:ea typeface="Malgun Gothic"/>
                <a:cs typeface="Malgun Gothic"/>
              </a:rPr>
              <a:t>추론에는 높이 지도가 필요 없다</a:t>
            </a:r>
            <a:r>
              <a:rPr sz="1050" b="0" i="0">
                <a:solidFill>
                  <a:srgbClr val="16213A"/>
                </a:solidFill>
                <a:latin typeface="Arial"/>
                <a:ea typeface="Malgun Gothic"/>
                <a:cs typeface="Malgun Gothic"/>
              </a:rPr>
              <a:t> — 점군을 그대로 PointNet에 넣는다. 다만 논문이 내세우는 동기는 매핑 생략이 아니라 </a:t>
            </a:r>
            <a:r>
              <a:rPr sz="1050" b="1" i="0">
                <a:solidFill>
                  <a:srgbClr val="C2410C"/>
                </a:solidFill>
                <a:latin typeface="Arial"/>
                <a:ea typeface="Malgun Gothic"/>
                <a:cs typeface="Malgun Gothic"/>
              </a:rPr>
              <a:t>센서 구성 불가지성</a:t>
            </a:r>
            <a:r>
              <a:rPr sz="1050" b="0" i="0">
                <a:solidFill>
                  <a:srgbClr val="16213A"/>
                </a:solidFill>
                <a:latin typeface="Arial"/>
                <a:ea typeface="Malgun Gothic"/>
                <a:cs typeface="Malgun Gothic"/>
              </a:rPr>
              <a:t>이고, 서론은 오히려 </a:t>
            </a:r>
            <a:r>
              <a:rPr sz="1050" b="0" i="1">
                <a:solidFill>
                  <a:srgbClr val="16213A"/>
                </a:solidFill>
                <a:latin typeface="Arial"/>
                <a:ea typeface="Malgun Gothic"/>
                <a:cs typeface="Malgun Gothic"/>
              </a:rPr>
              <a:t>"elevation map–based approaches have proven to be superior"</a:t>
            </a:r>
            <a:r>
              <a:rPr sz="1050" b="0" i="0">
                <a:solidFill>
                  <a:srgbClr val="16213A"/>
                </a:solidFill>
                <a:latin typeface="Arial"/>
                <a:ea typeface="Malgun Gothic"/>
                <a:cs typeface="Malgun Gothic"/>
              </a:rPr>
              <a:t>라고 적는다. 높이 지도는 버리는 것이 아니라 </a:t>
            </a:r>
            <a:r>
              <a:rPr sz="1050" b="1" i="0">
                <a:solidFill>
                  <a:srgbClr val="16213A"/>
                </a:solidFill>
                <a:latin typeface="Arial"/>
                <a:ea typeface="Malgun Gothic"/>
                <a:cs typeface="Malgun Gothic"/>
              </a:rPr>
              <a:t>학습 때 특권 정보</a:t>
            </a:r>
            <a:r>
              <a:rPr sz="1050" b="0" i="0">
                <a:solidFill>
                  <a:srgbClr val="16213A"/>
                </a:solidFill>
                <a:latin typeface="Arial"/>
                <a:ea typeface="Malgun Gothic"/>
                <a:cs typeface="Malgun Gothic"/>
              </a:rPr>
              <a:t>로 쓴다. ② "센서 구성이 다른 하드웨어 </a:t>
            </a:r>
            <a:r>
              <a:rPr sz="1050" b="1" i="0">
                <a:solidFill>
                  <a:srgbClr val="16213A"/>
                </a:solidFill>
                <a:latin typeface="Arial"/>
                <a:ea typeface="Malgun Gothic"/>
                <a:cs typeface="Malgun Gothic"/>
              </a:rPr>
              <a:t>네 종</a:t>
            </a:r>
            <a:r>
              <a:rPr sz="1050" b="0" i="0">
                <a:solidFill>
                  <a:srgbClr val="16213A"/>
                </a:solidFill>
                <a:latin typeface="Arial"/>
                <a:ea typeface="Malgun Gothic"/>
                <a:cs typeface="Malgun Gothic"/>
              </a:rPr>
              <a:t>"은 과장이다. §V-A의 실물 넷은 </a:t>
            </a:r>
            <a:r>
              <a:rPr sz="1050" b="1" i="0">
                <a:solidFill>
                  <a:srgbClr val="C2410C"/>
                </a:solidFill>
                <a:latin typeface="Arial"/>
                <a:ea typeface="Malgun Gothic"/>
                <a:cs typeface="Malgun Gothic"/>
              </a:rPr>
              <a:t>R1·R3·R4가 외수용 구성만 다른 Unitree Go1 셋이고, R2는 외수용이 없는 Unitree A1</a:t>
            </a:r>
            <a:r>
              <a:rPr sz="1050" b="0" i="0">
                <a:solidFill>
                  <a:srgbClr val="16213A"/>
                </a:solidFill>
                <a:latin typeface="Arial"/>
                <a:ea typeface="Malgun Gothic"/>
                <a:cs typeface="Malgun Gothic"/>
              </a:rPr>
              <a:t>이다. 기종 간 일반화는 실물이 아니라 </a:t>
            </a:r>
            <a:r>
              <a:rPr sz="1050" b="1" i="0">
                <a:solidFill>
                  <a:srgbClr val="16213A"/>
                </a:solidFill>
                <a:latin typeface="Arial"/>
                <a:ea typeface="Malgun Gothic"/>
                <a:cs typeface="Malgun Gothic"/>
              </a:rPr>
              <a:t>시뮬의 Go1·ANYmal-C·Hound 셋</a:t>
            </a:r>
            <a:r>
              <a:rPr sz="1050" b="0" i="0">
                <a:solidFill>
                  <a:srgbClr val="16213A"/>
                </a:solidFill>
                <a:latin typeface="Arial"/>
                <a:ea typeface="Malgun Gothic"/>
                <a:cs typeface="Malgun Gothic"/>
              </a:rPr>
              <a:t>으로 따로 보인다.</a:t>
            </a:r>
          </a:p>
        </p:txBody>
      </p:sp>
      <p:sp>
        <p:nvSpPr>
          <p:cNvPr id="6" name="TextBox 5"/>
          <p:cNvSpPr txBox="1"/>
          <p:nvPr/>
        </p:nvSpPr>
        <p:spPr>
          <a:xfrm>
            <a:off x="609600" y="2199481"/>
            <a:ext cx="10972800" cy="43299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travplan에 가장 값진 것이 이 "신뢰도 필터"다.</a:t>
            </a:r>
            <a:r>
              <a:rPr sz="1050" b="0" i="0">
                <a:solidFill>
                  <a:srgbClr val="16213A"/>
                </a:solidFill>
                <a:latin typeface="Arial"/>
                <a:ea typeface="Malgun Gothic"/>
                <a:cs typeface="Malgun Gothic"/>
              </a:rPr>
              <a:t> travplan은 미관측·불확실을 </a:t>
            </a:r>
            <a:r>
              <a:rPr sz="1050" b="0" i="0">
                <a:solidFill>
                  <a:srgbClr val="16213A"/>
                </a:solidFill>
                <a:latin typeface="Consolas"/>
                <a:ea typeface="Malgun Gothic"/>
                <a:cs typeface="Malgun Gothic"/>
              </a:rPr>
              <a:t>SIGMA</a:t>
            </a:r>
            <a:r>
              <a:rPr sz="1050" b="0" i="0">
                <a:solidFill>
                  <a:srgbClr val="16213A"/>
                </a:solidFill>
                <a:latin typeface="Arial"/>
                <a:ea typeface="Malgun Gothic"/>
                <a:cs typeface="Malgun Gothic"/>
              </a:rPr>
              <a:t> 채널로 들고 있지만 그것을 </a:t>
            </a:r>
            <a:r>
              <a:rPr sz="1050" b="1" i="0">
                <a:solidFill>
                  <a:srgbClr val="16213A"/>
                </a:solidFill>
                <a:latin typeface="Arial"/>
                <a:ea typeface="Malgun Gothic"/>
                <a:cs typeface="Malgun Gothic"/>
              </a:rPr>
              <a:t>믿을지 말지의 게이트로 쓰지 않는다</a:t>
            </a:r>
            <a:r>
              <a:rPr sz="1050" b="0" i="0">
                <a:solidFill>
                  <a:srgbClr val="16213A"/>
                </a:solidFill>
                <a:latin typeface="Arial"/>
                <a:ea typeface="Malgun Gothic"/>
                <a:cs typeface="Malgun Gothic"/>
              </a:rPr>
              <a:t>. DreamWaQ++는 외수용이 믿을 만할 때만 쓰고 아니면 고유수용으로 물러난다. L1 belief에서 Planner D가 떨어지는 문제(TP-0055)에 그대로 대응한다.</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F.4 무엇을 보고 걷나 — 갈래가 셋이다</a:t>
            </a:r>
            <a:r>
              <a:rPr sz="1050" b="0" i="0">
                <a:solidFill>
                  <a:srgbClr val="5A6478"/>
                </a:solidFill>
                <a:latin typeface="Arial"/>
                <a:ea typeface="Malgun Gothic"/>
                <a:cs typeface="Malgun Gothic"/>
              </a:rPr>
              <a:t>  자세히: Dream* 계열 다섯 편은 한 줄기다 (그리고 공식 코드가 하나도 없다)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116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travplan은 이 계열을 세 문서에 흩어 인용해 왔는데, </a:t>
            </a:r>
            <a:r>
              <a:rPr sz="1050" b="1" i="0">
                <a:solidFill>
                  <a:srgbClr val="C2410C"/>
                </a:solidFill>
                <a:latin typeface="Arial"/>
                <a:ea typeface="Malgun Gothic"/>
                <a:cs typeface="Malgun Gothic"/>
              </a:rPr>
              <a:t>다섯 편이 </a:t>
            </a:r>
            <a:r>
              <a:rPr sz="1050" b="1" i="0">
                <a:solidFill>
                  <a:srgbClr val="C2410C"/>
                </a:solidFill>
                <a:latin typeface="Arial"/>
                <a:ea typeface="Malgun Gothic"/>
                <a:cs typeface="Malgun Gothic"/>
              </a:rPr>
              <a:t>DreamWaQ의 CENet 하나</a:t>
            </a:r>
            <a:r>
              <a:rPr sz="1050" b="1" i="0">
                <a:solidFill>
                  <a:srgbClr val="C2410C"/>
                </a:solidFill>
                <a:latin typeface="Arial"/>
                <a:ea typeface="Malgun Gothic"/>
                <a:cs typeface="Malgun Gothic"/>
              </a:rPr>
              <a:t> 위에 쌓인 한 줄기라는 사실이 어디에도 없었다.</a:t>
            </a:r>
            <a:r>
              <a:rPr sz="1050" b="0" i="0">
                <a:solidFill>
                  <a:srgbClr val="16213A"/>
                </a:solidFill>
                <a:latin typeface="Arial"/>
                <a:ea typeface="Malgun Gothic"/>
                <a:cs typeface="Malgun Gothic"/>
              </a:rPr>
              <a:t> 순서와 각 편이 더한 것은 이렇다.</a:t>
            </a:r>
          </a:p>
        </p:txBody>
      </p:sp>
      <p:graphicFrame>
        <p:nvGraphicFramePr>
          <p:cNvPr id="6" name="Table 5"/>
          <p:cNvGraphicFramePr>
            <a:graphicFrameLocks noGrp="1"/>
          </p:cNvGraphicFramePr>
          <p:nvPr/>
        </p:nvGraphicFramePr>
        <p:xfrm>
          <a:off x="609600" y="1549995"/>
          <a:ext cx="10966449" cy="1182528"/>
        </p:xfrm>
        <a:graphic>
          <a:graphicData uri="http://schemas.openxmlformats.org/drawingml/2006/table">
            <a:tbl>
              <a:tblPr firstRow="1" bandRow="1">
                <a:tableStyleId>{5C22544A-7EE6-4342-B048-85BDC9FD1C3A}</a:tableStyleId>
              </a:tblPr>
              <a:tblGrid>
                <a:gridCol w="2571948"/>
                <a:gridCol w="1726505"/>
                <a:gridCol w="4051498"/>
                <a:gridCol w="2616498"/>
              </a:tblGrid>
              <a:tr h="197088">
                <a:tc>
                  <a:txBody>
                    <a:bodyPr wrap="square"/>
                    <a:lstStyle/>
                    <a:p>
                      <a:r>
                        <a:rPr sz="800" b="1" i="0">
                          <a:solidFill>
                            <a:srgbClr val="F4F1EA"/>
                          </a:solidFill>
                          <a:latin typeface="Arial"/>
                          <a:ea typeface="Malgun Gothic"/>
                          <a:cs typeface="Malgun Gothic"/>
                        </a:rPr>
                        <a:t>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CENet 위에 더한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 전이</a:t>
                      </a:r>
                    </a:p>
                  </a:txBody>
                  <a:tcPr marL="63500" marR="63500" marT="12700" marB="12700">
                    <a:solidFill>
                      <a:srgbClr val="16213A"/>
                    </a:solidFill>
                  </a:tcPr>
                </a:tc>
              </a:tr>
              <a:tr h="197088">
                <a:tc>
                  <a:txBody>
                    <a:bodyPr wrap="square"/>
                    <a:lstStyle/>
                    <a:p>
                      <a:r>
                        <a:rPr sz="800" b="1" i="0">
                          <a:solidFill>
                            <a:srgbClr val="16213A"/>
                          </a:solidFill>
                          <a:latin typeface="Arial"/>
                          <a:ea typeface="Malgun Gothic"/>
                          <a:cs typeface="Malgun Gothic"/>
                        </a:rPr>
                        <a:t>DreamWaQ</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ICRA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고유수용에서 지형 문맥을 뽑는 </a:t>
                      </a:r>
                      <a:r>
                        <a:rPr sz="800" b="1" i="0">
                          <a:solidFill>
                            <a:srgbClr val="16213A"/>
                          </a:solidFill>
                          <a:latin typeface="Arial"/>
                          <a:ea typeface="Malgun Gothic"/>
                          <a:cs typeface="Malgun Gothic"/>
                        </a:rPr>
                        <a:t>CENet</a:t>
                      </a:r>
                      <a:r>
                        <a:rPr sz="800" b="0" i="0">
                          <a:solidFill>
                            <a:srgbClr val="16213A"/>
                          </a:solidFill>
                          <a:latin typeface="Arial"/>
                          <a:ea typeface="Malgun Gothic"/>
                          <a:cs typeface="Malgun Gothic"/>
                        </a:rPr>
                        <a:t> 자체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 바퀴에는 접지 신호가 없다</a:t>
                      </a:r>
                    </a:p>
                  </a:txBody>
                  <a:tcPr marL="63500" marR="63500" marT="12700" marB="12700">
                    <a:solidFill>
                      <a:srgbClr val="FFFDF8"/>
                    </a:solidFill>
                  </a:tcPr>
                </a:tc>
              </a:tr>
              <a:tr h="197088">
                <a:tc>
                  <a:txBody>
                    <a:bodyPr wrap="square"/>
                    <a:lstStyle/>
                    <a:p>
                      <a:r>
                        <a:rPr sz="800" b="1" i="0">
                          <a:solidFill>
                            <a:srgbClr val="16213A"/>
                          </a:solidFill>
                          <a:latin typeface="Arial"/>
                          <a:ea typeface="Malgun Gothic"/>
                          <a:cs typeface="Malgun Gothic"/>
                        </a:rPr>
                        <a:t>복구 동작</a:t>
                      </a:r>
                      <a:r>
                        <a:rPr sz="800" b="0" i="0">
                          <a:solidFill>
                            <a:srgbClr val="16213A"/>
                          </a:solidFill>
                          <a:latin typeface="Arial"/>
                          <a:ea typeface="Malgun Gothic"/>
                          <a:cs typeface="Malgun Gothic"/>
                        </a:rPr>
                        <a:t>(통칭 DreamRiser)</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RSS 2023 워크숍</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넘어진 뒤 일어나기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스워브는 넘어지면 끝이다</a:t>
                      </a:r>
                    </a:p>
                  </a:txBody>
                  <a:tcPr marL="63500" marR="63500" marT="12700" marB="12700">
                    <a:solidFill>
                      <a:srgbClr val="F3F0E8"/>
                    </a:solidFill>
                  </a:tcPr>
                </a:tc>
              </a:tr>
              <a:tr h="197088">
                <a:tc>
                  <a:txBody>
                    <a:bodyPr wrap="square"/>
                    <a:lstStyle/>
                    <a:p>
                      <a:r>
                        <a:rPr sz="800" b="1" i="0">
                          <a:solidFill>
                            <a:srgbClr val="16213A"/>
                          </a:solidFill>
                          <a:latin typeface="Arial"/>
                          <a:ea typeface="Malgun Gothic"/>
                          <a:cs typeface="Malgun Gothic"/>
                        </a:rPr>
                        <a:t>DreamWaQ++</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IEEE T-RO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외수용 + </a:t>
                      </a:r>
                      <a:r>
                        <a:rPr sz="800" b="1" i="0">
                          <a:solidFill>
                            <a:srgbClr val="C2410C"/>
                          </a:solidFill>
                          <a:latin typeface="Arial"/>
                          <a:ea typeface="Malgun Gothic"/>
                          <a:cs typeface="Malgun Gothic"/>
                        </a:rPr>
                        <a:t>학습된 신뢰도 필터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 가장 값진 것(위 문단)</a:t>
                      </a:r>
                    </a:p>
                  </a:txBody>
                  <a:tcPr marL="63500" marR="63500" marT="12700" marB="12700">
                    <a:solidFill>
                      <a:srgbClr val="FFFDF8"/>
                    </a:solidFill>
                  </a:tcPr>
                </a:tc>
              </a:tr>
              <a:tr h="197088">
                <a:tc>
                  <a:txBody>
                    <a:bodyPr wrap="square"/>
                    <a:lstStyle/>
                    <a:p>
                      <a:r>
                        <a:rPr sz="800" b="1" i="0">
                          <a:solidFill>
                            <a:srgbClr val="16213A"/>
                          </a:solidFill>
                          <a:latin typeface="Arial"/>
                          <a:ea typeface="Malgun Gothic"/>
                          <a:cs typeface="Malgun Gothic"/>
                        </a:rPr>
                        <a:t>DreamFLEX</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ICRA 2025</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고장 벡터</a:t>
                      </a:r>
                      <a:r>
                        <a:rPr sz="800" b="0" i="0">
                          <a:solidFill>
                            <a:srgbClr val="16213A"/>
                          </a:solidFill>
                          <a:latin typeface="Arial"/>
                          <a:ea typeface="Malgun Gothic"/>
                          <a:cs typeface="Malgun Gothic"/>
                        </a:rPr>
                        <a:t>를 명시 입력으로 받아 잠재를 변조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 아래</a:t>
                      </a:r>
                    </a:p>
                  </a:txBody>
                  <a:tcPr marL="63500" marR="63500" marT="12700" marB="12700">
                    <a:solidFill>
                      <a:srgbClr val="F3F0E8"/>
                    </a:solidFill>
                  </a:tcPr>
                </a:tc>
              </a:tr>
              <a:tr h="197088">
                <a:tc>
                  <a:txBody>
                    <a:bodyPr wrap="square"/>
                    <a:lstStyle/>
                    <a:p>
                      <a:r>
                        <a:rPr sz="800" b="1" i="0">
                          <a:solidFill>
                            <a:srgbClr val="16213A"/>
                          </a:solidFill>
                          <a:latin typeface="Arial"/>
                          <a:ea typeface="Malgun Gothic"/>
                          <a:cs typeface="Malgun Gothic"/>
                        </a:rPr>
                        <a:t>DreamFlow</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ICRA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관측 </a:t>
                      </a:r>
                      <a:r>
                        <a:rPr sz="800" b="1" i="0">
                          <a:solidFill>
                            <a:srgbClr val="16213A"/>
                          </a:solidFill>
                          <a:latin typeface="Arial"/>
                          <a:ea typeface="Malgun Gothic"/>
                          <a:cs typeface="Malgun Gothic"/>
                        </a:rPr>
                        <a:t>밖</a:t>
                      </a:r>
                      <a:r>
                        <a:rPr sz="800" b="0" i="0">
                          <a:solidFill>
                            <a:srgbClr val="16213A"/>
                          </a:solidFill>
                          <a:latin typeface="Arial"/>
                          <a:ea typeface="Malgun Gothic"/>
                          <a:cs typeface="Malgun Gothic"/>
                        </a:rPr>
                        <a:t>을 conditional flow matching으로 상상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Planner B.9</a:t>
                      </a:r>
                    </a:p>
                  </a:txBody>
                  <a:tcPr marL="63500" marR="63500" marT="12700" marB="12700">
                    <a:solidFill>
                      <a:srgbClr val="FFFDF8"/>
                    </a:solidFill>
                  </a:tcPr>
                </a:tc>
              </a:tr>
            </a:tbl>
          </a:graphicData>
        </a:graphic>
      </p:graphicFrame>
      <p:sp>
        <p:nvSpPr>
          <p:cNvPr id="7" name="TextBox 6"/>
          <p:cNvSpPr txBox="1"/>
          <p:nvPr/>
        </p:nvSpPr>
        <p:spPr>
          <a:xfrm>
            <a:off x="609600" y="3123406"/>
            <a:ext cx="10972800" cy="649486"/>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DreamFLEX가 travplan이 놓친 것이다.</a:t>
            </a:r>
            <a:r>
              <a:rPr sz="1050" b="0" i="0">
                <a:solidFill>
                  <a:srgbClr val="16213A"/>
                </a:solidFill>
                <a:latin typeface="Arial"/>
                <a:ea typeface="Malgun Gothic"/>
                <a:cs typeface="Malgun Gothic"/>
              </a:rPr>
              <a:t> 다리 하나가 고장 났을 때 그 사실을 </a:t>
            </a:r>
            <a:r>
              <a:rPr sz="1050" b="1" i="0">
                <a:solidFill>
                  <a:srgbClr val="16213A"/>
                </a:solidFill>
                <a:latin typeface="Arial"/>
                <a:ea typeface="Malgun Gothic"/>
                <a:cs typeface="Malgun Gothic"/>
              </a:rPr>
              <a:t>명시적 벡터</a:t>
            </a:r>
            <a:r>
              <a:rPr sz="1050" b="0" i="0">
                <a:solidFill>
                  <a:srgbClr val="16213A"/>
                </a:solidFill>
                <a:latin typeface="Arial"/>
                <a:ea typeface="Malgun Gothic"/>
                <a:cs typeface="Malgun Gothic"/>
              </a:rPr>
              <a:t>로 받아 정책의 잠재를 변조한다. 스워브는 모듈 네 개가 각각 조향·구동을 갖는데, 모듈 하나가 열화되거나 미끄러질 때 travplan은 지금 그것을 </a:t>
            </a:r>
            <a:r>
              <a:rPr sz="1050" b="1" i="0">
                <a:solidFill>
                  <a:srgbClr val="16213A"/>
                </a:solidFill>
                <a:latin typeface="Arial"/>
                <a:ea typeface="Malgun Gothic"/>
                <a:cs typeface="Malgun Gothic"/>
              </a:rPr>
              <a:t>GP 잔차로 뭉뚱그려</a:t>
            </a:r>
            <a:r>
              <a:rPr sz="1050" b="0" i="0">
                <a:solidFill>
                  <a:srgbClr val="16213A"/>
                </a:solidFill>
                <a:latin typeface="Arial"/>
                <a:ea typeface="Malgun Gothic"/>
                <a:cs typeface="Malgun Gothic"/>
              </a:rPr>
              <a:t> 흡수한다(</a:t>
            </a:r>
            <a:r>
              <a:rPr sz="1050" b="0" i="0">
                <a:solidFill>
                  <a:srgbClr val="16213A"/>
                </a:solidFill>
                <a:latin typeface="Consolas"/>
                <a:ea typeface="Malgun Gothic"/>
                <a:cs typeface="Malgun Gothic"/>
              </a:rPr>
              <a:t>control/acados_mpc/gp.py</a:t>
            </a:r>
            <a:r>
              <a:rPr sz="1050" b="0" i="0">
                <a:solidFill>
                  <a:srgbClr val="16213A"/>
                </a:solidFill>
                <a:latin typeface="Arial"/>
                <a:ea typeface="Malgun Gothic"/>
                <a:cs typeface="Malgun Gothic"/>
              </a:rPr>
              <a:t>). 고장을 1급 입력으로 두는 설계는 그대로 옮겨진다 — 바퀴 로봇에도 "어느 모듈이 이상하다"는 신호가 있기 때문이다.</a:t>
            </a:r>
          </a:p>
        </p:txBody>
      </p:sp>
      <p:sp>
        <p:nvSpPr>
          <p:cNvPr id="8" name="TextBox 7"/>
          <p:cNvSpPr txBox="1"/>
          <p:nvPr/>
        </p:nvSpPr>
        <p:spPr>
          <a:xfrm>
            <a:off x="609600" y="3861792"/>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그 밖에 travplan이 아직 적지 않은 같은 그룹의 둘: </a:t>
            </a:r>
            <a:r>
              <a:rPr sz="1050" b="1" i="0">
                <a:solidFill>
                  <a:srgbClr val="16213A"/>
                </a:solidFill>
                <a:latin typeface="Arial"/>
                <a:ea typeface="Malgun Gothic"/>
                <a:cs typeface="Malgun Gothic"/>
              </a:rPr>
              <a:t>LocoVLM</a:t>
            </a:r>
            <a:r>
              <a:rPr sz="1050" b="0" i="0">
                <a:solidFill>
                  <a:srgbClr val="16213A"/>
                </a:solidFill>
                <a:latin typeface="Arial"/>
                <a:ea typeface="Malgun Gothic"/>
                <a:cs typeface="Malgun Gothic"/>
              </a:rPr>
              <a:t>(SafeVLMs 워크숍 @ ICRA 2025, </a:t>
            </a:r>
            <a:r>
              <a:rPr sz="1050" b="0" i="0">
                <a:solidFill>
                  <a:srgbClr val="1D4ED8"/>
                </a:solidFill>
                <a:latin typeface="Arial"/>
                <a:ea typeface="Malgun Gothic"/>
                <a:cs typeface="Malgun Gothic"/>
                <a:hlinkClick r:id="rId3"/>
              </a:rPr>
              <a:t>arXiv:2602.10399</a:t>
            </a:r>
            <a:r>
              <a:rPr sz="1050" b="0" i="0">
                <a:solidFill>
                  <a:srgbClr val="16213A"/>
                </a:solidFill>
                <a:latin typeface="Arial"/>
                <a:ea typeface="Malgun Gothic"/>
                <a:cs typeface="Malgun Gothic"/>
              </a:rPr>
              <a:t>)은 언어·영상으로 보행 정책을 고르게 하고, </a:t>
            </a:r>
            <a:r>
              <a:rPr sz="1050" b="1" i="0">
                <a:solidFill>
                  <a:srgbClr val="16213A"/>
                </a:solidFill>
                <a:latin typeface="Arial"/>
                <a:ea typeface="Malgun Gothic"/>
                <a:cs typeface="Malgun Gothic"/>
              </a:rPr>
              <a:t>휴머노이드 blind locomotion</a:t>
            </a:r>
            <a:r>
              <a:rPr sz="1050" b="0" i="0">
                <a:solidFill>
                  <a:srgbClr val="16213A"/>
                </a:solidFill>
                <a:latin typeface="Arial"/>
                <a:ea typeface="Malgun Gothic"/>
                <a:cs typeface="Malgun Gothic"/>
              </a:rPr>
              <a:t>(Sim-to-Real 워크숍 @ Humanoids 2025)은 같은 blind 뼈대를 2족으로 옮긴다.</a:t>
            </a:r>
          </a:p>
        </p:txBody>
      </p:sp>
      <p:sp>
        <p:nvSpPr>
          <p:cNvPr id="9" name="TextBox 8"/>
          <p:cNvSpPr txBox="1"/>
          <p:nvPr/>
        </p:nvSpPr>
        <p:spPr>
          <a:xfrm>
            <a:off x="609600" y="4383683"/>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다섯 편 모두 공식 코드가 없다.</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github.com/url-kaist</a:t>
            </a:r>
            <a:r>
              <a:rPr sz="1050" b="0" i="0">
                <a:solidFill>
                  <a:srgbClr val="16213A"/>
                </a:solidFill>
                <a:latin typeface="Arial"/>
                <a:ea typeface="Malgun Gothic"/>
                <a:cs typeface="Malgun Gothic"/>
              </a:rPr>
              <a:t>의 공개 저장소 27개에도, 1저자와 2저자의 계정에도 Dream* 저장소가 없다(2026-10-06 재확인). DreamWaQ 프로젝트 페이지의 링크 없는 '[Code] (Coming soon)' 항목은 2023년 스냅숏(2023-01, 2023-03)에만 있고, 2024-11 스냅숏부터는 논문 링크만 남았다(2026-10-07 재확인). DreamFLEX 페이지에는 코드 버튼이 보이지 않는다. 'Code (TBU)' 버튼은 HTML 소스에 주석으로만 남아 있다. 같은 연구실에서 코드가 나오는 쪽은 SLAM·지면 분할 라인이다(인식 A.2b.8).</a:t>
            </a:r>
          </a:p>
        </p:txBody>
      </p:sp>
      <p:sp>
        <p:nvSpPr>
          <p:cNvPr id="10" name="TextBox 9"/>
          <p:cNvSpPr txBox="1"/>
          <p:nvPr/>
        </p:nvSpPr>
        <p:spPr>
          <a:xfrm>
            <a:off x="609600" y="5122069"/>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보완(2026-10-06).</a:t>
            </a:r>
            <a:r>
              <a:rPr sz="1050" b="0" i="0">
                <a:solidFill>
                  <a:srgbClr val="16213A"/>
                </a:solidFill>
                <a:latin typeface="Arial"/>
                <a:ea typeface="Malgun Gothic"/>
                <a:cs typeface="Malgun Gothic"/>
              </a:rPr>
              <a:t> DreamWaQ 자체에는 커뮤니티 재구현이 많다(F.6.1). 코드까지 읽은 넷 가운데 논문 결과를 재현했다는 근거를 갖춘 것은 없었다. 그래서 이 구현들은 구조를 읽는 참고 자료로 쓴다.</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F.4 무엇을 보고 걷나 — 갈래가 셋이다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117 / 183</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 지형 인지 발놓기</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arXiv:2310.04675</a:t>
            </a:r>
            <a:r>
              <a:rPr sz="1050" b="0" i="0">
                <a:solidFill>
                  <a:srgbClr val="16213A"/>
                </a:solidFill>
                <a:latin typeface="Arial"/>
                <a:ea typeface="Malgun Gothic"/>
                <a:cs typeface="Malgun Gothic"/>
              </a:rPr>
              <a:t>, Shi 외, Tencent Robotics X). 매개변수화된 궤적 생성기를 두고 RL이 발 높이·보폭 주기 같은 </a:t>
            </a:r>
            <a:r>
              <a:rPr sz="1050" b="1" i="0">
                <a:solidFill>
                  <a:srgbClr val="16213A"/>
                </a:solidFill>
                <a:latin typeface="Arial"/>
                <a:ea typeface="Malgun Gothic"/>
                <a:cs typeface="Malgun Gothic"/>
              </a:rPr>
              <a:t>파라미터만</a:t>
            </a:r>
            <a:r>
              <a:rPr sz="1050" b="0" i="0">
                <a:solidFill>
                  <a:srgbClr val="16213A"/>
                </a:solidFill>
                <a:latin typeface="Arial"/>
                <a:ea typeface="Malgun Gothic"/>
                <a:cs typeface="Malgun Gothic"/>
              </a:rPr>
              <a:t> 조절한다. 보상 둘이 핵심이다 — 안전한 곳에 발을 놓게 하는 항과 발 들어올림을 아끼게 하는 항. 25.5 cm가 넘는 징검다리 간격을 실물로 넘었다. </a:t>
            </a:r>
            <a:r>
              <a:rPr sz="1050" b="1" i="0">
                <a:solidFill>
                  <a:srgbClr val="C2410C"/>
                </a:solidFill>
                <a:latin typeface="Arial"/>
                <a:ea typeface="Malgun Gothic"/>
                <a:cs typeface="Malgun Gothic"/>
              </a:rPr>
              <a:t>정책이 관절을 직접 내지 않고 생성기의 파라미터를 낸다는 구조가 travplan의 Planner D(제어 공간 생성)와 닮았다.</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F.5 RL과 MPC를 섞는 갈래 — travplan의 Controller 결정과 같은 질문</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118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4족 쪽에서도 "RL이냐 MPC냐"를 한쪽으로 고르지 않고 섞는 연구가 따로 있다. </a:t>
            </a:r>
            <a:r>
              <a:rPr sz="1050" b="1" i="0">
                <a:solidFill>
                  <a:srgbClr val="C2410C"/>
                </a:solidFill>
                <a:latin typeface="Arial"/>
                <a:ea typeface="Malgun Gothic"/>
                <a:cs typeface="Malgun Gothic"/>
              </a:rPr>
              <a:t>2026-09-30에 travplan이 내린 결정(MPPI와 NMPC를 함께 개발한다)과 같은 질문이다.</a:t>
            </a:r>
          </a:p>
        </p:txBody>
      </p:sp>
      <p:graphicFrame>
        <p:nvGraphicFramePr>
          <p:cNvPr id="6" name="Table 5"/>
          <p:cNvGraphicFramePr>
            <a:graphicFrameLocks noGrp="1"/>
          </p:cNvGraphicFramePr>
          <p:nvPr/>
        </p:nvGraphicFramePr>
        <p:xfrm>
          <a:off x="609600" y="1549995"/>
          <a:ext cx="10966450" cy="788352"/>
        </p:xfrm>
        <a:graphic>
          <a:graphicData uri="http://schemas.openxmlformats.org/drawingml/2006/table">
            <a:tbl>
              <a:tblPr firstRow="1" bandRow="1">
                <a:tableStyleId>{5C22544A-7EE6-4342-B048-85BDC9FD1C3A}</a:tableStyleId>
              </a:tblPr>
              <a:tblGrid>
                <a:gridCol w="2419747"/>
                <a:gridCol w="5631755"/>
                <a:gridCol w="2914948"/>
              </a:tblGrid>
              <a:tr h="197088">
                <a:tc>
                  <a:txBody>
                    <a:bodyPr wrap="square"/>
                    <a:lstStyle/>
                    <a:p>
                      <a:r>
                        <a:rPr sz="800" b="1" i="0">
                          <a:solidFill>
                            <a:srgbClr val="F4F1EA"/>
                          </a:solidFill>
                          <a:latin typeface="Arial"/>
                          <a:ea typeface="Malgun Gothic"/>
                          <a:cs typeface="Malgun Gothic"/>
                        </a:rPr>
                        <a:t>방식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하는 일</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travplan과 닿는 곳</a:t>
                      </a:r>
                    </a:p>
                  </a:txBody>
                  <a:tcPr marL="63500" marR="63500" marT="12700" marB="12700">
                    <a:solidFill>
                      <a:srgbClr val="16213A"/>
                    </a:solidFill>
                  </a:tcPr>
                </a:tc>
              </a:tr>
              <a:tr h="197088">
                <a:tc>
                  <a:txBody>
                    <a:bodyPr wrap="square"/>
                    <a:lstStyle/>
                    <a:p>
                      <a:r>
                        <a:rPr sz="800" b="1" i="0">
                          <a:solidFill>
                            <a:srgbClr val="16213A"/>
                          </a:solidFill>
                          <a:latin typeface="Arial"/>
                          <a:ea typeface="Malgun Gothic"/>
                          <a:cs typeface="Malgun Gothic"/>
                        </a:rPr>
                        <a:t>확률 제약 MPC</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3"/>
                        </a:rPr>
                        <a:t>코드</a:t>
                      </a:r>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불확실성을 전파해 마찰 원뿔·접촉력 제약을 </a:t>
                      </a:r>
                      <a:r>
                        <a:rPr sz="800" b="1" i="0">
                          <a:solidFill>
                            <a:srgbClr val="16213A"/>
                          </a:solidFill>
                          <a:latin typeface="Arial"/>
                          <a:ea typeface="Malgun Gothic"/>
                          <a:cs typeface="Malgun Gothic"/>
                        </a:rPr>
                        <a:t>적응적으로 조인다</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TP-0069·TP-0076의 원형</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RL 보강 MPC (TechRxiv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MPC가 제약을 지키고, 특권 학습 RL이 모델에 없는 하중·지형 효과를 실시간 보정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TP-0068 잔차 + TP-0071 제약의 조합</a:t>
                      </a:r>
                    </a:p>
                  </a:txBody>
                  <a:tcPr marL="63500" marR="63500" marT="12700" marB="12700">
                    <a:solidFill>
                      <a:srgbClr val="F3F0E8"/>
                    </a:solidFill>
                  </a:tcPr>
                </a:tc>
              </a:tr>
              <a:tr h="197088">
                <a:tc>
                  <a:txBody>
                    <a:bodyPr wrap="square"/>
                    <a:lstStyle/>
                    <a:p>
                      <a:r>
                        <a:rPr sz="800" b="0" i="0">
                          <a:solidFill>
                            <a:srgbClr val="1D4ED8"/>
                          </a:solidFill>
                          <a:latin typeface="Arial"/>
                          <a:ea typeface="Malgun Gothic"/>
                          <a:cs typeface="Malgun Gothic"/>
                          <a:hlinkClick r:id="rId4"/>
                        </a:rPr>
                        <a:t>MULE</a:t>
                      </a:r>
                      <a:r>
                        <a:rPr sz="800" b="0" i="0">
                          <a:solidFill>
                            <a:srgbClr val="16213A"/>
                          </a:solidFill>
                          <a:latin typeface="Arial"/>
                          <a:ea typeface="Malgun Gothic"/>
                          <a:cs typeface="Malgun Gothic"/>
                        </a:rPr>
                        <a:t>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미지의 하중과 지형에 적응하는 RL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화물 무게가 변하는 배달로봇</a:t>
                      </a:r>
                    </a:p>
                  </a:txBody>
                  <a:tcPr marL="63500" marR="63500" marT="12700" marB="12700">
                    <a:solidFill>
                      <a:srgbClr val="FFFDF8"/>
                    </a:solidFill>
                  </a:tcPr>
                </a:tc>
              </a:tr>
            </a:tbl>
          </a:graphicData>
        </a:graphic>
      </p:graphicFrame>
      <p:sp>
        <p:nvSpPr>
          <p:cNvPr id="7" name="TextBox 6"/>
          <p:cNvSpPr txBox="1"/>
          <p:nvPr/>
        </p:nvSpPr>
        <p:spPr>
          <a:xfrm>
            <a:off x="609600" y="263068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확률 제약 MPC를 특히 볼 만하다</a:t>
            </a:r>
            <a:r>
              <a:rPr sz="1050" b="0" i="0">
                <a:solidFill>
                  <a:srgbClr val="16213A"/>
                </a:solidFill>
                <a:latin typeface="Arial"/>
                <a:ea typeface="Malgun Gothic"/>
                <a:cs typeface="Malgun Gothic"/>
              </a:rPr>
              <a:t>(</a:t>
            </a:r>
            <a:r>
              <a:rPr sz="1050" b="0" i="1">
                <a:solidFill>
                  <a:srgbClr val="16213A"/>
                </a:solidFill>
                <a:latin typeface="Arial"/>
                <a:ea typeface="Malgun Gothic"/>
                <a:cs typeface="Malgun Gothic"/>
              </a:rPr>
              <a:t>Chance-Constrained Convex MPC for Robust Quadruped Locomotion Under Parametric and Additive Uncertainties</a:t>
            </a:r>
            <a:r>
              <a:rPr sz="1050" b="0" i="0">
                <a:solidFill>
                  <a:srgbClr val="16213A"/>
                </a:solidFill>
                <a:latin typeface="Arial"/>
                <a:ea typeface="Malgun Gothic"/>
                <a:cs typeface="Malgun Gothic"/>
              </a:rPr>
              <a:t>). 단일 강체 동역학의 관성과 접촉 위치를 확률 분포로 두고 테일러 전개로 불확실성을 전파한 뒤, 그만큼 제약을 조인다. 결과가 중요하다 — </a:t>
            </a:r>
            <a:r>
              <a:rPr sz="1050" b="1" i="0">
                <a:solidFill>
                  <a:srgbClr val="C2410C"/>
                </a:solidFill>
                <a:latin typeface="Arial"/>
                <a:ea typeface="Malgun Gothic"/>
                <a:cs typeface="Malgun Gothic"/>
              </a:rPr>
              <a:t>손으로 맞춘 제약 조이기</a:t>
            </a:r>
            <a:r>
              <a:rPr sz="1050" b="1" i="0">
                <a:solidFill>
                  <a:srgbClr val="C2410C"/>
                </a:solidFill>
                <a:latin typeface="Arial"/>
                <a:ea typeface="Malgun Gothic"/>
                <a:cs typeface="Malgun Gothic"/>
              </a:rPr>
              <a:t>와 선형 MPC를 둘 다 이겼고, 모델에 없는 7.5 kg 화물까지 견뎠다.</a:t>
            </a:r>
            <a:r>
              <a:rPr sz="1050" b="0" i="0">
                <a:solidFill>
                  <a:srgbClr val="16213A"/>
                </a:solidFill>
                <a:latin typeface="Arial"/>
                <a:ea typeface="Malgun Gothic"/>
                <a:cs typeface="Malgun Gothic"/>
              </a:rPr>
              <a:t> travplan의 TP-0071은 지금 여유를 </a:t>
            </a:r>
            <a:r>
              <a:rPr sz="1050" b="1" i="0">
                <a:solidFill>
                  <a:srgbClr val="16213A"/>
                </a:solidFill>
                <a:latin typeface="Arial"/>
                <a:ea typeface="Malgun Gothic"/>
                <a:cs typeface="Malgun Gothic"/>
              </a:rPr>
              <a:t>손으로 0.15 m 고정</a:t>
            </a:r>
            <a:r>
              <a:rPr sz="1050" b="0" i="0">
                <a:solidFill>
                  <a:srgbClr val="16213A"/>
                </a:solidFill>
                <a:latin typeface="Arial"/>
                <a:ea typeface="Malgun Gothic"/>
                <a:cs typeface="Malgun Gothic"/>
              </a:rPr>
              <a:t>해 두었고(M.3.5), 그것이 이 논문이 이긴 기준선이다. TP-0069가 가야 할 방향을 실물로 보여 준다.</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F.6 오픈소스 — 학습 틀은 Isaac Lab·mjlab과 rsl_rl로 모였다</a:t>
            </a:r>
            <a:r>
              <a:rPr sz="1050" b="0" i="0">
                <a:solidFill>
                  <a:srgbClr val="5A6478"/>
                </a:solidFill>
                <a:latin typeface="Arial"/>
                <a:ea typeface="Malgun Gothic"/>
                <a:cs typeface="Malgun Gothic"/>
              </a:rPr>
              <a:t>  1/6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119 / 183</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4족 보행 RL의 공개 코드는 두 층이다.</a:t>
            </a:r>
            <a:r>
              <a:rPr sz="1050" b="0" i="0">
                <a:solidFill>
                  <a:srgbClr val="16213A"/>
                </a:solidFill>
                <a:latin typeface="Arial"/>
                <a:ea typeface="Malgun Gothic"/>
                <a:cs typeface="Malgun Gothic"/>
              </a:rPr>
              <a:t> 아래층은 시뮬레이터 위의 학습 틀이다. 환경과 RL 라이브러리가 여기 든다. 위층은 그 틀 위에 선 논문 구현과 실물 배포 코드다. 학습 틀에서는 Isaac Lab, mjlab, MuJoCo Playground가 활발하다. 셋 다 rsl_rl로 학습할 수 있다. legged_gym과 그 위의 논문 구현 대부분은 Isaac Gym 세대다. NVIDIA는 Isaac Gym을 더 지원하지 않는 레거시로 둔다(</a:t>
            </a:r>
            <a:r>
              <a:rPr sz="1050" b="0" i="0">
                <a:solidFill>
                  <a:srgbClr val="1D4ED8"/>
                </a:solidFill>
                <a:latin typeface="Arial"/>
                <a:ea typeface="Malgun Gothic"/>
                <a:cs typeface="Malgun Gothic"/>
                <a:hlinkClick r:id="rId3"/>
              </a:rPr>
              <a:t>Isaac Gym 페이지</a:t>
            </a:r>
            <a:r>
              <a:rPr sz="1050" b="0" i="0">
                <a:solidFill>
                  <a:srgbClr val="16213A"/>
                </a:solidFill>
                <a:latin typeface="Arial"/>
                <a:ea typeface="Malgun Gothic"/>
                <a:cs typeface="Malgun Gothic"/>
              </a:rPr>
              <a:t>). 이 세대의 legged_gym과 논문 저장소는 코드가 2022–2025년에 멈췄다. </a:t>
            </a:r>
            <a:r>
              <a:rPr sz="1050" b="1" i="0">
                <a:solidFill>
                  <a:srgbClr val="C2410C"/>
                </a:solidFill>
                <a:latin typeface="Arial"/>
                <a:ea typeface="Malgun Gothic"/>
                <a:cs typeface="Malgun Gothic"/>
              </a:rPr>
              <a:t>새로 시작한다면 Isaac Lab이나 mjlab 위에서 rsl_rl로 배우고, Isaac Gym 세대 저장소는 방법을 읽는 데만 쓴다.</a:t>
            </a:r>
          </a:p>
        </p:txBody>
      </p:sp>
      <p:sp>
        <p:nvSpPr>
          <p:cNvPr id="6" name="TextBox 5"/>
          <p:cNvSpPr txBox="1"/>
          <p:nvPr/>
        </p:nvSpPr>
        <p:spPr>
          <a:xfrm>
            <a:off x="609600" y="2199481"/>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travplan이 지금 코드째 들일 저장소는 없다.</a:t>
            </a:r>
            <a:r>
              <a:rPr sz="1050" b="0" i="0">
                <a:solidFill>
                  <a:srgbClr val="16213A"/>
                </a:solidFill>
                <a:latin typeface="Arial"/>
                <a:ea typeface="Malgun Gothic"/>
                <a:cs typeface="Malgun Gothic"/>
              </a:rPr>
              <a:t> rsl_rl을 TP-0066과 TP-0055에 바로 쓸 조각으로 본 판단은 2026-10-07에 고쳤다. TP-0066은 PPO(Proximal Policy Optimization) 없이 끝났다. critic 없이 그룹 상대 이점을 AWR(advantage-weighted regression) 가중치로 바꿔 flow matching을 미세 조정했다(Planner 문서 B.15.3). TP-0055가 쓸 DAgger(Dataset Aggregation) 골격도 </a:t>
            </a:r>
            <a:r>
              <a:rPr sz="1050" b="0" i="0">
                <a:solidFill>
                  <a:srgbClr val="16213A"/>
                </a:solidFill>
                <a:latin typeface="Consolas"/>
                <a:ea typeface="Malgun Gothic"/>
                <a:cs typeface="Malgun Gothic"/>
              </a:rPr>
              <a:t>scripts/dagger_planner_d.py</a:t>
            </a:r>
            <a:r>
              <a:rPr sz="1050" b="0" i="0">
                <a:solidFill>
                  <a:srgbClr val="16213A"/>
                </a:solidFill>
                <a:latin typeface="Arial"/>
                <a:ea typeface="Malgun Gothic"/>
                <a:cs typeface="Malgun Gothic"/>
              </a:rPr>
              <a:t>에 이미 있다. 그래서 rsl_rl이 들어올 자리는 둘로 줄었다. 하나는 학습 루프를 Isaac Lab이나 같은 API의 mjlab으로 옮기는 일(TP-0042)이고, 다른 하나는 TinyPolicy(TP-0128) 같은 작은 MLP 정책의 증류다. 비상업 라이선스인 Extreme Parkour, HIMLoco, ABS는 코드를 들이지 않고 방법만 읽는다.</a:t>
            </a:r>
          </a:p>
        </p:txBody>
      </p:sp>
      <p:sp>
        <p:nvSpPr>
          <p:cNvPr id="7" name="TextBox 6"/>
          <p:cNvSpPr txBox="1"/>
          <p:nvPr/>
        </p:nvSpPr>
        <p:spPr>
          <a:xfrm>
            <a:off x="609600" y="315436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표 읽는 법.</a:t>
            </a:r>
            <a:r>
              <a:rPr sz="1050" b="0" i="0">
                <a:solidFill>
                  <a:srgbClr val="16213A"/>
                </a:solidFill>
                <a:latin typeface="Arial"/>
                <a:ea typeface="Malgun Gothic"/>
                <a:cs typeface="Malgun Gothic"/>
              </a:rPr>
              <a:t> 별과 날짜는 2026-10-07 기준이다. 마지막 코드 변경은 기본 브랜치에서 README·문서·그림만 바꾼 커밋을 뺀 날짜(UTC)다. 상태는 그 날짜로 나눴다. 석 달 안이면 활발, 1년 안이면 유지, 그보다 오래면 정체다. README가 지원 종료를 밝힌 곳은 그렇게 적었다. GitHub에서 보관(archived)된 저장소는 없다. sim2sim은 학습에 쓰지 않은 다른 시뮬레이터에서 정책을 돌려 보는 검증이다.</a:t>
            </a:r>
          </a:p>
        </p:txBody>
      </p:sp>
      <p:sp>
        <p:nvSpPr>
          <p:cNvPr id="8" name="TextBox 7"/>
          <p:cNvSpPr txBox="1"/>
          <p:nvPr/>
        </p:nvSpPr>
        <p:spPr>
          <a:xfrm>
            <a:off x="609600" y="389274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학습 틀.</a:t>
            </a:r>
          </a:p>
        </p:txBody>
      </p:sp>
      <p:graphicFrame>
        <p:nvGraphicFramePr>
          <p:cNvPr id="9" name="Table 8"/>
          <p:cNvGraphicFramePr>
            <a:graphicFrameLocks noGrp="1"/>
          </p:cNvGraphicFramePr>
          <p:nvPr/>
        </p:nvGraphicFramePr>
        <p:xfrm>
          <a:off x="609600" y="4198144"/>
          <a:ext cx="10966450" cy="1558369"/>
        </p:xfrm>
        <a:graphic>
          <a:graphicData uri="http://schemas.openxmlformats.org/drawingml/2006/table">
            <a:tbl>
              <a:tblPr firstRow="1" bandRow="1">
                <a:tableStyleId>{5C22544A-7EE6-4342-B048-85BDC9FD1C3A}</a:tableStyleId>
              </a:tblPr>
              <a:tblGrid>
                <a:gridCol w="1364555"/>
                <a:gridCol w="3646190"/>
                <a:gridCol w="2598341"/>
                <a:gridCol w="781050"/>
                <a:gridCol w="968970"/>
                <a:gridCol w="1607344"/>
              </a:tblGrid>
              <a:tr h="317976">
                <a:tc>
                  <a:txBody>
                    <a:bodyPr wrap="square"/>
                    <a:lstStyle/>
                    <a:p>
                      <a:r>
                        <a:rPr sz="800" b="1" i="0">
                          <a:solidFill>
                            <a:srgbClr val="F4F1EA"/>
                          </a:solidFill>
                          <a:latin typeface="Arial"/>
                          <a:ea typeface="Malgun Gothic"/>
                          <a:cs typeface="Malgun Gothic"/>
                        </a:rPr>
                        <a:t>저장소(★, 마지막 코드 변경)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무엇이 들어 있나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시뮬레이터 · 로봇</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라이선스</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상태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 판단</a:t>
                      </a:r>
                    </a:p>
                  </a:txBody>
                  <a:tcPr marL="63500" marR="63500" marT="12700" marB="12700">
                    <a:solidFill>
                      <a:srgbClr val="16213A"/>
                    </a:solidFill>
                  </a:tcPr>
                </a:tc>
              </a:tr>
              <a:tr h="559752">
                <a:tc>
                  <a:txBody>
                    <a:bodyPr wrap="square"/>
                    <a:lstStyle/>
                    <a:p>
                      <a:r>
                        <a:rPr sz="800" b="0" i="0">
                          <a:solidFill>
                            <a:srgbClr val="1D4ED8"/>
                          </a:solidFill>
                          <a:latin typeface="Arial"/>
                          <a:ea typeface="Malgun Gothic"/>
                          <a:cs typeface="Malgun Gothic"/>
                          <a:hlinkClick r:id="rId4"/>
                        </a:rPr>
                        <a:t>IsaacLab</a:t>
                      </a:r>
                      <a:r>
                        <a:rPr sz="800" b="0" i="0">
                          <a:solidFill>
                            <a:srgbClr val="16213A"/>
                          </a:solidFill>
                          <a:latin typeface="Arial"/>
                          <a:ea typeface="Malgun Gothic"/>
                          <a:cs typeface="Malgun Gothic"/>
                        </a:rPr>
                        <a:t> (★8,289, develop 2026-10-06)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velocity 작업(높이 스캔 1.6 m × 1.0 m, 지형 레벨 커리큘럼), 학습기 설정(rsl_rl, skrl, rl_games, SB3(Stable-Baselines3)), ANYmal-D 증류 설정, 사전 학습 체크포인트 재생. sim2real 안내의 예는 팔(기어 조립, reach), 내비게이션(COMPASS), main의 휴머노이드(HOVER)이고 4족 실물 배포 코드는 없다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Isaac Sim(PhysX). 3.0 개발 브랜치의 velocity 작업은 Newton(MuJoCo Warp)이 기본이고, 이 경로에는 Isaac Sim이 필요 없다. 4족 A1·Go1·Go2·ANYmal-B·C·D·Spot, 2족 Cassie·Digit·G1·H1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BSD-3(mimic 확장은 Apache-2.0)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활발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 루프 이식(TP-0042)의 표준 틀. 시뮬레이션 문서 S.1.1</a:t>
                      </a:r>
                    </a:p>
                  </a:txBody>
                  <a:tcPr marL="63500" marR="63500" marT="12700" marB="12700">
                    <a:solidFill>
                      <a:srgbClr val="FFFDF8"/>
                    </a:solidFill>
                  </a:tcPr>
                </a:tc>
              </a:tr>
              <a:tr h="680641">
                <a:tc>
                  <a:txBody>
                    <a:bodyPr wrap="square"/>
                    <a:lstStyle/>
                    <a:p>
                      <a:r>
                        <a:rPr sz="800" b="0" i="0">
                          <a:solidFill>
                            <a:srgbClr val="1D4ED8"/>
                          </a:solidFill>
                          <a:latin typeface="Arial"/>
                          <a:ea typeface="Malgun Gothic"/>
                          <a:cs typeface="Malgun Gothic"/>
                          <a:hlinkClick r:id="rId5"/>
                        </a:rPr>
                        <a:t>mjlab</a:t>
                      </a:r>
                      <a:r>
                        <a:rPr sz="800" b="0" i="0">
                          <a:solidFill>
                            <a:srgbClr val="16213A"/>
                          </a:solidFill>
                          <a:latin typeface="Arial"/>
                          <a:ea typeface="Malgun Gothic"/>
                          <a:cs typeface="Malgun Gothic"/>
                        </a:rPr>
                        <a:t> (★3,174, 2026-10-06)</a:t>
                      </a:r>
                      <a:r>
                        <a:rPr sz="800" b="0" i="0">
                          <a:solidFill>
                            <a:srgbClr val="16213A"/>
                          </a:solidFill>
                          <a:latin typeface="Arial"/>
                          <a:ea typeface="Malgun Gothic"/>
                          <a:cs typeface="Malgun Gothic"/>
                        </a:rPr>
                        <a:t>
</a:t>
                      </a:r>
                      <a:r>
                        <a:rPr sz="800" b="0" i="0">
                          <a:solidFill>
                            <a:srgbClr val="16213A"/>
                          </a:solidFill>
                          <a:latin typeface="Arial"/>
                          <a:ea typeface="Malgun Gothic"/>
                          <a:cs typeface="Malgun Gothic"/>
                        </a:rPr>
                        <a:t>Unitree판 </a:t>
                      </a:r>
                      <a:r>
                        <a:rPr sz="800" b="0" i="0">
                          <a:solidFill>
                            <a:srgbClr val="1D4ED8"/>
                          </a:solidFill>
                          <a:latin typeface="Arial"/>
                          <a:ea typeface="Malgun Gothic"/>
                          <a:cs typeface="Malgun Gothic"/>
                          <a:hlinkClick r:id="rId6"/>
                        </a:rPr>
                        <a:t>unitree_rl_mjlab</a:t>
                      </a:r>
                      <a:r>
                        <a:rPr sz="800" b="0" i="0">
                          <a:solidFill>
                            <a:srgbClr val="16213A"/>
                          </a:solidFill>
                          <a:latin typeface="Arial"/>
                          <a:ea typeface="Malgun Gothic"/>
                          <a:cs typeface="Malgun Gothic"/>
                        </a:rPr>
                        <a:t> (★669, 2026-04-13)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Isaac Lab의 manager 기반 API를 MuJoCo Warp 위로 옮긴 틀. velocity 작업(Go1·G1), G1 모션 추적, rsl_rl 5.5.1 고정. Isaac Sim 없이 pip·uv로 설치한다. Unitree판은 Go2·G1 등 7종과 실물 배포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MuJoCo Warp 3.11. 학습에는 NVIDIA GPU가 필요하다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활발(Unitree판은 유지)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plant 1순위 엔진(S.5.3c) 위에서 Isaac Lab식 작업을 짠다. 스워브 MJCF(MuJoCo 모델 파일)가 생기면 첫 후보</a:t>
                      </a:r>
                    </a:p>
                  </a:txBody>
                  <a:tcPr marL="63500" marR="63500" marT="12700" marB="12700">
                    <a:solidFill>
                      <a:srgbClr val="F3F0E8"/>
                    </a:solidFill>
                  </a:tcPr>
                </a:tc>
              </a:tr>
            </a:tbl>
          </a:graphicData>
        </a:graphic>
      </p:graphicFrame>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F.6 오픈소스 — 학습 틀은 Isaac Lab·mjlab과 rsl_rl로 모였다</a:t>
            </a:r>
            <a:r>
              <a:rPr sz="1050" b="0" i="0">
                <a:solidFill>
                  <a:srgbClr val="5A6478"/>
                </a:solidFill>
                <a:latin typeface="Arial"/>
                <a:ea typeface="Malgun Gothic"/>
                <a:cs typeface="Malgun Gothic"/>
              </a:rPr>
              <a:t>  2/6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120 / 183</a:t>
            </a:r>
          </a:p>
        </p:txBody>
      </p:sp>
      <p:graphicFrame>
        <p:nvGraphicFramePr>
          <p:cNvPr id="5" name="Table 4"/>
          <p:cNvGraphicFramePr>
            <a:graphicFrameLocks noGrp="1"/>
          </p:cNvGraphicFramePr>
          <p:nvPr/>
        </p:nvGraphicFramePr>
        <p:xfrm>
          <a:off x="609600" y="1244600"/>
          <a:ext cx="10966450" cy="3192936"/>
        </p:xfrm>
        <a:graphic>
          <a:graphicData uri="http://schemas.openxmlformats.org/drawingml/2006/table">
            <a:tbl>
              <a:tblPr firstRow="1" bandRow="1">
                <a:tableStyleId>{5C22544A-7EE6-4342-B048-85BDC9FD1C3A}</a:tableStyleId>
              </a:tblPr>
              <a:tblGrid>
                <a:gridCol w="1364555"/>
                <a:gridCol w="3646190"/>
                <a:gridCol w="2598341"/>
                <a:gridCol w="781050"/>
                <a:gridCol w="968970"/>
                <a:gridCol w="1607344"/>
              </a:tblGrid>
              <a:tr h="317976">
                <a:tc>
                  <a:txBody>
                    <a:bodyPr wrap="square"/>
                    <a:lstStyle/>
                    <a:p>
                      <a:r>
                        <a:rPr sz="800" b="1" i="0">
                          <a:solidFill>
                            <a:srgbClr val="F4F1EA"/>
                          </a:solidFill>
                          <a:latin typeface="Arial"/>
                          <a:ea typeface="Malgun Gothic"/>
                          <a:cs typeface="Malgun Gothic"/>
                        </a:rPr>
                        <a:t>저장소(★, 마지막 코드 변경)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무엇이 들어 있나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시뮬레이터 · 로봇</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라이선스</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상태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 판단</a:t>
                      </a:r>
                    </a:p>
                  </a:txBody>
                  <a:tcPr marL="63500" marR="63500" marT="12700" marB="12700">
                    <a:solidFill>
                      <a:srgbClr val="16213A"/>
                    </a:solidFill>
                  </a:tcPr>
                </a:tc>
              </a:tr>
              <a:tr h="438864">
                <a:tc>
                  <a:txBody>
                    <a:bodyPr wrap="square"/>
                    <a:lstStyle/>
                    <a:p>
                      <a:r>
                        <a:rPr sz="800" b="0" i="0">
                          <a:solidFill>
                            <a:srgbClr val="1D4ED8"/>
                          </a:solidFill>
                          <a:latin typeface="Arial"/>
                          <a:ea typeface="Malgun Gothic"/>
                          <a:cs typeface="Malgun Gothic"/>
                          <a:hlinkClick r:id="rId3"/>
                        </a:rPr>
                        <a:t>mujoco_playground</a:t>
                      </a:r>
                      <a:r>
                        <a:rPr sz="800" b="0" i="0">
                          <a:solidFill>
                            <a:srgbClr val="16213A"/>
                          </a:solidFill>
                          <a:latin typeface="Arial"/>
                          <a:ea typeface="Malgun Gothic"/>
                          <a:cs typeface="Malgun Gothic"/>
                        </a:rPr>
                        <a:t> (★2,243, 2026-10-05)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4족 작업(Go1 조이스틱·일어서기·물구나무, Spot, Barkour)과 휴머노이드 작업. 학습은 Brax PPO나 rsl_rl. Go1 ONNX(Open Neural Network Exchange) 정책과 네이티브 MuJoCo 재생 스크립트(sim2sim)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MJX(MuJoCo의 JAX판)·MuJoCo Warp. Go1·Spot·Barkour, G1·H1·T1 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활발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보도 에셋과 ROS 2 브릿지가 없어 따로 고를 이유가 적다. S.1.3</a:t>
                      </a:r>
                    </a:p>
                  </a:txBody>
                  <a:tcPr marL="63500" marR="63500" marT="12700" marB="12700">
                    <a:solidFill>
                      <a:srgbClr val="FFFDF8"/>
                    </a:solidFill>
                  </a:tcPr>
                </a:tc>
              </a:tr>
              <a:tr h="438864">
                <a:tc>
                  <a:txBody>
                    <a:bodyPr wrap="square"/>
                    <a:lstStyle/>
                    <a:p>
                      <a:r>
                        <a:rPr sz="800" b="0" i="0">
                          <a:solidFill>
                            <a:srgbClr val="1D4ED8"/>
                          </a:solidFill>
                          <a:latin typeface="Arial"/>
                          <a:ea typeface="Malgun Gothic"/>
                          <a:cs typeface="Malgun Gothic"/>
                          <a:hlinkClick r:id="rId4"/>
                        </a:rPr>
                        <a:t>rsl_rl</a:t>
                      </a:r>
                      <a:r>
                        <a:rPr sz="800" b="0" i="0">
                          <a:solidFill>
                            <a:srgbClr val="16213A"/>
                          </a:solidFill>
                          <a:latin typeface="Arial"/>
                          <a:ea typeface="Malgun Gothic"/>
                          <a:cs typeface="Malgun Gothic"/>
                        </a:rPr>
                        <a:t> (★3,045, 2026-09-09, v5.5.1)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알고리즘은 PPO와 DAgger식 증류 둘이다. 확장은 RND(random network distillation) 호기심 보상과 대칭 증강이다. MLP·RNN(LSTM·GRU)·CNN 모델과 ONNX 내보내기. 환경은 없다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시뮬레이터와 무관하다(VecEnv 인터페이스, 관측은 TensorDict)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BSD-3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활발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들인다면 1순위. 자리는 TP-0042와 MLP 정책 증류(아래 3)</a:t>
                      </a:r>
                    </a:p>
                  </a:txBody>
                  <a:tcPr marL="63500" marR="63500" marT="12700" marB="12700">
                    <a:solidFill>
                      <a:srgbClr val="F3F0E8"/>
                    </a:solidFill>
                  </a:tcPr>
                </a:tc>
              </a:tr>
              <a:tr h="559752">
                <a:tc>
                  <a:txBody>
                    <a:bodyPr wrap="square"/>
                    <a:lstStyle/>
                    <a:p>
                      <a:r>
                        <a:rPr sz="800" b="0" i="0">
                          <a:solidFill>
                            <a:srgbClr val="1D4ED8"/>
                          </a:solidFill>
                          <a:latin typeface="Arial"/>
                          <a:ea typeface="Malgun Gothic"/>
                          <a:cs typeface="Malgun Gothic"/>
                          <a:hlinkClick r:id="rId5"/>
                        </a:rPr>
                        <a:t>legged_gym</a:t>
                      </a:r>
                      <a:r>
                        <a:rPr sz="800" b="0" i="0">
                          <a:solidFill>
                            <a:srgbClr val="16213A"/>
                          </a:solidFill>
                          <a:latin typeface="Arial"/>
                          <a:ea typeface="Malgun Gothic"/>
                          <a:cs typeface="Malgun Gothic"/>
                        </a:rPr>
                        <a:t> (★3,134, 2022-05-04)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Rudin 2021의 험지 환경과 ANYmal 액추에이터 망(LSTM) 가중치. 정책 가중치와 배포 코드는 없다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Isaac Gym Preview 3, rsl_rl v1.0.2. ANYmal-B·C, A1, Cassie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BSD-3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정체. 2024-01 README 공지가 Isaac Lab 이전을 권한다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읽기만 한다. 같은 작업이 Isaac Lab에 있다. Planner 문서 B.14.1</a:t>
                      </a:r>
                    </a:p>
                  </a:txBody>
                  <a:tcPr marL="63500" marR="63500" marT="12700" marB="12700">
                    <a:solidFill>
                      <a:srgbClr val="FFFDF8"/>
                    </a:solidFill>
                  </a:tcPr>
                </a:tc>
              </a:tr>
              <a:tr h="438864">
                <a:tc>
                  <a:txBody>
                    <a:bodyPr wrap="square"/>
                    <a:lstStyle/>
                    <a:p>
                      <a:r>
                        <a:rPr sz="800" b="0" i="0">
                          <a:solidFill>
                            <a:srgbClr val="1D4ED8"/>
                          </a:solidFill>
                          <a:latin typeface="Arial"/>
                          <a:ea typeface="Malgun Gothic"/>
                          <a:cs typeface="Malgun Gothic"/>
                          <a:hlinkClick r:id="rId6"/>
                        </a:rPr>
                        <a:t>unitree_rl_lab</a:t>
                      </a:r>
                      <a:r>
                        <a:rPr sz="800" b="0" i="0">
                          <a:solidFill>
                            <a:srgbClr val="16213A"/>
                          </a:solidFill>
                          <a:latin typeface="Arial"/>
                          <a:ea typeface="Malgun Gothic"/>
                          <a:cs typeface="Malgun Gothic"/>
                        </a:rPr>
                        <a:t> (★1,386, main 2025-11-19)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Isaac Lab 확장. velocity 작업(Go2·H1·G1)과 G1 모방 둘. Go2-W 로봇 설정과 C++ 배포, 토크-속도 곡선 액추에이터 모델. 동봉 정책은 G1 ONNX뿐이다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Isaac Lab 2.3.0 · Isaac Sim 5.1, sim2sim은 unitree_mujoco. isaaclab3.0 브랜치(2026-05-25)는 Isaac Lab 3.0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유지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학습, sim2sim, 실물로 이어지는 순서와 액추에이터 모델의 본보기. S.5.3c</a:t>
                      </a:r>
                    </a:p>
                  </a:txBody>
                  <a:tcPr marL="63500" marR="63500" marT="12700" marB="12700">
                    <a:solidFill>
                      <a:srgbClr val="F3F0E8"/>
                    </a:solidFill>
                  </a:tcPr>
                </a:tc>
              </a:tr>
              <a:tr h="559752">
                <a:tc>
                  <a:txBody>
                    <a:bodyPr wrap="square"/>
                    <a:lstStyle/>
                    <a:p>
                      <a:r>
                        <a:rPr sz="800" b="0" i="0">
                          <a:solidFill>
                            <a:srgbClr val="1D4ED8"/>
                          </a:solidFill>
                          <a:latin typeface="Arial"/>
                          <a:ea typeface="Malgun Gothic"/>
                          <a:cs typeface="Malgun Gothic"/>
                          <a:hlinkClick r:id="rId7"/>
                        </a:rPr>
                        <a:t>robot_lab</a:t>
                      </a:r>
                      <a:r>
                        <a:rPr sz="800" b="0" i="0">
                          <a:solidFill>
                            <a:srgbClr val="16213A"/>
                          </a:solidFill>
                          <a:latin typeface="Arial"/>
                          <a:ea typeface="Malgun Gothic"/>
                          <a:cs typeface="Malgun Gothic"/>
                        </a:rPr>
                        <a:t> (★1,933, 2026-05-27)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Isaac Lab 확장. 로봇 24종의 velocity 작업(4족 8, 바퀴-다리 6, 휴머노이드 10). rsl_rl(대칭 증강, ANYmal-D 증류 예), CusRL(실험), skrl AMP(adversarial motion priors). 가중치와 배포 코드는 없고 배포는 rl_sar가 맡는다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Isaac Lab 2.3.2 · Isaac Sim 5.1. 바퀴-다리는 Go2W·B2W·M20·Tita 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유지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바퀴-다리 로봇 여섯의 행동 규약(다리는 위치, 바퀴는 속도) 모음(아래 4)</a:t>
                      </a:r>
                    </a:p>
                  </a:txBody>
                  <a:tcPr marL="63500" marR="63500" marT="12700" marB="12700">
                    <a:solidFill>
                      <a:srgbClr val="FFFDF8"/>
                    </a:solidFill>
                  </a:tcPr>
                </a:tc>
              </a:tr>
              <a:tr h="438864">
                <a:tc>
                  <a:txBody>
                    <a:bodyPr wrap="square"/>
                    <a:lstStyle/>
                    <a:p>
                      <a:r>
                        <a:rPr sz="800" b="0" i="0">
                          <a:solidFill>
                            <a:srgbClr val="1D4ED8"/>
                          </a:solidFill>
                          <a:latin typeface="Arial"/>
                          <a:ea typeface="Malgun Gothic"/>
                          <a:cs typeface="Malgun Gothic"/>
                          <a:hlinkClick r:id="rId8"/>
                        </a:rPr>
                        <a:t>unitree_rl_gym</a:t>
                      </a:r>
                      <a:r>
                        <a:rPr sz="800" b="0" i="0">
                          <a:solidFill>
                            <a:srgbClr val="16213A"/>
                          </a:solidFill>
                          <a:latin typeface="Arial"/>
                          <a:ea typeface="Malgun Gothic"/>
                          <a:cs typeface="Malgun Gothic"/>
                        </a:rPr>
                        <a:t> (★3,586, 2025-07-25)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legged_gym 파생. Go2·G1·H1·H1_2 학습. 사전 학습 정책, MuJoCo sim2sim, 실물 배포는 휴머노이드 셋에만 있다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Isaac Gym, rsl_rl v1.0.2, MuJoCo 3.2.3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BSD-3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정체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4족 쪽은 학습과 재생뿐이다. 같은 회사의 Isaac Lab판이 unitree_rl_lab이다</a:t>
                      </a:r>
                    </a:p>
                  </a:txBody>
                  <a:tcPr marL="63500" marR="63500" marT="12700" marB="12700">
                    <a:solidFill>
                      <a:srgbClr val="F3F0E8"/>
                    </a:solidFill>
                  </a:tcPr>
                </a:tc>
              </a:tr>
            </a:tbl>
          </a:graphicData>
        </a:graphic>
      </p:graphicFrame>
      <p:sp>
        <p:nvSpPr>
          <p:cNvPr id="6" name="TextBox 5"/>
          <p:cNvSpPr txBox="1"/>
          <p:nvPr/>
        </p:nvSpPr>
        <p:spPr>
          <a:xfrm>
            <a:off x="609600" y="533102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논문 구현과 배포.</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F.6 오픈소스 — 학습 틀은 Isaac Lab·mjlab과 rsl_rl로 모였다</a:t>
            </a:r>
            <a:r>
              <a:rPr sz="1050" b="0" i="0">
                <a:solidFill>
                  <a:srgbClr val="5A6478"/>
                </a:solidFill>
                <a:latin typeface="Arial"/>
                <a:ea typeface="Malgun Gothic"/>
                <a:cs typeface="Malgun Gothic"/>
              </a:rPr>
              <a:t>  3/6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121 / 183</a:t>
            </a:r>
          </a:p>
        </p:txBody>
      </p:sp>
      <p:graphicFrame>
        <p:nvGraphicFramePr>
          <p:cNvPr id="5" name="Table 4"/>
          <p:cNvGraphicFramePr>
            <a:graphicFrameLocks noGrp="1"/>
          </p:cNvGraphicFramePr>
          <p:nvPr/>
        </p:nvGraphicFramePr>
        <p:xfrm>
          <a:off x="609600" y="1244600"/>
          <a:ext cx="10966450" cy="3752688"/>
        </p:xfrm>
        <a:graphic>
          <a:graphicData uri="http://schemas.openxmlformats.org/drawingml/2006/table">
            <a:tbl>
              <a:tblPr firstRow="1" bandRow="1">
                <a:tableStyleId>{5C22544A-7EE6-4342-B048-85BDC9FD1C3A}</a:tableStyleId>
              </a:tblPr>
              <a:tblGrid>
                <a:gridCol w="1283891"/>
                <a:gridCol w="3739555"/>
                <a:gridCol w="2367260"/>
                <a:gridCol w="1374080"/>
                <a:gridCol w="737791"/>
                <a:gridCol w="1463873"/>
              </a:tblGrid>
              <a:tr h="317976">
                <a:tc>
                  <a:txBody>
                    <a:bodyPr wrap="square"/>
                    <a:lstStyle/>
                    <a:p>
                      <a:r>
                        <a:rPr sz="800" b="1" i="0">
                          <a:solidFill>
                            <a:srgbClr val="F4F1EA"/>
                          </a:solidFill>
                          <a:latin typeface="Arial"/>
                          <a:ea typeface="Malgun Gothic"/>
                          <a:cs typeface="Malgun Gothic"/>
                        </a:rPr>
                        <a:t>저장소(★, 마지막 코드 변경)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무엇이 들어 있나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시뮬레이터 · 로봇</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라이선스</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상태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 판단</a:t>
                      </a:r>
                    </a:p>
                  </a:txBody>
                  <a:tcPr marL="63500" marR="63500" marT="12700" marB="12700">
                    <a:solidFill>
                      <a:srgbClr val="16213A"/>
                    </a:solidFill>
                  </a:tcPr>
                </a:tc>
              </a:tr>
              <a:tr h="438864">
                <a:tc>
                  <a:txBody>
                    <a:bodyPr wrap="square"/>
                    <a:lstStyle/>
                    <a:p>
                      <a:r>
                        <a:rPr sz="800" b="0" i="0">
                          <a:solidFill>
                            <a:srgbClr val="1D4ED8"/>
                          </a:solidFill>
                          <a:latin typeface="Arial"/>
                          <a:ea typeface="Malgun Gothic"/>
                          <a:cs typeface="Malgun Gothic"/>
                          <a:hlinkClick r:id="rId3"/>
                        </a:rPr>
                        <a:t>walk-these-ways</a:t>
                      </a:r>
                      <a:r>
                        <a:rPr sz="800" b="0" i="0">
                          <a:solidFill>
                            <a:srgbClr val="16213A"/>
                          </a:solidFill>
                          <a:latin typeface="Arial"/>
                          <a:ea typeface="Malgun Gothic"/>
                          <a:cs typeface="Malgun Gothic"/>
                        </a:rPr>
                        <a:t> (★1,459, 2024-06-16)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Walk These Ways(CoRL 2022) 학습 코드. Go1 사전 학습 정책과 Go1 액추에이터 망, Go1 실물 배포(도커 이미지)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Isaac Gym Preview 4. Go1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MIT(legged_gym에서 온 파일은 BSD-3)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정체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명령 격자 커리큘럼이 쓸 만하다(F.6.1 'travplan에 주는 것' 4)</a:t>
                      </a:r>
                    </a:p>
                  </a:txBody>
                  <a:tcPr marL="63500" marR="63500" marT="12700" marB="12700">
                    <a:solidFill>
                      <a:srgbClr val="FFFDF8"/>
                    </a:solidFill>
                  </a:tcPr>
                </a:tc>
              </a:tr>
              <a:tr h="317976">
                <a:tc>
                  <a:txBody>
                    <a:bodyPr wrap="square"/>
                    <a:lstStyle/>
                    <a:p>
                      <a:r>
                        <a:rPr sz="800" b="0" i="0">
                          <a:solidFill>
                            <a:srgbClr val="1D4ED8"/>
                          </a:solidFill>
                          <a:latin typeface="Arial"/>
                          <a:ea typeface="Malgun Gothic"/>
                          <a:cs typeface="Malgun Gothic"/>
                          <a:hlinkClick r:id="rId4"/>
                        </a:rPr>
                        <a:t>walk-these-ways-go2</a:t>
                      </a:r>
                      <a:r>
                        <a:rPr sz="800" b="0" i="0">
                          <a:solidFill>
                            <a:srgbClr val="16213A"/>
                          </a:solidFill>
                          <a:latin typeface="Arial"/>
                          <a:ea typeface="Malgun Gothic"/>
                          <a:cs typeface="Malgun Gothic"/>
                        </a:rPr>
                        <a:t> (★631, 2024-03-16)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위 저장소의 Go2 이식. 제3자가 학습한 Go2 정책, unitree_sdk2 C++ 브리지로 실물 배포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Isaac Gym. Go2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MIT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정체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브리지의 안전 분기는 반면교사다(F.6.1, E.15)</a:t>
                      </a:r>
                    </a:p>
                  </a:txBody>
                  <a:tcPr marL="63500" marR="63500" marT="12700" marB="12700">
                    <a:solidFill>
                      <a:srgbClr val="F3F0E8"/>
                    </a:solidFill>
                  </a:tcPr>
                </a:tc>
              </a:tr>
              <a:tr h="438864">
                <a:tc>
                  <a:txBody>
                    <a:bodyPr wrap="square"/>
                    <a:lstStyle/>
                    <a:p>
                      <a:r>
                        <a:rPr sz="800" b="0" i="0">
                          <a:solidFill>
                            <a:srgbClr val="1D4ED8"/>
                          </a:solidFill>
                          <a:latin typeface="Arial"/>
                          <a:ea typeface="Malgun Gothic"/>
                          <a:cs typeface="Malgun Gothic"/>
                          <a:hlinkClick r:id="rId5"/>
                        </a:rPr>
                        <a:t>extreme-parkour</a:t>
                      </a:r>
                      <a:r>
                        <a:rPr sz="800" b="0" i="0">
                          <a:solidFill>
                            <a:srgbClr val="16213A"/>
                          </a:solidFill>
                          <a:latin typeface="Arial"/>
                          <a:ea typeface="Malgun Gothic"/>
                          <a:cs typeface="Malgun Gothic"/>
                        </a:rPr>
                        <a:t> (★1,182, 2023-09-25)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Extreme Parkour(ICRA 2024). 높이 점을 보는 기본 정책을 배운 뒤 깊이 영상 학생으로 증류한다. RTX 3090에서 기본 8–10시간, 증류 5–10시간. 가중치와 실물 배포 코드는 지금 main에 없다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Isaac Gym, rsl_rl 1.0.2 개조판. A1. Go1 설정도 등록돼 있지만 원저자는 Go1 지원 전이라고 답했다(</a:t>
                      </a:r>
                      <a:r>
                        <a:rPr sz="800" b="0" i="0">
                          <a:solidFill>
                            <a:srgbClr val="1D4ED8"/>
                          </a:solidFill>
                          <a:latin typeface="Arial"/>
                          <a:ea typeface="Malgun Gothic"/>
                          <a:cs typeface="Malgun Gothic"/>
                          <a:hlinkClick r:id="rId6"/>
                        </a:rPr>
                        <a:t>이슈 #2</a:t>
                      </a:r>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CC BY-NC 4.0(비상업)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정체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방법만 읽는다. 자세한 것은 F.6.2</a:t>
                      </a:r>
                    </a:p>
                  </a:txBody>
                  <a:tcPr marL="63500" marR="63500" marT="12700" marB="12700">
                    <a:solidFill>
                      <a:srgbClr val="FFFDF8"/>
                    </a:solidFill>
                  </a:tcPr>
                </a:tc>
              </a:tr>
              <a:tr h="559752">
                <a:tc>
                  <a:txBody>
                    <a:bodyPr wrap="square"/>
                    <a:lstStyle/>
                    <a:p>
                      <a:r>
                        <a:rPr sz="800" b="0" i="0">
                          <a:solidFill>
                            <a:srgbClr val="1D4ED8"/>
                          </a:solidFill>
                          <a:latin typeface="Arial"/>
                          <a:ea typeface="Malgun Gothic"/>
                          <a:cs typeface="Malgun Gothic"/>
                          <a:hlinkClick r:id="rId7"/>
                        </a:rPr>
                        <a:t>parkour</a:t>
                      </a:r>
                      <a:r>
                        <a:rPr sz="800" b="0" i="0">
                          <a:solidFill>
                            <a:srgbClr val="16213A"/>
                          </a:solidFill>
                          <a:latin typeface="Arial"/>
                          <a:ea typeface="Malgun Gothic"/>
                          <a:cs typeface="Malgun Gothic"/>
                        </a:rPr>
                        <a:t> (★1,133, 2025-05-21)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Robot Parkour Learning(CoRL 2023). 기술 다섯(오르기, 뛰어넘기, 기어가기, 좁은 틈 지나가기, 달리기)을 따로 배운 뒤 깊이 영상 정책 하나로 DAgger 증류한다. A1 증류는 24 GB 이상 GPU 두 장을 요구한다. Go1 체크포인트 둘, Go1·Go2 실물 배포 코드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Isaac Gym Preview 4, rsl_rl 1.0.2 개조판. A1·Go1·Go2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MIT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정체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여러 기술 교사를 학생 하나로 합치는 증류의 공개 예. Planner 문서 B.12.2</a:t>
                      </a:r>
                    </a:p>
                  </a:txBody>
                  <a:tcPr marL="63500" marR="63500" marT="12700" marB="12700">
                    <a:solidFill>
                      <a:srgbClr val="F3F0E8"/>
                    </a:solidFill>
                  </a:tcPr>
                </a:tc>
              </a:tr>
              <a:tr h="559752">
                <a:tc>
                  <a:txBody>
                    <a:bodyPr wrap="square"/>
                    <a:lstStyle/>
                    <a:p>
                      <a:r>
                        <a:rPr sz="800" b="0" i="0">
                          <a:solidFill>
                            <a:srgbClr val="1D4ED8"/>
                          </a:solidFill>
                          <a:latin typeface="Arial"/>
                          <a:ea typeface="Malgun Gothic"/>
                          <a:cs typeface="Malgun Gothic"/>
                          <a:hlinkClick r:id="rId8"/>
                        </a:rPr>
                        <a:t>HIMLoco</a:t>
                      </a:r>
                      <a:r>
                        <a:rPr sz="800" b="0" i="0">
                          <a:solidFill>
                            <a:srgbClr val="16213A"/>
                          </a:solidFill>
                          <a:latin typeface="Arial"/>
                          <a:ea typeface="Malgun Gothic"/>
                          <a:cs typeface="Malgun Gothic"/>
                        </a:rPr>
                        <a:t> (★965, 2024-05-14)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HIM(ICLR 2024) 학습 코드. 관측 이력 6스텝에서 속도 3개와 단위 길이 잠재 16개를 추정한다. 잠재는 다음 관측과의 대조 학습(원형 32개, Sinkhorn)으로 배운다. 배포 안내와 H∞ 학습 코드는 공개되지 않았다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Isaac Gym Preview 4, rsl_rl 1.0.2 개조판. A1·Aliengo·Go1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CC BY-NC-SA 4.0(비상업)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정체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KL(Kullback–Leibler) 항이 없어 F.6.1 공통 함정 1(β와 손실 척도)은 해당하지 않는다. 방법만 읽는다</a:t>
                      </a:r>
                    </a:p>
                  </a:txBody>
                  <a:tcPr marL="63500" marR="63500" marT="12700" marB="12700">
                    <a:solidFill>
                      <a:srgbClr val="FFFDF8"/>
                    </a:solidFill>
                  </a:tcPr>
                </a:tc>
              </a:tr>
              <a:tr h="559752">
                <a:tc>
                  <a:txBody>
                    <a:bodyPr wrap="square"/>
                    <a:lstStyle/>
                    <a:p>
                      <a:r>
                        <a:rPr sz="800" b="0" i="0">
                          <a:solidFill>
                            <a:srgbClr val="1D4ED8"/>
                          </a:solidFill>
                          <a:latin typeface="Arial"/>
                          <a:ea typeface="Malgun Gothic"/>
                          <a:cs typeface="Malgun Gothic"/>
                          <a:hlinkClick r:id="rId9"/>
                        </a:rPr>
                        <a:t>ABS</a:t>
                      </a:r>
                      <a:r>
                        <a:rPr sz="800" b="0" i="0">
                          <a:solidFill>
                            <a:srgbClr val="16213A"/>
                          </a:solidFill>
                          <a:latin typeface="Arial"/>
                          <a:ea typeface="Malgun Gothic"/>
                          <a:cs typeface="Malgun Gothic"/>
                        </a:rPr>
                        <a:t> (★632, 2024-04-25)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Agile But Safe(RSS 2024). 빠른 정책, 회복 정책, 도달-회피 가치망 학습과 광선 거리 예측망 데이터 수집. 회복 정책 가중치 넷, Go1 실물 배포(ROS Noetic, ZED mini, Orin NX)</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Isaac Gym Preview 4, rsl_rl 1.0.2 개조판. Go1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CC BY-NC 4.0(README 표기, LICENSE 파일 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정체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학습한 가치로 정책을 바꾸는 폴백 규칙의 원형. 방법만 읽는다. Planner 문서 B.9, 이 문서 C.4</a:t>
                      </a:r>
                    </a:p>
                  </a:txBody>
                  <a:tcPr marL="63500" marR="63500" marT="12700" marB="12700">
                    <a:solidFill>
                      <a:srgbClr val="F3F0E8"/>
                    </a:solidFill>
                  </a:tcPr>
                </a:tc>
              </a:tr>
              <a:tr h="559752">
                <a:tc>
                  <a:txBody>
                    <a:bodyPr wrap="square"/>
                    <a:lstStyle/>
                    <a:p>
                      <a:r>
                        <a:rPr sz="800" b="0" i="0">
                          <a:solidFill>
                            <a:srgbClr val="1D4ED8"/>
                          </a:solidFill>
                          <a:latin typeface="Arial"/>
                          <a:ea typeface="Malgun Gothic"/>
                          <a:cs typeface="Malgun Gothic"/>
                          <a:hlinkClick r:id="rId10"/>
                        </a:rPr>
                        <a:t>AMP_for_hardware</a:t>
                      </a:r>
                      <a:r>
                        <a:rPr sz="800" b="0" i="0">
                          <a:solidFill>
                            <a:srgbClr val="16213A"/>
                          </a:solidFill>
                          <a:latin typeface="Arial"/>
                          <a:ea typeface="Malgun Gothic"/>
                          <a:cs typeface="Malgun Gothic"/>
                        </a:rPr>
                        <a:t> (★846, 2022-04-27)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AMP(IROS 2022). 모션 캡처 4.5초로 배운 판별기 스타일 보상이 손으로 짠 규제 보상 항을 대신한다. 속도 추종 과업 보상은 남는다. 참조 동작과 A1 예제 체크포인트를 싣는다. 배포 코드는 기본 브랜치에 없고, retarget_scripts 브랜치(2022-06-09)에 A1 실물 환경과 재타기팅 스크립트가 있다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Isaac Gym Preview 3, rsl_rl 1.0.2 개조판. A1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BSD-3(legged_gym 라이선스 파일)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정체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travplan에는 참조 동작이 없어 쓸 자리가 적다</a:t>
                      </a:r>
                    </a:p>
                  </a:txBody>
                  <a:tcPr marL="63500" marR="63500" marT="12700" marB="12700">
                    <a:solidFill>
                      <a:srgbClr val="FFFDF8"/>
                    </a:solidFill>
                  </a:tcPr>
                </a:tc>
              </a:tr>
            </a:tbl>
          </a:graphicData>
        </a:graphic>
      </p:graphicFrame>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F.6 오픈소스 — 학습 틀은 Isaac Lab·mjlab과 rsl_rl로 모였다</a:t>
            </a:r>
            <a:r>
              <a:rPr sz="1050" b="0" i="0">
                <a:solidFill>
                  <a:srgbClr val="5A6478"/>
                </a:solidFill>
                <a:latin typeface="Arial"/>
                <a:ea typeface="Malgun Gothic"/>
                <a:cs typeface="Malgun Gothic"/>
              </a:rPr>
              <a:t>  4/6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122 / 183</a:t>
            </a:r>
          </a:p>
        </p:txBody>
      </p:sp>
      <p:graphicFrame>
        <p:nvGraphicFramePr>
          <p:cNvPr id="5" name="Table 4"/>
          <p:cNvGraphicFramePr>
            <a:graphicFrameLocks noGrp="1"/>
          </p:cNvGraphicFramePr>
          <p:nvPr/>
        </p:nvGraphicFramePr>
        <p:xfrm>
          <a:off x="609600" y="1244600"/>
          <a:ext cx="10966450" cy="1513680"/>
        </p:xfrm>
        <a:graphic>
          <a:graphicData uri="http://schemas.openxmlformats.org/drawingml/2006/table">
            <a:tbl>
              <a:tblPr firstRow="1" bandRow="1">
                <a:tableStyleId>{5C22544A-7EE6-4342-B048-85BDC9FD1C3A}</a:tableStyleId>
              </a:tblPr>
              <a:tblGrid>
                <a:gridCol w="1283891"/>
                <a:gridCol w="3739555"/>
                <a:gridCol w="2367260"/>
                <a:gridCol w="1374080"/>
                <a:gridCol w="737791"/>
                <a:gridCol w="1463873"/>
              </a:tblGrid>
              <a:tr h="317976">
                <a:tc>
                  <a:txBody>
                    <a:bodyPr wrap="square"/>
                    <a:lstStyle/>
                    <a:p>
                      <a:r>
                        <a:rPr sz="800" b="1" i="0">
                          <a:solidFill>
                            <a:srgbClr val="F4F1EA"/>
                          </a:solidFill>
                          <a:latin typeface="Arial"/>
                          <a:ea typeface="Malgun Gothic"/>
                          <a:cs typeface="Malgun Gothic"/>
                        </a:rPr>
                        <a:t>저장소(★, 마지막 코드 변경)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무엇이 들어 있나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시뮬레이터 · 로봇</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라이선스</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상태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 판단</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DreamWaQ 비공식 구현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공식 코드는 없다(표 아래). 재구현 셋을 코드까지 읽은 결과가 F.6.1이다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대부분 Isaac Gym. A1·Go1·Go2, 바퀴-다리 M20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저장소마다 다르고, 없는 곳이 많다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구조를 읽는 참고 자료다. 작동하는 문맥 z는 없었다(E.15)</a:t>
                      </a:r>
                    </a:p>
                  </a:txBody>
                  <a:tcPr marL="63500" marR="63500" marT="12700" marB="12700">
                    <a:solidFill>
                      <a:srgbClr val="FFFDF8"/>
                    </a:solidFill>
                  </a:tcPr>
                </a:tc>
              </a:tr>
              <a:tr h="438864">
                <a:tc>
                  <a:txBody>
                    <a:bodyPr wrap="square"/>
                    <a:lstStyle/>
                    <a:p>
                      <a:r>
                        <a:rPr sz="800" b="0" i="0">
                          <a:solidFill>
                            <a:srgbClr val="1D4ED8"/>
                          </a:solidFill>
                          <a:latin typeface="Arial"/>
                          <a:ea typeface="Malgun Gothic"/>
                          <a:cs typeface="Malgun Gothic"/>
                          <a:hlinkClick r:id="rId3"/>
                        </a:rPr>
                        <a:t>rl_sar</a:t>
                      </a:r>
                      <a:r>
                        <a:rPr sz="800" b="0" i="0">
                          <a:solidFill>
                            <a:srgbClr val="16213A"/>
                          </a:solidFill>
                          <a:latin typeface="Arial"/>
                          <a:ea typeface="Malgun Gothic"/>
                          <a:cs typeface="Malgun Gothic"/>
                        </a:rPr>
                        <a:t> (★1,475, 2026-08-16)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 배포 틀(libtorch·ONNX Runtime, ROS Noetic·ROS 2 Foxy·Humble 또는 ROS 없이). 정책 가중치 16개 동봉(legged_gym·HIMLoco·robot_lab 등). 바퀴 관절 행동은 속도 목표로 보낸다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Gazebo Classic·MuJoCo sim2sim. 로봇 12종, 실물은 A1·Go2·Go2W·G1·Lite3·D1·L4W4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Apache-2.0(내려받는 로봇 모델 저장소 rl_sar_zoo는 라이선스 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활발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Go2W 정책이 MuJoCo 하위 보행기의 첫 후보다(아래 5)</a:t>
                      </a:r>
                    </a:p>
                  </a:txBody>
                  <a:tcPr marL="63500" marR="63500" marT="12700" marB="12700">
                    <a:solidFill>
                      <a:srgbClr val="F3F0E8"/>
                    </a:solidFill>
                  </a:tcPr>
                </a:tc>
              </a:tr>
              <a:tr h="438864">
                <a:tc>
                  <a:txBody>
                    <a:bodyPr wrap="square"/>
                    <a:lstStyle/>
                    <a:p>
                      <a:r>
                        <a:rPr sz="800" b="0" i="0">
                          <a:solidFill>
                            <a:srgbClr val="1D4ED8"/>
                          </a:solidFill>
                          <a:latin typeface="Arial"/>
                          <a:ea typeface="Malgun Gothic"/>
                          <a:cs typeface="Malgun Gothic"/>
                          <a:hlinkClick r:id="rId4"/>
                        </a:rPr>
                        <a:t>legged_control</a:t>
                      </a:r>
                      <a:r>
                        <a:rPr sz="800" b="0" i="0">
                          <a:solidFill>
                            <a:srgbClr val="16213A"/>
                          </a:solidFill>
                          <a:latin typeface="Arial"/>
                          <a:ea typeface="Malgun Gothic"/>
                          <a:cs typeface="Malgun Gothic"/>
                        </a:rPr>
                        <a:t> (★1,817, 2024-02-01)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기본 브랜치는 RL이 아니다. OCS2 기반 NMPC(nonlinear MPC), 전신 제어(WBC), 상태 추정, ros-control 실물 연결. rl 브랜치(2023-09-03)에 ONNX 정책을 돌리는 ros-control 플러그인이 있다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ROS 1 Gazebo. A1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BSD-3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지원 종료(README 공지)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RL 정책과 견줄 모델 기반 기준선. Planner 문서 B.12.2</a:t>
                      </a:r>
                    </a:p>
                  </a:txBody>
                  <a:tcPr marL="63500" marR="63500" marT="12700" marB="12700">
                    <a:solidFill>
                      <a:srgbClr val="FFFDF8"/>
                    </a:solidFill>
                  </a:tcPr>
                </a:tc>
              </a:tr>
            </a:tbl>
          </a:graphicData>
        </a:graphic>
      </p:graphicFrame>
      <p:sp>
        <p:nvSpPr>
          <p:cNvPr id="6" name="TextBox 5"/>
          <p:cNvSpPr txBox="1"/>
          <p:nvPr/>
        </p:nvSpPr>
        <p:spPr>
          <a:xfrm>
            <a:off x="609600" y="323195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travplan의 일마다 무엇을 쓰나.</a:t>
            </a:r>
          </a:p>
        </p:txBody>
      </p:sp>
      <p:sp>
        <p:nvSpPr>
          <p:cNvPr id="7" name="TextBox 6"/>
          <p:cNvSpPr txBox="1"/>
          <p:nvPr/>
        </p:nvSpPr>
        <p:spPr>
          <a:xfrm>
            <a:off x="609600" y="3537347"/>
            <a:ext cx="10972800" cy="2215753"/>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TP-0066(Planner D RL 후학습)에는 라이브러리를 들이지 않는다.</a:t>
            </a:r>
            <a:r>
              <a:rPr sz="1050" b="0" i="0">
                <a:solidFill>
                  <a:srgbClr val="16213A"/>
                </a:solidFill>
                <a:latin typeface="Arial"/>
                <a:ea typeface="Malgun Gothic"/>
                <a:cs typeface="Malgun Gothic"/>
              </a:rPr>
              <a:t> 지금 구현은 critic 없이 그룹 상대 이점을 AWR 가중치로 바꿔 flow matching을 미세 조정한다. rsl_rl의 PPO는 가우시안이나 베타처럼 행동의 log-확률을 바로 내는 정책을 전제한다. flow matching 정책인 Planner D는 그 값을 싸게 내지 못한다. critic을 쓰는 PPO로 옮겨 간다면 가져올 것은 시간 초과 부트스트랩과 KL 적응 학습률이다(Planner 문서 B.14.1 토글).</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TP-0055(L1 belief 재학습)는 </a:t>
            </a:r>
            <a:r>
              <a:rPr sz="1050" b="1" i="0">
                <a:solidFill>
                  <a:srgbClr val="16213A"/>
                </a:solidFill>
                <a:latin typeface="Consolas"/>
                <a:ea typeface="Malgun Gothic"/>
                <a:cs typeface="Malgun Gothic"/>
              </a:rPr>
              <a:t>scripts/dagger_planner_d.py</a:t>
            </a:r>
            <a:r>
              <a:rPr sz="1050" b="1" i="0">
                <a:solidFill>
                  <a:srgbClr val="16213A"/>
                </a:solidFill>
                <a:latin typeface="Arial"/>
                <a:ea typeface="Malgun Gothic"/>
                <a:cs typeface="Malgun Gothic"/>
              </a:rPr>
              <a:t>를 넓힌다.</a:t>
            </a:r>
            <a:r>
              <a:rPr sz="1050" b="0" i="0">
                <a:solidFill>
                  <a:srgbClr val="16213A"/>
                </a:solidFill>
                <a:latin typeface="Arial"/>
                <a:ea typeface="Malgun Gothic"/>
                <a:cs typeface="Malgun Gothic"/>
              </a:rPr>
              <a:t> 학생이 굴리고 전문가가 GT 지도로 라벨을 붙이는 골격은 이미 있다. 바꿀 것은 학생의 학습 입력이다. 지금은 L0 rollout에서 GT로 만든 TravMap을 저장한다. TP-0055는 L1 rollout에서 학생이 실제로 본 belief를 저장해야 한다. rsl_rl의 증류가 같은 구조다. 한 rollout에서 학생과 교사가 서로 다른 관측 그룹을 본다. 하나 더 빌릴 것은 LSTM·GRU 학생을 잘린 시간 역전파(truncated BPTT)로 배우는 장치다. F.2의 LP-ACRL도 RSL-RL 학습 틀을 따르고, elevation mapping 잡음에 LSTM 학생을 썼다. Isaac Lab과 robot_lab의 ANYmal-D 증류 예는 학생과 교사가 같은 관측 그룹(</a:t>
            </a:r>
            <a:r>
              <a:rPr sz="1050" b="0" i="0">
                <a:solidFill>
                  <a:srgbClr val="16213A"/>
                </a:solidFill>
                <a:latin typeface="Consolas"/>
                <a:ea typeface="Malgun Gothic"/>
                <a:cs typeface="Malgun Gothic"/>
              </a:rPr>
              <a:t>policy</a:t>
            </a:r>
            <a:r>
              <a:rPr sz="1050" b="0" i="0">
                <a:solidFill>
                  <a:srgbClr val="16213A"/>
                </a:solidFill>
                <a:latin typeface="Arial"/>
                <a:ea typeface="Malgun Gothic"/>
                <a:cs typeface="Malgun Gothic"/>
              </a:rPr>
              <a:t>)을 본다. 그래서 특권 관측을 떼는 예로는 쓸 수 없다.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TP-0128(Playground TinyPolicy)의 지도 불일치에는 rsl_rl 증류가 그대로 맞는다.</a:t>
            </a:r>
            <a:r>
              <a:rPr sz="1050" b="0" i="0">
                <a:solidFill>
                  <a:srgbClr val="16213A"/>
                </a:solidFill>
                <a:latin typeface="Arial"/>
                <a:ea typeface="Malgun Gothic"/>
                <a:cs typeface="Malgun Gothic"/>
              </a:rPr>
              <a:t> TinyPolicy는 GT 지도로 배우고 belief 지도로 돈다(E.12 '정직하게 적어 둘 것' 3). rsl_rl의 결정적 MLPModel을 입력 50, 은닉 24·16, tanh, 출력 3으로 만들면 파라미터가 TinyPolicy와 같은 1,675개다. 다른 점은 출력의 tanh 하나다. 교사는 GT 관측 그룹을, 학생은 belief 관측 그룹을 본다. travplan 쪽 일은 운동학 시뮬을 rsl_rl의 VecEnv로 감싸는 것이다. VecEnv는 같은 스텝에서 리셋하고, PyTorch 텐서를 돌려주고, 관측을 TensorDict로 내야 한다.</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F.6 오픈소스 — 학습 틀은 Isaac Lab·mjlab과 rsl_rl로 모였다</a:t>
            </a:r>
            <a:r>
              <a:rPr sz="1050" b="0" i="0">
                <a:solidFill>
                  <a:srgbClr val="5A6478"/>
                </a:solidFill>
                <a:latin typeface="Arial"/>
                <a:ea typeface="Malgun Gothic"/>
                <a:cs typeface="Malgun Gothic"/>
              </a:rPr>
              <a:t>  5/6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123 / 183</a:t>
            </a:r>
          </a:p>
        </p:txBody>
      </p:sp>
      <p:sp>
        <p:nvSpPr>
          <p:cNvPr id="5" name="TextBox 4"/>
          <p:cNvSpPr txBox="1"/>
          <p:nvPr/>
        </p:nvSpPr>
        <p:spPr>
          <a:xfrm>
            <a:off x="609600" y="1244600"/>
            <a:ext cx="10972800" cy="2432248"/>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4. </a:t>
            </a:r>
            <a:r>
              <a:rPr sz="1050" b="1" i="0">
                <a:solidFill>
                  <a:srgbClr val="16213A"/>
                </a:solidFill>
                <a:latin typeface="Arial"/>
                <a:ea typeface="Malgun Gothic"/>
                <a:cs typeface="Malgun Gothic"/>
              </a:rPr>
              <a:t>스워브 plant에는 RL이 아니라 바퀴 관절 규약을 가져온다.</a:t>
            </a:r>
            <a:r>
              <a:rPr sz="1050" b="0" i="0">
                <a:solidFill>
                  <a:srgbClr val="16213A"/>
                </a:solidFill>
                <a:latin typeface="Arial"/>
                <a:ea typeface="Malgun Gothic"/>
                <a:cs typeface="Malgun Gothic"/>
              </a:rPr>
              <a:t> travplan의 plant는 지연, 모듈 기구학, 미끄럼을 넣은 운동학 모델이다(</a:t>
            </a:r>
            <a:r>
              <a:rPr sz="1050" b="0" i="0">
                <a:solidFill>
                  <a:srgbClr val="16213A"/>
                </a:solidFill>
                <a:latin typeface="Consolas"/>
                <a:ea typeface="Malgun Gothic"/>
                <a:cs typeface="Malgun Gothic"/>
              </a:rPr>
              <a:t>travplan/robot/plant.py</a:t>
            </a:r>
            <a:r>
              <a:rPr sz="1050" b="0" i="0">
                <a:solidFill>
                  <a:srgbClr val="16213A"/>
                </a:solidFill>
                <a:latin typeface="Arial"/>
                <a:ea typeface="Malgun Gothic"/>
                <a:cs typeface="Malgun Gothic"/>
              </a:rPr>
              <a:t>, TP-0033·0034). unitree_rl_lab의 Go2-W 설정은 바퀴 관절 강성을 0으로 두어 속도 제어로 만든다. robot_lab의 Go2W 작업은 다리 관절 12개를 위치(배율 0.25, 고관절 0.125)로, 바퀴 4개를 속도(배율 5.0)로 명령한다. rl_sar는 배포 때 바퀴 행동을 위치 목표에서 빼고 속도 목표로 보낸다. 조향은 위치로, 구동은 속도로 내는 스워브 학습 정책을 만든다면 이 셋이 본보기다. 액추에이터 모델은 S.5.3c에 있다.</a:t>
            </a:r>
          </a:p>
          <a:p>
            <a:pPr>
              <a:spcBef>
                <a:spcPts val="200"/>
              </a:spcBef>
            </a:pPr>
            <a:r>
              <a:rPr sz="1050" b="0" i="0">
                <a:solidFill>
                  <a:srgbClr val="5A6478"/>
                </a:solidFill>
                <a:latin typeface="Arial"/>
                <a:ea typeface="Malgun Gothic"/>
                <a:cs typeface="Malgun Gothic"/>
              </a:rPr>
              <a:t>5. </a:t>
            </a:r>
            <a:r>
              <a:rPr sz="1050" b="1" i="0">
                <a:solidFill>
                  <a:srgbClr val="16213A"/>
                </a:solidFill>
                <a:latin typeface="Arial"/>
                <a:ea typeface="Malgun Gothic"/>
                <a:cs typeface="Malgun Gothic"/>
              </a:rPr>
              <a:t>Playground 바퀴 사족(TP-0102)의 하위 보행기는 rl_sar의 Go2W 정책이 먼저다.</a:t>
            </a:r>
            <a:r>
              <a:rPr sz="1050" b="0" i="0">
                <a:solidFill>
                  <a:srgbClr val="16213A"/>
                </a:solidFill>
                <a:latin typeface="Arial"/>
                <a:ea typeface="Malgun Gothic"/>
                <a:cs typeface="Malgun Gothic"/>
              </a:rPr>
              <a:t> F.6.1 'travplan에 주는 것' 6은 라이선스 없는 M20 가중치를 로컬 평가에만 쓰자고 했다. rl_sar의 Go2W 정책은 robot_lab으로 학습했고 Apache-2.0 저장소에 들어 있다. 로봇 모델은 rl_sar가 내려받는 rl_sar_zoo 대신 BSD-3인 unitree_mujoco의 Go2W MJCF를 쓴다. 두 MJCF는 공백 한 줄만 다르다. 이렇게 고르면 고지만 남기고 하네스를 travplan에 둘 수 있다. rl_sar 표는 Go2W의 MuJoCo 지원을 적지만, 그 조합에서 정책이 걷는지는 확인하지 못했다.</a:t>
            </a:r>
          </a:p>
          <a:p>
            <a:pPr>
              <a:spcBef>
                <a:spcPts val="200"/>
              </a:spcBef>
            </a:pPr>
            <a:r>
              <a:rPr sz="1050" b="0" i="0">
                <a:solidFill>
                  <a:srgbClr val="5A6478"/>
                </a:solidFill>
                <a:latin typeface="Arial"/>
                <a:ea typeface="Malgun Gothic"/>
                <a:cs typeface="Malgun Gothic"/>
              </a:rPr>
              <a:t>6. </a:t>
            </a:r>
            <a:r>
              <a:rPr sz="1050" b="1" i="0">
                <a:solidFill>
                  <a:srgbClr val="16213A"/>
                </a:solidFill>
                <a:latin typeface="Arial"/>
                <a:ea typeface="Malgun Gothic"/>
                <a:cs typeface="Malgun Gothic"/>
              </a:rPr>
              <a:t>Isaac Lab 이식(TP-0042)은 저장소 밖 확장 패키지로 한다.</a:t>
            </a:r>
            <a:r>
              <a:rPr sz="1050" b="0" i="0">
                <a:solidFill>
                  <a:srgbClr val="16213A"/>
                </a:solidFill>
                <a:latin typeface="Arial"/>
                <a:ea typeface="Malgun Gothic"/>
                <a:cs typeface="Malgun Gothic"/>
              </a:rPr>
              <a:t> robot_lab과 unitree_rl_lab이 그 구조다. 두 저장소의 main은 아직 Isaac Lab 2.3이다. 3.0의 예는 unitree_rl_lab의 isaaclab3.0 브랜치다(Isaac Lab 3.0 · Isaac Sim 6.0, Go2·H1·G1을 Newton 백엔드로도 돌린다). Isaac Lab 3.0 개발 브랜치는 rsl_rl 5.5.1을 기본 학습기로 고정한다. rsl_rl의 PPO는 Planner D에 맞지 않지만(항목 1), 러너는 알고리즘을 설정의 </a:t>
            </a:r>
            <a:r>
              <a:rPr sz="1050" b="0" i="0">
                <a:solidFill>
                  <a:srgbClr val="1D4ED8"/>
                </a:solidFill>
                <a:latin typeface="Consolas"/>
                <a:ea typeface="Malgun Gothic"/>
                <a:cs typeface="Malgun Gothic"/>
                <a:hlinkClick r:id="rId3"/>
              </a:rPr>
              <a:t>class_name</a:t>
            </a:r>
            <a:r>
              <a:rPr sz="1050" b="0" i="0">
                <a:solidFill>
                  <a:srgbClr val="16213A"/>
                </a:solidFill>
                <a:latin typeface="Arial"/>
                <a:ea typeface="Malgun Gothic"/>
                <a:cs typeface="Malgun Gothic"/>
              </a:rPr>
              <a:t>으로 불러온다. 그래서 Planner D의 학습은 그 자리에 직접 짠 클래스로 넣는다. velocity 작업의 높이 스캔과 지형 레벨 커리큘럼 자리에 TravMap 관측과 TP-0039 레벨이 앉는다. Isaac Lab 3.0의 Newton 경로도 Isaac Sim 없이 돈다. 같은 API를 MuJoCo Warp만으로 더 가볍게 쓰는 틀이 mjlab이다.</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F.6 오픈소스 — 학습 틀은 Isaac Lab·mjlab과 rsl_rl로 모였다</a:t>
            </a:r>
            <a:r>
              <a:rPr sz="1050" b="0" i="0">
                <a:solidFill>
                  <a:srgbClr val="5A6478"/>
                </a:solidFill>
                <a:latin typeface="Arial"/>
                <a:ea typeface="Malgun Gothic"/>
                <a:cs typeface="Malgun Gothic"/>
              </a:rPr>
              <a:t>  6/6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124 / 183</a:t>
            </a:r>
          </a:p>
        </p:txBody>
      </p:sp>
      <p:pic>
        <p:nvPicPr>
          <p:cNvPr id="5" name="Picture 4" descr="image.jpg"/>
          <p:cNvPicPr>
            <a:picLocks noChangeAspect="1"/>
          </p:cNvPicPr>
          <p:nvPr/>
        </p:nvPicPr>
        <p:blipFill>
          <a:blip r:embed="rId3"/>
          <a:stretch>
            <a:fillRect/>
          </a:stretch>
        </p:blipFill>
        <p:spPr>
          <a:xfrm>
            <a:off x="609600" y="1244600"/>
            <a:ext cx="4959350" cy="2667000"/>
          </a:xfrm>
          <a:prstGeom prst="rect">
            <a:avLst/>
          </a:prstGeom>
        </p:spPr>
      </p:pic>
      <p:sp>
        <p:nvSpPr>
          <p:cNvPr id="6" name="TextBox 5"/>
          <p:cNvSpPr txBox="1"/>
          <p:nvPr/>
        </p:nvSpPr>
        <p:spPr>
          <a:xfrm>
            <a:off x="609600" y="394970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RSL-RL (Fig. 1): 라이브러리는 Runner, Algorithm, Network 세 부분이다. Runner 안에서 VecEnv와 Agent가 관측·보상·종료·부가 정보와 행동을 주고받고, 관측은 TensorDict로 묶여 간다. 환경(MuJoCo Playground, Isaac Lab, Genesis)은 VecEnv로 붙고, 확장과 로거는 따로 끼운다. travplan의 운동학 시뮬이 들어갈 자리가 VecEnv다. 출처: arXiv:2509.10771</a:t>
            </a:r>
          </a:p>
        </p:txBody>
      </p:sp>
      <p:pic>
        <p:nvPicPr>
          <p:cNvPr id="7" name="Picture 6" descr="image.jpg"/>
          <p:cNvPicPr>
            <a:picLocks noChangeAspect="1"/>
          </p:cNvPicPr>
          <p:nvPr/>
        </p:nvPicPr>
        <p:blipFill>
          <a:blip r:embed="rId4"/>
          <a:stretch>
            <a:fillRect/>
          </a:stretch>
        </p:blipFill>
        <p:spPr>
          <a:xfrm>
            <a:off x="6172200" y="1244600"/>
            <a:ext cx="4743450" cy="2667000"/>
          </a:xfrm>
          <a:prstGeom prst="rect">
            <a:avLst/>
          </a:prstGeom>
        </p:spPr>
      </p:pic>
      <p:sp>
        <p:nvSpPr>
          <p:cNvPr id="8" name="TextBox 7"/>
          <p:cNvSpPr txBox="1"/>
          <p:nvPr/>
        </p:nvSpPr>
        <p:spPr>
          <a:xfrm>
            <a:off x="6172200" y="39497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robot_lab (README 환경 표, Unitree Go2W): 다리 끝마다 바퀴가 달린 4족이다. 이 로봇의 velocity 작업은 다리 관절 12개를 위치로, 바퀴 관절 4개를 속도로 명령한다. 출처: robot_lab</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F.6 오픈소스 — 학습 틀은 Isaac Lab·mjlab과 rsl_rl로 모였다</a:t>
            </a:r>
            <a:r>
              <a:rPr sz="1050" b="0" i="0">
                <a:solidFill>
                  <a:srgbClr val="5A6478"/>
                </a:solidFill>
                <a:latin typeface="Arial"/>
                <a:ea typeface="Malgun Gothic"/>
                <a:cs typeface="Malgun Gothic"/>
              </a:rPr>
              <a:t>  자세히: 저장소마다 확인한 파일과 줄(표의 근거)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125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별, 라이선스, 보관 여부는 GitHub API로, 마지막 코드 변경은 기본 브랜치 이력으로 확인했다(2026-10-07). 아래 링크는 그날의 커밋에 고정했다.</a:t>
            </a:r>
          </a:p>
        </p:txBody>
      </p:sp>
      <p:sp>
        <p:nvSpPr>
          <p:cNvPr id="6" name="TextBox 5"/>
          <p:cNvSpPr txBox="1"/>
          <p:nvPr/>
        </p:nvSpPr>
        <p:spPr>
          <a:xfrm>
            <a:off x="609600" y="1549995"/>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1개(문단·식·그림)는 대시보드 리서치 탭의 "자세히: 저장소마다 확인한 파일과 줄(표의 근거)" 토글에 있다.</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F.6 오픈소스 — 학습 틀은 Isaac Lab·mjlab과 rsl_rl로 모였다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126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DreamWaQ에는 공식 코드가 없다.</a:t>
            </a:r>
            <a:r>
              <a:rPr sz="1050" b="0" i="0">
                <a:solidFill>
                  <a:srgbClr val="16213A"/>
                </a:solidFill>
                <a:latin typeface="Arial"/>
                <a:ea typeface="Malgun Gothic"/>
                <a:cs typeface="Malgun Gothic"/>
              </a:rPr>
              <a:t> 프로젝트 페이지의 '[Code] (Coming soon)' 항목은 </a:t>
            </a:r>
            <a:r>
              <a:rPr sz="1050" b="0" i="0">
                <a:solidFill>
                  <a:srgbClr val="1D4ED8"/>
                </a:solidFill>
                <a:latin typeface="Arial"/>
                <a:ea typeface="Malgun Gothic"/>
                <a:cs typeface="Malgun Gothic"/>
                <a:hlinkClick r:id="rId3"/>
              </a:rPr>
              <a:t>2023-01</a:t>
            </a:r>
            <a:r>
              <a:rPr sz="1050" b="0" i="0">
                <a:solidFill>
                  <a:srgbClr val="16213A"/>
                </a:solidFill>
                <a:latin typeface="Arial"/>
                <a:ea typeface="Malgun Gothic"/>
                <a:cs typeface="Malgun Gothic"/>
              </a:rPr>
              <a:t>과 </a:t>
            </a:r>
            <a:r>
              <a:rPr sz="1050" b="0" i="0">
                <a:solidFill>
                  <a:srgbClr val="1D4ED8"/>
                </a:solidFill>
                <a:latin typeface="Arial"/>
                <a:ea typeface="Malgun Gothic"/>
                <a:cs typeface="Malgun Gothic"/>
                <a:hlinkClick r:id="rId4"/>
              </a:rPr>
              <a:t>2023-03 스냅숏</a:t>
            </a:r>
            <a:r>
              <a:rPr sz="1050" b="0" i="0">
                <a:solidFill>
                  <a:srgbClr val="16213A"/>
                </a:solidFill>
                <a:latin typeface="Arial"/>
                <a:ea typeface="Malgun Gothic"/>
                <a:cs typeface="Malgun Gothic"/>
              </a:rPr>
              <a:t>에는 있었다. </a:t>
            </a:r>
            <a:r>
              <a:rPr sz="1050" b="0" i="0">
                <a:solidFill>
                  <a:srgbClr val="1D4ED8"/>
                </a:solidFill>
                <a:latin typeface="Arial"/>
                <a:ea typeface="Malgun Gothic"/>
                <a:cs typeface="Malgun Gothic"/>
                <a:hlinkClick r:id="rId5"/>
              </a:rPr>
              <a:t>2024-11 스냅숏</a:t>
            </a:r>
            <a:r>
              <a:rPr sz="1050" b="0" i="0">
                <a:solidFill>
                  <a:srgbClr val="16213A"/>
                </a:solidFill>
                <a:latin typeface="Arial"/>
                <a:ea typeface="Malgun Gothic"/>
                <a:cs typeface="Malgun Gothic"/>
              </a:rPr>
              <a:t>부터는 그 항목이 없고, </a:t>
            </a:r>
            <a:r>
              <a:rPr sz="1050" b="0" i="0">
                <a:solidFill>
                  <a:srgbClr val="1D4ED8"/>
                </a:solidFill>
                <a:latin typeface="Arial"/>
                <a:ea typeface="Malgun Gothic"/>
                <a:cs typeface="Malgun Gothic"/>
                <a:hlinkClick r:id="rId6"/>
              </a:rPr>
              <a:t>지금 페이지</a:t>
            </a:r>
            <a:r>
              <a:rPr sz="1050" b="0" i="0">
                <a:solidFill>
                  <a:srgbClr val="16213A"/>
                </a:solidFill>
                <a:latin typeface="Arial"/>
                <a:ea typeface="Malgun Gothic"/>
                <a:cs typeface="Malgun Gothic"/>
              </a:rPr>
              <a:t>에도 논문 링크만 있다(2026-10-07 확인). 대신 재구현이 많다. 그 가운데 셋과 비교용 Walk These Ways Go2 이식본 하나를 코드까지 읽은 결과가 F.6.1이다.</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F.6.1 DreamWaQ 비공식 구현 — 넷을 코드로 읽었다</a:t>
            </a:r>
            <a:r>
              <a:rPr sz="1050" b="0" i="0">
                <a:solidFill>
                  <a:srgbClr val="5A6478"/>
                </a:solidFill>
                <a:latin typeface="Arial"/>
                <a:ea typeface="Malgun Gothic"/>
                <a:cs typeface="Malgun Gothic"/>
              </a:rPr>
              <a:t>  1/5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127 / 183</a:t>
            </a:r>
          </a:p>
        </p:txBody>
      </p:sp>
      <p:sp>
        <p:nvSpPr>
          <p:cNvPr id="5" name="TextBox 4"/>
          <p:cNvSpPr txBox="1"/>
          <p:nvPr/>
        </p:nvSpPr>
        <p:spPr>
          <a:xfrm>
            <a:off x="609600" y="124460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DreamWaQ의 공식 코드는 없고, 비공식 구현은 많다.</a:t>
            </a:r>
            <a:r>
              <a:rPr sz="1050" b="0" i="0">
                <a:solidFill>
                  <a:srgbClr val="16213A"/>
                </a:solidFill>
                <a:latin typeface="Arial"/>
                <a:ea typeface="Malgun Gothic"/>
                <a:cs typeface="Malgun Gothic"/>
              </a:rPr>
              <a:t> 2026-10-06에 그 가운데 넷을 코드까지 읽고 CPU에서 돌려 봤다. 셋은 DreamWaQ 재구현이다. 남은 Teddy-Liao/walk-these-ways-go2에는 DreamWaQ 코드가 없다. 이 저장소는 Walk These Ways(이하 WTW)의 Go2 이식본이다. 추정기는 관측 이력에서 시뮬레이터 참값을 회귀하는 Ji 외(2022) 방식이다. DreamWaQ가 이긴 기준선 EstimatorNet이 같은 방식이다. curieuxjy/go2_dreamwaq는 논문의 구성 요소를 가장 많이 구현했다. 그러나 DreamWaQ 가중치가 없고, '계단을 못 오른다'는 이슈가 열려 있으며, 알려진 버그가 여럿이다. 넷 가운데 DreamWaQ식 가중치를 싣는 것은 yusongmin1/Dreamwaq뿐이다. 로봇은 바퀴-다리 4족 DEEP Robotics Lynx M20이고, 그 정책은 MuJoCo에서 잘 달린다. 다만 문맥 벡터 z가 붕괴해 있다. wanghg1992/DreamWaQ는 LucienJi/MetaRobotics에서 잘라 낸 사본의 사본이고, 커밋 작성자가 저장소 삭제를 요청했다. 이 코드를 보려면 MIT 라이선스인 상류 MetaRobotics를 읽는다.</a:t>
            </a:r>
          </a:p>
        </p:txBody>
      </p:sp>
      <p:sp>
        <p:nvSpPr>
          <p:cNvPr id="6" name="TextBox 5"/>
          <p:cNvSpPr txBox="1"/>
          <p:nvPr/>
        </p:nvSpPr>
        <p:spPr>
          <a:xfrm>
            <a:off x="609600" y="2632472"/>
            <a:ext cx="10972800" cy="86598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코드를 읽은 구현 어디에서도 논문의 '암묵적 지형 상상'이 작동하는 것을 찾지 못했다.</a:t>
            </a:r>
            <a:r>
              <a:rPr sz="1050" b="0" i="0">
                <a:solidFill>
                  <a:srgbClr val="16213A"/>
                </a:solidFill>
                <a:latin typeface="Arial"/>
                <a:ea typeface="Malgun Gothic"/>
                <a:cs typeface="Malgun Gothic"/>
              </a:rPr>
              <a:t> 그 상상은 β-VAE(잠재가 싣는 정보량에 가중치 β를 매기는 변분 오토인코더)가 배우는 문맥 벡터 z가 맡는다. 가중치나 학습 기록이 있는 구현에서는 모두 z가 붕괴했거나 붕괴가 보고됐다. yusongmin1의 체크포인트 둘은 직접 확인했고, go2_dreamwaq 쪽은 제3자의 학습 보고와 이식본 주석의 기록이다. 세 재구현의 공통점은 손실 척도다. KL(Kullback–Leibler) 항은 z 16차원의 합으로 더하고, 복원 MSE(평균제곱오차)는 관측 45–57차원의 평균으로 더한다. 그리고 β를 1 이상으로 둔다. 실측은 작업 기록 E.15에 있다. M20 정책은 z와 속도 추정을 지워도 MuJoCo 계단을 그대로 오른다. Walk These Ways Go2 정책은 넘어지지 않지만, 속도 추종이 관절 감쇠에 민감하다.</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F.6.1 DreamWaQ 비공식 구현 — 넷을 코드로 읽었다</a:t>
            </a:r>
            <a:r>
              <a:rPr sz="1050" b="0" i="0">
                <a:solidFill>
                  <a:srgbClr val="5A6478"/>
                </a:solidFill>
                <a:latin typeface="Arial"/>
                <a:ea typeface="Malgun Gothic"/>
                <a:cs typeface="Malgun Gothic"/>
              </a:rPr>
              <a:t>  2/5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128 / 183</a:t>
            </a:r>
          </a:p>
        </p:txBody>
      </p:sp>
      <p:pic>
        <p:nvPicPr>
          <p:cNvPr id="5" name="Picture 4" descr="image.jpg"/>
          <p:cNvPicPr>
            <a:picLocks noChangeAspect="1"/>
          </p:cNvPicPr>
          <p:nvPr/>
        </p:nvPicPr>
        <p:blipFill>
          <a:blip r:embed="rId3"/>
          <a:stretch>
            <a:fillRect/>
          </a:stretch>
        </p:blipFill>
        <p:spPr>
          <a:xfrm>
            <a:off x="2301875" y="1244600"/>
            <a:ext cx="7588250" cy="4445000"/>
          </a:xfrm>
          <a:prstGeom prst="rect">
            <a:avLst/>
          </a:prstGeom>
        </p:spPr>
      </p:pic>
      <p:sp>
        <p:nvSpPr>
          <p:cNvPr id="6" name="TextBox 5"/>
          <p:cNvSpPr txBox="1"/>
          <p:nvPr/>
        </p:nvSpPr>
        <p:spPr>
          <a:xfrm>
            <a:off x="2301875" y="5727700"/>
            <a:ext cx="758825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DreamWaQ (Fig. 1): 위는 시뮬레이션 학습이다. 과거 관측 이력이 CENet(128×64×19)을 거쳐 문맥 벡터와 몸체 속도 추정이 되고, 현재 관측과 함께 정책 망(512×256×128×12)에 들어간다. 높이맵을 담은 특권 상태는 가치 망만 본다. 아래는 같은 망을 A1에 그대로 올린 계단 주행이다. 이 절의 비교는 모두 이 그림의 블록을 기준으로 했다. 출처: arXiv:2301.10602</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F.6.1 DreamWaQ 비공식 구현 — 넷을 코드로 읽었다</a:t>
            </a:r>
            <a:r>
              <a:rPr sz="1050" b="0" i="0">
                <a:solidFill>
                  <a:srgbClr val="5A6478"/>
                </a:solidFill>
                <a:latin typeface="Arial"/>
                <a:ea typeface="Malgun Gothic"/>
                <a:cs typeface="Malgun Gothic"/>
              </a:rPr>
              <a:t>  3/5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129 / 183</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용어.</a:t>
            </a:r>
            <a:r>
              <a:rPr sz="1050" b="0" i="0">
                <a:solidFill>
                  <a:srgbClr val="16213A"/>
                </a:solidFill>
                <a:latin typeface="Arial"/>
                <a:ea typeface="Malgun Gothic"/>
                <a:cs typeface="Malgun Gothic"/>
              </a:rPr>
              <a:t> AdaBoot(적응형 부트스트랩)은 학습 중 actor에 넣는 몸체 속도를 확률 </a:t>
            </a:r>
            <a:r>
              <a:rPr sz="1050" b="0" i="1">
                <a:solidFill>
                  <a:srgbClr val="16213A"/>
                </a:solidFill>
                <a:latin typeface="Arial"/>
                <a:ea typeface="Malgun Gothic"/>
                <a:cs typeface="Malgun Gothic"/>
              </a:rPr>
              <a:t>p_(boot)</a:t>
            </a:r>
            <a:r>
              <a:rPr sz="1050" b="0" i="0">
                <a:solidFill>
                  <a:srgbClr val="16213A"/>
                </a:solidFill>
                <a:latin typeface="Arial"/>
                <a:ea typeface="Malgun Gothic"/>
                <a:cs typeface="Malgun Gothic"/>
              </a:rPr>
              <a:t>로 CENet 추정값에서 고른다. 논문 v2는 </a:t>
            </a:r>
            <a:r>
              <a:rPr sz="1050" b="0" i="1">
                <a:solidFill>
                  <a:srgbClr val="16213A"/>
                </a:solidFill>
                <a:latin typeface="Arial"/>
                <a:ea typeface="Malgun Gothic"/>
                <a:cs typeface="Malgun Gothic"/>
              </a:rPr>
              <a:t>p_(boot) = 1 - tanh(CV)</a:t>
            </a:r>
            <a:r>
              <a:rPr sz="1050" b="0" i="0">
                <a:solidFill>
                  <a:srgbClr val="16213A"/>
                </a:solidFill>
                <a:latin typeface="Arial"/>
                <a:ea typeface="Malgun Gothic"/>
                <a:cs typeface="Malgun Gothic"/>
              </a:rPr>
              <a:t>를 학습 반복마다 정한다. CV(변동계수)는 env들의 에피소드 보상 표준편차를 평균으로 나눈 값이다. 나머지 경우에 시뮬레이터 참값을 넣는다는 것은 본문이 아니라 문맥에서 나온 해석이다. PPO(Proximal Policy Optimization)는 이 계열이 모두 쓰는 정책 경사 알고리즘이고, 이점은 GAE(Generalized Advantage Estimation)로 계산한다. sim2sim은 학습에 쓰지 않은 다른 시뮬레이터에서 정책을 돌려 보는 검증이다. ONNX(Open Neural Network Exchange)는 신경망 교환 형식이고, MJCF는 MuJoCo의 XML 로봇 모델 형식이다. LCM(Lightweight Communications and Marshalling)과 DDS(Data Distribution Service)는 로봇 프로세스 사이의 통신 미들웨어다.</a:t>
            </a:r>
          </a:p>
        </p:txBody>
      </p:sp>
      <p:sp>
        <p:nvSpPr>
          <p:cNvPr id="6" name="TextBox 5"/>
          <p:cNvSpPr txBox="1"/>
          <p:nvPr/>
        </p:nvSpPr>
        <p:spPr>
          <a:xfrm>
            <a:off x="609600" y="24159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넷을 한 표로.</a:t>
            </a:r>
            <a:r>
              <a:rPr sz="1050" b="0" i="0">
                <a:solidFill>
                  <a:srgbClr val="16213A"/>
                </a:solidFill>
                <a:latin typeface="Arial"/>
                <a:ea typeface="Malgun Gothic"/>
                <a:cs typeface="Malgun Gothic"/>
              </a:rPr>
              <a:t> 별과 날짜는 2026-10-06 기준이다. 마지막 줄은 비교용으로 넣은 커뮤니티의 원조 구현이고, README와 메타데이터 위주로 읽었다.</a:t>
            </a:r>
          </a:p>
        </p:txBody>
      </p:sp>
      <p:graphicFrame>
        <p:nvGraphicFramePr>
          <p:cNvPr id="7" name="Table 6"/>
          <p:cNvGraphicFramePr>
            <a:graphicFrameLocks noGrp="1"/>
          </p:cNvGraphicFramePr>
          <p:nvPr/>
        </p:nvGraphicFramePr>
        <p:xfrm>
          <a:off x="609600" y="2721372"/>
          <a:ext cx="10966450" cy="2149632"/>
        </p:xfrm>
        <a:graphic>
          <a:graphicData uri="http://schemas.openxmlformats.org/drawingml/2006/table">
            <a:tbl>
              <a:tblPr firstRow="1" bandRow="1">
                <a:tableStyleId>{5C22544A-7EE6-4342-B048-85BDC9FD1C3A}</a:tableStyleId>
              </a:tblPr>
              <a:tblGrid>
                <a:gridCol w="2120503"/>
                <a:gridCol w="1610519"/>
                <a:gridCol w="2415679"/>
                <a:gridCol w="1272183"/>
                <a:gridCol w="2123678"/>
                <a:gridCol w="1423888"/>
              </a:tblGrid>
              <a:tr h="197088">
                <a:tc>
                  <a:txBody>
                    <a:bodyPr wrap="square"/>
                    <a:lstStyle/>
                    <a:p>
                      <a:r>
                        <a:rPr sz="800" b="1" i="0">
                          <a:solidFill>
                            <a:srgbClr val="F4F1EA"/>
                          </a:solidFill>
                          <a:latin typeface="Arial"/>
                          <a:ea typeface="Malgun Gothic"/>
                          <a:cs typeface="Malgun Gothic"/>
                        </a:rPr>
                        <a:t>저장소(★, 마지막 코드 변경)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바탕 · 로봇</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CENet</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AdaBoot · critic</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가중치 · 배포 · 라이선스</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판단</a:t>
                      </a:r>
                    </a:p>
                  </a:txBody>
                  <a:tcPr marL="63500" marR="63500" marT="12700" marB="12700">
                    <a:solidFill>
                      <a:srgbClr val="16213A"/>
                    </a:solidFill>
                  </a:tcPr>
                </a:tc>
              </a:tr>
              <a:tr h="438864">
                <a:tc>
                  <a:txBody>
                    <a:bodyPr wrap="square"/>
                    <a:lstStyle/>
                    <a:p>
                      <a:r>
                        <a:rPr sz="800" b="0" i="0">
                          <a:solidFill>
                            <a:srgbClr val="1D4ED8"/>
                          </a:solidFill>
                          <a:latin typeface="Arial"/>
                          <a:ea typeface="Malgun Gothic"/>
                          <a:cs typeface="Malgun Gothic"/>
                          <a:hlinkClick r:id="rId3"/>
                        </a:rPr>
                        <a:t>curieuxjy/go2_dreamwaq</a:t>
                      </a:r>
                      <a:r>
                        <a:rPr sz="800" b="0" i="0">
                          <a:solidFill>
                            <a:srgbClr val="16213A"/>
                          </a:solidFill>
                          <a:latin typeface="Arial"/>
                          <a:ea typeface="Malgun Gothic"/>
                          <a:cs typeface="Malgun Gothic"/>
                        </a:rPr>
                        <a:t> (★34, 2026-09-01)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legged_gym + rsl_rl 1.0.2, Isaac Gym. A1·Go2. Isaac Lab 이식본 동봉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225→128→64→35(속도 3, z 평균·로그분산 16씩). 디코더 [v̂, z]→64→128→48→45, 다음 관측</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1 − tanh(CV), 스텝당 한 번 추첨. critic도 추정 속도를 받는다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DreamWaQ 가중치 없음(동봉 1 GB는 WTW 정책). 실물 배포 없음. </a:t>
                      </a:r>
                      <a:r>
                        <a:rPr sz="800" b="0" i="0">
                          <a:solidFill>
                            <a:srgbClr val="16213A"/>
                          </a:solidFill>
                          <a:latin typeface="Consolas"/>
                          <a:ea typeface="Malgun Gothic"/>
                          <a:cs typeface="Malgun Gothic"/>
                        </a:rPr>
                        <a:t>dreamwaq/</a:t>
                      </a:r>
                      <a:r>
                        <a:rPr sz="800" b="0" i="0">
                          <a:solidFill>
                            <a:srgbClr val="16213A"/>
                          </a:solidFill>
                          <a:latin typeface="Arial"/>
                          <a:ea typeface="Malgun Gothic"/>
                          <a:cs typeface="Malgun Gothic"/>
                        </a:rPr>
                        <a:t>는 MIT + BSD-3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구조 참고 1순위. 재현 근거로는 못 쓴다</a:t>
                      </a:r>
                    </a:p>
                  </a:txBody>
                  <a:tcPr marL="63500" marR="63500" marT="12700" marB="12700">
                    <a:solidFill>
                      <a:srgbClr val="FFFDF8"/>
                    </a:solidFill>
                  </a:tcPr>
                </a:tc>
              </a:tr>
              <a:tr h="438864">
                <a:tc>
                  <a:txBody>
                    <a:bodyPr wrap="square"/>
                    <a:lstStyle/>
                    <a:p>
                      <a:r>
                        <a:rPr sz="800" b="0" i="0">
                          <a:solidFill>
                            <a:srgbClr val="1D4ED8"/>
                          </a:solidFill>
                          <a:latin typeface="Arial"/>
                          <a:ea typeface="Malgun Gothic"/>
                          <a:cs typeface="Malgun Gothic"/>
                          <a:hlinkClick r:id="rId4"/>
                        </a:rPr>
                        <a:t>yusongmin1/Dreamwaq</a:t>
                      </a:r>
                      <a:r>
                        <a:rPr sz="800" b="0" i="0">
                          <a:solidFill>
                            <a:srgbClr val="16213A"/>
                          </a:solidFill>
                          <a:latin typeface="Arial"/>
                          <a:ea typeface="Malgun Gothic"/>
                          <a:cs typeface="Malgun Gothic"/>
                        </a:rPr>
                        <a:t> (★121, main 2026-01-23, 별도 브랜치 2026-08-27)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legged_gym + rsl_rl 1.0.2, Isaac Gym. Lynx M20 바퀴-다리 16 자유도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285(현재 제외 5프레임)→128→64, 속도·z 모두 확률 헤드. 디코더 19→128→128→57, 잡음 없는 현재 관측</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없음(늘 추정값). critic은 참 속도·높이 187점, 외란 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체크포인트·ONNX·TensorBoard 동봉, MuJoCo sim2sim. 실물 코드 없음. 라이선스 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넷 중 유일하게 돌려 볼 수 있는 가중치. z는 붕괴</a:t>
                      </a:r>
                    </a:p>
                  </a:txBody>
                  <a:tcPr marL="63500" marR="63500" marT="12700" marB="12700">
                    <a:solidFill>
                      <a:srgbClr val="F3F0E8"/>
                    </a:solidFill>
                  </a:tcPr>
                </a:tc>
              </a:tr>
              <a:tr h="438864">
                <a:tc>
                  <a:txBody>
                    <a:bodyPr wrap="square"/>
                    <a:lstStyle/>
                    <a:p>
                      <a:r>
                        <a:rPr sz="800" b="0" i="0">
                          <a:solidFill>
                            <a:srgbClr val="1D4ED8"/>
                          </a:solidFill>
                          <a:latin typeface="Arial"/>
                          <a:ea typeface="Malgun Gothic"/>
                          <a:cs typeface="Malgun Gothic"/>
                          <a:hlinkClick r:id="rId5"/>
                        </a:rPr>
                        <a:t>wanghg1992/DreamWaQ</a:t>
                      </a:r>
                      <a:r>
                        <a:rPr sz="800" b="0" i="0">
                          <a:solidFill>
                            <a:srgbClr val="16213A"/>
                          </a:solidFill>
                          <a:latin typeface="Arial"/>
                          <a:ea typeface="Malgun Gothic"/>
                          <a:cs typeface="Malgun Gothic"/>
                        </a:rPr>
                        <a:t> (★122, 2023-12-25)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MetaRobotics 사본(Walk These Ways 계열 환경), Isaac Gym. Go1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225→512→256→64, 확률 헤드 넷. 디코더 [z, 참 속도]→512→256→128→45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 critic은 참 속도·절대 높이, 외란 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가중치·내보내기 없음. 라이선스 없음, 작성자 삭제 요청</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상류 MetaRobotics(MIT)를 읽는다</a:t>
                      </a:r>
                    </a:p>
                  </a:txBody>
                  <a:tcPr marL="63500" marR="63500" marT="12700" marB="12700">
                    <a:solidFill>
                      <a:srgbClr val="FFFDF8"/>
                    </a:solidFill>
                  </a:tcPr>
                </a:tc>
              </a:tr>
              <a:tr h="317976">
                <a:tc>
                  <a:txBody>
                    <a:bodyPr wrap="square"/>
                    <a:lstStyle/>
                    <a:p>
                      <a:r>
                        <a:rPr sz="800" b="0" i="0">
                          <a:solidFill>
                            <a:srgbClr val="1D4ED8"/>
                          </a:solidFill>
                          <a:latin typeface="Arial"/>
                          <a:ea typeface="Malgun Gothic"/>
                          <a:cs typeface="Malgun Gothic"/>
                          <a:hlinkClick r:id="rId6"/>
                        </a:rPr>
                        <a:t>Teddy-Liao/walk-these-ways-go2</a:t>
                      </a:r>
                      <a:r>
                        <a:rPr sz="800" b="0" i="0">
                          <a:solidFill>
                            <a:srgbClr val="16213A"/>
                          </a:solidFill>
                          <a:latin typeface="Arial"/>
                          <a:ea typeface="Malgun Gothic"/>
                          <a:cs typeface="Malgun Gothic"/>
                        </a:rPr>
                        <a:t> (★631, 2024-03-16)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Walk These Ways(Go1)의 Go2 이식, Isaac Gym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 MLP 회귀기 2100→256→128→2(마찰·반발)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없음(늘 추정값). critic은 이력 + 참 마찰·반발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제3자가 학습한 Go2 정책, 실물 배포(LCM·C++ 브리지). MIT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DreamWaQ 아님. 배포·커리큘럼 참고</a:t>
                      </a:r>
                    </a:p>
                  </a:txBody>
                  <a:tcPr marL="63500" marR="63500" marT="12700" marB="12700">
                    <a:solidFill>
                      <a:srgbClr val="F3F0E8"/>
                    </a:solidFill>
                  </a:tcPr>
                </a:tc>
              </a:tr>
              <a:tr h="317976">
                <a:tc>
                  <a:txBody>
                    <a:bodyPr wrap="square"/>
                    <a:lstStyle/>
                    <a:p>
                      <a:r>
                        <a:rPr sz="800" b="0" i="0">
                          <a:solidFill>
                            <a:srgbClr val="1D4ED8"/>
                          </a:solidFill>
                          <a:latin typeface="Arial"/>
                          <a:ea typeface="Malgun Gothic"/>
                          <a:cs typeface="Malgun Gothic"/>
                          <a:hlinkClick r:id="rId7"/>
                        </a:rPr>
                        <a:t>Manaro-Alpha/DreamWaQ</a:t>
                      </a:r>
                      <a:r>
                        <a:rPr sz="800" b="0" i="0">
                          <a:solidFill>
                            <a:srgbClr val="16213A"/>
                          </a:solidFill>
                          <a:latin typeface="Arial"/>
                          <a:ea typeface="Malgun Gothic"/>
                          <a:cs typeface="Malgun Gothic"/>
                        </a:rPr>
                        <a:t> (★272, push 2025-12-01)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legged_gym + rsl_rl 1.0.2. Go1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128→64(속도 3 + z 16), 디코더 64→128→45, β 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가중치·Go1 배포 코드 동봉. 루트 라이선스 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커뮤니티의 원조. 여러 파생의 출발점</a:t>
                      </a:r>
                    </a:p>
                  </a:txBody>
                  <a:tcPr marL="63500" marR="63500" marT="12700" marB="12700">
                    <a:solidFill>
                      <a:srgbClr val="FFFDF8"/>
                    </a:solidFill>
                  </a:tcPr>
                </a:tc>
              </a:tr>
            </a:tbl>
          </a:graphicData>
        </a:graphic>
      </p:graphicFrame>
      <p:sp>
        <p:nvSpPr>
          <p:cNvPr id="8" name="TextBox 7"/>
          <p:cNvSpPr txBox="1"/>
          <p:nvPr/>
        </p:nvSpPr>
        <p:spPr>
          <a:xfrm>
            <a:off x="609600" y="550366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논문 블록이 어느 파일에 있나.</a:t>
            </a:r>
            <a:r>
              <a:rPr sz="1050" b="0" i="0">
                <a:solidFill>
                  <a:srgbClr val="16213A"/>
                </a:solidFill>
                <a:latin typeface="Arial"/>
                <a:ea typeface="Malgun Gothic"/>
                <a:cs typeface="Malgun Gothic"/>
              </a:rPr>
              <a:t> 세 DreamWaQ 재구현의 지도다. 줄 번호가 붙은 링크는 아래 토글에 있다.</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F.6.1 DreamWaQ 비공식 구현 — 넷을 코드로 읽었다</a:t>
            </a:r>
            <a:r>
              <a:rPr sz="1050" b="0" i="0">
                <a:solidFill>
                  <a:srgbClr val="5A6478"/>
                </a:solidFill>
                <a:latin typeface="Arial"/>
                <a:ea typeface="Malgun Gothic"/>
                <a:cs typeface="Malgun Gothic"/>
              </a:rPr>
              <a:t>  4/5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130 / 183</a:t>
            </a:r>
          </a:p>
        </p:txBody>
      </p:sp>
      <p:graphicFrame>
        <p:nvGraphicFramePr>
          <p:cNvPr id="5" name="Table 4"/>
          <p:cNvGraphicFramePr>
            <a:graphicFrameLocks noGrp="1"/>
          </p:cNvGraphicFramePr>
          <p:nvPr/>
        </p:nvGraphicFramePr>
        <p:xfrm>
          <a:off x="609600" y="1244600"/>
          <a:ext cx="10966450" cy="1576704"/>
        </p:xfrm>
        <a:graphic>
          <a:graphicData uri="http://schemas.openxmlformats.org/drawingml/2006/table">
            <a:tbl>
              <a:tblPr firstRow="1" bandRow="1">
                <a:tableStyleId>{5C22544A-7EE6-4342-B048-85BDC9FD1C3A}</a:tableStyleId>
              </a:tblPr>
              <a:tblGrid>
                <a:gridCol w="1839516"/>
                <a:gridCol w="3828058"/>
                <a:gridCol w="2883098"/>
                <a:gridCol w="2415778"/>
              </a:tblGrid>
              <a:tr h="197088">
                <a:tc>
                  <a:txBody>
                    <a:bodyPr wrap="square"/>
                    <a:lstStyle/>
                    <a:p>
                      <a:r>
                        <a:rPr sz="800" b="1" i="0">
                          <a:solidFill>
                            <a:srgbClr val="F4F1EA"/>
                          </a:solidFill>
                          <a:latin typeface="Arial"/>
                          <a:ea typeface="Malgun Gothic"/>
                          <a:cs typeface="Malgun Gothic"/>
                        </a:rPr>
                        <a:t>논문 블록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go2_dreamwaq</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yusongmin1</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wanghg1992</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관측 이력</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legged_robot.py</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M20/m20.py</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history_wrapper.py</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CENet(인코더·헤드·디코더)</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vae/cenet.py</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modules/vae.py</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state_estimator.py</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CENet 손실</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vae/cenet.py</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ppo_dreamwaq.py</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state_estimator.py</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AdaBoot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확률은 </a:t>
                      </a:r>
                      <a:r>
                        <a:rPr sz="800" b="0" i="0">
                          <a:solidFill>
                            <a:srgbClr val="16213A"/>
                          </a:solidFill>
                          <a:latin typeface="Consolas"/>
                          <a:ea typeface="Malgun Gothic"/>
                          <a:cs typeface="Malgun Gothic"/>
                        </a:rPr>
                        <a:t>legged_robot.py</a:t>
                      </a:r>
                      <a:r>
                        <a:rPr sz="800" b="0" i="0">
                          <a:solidFill>
                            <a:srgbClr val="16213A"/>
                          </a:solidFill>
                          <a:latin typeface="Arial"/>
                          <a:ea typeface="Malgun Gothic"/>
                          <a:cs typeface="Malgun Gothic"/>
                        </a:rPr>
                        <a:t>, 추첨은 </a:t>
                      </a:r>
                      <a:r>
                        <a:rPr sz="800" b="0" i="0">
                          <a:solidFill>
                            <a:srgbClr val="16213A"/>
                          </a:solidFill>
                          <a:latin typeface="Consolas"/>
                          <a:ea typeface="Malgun Gothic"/>
                          <a:cs typeface="Malgun Gothic"/>
                        </a:rPr>
                        <a:t>on_policy_runner.py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a:t>
                      </a:r>
                      <a:r>
                        <a:rPr sz="800" b="0" i="0">
                          <a:solidFill>
                            <a:srgbClr val="16213A"/>
                          </a:solidFill>
                          <a:latin typeface="Consolas"/>
                          <a:ea typeface="Malgun Gothic"/>
                          <a:cs typeface="Malgun Gothic"/>
                        </a:rPr>
                        <a:t>act_expert</a:t>
                      </a:r>
                      <a:r>
                        <a:rPr sz="800" b="0" i="0">
                          <a:solidFill>
                            <a:srgbClr val="16213A"/>
                          </a:solidFill>
                          <a:latin typeface="Arial"/>
                          <a:ea typeface="Malgun Gothic"/>
                          <a:cs typeface="Malgun Gothic"/>
                        </a:rPr>
                        <a:t>는 호출되지 않음)</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actor·critic 입력</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on_policy_runner.py</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actor_critic_dreamwaq.py</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ac.py</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PPO와 CENet 갱신 순서</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on_policy_runner.py</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ppo_dreamwaq.py</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algorithms/ppo.py</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내보내기·배포</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play.py</a:t>
                      </a:r>
                      <a:r>
                        <a:rPr sz="800" b="0" i="0">
                          <a:solidFill>
                            <a:srgbClr val="16213A"/>
                          </a:solidFill>
                          <a:latin typeface="Arial"/>
                          <a:ea typeface="Malgun Gothic"/>
                          <a:cs typeface="Malgun Gothic"/>
                        </a:rPr>
                        <a:t>(Isaac Gym 재생, actor만 내보냄)</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helpers.py</a:t>
                      </a:r>
                      <a:r>
                        <a:rPr sz="800" b="0" i="0">
                          <a:solidFill>
                            <a:srgbClr val="16213A"/>
                          </a:solidFill>
                          <a:latin typeface="Arial"/>
                          <a:ea typeface="Malgun Gothic"/>
                          <a:cs typeface="Malgun Gothic"/>
                        </a:rPr>
                        <a:t>(ONNX), </a:t>
                      </a:r>
                      <a:r>
                        <a:rPr sz="800" b="0" i="0">
                          <a:solidFill>
                            <a:srgbClr val="16213A"/>
                          </a:solidFill>
                          <a:latin typeface="Consolas"/>
                          <a:ea typeface="Malgun Gothic"/>
                          <a:cs typeface="Malgun Gothic"/>
                        </a:rPr>
                        <a:t>deploy_mujoco.py</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play_helper.py</a:t>
                      </a:r>
                      <a:r>
                        <a:rPr sz="800" b="0" i="0">
                          <a:solidFill>
                            <a:srgbClr val="16213A"/>
                          </a:solidFill>
                          <a:latin typeface="Arial"/>
                          <a:ea typeface="Malgun Gothic"/>
                          <a:cs typeface="Malgun Gothic"/>
                        </a:rPr>
                        <a:t>(Isaac Gym 재생)</a:t>
                      </a:r>
                    </a:p>
                  </a:txBody>
                  <a:tcPr marL="63500" marR="63500" marT="12700" marB="12700">
                    <a:solidFill>
                      <a:srgbClr val="FFFDF8"/>
                    </a:solidFill>
                  </a:tcPr>
                </a:tc>
              </a:tr>
            </a:tbl>
          </a:graphicData>
        </a:graphic>
      </p:graphicFrame>
      <p:sp>
        <p:nvSpPr>
          <p:cNvPr id="6" name="TextBox 5"/>
          <p:cNvSpPr txBox="1"/>
          <p:nvPr/>
        </p:nvSpPr>
        <p:spPr>
          <a:xfrm>
            <a:off x="609600" y="331073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공통 함정.</a:t>
            </a:r>
            <a:r>
              <a:rPr sz="1050" b="0" i="0">
                <a:solidFill>
                  <a:srgbClr val="16213A"/>
                </a:solidFill>
                <a:latin typeface="Arial"/>
                <a:ea typeface="Malgun Gothic"/>
                <a:cs typeface="Malgun Gothic"/>
              </a:rPr>
              <a:t> 저장소는 달라도 같은 자리에서 틀린다. 수치의 자세한 내역은 E.15에 있다.</a:t>
            </a:r>
          </a:p>
        </p:txBody>
      </p:sp>
      <p:sp>
        <p:nvSpPr>
          <p:cNvPr id="7" name="TextBox 6"/>
          <p:cNvSpPr txBox="1"/>
          <p:nvPr/>
        </p:nvSpPr>
        <p:spPr>
          <a:xfrm>
            <a:off x="609600" y="3616127"/>
            <a:ext cx="10972800" cy="2190353"/>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z 붕괴와 손실 척도.</a:t>
            </a:r>
            <a:r>
              <a:rPr sz="1050" b="0" i="0">
                <a:solidFill>
                  <a:srgbClr val="16213A"/>
                </a:solidFill>
                <a:latin typeface="Arial"/>
                <a:ea typeface="Malgun Gothic"/>
                <a:cs typeface="Malgun Gothic"/>
              </a:rPr>
              <a:t> 세 재구현 모두 KL을 z 16차원의 합으로, 복원 MSE를 관측 45–57차원의 평균으로 더하고 β를 1 이상으로 둔다. 선형-가우시안 근사에서 요인 k는 </a:t>
            </a:r>
            <a:r>
              <a:rPr sz="1050" b="0" i="1">
                <a:solidFill>
                  <a:srgbClr val="16213A"/>
                </a:solidFill>
                <a:latin typeface="Arial"/>
                <a:ea typeface="Malgun Gothic"/>
                <a:cs typeface="Malgun Gothic"/>
              </a:rPr>
              <a:t>β &lt; 2λₖ</a:t>
            </a:r>
            <a:r>
              <a:rPr sz="1050" b="0" i="0">
                <a:solidFill>
                  <a:srgbClr val="16213A"/>
                </a:solidFill>
                <a:latin typeface="Arial"/>
                <a:ea typeface="Malgun Gothic"/>
                <a:cs typeface="Malgun Gothic"/>
              </a:rPr>
              <a:t>일 때만 z에 실린다. </a:t>
            </a:r>
            <a:r>
              <a:rPr sz="1050" b="0" i="1">
                <a:solidFill>
                  <a:srgbClr val="16213A"/>
                </a:solidFill>
                <a:latin typeface="Arial"/>
                <a:ea typeface="Malgun Gothic"/>
                <a:cs typeface="Malgun Gothic"/>
              </a:rPr>
              <a:t>λₖ</a:t>
            </a:r>
            <a:r>
              <a:rPr sz="1050" b="0" i="0">
                <a:solidFill>
                  <a:srgbClr val="16213A"/>
                </a:solidFill>
                <a:latin typeface="Arial"/>
                <a:ea typeface="Malgun Gothic"/>
                <a:cs typeface="Malgun Gothic"/>
              </a:rPr>
              <a:t>는 그 요인이 복원 목표 한 차원에 평균으로 더하는 분산이다. 관측을 분산 1로 정규화하면 이 몫은 1을 넘지 못한다. 그래서 β = 1이면 분산의 절반 넘게 설명하는 요인만 실리고, β가 2 이상이면 이 근사에서는 아무 요인도 실리지 않는다. go2_dreamwaq의 CENet 클래스를 합성 데이터에 그대로 돌리면 저장소의 β 일정(1에서 4로 증가)에서 활성 차원이 0/16이다. 같은 코드를 Isaac Gym으로 학습한 1sznkaveesh/DreamWaQ는 500반복에서 KL 0.037 nats, 활성 0/16을 보고했다(제3자 보고, 재현하지 않음). yusongmin1 체크포인트의 z 헤드 행 노름은 약 0.001이고, 동봉 기록의 KL은 10반복 안에 0.065에서 0.001로 떨어졌다. go2_dreamwaq의 Isaac Lab 이식본은 평균 KL의 β 1에서 붕괴를, β 0.35로 낮춘 기본값에서 재발을 주석에 적었다(근거 로그는 저장소에 없다).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PPO 갱신 때 잠재를 다시 뽑는다.</a:t>
            </a:r>
            <a:r>
              <a:rPr sz="1050" b="0" i="0">
                <a:solidFill>
                  <a:srgbClr val="16213A"/>
                </a:solidFill>
                <a:latin typeface="Arial"/>
                <a:ea typeface="Malgun Gothic"/>
                <a:cs typeface="Malgun Gothic"/>
              </a:rPr>
              <a:t> wanghg1992와 yusongmin1은 롤아웃 때 뽑은 z와 속도 표본을 저장하지 않고 갱신 때 새로 뽑는다. 그래서 가중치가 같아도 PPO 확률 비율이 1이 아니다. wanghg1992는 초기화 상태에서 비율의 약 77%가 클립 범위 밖이었다. 적응 학습률이 보는 KL은 0.26–0.33으로 감소 임계 0.02를 크게 넘는다. 이 값이면 학습률이 첫 반복의 10번째 미니배치에서 하한 1e-5에 닿는다(계산). yusongmin1은 무작위 초기화에서 KL 0.026–0.035였고, 동봉 기록의 학습률도 반복 0에서 하한 1e-5였다. 둘의 인과는 학습 없이 확인하지 못했다. 표본을 버퍼에 저장하거나 평균을 쓰면 비율은 정확히 1이다.</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F.6.1 DreamWaQ 비공식 구현 — 넷을 코드로 읽었다</a:t>
            </a:r>
            <a:r>
              <a:rPr sz="1050" b="0" i="0">
                <a:solidFill>
                  <a:srgbClr val="5A6478"/>
                </a:solidFill>
                <a:latin typeface="Arial"/>
                <a:ea typeface="Malgun Gothic"/>
                <a:cs typeface="Malgun Gothic"/>
              </a:rPr>
              <a:t>  5/5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131 / 183</a:t>
            </a:r>
          </a:p>
        </p:txBody>
      </p:sp>
      <p:sp>
        <p:nvSpPr>
          <p:cNvPr id="5" name="TextBox 4"/>
          <p:cNvSpPr txBox="1"/>
          <p:nvPr/>
        </p:nvSpPr>
        <p:spPr>
          <a:xfrm>
            <a:off x="609600" y="1244600"/>
            <a:ext cx="10972800" cy="2674144"/>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AdaBoot가 저장소마다 다르다.</a:t>
            </a:r>
            <a:r>
              <a:rPr sz="1050" b="0" i="0">
                <a:solidFill>
                  <a:srgbClr val="16213A"/>
                </a:solidFill>
                <a:latin typeface="Arial"/>
                <a:ea typeface="Malgun Gothic"/>
                <a:cs typeface="Malgun Gothic"/>
              </a:rPr>
              <a:t> 논문 v1은 변동계수 대신 분산을 썼고, v2부터 CV다. go2_dreamwaq는 제어 스텝마다 그 스텝에 끝난 env로 CV를 계산한다. 추첨도 스텝당 한 번이라 4,096 env가 같은 출처를 쓴다. 고른 추정 속도는 critic에도 들어간다. yusongmin1과 wanghg1992에는 AdaBoot가 없어 actor가 늘 추정값을 받는다. wx839/DreamWaQ는 </a:t>
            </a:r>
            <a:r>
              <a:rPr sz="1050" b="0" i="1">
                <a:solidFill>
                  <a:srgbClr val="16213A"/>
                </a:solidFill>
                <a:latin typeface="Arial"/>
                <a:ea typeface="Malgun Gothic"/>
                <a:cs typeface="Malgun Gothic"/>
              </a:rPr>
              <a:t>p_(boot) = tanh(CV)</a:t>
            </a:r>
            <a:r>
              <a:rPr sz="1050" b="0" i="0">
                <a:solidFill>
                  <a:srgbClr val="16213A"/>
                </a:solidFill>
                <a:latin typeface="Arial"/>
                <a:ea typeface="Malgun Gothic"/>
                <a:cs typeface="Malgun Gothic"/>
              </a:rPr>
              <a:t>로 방향이 반대다(해당 줄만 확인했다). go2_dreamwaq의 Isaac Lab 이식본은 시간 램프(학습 앞 절반 동안 0에서 0.9)와 env별 추첨으로 바꿨다.</a:t>
            </a:r>
          </a:p>
          <a:p>
            <a:pPr>
              <a:spcBef>
                <a:spcPts val="200"/>
              </a:spcBef>
            </a:pPr>
            <a:r>
              <a:rPr sz="1050" b="0" i="0">
                <a:solidFill>
                  <a:srgbClr val="5A6478"/>
                </a:solidFill>
                <a:latin typeface="Arial"/>
                <a:ea typeface="Malgun Gothic"/>
                <a:cs typeface="Malgun Gothic"/>
              </a:rPr>
              <a:t>4. </a:t>
            </a:r>
            <a:r>
              <a:rPr sz="1050" b="1" i="0">
                <a:solidFill>
                  <a:srgbClr val="16213A"/>
                </a:solidFill>
                <a:latin typeface="Arial"/>
                <a:ea typeface="Malgun Gothic"/>
                <a:cs typeface="Malgun Gothic"/>
              </a:rPr>
              <a:t>에피소드가 바뀌어도 이력을 비우지 않는다.</a:t>
            </a:r>
            <a:r>
              <a:rPr sz="1050" b="0" i="0">
                <a:solidFill>
                  <a:srgbClr val="16213A"/>
                </a:solidFill>
                <a:latin typeface="Arial"/>
                <a:ea typeface="Malgun Gothic"/>
                <a:cs typeface="Malgun Gothic"/>
              </a:rPr>
              <a:t> go2_dreamwaq는 새 에피소드의 첫 4프레임에, yusongmin1은 첫 5스텝에 이전 에피소드 관측이 남는다. walk-these-ways-go2는 학습 중 30스텝이 샌다. 이력을 비우는 래퍼 함수가 학습 중에는 불리지 않는다. wanghg1992는 이력을 비우지만 관측을 먼저 만들고 리셋을 나중에 한다. 그래서 새 에피소드의 첫 행동이 이전 에피소드의 마지막 관측으로 정해진다.</a:t>
            </a:r>
          </a:p>
          <a:p>
            <a:pPr>
              <a:spcBef>
                <a:spcPts val="200"/>
              </a:spcBef>
            </a:pPr>
            <a:r>
              <a:rPr sz="1050" b="0" i="0">
                <a:solidFill>
                  <a:srgbClr val="5A6478"/>
                </a:solidFill>
                <a:latin typeface="Arial"/>
                <a:ea typeface="Malgun Gothic"/>
                <a:cs typeface="Malgun Gothic"/>
              </a:rPr>
              <a:t>5. </a:t>
            </a:r>
            <a:r>
              <a:rPr sz="1050" b="1" i="0">
                <a:solidFill>
                  <a:srgbClr val="16213A"/>
                </a:solidFill>
                <a:latin typeface="Arial"/>
                <a:ea typeface="Malgun Gothic"/>
                <a:cs typeface="Malgun Gothic"/>
              </a:rPr>
              <a:t>라벨과 목표가 한 스텝 어긋난다.</a:t>
            </a:r>
            <a:r>
              <a:rPr sz="1050" b="0" i="0">
                <a:solidFill>
                  <a:srgbClr val="16213A"/>
                </a:solidFill>
                <a:latin typeface="Arial"/>
                <a:ea typeface="Malgun Gothic"/>
                <a:cs typeface="Malgun Gothic"/>
              </a:rPr>
              <a:t> yusongmin1의 속도 라벨은 제자리 갱신되는 텐서를 가리켜, 저장되는 값이 </a:t>
            </a:r>
            <a:r>
              <a:rPr sz="1050" b="0" i="1">
                <a:solidFill>
                  <a:srgbClr val="16213A"/>
                </a:solidFill>
                <a:latin typeface="Arial"/>
                <a:ea typeface="Malgun Gothic"/>
                <a:cs typeface="Malgun Gothic"/>
              </a:rPr>
              <a:t>vₜ₊₁</a:t>
            </a:r>
            <a:r>
              <a:rPr sz="1050" b="0" i="0">
                <a:solidFill>
                  <a:srgbClr val="16213A"/>
                </a:solidFill>
                <a:latin typeface="Arial"/>
                <a:ea typeface="Malgun Gothic"/>
                <a:cs typeface="Malgun Gothic"/>
              </a:rPr>
              <a:t>이다. go2_dreamwaq는 GAE의 마지막 부트스트랩에 env.step 이전의 critic 관측을 넘겨 </a:t>
            </a:r>
            <a:r>
              <a:rPr sz="1050" b="0" i="1">
                <a:solidFill>
                  <a:srgbClr val="16213A"/>
                </a:solidFill>
                <a:latin typeface="Arial"/>
                <a:ea typeface="Malgun Gothic"/>
                <a:cs typeface="Malgun Gothic"/>
              </a:rPr>
              <a:t>V(s_T)</a:t>
            </a:r>
            <a:r>
              <a:rPr sz="1050" b="0" i="0">
                <a:solidFill>
                  <a:srgbClr val="16213A"/>
                </a:solidFill>
                <a:latin typeface="Arial"/>
                <a:ea typeface="Malgun Gothic"/>
                <a:cs typeface="Malgun Gothic"/>
              </a:rPr>
              <a:t> 대신 </a:t>
            </a:r>
            <a:r>
              <a:rPr sz="1050" b="0" i="1">
                <a:solidFill>
                  <a:srgbClr val="16213A"/>
                </a:solidFill>
                <a:latin typeface="Arial"/>
                <a:ea typeface="Malgun Gothic"/>
                <a:cs typeface="Malgun Gothic"/>
              </a:rPr>
              <a:t>V(s_(T-1))</a:t>
            </a:r>
            <a:r>
              <a:rPr sz="1050" b="0" i="0">
                <a:solidFill>
                  <a:srgbClr val="16213A"/>
                </a:solidFill>
                <a:latin typeface="Arial"/>
                <a:ea typeface="Malgun Gothic"/>
                <a:cs typeface="Malgun Gothic"/>
              </a:rPr>
              <a:t>을 쓴다. 같은 저장소의 EstimatorNet 러너는 라벨을 롤아웃 밖에서 한 번 읽어 24스텝 내내 같은 라벨로 배운다. wanghg1992의 done 마스크는 관측-리셋 순서 때문에 한 칸 어긋나, 옳은 짝을 지우고 틀린 짝을 남긴다.</a:t>
            </a:r>
          </a:p>
          <a:p>
            <a:pPr>
              <a:spcBef>
                <a:spcPts val="200"/>
              </a:spcBef>
            </a:pPr>
            <a:r>
              <a:rPr sz="1050" b="0" i="0">
                <a:solidFill>
                  <a:srgbClr val="5A6478"/>
                </a:solidFill>
                <a:latin typeface="Arial"/>
                <a:ea typeface="Malgun Gothic"/>
                <a:cs typeface="Malgun Gothic"/>
              </a:rPr>
              <a:t>6. </a:t>
            </a:r>
            <a:r>
              <a:rPr sz="1050" b="1" i="0">
                <a:solidFill>
                  <a:srgbClr val="16213A"/>
                </a:solidFill>
                <a:latin typeface="Arial"/>
                <a:ea typeface="Malgun Gothic"/>
                <a:cs typeface="Malgun Gothic"/>
              </a:rPr>
              <a:t>README 그림이 코드와 다르다.</a:t>
            </a:r>
            <a:r>
              <a:rPr sz="1050" b="0" i="0">
                <a:solidFill>
                  <a:srgbClr val="16213A"/>
                </a:solidFill>
                <a:latin typeface="Arial"/>
                <a:ea typeface="Malgun Gothic"/>
                <a:cs typeface="Malgun Gothic"/>
              </a:rPr>
              <a:t> go2_dreamwaq의 방법 그림은 관측 42차원, BatchNorm, 좁은 actor를 그리지만 코드는 45차원, BatchNorm 없음, 512-256-128 actor다. 같은 저장소의 속도 추정 그림은 정규화된 추정치를 m/s 참값 옆에 그대로 그렸다. 그림의 큰 오차는 이 단위 차이로 설명된다. walk-these-ways-go2의 조이스틱 그림은 Go1 원본의 버튼 배치라 이 저장소 코드와 맞지 않는다. yusongmin1의 README 영상은 어느 체크포인트로 찍었는지 기록이 없다.</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F.6.1 DreamWaQ 비공식 구현 — 넷을 코드로 읽었다</a:t>
            </a:r>
            <a:r>
              <a:rPr sz="1050" b="0" i="0">
                <a:solidFill>
                  <a:srgbClr val="5A6478"/>
                </a:solidFill>
                <a:latin typeface="Arial"/>
                <a:ea typeface="Malgun Gothic"/>
                <a:cs typeface="Malgun Gothic"/>
              </a:rPr>
              <a:t>  자세히: curieuxjy/go2_dreamwaq의 구조와 코드</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132 / 183</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2024-08-17에 만든 모노레포다(★34, 마지막 push 2026-09-01). README가 'independently implemented'라고 밝히는 비공식 구현이다. 핵심인 </a:t>
            </a:r>
            <a:r>
              <a:rPr sz="1050" b="0" i="0">
                <a:solidFill>
                  <a:srgbClr val="16213A"/>
                </a:solidFill>
                <a:latin typeface="Consolas"/>
                <a:ea typeface="Malgun Gothic"/>
                <a:cs typeface="Malgun Gothic"/>
              </a:rPr>
              <a:t>dreamwaq/</a:t>
            </a:r>
            <a:r>
              <a:rPr sz="1050" b="0" i="0">
                <a:solidFill>
                  <a:srgbClr val="16213A"/>
                </a:solidFill>
                <a:latin typeface="Arial"/>
                <a:ea typeface="Malgun Gothic"/>
                <a:cs typeface="Malgun Gothic"/>
              </a:rPr>
              <a:t>는 leggedrobotics의 legged_gym과 rsl_rl 1.0.2(Isaac Gym Preview 4) 위에 CENet(</a:t>
            </a:r>
            <a:r>
              <a:rPr sz="1050" b="0" i="0">
                <a:solidFill>
                  <a:srgbClr val="16213A"/>
                </a:solidFill>
                <a:latin typeface="Consolas"/>
                <a:ea typeface="Malgun Gothic"/>
                <a:cs typeface="Malgun Gothic"/>
              </a:rPr>
              <a:t>cenet.py</a:t>
            </a:r>
            <a:r>
              <a:rPr sz="1050" b="0" i="0">
                <a:solidFill>
                  <a:srgbClr val="16213A"/>
                </a:solidFill>
                <a:latin typeface="Arial"/>
                <a:ea typeface="Malgun Gothic"/>
                <a:cs typeface="Malgun Gothic"/>
              </a:rPr>
              <a:t>)과 러너 셋(Base·WAQ·Est)을 얹었다. 함께 든 것은 넷이다. 2026-09에 더한 Isaac Lab 3.0 이식본(</a:t>
            </a:r>
            <a:r>
              <a:rPr sz="1050" b="0" i="0">
                <a:solidFill>
                  <a:srgbClr val="16213A"/>
                </a:solidFill>
                <a:latin typeface="Consolas"/>
                <a:ea typeface="Malgun Gothic"/>
                <a:cs typeface="Malgun Gothic"/>
              </a:rPr>
              <a:t>dreamwaq_isaaclab/</a:t>
            </a:r>
            <a:r>
              <a:rPr sz="1050" b="0" i="0">
                <a:solidFill>
                  <a:srgbClr val="16213A"/>
                </a:solidFill>
                <a:latin typeface="Arial"/>
                <a:ea typeface="Malgun Gothic"/>
                <a:cs typeface="Malgun Gothic"/>
              </a:rPr>
              <a:t>), Teddy-Liao/walk-these-ways-go2 사본(</a:t>
            </a:r>
            <a:r>
              <a:rPr sz="1050" b="0" i="0">
                <a:solidFill>
                  <a:srgbClr val="16213A"/>
                </a:solidFill>
                <a:latin typeface="Consolas"/>
                <a:ea typeface="Malgun Gothic"/>
                <a:cs typeface="Malgun Gothic"/>
              </a:rPr>
              <a:t>wtw/</a:t>
            </a:r>
            <a:r>
              <a:rPr sz="1050" b="0" i="0">
                <a:solidFill>
                  <a:srgbClr val="16213A"/>
                </a:solidFill>
                <a:latin typeface="Arial"/>
                <a:ea typeface="Malgun Gothic"/>
                <a:cs typeface="Malgun Gothic"/>
              </a:rPr>
              <a:t>), unitree_rl_gym 사본, Isaac Gym 예제다. 저장소 1.2 GB의 대부분은 Walk These Ways 체크포인트(1.03 GB)와 GIF다. </a:t>
            </a:r>
            <a:r>
              <a:rPr sz="1050" b="1" i="0">
                <a:solidFill>
                  <a:srgbClr val="C2410C"/>
                </a:solidFill>
                <a:latin typeface="Arial"/>
                <a:ea typeface="Malgun Gothic"/>
                <a:cs typeface="Malgun Gothic"/>
              </a:rPr>
              <a:t>DreamWaQ 체크포인트는 하나도 없다.</a:t>
            </a:r>
            <a:r>
              <a:rPr sz="1050" b="0" i="0">
                <a:solidFill>
                  <a:srgbClr val="16213A"/>
                </a:solidFill>
                <a:latin typeface="Arial"/>
                <a:ea typeface="Malgun Gothic"/>
                <a:cs typeface="Malgun Gothic"/>
              </a:rPr>
              <a:t> README의 결과와 영상은 A1이고, Go2 데모 GIF는 Isaac Gym 시뮬레이션이다.</a:t>
            </a:r>
          </a:p>
        </p:txBody>
      </p:sp>
      <p:sp>
        <p:nvSpPr>
          <p:cNvPr id="6" name="TextBox 5"/>
          <p:cNvSpPr txBox="1"/>
          <p:nvPr/>
        </p:nvSpPr>
        <p:spPr>
          <a:xfrm>
            <a:off x="609600" y="21994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코드 흐름.</a:t>
            </a:r>
          </a:p>
        </p:txBody>
      </p:sp>
      <p:sp>
        <p:nvSpPr>
          <p:cNvPr id="7" name="TextBox 6"/>
          <p:cNvSpPr txBox="1"/>
          <p:nvPr/>
        </p:nvSpPr>
        <p:spPr>
          <a:xfrm>
            <a:off x="609600" y="25048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관측 이력과 속도 라벨</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legged_robot.py L1293–L1302</a:t>
            </a:r>
            <a:r>
              <a:rPr sz="1050" b="0" i="0">
                <a:solidFill>
                  <a:srgbClr val="16213A"/>
                </a:solidFill>
                <a:latin typeface="Arial"/>
                <a:ea typeface="Malgun Gothic"/>
                <a:cs typeface="Malgun Gothic"/>
              </a:rPr>
              <a:t>). 5프레임 × 45차원 = 225를 오래된 것부터 쌓는다. 리셋 때 이 버퍼를 비우지 않아, 새 에피소드 첫 4프레임이 이전 에피소드 값이다. 라벨 </a:t>
            </a:r>
            <a:r>
              <a:rPr sz="1050" b="0" i="0">
                <a:solidFill>
                  <a:srgbClr val="16213A"/>
                </a:solidFill>
                <a:latin typeface="Consolas"/>
                <a:ea typeface="Malgun Gothic"/>
                <a:cs typeface="Malgun Gothic"/>
              </a:rPr>
              <a:t>get_true_vel()</a:t>
            </a:r>
            <a:r>
              <a:rPr sz="1050" b="0" i="0">
                <a:solidFill>
                  <a:srgbClr val="16213A"/>
                </a:solidFill>
                <a:latin typeface="Arial"/>
                <a:ea typeface="Malgun Gothic"/>
                <a:cs typeface="Malgun Gothic"/>
              </a:rPr>
              <a:t>은 지연 보간을 거치기 전의 참 몸체 선속도이고, 러너가 누적 평균과 분산으로 정규화한다.</a:t>
            </a:r>
          </a:p>
        </p:txBody>
      </p:sp>
      <p:sp>
        <p:nvSpPr>
          <p:cNvPr id="8" name="TextBox 7"/>
          <p:cNvSpPr txBox="1"/>
          <p:nvPr/>
        </p:nvSpPr>
        <p:spPr>
          <a:xfrm>
            <a:off x="609600" y="302676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CENet 순전파</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cenet.py L212–L233</a:t>
            </a:r>
            <a:r>
              <a:rPr sz="1050" b="0" i="0">
                <a:solidFill>
                  <a:srgbClr val="16213A"/>
                </a:solidFill>
                <a:latin typeface="Arial"/>
                <a:ea typeface="Malgun Gothic"/>
                <a:cs typeface="Malgun Gothic"/>
              </a:rPr>
              <a:t>). 인코더 225-128-64-35의 출력을 속도 3, 평균 16, 로그분산 16으로 자른다. z를 재매개변수화로 뽑고, [v̂, z] 19차원을 디코더에 넣어 다음 관측 45차원을 복원한다. 디코더에 속도가 함께 들어가는 점은 논문 Fig. 2와 같다. 디코더 깊이는 다르다. 논문 라벨 64×128×48은 출력이 48이지만, 코드는 48을 은닉층으로 두고 45를 낸다. 추론에서도 평균이 아니라 표본 z가 actor로 간다.</a:t>
            </a:r>
          </a:p>
        </p:txBody>
      </p:sp>
      <p:sp>
        <p:nvSpPr>
          <p:cNvPr id="9" name="TextBox 8"/>
          <p:cNvSpPr txBox="1"/>
          <p:nvPr/>
        </p:nvSpPr>
        <p:spPr>
          <a:xfrm>
            <a:off x="609600" y="376515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③ 손실과 β 일정</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cenet.py L278–L286</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6"/>
              </a:rPr>
              <a:t>L321</a:t>
            </a:r>
            <a:r>
              <a:rPr sz="1050" b="0" i="0">
                <a:solidFill>
                  <a:srgbClr val="16213A"/>
                </a:solidFill>
                <a:latin typeface="Arial"/>
                <a:ea typeface="Malgun Gothic"/>
                <a:cs typeface="Malgun Gothic"/>
              </a:rPr>
              <a:t>). 아래 발췌가 z 붕괴의 출발점이다. 원문 그대로이고, 이 파일의 라이선스는 MIT(© 2024 Jungyeon Lee)다.</a:t>
            </a:r>
          </a:p>
        </p:txBody>
      </p:sp>
      <p:sp>
        <p:nvSpPr>
          <p:cNvPr id="10" name="TextBox 9"/>
          <p:cNvSpPr txBox="1"/>
          <p:nvPr/>
        </p:nvSpPr>
        <p:spPr>
          <a:xfrm>
            <a:off x="609600" y="4070548"/>
            <a:ext cx="10972800" cy="1502966"/>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mse_loss = nn.MSELoss()</a:t>
            </a:r>
          </a:p>
          <a:p>
            <a:r>
              <a:rPr sz="750" b="0" i="0">
                <a:solidFill>
                  <a:srgbClr val="F4F1EA"/>
                </a:solidFill>
                <a:latin typeface="Consolas"/>
                <a:ea typeface="Malgun Gothic"/>
                <a:cs typeface="Malgun Gothic"/>
              </a:rPr>
              <a:t>vel_loss = mse_loss(est_vel_batch, true_vel_batch)</a:t>
            </a:r>
          </a:p>
          <a:p>
            <a:r>
              <a:rPr sz="750" b="0" i="0">
                <a:solidFill>
                  <a:srgbClr val="F4F1EA"/>
                </a:solidFill>
                <a:latin typeface="Consolas"/>
                <a:ea typeface="Malgun Gothic"/>
                <a:cs typeface="Malgun Gothic"/>
              </a:rPr>
              <a:t>recon_loss = mse_loss(est_onext_batch, true_onext_batch)</a:t>
            </a:r>
          </a:p>
          <a:p>
            <a:r>
              <a:rPr sz="750" b="0" i="0">
                <a:solidFill>
                  <a:srgbClr val="F4F1EA"/>
                </a:solidFill>
                <a:latin typeface="Consolas"/>
                <a:ea typeface="Malgun Gothic"/>
                <a:cs typeface="Malgun Gothic"/>
              </a:rPr>
              <a:t> </a:t>
            </a:r>
          </a:p>
          <a:p>
            <a:r>
              <a:rPr sz="750" b="0" i="0">
                <a:solidFill>
                  <a:srgbClr val="F4F1EA"/>
                </a:solidFill>
                <a:latin typeface="Consolas"/>
                <a:ea typeface="Malgun Gothic"/>
                <a:cs typeface="Malgun Gothic"/>
              </a:rPr>
              <a:t>klds = -0.5 * (1 + logvar_batch - mu_batch.pow(2) - logvar_batch.exp())</a:t>
            </a:r>
          </a:p>
          <a:p>
            <a:r>
              <a:rPr sz="750" b="0" i="0">
                <a:solidFill>
                  <a:srgbClr val="F4F1EA"/>
                </a:solidFill>
                <a:latin typeface="Consolas"/>
                <a:ea typeface="Malgun Gothic"/>
                <a:cs typeface="Malgun Gothic"/>
              </a:rPr>
              <a:t>kl_loss = klds.sum(1).mean(0, True) * self.beta</a:t>
            </a:r>
          </a:p>
          <a:p>
            <a:r>
              <a:rPr sz="750" b="0" i="0">
                <a:solidFill>
                  <a:srgbClr val="F4F1EA"/>
                </a:solidFill>
                <a:latin typeface="Consolas"/>
                <a:ea typeface="Malgun Gothic"/>
                <a:cs typeface="Malgun Gothic"/>
              </a:rPr>
              <a:t># kl_loss = (-0.5 * torch.mean(1 + logvar_batch - mu_batch.pow(2) - logvar_batch.exp())) * self.beta</a:t>
            </a:r>
          </a:p>
          <a:p>
            <a:r>
              <a:rPr sz="750" b="0" i="0">
                <a:solidFill>
                  <a:srgbClr val="F4F1EA"/>
                </a:solidFill>
                <a:latin typeface="Consolas"/>
                <a:ea typeface="Malgun Gothic"/>
                <a:cs typeface="Malgun Gothic"/>
              </a:rPr>
              <a:t> </a:t>
            </a:r>
          </a:p>
          <a:p>
            <a:r>
              <a:rPr sz="750" b="0" i="0">
                <a:solidFill>
                  <a:srgbClr val="F4F1EA"/>
                </a:solidFill>
                <a:latin typeface="Consolas"/>
                <a:ea typeface="Malgun Gothic"/>
                <a:cs typeface="Malgun Gothic"/>
              </a:rPr>
              <a:t>total_loss = vel_loss + recon_loss + kl_loss</a:t>
            </a:r>
          </a:p>
        </p:txBody>
      </p:sp>
      <p:sp>
        <p:nvSpPr>
          <p:cNvPr id="11" name="TextBox 10"/>
          <p:cNvSpPr txBox="1"/>
          <p:nvPr/>
        </p:nvSpPr>
        <p:spPr>
          <a:xfrm>
            <a:off x="609600" y="5662414"/>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13개(문단·식·그림)는 대시보드 리서치 탭의 "자세히: curieuxjy/go2_dreamwaq의 구조와 코드" 토글에 있다.</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F.6.1 DreamWaQ 비공식 구현 — 넷을 코드로 읽었다</a:t>
            </a:r>
            <a:r>
              <a:rPr sz="1050" b="0" i="0">
                <a:solidFill>
                  <a:srgbClr val="5A6478"/>
                </a:solidFill>
                <a:latin typeface="Arial"/>
                <a:ea typeface="Malgun Gothic"/>
                <a:cs typeface="Malgun Gothic"/>
              </a:rPr>
              <a:t>  자세히: Teddy-Liao/walk-these-ways-go2의 구조와 코드</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133 / 183</a:t>
            </a:r>
          </a:p>
        </p:txBody>
      </p:sp>
      <p:sp>
        <p:nvSpPr>
          <p:cNvPr id="5" name="TextBox 4"/>
          <p:cNvSpPr txBox="1"/>
          <p:nvPr/>
        </p:nvSpPr>
        <p:spPr>
          <a:xfrm>
            <a:off x="609600" y="124460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MIT Improbable AI Lab의 Walk These Ways(Margolis·Agrawal, CoRL 2022, Unitree Go1)를 Unitree Go2로 옮긴 저장소다(★631, MIT 라이선스, 2024-01-28 생성). 마지막 코드 변경은 2024-03-16이고, 그 뒤로는 문서만 바뀌었다. GitHub 포크 표시는 없지만 README가 포크라고 밝힌다. 학습 코어는 원본과 같다. 코드 파일 43개가 원본과 바이트까지 같고(메시·텍스처까지 세면 79개), 15개는 go1을 go2로 바꾼 이름만 다르다. 새로 쓴 것은 Go2 URDF(Unified Robot Description Format), unitree_sdk2의 DDS와 LCM을 잇는 C++ 브리지, 설정 몇 줄, 그리고 제3자가 학습한 Go2 체크포인트다. </a:t>
            </a:r>
            <a:r>
              <a:rPr sz="1050" b="1" i="0">
                <a:solidFill>
                  <a:srgbClr val="C2410C"/>
                </a:solidFill>
                <a:latin typeface="Arial"/>
                <a:ea typeface="Malgun Gothic"/>
                <a:cs typeface="Malgun Gothic"/>
              </a:rPr>
              <a:t>DreamWaQ 코드는 한 줄도 없다.</a:t>
            </a:r>
            <a:r>
              <a:rPr sz="1050" b="0" i="0">
                <a:solidFill>
                  <a:srgbClr val="16213A"/>
                </a:solidFill>
                <a:latin typeface="Arial"/>
                <a:ea typeface="Malgun Gothic"/>
                <a:cs typeface="Malgun Gothic"/>
              </a:rPr>
              <a:t> 추정기는 Ji 외(2022) 방식의 결정적 회귀기라 DreamWaQ가 이긴 기준선 EstimatorNet과 같은 계열이다. 쓰이지 않는 </a:t>
            </a:r>
            <a:r>
              <a:rPr sz="1050" b="0" i="0">
                <a:solidFill>
                  <a:srgbClr val="16213A"/>
                </a:solidFill>
                <a:latin typeface="Consolas"/>
                <a:ea typeface="Malgun Gothic"/>
                <a:cs typeface="Malgun Gothic"/>
              </a:rPr>
              <a:t>go2_gym_learn/ppo</a:t>
            </a:r>
            <a:r>
              <a:rPr sz="1050" b="0" i="0">
                <a:solidFill>
                  <a:srgbClr val="16213A"/>
                </a:solidFill>
                <a:latin typeface="Arial"/>
                <a:ea typeface="Malgun Gothic"/>
                <a:cs typeface="Malgun Gothic"/>
              </a:rPr>
              <a:t> 변형은 RMA 계열(교사 잠재를 MLP 학생이 회귀)이라 DreamWaQ의 기준선 AdaptationNet에 대응한다. 다만 1D CNN이 아니고 교사와 학생을 함께 학습한다. 명령 격자 커리큘럼은 DreamWaQ가 [23]으로 인용한 grid-adaptive 커리큘럼이다. curieuxjy/go2_dreamwaq가 이 저장소를 </a:t>
            </a:r>
            <a:r>
              <a:rPr sz="1050" b="0" i="0">
                <a:solidFill>
                  <a:srgbClr val="16213A"/>
                </a:solidFill>
                <a:latin typeface="Consolas"/>
                <a:ea typeface="Malgun Gothic"/>
                <a:cs typeface="Malgun Gothic"/>
              </a:rPr>
              <a:t>wtw/</a:t>
            </a:r>
            <a:r>
              <a:rPr sz="1050" b="0" i="0">
                <a:solidFill>
                  <a:srgbClr val="16213A"/>
                </a:solidFill>
                <a:latin typeface="Arial"/>
                <a:ea typeface="Malgun Gothic"/>
                <a:cs typeface="Malgun Gothic"/>
              </a:rPr>
              <a:t>로 통째로 넣었다.</a:t>
            </a:r>
          </a:p>
        </p:txBody>
      </p:sp>
      <p:sp>
        <p:nvSpPr>
          <p:cNvPr id="6" name="TextBox 5"/>
          <p:cNvSpPr txBox="1"/>
          <p:nvPr/>
        </p:nvSpPr>
        <p:spPr>
          <a:xfrm>
            <a:off x="609600" y="2632472"/>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18개(문단·식·그림)는 대시보드 리서치 탭의 "자세히: Teddy-Liao/walk-these-ways-go2의 구조와 코드" 토글에 있다.</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F.6.1 DreamWaQ 비공식 구현 — 넷을 코드로 읽었다</a:t>
            </a:r>
            <a:r>
              <a:rPr sz="1050" b="0" i="0">
                <a:solidFill>
                  <a:srgbClr val="5A6478"/>
                </a:solidFill>
                <a:latin typeface="Arial"/>
                <a:ea typeface="Malgun Gothic"/>
                <a:cs typeface="Malgun Gothic"/>
              </a:rPr>
              <a:t>  자세히: yusongmin1/Dreamwaq의 구조와 코드</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134 / 183</a:t>
            </a:r>
          </a:p>
        </p:txBody>
      </p:sp>
      <p:sp>
        <p:nvSpPr>
          <p:cNvPr id="5" name="TextBox 4"/>
          <p:cNvSpPr txBox="1"/>
          <p:nvPr/>
        </p:nvSpPr>
        <p:spPr>
          <a:xfrm>
            <a:off x="609600" y="1244600"/>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CENet 구조를 바퀴-다리 4족 DEEP Robotics Lynx M20(다리 12 + 바퀴 4 = 16 자유도, 약 34.5 kg)에 옮긴 재구현이다(★121, 2025-12-24 생성). main의 마지막 커밋은 2026-01-23이고, 따로 자라는 </a:t>
            </a:r>
            <a:r>
              <a:rPr sz="1050" b="0" i="0">
                <a:solidFill>
                  <a:srgbClr val="16213A"/>
                </a:solidFill>
                <a:latin typeface="Consolas"/>
                <a:ea typeface="Malgun Gothic"/>
                <a:cs typeface="Malgun Gothic"/>
              </a:rPr>
              <a:t>highplatform</a:t>
            </a:r>
            <a:r>
              <a:rPr sz="1050" b="0" i="0">
                <a:solidFill>
                  <a:srgbClr val="16213A"/>
                </a:solidFill>
                <a:latin typeface="Arial"/>
                <a:ea typeface="Malgun Gothic"/>
                <a:cs typeface="Malgun Gothic"/>
              </a:rPr>
              <a:t> 브랜치는 2026-08-27에 바뀌었다. 바탕은 legged_gym과 rsl_rl 1.0.2(Isaac Gym)다. DreamWaQ 모듈은 두 계보를 섞었다. 클래스 이름, PPO와 VAE의 두 옵티마이저, done 마스크, VAE 클래스를 따로 두는 구조와 Hardtanh 클램프는 lupinjia/LeggedGym-Ex(BSD-3)를 따른다. 인코더 층(128-64, 헤드 16 + 3)과 재매개변수화 함수는 ShengqianChen/DreamWaQ_Go2W(Manaro 계열)와 같다. 그 계열이 가진 속도 로그분산 버그는 고쳤다. 학습된 체크포인트(18,000반복), ONNX, TensorBoard 로그, MuJoCo sim2sim 스크립트를 싣는다. 실물 배포 코드는 없다. README는 실물 M20의 계단 등반 GIF를 싣지만 어느 가중치로 찍었는지 기록이 없다. 라이선스 파일이 없고, legged_gym에서 온 파일 여럿에서 BSD-3 헤더가 지워졌다. 저장소 설명의 'Dreamwaq+'와 'PIE'는 구현되어 있지 않다. 소유자는 이슈 #7에서 KAIST는 코드를 공개하지 않았고 지금의 DreamWaQ는 모두 민간 재현이라고 적었다. </a:t>
            </a:r>
            <a:r>
              <a:rPr sz="1050" b="1" i="0">
                <a:solidFill>
                  <a:srgbClr val="C2410C"/>
                </a:solidFill>
                <a:latin typeface="Arial"/>
                <a:ea typeface="Malgun Gothic"/>
                <a:cs typeface="Malgun Gothic"/>
              </a:rPr>
              <a:t>넷 가운데 돌려 볼 수 있는 DreamWaQ식 가중치는 이것뿐이고, 그 가중치에서 z는 붕괴해 있다.</a:t>
            </a:r>
          </a:p>
        </p:txBody>
      </p:sp>
      <p:sp>
        <p:nvSpPr>
          <p:cNvPr id="6" name="TextBox 5"/>
          <p:cNvSpPr txBox="1"/>
          <p:nvPr/>
        </p:nvSpPr>
        <p:spPr>
          <a:xfrm>
            <a:off x="609600" y="284896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코드 흐름.</a:t>
            </a:r>
            <a:r>
              <a:rPr sz="1050" b="0" i="0">
                <a:solidFill>
                  <a:srgbClr val="16213A"/>
                </a:solidFill>
                <a:latin typeface="Arial"/>
                <a:ea typeface="Malgun Gothic"/>
                <a:cs typeface="Malgun Gothic"/>
              </a:rPr>
              <a:t> 라이선스가 없어 원문 대신 의사 코드로 적는다.</a:t>
            </a:r>
          </a:p>
        </p:txBody>
      </p:sp>
      <p:sp>
        <p:nvSpPr>
          <p:cNvPr id="7" name="TextBox 6"/>
          <p:cNvSpPr txBox="1"/>
          <p:nvPr/>
        </p:nvSpPr>
        <p:spPr>
          <a:xfrm>
            <a:off x="609600" y="315436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CENet</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vae.py L6–L60</a:t>
            </a:r>
            <a:r>
              <a:rPr sz="1050" b="0" i="0">
                <a:solidFill>
                  <a:srgbClr val="16213A"/>
                </a:solidFill>
                <a:latin typeface="Arial"/>
                <a:ea typeface="Malgun Gothic"/>
                <a:cs typeface="Malgun Gothic"/>
              </a:rPr>
              <a:t>).</a:t>
            </a:r>
          </a:p>
        </p:txBody>
      </p:sp>
      <p:sp>
        <p:nvSpPr>
          <p:cNvPr id="8" name="TextBox 7"/>
          <p:cNvSpPr txBox="1"/>
          <p:nvPr/>
        </p:nvSpPr>
        <p:spPr>
          <a:xfrm>
            <a:off x="609600" y="3459758"/>
            <a:ext cx="10972800" cy="914003"/>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 의사 코드</a:t>
            </a:r>
          </a:p>
          <a:p>
            <a:r>
              <a:rPr sz="750" b="0" i="0">
                <a:solidFill>
                  <a:srgbClr val="F4F1EA"/>
                </a:solidFill>
                <a:latin typeface="Consolas"/>
                <a:ea typeface="Malgun Gothic"/>
                <a:cs typeface="Malgun Gothic"/>
              </a:rPr>
              <a:t>h = MLP(285 → 128 → 64, ELU)(지난 5프레임)</a:t>
            </a:r>
          </a:p>
          <a:p>
            <a:r>
              <a:rPr sz="750" b="0" i="0">
                <a:solidFill>
                  <a:srgbClr val="F4F1EA"/>
                </a:solidFill>
                <a:latin typeface="Consolas"/>
                <a:ea typeface="Malgun Gothic"/>
                <a:cs typeface="Malgun Gothic"/>
              </a:rPr>
              <a:t>z ~ N(평균_z(h), 분산 exp(clip(로그분산_z(h), −5, 5)))    # 16차원</a:t>
            </a:r>
          </a:p>
          <a:p>
            <a:r>
              <a:rPr sz="750" b="0" i="0">
                <a:solidFill>
                  <a:srgbClr val="F4F1EA"/>
                </a:solidFill>
                <a:latin typeface="Consolas"/>
                <a:ea typeface="Malgun Gothic"/>
                <a:cs typeface="Malgun Gothic"/>
              </a:rPr>
              <a:t>v ~ N(평균_v(h), 분산 exp(clip(로그분산_v(h), −5, 5)))    # 3차원, 속도도 표본</a:t>
            </a:r>
          </a:p>
          <a:p>
            <a:r>
              <a:rPr sz="750" b="0" i="0">
                <a:solidFill>
                  <a:srgbClr val="F4F1EA"/>
                </a:solidFill>
                <a:latin typeface="Consolas"/>
                <a:ea typeface="Malgun Gothic"/>
                <a:cs typeface="Malgun Gothic"/>
              </a:rPr>
              <a:t>복원 = MLP(19 → 128 → 128 → 57)([v, z])</a:t>
            </a:r>
          </a:p>
        </p:txBody>
      </p:sp>
      <p:sp>
        <p:nvSpPr>
          <p:cNvPr id="9" name="TextBox 8"/>
          <p:cNvSpPr txBox="1"/>
          <p:nvPr/>
        </p:nvSpPr>
        <p:spPr>
          <a:xfrm>
            <a:off x="609600" y="4462661"/>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속도도 확률 변수로 두고 표본에 MSE를 걸어, 학습된 속도 로그분산이 하한 −5(σ 0.082 m/s)에 붙는다. 논문은 속도 헤드가 결정적인지 적지 않으므로 이것은 '논문에 없는 구현 선택'이다.</a:t>
            </a:r>
          </a:p>
        </p:txBody>
      </p:sp>
      <p:sp>
        <p:nvSpPr>
          <p:cNvPr id="10" name="TextBox 9"/>
          <p:cNvSpPr txBox="1"/>
          <p:nvPr/>
        </p:nvSpPr>
        <p:spPr>
          <a:xfrm>
            <a:off x="609600" y="476805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관측, 이력, 속도 라벨</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m20.py L200–L225</a:t>
            </a:r>
            <a:r>
              <a:rPr sz="1050" b="0" i="0">
                <a:solidFill>
                  <a:srgbClr val="16213A"/>
                </a:solidFill>
                <a:latin typeface="Arial"/>
                <a:ea typeface="Malgun Gothic"/>
                <a:cs typeface="Malgun Gothic"/>
              </a:rPr>
              <a:t>).</a:t>
            </a:r>
          </a:p>
        </p:txBody>
      </p:sp>
      <p:sp>
        <p:nvSpPr>
          <p:cNvPr id="11" name="TextBox 10"/>
          <p:cNvSpPr txBox="1"/>
          <p:nvPr/>
        </p:nvSpPr>
        <p:spPr>
          <a:xfrm>
            <a:off x="609600" y="5073452"/>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14개(문단·식·그림)는 대시보드 리서치 탭의 "자세히: yusongmin1/Dreamwaq의 구조와 코드" 토글에 있다.</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F.6.1 DreamWaQ 비공식 구현 — 넷을 코드로 읽었다</a:t>
            </a:r>
            <a:r>
              <a:rPr sz="1050" b="0" i="0">
                <a:solidFill>
                  <a:srgbClr val="5A6478"/>
                </a:solidFill>
                <a:latin typeface="Arial"/>
                <a:ea typeface="Malgun Gothic"/>
                <a:cs typeface="Malgun Gothic"/>
              </a:rPr>
              <a:t>  자세히: wanghg1992/DreamWaQ의 구조와 코드</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135 / 183</a:t>
            </a:r>
          </a:p>
        </p:txBody>
      </p:sp>
      <p:sp>
        <p:nvSpPr>
          <p:cNvPr id="5" name="TextBox 4"/>
          <p:cNvSpPr txBox="1"/>
          <p:nvPr/>
        </p:nvSpPr>
        <p:spPr>
          <a:xfrm>
            <a:off x="609600" y="124460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독립 재구현이 아니라 사본의 사본이다(★122, 2023-12-26 생성, 마지막 커밋 2023-12-25). fan-ziqi(Ziqi Fan)가 2023-12-25에 LucienJi/MetaRobotics(MIT 라이선스, TTIC, 2023-09 생성)에서 DreamWaQ 폴더와 Go1 환경을 잘라 냈다. README가 MetaRobotics를 '코드 참고'로 밝히고, 파이썬 파일 28개가 MetaRobotics와 같은 blob이다. fan-ziqi의 원본 저장소는 지금 404다. 이 저장소는 그 포크였다가 원본이 지워진 뒤 독립한 것과 정황이 맞지만, GitHub가 옛 부모를 더 보여 주지 않아 확인하지 못했다. Go1 환경은 MetaRobotics를 거쳐 Walk These Ways에서 왔다. 루트에 라이선스 파일이 없다. 벤더링한 legged_gym과 rsl_rl의 BSD-3 파일만 있고, 상류 두 곳의 MIT 고지는 빠졌다. 커밋 작성자 본인이 PR #1(2024-03-26, 'PLEASE DELETE MY REPOSITORY')로 삭제를 요청했고, 이 PR은 병합되지 않았다. 학습과 Isaac Gym 안 재생만 있고, 학습된 정책, 내보내기, sim2sim, 실물 배포는 없다. </a:t>
            </a:r>
            <a:r>
              <a:rPr sz="1050" b="1" i="0">
                <a:solidFill>
                  <a:srgbClr val="C2410C"/>
                </a:solidFill>
                <a:latin typeface="Arial"/>
                <a:ea typeface="Malgun Gothic"/>
                <a:cs typeface="Malgun Gothic"/>
              </a:rPr>
              <a:t>이 사본 대신 MIT 라이선스인 상류 LucienJi/MetaRobotics를 읽는다.</a:t>
            </a:r>
          </a:p>
        </p:txBody>
      </p:sp>
      <p:sp>
        <p:nvSpPr>
          <p:cNvPr id="6" name="TextBox 5"/>
          <p:cNvSpPr txBox="1"/>
          <p:nvPr/>
        </p:nvSpPr>
        <p:spPr>
          <a:xfrm>
            <a:off x="609600" y="263247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코드 흐름.</a:t>
            </a:r>
            <a:r>
              <a:rPr sz="1050" b="0" i="0">
                <a:solidFill>
                  <a:srgbClr val="16213A"/>
                </a:solidFill>
                <a:latin typeface="Arial"/>
                <a:ea typeface="Malgun Gothic"/>
                <a:cs typeface="Malgun Gothic"/>
              </a:rPr>
              <a:t> 라이선스가 없어 원문 대신 의사 코드로 적는다.</a:t>
            </a:r>
          </a:p>
        </p:txBody>
      </p:sp>
      <p:sp>
        <p:nvSpPr>
          <p:cNvPr id="7" name="TextBox 6"/>
          <p:cNvSpPr txBox="1"/>
          <p:nvPr/>
        </p:nvSpPr>
        <p:spPr>
          <a:xfrm>
            <a:off x="609600" y="293786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CENet은 VAE 클래스다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state_estimator.py L7–L67</a:t>
            </a:r>
            <a:r>
              <a:rPr sz="1050" b="0" i="0">
                <a:solidFill>
                  <a:srgbClr val="16213A"/>
                </a:solidFill>
                <a:latin typeface="Arial"/>
                <a:ea typeface="Malgun Gothic"/>
                <a:cs typeface="Malgun Gothic"/>
              </a:rPr>
              <a:t>). 5 × 45 이력을 225차원으로 펴서 512-256-64 MLP에 넣고, 64차원 특징에서 선형 헤드 넷을 낸다. z의 평균·로그분산(16씩)과 속도의 평균·로그분산(3씩)이다. 논문 그림(128×64×19)보다 훨씬 넓고, 파라미터는 446,227개다. 디코더는 19-512-256-128-45다.</a:t>
            </a:r>
          </a:p>
        </p:txBody>
      </p:sp>
      <p:sp>
        <p:nvSpPr>
          <p:cNvPr id="8" name="TextBox 7"/>
          <p:cNvSpPr txBox="1"/>
          <p:nvPr/>
        </p:nvSpPr>
        <p:spPr>
          <a:xfrm>
            <a:off x="609600" y="345975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손실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state_estimator.py L81–L106</a:t>
            </a:r>
            <a:r>
              <a:rPr sz="1050" b="0" i="0">
                <a:solidFill>
                  <a:srgbClr val="16213A"/>
                </a:solidFill>
                <a:latin typeface="Arial"/>
                <a:ea typeface="Malgun Gothic"/>
                <a:cs typeface="Malgun Gothic"/>
              </a:rPr>
              <a:t>).</a:t>
            </a:r>
          </a:p>
        </p:txBody>
      </p:sp>
      <p:sp>
        <p:nvSpPr>
          <p:cNvPr id="9" name="TextBox 8"/>
          <p:cNvSpPr txBox="1"/>
          <p:nvPr/>
        </p:nvSpPr>
        <p:spPr>
          <a:xfrm>
            <a:off x="609600" y="3765153"/>
            <a:ext cx="10972800" cy="914003"/>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 의사 코드</a:t>
            </a:r>
          </a:p>
          <a:p>
            <a:r>
              <a:rPr sz="750" b="0" i="0">
                <a:solidFill>
                  <a:srgbClr val="F4F1EA"/>
                </a:solidFill>
                <a:latin typeface="Consolas"/>
                <a:ea typeface="Malgun Gothic"/>
                <a:cs typeface="Malgun Gothic"/>
              </a:rPr>
              <a:t>(z, v̂), (평균_z, 로그분산_z, …) = vae(이력)           # 새 표본</a:t>
            </a:r>
          </a:p>
          <a:p>
            <a:r>
              <a:rPr sz="750" b="0" i="0">
                <a:solidFill>
                  <a:srgbClr val="F4F1EA"/>
                </a:solidFill>
                <a:latin typeface="Consolas"/>
                <a:ea typeface="Malgun Gothic"/>
                <a:cs typeface="Malgun Gothic"/>
              </a:rPr>
              <a:t>복원 = 디코더([z, 참 속도 × 2])                     # 추정 속도가 아니라 참값</a:t>
            </a:r>
          </a:p>
          <a:p>
            <a:r>
              <a:rPr sz="750" b="0" i="0">
                <a:solidFill>
                  <a:srgbClr val="F4F1EA"/>
                </a:solidFill>
                <a:latin typeface="Consolas"/>
                <a:ea typeface="Malgun Gothic"/>
                <a:cs typeface="Malgun Gothic"/>
              </a:rPr>
              <a:t>L = 평균45((복원 − 다음 관측)²) + 평균3((v̂ − 참 속도 × 2)²) + 1.0 × 합16(KL)</a:t>
            </a:r>
          </a:p>
          <a:p>
            <a:r>
              <a:rPr sz="750" b="0" i="0">
                <a:solidFill>
                  <a:srgbClr val="F4F1EA"/>
                </a:solidFill>
                <a:latin typeface="Consolas"/>
                <a:ea typeface="Malgun Gothic"/>
                <a:cs typeface="Malgun Gothic"/>
              </a:rPr>
              <a:t>배포: (평균_z, 평균_v)를 그대로 쓴다                  # 표본 없음</a:t>
            </a:r>
          </a:p>
        </p:txBody>
      </p:sp>
      <p:sp>
        <p:nvSpPr>
          <p:cNvPr id="10" name="TextBox 9"/>
          <p:cNvSpPr txBox="1"/>
          <p:nvPr/>
        </p:nvSpPr>
        <p:spPr>
          <a:xfrm>
            <a:off x="609600" y="4768056"/>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디코더에 추정 속도 대신 참 속도가 들어가, 복원 손실의 기울기가 속도 헤드에 가지 않는다(CPU 점검에서 0.0). 속도 MSE는 평균이 아니라 표본에 걸린다. KL은 합이고 복원은 평균이라, 합 기준 복원에 견주면 KL 가중이 약 45배다.</a:t>
            </a:r>
          </a:p>
        </p:txBody>
      </p:sp>
      <p:sp>
        <p:nvSpPr>
          <p:cNvPr id="11" name="TextBox 10"/>
          <p:cNvSpPr txBox="1"/>
          <p:nvPr/>
        </p:nvSpPr>
        <p:spPr>
          <a:xfrm>
            <a:off x="609600" y="528994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③ actor-critic</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ac.py L76–L173</a:t>
            </a:r>
            <a:r>
              <a:rPr sz="1050" b="0" i="0">
                <a:solidFill>
                  <a:srgbClr val="16213A"/>
                </a:solidFill>
                <a:latin typeface="Arial"/>
                <a:ea typeface="Malgun Gothic"/>
                <a:cs typeface="Malgun Gothic"/>
              </a:rPr>
              <a:t>). actor는 현재 관측 45, z 16, 속도 3을 이은 64차원을 받고, critic은 관측 45, 참 속도 3, 높이 187점을 이은 235차원을 받는다. 높이는 몸체 기준이 아니라 절대 지형 높이에 5를 곱한 값이다. 행동 경로는 셋이다. </a:t>
            </a:r>
            <a:r>
              <a:rPr sz="1050" b="0" i="0">
                <a:solidFill>
                  <a:srgbClr val="16213A"/>
                </a:solidFill>
                <a:latin typeface="Consolas"/>
                <a:ea typeface="Malgun Gothic"/>
                <a:cs typeface="Malgun Gothic"/>
              </a:rPr>
              <a:t>act_student</a:t>
            </a:r>
            <a:r>
              <a:rPr sz="1050" b="0" i="0">
                <a:solidFill>
                  <a:srgbClr val="16213A"/>
                </a:solidFill>
                <a:latin typeface="Arial"/>
                <a:ea typeface="Malgun Gothic"/>
                <a:cs typeface="Malgun Gothic"/>
              </a:rPr>
              <a:t>는 z와 속도를 표본으로 쓰고, 롤아웃과 갱신이 모두 이것을 부른다. 참 속도를 쓰는 </a:t>
            </a:r>
            <a:r>
              <a:rPr sz="1050" b="0" i="0">
                <a:solidFill>
                  <a:srgbClr val="16213A"/>
                </a:solidFill>
                <a:latin typeface="Consolas"/>
                <a:ea typeface="Malgun Gothic"/>
                <a:cs typeface="Malgun Gothic"/>
              </a:rPr>
              <a:t>act_expert</a:t>
            </a:r>
            <a:r>
              <a:rPr sz="1050" b="0" i="0">
                <a:solidFill>
                  <a:srgbClr val="16213A"/>
                </a:solidFill>
                <a:latin typeface="Arial"/>
                <a:ea typeface="Malgun Gothic"/>
                <a:cs typeface="Malgun Gothic"/>
              </a:rPr>
              <a:t>는 정의만 있고 호출되지 않는다. </a:t>
            </a:r>
            <a:r>
              <a:rPr sz="1050" b="0" i="0">
                <a:solidFill>
                  <a:srgbClr val="16213A"/>
                </a:solidFill>
                <a:latin typeface="Consolas"/>
                <a:ea typeface="Malgun Gothic"/>
                <a:cs typeface="Malgun Gothic"/>
              </a:rPr>
              <a:t>act_inference</a:t>
            </a:r>
            <a:r>
              <a:rPr sz="1050" b="0" i="0">
                <a:solidFill>
                  <a:srgbClr val="16213A"/>
                </a:solidFill>
                <a:latin typeface="Arial"/>
                <a:ea typeface="Malgun Gothic"/>
                <a:cs typeface="Malgun Gothic"/>
              </a:rPr>
              <a:t>는 두 평균으로 결정적 행동을 낸다.</a:t>
            </a:r>
          </a:p>
        </p:txBody>
      </p:sp>
      <p:sp>
        <p:nvSpPr>
          <p:cNvPr id="12" name="TextBox 11"/>
          <p:cNvSpPr txBox="1"/>
          <p:nvPr/>
        </p:nvSpPr>
        <p:spPr>
          <a:xfrm>
            <a:off x="609600" y="6028333"/>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12개(문단·식·그림)는 대시보드 리서치 탭의 "자세히: wanghg1992/DreamWaQ의 구조와 코드" 토글에 있다.</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F.6.1 DreamWaQ 비공식 구현 — 넷을 코드로 읽었다</a:t>
            </a:r>
            <a:r>
              <a:rPr sz="1050" b="0" i="0">
                <a:solidFill>
                  <a:srgbClr val="5A6478"/>
                </a:solidFill>
                <a:latin typeface="Arial"/>
                <a:ea typeface="Malgun Gothic"/>
                <a:cs typeface="Malgun Gothic"/>
              </a:rPr>
              <a:t>  자세히: 그 밖의 비공식 구현</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136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아래 저장소는 README와 GitHub 메타데이터 위주로 읽었다(2026-10-06). AdaBoot 식처럼 표에 적은 코드 사실은 해당 줄만 확인했고, 학습이나 실행은 하지 않았다.</a:t>
            </a:r>
          </a:p>
        </p:txBody>
      </p:sp>
      <p:sp>
        <p:nvSpPr>
          <p:cNvPr id="6" name="TextBox 5"/>
          <p:cNvSpPr txBox="1"/>
          <p:nvPr/>
        </p:nvSpPr>
        <p:spPr>
          <a:xfrm>
            <a:off x="609600" y="1549995"/>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1개(문단·식·그림)는 대시보드 리서치 탭의 "자세히: 그 밖의 비공식 구현" 토글에 있다.</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F.6.1 DreamWaQ 비공식 구현 — 넷을 코드로 읽었다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137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p>
        </p:txBody>
      </p:sp>
      <p:sp>
        <p:nvSpPr>
          <p:cNvPr id="6" name="TextBox 5"/>
          <p:cNvSpPr txBox="1"/>
          <p:nvPr/>
        </p:nvSpPr>
        <p:spPr>
          <a:xfrm>
            <a:off x="609600" y="1549995"/>
            <a:ext cx="10972800" cy="424041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바퀴-다리에서 지도와 추정기의 몫(TP-0129, TP-0068).</a:t>
            </a:r>
            <a:r>
              <a:rPr sz="1050" b="0" i="0">
                <a:solidFill>
                  <a:srgbClr val="16213A"/>
                </a:solidFill>
                <a:latin typeface="Arial"/>
                <a:ea typeface="Malgun Gothic"/>
                <a:cs typeface="Malgun Gothic"/>
              </a:rPr>
              <a:t> M20 정책은 평지에서 다리를 거의 고정한 채 바퀴로 구르고(다리 관절 속도 평균 0.02 rad/s), 계단에서만 다리를 쓴다(1.52 rad/s). 지도도, 쓸모 있는 z도 없이 MuJoCo의 20 cm 계단을 넘는다. E.12의 '지도는 바퀴에게만 필수다'와 같은 방향이고, 이 결과는 실제 다리 접촉 동역학 위에서 나왔다. 다만 M20은 다리가 있어서, 다리 없는 스워브의 0/12 결론은 바뀌지 않는다. 바퀴 관절 속도가 관측에 있으면 속도 추정을 0으로 지워도 마찰 0.2와 측면 밀기에서 결과가 같았다. 그래서 학습 속도 추정기는 바퀴 오도메트리가 크게 틀리는 큰 미끄럼 영역에서만 값이 있다는 가설이 선다. 그 영역은 travplan이 GP 잔차(TP-0068)로 다루는 곳이고, Controller 모델 계층(TP-0124)에서 학습 모델을 비교할 자리다.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VAE 병목을 두면 붕괴부터 잰다(TP-0055).</a:t>
            </a:r>
            <a:r>
              <a:rPr sz="1050" b="0" i="0">
                <a:solidFill>
                  <a:srgbClr val="16213A"/>
                </a:solidFill>
                <a:latin typeface="Arial"/>
                <a:ea typeface="Malgun Gothic"/>
                <a:cs typeface="Malgun Gothic"/>
              </a:rPr>
              <a:t> 학습 Planner나 belief 증류(TP-0055)에 VAE 병목을 둔다면 KL 축소 방식(합 또는 평균)과 β를 함께 정한다. 그리고 차원별 KL, 활성 차원 수, 디코더의 z 가중치 노름을 학습 로그에 남긴다. 붕괴는 보상 곡선에 보이지 않는다. yusongmin1의 기록에서 보상은 0.08에서 54로 올랐지만, 반복 100 이후 KL은 95%가 0.0005 아래였다. 롤아웃 때 뽑은 잠재는 버퍼에 저장하거나 평균을 써서 PPO 비율을 오염시키지 않는다.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AdaBoot로 GT 지도와 belief 지도를 섞는다(TP-0055).</a:t>
            </a:r>
            <a:r>
              <a:rPr sz="1050" b="0" i="0">
                <a:solidFill>
                  <a:srgbClr val="16213A"/>
                </a:solidFill>
                <a:latin typeface="Arial"/>
                <a:ea typeface="Malgun Gothic"/>
                <a:cs typeface="Malgun Gothic"/>
              </a:rPr>
              <a:t> TP-0128의 정책은 GT 지도로 배우고 belief 지도로 돌았다(E.12 '정직하게 적어 둘 것' 3). AdaBoot의 발상은 학습 중 참값과 추정값을 확률로 섞고, env들의 성과가 고르면 추정값 비율을 올리는 것이다. 이것을 GT 지도와 L1 belief 지도의 혼합으로 옮길 수 있다. 옮길 때는 env마다 따로 추첨하고, critic은 늘 GT를 보게 한다. go2_dreamwaq는 두 가지를 모두 반대로 했다.</a:t>
            </a:r>
          </a:p>
          <a:p>
            <a:pPr>
              <a:spcBef>
                <a:spcPts val="200"/>
              </a:spcBef>
            </a:pPr>
            <a:r>
              <a:rPr sz="1050" b="0" i="0">
                <a:solidFill>
                  <a:srgbClr val="5A6478"/>
                </a:solidFill>
                <a:latin typeface="Arial"/>
                <a:ea typeface="Malgun Gothic"/>
                <a:cs typeface="Malgun Gothic"/>
              </a:rPr>
              <a:t>4. </a:t>
            </a:r>
            <a:r>
              <a:rPr sz="1050" b="1" i="0">
                <a:solidFill>
                  <a:srgbClr val="16213A"/>
                </a:solidFill>
                <a:latin typeface="Arial"/>
                <a:ea typeface="Malgun Gothic"/>
                <a:cs typeface="Malgun Gothic"/>
              </a:rPr>
              <a:t>명령 격자 커리큘럼(F.2, F.3).</a:t>
            </a:r>
            <a:r>
              <a:rPr sz="1050" b="0" i="0">
                <a:solidFill>
                  <a:srgbClr val="16213A"/>
                </a:solidFill>
                <a:latin typeface="Arial"/>
                <a:ea typeface="Malgun Gothic"/>
                <a:cs typeface="Malgun Gothic"/>
              </a:rPr>
              <a:t> Walk These Ways의 </a:t>
            </a:r>
            <a:r>
              <a:rPr sz="1050" b="0" i="0">
                <a:solidFill>
                  <a:srgbClr val="1D4ED8"/>
                </a:solidFill>
                <a:latin typeface="Arial"/>
                <a:ea typeface="Malgun Gothic"/>
                <a:cs typeface="Malgun Gothic"/>
                <a:hlinkClick r:id="rId3"/>
              </a:rPr>
              <a:t>RewardThresholdCurriculum</a:t>
            </a:r>
            <a:r>
              <a:rPr sz="1050" b="0" i="0">
                <a:solidFill>
                  <a:srgbClr val="16213A"/>
                </a:solidFill>
                <a:latin typeface="Arial"/>
                <a:ea typeface="Malgun Gothic"/>
                <a:cs typeface="Malgun Gothic"/>
              </a:rPr>
              <a:t>은 명령 격자(전진 속도 × 요 속도, 21 × 21칸)에서 과업 보상이 모두 문턱(추종 0.8·0.7, 접지 0.9)을 넘은 칸과 그 이웃의 표집 가중치를 0.2씩 올린다. 파일 전체가 numpy 위주의 181줄이고 MIT 라이선스다. F.3이 지적한 균등 표집을 바꿀 가장 단순한 코드 수준 대안이고, LP-ACRL(F.2)보다 단순하다. 지형 레벨 표집(F.3 표에서 TP-0039는 고정 또는 무작위, TP-0073은 균등)에 옮기면 칸은 (시나리오, 레벨)이 되고 문턱은 도달률이 된다.</a:t>
            </a:r>
          </a:p>
          <a:p>
            <a:pPr>
              <a:spcBef>
                <a:spcPts val="200"/>
              </a:spcBef>
            </a:pPr>
            <a:r>
              <a:rPr sz="1050" b="0" i="0">
                <a:solidFill>
                  <a:srgbClr val="5A6478"/>
                </a:solidFill>
                <a:latin typeface="Arial"/>
                <a:ea typeface="Malgun Gothic"/>
                <a:cs typeface="Malgun Gothic"/>
              </a:rPr>
              <a:t>5. </a:t>
            </a:r>
            <a:r>
              <a:rPr sz="1050" b="1" i="0">
                <a:solidFill>
                  <a:srgbClr val="16213A"/>
                </a:solidFill>
                <a:latin typeface="Arial"/>
                <a:ea typeface="Malgun Gothic"/>
                <a:cs typeface="Malgun Gothic"/>
              </a:rPr>
              <a:t>안전 정지는 안전 명령을 계속 보내는 것이다.</a:t>
            </a:r>
            <a:r>
              <a:rPr sz="1050" b="0" i="0">
                <a:solidFill>
                  <a:srgbClr val="16213A"/>
                </a:solidFill>
                <a:latin typeface="Arial"/>
                <a:ea typeface="Malgun Gothic"/>
                <a:cs typeface="Malgun Gothic"/>
              </a:rPr>
              <a:t> walk-these-ways-go2의 C++ 브리지는 감쇠 분기에서 명령을 보내지 않은 채 쓰기 스레드를 멈추고, LCM 명령 감시도 없다. travplan Controller가 실물 구동기에 붙을 때는 그 사이의 브리지에 두 가지를 둔다. 명령이 끊기면 정해진 시간 안에 안전 명령(정지 속도와 감쇠)으로 바꾸는 감시기, 그리고 비상 분기에서도 송신을 멈추지 않는 구조다.</a:t>
            </a:r>
          </a:p>
          <a:p>
            <a:pPr>
              <a:spcBef>
                <a:spcPts val="200"/>
              </a:spcBef>
            </a:pPr>
            <a:r>
              <a:rPr sz="1050" b="0" i="0">
                <a:solidFill>
                  <a:srgbClr val="5A6478"/>
                </a:solidFill>
                <a:latin typeface="Arial"/>
                <a:ea typeface="Malgun Gothic"/>
                <a:cs typeface="Malgun Gothic"/>
              </a:rPr>
              <a:t>6. </a:t>
            </a:r>
            <a:r>
              <a:rPr sz="1050" b="1" i="0">
                <a:solidFill>
                  <a:srgbClr val="16213A"/>
                </a:solidFill>
                <a:latin typeface="Arial"/>
                <a:ea typeface="Malgun Gothic"/>
                <a:cs typeface="Malgun Gothic"/>
              </a:rPr>
              <a:t>Playground 바퀴 사족 프로필 보정(TP-0102).</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docs/playground/js/robots.js</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wheelLeg</a:t>
            </a:r>
            <a:r>
              <a:rPr sz="1050" b="0" i="0">
                <a:solidFill>
                  <a:srgbClr val="16213A"/>
                </a:solidFill>
                <a:latin typeface="Arial"/>
                <a:ea typeface="Malgun Gothic"/>
                <a:cs typeface="Malgun Gothic"/>
              </a:rPr>
              <a:t>는 턱 한계를 0.15 m로 가정하고(</a:t>
            </a:r>
            <a:r>
              <a:rPr sz="1050" b="0" i="0">
                <a:solidFill>
                  <a:srgbClr val="16213A"/>
                </a:solidFill>
                <a:latin typeface="Consolas"/>
                <a:ea typeface="Malgun Gothic"/>
                <a:cs typeface="Malgun Gothic"/>
              </a:rPr>
              <a:t>trav.maxStep</a:t>
            </a:r>
            <a:r>
              <a:rPr sz="1050" b="0" i="0">
                <a:solidFill>
                  <a:srgbClr val="16213A"/>
                </a:solidFill>
                <a:latin typeface="Arial"/>
                <a:ea typeface="Malgun Gothic"/>
                <a:cs typeface="Malgun Gothic"/>
              </a:rPr>
              <a:t>), 평지에서도 걸음새 흔들림을 넣는다. M20 정책은 MuJoCo에서 20 cm 계단을 넘었고, 평지에서는 다리를 거의 움직이지 않았다. 저장소의 MJCF와 ONNX를 로컬에서 블랙박스 하위 보행기로 두면 MPPI가 낸 twist를 그대로 넣어 추종 오차(평지 0.06 m/s 이내, 영명령 크리프 0.04 m/s)와 턱 한계를 실제 접촉 동역학으로 잴 수 있다. 라이선스가 없으므로 로컬 평가에만 쓰고 travplan에는 커밋하지 않는다.</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F.6.2 Extreme Parkour — 논문과 공개 코드를 읽었다</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138 / 183</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Extreme Parkour는 값싼 4족 로봇 Unitree A1이 앞쪽 깊이 카메라 하나와 신경망 하나로 자기 키 두 배 높이에 오르고 몸길이 두 배 간격을 건너게 한 연구다.</a:t>
            </a:r>
            <a:r>
              <a:rPr sz="1050" b="0" i="0">
                <a:solidFill>
                  <a:srgbClr val="16213A"/>
                </a:solidFill>
                <a:latin typeface="Arial"/>
                <a:ea typeface="Malgun Gothic"/>
                <a:cs typeface="Malgun Gothic"/>
              </a:rPr>
              <a:t> 2026-10-07에 논문(arXiv v1, ICRA 2024)과 공개 코드(chengxuxin/extreme-parkour, 커밋 d2ffe27)를 끝까지 읽었다. 코드는 순수 PyTorch 모듈만 CPU에서 만들어 형상과 파라미터 수를 확인했고, 학습과 시뮬레이션은 돌리지 않았다. 코드는 두 단계 학습 절차를 거의 다 담았다. 그러나 학습된 가중치와 실물 배포 코드는 지금 저장소에 없다. 방향 증류의 판정, 커리큘럼 문턱, 보상 항은 논문과 다르다. 별과 날짜는 2026-10-07 기준이다.</a:t>
            </a:r>
          </a:p>
        </p:txBody>
      </p:sp>
      <p:sp>
        <p:nvSpPr>
          <p:cNvPr id="6" name="TextBox 5"/>
          <p:cNvSpPr txBox="1"/>
          <p:nvPr/>
        </p:nvSpPr>
        <p:spPr>
          <a:xfrm>
            <a:off x="609600" y="2199481"/>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CMU Deepak Pathak 연구실의 Xuxin Cheng·Kexin Shi(공동 1저자)·Ananye Agarwal·Deepak Pathak이 썼다(</a:t>
            </a:r>
            <a:r>
              <a:rPr sz="1050" b="0" i="0">
                <a:solidFill>
                  <a:srgbClr val="1D4ED8"/>
                </a:solidFill>
                <a:latin typeface="Arial"/>
                <a:ea typeface="Malgun Gothic"/>
                <a:cs typeface="Malgun Gothic"/>
                <a:hlinkClick r:id="rId3"/>
              </a:rPr>
              <a:t>arXiv:2309.14341</a:t>
            </a:r>
            <a:r>
              <a:rPr sz="1050" b="0" i="0">
                <a:solidFill>
                  <a:srgbClr val="16213A"/>
                </a:solidFill>
                <a:latin typeface="Arial"/>
                <a:ea typeface="Malgun Gothic"/>
                <a:cs typeface="Malgun Gothic"/>
              </a:rPr>
              <a:t>, ICRA 2024 pp. 11443–11450,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로봇은 관절 12개의 Unitree A1이다. 서 있을 때 허벅지 관절 높이가 26 cm, 몸길이가 40 cm다. 외수용 센서는 머리 속 Intel RealSense D435 하나다. 지도도 경로 계획도 없이, 깊이 영상과 고유수용을 받은 신경망 하나가 관절 목표각을 낸다. 실물 A1은 0.5 m 상자에 오르고(로봇 키의 두 배), 0.8 m 간격을 건넜다(몸길이의 두 배). 앞다리 둘로 물구나무 걷기를 했고, 기울어진 경사로를 뛰어 건넜다(논문 표 1은 37°로 적는다). F.4의 세 갈래 가운데 (c) 카메라 직접의 대표다.</a:t>
            </a:r>
          </a:p>
        </p:txBody>
      </p:sp>
      <p:sp>
        <p:nvSpPr>
          <p:cNvPr id="7" name="TextBox 6"/>
          <p:cNvSpPr txBox="1"/>
          <p:nvPr/>
        </p:nvSpPr>
        <p:spPr>
          <a:xfrm>
            <a:off x="609600" y="3154362"/>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어떻게 하나.</a:t>
            </a:r>
            <a:r>
              <a:rPr sz="1050" b="0" i="0">
                <a:solidFill>
                  <a:srgbClr val="16213A"/>
                </a:solidFill>
                <a:latin typeface="Arial"/>
                <a:ea typeface="Malgun Gothic"/>
                <a:cs typeface="Malgun Gothic"/>
              </a:rPr>
              <a:t> 학습은 두 단계다. 1단계는 시뮬레이션에서만 알 수 있는 특권 정보를 받는 교사 정책을 PPO로 학습한다. 특권 정보는 로봇 둘레의 지형 높이 표본(scandots, 코드 기본값 132점), 질량·마찰 같은 환경 값, 지형에 미리 놓은 웨이포인트가 주는 진행 방향이다. 보상의 중심은 "다음 웨이포인트 쪽 속도 성분을 명령 속도까지 준다"는 내적 항 하나다. 가장자리 5 cm 안에 디딘 발에는 벌점을 준다. 기술마다 보상을 따로 짜지 않았는데도 상자에 뛰어오르는 높이뛰기와 간격을 건너는 멀리뛰기가 저절로 나왔다. 물구나무에만 몸통 방향을 정하는 항을 하나 더했다. 2단계는 교사의 행동을 깊이 영상 학생에게 DAgger(배경 0.12)로 증류한다. 학생은 scandots 대신 58 × 87 깊이 영상을 합성곱 망과 GRU(gated recurrent unit)로 읽고, 웨이포인트 방향도 스스로 예측한다. 실물에서는 Jetson NX가 깊이 인코더를 10 Hz, 정책을 50 Hz로 돌린다. 배포 정책은 RTX 3090 한 장에서 20시간 안에 학습된다.</a:t>
            </a:r>
          </a:p>
        </p:txBody>
      </p:sp>
      <p:sp>
        <p:nvSpPr>
          <p:cNvPr id="8" name="TextBox 7"/>
          <p:cNvSpPr txBox="1"/>
          <p:nvPr/>
        </p:nvSpPr>
        <p:spPr>
          <a:xfrm>
            <a:off x="609600" y="4325739"/>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travplan은 TravMap을 공통 표현으로 쓰는 (a) 외수용 격자 갈래라서, 깊이 영상을 관절로 바로 잇는 구조는 들어올 자리가 없다. 바퀴 로봇이라 점프와 물구나무도 쓸 데가 없다. </a:t>
            </a:r>
            <a:r>
              <a:rPr sz="1050" b="1" i="0">
                <a:solidFill>
                  <a:srgbClr val="C2410C"/>
                </a:solidFill>
                <a:latin typeface="Arial"/>
                <a:ea typeface="Malgun Gothic"/>
                <a:cs typeface="Malgun Gothic"/>
              </a:rPr>
              <a:t>travplan이 가져올 것은 카메라 직결 구조가 아니라 특권 교사에서 온보드 학생으로 가는 증류 절차와 가장자리 벌점이다.</a:t>
            </a:r>
            <a:r>
              <a:rPr sz="1050" b="0" i="0">
                <a:solidFill>
                  <a:srgbClr val="16213A"/>
                </a:solidFill>
                <a:latin typeface="Arial"/>
                <a:ea typeface="Malgun Gothic"/>
                <a:cs typeface="Malgun Gothic"/>
              </a:rPr>
              <a:t> 증류 절차는 L1 belief 증류(TP-0055)에 맞고, 가장자리 벌점은 TravMap의 STEP 채널과 스워브 바퀴 접지점에 맞는다. 하나의 진행 보상과 지형 커리큘럼은 지형 레벨(TP-0039)과 Planner D RL 후학습(TP-0066)에 닿는다. 코드는 비상업 라이선스(CC BY-NC 4.0)라 travplan에는 구조와 숫자만 들인다. 자세한 대응은 이 절 끝의 'travplan에 주는 것'에 있다.</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F.6.2 Extreme Parkour — 논문과 공개 코드를 읽었다</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139 / 183</a:t>
            </a:r>
          </a:p>
        </p:txBody>
      </p:sp>
      <p:pic>
        <p:nvPicPr>
          <p:cNvPr id="5" name="Picture 4" descr="image.jpg"/>
          <p:cNvPicPr>
            <a:picLocks noChangeAspect="1"/>
          </p:cNvPicPr>
          <p:nvPr/>
        </p:nvPicPr>
        <p:blipFill>
          <a:blip r:embed="rId3"/>
          <a:stretch>
            <a:fillRect/>
          </a:stretch>
        </p:blipFill>
        <p:spPr>
          <a:xfrm>
            <a:off x="609600" y="1244600"/>
            <a:ext cx="3556000" cy="1714500"/>
          </a:xfrm>
          <a:prstGeom prst="rect">
            <a:avLst/>
          </a:prstGeom>
        </p:spPr>
      </p:pic>
      <p:sp>
        <p:nvSpPr>
          <p:cNvPr id="6" name="TextBox 5"/>
          <p:cNvSpPr txBox="1"/>
          <p:nvPr/>
        </p:nvSpPr>
        <p:spPr>
          <a:xfrm>
            <a:off x="609600" y="2997200"/>
            <a:ext cx="3556000" cy="853083"/>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Extreme Parkour (Fig. 1): 왼쪽 위는 Unitree A1의 치수(몸길이 0.4 m, 높이 0.26 m)다. 윗줄은 0.8 m 간격 멀리뛰기, 0.5 m 상자 오르기, 잔디 위 물구나무, 기울어진 경사로다. 가운데 줄은 실내 코스(허들, 상자 오르기, 간격, 기울어진 경사로)를 이어 달리는 합성 사진이고, 아랫줄은 야외 벤치와 콘크리트 블록 오르기, 벤치 사이 뛰어 건너기, 돌판 위 물구나무다. 원문 캡션은 이 모두를 앞쪽 깊이 카메라 하나로 도는 신경망 하나가 했다고 적는다. 출처: arXiv:2309.14341</a:t>
            </a:r>
          </a:p>
        </p:txBody>
      </p:sp>
      <p:pic>
        <p:nvPicPr>
          <p:cNvPr id="7" name="Picture 6" descr="image.jpg"/>
          <p:cNvPicPr>
            <a:picLocks noChangeAspect="1"/>
          </p:cNvPicPr>
          <p:nvPr/>
        </p:nvPicPr>
        <p:blipFill>
          <a:blip r:embed="rId4"/>
          <a:stretch>
            <a:fillRect/>
          </a:stretch>
        </p:blipFill>
        <p:spPr>
          <a:xfrm>
            <a:off x="4318000" y="1244600"/>
            <a:ext cx="3022600" cy="2667000"/>
          </a:xfrm>
          <a:prstGeom prst="rect">
            <a:avLst/>
          </a:prstGeom>
        </p:spPr>
      </p:pic>
      <p:sp>
        <p:nvSpPr>
          <p:cNvPr id="8" name="TextBox 7"/>
          <p:cNvSpPr txBox="1"/>
          <p:nvPr/>
        </p:nvSpPr>
        <p:spPr>
          <a:xfrm>
            <a:off x="4318000" y="3949700"/>
            <a:ext cx="35560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Extreme Parkour (Fig. 2): 위는 1단계다. scandots, 웨이포인트(빨간 점)가 주는 정답 방향, 고유수용이 actor에 들어가 교사 행동이 나온다. 아래는 2단계다. 깊이 영상을 GRU 인코더가 읽어 잠재와 예측 방향을 내고, 1단계 actor를 복사한(Deepcopy) 학생이 교사 행동의 감독(Supervise)을 받는다. 출처: arXiv:2309.14341</a:t>
            </a:r>
          </a:p>
        </p:txBody>
      </p:sp>
      <p:pic>
        <p:nvPicPr>
          <p:cNvPr id="9" name="Picture 8" descr="image.jpg"/>
          <p:cNvPicPr>
            <a:picLocks noChangeAspect="1"/>
          </p:cNvPicPr>
          <p:nvPr/>
        </p:nvPicPr>
        <p:blipFill>
          <a:blip r:embed="rId5"/>
          <a:stretch>
            <a:fillRect/>
          </a:stretch>
        </p:blipFill>
        <p:spPr>
          <a:xfrm>
            <a:off x="8026400" y="1244600"/>
            <a:ext cx="3556000" cy="1473200"/>
          </a:xfrm>
          <a:prstGeom prst="rect">
            <a:avLst/>
          </a:prstGeom>
        </p:spPr>
      </p:pic>
      <p:sp>
        <p:nvSpPr>
          <p:cNvPr id="10" name="TextBox 9"/>
          <p:cNvSpPr txBox="1"/>
          <p:nvPr/>
        </p:nvSpPr>
        <p:spPr>
          <a:xfrm>
            <a:off x="8026400" y="2755900"/>
            <a:ext cx="3556000" cy="71090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Extreme Parkour (Fig. 7): 실물 A1의 지형별 성공률이다. 허들, 계단, 간격, 기울어진 경사로의 크기마다 5번씩 시도했다. 파랑이 이 논문, 빨강이 가장자리 벌점을 뺀 것(NoClear), 초록이 사람이 조이스틱으로 방향을 준 것(NoDir), 보라가 동시 연구 Zhuang 외다. 원문 캡션은 가장 어려운 단계에서 성공률이 기준선보다 20–80% 높다고 적는다. 출처: arXiv:2309.14341</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F.6.2 Extreme Parkour — 논문과 공개 코드를 읽었다</a:t>
            </a:r>
            <a:r>
              <a:rPr sz="1050" b="0" i="0">
                <a:solidFill>
                  <a:srgbClr val="5A6478"/>
                </a:solidFill>
                <a:latin typeface="Arial"/>
                <a:ea typeface="Malgun Gothic"/>
                <a:cs typeface="Malgun Gothic"/>
              </a:rPr>
              <a:t>  자세히: Extreme Parkour의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140 / 183</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파쿠르는 한 번의 실수가 곧 실패다. 넓은 간격을 넘으려면 가장자리에 닿기 전에 운동량을 미리 만들어야 하고, 넘어진 뒤에 고칠 기회가 없다. 고전적 방법은 장애물의 위치·크기·종류를 미리 재고 최적화로 매 순간의 동작을 정했다. 그래서 미리 잰 실험실 코스에서만 됐다. 저자들의 가설은 사람이 같은 감각기로 연습만 해서 파쿠르를 배우듯, 값싼 로봇도 시뮬레이션의 대규모 RL로 정밀한 동작을 배운다는 것이다. 이 로봇의 구동기는 부정확하고, 깊이 카메라는 주파수가 낮고 떨리며 결함이 많다. 지도를 만들면 그 오차가 계획을 망친다. 개념상의 어려움도 둘이다. 첫째, 로봇이 장애물에 맞춰 진행 방향을 스스로 정해야 한다. 사람이 방향을 주면 긴 점프에서 몇 도의 오차로도 실패한다. 둘째, 높이뛰기와 물구나무처럼 성격이 다른 기술을 신경망 하나에 담아야 한다.</a:t>
            </a:r>
          </a:p>
        </p:txBody>
      </p:sp>
      <p:sp>
        <p:nvSpPr>
          <p:cNvPr id="6" name="TextBox 5"/>
          <p:cNvSpPr txBox="1"/>
          <p:nvPr/>
        </p:nvSpPr>
        <p:spPr>
          <a:xfrm>
            <a:off x="609600" y="219948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1단계 입력.</a:t>
            </a:r>
            <a:r>
              <a:rPr sz="1050" b="0" i="0">
                <a:solidFill>
                  <a:srgbClr val="16213A"/>
                </a:solidFill>
                <a:latin typeface="Arial"/>
                <a:ea typeface="Malgun Gothic"/>
                <a:cs typeface="Malgun Gothic"/>
              </a:rPr>
              <a:t> 교사는 고유수용, scandots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 목표 방향 </a:t>
            </a:r>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 걷기 플래그 </a:t>
            </a:r>
            <a:r>
              <a:rPr sz="1050" b="0" i="1">
                <a:solidFill>
                  <a:srgbClr val="16213A"/>
                </a:solidFill>
                <a:latin typeface="Arial"/>
                <a:ea typeface="Malgun Gothic"/>
                <a:cs typeface="Malgun Gothic"/>
              </a:rPr>
              <a:t>W</a:t>
            </a:r>
            <a:r>
              <a:rPr sz="1050" b="0" i="0">
                <a:solidFill>
                  <a:srgbClr val="16213A"/>
                </a:solidFill>
                <a:latin typeface="Arial"/>
                <a:ea typeface="Malgun Gothic"/>
                <a:cs typeface="Malgun Gothic"/>
              </a:rPr>
              <a:t>, 명령 속도 </a:t>
            </a:r>
            <a:r>
              <a:rPr sz="1050" b="0" i="1">
                <a:solidFill>
                  <a:srgbClr val="16213A"/>
                </a:solidFill>
                <a:latin typeface="Arial"/>
                <a:ea typeface="Malgun Gothic"/>
                <a:cs typeface="Malgun Gothic"/>
              </a:rPr>
              <a:t>v_(cmd)</a:t>
            </a:r>
            <a:r>
              <a:rPr sz="1050" b="0" i="0">
                <a:solidFill>
                  <a:srgbClr val="16213A"/>
                </a:solidFill>
                <a:latin typeface="Arial"/>
                <a:ea typeface="Malgun Gothic"/>
                <a:cs typeface="Malgun Gothic"/>
              </a:rPr>
              <a:t>를 받는다. scandots는 같은 연구실의 이전 연구인 Agarwal 외(</a:t>
            </a:r>
            <a:r>
              <a:rPr sz="1050" b="0" i="0">
                <a:solidFill>
                  <a:srgbClr val="1D4ED8"/>
                </a:solidFill>
                <a:latin typeface="Arial"/>
                <a:ea typeface="Malgun Gothic"/>
                <a:cs typeface="Malgun Gothic"/>
                <a:hlinkClick r:id="rId3"/>
              </a:rPr>
              <a:t>arXiv:2211.07638</a:t>
            </a:r>
            <a:r>
              <a:rPr sz="1050" b="0" i="0">
                <a:solidFill>
                  <a:srgbClr val="16213A"/>
                </a:solidFill>
                <a:latin typeface="Arial"/>
                <a:ea typeface="Malgun Gothic"/>
                <a:cs typeface="Malgun Gothic"/>
              </a:rPr>
              <a:t>, CoRL 2022)가 쓴 로봇 둘레 지형 높이 표본이다. 동시 연구 Robot Parkour Learning(Planner B.12.2)은 장애물의 종류·폭·높이 같은 추상 정보를 특권으로 썼다. 저자들은 scandots가 그와 달리 지형 모양이 바뀌어도 일반화된다고 본다. 방향은 지형마다 놓은 웨이포인트로 정한다.</a:t>
            </a:r>
          </a:p>
        </p:txBody>
      </p:sp>
      <p:pic>
        <p:nvPicPr>
          <p:cNvPr id="7" name="Picture 6" descr="image.png"/>
          <p:cNvPicPr>
            <a:picLocks noChangeAspect="1"/>
          </p:cNvPicPr>
          <p:nvPr/>
        </p:nvPicPr>
        <p:blipFill>
          <a:blip r:embed="rId4"/>
          <a:stretch>
            <a:fillRect/>
          </a:stretch>
        </p:blipFill>
        <p:spPr>
          <a:xfrm>
            <a:off x="609600" y="2937867"/>
            <a:ext cx="1079500" cy="396875"/>
          </a:xfrm>
          <a:prstGeom prst="rect">
            <a:avLst/>
          </a:prstGeom>
        </p:spPr>
      </p:pic>
      <p:sp>
        <p:nvSpPr>
          <p:cNvPr id="8" name="TextBox 7"/>
          <p:cNvSpPr txBox="1"/>
          <p:nvPr/>
        </p:nvSpPr>
        <p:spPr>
          <a:xfrm>
            <a:off x="609600" y="3348930"/>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p</a:t>
            </a:r>
            <a:r>
              <a:rPr sz="1050" b="0" i="0">
                <a:solidFill>
                  <a:srgbClr val="16213A"/>
                </a:solidFill>
                <a:latin typeface="Arial"/>
                <a:ea typeface="Malgun Gothic"/>
                <a:cs typeface="Malgun Gothic"/>
              </a:rPr>
              <a:t>는 다음 웨이포인트,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는 로봇의 세계 좌표 위치다.</a:t>
            </a:r>
          </a:p>
        </p:txBody>
      </p:sp>
      <p:sp>
        <p:nvSpPr>
          <p:cNvPr id="9" name="TextBox 8"/>
          <p:cNvSpPr txBox="1"/>
          <p:nvPr/>
        </p:nvSpPr>
        <p:spPr>
          <a:xfrm>
            <a:off x="609600" y="365432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통합 보상.</a:t>
            </a:r>
            <a:r>
              <a:rPr sz="1050" b="0" i="0">
                <a:solidFill>
                  <a:srgbClr val="16213A"/>
                </a:solidFill>
                <a:latin typeface="Arial"/>
                <a:ea typeface="Malgun Gothic"/>
                <a:cs typeface="Malgun Gothic"/>
              </a:rPr>
              <a:t> 속도 추종을 방향과의 내적으로 바꾼 것이 핵심이다.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는 세계 좌표의 수평 속도다.</a:t>
            </a:r>
          </a:p>
        </p:txBody>
      </p:sp>
      <p:pic>
        <p:nvPicPr>
          <p:cNvPr id="10" name="Picture 9" descr="image.png"/>
          <p:cNvPicPr>
            <a:picLocks noChangeAspect="1"/>
          </p:cNvPicPr>
          <p:nvPr/>
        </p:nvPicPr>
        <p:blipFill>
          <a:blip r:embed="rId5"/>
          <a:stretch>
            <a:fillRect/>
          </a:stretch>
        </p:blipFill>
        <p:spPr>
          <a:xfrm>
            <a:off x="609600" y="3959721"/>
            <a:ext cx="2165350" cy="250825"/>
          </a:xfrm>
          <a:prstGeom prst="rect">
            <a:avLst/>
          </a:prstGeom>
        </p:spPr>
      </p:pic>
      <p:sp>
        <p:nvSpPr>
          <p:cNvPr id="11" name="TextBox 10"/>
          <p:cNvSpPr txBox="1"/>
          <p:nvPr/>
        </p:nvSpPr>
        <p:spPr>
          <a:xfrm>
            <a:off x="609600" y="424438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Agarwal 외는 몸체 좌표에서 속도를 추종했다. 그러면 로봇이 장애물을 넘지 않고 돌아가는 꼼수를 배운다. 세계 좌표의 내적은 그 꼼수를 막는다. 이 항만으로도 여러 동작이 나왔지만, 어려운 장애물에서는 에너지를 아끼려 가장자리 가까이 디뎠고 실물에서 위험했다. 그래서 가장자리 벌점을 더했다.</a:t>
            </a:r>
          </a:p>
        </p:txBody>
      </p:sp>
      <p:pic>
        <p:nvPicPr>
          <p:cNvPr id="12" name="Picture 11" descr="image.png"/>
          <p:cNvPicPr>
            <a:picLocks noChangeAspect="1"/>
          </p:cNvPicPr>
          <p:nvPr/>
        </p:nvPicPr>
        <p:blipFill>
          <a:blip r:embed="rId6"/>
          <a:stretch>
            <a:fillRect/>
          </a:stretch>
        </p:blipFill>
        <p:spPr>
          <a:xfrm>
            <a:off x="609600" y="4766270"/>
            <a:ext cx="1800225" cy="419100"/>
          </a:xfrm>
          <a:prstGeom prst="rect">
            <a:avLst/>
          </a:prstGeom>
        </p:spPr>
      </p:pic>
      <p:sp>
        <p:nvSpPr>
          <p:cNvPr id="13" name="TextBox 12"/>
          <p:cNvSpPr txBox="1"/>
          <p:nvPr/>
        </p:nvSpPr>
        <p:spPr>
          <a:xfrm>
            <a:off x="609600" y="5196582"/>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cᵢ</a:t>
            </a:r>
            <a:r>
              <a:rPr sz="1050" b="0" i="0">
                <a:solidFill>
                  <a:srgbClr val="16213A"/>
                </a:solidFill>
                <a:latin typeface="Arial"/>
                <a:ea typeface="Malgun Gothic"/>
                <a:cs typeface="Malgun Gothic"/>
              </a:rPr>
              <a:t>는 발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가 땅에 닿았으면 1이고, </a:t>
            </a:r>
            <a:r>
              <a:rPr sz="1050" b="0" i="1">
                <a:solidFill>
                  <a:srgbClr val="16213A"/>
                </a:solidFill>
                <a:latin typeface="Arial"/>
                <a:ea typeface="Malgun Gothic"/>
                <a:cs typeface="Malgun Gothic"/>
              </a:rPr>
              <a:t>M[pᵢ]</a:t>
            </a:r>
            <a:r>
              <a:rPr sz="1050" b="0" i="0">
                <a:solidFill>
                  <a:srgbClr val="16213A"/>
                </a:solidFill>
                <a:latin typeface="Arial"/>
                <a:ea typeface="Malgun Gothic"/>
                <a:cs typeface="Malgun Gothic"/>
              </a:rPr>
              <a:t>는 발 위치 </a:t>
            </a:r>
            <a:r>
              <a:rPr sz="1050" b="0" i="1">
                <a:solidFill>
                  <a:srgbClr val="16213A"/>
                </a:solidFill>
                <a:latin typeface="Arial"/>
                <a:ea typeface="Malgun Gothic"/>
                <a:cs typeface="Malgun Gothic"/>
              </a:rPr>
              <a:t>pᵢ</a:t>
            </a:r>
            <a:r>
              <a:rPr sz="1050" b="0" i="0">
                <a:solidFill>
                  <a:srgbClr val="16213A"/>
                </a:solidFill>
                <a:latin typeface="Arial"/>
                <a:ea typeface="Malgun Gothic"/>
                <a:cs typeface="Malgun Gothic"/>
              </a:rPr>
              <a:t>가 가장자리 5 cm 안이면 1이다. 걷는 모양을 바꾸는 항도 같은 내적 원리로 만들었다.</a:t>
            </a:r>
          </a:p>
        </p:txBody>
      </p:sp>
      <p:pic>
        <p:nvPicPr>
          <p:cNvPr id="14" name="Picture 13" descr="image.png"/>
          <p:cNvPicPr>
            <a:picLocks noChangeAspect="1"/>
          </p:cNvPicPr>
          <p:nvPr/>
        </p:nvPicPr>
        <p:blipFill>
          <a:blip r:embed="rId7"/>
          <a:stretch>
            <a:fillRect/>
          </a:stretch>
        </p:blipFill>
        <p:spPr>
          <a:xfrm>
            <a:off x="609600" y="5501977"/>
            <a:ext cx="2432050" cy="266700"/>
          </a:xfrm>
          <a:prstGeom prst="rect">
            <a:avLst/>
          </a:prstGeom>
        </p:spPr>
      </p:pic>
      <p:sp>
        <p:nvSpPr>
          <p:cNvPr id="15" name="TextBox 14"/>
          <p:cNvSpPr txBox="1"/>
          <p:nvPr/>
        </p:nvSpPr>
        <p:spPr>
          <a:xfrm>
            <a:off x="609600" y="5800725"/>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32개(문단·식·그림)는 대시보드 리서치 탭의 "자세히: Extreme Parkour의 방법과 수식" 토글에 있다.</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F.6.2 Extreme Parkour — 논문과 공개 코드를 읽었다</a:t>
            </a:r>
            <a:r>
              <a:rPr sz="1050" b="0" i="0">
                <a:solidFill>
                  <a:srgbClr val="5A6478"/>
                </a:solidFill>
                <a:latin typeface="Arial"/>
                <a:ea typeface="Malgun Gothic"/>
                <a:cs typeface="Malgun Gothic"/>
              </a:rPr>
              <a:t>  자세히: chengxuxin/extreme-parkour 저장소의 구조와 코드</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141 / 183</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2023-09-26에 만든 저장소다(★1,182, 포크 179, 열린 이슈 46·PR 1). main에는 커밋이 둘뿐이다. 코드가 마지막으로 바뀐 것은 첫 커밋 dcb2447('Release', 2023-09-25)이다. 마지막 커밋 d2ffe27(2023-11-10)은 README에 한 줄을 더했고, 마지막 push는 2023-11-28이다. 루트 LICENSE는 CC BY-NC 4.0(© 2023 Xuxin Cheng, Kexin Shi, Deepak Pathak)이다. 벤더링한 legged_gym과 rsl_rl 폴더에는 BSD-3 LICENSE가 남아 있고, GitHub는 라이선스를 NOASSERTION으로 표시한다.</a:t>
            </a:r>
          </a:p>
        </p:txBody>
      </p:sp>
      <p:sp>
        <p:nvSpPr>
          <p:cNvPr id="6" name="TextBox 5"/>
          <p:cNvSpPr txBox="1"/>
          <p:nvPr/>
        </p:nvSpPr>
        <p:spPr>
          <a:xfrm>
            <a:off x="609600" y="1982986"/>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내용은 둘이다. legged_gym 사본에는 A1 파쿠르 과제(지형 생성기, 웨이포인트, 보상, 깊이 카메라 흉내), 학습·재생·평가·내보내기 스크립트, 화면 없는 서버용 Flask 웹 뷰어가 있다. rsl_rl 사본(1.0.2)에는 ROA actor-critic, 속도 추정기, 깊이 인코더, PPO와 증류 러너가 있다. 시뮬레이터는 Isaac Gym Preview다. README는 Preview 3로 학습했고 Preview 4에서도 버그를 보지 못했다고 적는다. 환경은 Python 3.8, PyTorch 1.10.0(CUDA 11.3), numpy 1.24 미만이다.</a:t>
            </a:r>
          </a:p>
        </p:txBody>
      </p:sp>
      <p:sp>
        <p:nvSpPr>
          <p:cNvPr id="7" name="TextBox 6"/>
          <p:cNvSpPr txBox="1"/>
          <p:nvPr/>
        </p:nvSpPr>
        <p:spPr>
          <a:xfrm>
            <a:off x="609600" y="2721372"/>
            <a:ext cx="10972800" cy="1082477"/>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없는 것은 넷이다. 학습된 가중치, 실물 배포 코드(깊이 서버, 관측 조립, 모터 명령), 물구나무 보상(식 4), Noisy 기준선 설정이다. 원저자는 이슈 #31(2024-02-29)에서 하드웨어 코드를 공개하지 않았다고 답하고, cajun·fast_and_efficient·walk-these-ways 같은 공개 배포 구현을 참고하라고 했다. 공개 직후의 커밋은 달랐다. 원저자가 2023-09–10월 이슈 답변에서 링크한 커밋 4ea4d0f(2023-09-25)와 671a8a0(2023-09-26)에는 학습된 정책 셋이 들어 있었다. 교사 051-40, 방향 증류가 없는 학생 051-41, 방향 증류 학생 051-42다. 두 커밋의 README에는 'Hardware code and Go1 support coming later'라는 배포 절이 있었다. LICENSE는 671a8a0에서는 MIT였고, 4ea4d0f에서는 지금과 같은 CC BY-NC 4.0이었다. 지금 main의 이력에는 이 커밋들이 없고, 옛 커밋은 SHA로만 열린다. travplan은 지금의 라이선스를 따른다.</a:t>
            </a:r>
          </a:p>
        </p:txBody>
      </p:sp>
      <p:sp>
        <p:nvSpPr>
          <p:cNvPr id="8" name="TextBox 7"/>
          <p:cNvSpPr txBox="1"/>
          <p:nvPr/>
        </p:nvSpPr>
        <p:spPr>
          <a:xfrm>
            <a:off x="609600" y="389274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논문 블록이 어느 파일에 있나.</a:t>
            </a:r>
            <a:r>
              <a:rPr sz="1050" b="0" i="0">
                <a:solidFill>
                  <a:srgbClr val="16213A"/>
                </a:solidFill>
                <a:latin typeface="Arial"/>
                <a:ea typeface="Malgun Gothic"/>
                <a:cs typeface="Malgun Gothic"/>
              </a:rPr>
              <a:t> 커밋 d2ffe27 기준이다. 줄 번호가 붙은 링크는 아래 코드 흐름에 있다.</a:t>
            </a:r>
          </a:p>
        </p:txBody>
      </p:sp>
      <p:sp>
        <p:nvSpPr>
          <p:cNvPr id="9" name="TextBox 8"/>
          <p:cNvSpPr txBox="1"/>
          <p:nvPr/>
        </p:nvSpPr>
        <p:spPr>
          <a:xfrm>
            <a:off x="609600" y="4198144"/>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21개(문단·식·그림)는 대시보드 리서치 탭의 "자세히: chengxuxin/extreme-parkour 저장소의 구조와 코드" 토글에 있다.</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F.6.2 Extreme Parkour — 논문과 공개 코드를 읽었다</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142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p>
        </p:txBody>
      </p:sp>
      <p:sp>
        <p:nvSpPr>
          <p:cNvPr id="6" name="TextBox 5"/>
          <p:cNvSpPr txBox="1"/>
          <p:nvPr/>
        </p:nvSpPr>
        <p:spPr>
          <a:xfrm>
            <a:off x="609600" y="1549995"/>
            <a:ext cx="10972800" cy="3514725"/>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특권 교사에서 온보드 학생으로(TP-0055).</a:t>
            </a:r>
            <a:r>
              <a:rPr sz="1050" b="0" i="0">
                <a:solidFill>
                  <a:srgbClr val="16213A"/>
                </a:solidFill>
                <a:latin typeface="Arial"/>
                <a:ea typeface="Malgun Gothic"/>
                <a:cs typeface="Malgun Gothic"/>
              </a:rPr>
              <a:t> 2단계를 travplan에 옮기면 이렇다. 교사는 GT TravMap을 보는 Planner D이고, 학생은 같은 가중치에서 시작해 L1 belief를 본다. 롤아웃은 학생 출력으로 굴리고(DAgger), 정답은 같은 상태에서 교사가 낸 출력이다. Extreme Parkour는 잠재 회귀 없이 행동 손실만으로 깊이 인코더까지 학습했다(이슈 #19). 지도 잡음이 정밀한 동작을 망친다는 근거도 같은 논문에 있다. 잡음 낀 높이 지도로 학습한 교사(Noisy)는 시뮬 도달이 0.98에서 0.82로, 가장자리 위반이 0.03에서 0.20으로 나빠졌다. 잡음 모델은 Agarwal 외를 따랐다고만 적혀 있다. 학생이 스스로 예측하는 입력을 둔다면(예: belief에서 학습한 subgoal이나 빈칸 보정) MTS 문턱을 함께 둔다. 예측이 정답에서 크게 벗어난 스텝에만 정답을 보여 주면 초기 증류가 무너지지 않는다. 문턱은 논문 식대로 예측과 정답의 차이로 잰다. 이 저장소에서 배울 함정도 하나 있다. 학생이 증류 때 본 입력과 배포 때 받는 입력이 같아야 한다. TP-0055에서는 학생을 배포와 같은 권장 L1 설정의 belief로 증류해야 한다.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방향은 지도 위에서 이미 풀려 있다(GuidancePlanner, Planner D).</a:t>
            </a:r>
            <a:r>
              <a:rPr sz="1050" b="0" i="0">
                <a:solidFill>
                  <a:srgbClr val="16213A"/>
                </a:solidFill>
                <a:latin typeface="Arial"/>
                <a:ea typeface="Malgun Gothic"/>
                <a:cs typeface="Malgun Gothic"/>
              </a:rPr>
              <a:t> Extreme Parkour가 방향 증류를 만든 이유는 실물에 웨이포인트가 없어서다. travplan은 배포 때도 Guidance가 TravMap 위의 Dijkstra로 1초마다 subgoal을 낸다. 그래서 방향 예측 망은 지금 스택에 필요 없다. 쓸 만한 숫자는 둘이다. 표 3에서 스스로 예측한 방향(0.92)이 정답 방향(0.94)과 거의 같았고, 실물에서 사람이 준 방향(NoDir)은 기울어진 경사로를 한 번도 넘지 못했다. 그리고 교사는 현재와 다음 웨이포인트의 방향을 둘 다 본다. Planner D는 지금 subgoal 하나를 받으므로, 다음 subgoal을 하나 더 주는 것은 값싼 입력 확장이다. 효과는 재지 않은 가설이다.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가장자리 벌점은 바퀴 접지점에(TravMap STEP 채널).</a:t>
            </a:r>
            <a:r>
              <a:rPr sz="1050" b="0" i="0">
                <a:solidFill>
                  <a:srgbClr val="16213A"/>
                </a:solidFill>
                <a:latin typeface="Arial"/>
                <a:ea typeface="Malgun Gothic"/>
                <a:cs typeface="Malgun Gothic"/>
              </a:rPr>
              <a:t> 이 논문에서 가장 옮길 만한 숫자는 가장자리 벌점의 절제 결과다. 벌점을 빼도 시뮬 도달은 거의 같았다(0.99 대 0.98). 그러나 가장자리 위반은 0.03에서 0.08로 늘었고, 실물의 가장 넓은 간격에서는 4/5가 0/5로 떨어졌다. 성공률로는 보이지 않던 위험이 실물에서 드러난 것이다. travplan의 MPPI 비용은 몸체 중심 한 점에서 TravMap을 읽는다(</a:t>
            </a:r>
            <a:r>
              <a:rPr sz="1050" b="0" i="0">
                <a:solidFill>
                  <a:srgbClr val="16213A"/>
                </a:solidFill>
                <a:latin typeface="Consolas"/>
                <a:ea typeface="Malgun Gothic"/>
                <a:cs typeface="Malgun Gothic"/>
              </a:rPr>
              <a:t>terrain_attitude</a:t>
            </a:r>
            <a:r>
              <a:rPr sz="1050" b="0" i="0">
                <a:solidFill>
                  <a:srgbClr val="16213A"/>
                </a:solidFill>
                <a:latin typeface="Arial"/>
                <a:ea typeface="Malgun Gothic"/>
                <a:cs typeface="Malgun Gothic"/>
              </a:rPr>
              <a:t>). 채널은 footprint만큼 팽창돼 있지만, 바퀴 네 개의 접지점이 STEP 가장자리 띠 위에 있는지는 따로 보지 않는다. 옮기는 방법은 둘이다. 첫째, MPPI rollout의 스텝마다 바퀴 접지점 넷에서 STEP 값이나 높이 기울기로 만든 가장자리 마스크를 읽는 </a:t>
            </a:r>
            <a:r>
              <a:rPr sz="1050" b="0" i="0">
                <a:solidFill>
                  <a:srgbClr val="16213A"/>
                </a:solidFill>
                <a:latin typeface="Consolas"/>
                <a:ea typeface="Malgun Gothic"/>
                <a:cs typeface="Malgun Gothic"/>
              </a:rPr>
              <a:t>CostTerm</a:t>
            </a:r>
            <a:r>
              <a:rPr sz="1050" b="0" i="0">
                <a:solidFill>
                  <a:srgbClr val="16213A"/>
                </a:solidFill>
                <a:latin typeface="Arial"/>
                <a:ea typeface="Malgun Gothic"/>
                <a:cs typeface="Malgun Gothic"/>
              </a:rPr>
              <a:t>을 더한다. 바퀴는 연석을 건너야 하므로 닿는 것 자체가 아니라 가장자리 띠에 머물거나 나란히 달리는 시간을 벌한다. 둘째, 벤치마크에 MEV 같은 지표(스텝당 가장자리 띠 위 바퀴 수)를 더한다. NoClear처럼 성공률이 같아도 이 지표는 달라질 수 있다. 코드는 벌점을 지형 레벨 4 이상에서만 켠다. 이유는 적혀 있지 않지만, travplan의 레벨 0–3에도 같은 단계적 적용을 시험할 수 있다.</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F.6.2 Extreme Parkour — 논문과 공개 코드를 읽었다</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143 / 183</a:t>
            </a:r>
          </a:p>
        </p:txBody>
      </p:sp>
      <p:sp>
        <p:nvSpPr>
          <p:cNvPr id="5" name="TextBox 4"/>
          <p:cNvSpPr txBox="1"/>
          <p:nvPr/>
        </p:nvSpPr>
        <p:spPr>
          <a:xfrm>
            <a:off x="609600" y="1244600"/>
            <a:ext cx="10972800" cy="2648744"/>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4. </a:t>
            </a:r>
            <a:r>
              <a:rPr sz="1050" b="1" i="0">
                <a:solidFill>
                  <a:srgbClr val="16213A"/>
                </a:solidFill>
                <a:latin typeface="Arial"/>
                <a:ea typeface="Malgun Gothic"/>
                <a:cs typeface="Malgun Gothic"/>
              </a:rPr>
              <a:t>하나의 진행 보상과 지형 커리큘럼(TP-0066, TP-0039).</a:t>
            </a:r>
            <a:r>
              <a:rPr sz="1050" b="0" i="0">
                <a:solidFill>
                  <a:srgbClr val="16213A"/>
                </a:solidFill>
                <a:latin typeface="Arial"/>
                <a:ea typeface="Malgun Gothic"/>
                <a:cs typeface="Malgun Gothic"/>
              </a:rPr>
              <a:t> 진행 보상은 목표 방향 속도 성분을 명령 속도에서 자른 값이다. 다섯 지형을 이 항과 yaw 추종 항, 작은 정규화 항들로 학습했고, 기술별 항은 없다. 이 항을 몸체 좌표 속도 추종으로 바꾸면(NoInner) 허들은 돌아가고 계단 MXD는 0.14로 떨어졌다. 상한이 있어 과속에는 보상이 없다. Planner D RL 후학습(TP-0066)의 진행 항은 지금 GT cost-to-go가 줄어든 양이고 상한이 없다(</a:t>
            </a:r>
            <a:r>
              <a:rPr sz="1050" b="0" i="0">
                <a:solidFill>
                  <a:srgbClr val="16213A"/>
                </a:solidFill>
                <a:latin typeface="Consolas"/>
                <a:ea typeface="Malgun Gothic"/>
                <a:cs typeface="Malgun Gothic"/>
              </a:rPr>
              <a:t>scripts/rl_finetune_planner_d.py</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reward</a:t>
            </a:r>
            <a:r>
              <a:rPr sz="1050" b="0" i="0">
                <a:solidFill>
                  <a:srgbClr val="16213A"/>
                </a:solidFill>
                <a:latin typeface="Arial"/>
                <a:ea typeface="Malgun Gothic"/>
                <a:cs typeface="Malgun Gothic"/>
              </a:rPr>
              <a:t>). 그 항을 손볼 때 Guidance 경로 방향에 대한 같은 형태로 둘 수 있다. 지형 커리큘럼은 B.14.1이 지형 레벨 표집(TP-0039·TP-0073)에 제안한 게임식 규칙과 같고, F.3의 LP-ACRL이나 F.6.1의 보상 문턱 커리큘럼과 나란한 후보다. 다만 실제 문턱은 논문의 절반이 아니라 코드의 0.8배와 0.4배다.</a:t>
            </a:r>
          </a:p>
          <a:p>
            <a:pPr>
              <a:spcBef>
                <a:spcPts val="200"/>
              </a:spcBef>
            </a:pPr>
            <a:r>
              <a:rPr sz="1050" b="0" i="0">
                <a:solidFill>
                  <a:srgbClr val="5A6478"/>
                </a:solidFill>
                <a:latin typeface="Arial"/>
                <a:ea typeface="Malgun Gothic"/>
                <a:cs typeface="Malgun Gothic"/>
              </a:rPr>
              <a:t>5. </a:t>
            </a:r>
            <a:r>
              <a:rPr sz="1050" b="1" i="0">
                <a:solidFill>
                  <a:srgbClr val="16213A"/>
                </a:solidFill>
                <a:latin typeface="Arial"/>
                <a:ea typeface="Malgun Gothic"/>
                <a:cs typeface="Malgun Gothic"/>
              </a:rPr>
              <a:t>Playground의 학습 Controller(TP-0128).</a:t>
            </a:r>
            <a:r>
              <a:rPr sz="1050" b="0" i="0">
                <a:solidFill>
                  <a:srgbClr val="16213A"/>
                </a:solidFill>
                <a:latin typeface="Arial"/>
                <a:ea typeface="Malgun Gothic"/>
                <a:cs typeface="Malgun Gothic"/>
              </a:rPr>
              <a:t> TinyPolicy(가중치 1,675개)의 입력은 앞쪽 cost 격자 35칸과 경로 전방 점 넷이 중심이다. Extreme Parkour 교사의 scandots 132점, 웨이포인트 방향 둘과 같은 짜임이다. TinyPolicy는 GT 지도로 배우고 belief 지도에서 돈다(E.12). 1번의 증류가 그 격차를 다루는 직접적인 방법이다. 프로젝트 페이지의 브라우저 데모(코드 토글 끝)는 Playground 사족 프로필에 접촉 동역학을 넣고 싶을 때의 선례다. 파라미터 276,055개 정책과 MuJoCo WASM을 약 14 MB로 돌린다. 데모 코드는 MIT지만 정책은 GPL-3.0 저장소(Isaaclab_Parkour)의 재현에서 나왔고 가중치 라이선스는 따로 적혀 있지 않다. 그래서 travplan에는 들이지 않는다.</a:t>
            </a:r>
          </a:p>
          <a:p>
            <a:pPr>
              <a:spcBef>
                <a:spcPts val="200"/>
              </a:spcBef>
            </a:pPr>
            <a:r>
              <a:rPr sz="1050" b="0" i="0">
                <a:solidFill>
                  <a:srgbClr val="5A6478"/>
                </a:solidFill>
                <a:latin typeface="Arial"/>
                <a:ea typeface="Malgun Gothic"/>
                <a:cs typeface="Malgun Gothic"/>
              </a:rPr>
              <a:t>6. </a:t>
            </a:r>
            <a:r>
              <a:rPr sz="1050" b="1" i="0">
                <a:solidFill>
                  <a:srgbClr val="16213A"/>
                </a:solidFill>
                <a:latin typeface="Arial"/>
                <a:ea typeface="Malgun Gothic"/>
                <a:cs typeface="Malgun Gothic"/>
              </a:rPr>
              <a:t>지연은 줄이기보다 고정한다(TP-0150).</a:t>
            </a:r>
            <a:r>
              <a:rPr sz="1050" b="0" i="0">
                <a:solidFill>
                  <a:srgbClr val="16213A"/>
                </a:solidFill>
                <a:latin typeface="Arial"/>
                <a:ea typeface="Malgun Gothic"/>
                <a:cs typeface="Malgun Gothic"/>
              </a:rPr>
              <a:t> Extreme Parkour는 실물에서 깊이 지연을 0.08 s, 고유수용 지연을 0.016 s로 고정했다. 일찍 끝난 처리는 남은 시간만큼 기다린다. 논문이 밝힌 이유는 떨림(jitter)을 막는 것이다. travplan은 plant의 지연을 MPPI rollout에 넣었다(TP-0150,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 인식 쪽(L1 지도 갱신)의 지연도 같은 방식으로 상수에 맞추면, rollout과 학습 정책이 가정한 지연이 실제 지연과 같아진다. 다만 Extreme Parkour도 시뮬은 한 주기(0.1 s) 늦은 장을 주고 실물은 0.08 s로 맞춰, 둘이 정확히 같지는 않다.</a:t>
            </a:r>
          </a:p>
        </p:txBody>
      </p:sp>
      <p:sp>
        <p:nvSpPr>
          <p:cNvPr id="6" name="TextBox 5"/>
          <p:cNvSpPr txBox="1"/>
          <p:nvPr/>
        </p:nvSpPr>
        <p:spPr>
          <a:xfrm>
            <a:off x="609600" y="3982244"/>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옮기지 않는 것.</a:t>
            </a:r>
            <a:r>
              <a:rPr sz="1050" b="0" i="0">
                <a:solidFill>
                  <a:srgbClr val="16213A"/>
                </a:solidFill>
                <a:latin typeface="Arial"/>
                <a:ea typeface="Malgun Gothic"/>
                <a:cs typeface="Malgun Gothic"/>
              </a:rPr>
              <a:t> 깊이 영상에서 관절로 바로 가는 구조는 들이지 않는다. travplan의 모듈은 TravMap과 요청·결과 타입만 주고받는다는 규칙이 있고, 스워브는 모듈 역기구학을 모델로 풀어 관절 RL이 필요 없다(F.7). 점프와 물구나무는 바퀴 배달로봇에 쓸 데가 없다. 방향 예측 문제도 travplan에는 없다. Extreme Parkour에는 목적지도 지도도 없지만 travplan에는 둘 다 있다. 코드는 CC BY-NC 4.0이라 읽고 구조만 옮긴다.</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F.7 장단점 비교 — travplan 관점에서</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144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지금까지의 갈래를 한 표로 모은다. 마지막 열이 판단이다.</a:t>
            </a:r>
          </a:p>
        </p:txBody>
      </p:sp>
      <p:graphicFrame>
        <p:nvGraphicFramePr>
          <p:cNvPr id="6" name="Table 5"/>
          <p:cNvGraphicFramePr>
            <a:graphicFrameLocks noGrp="1"/>
          </p:cNvGraphicFramePr>
          <p:nvPr/>
        </p:nvGraphicFramePr>
        <p:xfrm>
          <a:off x="609600" y="1549995"/>
          <a:ext cx="10966451" cy="3103560"/>
        </p:xfrm>
        <a:graphic>
          <a:graphicData uri="http://schemas.openxmlformats.org/drawingml/2006/table">
            <a:tbl>
              <a:tblPr firstRow="1" bandRow="1">
                <a:tableStyleId>{5C22544A-7EE6-4342-B048-85BDC9FD1C3A}</a:tableStyleId>
              </a:tblPr>
              <a:tblGrid>
                <a:gridCol w="1333302"/>
                <a:gridCol w="810320"/>
                <a:gridCol w="1145183"/>
                <a:gridCol w="1782862"/>
                <a:gridCol w="2178943"/>
                <a:gridCol w="3715841"/>
              </a:tblGrid>
              <a:tr h="197088">
                <a:tc>
                  <a:txBody>
                    <a:bodyPr wrap="square"/>
                    <a:lstStyle/>
                    <a:p>
                      <a:r>
                        <a:rPr sz="800" b="1" i="0">
                          <a:solidFill>
                            <a:srgbClr val="F4F1EA"/>
                          </a:solidFill>
                          <a:latin typeface="Arial"/>
                          <a:ea typeface="Malgun Gothic"/>
                          <a:cs typeface="Malgun Gothic"/>
                        </a:rPr>
                        <a:t>방식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센서 요구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지형 정보가 틀릴 때</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학습 비용</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실물 검증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 적합도</a:t>
                      </a:r>
                    </a:p>
                  </a:txBody>
                  <a:tcPr marL="63500" marR="63500" marT="12700" marB="12700">
                    <a:solidFill>
                      <a:srgbClr val="16213A"/>
                    </a:solidFill>
                  </a:tcPr>
                </a:tc>
              </a:tr>
              <a:tr h="438864">
                <a:tc>
                  <a:txBody>
                    <a:bodyPr wrap="square"/>
                    <a:lstStyle/>
                    <a:p>
                      <a:r>
                        <a:rPr sz="800" b="1" i="0">
                          <a:solidFill>
                            <a:srgbClr val="16213A"/>
                          </a:solidFill>
                          <a:latin typeface="Arial"/>
                          <a:ea typeface="Malgun Gothic"/>
                          <a:cs typeface="Malgun Gothic"/>
                        </a:rPr>
                        <a:t>외수용 격자 + 수동 커리큘럼</a:t>
                      </a:r>
                      <a:r>
                        <a:rPr sz="800" b="0" i="0">
                          <a:solidFill>
                            <a:srgbClr val="16213A"/>
                          </a:solidFill>
                          <a:latin typeface="Arial"/>
                          <a:ea typeface="Malgun Gothic"/>
                          <a:cs typeface="Malgun Gothic"/>
                        </a:rPr>
                        <a:t>
</a:t>
                      </a:r>
                      <a:r>
                        <a:rPr sz="800" b="0" i="0">
                          <a:solidFill>
                            <a:srgbClr val="16213A"/>
                          </a:solidFill>
                          <a:latin typeface="Arial"/>
                          <a:ea typeface="Malgun Gothic"/>
                          <a:cs typeface="Malgun Gothic"/>
                        </a:rPr>
                        <a:t>(Rudin, Miki)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높이 지도 필요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같이 틀린다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중간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강함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지형 레벨 개념의 출처. 이미 TP-0039로 들어와 있다</a:t>
                      </a:r>
                    </a:p>
                  </a:txBody>
                  <a:tcPr marL="63500" marR="63500" marT="12700" marB="12700">
                    <a:solidFill>
                      <a:srgbClr val="FFFDF8"/>
                    </a:solidFill>
                  </a:tcPr>
                </a:tc>
              </a:tr>
              <a:tr h="438864">
                <a:tc>
                  <a:txBody>
                    <a:bodyPr wrap="square"/>
                    <a:lstStyle/>
                    <a:p>
                      <a:r>
                        <a:rPr sz="800" b="1" i="0">
                          <a:solidFill>
                            <a:srgbClr val="16213A"/>
                          </a:solidFill>
                          <a:latin typeface="Arial"/>
                          <a:ea typeface="Malgun Gothic"/>
                          <a:cs typeface="Malgun Gothic"/>
                        </a:rPr>
                        <a:t>외수용 격자 + 자동 커리큘럼</a:t>
                      </a:r>
                      <a:r>
                        <a:rPr sz="800" b="0" i="0">
                          <a:solidFill>
                            <a:srgbClr val="16213A"/>
                          </a:solidFill>
                          <a:latin typeface="Arial"/>
                          <a:ea typeface="Malgun Gothic"/>
                          <a:cs typeface="Malgun Gothic"/>
                        </a:rPr>
                        <a:t>
</a:t>
                      </a:r>
                      <a:r>
                        <a:rPr sz="800" b="0" i="0">
                          <a:solidFill>
                            <a:srgbClr val="16213A"/>
                          </a:solidFill>
                          <a:latin typeface="Arial"/>
                          <a:ea typeface="Malgun Gothic"/>
                          <a:cs typeface="Malgun Gothic"/>
                        </a:rPr>
                        <a:t>(LP-ACRL)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높이 지도 필요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같이 틀린다</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가장 적음</a:t>
                      </a:r>
                      <a:r>
                        <a:rPr sz="800" b="0" i="0">
                          <a:solidFill>
                            <a:srgbClr val="16213A"/>
                          </a:solidFill>
                          <a:latin typeface="Arial"/>
                          <a:ea typeface="Malgun Gothic"/>
                          <a:cs typeface="Malgun Gothic"/>
                        </a:rPr>
                        <a:t>(1,500 vs 3,000+)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ANYmal D 3.0 m/s</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높음</a:t>
                      </a:r>
                      <a:r>
                        <a:rPr sz="800" b="1" i="0">
                          <a:solidFill>
                            <a:srgbClr val="C2410C"/>
                          </a:solidFill>
                          <a:latin typeface="Arial"/>
                          <a:ea typeface="Malgun Gothic"/>
                          <a:cs typeface="Malgun Gothic"/>
                        </a:rPr>
                        <a:t> — 우리가 지금 균등 표집을 쓴다(F.3)</a:t>
                      </a:r>
                    </a:p>
                  </a:txBody>
                  <a:tcPr marL="63500" marR="63500" marT="12700" marB="12700">
                    <a:solidFill>
                      <a:srgbClr val="F3F0E8"/>
                    </a:solidFill>
                  </a:tcPr>
                </a:tc>
              </a:tr>
              <a:tr h="438864">
                <a:tc>
                  <a:txBody>
                    <a:bodyPr wrap="square"/>
                    <a:lstStyle/>
                    <a:p>
                      <a:r>
                        <a:rPr sz="800" b="1" i="0">
                          <a:solidFill>
                            <a:srgbClr val="16213A"/>
                          </a:solidFill>
                          <a:latin typeface="Arial"/>
                          <a:ea typeface="Malgun Gothic"/>
                          <a:cs typeface="Malgun Gothic"/>
                        </a:rPr>
                        <a:t>고유수용만</a:t>
                      </a:r>
                      <a:r>
                        <a:rPr sz="800" b="0" i="0">
                          <a:solidFill>
                            <a:srgbClr val="16213A"/>
                          </a:solidFill>
                          <a:latin typeface="Arial"/>
                          <a:ea typeface="Malgun Gothic"/>
                          <a:cs typeface="Malgun Gothic"/>
                        </a:rPr>
                        <a:t>
</a:t>
                      </a:r>
                      <a:r>
                        <a:rPr sz="800" b="0" i="0">
                          <a:solidFill>
                            <a:srgbClr val="16213A"/>
                          </a:solidFill>
                          <a:latin typeface="Arial"/>
                          <a:ea typeface="Malgun Gothic"/>
                          <a:cs typeface="Malgun Gothic"/>
                        </a:rPr>
                        <a:t>(DreamWaQ, DreamRiser)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관절·IMU만</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면역</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적음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대회 1위, 실외 장거리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낮음 — travplan은 이미 지도를 만든다. 다만 </a:t>
                      </a:r>
                      <a:r>
                        <a:rPr sz="800" b="1" i="0">
                          <a:solidFill>
                            <a:srgbClr val="16213A"/>
                          </a:solidFill>
                          <a:latin typeface="Arial"/>
                          <a:ea typeface="Malgun Gothic"/>
                          <a:cs typeface="Malgun Gothic"/>
                        </a:rPr>
                        <a:t>지도 실패 시 폴백</a:t>
                      </a:r>
                      <a:r>
                        <a:rPr sz="800" b="0" i="0">
                          <a:solidFill>
                            <a:srgbClr val="16213A"/>
                          </a:solidFill>
                          <a:latin typeface="Arial"/>
                          <a:ea typeface="Malgun Gothic"/>
                          <a:cs typeface="Malgun Gothic"/>
                        </a:rPr>
                        <a:t>의 사고방식은 가져올 값이 있다</a:t>
                      </a:r>
                    </a:p>
                  </a:txBody>
                  <a:tcPr marL="63500" marR="63500" marT="12700" marB="12700">
                    <a:solidFill>
                      <a:srgbClr val="FFFDF8"/>
                    </a:solidFill>
                  </a:tcPr>
                </a:tc>
              </a:tr>
              <a:tr h="317976">
                <a:tc>
                  <a:txBody>
                    <a:bodyPr wrap="square"/>
                    <a:lstStyle/>
                    <a:p>
                      <a:r>
                        <a:rPr sz="800" b="1" i="0">
                          <a:solidFill>
                            <a:srgbClr val="16213A"/>
                          </a:solidFill>
                          <a:latin typeface="Arial"/>
                          <a:ea typeface="Malgun Gothic"/>
                          <a:cs typeface="Malgun Gothic"/>
                        </a:rPr>
                        <a:t>신뢰도 필터로 융합</a:t>
                      </a:r>
                      <a:r>
                        <a:rPr sz="800" b="0" i="0">
                          <a:solidFill>
                            <a:srgbClr val="16213A"/>
                          </a:solidFill>
                          <a:latin typeface="Arial"/>
                          <a:ea typeface="Malgun Gothic"/>
                          <a:cs typeface="Malgun Gothic"/>
                        </a:rPr>
                        <a:t>
</a:t>
                      </a:r>
                      <a:r>
                        <a:rPr sz="800" b="0" i="0">
                          <a:solidFill>
                            <a:srgbClr val="16213A"/>
                          </a:solidFill>
                          <a:latin typeface="Arial"/>
                          <a:ea typeface="Malgun Gothic"/>
                          <a:cs typeface="Malgun Gothic"/>
                        </a:rPr>
                        <a:t>(DreamWaQ++)</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점군 + 고유수용</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믿을 만할 때만 쓴다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큼(두 흐름)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계단 97.8%, Go1 셋(센서 구성 상이)</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높음</a:t>
                      </a:r>
                      <a:r>
                        <a:rPr sz="800" b="1" i="0">
                          <a:solidFill>
                            <a:srgbClr val="C2410C"/>
                          </a:solidFill>
                          <a:latin typeface="Arial"/>
                          <a:ea typeface="Malgun Gothic"/>
                          <a:cs typeface="Malgun Gothic"/>
                        </a:rPr>
                        <a:t> — TP-0055(L1에서 40/40 → 32/40)에 그대로 대응</a:t>
                      </a:r>
                    </a:p>
                  </a:txBody>
                  <a:tcPr marL="63500" marR="63500" marT="12700" marB="12700">
                    <a:solidFill>
                      <a:srgbClr val="F3F0E8"/>
                    </a:solidFill>
                  </a:tcPr>
                </a:tc>
              </a:tr>
              <a:tr h="317976">
                <a:tc>
                  <a:txBody>
                    <a:bodyPr wrap="square"/>
                    <a:lstStyle/>
                    <a:p>
                      <a:r>
                        <a:rPr sz="800" b="1" i="0">
                          <a:solidFill>
                            <a:srgbClr val="16213A"/>
                          </a:solidFill>
                          <a:latin typeface="Arial"/>
                          <a:ea typeface="Malgun Gothic"/>
                          <a:cs typeface="Malgun Gothic"/>
                        </a:rPr>
                        <a:t>카메라 직접</a:t>
                      </a:r>
                      <a:r>
                        <a:rPr sz="800" b="0" i="0">
                          <a:solidFill>
                            <a:srgbClr val="16213A"/>
                          </a:solidFill>
                          <a:latin typeface="Arial"/>
                          <a:ea typeface="Malgun Gothic"/>
                          <a:cs typeface="Malgun Gothic"/>
                        </a:rPr>
                        <a:t>
</a:t>
                      </a:r>
                      <a:r>
                        <a:rPr sz="800" b="0" i="0">
                          <a:solidFill>
                            <a:srgbClr val="16213A"/>
                          </a:solidFill>
                          <a:latin typeface="Arial"/>
                          <a:ea typeface="Malgun Gothic"/>
                          <a:cs typeface="Malgun Gothic"/>
                        </a:rPr>
                        <a:t>(Extreme Parkour, F.6.2)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깊이 카메라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해당 없음(지도를 안 만듦)</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큼(두 단계, RTX 3090 한 장 20시간 미만)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저가 A1 파쿠르, 가장 어려운 단계 5번 중 3–4번 성공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낮음 — 구조는 어긋난다(TravMap이 공통 표현). 가져올 것은 증류 순서와 가장자리 벌점이다</a:t>
                      </a:r>
                    </a:p>
                  </a:txBody>
                  <a:tcPr marL="63500" marR="63500" marT="12700" marB="12700">
                    <a:solidFill>
                      <a:srgbClr val="FFFDF8"/>
                    </a:solidFill>
                  </a:tcPr>
                </a:tc>
              </a:tr>
              <a:tr h="317976">
                <a:tc>
                  <a:txBody>
                    <a:bodyPr wrap="square"/>
                    <a:lstStyle/>
                    <a:p>
                      <a:r>
                        <a:rPr sz="800" b="1" i="0">
                          <a:solidFill>
                            <a:srgbClr val="16213A"/>
                          </a:solidFill>
                          <a:latin typeface="Arial"/>
                          <a:ea typeface="Malgun Gothic"/>
                          <a:cs typeface="Malgun Gothic"/>
                        </a:rPr>
                        <a:t>궤적 생성기 + RL 파라미터</a:t>
                      </a:r>
                      <a:r>
                        <a:rPr sz="800" b="0" i="0">
                          <a:solidFill>
                            <a:srgbClr val="16213A"/>
                          </a:solidFill>
                          <a:latin typeface="Arial"/>
                          <a:ea typeface="Malgun Gothic"/>
                          <a:cs typeface="Malgun Gothic"/>
                        </a:rPr>
                        <a:t>
</a:t>
                      </a:r>
                      <a:r>
                        <a:rPr sz="800" b="0" i="0">
                          <a:solidFill>
                            <a:srgbClr val="16213A"/>
                          </a:solidFill>
                          <a:latin typeface="Arial"/>
                          <a:ea typeface="Malgun Gothic"/>
                          <a:cs typeface="Malgun Gothic"/>
                        </a:rPr>
                        <a:t>(Shi 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지도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생성기가 받쳐 준다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중간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징검다리 25.5 cm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중간 — Planner D의 "제어 공간 생성"과 구조가 닮았다</a:t>
                      </a:r>
                    </a:p>
                  </a:txBody>
                  <a:tcPr marL="63500" marR="63500" marT="12700" marB="12700">
                    <a:solidFill>
                      <a:srgbClr val="F3F0E8"/>
                    </a:solidFill>
                  </a:tcPr>
                </a:tc>
              </a:tr>
              <a:tr h="317976">
                <a:tc>
                  <a:txBody>
                    <a:bodyPr wrap="square"/>
                    <a:lstStyle/>
                    <a:p>
                      <a:r>
                        <a:rPr sz="800" b="1" i="0">
                          <a:solidFill>
                            <a:srgbClr val="16213A"/>
                          </a:solidFill>
                          <a:latin typeface="Arial"/>
                          <a:ea typeface="Malgun Gothic"/>
                          <a:cs typeface="Malgun Gothic"/>
                        </a:rPr>
                        <a:t>확률 제약 MPC</a:t>
                      </a:r>
                      <a:r>
                        <a:rPr sz="800" b="0" i="0">
                          <a:solidFill>
                            <a:srgbClr val="16213A"/>
                          </a:solidFill>
                          <a:latin typeface="Arial"/>
                          <a:ea typeface="Malgun Gothic"/>
                          <a:cs typeface="Malgun Gothic"/>
                        </a:rPr>
                        <a:t>
</a:t>
                      </a:r>
                      <a:r>
                        <a:rPr sz="800" b="0" i="0">
                          <a:solidFill>
                            <a:srgbClr val="16213A"/>
                          </a:solidFill>
                          <a:latin typeface="Arial"/>
                          <a:ea typeface="Malgun Gothic"/>
                          <a:cs typeface="Malgun Gothic"/>
                        </a:rPr>
                        <a:t>(RIVeR)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상태 추정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제약을 그만큼 조인다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없음(학습 아님)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7.5 kg 미지 하중</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높음</a:t>
                      </a:r>
                      <a:r>
                        <a:rPr sz="800" b="1" i="0">
                          <a:solidFill>
                            <a:srgbClr val="C2410C"/>
                          </a:solidFill>
                          <a:latin typeface="Arial"/>
                          <a:ea typeface="Malgun Gothic"/>
                          <a:cs typeface="Malgun Gothic"/>
                        </a:rPr>
                        <a:t> — TP-0069·0076이 가려는 곳의 실물 선례</a:t>
                      </a:r>
                    </a:p>
                  </a:txBody>
                  <a:tcPr marL="63500" marR="63500" marT="12700" marB="12700">
                    <a:solidFill>
                      <a:srgbClr val="FFFDF8"/>
                    </a:solidFill>
                  </a:tcPr>
                </a:tc>
              </a:tr>
              <a:tr h="317976">
                <a:tc>
                  <a:txBody>
                    <a:bodyPr wrap="square"/>
                    <a:lstStyle/>
                    <a:p>
                      <a:r>
                        <a:rPr sz="800" b="1" i="0">
                          <a:solidFill>
                            <a:srgbClr val="16213A"/>
                          </a:solidFill>
                          <a:latin typeface="Arial"/>
                          <a:ea typeface="Malgun Gothic"/>
                          <a:cs typeface="Malgun Gothic"/>
                        </a:rPr>
                        <a:t>RL 보강 MPC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상태 추정 + 학습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MPC가 제약을 지킨다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중간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시뮬 위주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중간 — TP-0068 + TP-0071의 조합과 같은 그림</a:t>
                      </a:r>
                    </a:p>
                  </a:txBody>
                  <a:tcPr marL="63500" marR="63500" marT="12700" marB="12700">
                    <a:solidFill>
                      <a:srgbClr val="F3F0E8"/>
                    </a:solidFill>
                  </a:tcPr>
                </a:tc>
              </a:tr>
            </a:tbl>
          </a:graphicData>
        </a:graphic>
      </p:graphicFrame>
      <p:sp>
        <p:nvSpPr>
          <p:cNvPr id="7" name="TextBox 6"/>
          <p:cNvSpPr txBox="1"/>
          <p:nvPr/>
        </p:nvSpPr>
        <p:spPr>
          <a:xfrm>
            <a:off x="609600" y="552469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세 줄로 줄이면 이렇다.</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F.7 장단점 비교 — travplan 관점에서</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145 / 183</a:t>
            </a:r>
          </a:p>
        </p:txBody>
      </p:sp>
      <p:sp>
        <p:nvSpPr>
          <p:cNvPr id="5" name="TextBox 4"/>
          <p:cNvSpPr txBox="1"/>
          <p:nvPr/>
        </p:nvSpPr>
        <p:spPr>
          <a:xfrm>
            <a:off x="609600" y="1244600"/>
            <a:ext cx="10972800" cy="11332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바로 쓸 것은 LP-ACRL의 표집과 DreamWaQ++의 신뢰도 필터다.</a:t>
            </a:r>
            <a:r>
              <a:rPr sz="1050" b="0" i="0">
                <a:solidFill>
                  <a:srgbClr val="16213A"/>
                </a:solidFill>
                <a:latin typeface="Arial"/>
                <a:ea typeface="Malgun Gothic"/>
                <a:cs typeface="Malgun Gothic"/>
              </a:rPr>
              <a:t> 앞은 우리가 균등 표집을 쓰고 있어서, 뒤는 L1 지도 잡음에서 정책이 무너져서다. 둘 다 travplan에 이미 열린 TODO(TP-0073·0075, TP-0055)를 겨냥한다.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확률 제약 MPC는 Controller 트랙의 실물 근거다.</a:t>
            </a:r>
            <a:r>
              <a:rPr sz="1050" b="0" i="0">
                <a:solidFill>
                  <a:srgbClr val="16213A"/>
                </a:solidFill>
                <a:latin typeface="Arial"/>
                <a:ea typeface="Malgun Gothic"/>
                <a:cs typeface="Malgun Gothic"/>
              </a:rPr>
              <a:t> 손으로 맞춘 조이기를 이겼다는 결과가, 지금 0.15 m로 고정해 둔 TP-0071의 여유를 TP-0069로 옮길 이유가 된다.</a:t>
            </a:r>
          </a:p>
          <a:p>
            <a:pPr>
              <a:spcBef>
                <a:spcPts val="200"/>
              </a:spcBef>
            </a:pPr>
            <a:r>
              <a:rPr sz="1050" b="0" i="0">
                <a:solidFill>
                  <a:srgbClr val="5A6478"/>
                </a:solidFill>
                <a:latin typeface="Arial"/>
                <a:ea typeface="Malgun Gothic"/>
                <a:cs typeface="Malgun Gothic"/>
              </a:rPr>
              <a:t>3. </a:t>
            </a:r>
            <a:r>
              <a:rPr sz="1050" b="1" i="0">
                <a:solidFill>
                  <a:srgbClr val="C2410C"/>
                </a:solidFill>
                <a:latin typeface="Arial"/>
                <a:ea typeface="Malgun Gothic"/>
                <a:cs typeface="Malgun Gothic"/>
              </a:rPr>
              <a:t>관절 RL 자체는 여전히 범위 밖이다.</a:t>
            </a:r>
            <a:r>
              <a:rPr sz="1050" b="0" i="0">
                <a:solidFill>
                  <a:srgbClr val="16213A"/>
                </a:solidFill>
                <a:latin typeface="Arial"/>
                <a:ea typeface="Malgun Gothic"/>
                <a:cs typeface="Malgun Gothic"/>
              </a:rPr>
              <a:t> 스워브는 모듈 역기구학을 모델로 풀 수 있어(비동축은 고정점 반복 3회) 배울 것이 없다. 이 계열에서 가져오는 것은 </a:t>
            </a:r>
            <a:r>
              <a:rPr sz="1050" b="1" i="0">
                <a:solidFill>
                  <a:srgbClr val="16213A"/>
                </a:solidFill>
                <a:latin typeface="Arial"/>
                <a:ea typeface="Malgun Gothic"/>
                <a:cs typeface="Malgun Gothic"/>
              </a:rPr>
              <a:t>학습 절차</a:t>
            </a:r>
            <a:r>
              <a:rPr sz="1050" b="0" i="0">
                <a:solidFill>
                  <a:srgbClr val="16213A"/>
                </a:solidFill>
                <a:latin typeface="Arial"/>
                <a:ea typeface="Malgun Gothic"/>
                <a:cs typeface="Malgun Gothic"/>
              </a:rPr>
              <a:t>(커리큘럼, 증류, 신뢰도 게이트)이지 정책이 아니다.</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하위 제어 · 4족 RL · F. 하위 제어: 4족 보행 RL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F.8 휴머노이드 전신 제어: GR00T-WholeBodyControl의 분리형 WBC</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146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NVIDIA의 </a:t>
            </a:r>
            <a:r>
              <a:rPr sz="1050" b="0" i="0">
                <a:solidFill>
                  <a:srgbClr val="1D4ED8"/>
                </a:solidFill>
                <a:latin typeface="Arial"/>
                <a:ea typeface="Malgun Gothic"/>
                <a:cs typeface="Malgun Gothic"/>
                <a:hlinkClick r:id="rId3"/>
              </a:rPr>
              <a:t>GR00T-WholeBodyControl</a:t>
            </a:r>
            <a:r>
              <a:rPr sz="1050" b="0" i="0">
                <a:solidFill>
                  <a:srgbClr val="16213A"/>
                </a:solidFill>
                <a:latin typeface="Arial"/>
                <a:ea typeface="Malgun Gothic"/>
                <a:cs typeface="Malgun Gothic"/>
              </a:rPr>
              <a:t>은 Unitree G1(29 자유도)의 전신 제어기 묶음이다. 코드는 Apache 2.0, 가중치는 NVIDIA Open Model License다. GR00T N1.5–N1.7 계열 모델이 이 제어기 위에서 움직인다. </a:t>
            </a:r>
            <a:r>
              <a:rPr sz="1050" b="1" i="0">
                <a:solidFill>
                  <a:srgbClr val="C2410C"/>
                </a:solidFill>
                <a:latin typeface="Arial"/>
                <a:ea typeface="Malgun Gothic"/>
                <a:cs typeface="Malgun Gothic"/>
              </a:rPr>
              <a:t>그중 </a:t>
            </a:r>
            <a:r>
              <a:rPr sz="1050" b="1" i="0">
                <a:solidFill>
                  <a:srgbClr val="C2410C"/>
                </a:solidFill>
                <a:latin typeface="Arial"/>
                <a:ea typeface="Malgun Gothic"/>
                <a:cs typeface="Malgun Gothic"/>
              </a:rPr>
              <a:t>분리형 WBC</a:t>
            </a:r>
            <a:r>
              <a:rPr sz="1050" b="1" i="0">
                <a:solidFill>
                  <a:srgbClr val="C2410C"/>
                </a:solidFill>
                <a:latin typeface="Arial"/>
                <a:ea typeface="Malgun Gothic"/>
                <a:cs typeface="Malgun Gothic"/>
              </a:rPr>
              <a:t>(decoupled WBC)가 travplan의 Planner → Controller 구조와 같은 모양이다.</a:t>
            </a:r>
            <a:r>
              <a:rPr sz="1050" b="0" i="0">
                <a:solidFill>
                  <a:srgbClr val="16213A"/>
                </a:solidFill>
                <a:latin typeface="Arial"/>
                <a:ea typeface="Malgun Gothic"/>
                <a:cs typeface="Malgun Gothic"/>
              </a:rPr>
              <a:t> 상위가 속도를 명령하고 하위 학습 정책이 걷는다.</a:t>
            </a:r>
          </a:p>
        </p:txBody>
      </p:sp>
      <p:graphicFrame>
        <p:nvGraphicFramePr>
          <p:cNvPr id="6" name="Table 5"/>
          <p:cNvGraphicFramePr>
            <a:graphicFrameLocks noGrp="1"/>
          </p:cNvGraphicFramePr>
          <p:nvPr/>
        </p:nvGraphicFramePr>
        <p:xfrm>
          <a:off x="609600" y="1766491"/>
          <a:ext cx="10966449" cy="1030128"/>
        </p:xfrm>
        <a:graphic>
          <a:graphicData uri="http://schemas.openxmlformats.org/drawingml/2006/table">
            <a:tbl>
              <a:tblPr firstRow="1" bandRow="1">
                <a:tableStyleId>{5C22544A-7EE6-4342-B048-85BDC9FD1C3A}</a:tableStyleId>
              </a:tblPr>
              <a:tblGrid>
                <a:gridCol w="1543050"/>
                <a:gridCol w="5655171"/>
                <a:gridCol w="2762448"/>
                <a:gridCol w="1005780"/>
              </a:tblGrid>
              <a:tr h="197088">
                <a:tc>
                  <a:txBody>
                    <a:bodyPr wrap="square"/>
                    <a:lstStyle/>
                    <a:p>
                      <a:r>
                        <a:rPr sz="800" b="1" i="0">
                          <a:solidFill>
                            <a:srgbClr val="F4F1EA"/>
                          </a:solidFill>
                          <a:latin typeface="Arial"/>
                          <a:ea typeface="Malgun Gothic"/>
                          <a:cs typeface="Malgun Gothic"/>
                        </a:rPr>
                        <a:t>층</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무엇을 받나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무엇을 내나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주기</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상위(내비게이션·텔레오퍼레이션)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navigate_cmd</a:t>
                      </a:r>
                      <a:r>
                        <a:rPr sz="800" b="0" i="0">
                          <a:solidFill>
                            <a:srgbClr val="16213A"/>
                          </a:solidFill>
                          <a:latin typeface="Arial"/>
                          <a:ea typeface="Malgun Gothic"/>
                          <a:cs typeface="Malgun Gothic"/>
                        </a:rPr>
                        <a:t>(vx, vy, ωz), </a:t>
                      </a:r>
                      <a:r>
                        <a:rPr sz="800" b="0" i="0">
                          <a:solidFill>
                            <a:srgbClr val="16213A"/>
                          </a:solidFill>
                          <a:latin typeface="Consolas"/>
                          <a:ea typeface="Malgun Gothic"/>
                          <a:cs typeface="Malgun Gothic"/>
                        </a:rPr>
                        <a:t>base_height_command</a:t>
                      </a:r>
                      <a:r>
                        <a:rPr sz="800" b="0" i="0">
                          <a:solidFill>
                            <a:srgbClr val="16213A"/>
                          </a:solidFill>
                          <a:latin typeface="Arial"/>
                          <a:ea typeface="Malgun Gothic"/>
                          <a:cs typeface="Malgun Gothic"/>
                        </a:rPr>
                        <a:t>, 상체 목표 자세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하체 RL 정책(</a:t>
                      </a:r>
                      <a:r>
                        <a:rPr sz="800" b="0" i="0">
                          <a:solidFill>
                            <a:srgbClr val="16213A"/>
                          </a:solidFill>
                          <a:latin typeface="Consolas"/>
                          <a:ea typeface="Malgun Gothic"/>
                          <a:cs typeface="Malgun Gothic"/>
                        </a:rPr>
                        <a:t>G1GearWbcPolicy</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명령 × </a:t>
                      </a:r>
                      <a:r>
                        <a:rPr sz="800" b="0" i="0">
                          <a:solidFill>
                            <a:srgbClr val="16213A"/>
                          </a:solidFill>
                          <a:latin typeface="Consolas"/>
                          <a:ea typeface="Malgun Gothic"/>
                          <a:cs typeface="Malgun Gothic"/>
                        </a:rPr>
                        <a:t>cmd_scale</a:t>
                      </a:r>
                      <a:r>
                        <a:rPr sz="800" b="0" i="0">
                          <a:solidFill>
                            <a:srgbClr val="16213A"/>
                          </a:solidFill>
                          <a:latin typeface="Arial"/>
                          <a:ea typeface="Malgun Gothic"/>
                          <a:cs typeface="Malgun Gothic"/>
                        </a:rPr>
                        <a:t>(2, 2, 0.25), 골반 높이, 몸통 rpy 명령, 각속도·중력 방향, 관절 29개의 위치·속도, 이전 행동 15개. 6스텝 이력을 이어 붙인다(설정 </a:t>
                      </a:r>
                      <a:r>
                        <a:rPr sz="800" b="0" i="0">
                          <a:solidFill>
                            <a:srgbClr val="16213A"/>
                          </a:solidFill>
                          <a:latin typeface="Consolas"/>
                          <a:ea typeface="Malgun Gothic"/>
                          <a:cs typeface="Malgun Gothic"/>
                        </a:rPr>
                        <a:t>num_obs</a:t>
                      </a:r>
                      <a:r>
                        <a:rPr sz="800" b="0" i="0">
                          <a:solidFill>
                            <a:srgbClr val="16213A"/>
                          </a:solidFill>
                          <a:latin typeface="Arial"/>
                          <a:ea typeface="Malgun Gothic"/>
                          <a:cs typeface="Malgun Gothic"/>
                        </a:rPr>
                        <a:t> 570)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다리 12 + 허리 3 관절 목표(행동 × 0.25 + 기본 자세) → PD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50 Hz(시뮬 2 ms × 10)</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상체 정책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목표 자세 웨이포인트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보간한 팔 관절</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열린 루프</a:t>
                      </a:r>
                    </a:p>
                  </a:txBody>
                  <a:tcPr marL="63500" marR="63500" marT="12700" marB="12700">
                    <a:solidFill>
                      <a:srgbClr val="FFFDF8"/>
                    </a:solidFill>
                  </a:tcPr>
                </a:tc>
              </a:tr>
            </a:tbl>
          </a:graphicData>
        </a:graphic>
      </p:graphicFrame>
      <p:sp>
        <p:nvSpPr>
          <p:cNvPr id="7" name="TextBox 6"/>
          <p:cNvSpPr txBox="1"/>
          <p:nvPr/>
        </p:nvSpPr>
        <p:spPr>
          <a:xfrm>
            <a:off x="609600" y="3149402"/>
            <a:ext cx="10972800" cy="137517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서기와 걷기를 다른 정책이 맡는다.</a:t>
            </a:r>
            <a:r>
              <a:rPr sz="1050" b="0" i="0">
                <a:solidFill>
                  <a:srgbClr val="16213A"/>
                </a:solidFill>
                <a:latin typeface="Arial"/>
                <a:ea typeface="Malgun Gothic"/>
                <a:cs typeface="Malgun Gothic"/>
              </a:rPr>
              <a:t> 명령의 크기가 0.05보다 작으면 서기 정책(</a:t>
            </a:r>
            <a:r>
              <a:rPr sz="1050" b="0" i="0">
                <a:solidFill>
                  <a:srgbClr val="16213A"/>
                </a:solidFill>
                <a:latin typeface="Consolas"/>
                <a:ea typeface="Malgun Gothic"/>
                <a:cs typeface="Malgun Gothic"/>
              </a:rPr>
              <a:t>policy_1</a:t>
            </a:r>
            <a:r>
              <a:rPr sz="1050" b="0" i="0">
                <a:solidFill>
                  <a:srgbClr val="16213A"/>
                </a:solidFill>
                <a:latin typeface="Arial"/>
                <a:ea typeface="Malgun Gothic"/>
                <a:cs typeface="Malgun Gothic"/>
              </a:rPr>
              <a:t>), 아니면 걷기 정책(</a:t>
            </a:r>
            <a:r>
              <a:rPr sz="1050" b="0" i="0">
                <a:solidFill>
                  <a:srgbClr val="16213A"/>
                </a:solidFill>
                <a:latin typeface="Consolas"/>
                <a:ea typeface="Malgun Gothic"/>
                <a:cs typeface="Malgun Gothic"/>
              </a:rPr>
              <a:t>policy_2</a:t>
            </a:r>
            <a:r>
              <a:rPr sz="1050" b="0" i="0">
                <a:solidFill>
                  <a:srgbClr val="16213A"/>
                </a:solidFill>
                <a:latin typeface="Arial"/>
                <a:ea typeface="Malgun Gothic"/>
                <a:cs typeface="Malgun Gothic"/>
              </a:rPr>
              <a:t>)이다.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걸음 시계가 관측에 들어간다.</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gait_indices += 0.02 · freq_cmd</a:t>
            </a:r>
            <a:r>
              <a:rPr sz="1050" b="0" i="0">
                <a:solidFill>
                  <a:srgbClr val="16213A"/>
                </a:solidFill>
                <a:latin typeface="Arial"/>
                <a:ea typeface="Malgun Gothic"/>
                <a:cs typeface="Malgun Gothic"/>
              </a:rPr>
              <a:t>(기본 1.5 Hz)이고 두 발 위상차는 0.5다. 골반 높이 명령의 기본값은 0.74 m다.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안전 장치.</a:t>
            </a:r>
            <a:r>
              <a:rPr sz="1050" b="0" i="0">
                <a:solidFill>
                  <a:srgbClr val="16213A"/>
                </a:solidFill>
                <a:latin typeface="Arial"/>
                <a:ea typeface="Malgun Gothic"/>
                <a:cs typeface="Malgun Gothic"/>
              </a:rPr>
              <a:t> 키보드 내비게이션 정책의 기본 한계는 0.5 m/s·0.5 rad/s다. 텔레오퍼레이션 명령이 끊기면 정지 명령으로 보간한다.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SONIC(같은 저장소).</a:t>
            </a:r>
            <a:r>
              <a:rPr sz="1050" b="0" i="0">
                <a:solidFill>
                  <a:srgbClr val="16213A"/>
                </a:solidFill>
                <a:latin typeface="Arial"/>
                <a:ea typeface="Malgun Gothic"/>
                <a:cs typeface="Malgun Gothic"/>
              </a:rPr>
              <a:t> 분리형과 달리 사람 동작 모션 캡처를 따라 하도록 학습한 단일 정책이다. 원본 약 700시간을 G1에 리타기팅하고 걸러 낸 611시간으로 학습했고, 그 일부가 BONES-SEED(동작 142,220개, 288시간)로 공개됐다. 미래 참조 10프레임을 받아 50 Hz로 전신을 낸다. 프레임 간격은 로봇 동작 명령이 0.1 s(1 s 앞), 사람 동작 명령이 0.02 s(0.2 s 앞)다. 내비게이션보다 동작 생성 쪽이라 travplan과 거리가 있다(Planner 문서 B.16.1).</a:t>
            </a:r>
          </a:p>
        </p:txBody>
      </p:sp>
      <p:sp>
        <p:nvSpPr>
          <p:cNvPr id="8" name="TextBox 7"/>
          <p:cNvSpPr txBox="1"/>
          <p:nvPr/>
        </p:nvSpPr>
        <p:spPr>
          <a:xfrm>
            <a:off x="609600" y="4613473"/>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다리 로봇을 쓰게 되면 travplan의 Controller(MPPI·NMPC)는 이 하체 정책 </a:t>
            </a:r>
            <a:r>
              <a:rPr sz="1050" b="1" i="0">
                <a:solidFill>
                  <a:srgbClr val="16213A"/>
                </a:solidFill>
                <a:latin typeface="Arial"/>
                <a:ea typeface="Malgun Gothic"/>
                <a:cs typeface="Malgun Gothic"/>
              </a:rPr>
              <a:t>위에</a:t>
            </a:r>
            <a:r>
              <a:rPr sz="1050" b="0" i="0">
                <a:solidFill>
                  <a:srgbClr val="16213A"/>
                </a:solidFill>
                <a:latin typeface="Arial"/>
                <a:ea typeface="Malgun Gothic"/>
                <a:cs typeface="Malgun Gothic"/>
              </a:rPr>
              <a:t> 앉는다. 그때 Controller가 명령한 속도는 곧바로 몸체 속도가 되지 않는다. </a:t>
            </a:r>
            <a:r>
              <a:rPr sz="1050" b="1" i="0">
                <a:solidFill>
                  <a:srgbClr val="C2410C"/>
                </a:solidFill>
                <a:latin typeface="Arial"/>
                <a:ea typeface="Malgun Gothic"/>
                <a:cs typeface="Malgun Gothic"/>
              </a:rPr>
              <a:t>하체 정책의 닫힌 루프(추종 지연, 서기 전환)를 Controller의 예측 모델에 넣어야 한다.</a:t>
            </a:r>
            <a:r>
              <a:rPr sz="1050" b="0" i="0">
                <a:solidFill>
                  <a:srgbClr val="16213A"/>
                </a:solidFill>
                <a:latin typeface="Arial"/>
                <a:ea typeface="Malgun Gothic"/>
                <a:cs typeface="Malgun Gothic"/>
              </a:rPr>
              <a:t> Playground에서 이를 쟀다(E.13, TP-0135). 하체 지연(0.4 s 가정)을 아는 MPPI는 10번 중 10번 도달했고, 모르는 MPPI는 6번이었다.</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Controller · 안전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최근 연구 비교</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Controller · 안전 (docs/research-controller.md)    147 / 183</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1" i="0">
                <a:solidFill>
                  <a:srgbClr val="F59E5B"/>
                </a:solidFill>
                <a:latin typeface="Arial"/>
                <a:ea typeface="Malgun Gothic"/>
                <a:cs typeface="Malgun Gothic"/>
              </a:rPr>
              <a:t>E.16 최근 연구 비교 (2025–2026)</a:t>
            </a:r>
          </a:p>
          <a:p>
            <a:pPr>
              <a:spcAft>
                <a:spcPts val="400"/>
              </a:spcAft>
            </a:pPr>
            <a:r>
              <a:rPr sz="1000" b="0" i="0">
                <a:solidFill>
                  <a:srgbClr val="C9D1E0"/>
                </a:solidFill>
                <a:latin typeface="Arial"/>
                <a:ea typeface="Malgun Gothic"/>
                <a:cs typeface="Malgun Gothic"/>
              </a:rPr>
              <a:t>공통점</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차이점</a:t>
            </a:r>
          </a:p>
          <a:p>
            <a:pPr>
              <a:spcAft>
                <a:spcPts val="400"/>
              </a:spcAft>
            </a:pPr>
            <a:r>
              <a:rPr sz="1000" b="0" i="0">
                <a:solidFill>
                  <a:srgbClr val="C9D1E0"/>
                </a:solidFill>
                <a:latin typeface="Arial"/>
                <a:ea typeface="Malgun Gothic"/>
                <a:cs typeface="Malgun Gothic"/>
              </a:rPr>
              <a:t>travplan에 주는 의미</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최근 연구 비교</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E.16 최근 연구 비교 (2025–2026)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148 / 183</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여기 모은 2025–2026년 연구는 대부분 MPPI 최적화기보다 rollout이 믿는 것을 고쳤다.</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고친 것은 셋이다. 시작 상태, 동역학, 불확실성이 실제와 맞도록 했다.</a:t>
            </a:r>
            <a:r>
              <a:rPr sz="1050" b="0" i="0">
                <a:solidFill>
                  <a:srgbClr val="16213A"/>
                </a:solidFill>
                <a:latin typeface="Arial"/>
                <a:ea typeface="Malgun Gothic"/>
                <a:cs typeface="Malgun Gothic"/>
              </a:rPr>
              <a:t> 지연은 초기 상태 분포(CLIS-MPPI)나 되먹임 이득(Feedback-MPPI)으로 다룬다. 동역학 불일치는 이력 문맥(OptCar, Continual VND)이나 계수 갱신(FE-RLS)으로 줄인다. 불확실성은 보정 평가(DUCCT-MPPI)와 닫힌 형태 전파(접촉 최댓값)로 다룬다. 안전 필터 쪽은 MPPI 표본을 그대로 감시기로 쓰는 연구가 늘었다(표본 안전 필터, Exact-Safe MPPI). travplan이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로 얻은 교훈과 같은 방향이다. rollout이 plant의 지연을 몰라서 치명 실패가 났고, 알게 하자 줄었다(TP-0149·0150).</a:t>
            </a:r>
          </a:p>
        </p:txBody>
      </p:sp>
      <p:graphicFrame>
        <p:nvGraphicFramePr>
          <p:cNvPr id="6" name="Table 5"/>
          <p:cNvGraphicFramePr>
            <a:graphicFrameLocks noGrp="1"/>
          </p:cNvGraphicFramePr>
          <p:nvPr/>
        </p:nvGraphicFramePr>
        <p:xfrm>
          <a:off x="609600" y="2199481"/>
          <a:ext cx="10966450" cy="3153408"/>
        </p:xfrm>
        <a:graphic>
          <a:graphicData uri="http://schemas.openxmlformats.org/drawingml/2006/table">
            <a:tbl>
              <a:tblPr firstRow="1" bandRow="1">
                <a:tableStyleId>{5C22544A-7EE6-4342-B048-85BDC9FD1C3A}</a:tableStyleId>
              </a:tblPr>
              <a:tblGrid>
                <a:gridCol w="2489299"/>
                <a:gridCol w="938212"/>
                <a:gridCol w="1201738"/>
                <a:gridCol w="2310904"/>
                <a:gridCol w="1157982"/>
                <a:gridCol w="1521916"/>
                <a:gridCol w="962323"/>
                <a:gridCol w="384076"/>
              </a:tblGrid>
              <a:tr h="197088">
                <a:tc>
                  <a:txBody>
                    <a:bodyPr wrap="square"/>
                    <a:lstStyle/>
                    <a:p>
                      <a:r>
                        <a:rPr sz="800" b="1" i="0">
                          <a:solidFill>
                            <a:srgbClr val="F4F1EA"/>
                          </a:solidFill>
                          <a:latin typeface="Arial"/>
                          <a:ea typeface="Malgun Gothic"/>
                          <a:cs typeface="Malgun Gothic"/>
                        </a:rPr>
                        <a:t>이름(연·발표)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자리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입력·불확실성</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방법의 핵심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최적화·학습 신호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로봇·실험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절</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CLIS-MPPI (2026, CDC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MPPI 샘플링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실행 지연 분포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초기 상태 샘플, rollout 회귀 되먹임 이득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UR5e 팔 실물, 방법마다 5회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확인하지 못했다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E.1</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Feedback-MPPI (2025, RA-L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MPPI 되먹임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rollout 미분으로 국소 이득, 풀이 사이를 메운다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MPPI + 자동 미분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쿼드로터 실물, 4족은 시뮬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공개(JAX)</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E.1</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ProxPI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MPPI prior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 prior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prior를 샘플 평균이 아니라 근접 비용으로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실물·시뮬 5로봇</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확인하지 못했다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B.5</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OT-MPC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MPPI 최적화기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가중 평균 대신 엔트로피 최적 수송</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비용만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시뮬뿐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E.11</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DRA-MPPI (2025, IROS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확률 제약</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보행자 예측 혼합 분포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몬테카를로 결합 충돌 확률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Jackal + 보행자 실물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확인하지 못했다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DUCCT-MPPI (2026, IROS 2026 투고)</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확률 제약, 보정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위치 추정 + 보행자 예측</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UT 튜브와 몬테카를로 위험, Brier 점수·로그 손실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MPPI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TurtleBot3 시뮬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확인하지 못했다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C.2</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Data-Driven Sampling SMPC (2024, ICRA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확률 제약</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GP 잔차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GP 잔차 위의 확률 제약을 MPPI로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스키드 스티어 실물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확인하지 못했다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E.10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접촉 최댓값 전파 (2026, ICRA 2027 투고)</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위험 비용</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고도 σ</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바퀴 접촉 최댓값의 Clark 모멘트, 가우시안 CVaR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해석 계산 + 보정 법칙</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로버 고도 데이터 오프라인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공개 예정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E.10</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HDVIO2.0 (2025, T-RO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 동역학(추정)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외력을 가우시안 상태로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물리 모델 + TCN 잔차를 VIO에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지도학습(힘 라벨 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쿼드로터 실물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공개(GPL-3.0)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E.3</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Continual VND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학습 동역학</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이력 0.4 s의 잠재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잠재 조건 잔차, 재생 버퍼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미분 가능 시뮬 정책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쿼드로터 실물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확인하지 못했다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E.4</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OptCar (2026, CoRL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 동역학</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이력 약 5 s의 문맥 토큰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범용 모델을 한 차량에 특화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지도학습, 실제 + 합성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1/5 오프로드 차량 실물, 6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프로젝트 페이지만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E.4</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FE-RLS (2025, RA-L 투고)</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온라인 적응</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스트리밍 주행 데이터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신경 ODE 기저의 계수를 RLS로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오프라인 기저 + RLS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Jackal 실물, 잔디·얼음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확인하지 못했다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E.4</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Poisson 안전 함수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외부 안전 필터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점유 지도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Poisson 방정식으로 h를 만든 CBF-QP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QP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Go2·G1 실물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확인하지 못했다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C.4</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표본 안전 필터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외부 안전 필터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안전 표본이 없을 때만 백업, 시나리오 상한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Stein 변분 MPC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시뮬뿐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확인하지 못했다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C.4</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Exact-Safe MPPI (2026, ACC 2027 투고)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MPPI 안의 안전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정확한 최솟값과 δ-활성 CBF-QP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MPPI + 샘플별 QP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이중 적분기 시뮬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공개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C.4</a:t>
                      </a:r>
                    </a:p>
                  </a:txBody>
                  <a:tcPr marL="63500" marR="63500" marT="12700" marB="12700">
                    <a:solidFill>
                      <a:srgbClr val="FFFDF8"/>
                    </a:solidFill>
                  </a:tcPr>
                </a:tc>
              </a:tr>
            </a:tbl>
          </a:graphicData>
        </a:graphic>
      </p:graphicFrame>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최근 연구 비교 · E.16 최근 연구 비교 (2025–2026)</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공통점</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149 / 183</a:t>
            </a:r>
          </a:p>
        </p:txBody>
      </p:sp>
      <p:sp>
        <p:nvSpPr>
          <p:cNvPr id="5" name="TextBox 4"/>
          <p:cNvSpPr txBox="1"/>
          <p:nvPr/>
        </p:nvSpPr>
        <p:spPr>
          <a:xfrm>
            <a:off x="609600" y="1244600"/>
            <a:ext cx="10972800" cy="2024658"/>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최적화기는 두고 rollout을 고친다.</a:t>
            </a:r>
            <a:r>
              <a:rPr sz="1050" b="0" i="0">
                <a:solidFill>
                  <a:srgbClr val="16213A"/>
                </a:solidFill>
                <a:latin typeface="Arial"/>
                <a:ea typeface="Malgun Gothic"/>
                <a:cs typeface="Malgun Gothic"/>
              </a:rPr>
              <a:t> CLIS-MPPI는 시작 상태를, OptCar·FE-RLS·Continual VND는 동역학을, 접촉 최댓값 전파는 비용을 바꾼다. MPPI의 가중 평균은 그대로 쓴다. travplan의 "</a:t>
            </a:r>
            <a:r>
              <a:rPr sz="1050" b="0" i="0">
                <a:solidFill>
                  <a:srgbClr val="16213A"/>
                </a:solidFill>
                <a:latin typeface="Consolas"/>
                <a:ea typeface="Malgun Gothic"/>
                <a:cs typeface="Malgun Gothic"/>
              </a:rPr>
              <a:t>mppi.py</a:t>
            </a:r>
            <a:r>
              <a:rPr sz="1050" b="0" i="0">
                <a:solidFill>
                  <a:srgbClr val="16213A"/>
                </a:solidFill>
                <a:latin typeface="Arial"/>
                <a:ea typeface="Malgun Gothic"/>
                <a:cs typeface="Malgun Gothic"/>
              </a:rPr>
              <a:t>는 건드리지 않는다" 규칙과 맞는다. 예외도 있다. OT-MPC는 가중 평균 단계를 바꾼다. Feedback-MPPI와 CLIS-MPPI의 되먹임 이득은 실행 단계를, Exact-Safe MPPI의 샘플별 QP는 표본 자체를 바꾼다. 셋 다 rollout이 믿는 것은 그대로 둔다.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물리 모델 위에 작은 학습 몫을 얹는다.</a:t>
            </a:r>
            <a:r>
              <a:rPr sz="1050" b="0" i="0">
                <a:solidFill>
                  <a:srgbClr val="16213A"/>
                </a:solidFill>
                <a:latin typeface="Arial"/>
                <a:ea typeface="Malgun Gothic"/>
                <a:cs typeface="Malgun Gothic"/>
              </a:rPr>
              <a:t> HDVIO2.0과 Continual VND는 강체 물리에 잔차를 더한다. OptCar는 보정한 자전거 모델로 합성 데이터를 만든다. FE-RLS는 기저 3–8개의 계수만 바꾼다. 큰 블랙박스 동역학을 처음부터 배우는 연구는 없다.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짧은 이력이 숨은 조건을 나른다.</a:t>
            </a:r>
            <a:r>
              <a:rPr sz="1050" b="0" i="0">
                <a:solidFill>
                  <a:srgbClr val="16213A"/>
                </a:solidFill>
                <a:latin typeface="Arial"/>
                <a:ea typeface="Malgun Gothic"/>
                <a:cs typeface="Malgun Gothic"/>
              </a:rPr>
              <a:t> OptCar는 약 5초, Continual VND는 0.4초 이력을 문맥으로 압축한다. FE-RLS는 스트리밍 RLS로 계수를 바꾼다. 셋 다 배포 중에 신경망 가중치는 바꾸지 않는다.</a:t>
            </a:r>
          </a:p>
          <a:p>
            <a:pPr>
              <a:spcBef>
                <a:spcPts val="200"/>
              </a:spcBef>
            </a:pPr>
            <a:r>
              <a:rPr sz="1050" b="0" i="0">
                <a:solidFill>
                  <a:srgbClr val="5A6478"/>
                </a:solidFill>
                <a:latin typeface="Arial"/>
                <a:ea typeface="Malgun Gothic"/>
                <a:cs typeface="Malgun Gothic"/>
              </a:rPr>
              <a:t>4. </a:t>
            </a:r>
            <a:r>
              <a:rPr sz="1050" b="1" i="0">
                <a:solidFill>
                  <a:srgbClr val="16213A"/>
                </a:solidFill>
                <a:latin typeface="Arial"/>
                <a:ea typeface="Malgun Gothic"/>
                <a:cs typeface="Malgun Gothic"/>
              </a:rPr>
              <a:t>표본이 곧 안전 판정이다.</a:t>
            </a:r>
            <a:r>
              <a:rPr sz="1050" b="0" i="0">
                <a:solidFill>
                  <a:srgbClr val="16213A"/>
                </a:solidFill>
                <a:latin typeface="Arial"/>
                <a:ea typeface="Malgun Gothic"/>
                <a:cs typeface="Malgun Gothic"/>
              </a:rPr>
              <a:t> DRA-MPPI와 DUCCT-MPPI는 충돌 확률을 몬테카를로로 잰다. 표본 안전 필터는 "안전한 표본이 하나라도 있나"로 개입을 정한다. Exact-Safe MPPI는 표본마다 CBF-QP를 건다. 해석적 위험 모델 없이 rollout 수로 확률을 잰다.</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최근 연구 비교 · E.16 최근 연구 비교 (2025–2026)</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차이점</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150 / 183</a:t>
            </a:r>
          </a:p>
        </p:txBody>
      </p:sp>
      <p:sp>
        <p:nvSpPr>
          <p:cNvPr id="5" name="TextBox 4"/>
          <p:cNvSpPr txBox="1"/>
          <p:nvPr/>
        </p:nvSpPr>
        <p:spPr>
          <a:xfrm>
            <a:off x="609600" y="1244600"/>
            <a:ext cx="10972800" cy="2699544"/>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지연을 어디에 넣나.</a:t>
            </a:r>
            <a:r>
              <a:rPr sz="1050" b="0" i="0">
                <a:solidFill>
                  <a:srgbClr val="16213A"/>
                </a:solidFill>
                <a:latin typeface="Arial"/>
                <a:ea typeface="Malgun Gothic"/>
                <a:cs typeface="Malgun Gothic"/>
              </a:rPr>
              <a:t> 고전 기준선은 상태 예측기다. 계획 시작 상태를 이미 보낸 명령으로 명령이 걸릴 시각까지 굴린다. 동역학 안에 넣는 쪽은 travplan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와 Continual VND(이력)다. 지연이 결정적일 때 정확하지만 흔들리는 지연은 잡지 못한다. 시작 상태 분포에 넣는 쪽은 CLIS-MPPI다. 흔들림을 잡지만 rollout이 넓게 퍼져 보수적이 된다. 실행 뒤 되먹임으로 메우는 쪽은 Feedback-MPPI와 CLIS-MPPI의 이득이다. 계산은 싸지만, 미분 이득(Feedback-MPPI)은 비평활 비용에서 의미를 잃는다.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무엇으로 적응하나.</a:t>
            </a:r>
            <a:r>
              <a:rPr sz="1050" b="0" i="0">
                <a:solidFill>
                  <a:srgbClr val="16213A"/>
                </a:solidFill>
                <a:latin typeface="Arial"/>
                <a:ea typeface="Malgun Gothic"/>
                <a:cs typeface="Malgun Gothic"/>
              </a:rPr>
              <a:t> 문맥 전방 추론(OptCar, Continual VND)은 빠르고 안정적이지만 큰 사전학습이 필요하다. 계수 RLS(FE-RLS)는 사전 지식 없이 몇 초 안에 적응하지만 기저 밖의 현상은 잡지 못한다. GP 잔차(Data-Driven Sampling SMPC, travplan MPC 문서 M.3.6)는 분산을 주지만 확장성이 걸림돌이다(E.9).</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불확실성을 믿나, 재나.</a:t>
            </a:r>
            <a:r>
              <a:rPr sz="1050" b="0" i="0">
                <a:solidFill>
                  <a:srgbClr val="16213A"/>
                </a:solidFill>
                <a:latin typeface="Arial"/>
                <a:ea typeface="Malgun Gothic"/>
                <a:cs typeface="Malgun Gothic"/>
              </a:rPr>
              <a:t> DRA-MPPI, Data-Driven Sampling SMPC, 접촉 최댓값 전파는 입력 σ가 맞다고 보고 전파만 정확히 한다. DUCCT-MPPI는 그 가정을 Brier 점수와 로그 손실로 잰다. 접촉 최댓값 전파의 저자도 지도 σ가 실제 오차의 20–21%만 덮는다는 것을 보였다. σ가 틀리면 정확한 전파는 이득이 없다.</a:t>
            </a:r>
          </a:p>
          <a:p>
            <a:pPr>
              <a:spcBef>
                <a:spcPts val="200"/>
              </a:spcBef>
            </a:pPr>
            <a:r>
              <a:rPr sz="1050" b="0" i="0">
                <a:solidFill>
                  <a:srgbClr val="5A6478"/>
                </a:solidFill>
                <a:latin typeface="Arial"/>
                <a:ea typeface="Malgun Gothic"/>
                <a:cs typeface="Malgun Gothic"/>
              </a:rPr>
              <a:t>4. </a:t>
            </a:r>
            <a:r>
              <a:rPr sz="1050" b="1" i="0">
                <a:solidFill>
                  <a:srgbClr val="16213A"/>
                </a:solidFill>
                <a:latin typeface="Arial"/>
                <a:ea typeface="Malgun Gothic"/>
                <a:cs typeface="Malgun Gothic"/>
              </a:rPr>
              <a:t>안전을 어디서 거나.</a:t>
            </a:r>
            <a:r>
              <a:rPr sz="1050" b="0" i="0">
                <a:solidFill>
                  <a:srgbClr val="16213A"/>
                </a:solidFill>
                <a:latin typeface="Arial"/>
                <a:ea typeface="Malgun Gothic"/>
                <a:cs typeface="Malgun Gothic"/>
              </a:rPr>
              <a:t> 비용으로 거는 쪽(DRA-MPPI, DUCCT-MPPI의 벌점)은 보장이 없지만 매끄럽게 타협한다. 외부 필터(Poisson 안전 함수, 표본 안전 필터)는 명목 제어기와 분리되고, 보장은 모델이 맞는 범위 안에서 성립한다. MPPI 안의 CBF(GS-MPPI, Exact-Safe MPPI)는 모든 rollout을 안전하게 만든다. GS-MPPI는 닫힌 형태라 싸지만 soft-min 합성에서 틈이 닫히고, Exact-Safe MPPI는 틈을 지키는 대신 표본마다 QP를 푼다.</a:t>
            </a:r>
          </a:p>
          <a:p>
            <a:pPr>
              <a:spcBef>
                <a:spcPts val="200"/>
              </a:spcBef>
            </a:pPr>
            <a:r>
              <a:rPr sz="1050" b="0" i="0">
                <a:solidFill>
                  <a:srgbClr val="5A6478"/>
                </a:solidFill>
                <a:latin typeface="Arial"/>
                <a:ea typeface="Malgun Gothic"/>
                <a:cs typeface="Malgun Gothic"/>
              </a:rPr>
              <a:t>5. </a:t>
            </a:r>
            <a:r>
              <a:rPr sz="1050" b="1" i="0">
                <a:solidFill>
                  <a:srgbClr val="16213A"/>
                </a:solidFill>
                <a:latin typeface="Arial"/>
                <a:ea typeface="Malgun Gothic"/>
                <a:cs typeface="Malgun Gothic"/>
              </a:rPr>
              <a:t>실물로 검증했나.</a:t>
            </a:r>
            <a:r>
              <a:rPr sz="1050" b="0" i="0">
                <a:solidFill>
                  <a:srgbClr val="16213A"/>
                </a:solidFill>
                <a:latin typeface="Arial"/>
                <a:ea typeface="Malgun Gothic"/>
                <a:cs typeface="Malgun Gothic"/>
              </a:rPr>
              <a:t> 바퀴 지상 로봇 실물은 OptCar, FE-RLS, DRA-MPPI, Data-Driven Sampling SMPC 넷뿐이다. CLIS-MPPI는 팔 5회, Feedback-MPPI·HDVIO2.0·Continual VND는 쿼드로터다. DUCCT-MPPI, 표본 안전 필터, Exact-Safe MPPI, OT-MPC는 시뮬레이션뿐이다.</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최근 연구 비교 · E.16 최근 연구 비교 (2025–2026)</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travplan에 주는 의미</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151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가져올 것.</a:t>
            </a:r>
            <a:r>
              <a:rPr sz="1050" b="0" i="0">
                <a:solidFill>
                  <a:srgbClr val="16213A"/>
                </a:solidFill>
                <a:latin typeface="Arial"/>
                <a:ea typeface="Malgun Gothic"/>
                <a:cs typeface="Malgun Gothic"/>
              </a:rPr>
              <a:t> 셋이다.</a:t>
            </a:r>
          </a:p>
        </p:txBody>
      </p:sp>
      <p:sp>
        <p:nvSpPr>
          <p:cNvPr id="6" name="TextBox 5"/>
          <p:cNvSpPr txBox="1"/>
          <p:nvPr/>
        </p:nvSpPr>
        <p:spPr>
          <a:xfrm>
            <a:off x="609600" y="1549995"/>
            <a:ext cx="10972800" cy="11332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지연을 시작 상태로.</a:t>
            </a:r>
            <a:r>
              <a:rPr sz="1050" b="0" i="0">
                <a:solidFill>
                  <a:srgbClr val="16213A"/>
                </a:solidFill>
                <a:latin typeface="Arial"/>
                <a:ea typeface="Malgun Gothic"/>
                <a:cs typeface="Malgun Gothic"/>
              </a:rPr>
              <a:t> TP-0032의 L0 지연(PR #234, 미병합)은 Controller가 아직 모른다. 에피소드마다 0–3 스텝에서 뽑고 에피소드 안에서는 일정하다. 알고 있는 명령 기록은 상태 예측기처럼 결정적으로 굴리고, 모르는 지연 스텝 수만 rollout마다 이산값으로 뽑는다. CLIS-MPPI의 가우시안 섭동은 지연이 매 스텝 흔들릴 때의 몫인데, 그런 지연은 지금 시뮬에 없다.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위험 보정.</a:t>
            </a:r>
            <a:r>
              <a:rPr sz="1050" b="0" i="0">
                <a:solidFill>
                  <a:srgbClr val="16213A"/>
                </a:solidFill>
                <a:latin typeface="Arial"/>
                <a:ea typeface="Malgun Gothic"/>
                <a:cs typeface="Malgun Gothic"/>
              </a:rPr>
              <a:t> 확률 제약(</a:t>
            </a:r>
            <a:r>
              <a:rPr sz="1050" b="0" i="0">
                <a:solidFill>
                  <a:srgbClr val="16213A"/>
                </a:solidFill>
                <a:latin typeface="Consolas"/>
                <a:ea typeface="Malgun Gothic"/>
                <a:cs typeface="Malgun Gothic"/>
              </a:rPr>
              <a:t>chance.py</a:t>
            </a:r>
            <a:r>
              <a:rPr sz="1050" b="0" i="0">
                <a:solidFill>
                  <a:srgbClr val="16213A"/>
                </a:solidFill>
                <a:latin typeface="Arial"/>
                <a:ea typeface="Malgun Gothic"/>
                <a:cs typeface="Malgun Gothic"/>
              </a:rPr>
              <a:t>)이나 </a:t>
            </a:r>
            <a:r>
              <a:rPr sz="1050" b="0" i="0">
                <a:solidFill>
                  <a:srgbClr val="16213A"/>
                </a:solidFill>
                <a:latin typeface="Consolas"/>
                <a:ea typeface="Malgun Gothic"/>
                <a:cs typeface="Malgun Gothic"/>
              </a:rPr>
              <a:t>SIGMA</a:t>
            </a:r>
            <a:r>
              <a:rPr sz="1050" b="0" i="0">
                <a:solidFill>
                  <a:srgbClr val="16213A"/>
                </a:solidFill>
                <a:latin typeface="Arial"/>
                <a:ea typeface="Malgun Gothic"/>
                <a:cs typeface="Malgun Gothic"/>
              </a:rPr>
              <a:t> 조임을 더 손보기 전에, 실행 스텝 위험이 실제 사건과 맞는지 잰다. </a:t>
            </a:r>
            <a:r>
              <a:rPr sz="1050" b="0" i="0">
                <a:solidFill>
                  <a:srgbClr val="16213A"/>
                </a:solidFill>
                <a:latin typeface="Consolas"/>
                <a:ea typeface="Malgun Gothic"/>
                <a:cs typeface="Malgun Gothic"/>
              </a:rPr>
              <a:t>RiskCost</a:t>
            </a:r>
            <a:r>
              <a:rPr sz="1050" b="0" i="0">
                <a:solidFill>
                  <a:srgbClr val="16213A"/>
                </a:solidFill>
                <a:latin typeface="Arial"/>
                <a:ea typeface="Malgun Gothic"/>
                <a:cs typeface="Malgun Gothic"/>
              </a:rPr>
              <a:t>는 비용을 내므로 확률 출력부터 정의하고, 충돌이 드물어 근접 사건까지 센다.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표본 백업 감시.</a:t>
            </a:r>
            <a:r>
              <a:rPr sz="1050" b="0" i="0">
                <a:solidFill>
                  <a:srgbClr val="16213A"/>
                </a:solidFill>
                <a:latin typeface="Arial"/>
                <a:ea typeface="Malgun Gothic"/>
                <a:cs typeface="Malgun Gothic"/>
              </a:rPr>
              <a:t> 제동 꼬리를 붙인 MPPI 표본 중 치명 셀을 피해 정지할 수 있는 것이 없을 때만, 저장해 둔 안전한 정지열로 바꾼다. C.4 예측 안전 필터의 표본판이다.</a:t>
            </a:r>
          </a:p>
        </p:txBody>
      </p:sp>
      <p:sp>
        <p:nvSpPr>
          <p:cNvPr id="7" name="TextBox 6"/>
          <p:cNvSpPr txBox="1"/>
          <p:nvPr/>
        </p:nvSpPr>
        <p:spPr>
          <a:xfrm>
            <a:off x="609600" y="277217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가져오지 않을 것.</a:t>
            </a:r>
          </a:p>
        </p:txBody>
      </p:sp>
      <p:sp>
        <p:nvSpPr>
          <p:cNvPr id="8" name="TextBox 7"/>
          <p:cNvSpPr txBox="1"/>
          <p:nvPr/>
        </p:nvSpPr>
        <p:spPr>
          <a:xfrm>
            <a:off x="609600" y="3077567"/>
            <a:ext cx="10972800" cy="9167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Feedback-MPPI의 미분 이득. travplan 비용은 치명 셀과 이진 충돌이라 기울기가 거의 0이고, MPPI는 이미 매 주기 다시 푼다.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MPPI 안의 CBF. Exact-Safe MPPI는 768 rollout × 40스텝마다 QP를 풀어야 해서 PyTorch MPPI 예산 밖이다. GS-MPPI는 닫힌 형태라 한꺼번에 계산되지만, 치명 셀이 많은 TravMap에서는 soft-min 합성이 좁은 틈을 닫는다. CBF는 Poisson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 하나를 Controller 뒤에 붙이는 쪽으로 간다.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OptCar식 대규모 사전학습. plant 식이 정확한 L0·L1 벤치마크에서는 필요 없다. Isaac Sim이나 실물 로그가 생기면 다시 본다.</a:t>
            </a:r>
          </a:p>
        </p:txBody>
      </p:sp>
      <p:sp>
        <p:nvSpPr>
          <p:cNvPr id="9" name="TextBox 8"/>
          <p:cNvSpPr txBox="1"/>
          <p:nvPr/>
        </p:nvSpPr>
        <p:spPr>
          <a:xfrm>
            <a:off x="609600" y="408324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시도 순서(TP 후보).</a:t>
            </a:r>
          </a:p>
        </p:txBody>
      </p:sp>
      <p:sp>
        <p:nvSpPr>
          <p:cNvPr id="10" name="TextBox 9"/>
          <p:cNvSpPr txBox="1"/>
          <p:nvPr/>
        </p:nvSpPr>
        <p:spPr>
          <a:xfrm>
            <a:off x="609600" y="4388644"/>
            <a:ext cx="10972800" cy="134977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지연 실패의 출처 가리기.</a:t>
            </a:r>
            <a:r>
              <a:rPr sz="1050" b="0" i="0">
                <a:solidFill>
                  <a:srgbClr val="16213A"/>
                </a:solidFill>
                <a:latin typeface="Arial"/>
                <a:ea typeface="Malgun Gothic"/>
                <a:cs typeface="Malgun Gothic"/>
              </a:rPr>
              <a:t> TP-0170보다 먼저 </a:t>
            </a:r>
            <a:r>
              <a:rPr sz="1050" b="0" i="0">
                <a:solidFill>
                  <a:srgbClr val="16213A"/>
                </a:solidFill>
                <a:latin typeface="Consolas"/>
                <a:ea typeface="Malgun Gothic"/>
                <a:cs typeface="Malgun Gothic"/>
              </a:rPr>
              <a:t>--latency 0 0 3</a:t>
            </a:r>
            <a:r>
              <a:rPr sz="1050" b="0" i="0">
                <a:solidFill>
                  <a:srgbClr val="16213A"/>
                </a:solidFill>
                <a:latin typeface="Arial"/>
                <a:ea typeface="Malgun Gothic"/>
                <a:cs typeface="Malgun Gothic"/>
              </a:rPr>
              <a:t>(제어 지연만) 스모크 한 판을 돌려, </a:t>
            </a:r>
            <a:r>
              <a:rPr sz="1050" b="0" i="0">
                <a:solidFill>
                  <a:srgbClr val="16213A"/>
                </a:solidFill>
                <a:latin typeface="Consolas"/>
                <a:ea typeface="Malgun Gothic"/>
                <a:cs typeface="Malgun Gothic"/>
              </a:rPr>
              <a:t>--latency 2 2 3</a:t>
            </a:r>
            <a:r>
              <a:rPr sz="1050" b="0" i="0">
                <a:solidFill>
                  <a:srgbClr val="16213A"/>
                </a:solidFill>
                <a:latin typeface="Arial"/>
                <a:ea typeface="Malgun Gothic"/>
                <a:cs typeface="Malgun Gothic"/>
              </a:rPr>
              <a:t>의 치명 3/12가 제어 지연에서 오는지 본다. PR #234가 병합돼야 main에서 돌릴 수 있다.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지연을 아는 MPPI.</a:t>
            </a:r>
            <a:r>
              <a:rPr sz="1050" b="0" i="0">
                <a:solidFill>
                  <a:srgbClr val="16213A"/>
                </a:solidFill>
                <a:latin typeface="Arial"/>
                <a:ea typeface="Malgun Gothic"/>
                <a:cs typeface="Malgun Gothic"/>
              </a:rPr>
              <a:t> TP-0170에 붙인다. 명령 기록을 결정적으로 굴리는 상태 예측기 판과, 지연 스텝 수를 rollout마다 0–3에서 뽑는 혼합 판을 </a:t>
            </a:r>
            <a:r>
              <a:rPr sz="1050" b="0" i="0">
                <a:solidFill>
                  <a:srgbClr val="16213A"/>
                </a:solidFill>
                <a:latin typeface="Consolas"/>
                <a:ea typeface="Malgun Gothic"/>
                <a:cs typeface="Malgun Gothic"/>
              </a:rPr>
              <a:t>mppi</a:t>
            </a:r>
            <a:r>
              <a:rPr sz="1050" b="0" i="0">
                <a:solidFill>
                  <a:srgbClr val="16213A"/>
                </a:solidFill>
                <a:latin typeface="Arial"/>
                <a:ea typeface="Malgun Gothic"/>
                <a:cs typeface="Malgun Gothic"/>
              </a:rPr>
              <a:t>와 2층 짝 비교한다. 판정은 치명 수와 짝 비교 성공이다. 매 스텝 흔들리는 지연(CLIS-MPPI의 자리)은 시뮬 기능을 더한 뒤의 일이다.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위험 보정 지표.</a:t>
            </a:r>
            <a:r>
              <a:rPr sz="1050" b="0" i="0">
                <a:solidFill>
                  <a:srgbClr val="16213A"/>
                </a:solidFill>
                <a:latin typeface="Arial"/>
                <a:ea typeface="Malgun Gothic"/>
                <a:cs typeface="Malgun Gothic"/>
              </a:rPr>
              <a:t> 실행 스텝에서 보행자와 겹치는 표본의 가중 비율을 </a:t>
            </a:r>
            <a:r>
              <a:rPr sz="1050" b="0" i="0">
                <a:solidFill>
                  <a:srgbClr val="16213A"/>
                </a:solidFill>
                <a:latin typeface="Consolas"/>
                <a:ea typeface="Malgun Gothic"/>
                <a:cs typeface="Malgun Gothic"/>
              </a:rPr>
              <a:t>RiskCost</a:t>
            </a:r>
            <a:r>
              <a:rPr sz="1050" b="0" i="0">
                <a:solidFill>
                  <a:srgbClr val="16213A"/>
                </a:solidFill>
                <a:latin typeface="Arial"/>
                <a:ea typeface="Malgun Gothic"/>
                <a:cs typeface="Malgun Gothic"/>
              </a:rPr>
              <a:t>의 확률 출력으로 정의하고, </a:t>
            </a:r>
            <a:r>
              <a:rPr sz="1050" b="0" i="0">
                <a:solidFill>
                  <a:srgbClr val="16213A"/>
                </a:solidFill>
                <a:latin typeface="Consolas"/>
                <a:ea typeface="Malgun Gothic"/>
                <a:cs typeface="Malgun Gothic"/>
              </a:rPr>
              <a:t>chance.py</a:t>
            </a:r>
            <a:r>
              <a:rPr sz="1050" b="0" i="0">
                <a:solidFill>
                  <a:srgbClr val="16213A"/>
                </a:solidFill>
                <a:latin typeface="Arial"/>
                <a:ea typeface="Malgun Gothic"/>
                <a:cs typeface="Malgun Gothic"/>
              </a:rPr>
              <a:t>의 z 값은 꼬리 확률로 바꿔 에피소드 로그에 남긴다. TP-0154 묶음에서 간격 문턱 아래의 근접 사건까지 세어 신뢰도 도표를 그린다. 충돌 8건의 원인은 이미 갈렸으므로(TP-0160·0162), 묻는 것은 레벨 0 도달 감소(116에서 107/120)가 과소신 멈춤인가이다.</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최근 연구 비교 · E.16 최근 연구 비교 (2025–2026)</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travplan에 주는 의미</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152 / 183</a:t>
            </a:r>
          </a:p>
        </p:txBody>
      </p:sp>
      <p:sp>
        <p:nvSpPr>
          <p:cNvPr id="5" name="TextBox 4"/>
          <p:cNvSpPr txBox="1"/>
          <p:nvPr/>
        </p:nvSpPr>
        <p:spPr>
          <a:xfrm>
            <a:off x="609600" y="1244600"/>
            <a:ext cx="10972800" cy="6748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4. </a:t>
            </a:r>
            <a:r>
              <a:rPr sz="1050" b="1" i="0">
                <a:solidFill>
                  <a:srgbClr val="16213A"/>
                </a:solidFill>
                <a:latin typeface="Arial"/>
                <a:ea typeface="Malgun Gothic"/>
                <a:cs typeface="Malgun Gothic"/>
              </a:rPr>
              <a:t>표본 백업 감시.</a:t>
            </a:r>
            <a:r>
              <a:rPr sz="1050" b="0" i="0">
                <a:solidFill>
                  <a:srgbClr val="16213A"/>
                </a:solidFill>
                <a:latin typeface="Arial"/>
                <a:ea typeface="Malgun Gothic"/>
                <a:cs typeface="Malgun Gothic"/>
              </a:rPr>
              <a:t> rollout마다 제동 꼬리를 붙여 "정지 가능한 안전 표본 수"를 스텝마다 기록하고, 0일 때만 저장한 안전 정지열을 쓰는 선택 옵션을 plant 레벨 3에서 짝 비교한다. 치명이 줄고 시간 초과(TP-0151)가 늘지 않아야 한다.</a:t>
            </a:r>
          </a:p>
          <a:p>
            <a:pPr>
              <a:spcBef>
                <a:spcPts val="200"/>
              </a:spcBef>
            </a:pPr>
            <a:r>
              <a:rPr sz="1050" b="0" i="0">
                <a:solidFill>
                  <a:srgbClr val="5A6478"/>
                </a:solidFill>
                <a:latin typeface="Arial"/>
                <a:ea typeface="Malgun Gothic"/>
                <a:cs typeface="Malgun Gothic"/>
              </a:rPr>
              <a:t>5. </a:t>
            </a:r>
            <a:r>
              <a:rPr sz="1050" b="1" i="0">
                <a:solidFill>
                  <a:srgbClr val="16213A"/>
                </a:solidFill>
                <a:latin typeface="Arial"/>
                <a:ea typeface="Malgun Gothic"/>
                <a:cs typeface="Malgun Gothic"/>
              </a:rPr>
              <a:t>접촉 최댓값 σ 전파.</a:t>
            </a:r>
            <a:r>
              <a:rPr sz="1050" b="0" i="0">
                <a:solidFill>
                  <a:srgbClr val="16213A"/>
                </a:solidFill>
                <a:latin typeface="Arial"/>
                <a:ea typeface="Malgun Gothic"/>
                <a:cs typeface="Malgun Gothic"/>
              </a:rPr>
              <a:t> 바퀴 접촉 높이를 Clark 접기로 계산한 pitch CVaR </a:t>
            </a:r>
            <a:r>
              <a:rPr sz="1050" b="0" i="0">
                <a:solidFill>
                  <a:srgbClr val="16213A"/>
                </a:solidFill>
                <a:latin typeface="Consolas"/>
                <a:ea typeface="Malgun Gothic"/>
                <a:cs typeface="Malgun Gothic"/>
              </a:rPr>
              <a:t>CostTerm</a:t>
            </a:r>
            <a:r>
              <a:rPr sz="1050" b="0" i="0">
                <a:solidFill>
                  <a:srgbClr val="16213A"/>
                </a:solidFill>
                <a:latin typeface="Arial"/>
                <a:ea typeface="Malgun Gothic"/>
                <a:cs typeface="Malgun Gothic"/>
              </a:rPr>
              <a:t>. 그 전에 L1 </a:t>
            </a:r>
            <a:r>
              <a:rPr sz="1050" b="0" i="0">
                <a:solidFill>
                  <a:srgbClr val="16213A"/>
                </a:solidFill>
                <a:latin typeface="Consolas"/>
                <a:ea typeface="Malgun Gothic"/>
                <a:cs typeface="Malgun Gothic"/>
              </a:rPr>
              <a:t>SIGMA</a:t>
            </a:r>
            <a:r>
              <a:rPr sz="1050" b="0" i="0">
                <a:solidFill>
                  <a:srgbClr val="16213A"/>
                </a:solidFill>
                <a:latin typeface="Arial"/>
                <a:ea typeface="Malgun Gothic"/>
                <a:cs typeface="Malgun Gothic"/>
              </a:rPr>
              <a:t>가 실제 고도 오차를 얼마나 덮는지(지도 품질 지표)를 잰다.</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Controller · 안전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작업 기록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Controller · 안전 (docs/research-controller.md)    153 / 183</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1" i="0">
                <a:solidFill>
                  <a:srgbClr val="F59E5B"/>
                </a:solidFill>
                <a:latin typeface="Arial"/>
                <a:ea typeface="Malgun Gothic"/>
                <a:cs typeface="Malgun Gothic"/>
              </a:rPr>
              <a:t>E.15 DreamWaQ 비공식 구현 넷 — 작동하는 문맥 z는 없었고, 바퀴-다리 M20 정책은 z 없이도 계단을 오른다 (TP-0155)</a:t>
            </a:r>
          </a:p>
          <a:p>
            <a:pPr>
              <a:spcAft>
                <a:spcPts val="400"/>
              </a:spcAft>
            </a:pPr>
            <a:r>
              <a:rPr sz="1000" b="0" i="0">
                <a:solidFill>
                  <a:srgbClr val="C9D1E0"/>
                </a:solidFill>
                <a:latin typeface="Arial"/>
                <a:ea typeface="Malgun Gothic"/>
                <a:cs typeface="Malgun Gothic"/>
              </a:rPr>
              <a:t>무엇을 했나</a:t>
            </a:r>
          </a:p>
          <a:p>
            <a:pPr>
              <a:spcAft>
                <a:spcPts val="400"/>
              </a:spcAft>
            </a:pPr>
            <a:r>
              <a:rPr sz="1000" b="0" i="0">
                <a:solidFill>
                  <a:srgbClr val="C9D1E0"/>
                </a:solidFill>
                <a:latin typeface="Arial"/>
                <a:ea typeface="Malgun Gothic"/>
                <a:cs typeface="Malgun Gothic"/>
              </a:rPr>
              <a:t>결과 ① M20 정책(yusongmin1)의 MuJoCo sim2sim</a:t>
            </a:r>
          </a:p>
          <a:p>
            <a:pPr>
              <a:spcAft>
                <a:spcPts val="400"/>
              </a:spcAft>
            </a:pPr>
            <a:r>
              <a:rPr sz="1000" b="0" i="0">
                <a:solidFill>
                  <a:srgbClr val="C9D1E0"/>
                </a:solidFill>
                <a:latin typeface="Arial"/>
                <a:ea typeface="Malgun Gothic"/>
                <a:cs typeface="Malgun Gothic"/>
              </a:rPr>
              <a:t>결과 ② Walk These Ways Go2 정책의 MuJoCo sim2sim과 실물 로그 재생</a:t>
            </a:r>
          </a:p>
          <a:p>
            <a:pPr>
              <a:spcAft>
                <a:spcPts val="400"/>
              </a:spcAft>
            </a:pPr>
            <a:r>
              <a:rPr sz="1000" b="0" i="0">
                <a:solidFill>
                  <a:srgbClr val="C9D1E0"/>
                </a:solidFill>
                <a:latin typeface="Arial"/>
                <a:ea typeface="Malgun Gothic"/>
                <a:cs typeface="Malgun Gothic"/>
              </a:rPr>
              <a:t>결과 ③ 문맥 z의 붕괴</a:t>
            </a:r>
          </a:p>
          <a:p>
            <a:pPr>
              <a:spcAft>
                <a:spcPts val="400"/>
              </a:spcAft>
            </a:pPr>
            <a:r>
              <a:rPr sz="1000" b="0" i="0">
                <a:solidFill>
                  <a:srgbClr val="C9D1E0"/>
                </a:solidFill>
                <a:latin typeface="Arial"/>
                <a:ea typeface="Malgun Gothic"/>
                <a:cs typeface="Malgun Gothic"/>
              </a:rPr>
              <a:t>결과 ④ PPO 갱신 때의 재표집</a:t>
            </a:r>
          </a:p>
          <a:p>
            <a:pPr>
              <a:spcAft>
                <a:spcPts val="400"/>
              </a:spcAft>
            </a:pPr>
            <a:r>
              <a:rPr sz="1000" b="0" i="0">
                <a:solidFill>
                  <a:srgbClr val="C9D1E0"/>
                </a:solidFill>
                <a:latin typeface="Arial"/>
                <a:ea typeface="Malgun Gothic"/>
                <a:cs typeface="Malgun Gothic"/>
              </a:rPr>
              <a:t>결과 ⑤ 모듈 점검에서 확인한 것</a:t>
            </a:r>
          </a:p>
          <a:p>
            <a:pPr>
              <a:spcAft>
                <a:spcPts val="400"/>
              </a:spcAft>
            </a:pPr>
            <a:r>
              <a:rPr sz="1000" b="0" i="0">
                <a:solidFill>
                  <a:srgbClr val="C9D1E0"/>
                </a:solidFill>
                <a:latin typeface="Arial"/>
                <a:ea typeface="Malgun Gothic"/>
                <a:cs typeface="Malgun Gothic"/>
              </a:rPr>
              <a:t>정직하게 적어 둘 것</a:t>
            </a:r>
          </a:p>
          <a:p>
            <a:pPr>
              <a:spcAft>
                <a:spcPts val="400"/>
              </a:spcAft>
            </a:pPr>
            <a:r>
              <a:rPr sz="1000" b="0" i="0">
                <a:solidFill>
                  <a:srgbClr val="C9D1E0"/>
                </a:solidFill>
                <a:latin typeface="Arial"/>
                <a:ea typeface="Malgun Gothic"/>
                <a:cs typeface="Malgun Gothic"/>
              </a:rPr>
              <a:t>재현</a:t>
            </a:r>
          </a:p>
          <a:p>
            <a:pPr>
              <a:spcAft>
                <a:spcPts val="400"/>
              </a:spcAft>
            </a:pPr>
            <a:r>
              <a:rPr sz="1000" b="1" i="0">
                <a:solidFill>
                  <a:srgbClr val="F59E5B"/>
                </a:solidFill>
                <a:latin typeface="Arial"/>
                <a:ea typeface="Malgun Gothic"/>
                <a:cs typeface="Malgun Gothic"/>
              </a:rPr>
              <a:t>E.14 Playground의 MPOT Planner — Dijkstra와 같은 도달률, 매끄러운 경로, 국소 최솟값 하나 (TP-0136)</a:t>
            </a:r>
          </a:p>
          <a:p>
            <a:pPr>
              <a:spcAft>
                <a:spcPts val="400"/>
              </a:spcAft>
            </a:pPr>
            <a:r>
              <a:rPr sz="1000" b="0" i="0">
                <a:solidFill>
                  <a:srgbClr val="C9D1E0"/>
                </a:solidFill>
                <a:latin typeface="Arial"/>
                <a:ea typeface="Malgun Gothic"/>
                <a:cs typeface="Malgun Gothic"/>
              </a:rPr>
              <a:t>무엇을 만들었나(docs/playground/js/mpot.js)</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결과(Playground, 스워브 + MPPI)</a:t>
            </a:r>
          </a:p>
          <a:p>
            <a:pPr>
              <a:spcAft>
                <a:spcPts val="400"/>
              </a:spcAft>
            </a:pPr>
            <a:r>
              <a:rPr sz="1000" b="1" i="0">
                <a:solidFill>
                  <a:srgbClr val="F59E5B"/>
                </a:solidFill>
                <a:latin typeface="Arial"/>
                <a:ea typeface="Malgun Gothic"/>
                <a:cs typeface="Malgun Gothic"/>
              </a:rPr>
              <a:t>E.13 Playground 휴머노이드와 GR00T 분리형 WBC — 위에 앉은 MPPI는 하체 지연을 알아야 한다 (TP-0135)</a:t>
            </a:r>
          </a:p>
          <a:p>
            <a:pPr>
              <a:spcAft>
                <a:spcPts val="400"/>
              </a:spcAft>
            </a:pPr>
            <a:r>
              <a:rPr sz="1000" b="0" i="0">
                <a:solidFill>
                  <a:srgbClr val="C9D1E0"/>
                </a:solidFill>
                <a:latin typeface="Arial"/>
                <a:ea typeface="Malgun Gothic"/>
                <a:cs typeface="Malgun Gothic"/>
              </a:rPr>
              <a:t>무엇을 만들었나</a:t>
            </a:r>
          </a:p>
          <a:p>
            <a:pPr>
              <a:spcAft>
                <a:spcPts val="400"/>
              </a:spcAft>
            </a:pPr>
            <a:r>
              <a:rPr sz="1000" b="0" i="0">
                <a:solidFill>
                  <a:srgbClr val="C9D1E0"/>
                </a:solidFill>
                <a:latin typeface="Arial"/>
                <a:ea typeface="Malgun Gothic"/>
                <a:cs typeface="Malgun Gothic"/>
              </a:rPr>
              <a:t>결과</a:t>
            </a:r>
          </a:p>
          <a:p>
            <a:pPr>
              <a:spcAft>
                <a:spcPts val="400"/>
              </a:spcAft>
            </a:pPr>
            <a:r>
              <a:rPr sz="1000" b="1" i="0">
                <a:solidFill>
                  <a:srgbClr val="F59E5B"/>
                </a:solidFill>
                <a:latin typeface="Arial"/>
                <a:ea typeface="Malgun Gothic"/>
                <a:cs typeface="Malgun Gothic"/>
              </a:rPr>
              <a:t>E.12 Playground의 학습 Controller와 지도 없는 대조군 (TP-0128·TP-0129)</a:t>
            </a:r>
          </a:p>
          <a:p>
            <a:pPr>
              <a:spcAft>
                <a:spcPts val="400"/>
              </a:spcAft>
            </a:pPr>
            <a:r>
              <a:rPr sz="1000" b="0" i="0">
                <a:solidFill>
                  <a:srgbClr val="C9D1E0"/>
                </a:solidFill>
                <a:latin typeface="Arial"/>
                <a:ea typeface="Malgun Gothic"/>
                <a:cs typeface="Malgun Gothic"/>
              </a:rPr>
              <a:t>왜 ES인가 — 보상이 벤치마크의 판정 그 자체라서</a:t>
            </a:r>
          </a:p>
          <a:p>
            <a:pPr>
              <a:spcAft>
                <a:spcPts val="400"/>
              </a:spcAft>
            </a:pPr>
            <a:r>
              <a:rPr sz="1000" b="0" i="0">
                <a:solidFill>
                  <a:srgbClr val="C9D1E0"/>
                </a:solidFill>
                <a:latin typeface="Arial"/>
                <a:ea typeface="Malgun Gothic"/>
                <a:cs typeface="Malgun Gothic"/>
              </a:rPr>
              <a:t>결과 ① 파이썬(GT 지도, 4 시나리오 × seed)</a:t>
            </a:r>
          </a:p>
          <a:p>
            <a:pPr>
              <a:spcAft>
                <a:spcPts val="400"/>
              </a:spcAft>
            </a:pPr>
            <a:r>
              <a:rPr sz="1000" b="0" i="0">
                <a:solidFill>
                  <a:srgbClr val="C9D1E0"/>
                </a:solidFill>
                <a:latin typeface="Arial"/>
                <a:ea typeface="Malgun Gothic"/>
                <a:cs typeface="Malgun Gothic"/>
              </a:rPr>
              <a:t>결과 ② 브라우저(가림 켠 belief 지도, 4 시나리오 × seed 0–2)</a:t>
            </a:r>
          </a:p>
          <a:p>
            <a:pPr>
              <a:spcAft>
                <a:spcPts val="400"/>
              </a:spcAft>
            </a:pPr>
            <a:r>
              <a:rPr sz="1000" b="0" i="0">
                <a:solidFill>
                  <a:srgbClr val="C9D1E0"/>
                </a:solidFill>
                <a:latin typeface="Arial"/>
                <a:ea typeface="Malgun Gothic"/>
                <a:cs typeface="Malgun Gothic"/>
              </a:rPr>
              <a:t>결과 ③ 저장소 벤치마크 — 브라우저의 8/12가 파이썬에서도 그대로 나온다</a:t>
            </a:r>
          </a:p>
          <a:p>
            <a:pPr>
              <a:spcAft>
                <a:spcPts val="400"/>
              </a:spcAft>
            </a:pPr>
            <a:r>
              <a:rPr sz="1000" b="0" i="0">
                <a:solidFill>
                  <a:srgbClr val="C9D1E0"/>
                </a:solidFill>
                <a:latin typeface="Arial"/>
                <a:ea typeface="Malgun Gothic"/>
                <a:cs typeface="Malgun Gothic"/>
              </a:rPr>
              <a:t>TP-0129 — 지도는 바퀴에게만 필수다</a:t>
            </a:r>
          </a:p>
          <a:p>
            <a:pPr>
              <a:spcAft>
                <a:spcPts val="400"/>
              </a:spcAft>
            </a:pPr>
            <a:r>
              <a:rPr sz="1000" b="0" i="0">
                <a:solidFill>
                  <a:srgbClr val="C9D1E0"/>
                </a:solidFill>
                <a:latin typeface="Arial"/>
                <a:ea typeface="Malgun Gothic"/>
                <a:cs typeface="Malgun Gothic"/>
              </a:rPr>
              <a:t>파이썬과 브라우저가 같은 숫자를 내는가 — 황금 벡터로 고정했다</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작업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E.15 DreamWaQ 비공식 구현 넷 — 작동하는 문맥 z는 없었고, 바퀴-다리 M20 정책은 z 없이도 계단을 오른다 (TP-0155)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154 / 183</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코드를 읽은 비공식 구현 넷에서 문맥 z가 작동하는 구현을 하나도 찾지 못했다.</a:t>
            </a:r>
            <a:r>
              <a:rPr sz="1050" b="0" i="0">
                <a:solidFill>
                  <a:srgbClr val="16213A"/>
                </a:solidFill>
                <a:latin typeface="Arial"/>
                <a:ea typeface="Malgun Gothic"/>
                <a:cs typeface="Malgun Gothic"/>
              </a:rPr>
              <a:t> 넷 가운데 DreamWaQ식 가중치를 싣는 유일한 저장소(yusongmin1, 바퀴-다리 Lynx M20)의 정책은 MuJoCo에서 20 cm 계단 10단을 오르내린다. 그런데 z를 0이나 큰 잡음으로, 속도 추정을 0이나 참값으로 바꿔도 결과가 같다. 평지에서는 다리를 거의 고정한 채 바퀴로 구른다. Walk These Ways Go2 정책은 MuJoCo에서 넘어지지 않는다. 다만 속도 추종이 관절 수동 감쇠 하나에 따라 명령의 약 40%와 약 100% 사이를 오간다. 코드 분석은 F.6.1에 있다.</a:t>
            </a:r>
          </a:p>
        </p:txBody>
      </p:sp>
      <p:pic>
        <p:nvPicPr>
          <p:cNvPr id="6" name="Picture 5" descr="image.jpg"/>
          <p:cNvPicPr>
            <a:picLocks noChangeAspect="1"/>
          </p:cNvPicPr>
          <p:nvPr/>
        </p:nvPicPr>
        <p:blipFill>
          <a:blip r:embed="rId3"/>
          <a:stretch>
            <a:fillRect/>
          </a:stretch>
        </p:blipFill>
        <p:spPr>
          <a:xfrm>
            <a:off x="1016000" y="1982986"/>
            <a:ext cx="10160000" cy="3079750"/>
          </a:xfrm>
          <a:prstGeom prst="rect">
            <a:avLst/>
          </a:prstGeom>
        </p:spPr>
      </p:pic>
      <p:sp>
        <p:nvSpPr>
          <p:cNvPr id="7" name="TextBox 6"/>
          <p:cNvSpPr txBox="1"/>
          <p:nvPr/>
        </p:nvSpPr>
        <p:spPr>
          <a:xfrm>
            <a:off x="1016000" y="5100836"/>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TP-0155 실측 요약. (a) M20 체크포인트의 actor 첫 층 열 노름이다. z 입력 열은 관측 입력 열의 약 1/200이다. (b) 평지 전진 1.0 m/s 명령에서 z나 속도 추정을 지운 다섯 변형의 실측 속도(측정 1)다. 계단도 다섯 변형 모두 통과했다. (c) Walk These Ways Go2 정책의 명령 대비 실측 전진 속도를 관절 감쇠, frictionloss, Kd 설정별로 그렸다. 그림은 python -m scripts.make_evidence_figures --only tp0155로 다시 만든다.</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작업 기록 · E.15 DreamWaQ 비공식 구현 넷 — 작동하는 문맥 z는 없었고, 바퀴-다리 M20 정책은 z 없이도 계단을 오른다 (TP-0155)</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무엇을 했나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155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학습 없이 아래 여덟 가지를 CPU에서 했다(2026-10-06). 학습하지 않은 이유는 '정직하게 적어 둘 것' 1에 있다. sim2sim은 학습에 쓰지 않은 다른 시뮬레이터에서 정책을 돌려 보는 검증이다. ONNX는 신경망 교환 형식이고, MJCF는 MuJoCo의 XML 로봇 모델 형식이다.</a:t>
            </a:r>
          </a:p>
        </p:txBody>
      </p:sp>
      <p:graphicFrame>
        <p:nvGraphicFramePr>
          <p:cNvPr id="6" name="Table 5"/>
          <p:cNvGraphicFramePr>
            <a:graphicFrameLocks noGrp="1"/>
          </p:cNvGraphicFramePr>
          <p:nvPr/>
        </p:nvGraphicFramePr>
        <p:xfrm>
          <a:off x="609600" y="1766491"/>
          <a:ext cx="10966451" cy="1773792"/>
        </p:xfrm>
        <a:graphic>
          <a:graphicData uri="http://schemas.openxmlformats.org/drawingml/2006/table">
            <a:tbl>
              <a:tblPr firstRow="1" bandRow="1">
                <a:tableStyleId>{5C22544A-7EE6-4342-B048-85BDC9FD1C3A}</a:tableStyleId>
              </a:tblPr>
              <a:tblGrid>
                <a:gridCol w="1101229"/>
                <a:gridCol w="2816027"/>
                <a:gridCol w="7049195"/>
              </a:tblGrid>
              <a:tr h="197088">
                <a:tc>
                  <a:txBody>
                    <a:bodyPr wrap="square"/>
                    <a:lstStyle/>
                    <a:p>
                      <a:r>
                        <a:rPr sz="800" b="1" i="0">
                          <a:solidFill>
                            <a:srgbClr val="F4F1EA"/>
                          </a:solidFill>
                          <a:latin typeface="Arial"/>
                          <a:ea typeface="Malgun Gothic"/>
                          <a:cs typeface="Malgun Gothic"/>
                        </a:rPr>
                        <a:t>점검</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대상</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방법</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모듈 점검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넷 모두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Isaac Gym을 스텁으로 바꾸고 저장소 모듈을 그대로 import했다. 차원, 파라미터 수, 손실, 기울기 경로를 쟀다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러너 실행</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go2_dreamwaq, yusongmin1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실제 러너의 </a:t>
                      </a:r>
                      <a:r>
                        <a:rPr sz="800" b="0" i="0">
                          <a:solidFill>
                            <a:srgbClr val="16213A"/>
                          </a:solidFill>
                          <a:latin typeface="Consolas"/>
                          <a:ea typeface="Malgun Gothic"/>
                          <a:cs typeface="Malgun Gothic"/>
                        </a:rPr>
                        <a:t>learn()</a:t>
                      </a:r>
                      <a:r>
                        <a:rPr sz="800" b="0" i="0">
                          <a:solidFill>
                            <a:srgbClr val="16213A"/>
                          </a:solidFill>
                          <a:latin typeface="Arial"/>
                          <a:ea typeface="Malgun Gothic"/>
                          <a:cs typeface="Malgun Gothic"/>
                        </a:rPr>
                        <a:t>을 돌렸다. go2_dreamwaq는 무작위 스텁 환경(64 env, 2반복), yusongmin1은 버퍼 의미를 옮긴 모의 환경(1반복)이다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PPO 갱신 한 번</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walk-these-ways-go2, yusongmin1, wanghg1992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합성 롤아웃으로 </a:t>
                      </a:r>
                      <a:r>
                        <a:rPr sz="800" b="0" i="0">
                          <a:solidFill>
                            <a:srgbClr val="16213A"/>
                          </a:solidFill>
                          <a:latin typeface="Consolas"/>
                          <a:ea typeface="Malgun Gothic"/>
                          <a:cs typeface="Malgun Gothic"/>
                        </a:rPr>
                        <a:t>update()</a:t>
                      </a:r>
                      <a:r>
                        <a:rPr sz="800" b="0" i="0">
                          <a:solidFill>
                            <a:srgbClr val="16213A"/>
                          </a:solidFill>
                          <a:latin typeface="Arial"/>
                          <a:ea typeface="Malgun Gothic"/>
                          <a:cs typeface="Malgun Gothic"/>
                        </a:rPr>
                        <a:t>를 돌렸다. wanghg1992는 옵티마이저 스텝을 끈 건식 실행이다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합성 붕괴 점검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go2_dreamwaq</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CENet 클래스와 </a:t>
                      </a:r>
                      <a:r>
                        <a:rPr sz="800" b="0" i="0">
                          <a:solidFill>
                            <a:srgbClr val="16213A"/>
                          </a:solidFill>
                          <a:latin typeface="Consolas"/>
                          <a:ea typeface="Malgun Gothic"/>
                          <a:cs typeface="Malgun Gothic"/>
                        </a:rPr>
                        <a:t>update()</a:t>
                      </a:r>
                      <a:r>
                        <a:rPr sz="800" b="0" i="0">
                          <a:solidFill>
                            <a:srgbClr val="16213A"/>
                          </a:solidFill>
                          <a:latin typeface="Arial"/>
                          <a:ea typeface="Malgun Gothic"/>
                          <a:cs typeface="Malgun Gothic"/>
                        </a:rPr>
                        <a:t>를 고치지 않고, 숨은 요인이 있는 합성 데이터에 돌렸다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가중치 감식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yusongmin1, walk-these-ways-go2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체크포인트의 행·열 노름, ONNX 그래프, TorchScript 동일성</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TensorBoard 판독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yusongmin1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동봉 기록 19,153반복</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MuJoCo sim2sim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yusongmin1, walk-these-ways-go2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M20은 저장소의 MJCF와 ONNX, Go2는 mujoco_menagerie의 unitree_go2와 직접 만든 하네스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실물 로그 재생</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walk-these-ways-go2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동봉된 실물 로그 452스텝을 동봉 정책으로 다시 계산했다</a:t>
                      </a:r>
                    </a:p>
                  </a:txBody>
                  <a:tcPr marL="63500" marR="63500" marT="12700" marB="12700">
                    <a:solidFill>
                      <a:srgbClr val="F3F0E8"/>
                    </a:solidFill>
                  </a:tcPr>
                </a:tc>
              </a:tr>
            </a:tbl>
          </a:graphicData>
        </a:graphic>
      </p:graphicFrame>
      <p:sp>
        <p:nvSpPr>
          <p:cNvPr id="7" name="TextBox 6"/>
          <p:cNvSpPr txBox="1"/>
          <p:nvPr/>
        </p:nvSpPr>
        <p:spPr>
          <a:xfrm>
            <a:off x="609600" y="4078982"/>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MuJoCo 하네스는 저장소마다 두 번 독립으로 만들어 쟀다. 두 측정이 다른 곳은 둘 다 적는다.</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작업 기록 · E.15 DreamWaQ 비공식 구현 넷 — 작동하는 문맥 z는 없었고, 바퀴-다리 M20 정책은 z 없이도 계단을 오른다 (TP-0155)</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결과 ① M20 정책(yusongmin1)의 MuJoCo sim2sim</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156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M20 정책은 평지와 계단에서 넘어지지 않았고, z와 속도 추정을 지워도 결과가 같았다.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평지 명령 추종.</a:t>
            </a:r>
            <a:r>
              <a:rPr sz="1050" b="0" i="0">
                <a:solidFill>
                  <a:srgbClr val="16213A"/>
                </a:solidFill>
                <a:latin typeface="Arial"/>
                <a:ea typeface="Malgun Gothic"/>
                <a:cs typeface="Malgun Gothic"/>
              </a:rPr>
              <a:t> 9 s 중 4–9 s 평균이고, 체크포인트의 평균 경로 기준이다. ONNX 표본 경로도 0.005 안에서 같았다. 낙상은 없었고, 기울기는 최대 5.1°, 기저 높이는 0.486–0.527 m였다.</a:t>
            </a:r>
          </a:p>
        </p:txBody>
      </p:sp>
      <p:graphicFrame>
        <p:nvGraphicFramePr>
          <p:cNvPr id="7" name="Table 6"/>
          <p:cNvGraphicFramePr>
            <a:graphicFrameLocks noGrp="1"/>
          </p:cNvGraphicFramePr>
          <p:nvPr/>
        </p:nvGraphicFramePr>
        <p:xfrm>
          <a:off x="609600" y="1855391"/>
          <a:ext cx="10966450" cy="1773792"/>
        </p:xfrm>
        <a:graphic>
          <a:graphicData uri="http://schemas.openxmlformats.org/drawingml/2006/table">
            <a:tbl>
              <a:tblPr firstRow="1" bandRow="1">
                <a:tableStyleId>{5C22544A-7EE6-4342-B048-85BDC9FD1C3A}</a:tableStyleId>
              </a:tblPr>
              <a:tblGrid>
                <a:gridCol w="4839593"/>
                <a:gridCol w="3063379"/>
                <a:gridCol w="3063478"/>
              </a:tblGrid>
              <a:tr h="197088">
                <a:tc>
                  <a:txBody>
                    <a:bodyPr wrap="square"/>
                    <a:lstStyle/>
                    <a:p>
                      <a:r>
                        <a:rPr sz="800" b="1" i="0">
                          <a:solidFill>
                            <a:srgbClr val="F4F1EA"/>
                          </a:solidFill>
                          <a:latin typeface="Arial"/>
                          <a:ea typeface="Malgun Gothic"/>
                          <a:cs typeface="Malgun Gothic"/>
                        </a:rPr>
                        <a:t>명령</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측정 1</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측정 2</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전진 0.3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0.317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0.319</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전진 0.6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0.611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0.611</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전진 1.0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0.963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0.971</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전진 1.2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1.146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1.149</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후진 0.5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−0.488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−0.489</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측면 0.3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0.271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0.268</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요 0.5 rad/s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0.494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0.487</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영명령(크리프)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0.040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0.039</a:t>
                      </a:r>
                    </a:p>
                  </a:txBody>
                  <a:tcPr marL="63500" marR="63500" marT="12700" marB="12700">
                    <a:solidFill>
                      <a:srgbClr val="F3F0E8"/>
                    </a:solidFill>
                  </a:tcPr>
                </a:tc>
              </a:tr>
            </a:tbl>
          </a:graphicData>
        </a:graphic>
      </p:graphicFrame>
      <p:sp>
        <p:nvSpPr>
          <p:cNvPr id="8" name="TextBox 7"/>
          <p:cNvSpPr txBox="1"/>
          <p:nvPr/>
        </p:nvSpPr>
        <p:spPr>
          <a:xfrm>
            <a:off x="609600" y="4167882"/>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영명령에서 몸체가 0.04 m/s로 미끄러지고 바퀴가 천천히 돈다. 저장소 이슈 #4와 같은 증상이다.</a:t>
            </a:r>
          </a:p>
        </p:txBody>
      </p:sp>
      <p:sp>
        <p:nvSpPr>
          <p:cNvPr id="9" name="TextBox 8"/>
          <p:cNvSpPr txBox="1"/>
          <p:nvPr/>
        </p:nvSpPr>
        <p:spPr>
          <a:xfrm>
            <a:off x="609600" y="44732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계단.</a:t>
            </a:r>
            <a:r>
              <a:rPr sz="1050" b="0" i="0">
                <a:solidFill>
                  <a:srgbClr val="16213A"/>
                </a:solidFill>
                <a:latin typeface="Arial"/>
                <a:ea typeface="Malgun Gothic"/>
                <a:cs typeface="Malgun Gothic"/>
              </a:rPr>
              <a:t> 저장소 장면(20 cm × 30 cm 계단 10단, 2.0 m 높이 층계참, 내려가는 계단 10단)이다. 층계참 도달은 기저 높이 2.4 m 이상, 하강 완료는 x 9.6 m 이상으로 쟀다. 측정 1은 5번 모두, 측정 2는 6번 모두 넘어지지 않고 오르내렸다.</a:t>
            </a:r>
          </a:p>
        </p:txBody>
      </p:sp>
      <p:graphicFrame>
        <p:nvGraphicFramePr>
          <p:cNvPr id="10" name="Table 9"/>
          <p:cNvGraphicFramePr>
            <a:graphicFrameLocks noGrp="1"/>
          </p:cNvGraphicFramePr>
          <p:nvPr/>
        </p:nvGraphicFramePr>
        <p:xfrm>
          <a:off x="609600" y="4995168"/>
          <a:ext cx="10966451" cy="985440"/>
        </p:xfrm>
        <a:graphic>
          <a:graphicData uri="http://schemas.openxmlformats.org/drawingml/2006/table">
            <a:tbl>
              <a:tblPr firstRow="1" bandRow="1">
                <a:tableStyleId>{5C22544A-7EE6-4342-B048-85BDC9FD1C3A}</a:tableStyleId>
              </a:tblPr>
              <a:tblGrid>
                <a:gridCol w="4645720"/>
                <a:gridCol w="785812"/>
                <a:gridCol w="1961952"/>
                <a:gridCol w="1961952"/>
                <a:gridCol w="1611015"/>
              </a:tblGrid>
              <a:tr h="197088">
                <a:tc>
                  <a:txBody>
                    <a:bodyPr wrap="square"/>
                    <a:lstStyle/>
                    <a:p>
                      <a:r>
                        <a:rPr sz="800" b="1" i="0">
                          <a:solidFill>
                            <a:srgbClr val="F4F1EA"/>
                          </a:solidFill>
                          <a:latin typeface="Arial"/>
                          <a:ea typeface="Malgun Gothic"/>
                          <a:cs typeface="Malgun Gothic"/>
                        </a:rPr>
                        <a:t>실행</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성공</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층계참 도달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하강 완료</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최대 기울기</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측정 1, 전진 0.5 m/s(표본 seed 0–2, 평균)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11.38–11.48 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20.86–21.10 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24.5–25.2°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측정 1, 전진 1.0 m/s(표본)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6.68 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11.94 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측정 2, 전진 0.5 m/s(표본 seed 0–2, 평균)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10.58–10.70 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20.06–20.26 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24.3–24.9°</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측정 2, 전진 1.0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5.82–5.84 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10.9 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bl>
          </a:graphicData>
        </a:graphic>
      </p:graphicFrame>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작업 기록 · E.15 DreamWaQ 비공식 구현 넷 — 작동하는 문맥 z는 없었고, 바퀴-다리 M20 정책은 z 없이도 계단을 오른다 (TP-0155)</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결과 ① M20 정책(yusongmin1)의 MuJoCo sim2sim</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157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최대 기저 높이는 모두 2.51 m였고, 0.5 m/s 명령에서 오르는 동안의 전진 속도는 0.506–0.514 m/s였다. 측정 2가 약 0.8 s 빨랐고, 원인은 확인하지 못했다.</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z와 속도 추정을 지워도 같다.</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z를 0이나 큰 잡음으로, 속도 추정을 0이나 참값으로 바꿔도 어느 시험에서도 결과가 달라지지 않았다.</a:t>
            </a:r>
            <a:r>
              <a:rPr sz="1050" b="0" i="0">
                <a:solidFill>
                  <a:srgbClr val="16213A"/>
                </a:solidFill>
                <a:latin typeface="Arial"/>
                <a:ea typeface="Malgun Gothic"/>
                <a:cs typeface="Malgun Gothic"/>
              </a:rPr>
              <a:t> 평균 정책에서 그 입력만 바꿨다. 변형은 기준, z = 0, z = 3·N(0, 1), 속도 추정 = 0, 속도 추정 = 참값의 다섯이다.</a:t>
            </a:r>
          </a:p>
        </p:txBody>
      </p:sp>
      <p:graphicFrame>
        <p:nvGraphicFramePr>
          <p:cNvPr id="7" name="Table 6"/>
          <p:cNvGraphicFramePr>
            <a:graphicFrameLocks noGrp="1"/>
          </p:cNvGraphicFramePr>
          <p:nvPr/>
        </p:nvGraphicFramePr>
        <p:xfrm>
          <a:off x="609600" y="2071886"/>
          <a:ext cx="10966450" cy="1182528"/>
        </p:xfrm>
        <a:graphic>
          <a:graphicData uri="http://schemas.openxmlformats.org/drawingml/2006/table">
            <a:tbl>
              <a:tblPr firstRow="1" bandRow="1">
                <a:tableStyleId>{5C22544A-7EE6-4342-B048-85BDC9FD1C3A}</a:tableStyleId>
              </a:tblPr>
              <a:tblGrid>
                <a:gridCol w="1816993"/>
                <a:gridCol w="4438848"/>
                <a:gridCol w="4710609"/>
              </a:tblGrid>
              <a:tr h="197088">
                <a:tc>
                  <a:txBody>
                    <a:bodyPr wrap="square"/>
                    <a:lstStyle/>
                    <a:p>
                      <a:r>
                        <a:rPr sz="800" b="1" i="0">
                          <a:solidFill>
                            <a:srgbClr val="F4F1EA"/>
                          </a:solidFill>
                          <a:latin typeface="Arial"/>
                          <a:ea typeface="Malgun Gothic"/>
                          <a:cs typeface="Malgun Gothic"/>
                        </a:rPr>
                        <a:t>시험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측정 1</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측정 2</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평지 전진 1.0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0.962–0.970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0.969–0.977</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계단 전진 0.5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다섯 모두 층계참과 하강 완료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다섯 모두 층계참과 하강 완료</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바닥 마찰 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0.96–0.99(0.2와 함께)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0.960–0.966</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바닥 마찰 0.2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위와 같음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0.971–0.995</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측면 0.8 m/s 밀기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측면 속도 최대 0.81, RMS 0.128–0.129(변형 셋)</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 s에 밀기. 최대 0.81–0.82, 2 s RMS 0.160–0.162</a:t>
                      </a:r>
                    </a:p>
                  </a:txBody>
                  <a:tcPr marL="63500" marR="63500" marT="12700" marB="12700">
                    <a:solidFill>
                      <a:srgbClr val="FFFDF8"/>
                    </a:solidFill>
                  </a:tcPr>
                </a:tc>
              </a:tr>
            </a:tbl>
          </a:graphicData>
        </a:graphic>
      </p:graphicFrame>
      <p:sp>
        <p:nvSpPr>
          <p:cNvPr id="8" name="TextBox 7"/>
          <p:cNvSpPr txBox="1"/>
          <p:nvPr/>
        </p:nvSpPr>
        <p:spPr>
          <a:xfrm>
            <a:off x="609600" y="364529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다리와 바퀴를 언제 쓰나.</a:t>
            </a:r>
            <a:r>
              <a:rPr sz="1050" b="0" i="0">
                <a:solidFill>
                  <a:srgbClr val="16213A"/>
                </a:solidFill>
                <a:latin typeface="Arial"/>
                <a:ea typeface="Malgun Gothic"/>
                <a:cs typeface="Malgun Gothic"/>
              </a:rPr>
              <a:t> 평지에서는 다리를 거의 고정하고 바퀴로 구른다. 계단에서만 다리를 쓴다.</a:t>
            </a:r>
          </a:p>
        </p:txBody>
      </p:sp>
      <p:graphicFrame>
        <p:nvGraphicFramePr>
          <p:cNvPr id="9" name="Table 8"/>
          <p:cNvGraphicFramePr>
            <a:graphicFrameLocks noGrp="1"/>
          </p:cNvGraphicFramePr>
          <p:nvPr/>
        </p:nvGraphicFramePr>
        <p:xfrm>
          <a:off x="609600" y="3950692"/>
          <a:ext cx="10966450" cy="591264"/>
        </p:xfrm>
        <a:graphic>
          <a:graphicData uri="http://schemas.openxmlformats.org/drawingml/2006/table">
            <a:tbl>
              <a:tblPr firstRow="1" bandRow="1">
                <a:tableStyleId>{5C22544A-7EE6-4342-B048-85BDC9FD1C3A}</a:tableStyleId>
              </a:tblPr>
              <a:tblGrid>
                <a:gridCol w="1896864"/>
                <a:gridCol w="3864471"/>
                <a:gridCol w="5205115"/>
              </a:tblGrid>
              <a:tr h="197088">
                <a:tc>
                  <a:txBody>
                    <a:bodyPr wrap="square"/>
                    <a:lstStyle/>
                    <a:p>
                      <a:r>
                        <a:rPr sz="800" b="1" i="0">
                          <a:solidFill>
                            <a:srgbClr val="F4F1EA"/>
                          </a:solidFill>
                          <a:latin typeface="Arial"/>
                          <a:ea typeface="Malgun Gothic"/>
                          <a:cs typeface="Malgun Gothic"/>
                        </a:rPr>
                        <a:t>구간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다리 관절 속도 평균</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바퀴</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평지 전진 1.0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0.02 rad/s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−10.8 rad/s. 반지름 0.09 m로 0.97 m/s, 순수 구름이다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계단 오르기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1.52 rad/s, 기본 자세에서 최대 1.32 rad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bl>
          </a:graphicData>
        </a:graphic>
      </p:graphicFrame>
      <p:sp>
        <p:nvSpPr>
          <p:cNvPr id="10" name="TextBox 9"/>
          <p:cNvSpPr txBox="1"/>
          <p:nvPr/>
        </p:nvSpPr>
        <p:spPr>
          <a:xfrm>
            <a:off x="609600" y="4785023"/>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속도 추정과 확률 잠재.</a:t>
            </a:r>
            <a:r>
              <a:rPr sz="1050" b="0" i="0">
                <a:solidFill>
                  <a:srgbClr val="16213A"/>
                </a:solidFill>
                <a:latin typeface="Arial"/>
                <a:ea typeface="Malgun Gothic"/>
                <a:cs typeface="Malgun Gothic"/>
              </a:rPr>
              <a:t> 속도 추정의 RMSE는 평지 혼합 명령에서 x·y·z 각각 0.117·0.059·0.054 m/s였다(측정 2는 0.126·0.063·0.052). x에는 −0.065 m/s의 편향이 있었다. 계단에서는 0.178·0.283·0.280(측정 2는 0.173·0.286·0.273)이었다. 정상 주행 내내 속도 로그분산은 하한 −5에 붙어 있었고, z의 평균은 절댓값 0.021 이하, 로그분산은 0.018 이하였다. 사후분포가 사전분포 N(0, I)와 같다는 뜻이다. ONNX 표본 경로의 행동 잡음은 정상 주행에서 관절마다 표준편차 0.02 이하였다. 그러나 배포 스크립트처럼 관절각 0, 높이 1 m에서 떨어뜨린 직후의 첫 정책 스텝(0.04 s)에서는 속도 로그분산이 +2.8까지 올랐다. 이때 행동 표준편차는 바퀴 0.44, 다리 0.13으로 수십 배 커졌다. 0.06 s부터는 정상으로 돌아왔다.</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작업 기록 · E.15 DreamWaQ 비공식 구현 넷 — 작동하는 문맥 z는 없었고, 바퀴-다리 M20 정책은 z 없이도 계단을 오른다 (TP-0155)</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결과 ② Walk These Ways Go2 정책의 MuJoCo sim2sim과 실물 로그 재생</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158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넘어지지 않는다.</a:t>
            </a:r>
            <a:r>
              <a:rPr sz="1050" b="0" i="0">
                <a:solidFill>
                  <a:srgbClr val="16213A"/>
                </a:solidFill>
                <a:latin typeface="Arial"/>
                <a:ea typeface="Malgun Gothic"/>
                <a:cs typeface="Malgun Gothic"/>
              </a:rPr>
              <a:t> 저장소의 runs/pretrain-go2 정책은 trot 0–2.0 m/s, pronk·bound·pace 0.5 m/s, 30 ms 지연을 더한 trot 1.0 m/s에서 모두 넘어지지 않았다. 좌우 표류는 0.03 m/s, 요 표류는 0.06 rad/s 이하였다. 두 측정이 같은 값을 냈다.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추종은 관절 수동 감쇠에 민감하다.</a:t>
            </a:r>
            <a:r>
              <a:rPr sz="1050" b="0" i="0">
                <a:solidFill>
                  <a:srgbClr val="16213A"/>
                </a:solidFill>
                <a:latin typeface="Arial"/>
                <a:ea typeface="Malgun Gothic"/>
                <a:cs typeface="Malgun Gothic"/>
              </a:rPr>
              <a:t> trot 명령에 대한 전진 속도(m/s)다. 관절 감쇠와 frictionloss(관절 건마찰)는 Menagerie MJCF의 관절 기본값이고, Kd는 PD의 속도 이득이다. 비율은 명령 1.0–2.0 m/s에서 실측을 명령으로 나눈 평균이다.</a:t>
            </a:r>
          </a:p>
        </p:txBody>
      </p:sp>
      <p:graphicFrame>
        <p:nvGraphicFramePr>
          <p:cNvPr id="7" name="Table 6"/>
          <p:cNvGraphicFramePr>
            <a:graphicFrameLocks noGrp="1"/>
          </p:cNvGraphicFramePr>
          <p:nvPr/>
        </p:nvGraphicFramePr>
        <p:xfrm>
          <a:off x="609600" y="2288381"/>
          <a:ext cx="10966449" cy="1379616"/>
        </p:xfrm>
        <a:graphic>
          <a:graphicData uri="http://schemas.openxmlformats.org/drawingml/2006/table">
            <a:tbl>
              <a:tblPr firstRow="1" bandRow="1">
                <a:tableStyleId>{5C22544A-7EE6-4342-B048-85BDC9FD1C3A}</a:tableStyleId>
              </a:tblPr>
              <a:tblGrid>
                <a:gridCol w="4745236"/>
                <a:gridCol w="1130399"/>
                <a:gridCol w="1130399"/>
                <a:gridCol w="1130399"/>
                <a:gridCol w="1130399"/>
                <a:gridCol w="1699617"/>
              </a:tblGrid>
              <a:tr h="197088">
                <a:tc>
                  <a:txBody>
                    <a:bodyPr wrap="square"/>
                    <a:lstStyle/>
                    <a:p>
                      <a:r>
                        <a:rPr sz="800" b="1" i="0">
                          <a:solidFill>
                            <a:srgbClr val="F4F1EA"/>
                          </a:solidFill>
                          <a:latin typeface="Arial"/>
                          <a:ea typeface="Malgun Gothic"/>
                          <a:cs typeface="Malgun Gothic"/>
                        </a:rPr>
                        <a:t>관절 감쇠 · frictionloss · Kd</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0.5</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1.0</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1.5</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2.0</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비율</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2.0 · 0.2 · 0.5(Menagerie 기본)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0.60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0.77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약 40%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 · 0 · 0.5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0.42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0.62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0.79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약 41%</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1.0 · 0.1 · 0.5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0.31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0.59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0.88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1.13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약 58%</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0 · 0.2 · 0.5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0.53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1.48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1.90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약 98%</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0 · 0 · 0.5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0.56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1.52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1.94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약 100%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0 · 0 · 0.8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0.46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0.85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1.61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약 83%</a:t>
                      </a:r>
                    </a:p>
                  </a:txBody>
                  <a:tcPr marL="63500" marR="63500" marT="12700" marB="12700">
                    <a:solidFill>
                      <a:srgbClr val="F3F0E8"/>
                    </a:solidFill>
                  </a:tcPr>
                </a:tc>
              </a:tr>
            </a:tbl>
          </a:graphicData>
        </a:graphic>
      </p:graphicFrame>
      <p:sp>
        <p:nvSpPr>
          <p:cNvPr id="8" name="TextBox 7"/>
          <p:cNvSpPr txBox="1"/>
          <p:nvPr/>
        </p:nvSpPr>
        <p:spPr>
          <a:xfrm>
            <a:off x="609600" y="4108152"/>
            <a:ext cx="10972800" cy="86598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추종을 약 40%에서 약 100%로 바꾸는 변수는 Menagerie Go2의 관절 수동 감쇠(2.0 N·m·s/rad)다.</a:t>
            </a:r>
            <a:r>
              <a:rPr sz="1050" b="0" i="0">
                <a:solidFill>
                  <a:srgbClr val="16213A"/>
                </a:solidFill>
                <a:latin typeface="Arial"/>
                <a:ea typeface="Malgun Gothic"/>
                <a:cs typeface="Malgun Gothic"/>
              </a:rPr>
              <a:t> 이 항은 학습(액추에이터 망)에도 배포 PD 명령에도 없다. 학습이 Kp·Kd를 무작위화하지 않으므로, 정책이 감쇠 변화에 약한 것은 예상과 맞다. 그래서 이 실험은 '액추에이터 망으로 학습하고 PD로 배포한다'는 불일치를 따로 떼어 보지 못한다. 그 불일치에 가장 가까운 대리 실험은 수동 감쇠 0에서 Kd 0.5와 0.8을 비교한 것이고, 차이는 약 17%다. 저장소 이슈 #25(실물 미끄러짐과 표류)와의 인과는 확인하지 못했다. 원본 Go1 정책도 Go2 모델 위에서 걷는다(기본값, 1.0 m/s 명령에 0.40). </a:t>
            </a:r>
            <a:r>
              <a:rPr sz="1050" b="0" i="0">
                <a:solidFill>
                  <a:srgbClr val="16213A"/>
                </a:solidFill>
                <a:latin typeface="Consolas"/>
                <a:ea typeface="Malgun Gothic"/>
                <a:cs typeface="Malgun Gothic"/>
              </a:rPr>
              <a:t>scripts/tmp</a:t>
            </a:r>
            <a:r>
              <a:rPr sz="1050" b="0" i="0">
                <a:solidFill>
                  <a:srgbClr val="16213A"/>
                </a:solidFill>
                <a:latin typeface="Arial"/>
                <a:ea typeface="Malgun Gothic"/>
                <a:cs typeface="Malgun Gothic"/>
              </a:rPr>
              <a:t>의 정책은 모든 명령에서 0.00 m/s로 서 있다. 물리 200 Hz, 30 ms 지연, 배포 순서의 걸음 시계는 결과를 바꾸지 않았다.</a:t>
            </a:r>
          </a:p>
        </p:txBody>
      </p:sp>
      <p:sp>
        <p:nvSpPr>
          <p:cNvPr id="9" name="TextBox 8"/>
          <p:cNvSpPr txBox="1"/>
          <p:nvPr/>
        </p:nvSpPr>
        <p:spPr>
          <a:xfrm>
            <a:off x="609600" y="5063034"/>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실물 로그 재생.</a:t>
            </a:r>
            <a:r>
              <a:rPr sz="1050" b="0" i="0">
                <a:solidFill>
                  <a:srgbClr val="16213A"/>
                </a:solidFill>
                <a:latin typeface="Arial"/>
                <a:ea typeface="Malgun Gothic"/>
                <a:cs typeface="Malgun Gothic"/>
              </a:rPr>
              <a:t> 동봉된 실물 로그(452스텝, 9.0 s, 제자리 pronk 444스텝과 bound 8스텝)를 runs/pretrain-go2 정책에 다시 넣었다. 기록된 latent는 5.8e-6, 행동은 3.3e-6 안에서 재현됐다. 실물에 올라간 것이 바로 이 체크포인트다. </a:t>
            </a:r>
            <a:r>
              <a:rPr sz="1050" b="0" i="0">
                <a:solidFill>
                  <a:srgbClr val="16213A"/>
                </a:solidFill>
                <a:latin typeface="Consolas"/>
                <a:ea typeface="Malgun Gothic"/>
                <a:cs typeface="Malgun Gothic"/>
              </a:rPr>
              <a:t>scripts/tmp</a:t>
            </a:r>
            <a:r>
              <a:rPr sz="1050" b="0" i="0">
                <a:solidFill>
                  <a:srgbClr val="16213A"/>
                </a:solidFill>
                <a:latin typeface="Arial"/>
                <a:ea typeface="Malgun Gothic"/>
                <a:cs typeface="Malgun Gothic"/>
              </a:rPr>
              <a:t> 정책과 원본 Go1 정책은 오차 3.6–6.8로 재현하지 못한다. 학습에 쓴 Go1 구동기 망을 위치 오차 </a:t>
            </a:r>
            <a:r>
              <a:rPr sz="1050" b="0" i="1">
                <a:solidFill>
                  <a:srgbClr val="16213A"/>
                </a:solidFill>
                <a:latin typeface="Arial"/>
                <a:ea typeface="Malgun Gothic"/>
                <a:cs typeface="Malgun Gothic"/>
              </a:rPr>
              <a:t>e</a:t>
            </a:r>
            <a:r>
              <a:rPr sz="1050" b="0" i="0">
                <a:solidFill>
                  <a:srgbClr val="16213A"/>
                </a:solidFill>
                <a:latin typeface="Arial"/>
                <a:ea typeface="Malgun Gothic"/>
                <a:cs typeface="Malgun Gothic"/>
              </a:rPr>
              <a:t>와 관절 속도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로 프로브하면 최소제곱 맞춤이 </a:t>
            </a:r>
            <a:r>
              <a:rPr sz="1050" b="0" i="1">
                <a:solidFill>
                  <a:srgbClr val="16213A"/>
                </a:solidFill>
                <a:latin typeface="Arial"/>
                <a:ea typeface="Malgun Gothic"/>
                <a:cs typeface="Malgun Gothic"/>
              </a:rPr>
              <a:t>τ = -19.29 e - 0.817 v + 0.024</a:t>
            </a:r>
            <a:r>
              <a:rPr sz="1050" b="0" i="0">
                <a:solidFill>
                  <a:srgbClr val="16213A"/>
                </a:solidFill>
                <a:latin typeface="Arial"/>
                <a:ea typeface="Malgun Gothic"/>
                <a:cs typeface="Malgun Gothic"/>
              </a:rPr>
              <a:t>다. Kp 약 19, 감쇠 약 0.8 N·m·s/rad처럼 동작한다.</a:t>
            </a:r>
          </a:p>
        </p:txBody>
      </p:sp>
      <p:sp>
        <p:nvSpPr>
          <p:cNvPr id="10" name="TextBox 9"/>
          <p:cNvSpPr txBox="1"/>
          <p:nvPr/>
        </p:nvSpPr>
        <p:spPr>
          <a:xfrm>
            <a:off x="609600" y="580142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2차원 '마찰' 추정은 물리량이 아니다.</a:t>
            </a:r>
            <a:r>
              <a:rPr sz="1050" b="0" i="0">
                <a:solidFill>
                  <a:srgbClr val="16213A"/>
                </a:solidFill>
                <a:latin typeface="Arial"/>
                <a:ea typeface="Malgun Gothic"/>
                <a:cs typeface="Malgun Gothic"/>
              </a:rPr>
              <a:t> 실물 로그 9 s 동안 비정규화한 마찰 추정은 −0.05에서 2.29 사이를 오갔다(평균 0.65). 반발은 음수까지 내려갔다(−0.33에서 0.09). 학습 범위는 마찰 0.1–3.0, 반발 0–0.4다. MuJoCo에서는 바닥이 같아도 걸음새에 따라 값이 바뀐다.</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작업 기록 · E.15 DreamWaQ 비공식 구현 넷 — 작동하는 문맥 z는 없었고, 바퀴-다리 M20 정책은 z 없이도 계단을 오른다 (TP-0155)</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결과 ② Walk These Ways Go2 정책의 MuJoCo sim2sim과 실물 로그 재생</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159 / 183</a:t>
            </a:r>
          </a:p>
        </p:txBody>
      </p:sp>
      <p:graphicFrame>
        <p:nvGraphicFramePr>
          <p:cNvPr id="5" name="Table 4"/>
          <p:cNvGraphicFramePr>
            <a:graphicFrameLocks noGrp="1"/>
          </p:cNvGraphicFramePr>
          <p:nvPr/>
        </p:nvGraphicFramePr>
        <p:xfrm>
          <a:off x="609600" y="1244600"/>
          <a:ext cx="10966450" cy="591264"/>
        </p:xfrm>
        <a:graphic>
          <a:graphicData uri="http://schemas.openxmlformats.org/drawingml/2006/table">
            <a:tbl>
              <a:tblPr firstRow="1" bandRow="1">
                <a:tableStyleId>{5C22544A-7EE6-4342-B048-85BDC9FD1C3A}</a:tableStyleId>
              </a:tblPr>
              <a:tblGrid>
                <a:gridCol w="4808240"/>
                <a:gridCol w="1379141"/>
                <a:gridCol w="1623814"/>
                <a:gridCol w="1716484"/>
                <a:gridCol w="1438771"/>
              </a:tblGrid>
              <a:tr h="197088">
                <a:tc>
                  <a:txBody>
                    <a:bodyPr wrap="square"/>
                    <a:lstStyle/>
                    <a:p>
                      <a:r>
                        <a:rPr sz="800" b="1" i="0">
                          <a:solidFill>
                            <a:srgbClr val="F4F1EA"/>
                          </a:solidFill>
                          <a:latin typeface="Arial"/>
                          <a:ea typeface="Malgun Gothic"/>
                          <a:cs typeface="Malgun Gothic"/>
                        </a:rPr>
                        <a:t>설정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trot</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pronk</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bound</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pace</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Menagerie 기본(감쇠 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2.11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0.36</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감쇠 0, frictionloss 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1.77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0.35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2.30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1.82</a:t>
                      </a:r>
                    </a:p>
                  </a:txBody>
                  <a:tcPr marL="63500" marR="63500" marT="12700" marB="12700">
                    <a:solidFill>
                      <a:srgbClr val="F3F0E8"/>
                    </a:solidFill>
                  </a:tcPr>
                </a:tc>
              </a:tr>
            </a:tbl>
          </a:graphicData>
        </a:graphic>
      </p:graphicFrame>
      <p:sp>
        <p:nvSpPr>
          <p:cNvPr id="6" name="TextBox 5"/>
          <p:cNvSpPr txBox="1"/>
          <p:nvPr/>
        </p:nvSpPr>
        <p:spPr>
          <a:xfrm>
            <a:off x="609600" y="207893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순위까지 뒤집힌다. 시뮬 안에서도 이 목표는 로봇 형상(발 포함)의 마찰계수이고 지형 마찰(1.0)과 결합되므로, MuJoCo 발 마찰 0.8과 같은 척도가 아니다. 그래도 같은 바닥에서 걸음새와 감쇠에 따라 값이 크게 바뀐다는 결론은 그대로다. TravMap의 지면 성질 채널이나 σ 게이트 입력으로 쓸 수 없다.</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작업 기록 · E.15 DreamWaQ 비공식 구현 넷 — 작동하는 문맥 z는 없었고, 바퀴-다리 M20 정책은 z 없이도 계단을 오른다 (TP-0155)</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결과 ③ 문맥 z의 붕괴</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160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선형-가우시안 근사의 규칙.</a:t>
            </a:r>
            <a:r>
              <a:rPr sz="1050" b="0" i="0">
                <a:solidFill>
                  <a:srgbClr val="16213A"/>
                </a:solidFill>
                <a:latin typeface="Arial"/>
                <a:ea typeface="Malgun Gothic"/>
                <a:cs typeface="Malgun Gothic"/>
              </a:rPr>
              <a:t> 복원 MSE를 차원 평균으로, KL(Kullback–Leibler)을 차원 합으로 더하면 요인 k는 다음 조건에서만 z에 실린다.</a:t>
            </a:r>
          </a:p>
        </p:txBody>
      </p:sp>
      <p:pic>
        <p:nvPicPr>
          <p:cNvPr id="6" name="Picture 5" descr="image.png"/>
          <p:cNvPicPr>
            <a:picLocks noChangeAspect="1"/>
          </p:cNvPicPr>
          <p:nvPr/>
        </p:nvPicPr>
        <p:blipFill>
          <a:blip r:embed="rId3"/>
          <a:stretch>
            <a:fillRect/>
          </a:stretch>
        </p:blipFill>
        <p:spPr>
          <a:xfrm>
            <a:off x="609600" y="1549995"/>
            <a:ext cx="609600" cy="241300"/>
          </a:xfrm>
          <a:prstGeom prst="rect">
            <a:avLst/>
          </a:prstGeom>
        </p:spPr>
      </p:pic>
      <p:sp>
        <p:nvSpPr>
          <p:cNvPr id="7" name="TextBox 6"/>
          <p:cNvSpPr txBox="1"/>
          <p:nvPr/>
        </p:nvSpPr>
        <p:spPr>
          <a:xfrm>
            <a:off x="609600" y="1827510"/>
            <a:ext cx="10972800" cy="649486"/>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λₖ</a:t>
            </a:r>
            <a:r>
              <a:rPr sz="1050" b="0" i="0">
                <a:solidFill>
                  <a:srgbClr val="16213A"/>
                </a:solidFill>
                <a:latin typeface="Arial"/>
                <a:ea typeface="Malgun Gothic"/>
                <a:cs typeface="Malgun Gothic"/>
              </a:rPr>
              <a:t>는 요인 k가 복원 목표 한 차원에 평균으로 더하는 분산이다. 관측을 분산 1로 정규화하면 </a:t>
            </a:r>
            <a:r>
              <a:rPr sz="1050" b="0" i="1">
                <a:solidFill>
                  <a:srgbClr val="16213A"/>
                </a:solidFill>
                <a:latin typeface="Arial"/>
                <a:ea typeface="Malgun Gothic"/>
                <a:cs typeface="Malgun Gothic"/>
              </a:rPr>
              <a:t>λₖ ≤ 1</a:t>
            </a:r>
            <a:r>
              <a:rPr sz="1050" b="0" i="0">
                <a:solidFill>
                  <a:srgbClr val="16213A"/>
                </a:solidFill>
                <a:latin typeface="Arial"/>
                <a:ea typeface="Malgun Gothic"/>
                <a:cs typeface="Malgun Gothic"/>
              </a:rPr>
              <a:t>이므로, β가 2 이상이면 이 근사에서는 어떤 요인도 실리지 않는다. 규칙은 독립 요인마다 따로 적용된다. 율-왜곡 이론에서 가우시안이 가장 불리한 분포이므로, 드물고 꼬리가 두꺼운 요인은 원리상 2λ보다 큰 β에서도 실릴 수 있다. go2_dreamwaq의 β 일정에서는 70회 갱신 뒤 β가 2를 넘고, Go2 5,000반복의 98.6%가 그 구간이다.</a:t>
            </a:r>
          </a:p>
        </p:txBody>
      </p:sp>
      <p:sp>
        <p:nvSpPr>
          <p:cNvPr id="8" name="TextBox 7"/>
          <p:cNvSpPr txBox="1"/>
          <p:nvPr/>
        </p:nvSpPr>
        <p:spPr>
          <a:xfrm>
            <a:off x="609600" y="256589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규칙의 시험.</a:t>
            </a:r>
            <a:r>
              <a:rPr sz="1050" b="0" i="0">
                <a:solidFill>
                  <a:srgbClr val="16213A"/>
                </a:solidFill>
                <a:latin typeface="Arial"/>
                <a:ea typeface="Malgun Gothic"/>
                <a:cs typeface="Malgun Gothic"/>
              </a:rPr>
              <a:t> go2_dreamwaq의 CENet 클래스와 </a:t>
            </a:r>
            <a:r>
              <a:rPr sz="1050" b="0" i="0">
                <a:solidFill>
                  <a:srgbClr val="16213A"/>
                </a:solidFill>
                <a:latin typeface="Consolas"/>
                <a:ea typeface="Malgun Gothic"/>
                <a:cs typeface="Malgun Gothic"/>
              </a:rPr>
              <a:t>update()</a:t>
            </a:r>
            <a:r>
              <a:rPr sz="1050" b="0" i="0">
                <a:solidFill>
                  <a:srgbClr val="16213A"/>
                </a:solidFill>
                <a:latin typeface="Arial"/>
                <a:ea typeface="Malgun Gothic"/>
                <a:cs typeface="Malgun Gothic"/>
              </a:rPr>
              <a:t>를 고치지 않고, 2차원 숨은 요인을 선형으로 45차원에 펴고 잡음을 더한 데이터에 돌렸다. 요인의 몫은 </a:t>
            </a:r>
            <a:r>
              <a:rPr sz="1050" b="0" i="1">
                <a:solidFill>
                  <a:srgbClr val="16213A"/>
                </a:solidFill>
                <a:latin typeface="Arial"/>
                <a:ea typeface="Malgun Gothic"/>
                <a:cs typeface="Malgun Gothic"/>
              </a:rPr>
              <a:t>λ = 0.173, 0.227</a:t>
            </a:r>
            <a:r>
              <a:rPr sz="1050" b="0" i="0">
                <a:solidFill>
                  <a:srgbClr val="16213A"/>
                </a:solidFill>
                <a:latin typeface="Arial"/>
                <a:ea typeface="Malgun Gothic"/>
                <a:cs typeface="Malgun Gothic"/>
              </a:rPr>
              <a:t>이라 예측 문턱은 0.347, 0.453이다. 로코모션 데이터가 아니다.</a:t>
            </a:r>
          </a:p>
        </p:txBody>
      </p:sp>
      <p:graphicFrame>
        <p:nvGraphicFramePr>
          <p:cNvPr id="9" name="Table 8"/>
          <p:cNvGraphicFramePr>
            <a:graphicFrameLocks noGrp="1"/>
          </p:cNvGraphicFramePr>
          <p:nvPr/>
        </p:nvGraphicFramePr>
        <p:xfrm>
          <a:off x="609600" y="3087787"/>
          <a:ext cx="10966450" cy="1182528"/>
        </p:xfrm>
        <a:graphic>
          <a:graphicData uri="http://schemas.openxmlformats.org/drawingml/2006/table">
            <a:tbl>
              <a:tblPr firstRow="1" bandRow="1">
                <a:tableStyleId>{5C22544A-7EE6-4342-B048-85BDC9FD1C3A}</a:tableStyleId>
              </a:tblPr>
              <a:tblGrid>
                <a:gridCol w="4715371"/>
                <a:gridCol w="1092597"/>
                <a:gridCol w="1075134"/>
                <a:gridCol w="1124843"/>
                <a:gridCol w="2958505"/>
              </a:tblGrid>
              <a:tr h="197088">
                <a:tc>
                  <a:txBody>
                    <a:bodyPr wrap="square"/>
                    <a:lstStyle/>
                    <a:p>
                      <a:r>
                        <a:rPr sz="800" b="1" i="0">
                          <a:solidFill>
                            <a:srgbClr val="F4F1EA"/>
                          </a:solidFill>
                          <a:latin typeface="Arial"/>
                          <a:ea typeface="Malgun Gothic"/>
                          <a:cs typeface="Malgun Gothic"/>
                        </a:rPr>
                        <a:t>설정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KL(nats)</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활성 차원</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복원 MSE</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z를 사전분포 표본으로 바꾼 복원</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저장소 일정(β 1에서 4로)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0.0001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0/16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0.669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0.669</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β 1 고정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0.0003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0/16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0.669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β 0.680 고정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0.0003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0/16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0.669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0.669</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β 0.272 고정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1/16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0.587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0.744</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β 0.022(이식본의 평균 KL β 0.35를 합 KL로 바꾼 값)</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2.90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2/16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0.322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1.041</a:t>
                      </a:r>
                    </a:p>
                  </a:txBody>
                  <a:tcPr marL="63500" marR="63500" marT="12700" marB="12700">
                    <a:solidFill>
                      <a:srgbClr val="FFFDF8"/>
                    </a:solidFill>
                  </a:tcPr>
                </a:tc>
              </a:tr>
            </a:tbl>
          </a:graphicData>
        </a:graphic>
      </p:graphicFrame>
      <p:sp>
        <p:nvSpPr>
          <p:cNvPr id="10" name="TextBox 9"/>
          <p:cNvSpPr txBox="1"/>
          <p:nvPr/>
        </p:nvSpPr>
        <p:spPr>
          <a:xfrm>
            <a:off x="609600" y="4661198"/>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z가 붕괴하면 디코더가 z를 쓰지 않으므로, z를 사전분포 표본으로 바꿔도 복원이 같다. 붕괴했을 때는 속도 추정 헤드가 숨은 요인의 일부를 대신 실었다(속도 MSE 0.019 대 0.001). 이진 요인으로 바꿔도 저장소 일정에서는 0/16이었다. 규칙대로 β 0.272에서는 실렸고 0.680에서는 붕괴했다.</a:t>
            </a:r>
          </a:p>
        </p:txBody>
      </p:sp>
      <p:sp>
        <p:nvSpPr>
          <p:cNvPr id="11" name="TextBox 10"/>
          <p:cNvSpPr txBox="1"/>
          <p:nvPr/>
        </p:nvSpPr>
        <p:spPr>
          <a:xfrm>
            <a:off x="609600" y="518308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체크포인트와 기록.</a:t>
            </a:r>
          </a:p>
        </p:txBody>
      </p:sp>
      <p:graphicFrame>
        <p:nvGraphicFramePr>
          <p:cNvPr id="12" name="Table 11"/>
          <p:cNvGraphicFramePr>
            <a:graphicFrameLocks noGrp="1"/>
          </p:cNvGraphicFramePr>
          <p:nvPr/>
        </p:nvGraphicFramePr>
        <p:xfrm>
          <a:off x="609600" y="5488484"/>
          <a:ext cx="10966449" cy="591264"/>
        </p:xfrm>
        <a:graphic>
          <a:graphicData uri="http://schemas.openxmlformats.org/drawingml/2006/table">
            <a:tbl>
              <a:tblPr firstRow="1" bandRow="1">
                <a:tableStyleId>{5C22544A-7EE6-4342-B048-85BDC9FD1C3A}</a:tableStyleId>
              </a:tblPr>
              <a:tblGrid>
                <a:gridCol w="3602930"/>
                <a:gridCol w="5710535"/>
                <a:gridCol w="1652984"/>
              </a:tblGrid>
              <a:tr h="197088">
                <a:tc>
                  <a:txBody>
                    <a:bodyPr wrap="square"/>
                    <a:lstStyle/>
                    <a:p>
                      <a:r>
                        <a:rPr sz="800" b="1" i="0">
                          <a:solidFill>
                            <a:srgbClr val="F4F1EA"/>
                          </a:solidFill>
                          <a:latin typeface="Arial"/>
                          <a:ea typeface="Malgun Gothic"/>
                          <a:cs typeface="Malgun Gothic"/>
                        </a:rPr>
                        <a:t>근거</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수치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성격</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yusongmin1 main 체크포인트(18,000반복)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z 평균·로그분산 헤드 행 노름 0.0006–0.0016, 편향 0.0005 이하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직접 감식</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같은 체크포인트의 actor 첫 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열 노름: 속도 추정 0.72, z 0.047, 명령 9.7, 각속도 11.6, 중력 13.2, 관절 9.9–10.0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직접 감식</a:t>
                      </a:r>
                    </a:p>
                  </a:txBody>
                  <a:tcPr marL="63500" marR="63500" marT="12700" marB="12700">
                    <a:solidFill>
                      <a:srgbClr val="F3F0E8"/>
                    </a:solidFill>
                  </a:tcPr>
                </a:tc>
              </a:tr>
            </a:tbl>
          </a:graphicData>
        </a:graphic>
      </p:graphicFrame>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작업 기록 · E.15 DreamWaQ 비공식 구현 넷 — 작동하는 문맥 z는 없었고, 바퀴-다리 M20 정책은 z 없이도 계단을 오른다 (TP-0155)</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결과 ③ 문맥 z의 붕괴</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161 / 183</a:t>
            </a:r>
          </a:p>
        </p:txBody>
      </p:sp>
      <p:graphicFrame>
        <p:nvGraphicFramePr>
          <p:cNvPr id="5" name="Table 4"/>
          <p:cNvGraphicFramePr>
            <a:graphicFrameLocks noGrp="1"/>
          </p:cNvGraphicFramePr>
          <p:nvPr/>
        </p:nvGraphicFramePr>
        <p:xfrm>
          <a:off x="609600" y="1244600"/>
          <a:ext cx="10966449" cy="985440"/>
        </p:xfrm>
        <a:graphic>
          <a:graphicData uri="http://schemas.openxmlformats.org/drawingml/2006/table">
            <a:tbl>
              <a:tblPr firstRow="1" bandRow="1">
                <a:tableStyleId>{5C22544A-7EE6-4342-B048-85BDC9FD1C3A}</a:tableStyleId>
              </a:tblPr>
              <a:tblGrid>
                <a:gridCol w="3602930"/>
                <a:gridCol w="5710535"/>
                <a:gridCol w="1652984"/>
              </a:tblGrid>
              <a:tr h="197088">
                <a:tc>
                  <a:txBody>
                    <a:bodyPr wrap="square"/>
                    <a:lstStyle/>
                    <a:p>
                      <a:r>
                        <a:rPr sz="800" b="1" i="0">
                          <a:solidFill>
                            <a:srgbClr val="F4F1EA"/>
                          </a:solidFill>
                          <a:latin typeface="Arial"/>
                          <a:ea typeface="Malgun Gothic"/>
                          <a:cs typeface="Malgun Gothic"/>
                        </a:rPr>
                        <a:t>근거</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수치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성격</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yusongmin1 </a:t>
                      </a:r>
                      <a:r>
                        <a:rPr sz="800" b="0" i="0">
                          <a:solidFill>
                            <a:srgbClr val="16213A"/>
                          </a:solidFill>
                          <a:latin typeface="Consolas"/>
                          <a:ea typeface="Malgun Gothic"/>
                          <a:cs typeface="Malgun Gothic"/>
                        </a:rPr>
                        <a:t>highplatform</a:t>
                      </a:r>
                      <a:r>
                        <a:rPr sz="800" b="0" i="0">
                          <a:solidFill>
                            <a:srgbClr val="16213A"/>
                          </a:solidFill>
                          <a:latin typeface="Arial"/>
                          <a:ea typeface="Malgun Gothic"/>
                          <a:cs typeface="Malgun Gothic"/>
                        </a:rPr>
                        <a:t> 체크포인트(14,000반복)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z 헤드 0.0009 이하, z 열 0.062 대 관측 열 7.5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직접 감식</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yusongmin1 TensorBoard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KL 0.0646(반복 0), 0.00114(10), 5.0e-5(1,000), 1.65e-4(18,000)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동봉 기록</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1sznkaveesh/DreamWaQ(go2_dreamwaq 코드로 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500반복 KL 0.037 nats, 활성 0/16, 사후 σ 평균 0.9996, z를 0으로 고정해도 행동 변화 약 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제3자 보고</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go2_dreamwaq Isaac Lab 이식본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평균 KL β 1에서 붕괴(약 300반복), β 0.35 기본값에서 두 번 중 한 번 재발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코드 주석, 근거 로그 없음</a:t>
                      </a:r>
                    </a:p>
                  </a:txBody>
                  <a:tcPr marL="63500" marR="63500" marT="12700" marB="12700">
                    <a:solidFill>
                      <a:srgbClr val="F3F0E8"/>
                    </a:solidFill>
                  </a:tcPr>
                </a:tc>
              </a:tr>
            </a:tbl>
          </a:graphicData>
        </a:graphic>
      </p:graphicFrame>
      <p:sp>
        <p:nvSpPr>
          <p:cNvPr id="6" name="TextBox 5"/>
          <p:cNvSpPr txBox="1"/>
          <p:nvPr/>
        </p:nvSpPr>
        <p:spPr>
          <a:xfrm>
            <a:off x="609600" y="2571651"/>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yusongmin1의 기록에서 보상은 반복 0의 0.08에서 18,000반복 54.1로 올랐고, 지형 레벨은 최고 6.15/9였다. 같은 기간 KL은 반복 100 이후 95%가 0.0005 아래였다. 1sznkaveesh/DreamWaQ도 보상(1.84에서 13.59)과 지형 레벨(0에서 6.22)은 올랐다고 보고한다. 붕괴는 보상 곡선에 보이지 않는다.</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작업 기록 · E.15 DreamWaQ 비공식 구현 넷 — 작동하는 문맥 z는 없었고, 바퀴-다리 M20 정책은 z 없이도 계단을 오른다 (TP-0155)</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결과 ④ PPO 갱신 때의 재표집</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162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롤아웃 때 뽑은 z와 속도 표본을 저장하지 않으면, 같은 가중치에서도 PPO 확률 비율이 흔들린다. 가중치를 고정하고 표본만 다시 뽑아 쟀다. 적응 학습률은 KL이 0.02(목표 0.01의 두 배)를 넘으면 학습률을 1.5로 나눈다.</a:t>
            </a:r>
          </a:p>
        </p:txBody>
      </p:sp>
      <p:graphicFrame>
        <p:nvGraphicFramePr>
          <p:cNvPr id="6" name="Table 5"/>
          <p:cNvGraphicFramePr>
            <a:graphicFrameLocks noGrp="1"/>
          </p:cNvGraphicFramePr>
          <p:nvPr/>
        </p:nvGraphicFramePr>
        <p:xfrm>
          <a:off x="609600" y="1766491"/>
          <a:ext cx="10966449" cy="1182528"/>
        </p:xfrm>
        <a:graphic>
          <a:graphicData uri="http://schemas.openxmlformats.org/drawingml/2006/table">
            <a:tbl>
              <a:tblPr firstRow="1" bandRow="1">
                <a:tableStyleId>{5C22544A-7EE6-4342-B048-85BDC9FD1C3A}</a:tableStyleId>
              </a:tblPr>
              <a:tblGrid>
                <a:gridCol w="1824831"/>
                <a:gridCol w="4443313"/>
                <a:gridCol w="2089646"/>
                <a:gridCol w="2608659"/>
              </a:tblGrid>
              <a:tr h="197088">
                <a:tc>
                  <a:txBody>
                    <a:bodyPr wrap="square"/>
                    <a:lstStyle/>
                    <a:p>
                      <a:r>
                        <a:rPr sz="800" b="1" i="0">
                          <a:solidFill>
                            <a:srgbClr val="F4F1EA"/>
                          </a:solidFill>
                          <a:latin typeface="Arial"/>
                          <a:ea typeface="Malgun Gothic"/>
                          <a:cs typeface="Malgun Gothic"/>
                        </a:rPr>
                        <a:t>저장소</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상태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클립 범위 밖 비율</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적응 학습률이 보는 KL</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wanghg1992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초기화(초기화 5종)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75–80%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0.26–0.33</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wanghg1992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사후 표준편차 0.3 흉내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33–41%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0.025–0.034</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wanghg1992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사후 표준편차 0.1 흉내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0.0039</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yusongmin1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무작위 초기화(seed 0–2)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35–42%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0.026–0.035</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yusongmin1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학습된 가중치, MuJoCo 입력 2,850스텝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0.04% 이하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0.00086</a:t>
                      </a:r>
                    </a:p>
                  </a:txBody>
                  <a:tcPr marL="63500" marR="63500" marT="12700" marB="12700">
                    <a:solidFill>
                      <a:srgbClr val="FFFDF8"/>
                    </a:solidFill>
                  </a:tcPr>
                </a:tc>
              </a:tr>
            </a:tbl>
          </a:graphicData>
        </a:graphic>
      </p:graphicFrame>
      <p:sp>
        <p:nvSpPr>
          <p:cNvPr id="7" name="TextBox 6"/>
          <p:cNvSpPr txBox="1"/>
          <p:nvPr/>
        </p:nvSpPr>
        <p:spPr>
          <a:xfrm>
            <a:off x="609600" y="3339902"/>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잠재를 결정적으로 두면 비율은 정확히 1이다. wanghg1992에서 학습률은 5e-4에서 미니배치마다 1.5로 나뉘어, 첫 반복의 10번째 미니배치에서 하한 1e-5에 닿는다(계산). 사후 표준편차가 0.3 이상인 동안 하한에 머문다. yusongmin1의 동봉 기록에서도 학습률이 반복 0에서 하한 1e-5였고, 10반복에 6.6e-3까지 오른 뒤 10,000–18,000반복의 30%를 하한에서 보냈다. 이 기록과 재표집의 인과는 학습 없이 확인하지 못했다.</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작업 기록 · E.15 DreamWaQ 비공식 구현 넷 — 작동하는 문맥 z는 없었고, 바퀴-다리 M20 정책은 z 없이도 계단을 오른다 (TP-0155)</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결과 ⑤ 모듈 점검에서 확인한 것</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163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모듈을 직접 돌려 F.6.1의 코드 분석 가운데 아래 항목을 확인했다.</a:t>
            </a:r>
          </a:p>
        </p:txBody>
      </p:sp>
      <p:graphicFrame>
        <p:nvGraphicFramePr>
          <p:cNvPr id="6" name="Table 5"/>
          <p:cNvGraphicFramePr>
            <a:graphicFrameLocks noGrp="1"/>
          </p:cNvGraphicFramePr>
          <p:nvPr/>
        </p:nvGraphicFramePr>
        <p:xfrm>
          <a:off x="609600" y="1549995"/>
          <a:ext cx="10966450" cy="1984056"/>
        </p:xfrm>
        <a:graphic>
          <a:graphicData uri="http://schemas.openxmlformats.org/drawingml/2006/table">
            <a:tbl>
              <a:tblPr firstRow="1" bandRow="1">
                <a:tableStyleId>{5C22544A-7EE6-4342-B048-85BDC9FD1C3A}</a:tableStyleId>
              </a:tblPr>
              <a:tblGrid>
                <a:gridCol w="1078607"/>
                <a:gridCol w="9887843"/>
              </a:tblGrid>
              <a:tr h="197088">
                <a:tc>
                  <a:txBody>
                    <a:bodyPr wrap="square"/>
                    <a:lstStyle/>
                    <a:p>
                      <a:r>
                        <a:rPr sz="800" b="1" i="0">
                          <a:solidFill>
                            <a:srgbClr val="F4F1EA"/>
                          </a:solidFill>
                          <a:latin typeface="Arial"/>
                          <a:ea typeface="Malgun Gothic"/>
                          <a:cs typeface="Malgun Gothic"/>
                        </a:rPr>
                        <a:t>저장소</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확인한 것</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go2_dreamwaq</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CENet 57,456 파라미터, actor 입력 64, critic 입력 238. 같은 입력을 두 번 넣으면 z가 다르다(표본). AdaBoot에서 참 속도를 받은 env 비율은 스텝마다 0 또는 1뿐이다. critic의 속도 칸은 모든 스텝에서 actor와 같다. GAE에 넘긴 값은 마지막 스텝의 step 이전 critic 관측이다. EstimatorNet 러너의 라벨은 24스텝 모두 같다. 리셋 직후 이력에 이전 에피소드 4프레임이 남는다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go2_dreamwaq</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발밑 지형 조회는 yaw 90°에서 네 발 중 둘, 180°에서 넷 모두 틀린다. yaw를 고르게 뽑은 2,000자세에서 조회 위치 오차는 평균 0.30 m였고, 디딤면 0.31 m 계단에서 발의 56.1%가 엉뚱한 높이를 읽었다</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go2_dreamwaq</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가장 어려운 지형 행은 경사 12.2°, 계단 0.124 m로 원본 legged_gym(19.8°, 0.212 m)보다 낮다. Base 대조군의 절대 높이 보상은 바르게 선 로봇에도 평균 0.036, 최대 1.166의 벌점을 준다. 스텝 보상으로 최대 −0.023이고 추종 보상의 최대 +0.03과 맞먹는다(지형 생성기는 다시 구현해 계산했다)</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yusongmin1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체크포인트가 저장소 클래스에 strict로 실린다(570,816 파라미터). ONNX 상수 20개가 체크포인트와 같고, 배치 2에서 실패한다. KL 항의 입력 형태가 [B]와 [B, B]다. 모의 환경 학습 한 번에서 저장된 속도 라벨만 다음 스텝 값이었다</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wanghg1992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930,476 파라미터이고 PPO 옵티마이저가 VAE 446,227개를 함께 갱신한다. 복원 손실의 기울기는 속도 헤드에 0.0이다. 설정대로 만든 지형 100타일이 모두 ±5 cm 요철이고, SciPy 1.15.3에서는 지형 생성이 NotImplementedError로 멈춘다</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walk-these-ways-go2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추정기 571,010, actor 1,242,508, critic 1,241,089 파라미터. 정책 손실의 기울기가 추정기에 닿고, 적응 학습률은 PPO 학습률만 바꾼다. </a:t>
                      </a:r>
                      <a:r>
                        <a:rPr sz="800" b="0" i="0">
                          <a:solidFill>
                            <a:srgbClr val="16213A"/>
                          </a:solidFill>
                          <a:latin typeface="Consolas"/>
                          <a:ea typeface="Malgun Gothic"/>
                          <a:cs typeface="Malgun Gothic"/>
                        </a:rPr>
                        <a:t>scripts/tmp</a:t>
                      </a:r>
                      <a:r>
                        <a:rPr sz="800" b="0" i="0">
                          <a:solidFill>
                            <a:srgbClr val="16213A"/>
                          </a:solidFill>
                          <a:latin typeface="Arial"/>
                          <a:ea typeface="Malgun Gothic"/>
                          <a:cs typeface="Malgun Gothic"/>
                        </a:rPr>
                        <a:t> 가중치는 초기화 분포 그대로다(첫 층 표준편차 0.0128 대 기본 초기화 0.0126)</a:t>
                      </a:r>
                    </a:p>
                  </a:txBody>
                  <a:tcPr marL="63500" marR="63500" marT="12700" marB="12700">
                    <a:solidFill>
                      <a:srgbClr val="F3F0E8"/>
                    </a:solidFill>
                  </a:tcPr>
                </a:tc>
              </a:tr>
            </a:tbl>
          </a:graphicData>
        </a:graphic>
      </p:graphicFrame>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작업 기록 · E.15 DreamWaQ 비공식 구현 넷 — 작동하는 문맥 z는 없었고, 바퀴-다리 M20 정책은 z 없이도 계단을 오른다 (TP-0155)</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정직하게 적어 둘 것</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164 / 183</a:t>
            </a:r>
          </a:p>
        </p:txBody>
      </p:sp>
      <p:sp>
        <p:nvSpPr>
          <p:cNvPr id="5" name="TextBox 4"/>
          <p:cNvSpPr txBox="1"/>
          <p:nvPr/>
        </p:nvSpPr>
        <p:spPr>
          <a:xfrm>
            <a:off x="609600" y="1244600"/>
            <a:ext cx="10972800" cy="2100858"/>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C2410C"/>
                </a:solidFill>
                <a:latin typeface="Arial"/>
                <a:ea typeface="Malgun Gothic"/>
                <a:cs typeface="Malgun Gothic"/>
              </a:rPr>
              <a:t>학습은 하지 않았다.</a:t>
            </a:r>
            <a:r>
              <a:rPr sz="1050" b="0" i="0">
                <a:solidFill>
                  <a:srgbClr val="16213A"/>
                </a:solidFill>
                <a:latin typeface="Arial"/>
                <a:ea typeface="Malgun Gothic"/>
                <a:cs typeface="Malgun Gothic"/>
              </a:rPr>
              <a:t> Isaac Gym이 설치되어 있지 않다. 학습 동역학에 대한 주장(KL 추이, 학습률 하한)은 동봉 TensorBoard 기록, 정적 분석, 초기화 상태의 측정에 근거한다.</a:t>
            </a:r>
          </a:p>
          <a:p>
            <a:pPr>
              <a:spcBef>
                <a:spcPts val="200"/>
              </a:spcBef>
            </a:pPr>
            <a:r>
              <a:rPr sz="1050" b="0" i="0">
                <a:solidFill>
                  <a:srgbClr val="5A6478"/>
                </a:solidFill>
                <a:latin typeface="Arial"/>
                <a:ea typeface="Malgun Gothic"/>
                <a:cs typeface="Malgun Gothic"/>
              </a:rPr>
              <a:t>2. </a:t>
            </a:r>
            <a:r>
              <a:rPr sz="1050" b="0" i="0">
                <a:solidFill>
                  <a:srgbClr val="16213A"/>
                </a:solidFill>
                <a:latin typeface="Arial"/>
                <a:ea typeface="Malgun Gothic"/>
                <a:cs typeface="Malgun Gothic"/>
              </a:rPr>
              <a:t>MuJoCo는 이 정책들을 학습한 시뮬레이터가 아니다(Isaac Gym, PhysX). sim2sim 수치는 다른 물리 엔진에서의 거동이고 실물 성능을 말하지 않는다. M20의 MJCF는 저장소 것이지만 URDF와 다르다. 다리 관절 12개의 범위 부호가 뒤집혀 있고 링크 질량도 다르다.</a:t>
            </a:r>
          </a:p>
          <a:p>
            <a:pPr>
              <a:spcBef>
                <a:spcPts val="200"/>
              </a:spcBef>
            </a:pPr>
            <a:r>
              <a:rPr sz="1050" b="0" i="0">
                <a:solidFill>
                  <a:srgbClr val="5A6478"/>
                </a:solidFill>
                <a:latin typeface="Arial"/>
                <a:ea typeface="Malgun Gothic"/>
                <a:cs typeface="Malgun Gothic"/>
              </a:rPr>
              <a:t>3. </a:t>
            </a:r>
            <a:r>
              <a:rPr sz="1050" b="0" i="0">
                <a:solidFill>
                  <a:srgbClr val="16213A"/>
                </a:solidFill>
                <a:latin typeface="Arial"/>
                <a:ea typeface="Malgun Gothic"/>
                <a:cs typeface="Malgun Gothic"/>
              </a:rPr>
              <a:t>MuJoCo 수치는 장면마다 seed 하나다. ONNX 표본 경로만 seed 0–2를 돌렸다.</a:t>
            </a:r>
          </a:p>
          <a:p>
            <a:pPr>
              <a:spcBef>
                <a:spcPts val="200"/>
              </a:spcBef>
            </a:pPr>
            <a:r>
              <a:rPr sz="1050" b="0" i="0">
                <a:solidFill>
                  <a:srgbClr val="5A6478"/>
                </a:solidFill>
                <a:latin typeface="Arial"/>
                <a:ea typeface="Malgun Gothic"/>
                <a:cs typeface="Malgun Gothic"/>
              </a:rPr>
              <a:t>4. </a:t>
            </a:r>
            <a:r>
              <a:rPr sz="1050" b="0" i="0">
                <a:solidFill>
                  <a:srgbClr val="16213A"/>
                </a:solidFill>
                <a:latin typeface="Arial"/>
                <a:ea typeface="Malgun Gothic"/>
                <a:cs typeface="Malgun Gothic"/>
              </a:rPr>
              <a:t>Walk These Ways 하네스는 직접 만들었다. 저장소에 sim2sim이 없다(이슈 #26). Menagerie Go2의 관절 감쇠 2.0과 frictionloss 0.2가 실물 Go2에 가까운지는 확인하지 못했다. 그래서 '약 40%'를 실물의 추종률로 읽을 수 없다.</a:t>
            </a:r>
          </a:p>
          <a:p>
            <a:pPr>
              <a:spcBef>
                <a:spcPts val="200"/>
              </a:spcBef>
            </a:pPr>
            <a:r>
              <a:rPr sz="1050" b="0" i="0">
                <a:solidFill>
                  <a:srgbClr val="5A6478"/>
                </a:solidFill>
                <a:latin typeface="Arial"/>
                <a:ea typeface="Malgun Gothic"/>
                <a:cs typeface="Malgun Gothic"/>
              </a:rPr>
              <a:t>5. </a:t>
            </a:r>
            <a:r>
              <a:rPr sz="1050" b="0" i="0">
                <a:solidFill>
                  <a:srgbClr val="16213A"/>
                </a:solidFill>
                <a:latin typeface="Arial"/>
                <a:ea typeface="Malgun Gothic"/>
                <a:cs typeface="Malgun Gothic"/>
              </a:rPr>
              <a:t>제3자 수치(1sznkaveesh/DreamWaQ, Isaac Lab 이식본의 주석과 README, 저장소 이슈의 실물 거동)는 보고이고 재현하지 않았다.</a:t>
            </a:r>
          </a:p>
          <a:p>
            <a:pPr>
              <a:spcBef>
                <a:spcPts val="200"/>
              </a:spcBef>
            </a:pPr>
            <a:r>
              <a:rPr sz="1050" b="0" i="0">
                <a:solidFill>
                  <a:srgbClr val="5A6478"/>
                </a:solidFill>
                <a:latin typeface="Arial"/>
                <a:ea typeface="Malgun Gothic"/>
                <a:cs typeface="Malgun Gothic"/>
              </a:rPr>
              <a:t>6. </a:t>
            </a:r>
            <a:r>
              <a:rPr sz="1050" b="0" i="0">
                <a:solidFill>
                  <a:srgbClr val="16213A"/>
                </a:solidFill>
                <a:latin typeface="Arial"/>
                <a:ea typeface="Malgun Gothic"/>
                <a:cs typeface="Malgun Gothic"/>
              </a:rPr>
              <a:t>라이선스 때문에 제3자 코드와 가중치를 travplan에 커밋하지 않았다. yusongmin1과 wanghg1992에는 라이선스가 없고, go2_dreamwaq는 폴더마다 다르다.</a:t>
            </a:r>
          </a:p>
          <a:p>
            <a:pPr>
              <a:spcBef>
                <a:spcPts val="200"/>
              </a:spcBef>
            </a:pPr>
            <a:r>
              <a:rPr sz="1050" b="0" i="0">
                <a:solidFill>
                  <a:srgbClr val="5A6478"/>
                </a:solidFill>
                <a:latin typeface="Arial"/>
                <a:ea typeface="Malgun Gothic"/>
                <a:cs typeface="Malgun Gothic"/>
              </a:rPr>
              <a:t>7. </a:t>
            </a:r>
            <a:r>
              <a:rPr sz="1050" b="0" i="0">
                <a:solidFill>
                  <a:srgbClr val="16213A"/>
                </a:solidFill>
                <a:latin typeface="Arial"/>
                <a:ea typeface="Malgun Gothic"/>
                <a:cs typeface="Malgun Gothic"/>
              </a:rPr>
              <a:t>감쇠 분기가 실물에서 어떻게 동작하는지는 명령이 끊겼을 때 Go2 펌웨어가 무엇을 하는지에 달렸다. 실물이 없어 확인하지 못했다.</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작업 기록 · E.15 DreamWaQ 비공식 구현 넷 — 작동하는 문맥 z는 없었고, 바퀴-다리 M20 정책은 z 없이도 계단을 오른다 (TP-0155)</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재현</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165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하네스와 점검 스크립트는 travplan 저장소에 넣지 않았다. 라이선스가 없는 저장소의 코드와 가중치를 불러 쓰기 때문이다. 다시 하려면 아래 설정으로 같은 하네스를 만든다. 대상 커밋은 go2_dreamwaq 8f287e4, walk-these-ways-go2 d003207, yusongmin1 27ef380, wanghg1992 a27fd94다.</a:t>
            </a:r>
          </a:p>
        </p:txBody>
      </p:sp>
      <p:sp>
        <p:nvSpPr>
          <p:cNvPr id="6" name="TextBox 5"/>
          <p:cNvSpPr txBox="1"/>
          <p:nvPr/>
        </p:nvSpPr>
        <p:spPr>
          <a:xfrm>
            <a:off x="609600" y="1766491"/>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M20(yusongmin1).</a:t>
            </a:r>
            <a:r>
              <a:rPr sz="1050" b="0" i="0">
                <a:solidFill>
                  <a:srgbClr val="16213A"/>
                </a:solidFill>
                <a:latin typeface="Arial"/>
                <a:ea typeface="Malgun Gothic"/>
                <a:cs typeface="Malgun Gothic"/>
              </a:rPr>
              <a:t> 저장소의 M20 MJCF와 계단 장면(위 표의 계단, 25–55 cm 상자 7개)을 쓰고, 평지 시험은 바닥만 남긴 장면을 쓴다. 물리는 5 ms, 정책은 50 Hz다. PD는 학습과 같다(다리 Kp 80·Kd 2와 위치 배율 0.25, 바퀴 Kd 0.6과 속도 배율 5). 관측은 57차원 6프레임(342차원)이다. 배포 스크립트처럼 관절각 0, 높이 1 m에서 떨어뜨리며 시작하고, 첫 네 서브스텝은 관절 상태 0으로 PD를 돈다. ONNX(onnxruntime CPU)의 표본 경로와 체크포인트의 평균 경로를 둘 다 돌린다. 절제는 평균 정책에서 z나 속도 입력만 바꾸고, 마찰 시험은 바닥 마찰을 0.3과 0.2로, 밀기 시험은 4 s에 측면 0.8 m/s를 더한다.</a:t>
            </a:r>
          </a:p>
        </p:txBody>
      </p:sp>
      <p:sp>
        <p:nvSpPr>
          <p:cNvPr id="7" name="TextBox 6"/>
          <p:cNvSpPr txBox="1"/>
          <p:nvPr/>
        </p:nvSpPr>
        <p:spPr>
          <a:xfrm>
            <a:off x="609600" y="2721372"/>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Walk These Ways Go2.</a:t>
            </a:r>
            <a:r>
              <a:rPr sz="1050" b="0" i="0">
                <a:solidFill>
                  <a:srgbClr val="16213A"/>
                </a:solidFill>
                <a:latin typeface="Arial"/>
                <a:ea typeface="Malgun Gothic"/>
                <a:cs typeface="Malgun Gothic"/>
              </a:rPr>
              <a:t> mujoco_menagerie의 unitree_go2(커밋 f054586a)와 MuJoCo 3.14를 쓴다. 물리 1 kHz, 관절 PD Kp 20·Kd 0.5(실물 배포가 보내는 이득)를 ctrlrange로 자르고, 정책은 50 Hz다. 관측은 70차원과 30스텝 이력을 다시 만들고, 걸음 시계는 Walk These Ways의 식(주파수와 위상 셋)을 따른다. 관절은 이름으로 짝짓는다. 학습처럼 0.2 m/s 이하 명령은 0으로 둔다. 1 s 정지 뒤 10 s 명령을 주고 마지막 5 s를 평균한다. 감쇠와 frictionloss는 MJCF의 관절 기본값을 바꿔 시험한다. 실물 로그 재생은 저장소의 logs/example_experiment 아래 log.pkl을 runs/pretrain-go2의 두 TorchScript에 넣어 기록된 latent·행동과 비교한다.</a:t>
            </a:r>
          </a:p>
        </p:txBody>
      </p:sp>
      <p:sp>
        <p:nvSpPr>
          <p:cNvPr id="8" name="TextBox 7"/>
          <p:cNvSpPr txBox="1"/>
          <p:nvPr/>
        </p:nvSpPr>
        <p:spPr>
          <a:xfrm>
            <a:off x="609600" y="367625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CPU 점검.</a:t>
            </a:r>
            <a:r>
              <a:rPr sz="1050" b="0" i="0">
                <a:solidFill>
                  <a:srgbClr val="16213A"/>
                </a:solidFill>
                <a:latin typeface="Arial"/>
                <a:ea typeface="Malgun Gothic"/>
                <a:cs typeface="Malgun Gothic"/>
              </a:rPr>
              <a:t> 각 저장소 모듈을 Isaac Gym 스텁과 함께 import한다(PyTorch CPU). PPO 재표집 측정은 가중치를 고정하고 배치 4,096에서 표본만 다시 뽑아 확률 비율과 KL을 잰다.</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작업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E.14 Playground의 MPOT Planner — Dijkstra와 같은 도달률, 매끄러운 경로, 국소 최솟값 하나 (TP-0136)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166 / 183</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MPOT의 Sinkhorn Step(E.11)을 브라우저에 옮겨 </a:t>
            </a:r>
            <a:r>
              <a:rPr sz="1050" b="1" i="0">
                <a:solidFill>
                  <a:srgbClr val="C2410C"/>
                </a:solidFill>
                <a:latin typeface="Arial"/>
                <a:ea typeface="Malgun Gothic"/>
                <a:cs typeface="Malgun Gothic"/>
              </a:rPr>
              <a:t>Planner</a:t>
            </a:r>
            <a:r>
              <a:rPr sz="1050" b="1" i="0">
                <a:solidFill>
                  <a:srgbClr val="C2410C"/>
                </a:solidFill>
                <a:latin typeface="Arial"/>
                <a:ea typeface="Malgun Gothic"/>
                <a:cs typeface="Malgun Gothic"/>
              </a:rPr>
              <a:t> 자리에 놓았다.</a:t>
            </a:r>
            <a:r>
              <a:rPr sz="1050" b="0" i="0">
                <a:solidFill>
                  <a:srgbClr val="16213A"/>
                </a:solidFill>
                <a:latin typeface="Arial"/>
                <a:ea typeface="Malgun Gothic"/>
                <a:cs typeface="Malgun Gothic"/>
              </a:rPr>
              <a:t> 경로 16개를 함께 옮겨 가장 싼 것을 고른다. 기본 인식에서 Dijkstra(Guidance)와 같은 20/20이다. 연석 레벨 2에서는 경로가 매끄러워 더 빨리 도착한다. 레벨 3의 좁은 경사로(1.1 m)에서는 국소 최솟값에 갇혀 한 번(seed 0) 시간 초과가 났다. TP-0130이 Controller 자리에서 "같은 예산의 MPPI를 넘지 못한다"고 본 것과 다른 질문이다. 전역 경로에서는 OT 최적화가 Dijkstra와 비슷하게 돌고, 국소성의 대가가 보인다.</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작업 기록 · E.14 Playground의 MPOT Planner — Dijkstra와 같은 도달률, 매끄러운 경로, 국소 최솟값 하나 (TP-0136)</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무엇을 만들었나(docs/playground/js/mpot.js)</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167 / 183</a:t>
            </a:r>
          </a:p>
        </p:txBody>
      </p:sp>
      <p:graphicFrame>
        <p:nvGraphicFramePr>
          <p:cNvPr id="5" name="Table 4"/>
          <p:cNvGraphicFramePr>
            <a:graphicFrameLocks noGrp="1"/>
          </p:cNvGraphicFramePr>
          <p:nvPr/>
        </p:nvGraphicFramePr>
        <p:xfrm>
          <a:off x="609600" y="1244600"/>
          <a:ext cx="10966450" cy="1576704"/>
        </p:xfrm>
        <a:graphic>
          <a:graphicData uri="http://schemas.openxmlformats.org/drawingml/2006/table">
            <a:tbl>
              <a:tblPr firstRow="1" bandRow="1">
                <a:tableStyleId>{5C22544A-7EE6-4342-B048-85BDC9FD1C3A}</a:tableStyleId>
              </a:tblPr>
              <a:tblGrid>
                <a:gridCol w="550466"/>
                <a:gridCol w="5376168"/>
                <a:gridCol w="5039816"/>
              </a:tblGrid>
              <a:tr h="197088">
                <a:tc>
                  <a:txBody>
                    <a:bodyPr wrap="square"/>
                    <a:lstStyle/>
                    <a:p>
                      <a:r>
                        <a:rPr sz="800" b="1" i="0">
                          <a:solidFill>
                            <a:srgbClr val="F4F1EA"/>
                          </a:solidFill>
                          <a:latin typeface="Arial"/>
                          <a:ea typeface="Malgun Gothic"/>
                          <a:cs typeface="Malgun Gothic"/>
                        </a:rPr>
                        <a:t>단계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원본(</a:t>
                      </a:r>
                      <a:r>
                        <a:rPr sz="800" b="1" i="0">
                          <a:solidFill>
                            <a:srgbClr val="F4F1EA"/>
                          </a:solidFill>
                          <a:latin typeface="Consolas"/>
                          <a:ea typeface="Malgun Gothic"/>
                          <a:cs typeface="Malgun Gothic"/>
                        </a:rPr>
                        <a:t>mpot/ot/sinkhorn_step.py</a:t>
                      </a:r>
                      <a:r>
                        <a:rPr sz="800" b="1" i="0">
                          <a:solidFill>
                            <a:srgbClr val="F4F1EA"/>
                          </a:solidFill>
                          <a:latin typeface="Arial"/>
                          <a:ea typeface="Malgun Gothic"/>
                          <a:cs typeface="Malgun Gothic"/>
                        </a:rPr>
                        <a:t>)</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여기</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상태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웨이포인트의 위치·속도(4D), GP 등속 prior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위치(2D), 이웃과의 2차 차분 + 길이</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방향</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무작위 회전한 정다면체 꼭짓점(cube·orthoplex·simplex)</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무작위 회전한 orthoplex(직교 4방향)</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비용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probe 점의 충돌·GP 비용 평균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probe 5개의 칸 가중치(1 + 4·cost + 0.5·σ, 치명 20) + 매끄러움 평균</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OT</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scale_cost_matrix</a:t>
                      </a:r>
                      <a:r>
                        <a:rPr sz="800" b="0" i="0">
                          <a:solidFill>
                            <a:srgbClr val="16213A"/>
                          </a:solidFill>
                          <a:latin typeface="Arial"/>
                          <a:ea typeface="Malgun Gothic"/>
                          <a:cs typeface="Malgun Gothic"/>
                        </a:rPr>
                        <a:t> 뒤 균등 주변분포 엔트로피 OT(ε ≈ 0.01), Sinkhorn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같다(로그 영역, 25회)</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갱신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barycentric projection, 시작·목표 고정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같다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반경</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step_radius</a:t>
                      </a:r>
                      <a:r>
                        <a:rPr sz="800" b="0" i="0">
                          <a:solidFill>
                            <a:srgbClr val="16213A"/>
                          </a:solidFill>
                          <a:latin typeface="Arial"/>
                          <a:ea typeface="Malgun Gothic"/>
                          <a:cs typeface="Malgun Gothic"/>
                        </a:rPr>
                        <a:t>·</a:t>
                      </a:r>
                      <a:r>
                        <a:rPr sz="800" b="0" i="0">
                          <a:solidFill>
                            <a:srgbClr val="16213A"/>
                          </a:solidFill>
                          <a:latin typeface="Consolas"/>
                          <a:ea typeface="Malgun Gothic"/>
                          <a:cs typeface="Malgun Gothic"/>
                        </a:rPr>
                        <a:t>probe_radius</a:t>
                      </a:r>
                      <a:r>
                        <a:rPr sz="800" b="0" i="0">
                          <a:solidFill>
                            <a:srgbClr val="16213A"/>
                          </a:solidFill>
                          <a:latin typeface="Arial"/>
                          <a:ea typeface="Malgun Gothic"/>
                          <a:cs typeface="Malgun Gothic"/>
                        </a:rPr>
                        <a:t>에 (1 − ε) 일정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0.3·0.6 m에서 반복마다 3%씩 줄인다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입자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목표당 33개, 웨이포인트 64개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16개, 40개. 재계획은 이전 입자에서 20회</a:t>
                      </a:r>
                    </a:p>
                  </a:txBody>
                  <a:tcPr marL="63500" marR="63500" marT="12700" marB="12700">
                    <a:solidFill>
                      <a:srgbClr val="FFFDF8"/>
                    </a:solidFill>
                  </a:tcPr>
                </a:tc>
              </a:tr>
            </a:tbl>
          </a:graphicData>
        </a:graphic>
      </p:graphicFrame>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작업 기록 · E.14 Playground의 MPOT Planner — Dijkstra와 같은 도달률, 매끄러운 경로, 국소 최솟값 하나 (TP-0136)</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결과(Playground, 스워브 + MPPI)</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168 / 183</a:t>
            </a:r>
          </a:p>
        </p:txBody>
      </p:sp>
      <p:graphicFrame>
        <p:nvGraphicFramePr>
          <p:cNvPr id="5" name="Table 4"/>
          <p:cNvGraphicFramePr>
            <a:graphicFrameLocks noGrp="1"/>
          </p:cNvGraphicFramePr>
          <p:nvPr/>
        </p:nvGraphicFramePr>
        <p:xfrm>
          <a:off x="609600" y="1244600"/>
          <a:ext cx="10966449" cy="1182528"/>
        </p:xfrm>
        <a:graphic>
          <a:graphicData uri="http://schemas.openxmlformats.org/drawingml/2006/table">
            <a:tbl>
              <a:tblPr firstRow="1" bandRow="1">
                <a:tableStyleId>{5C22544A-7EE6-4342-B048-85BDC9FD1C3A}</a:tableStyleId>
              </a:tblPr>
              <a:tblGrid>
                <a:gridCol w="5442148"/>
                <a:gridCol w="2456259"/>
                <a:gridCol w="3068042"/>
              </a:tblGrid>
              <a:tr h="197088">
                <a:tc>
                  <a:txBody>
                    <a:bodyPr wrap="square"/>
                    <a:lstStyle/>
                    <a:p>
                      <a:r>
                        <a:rPr sz="800" b="1" i="0">
                          <a:solidFill>
                            <a:srgbClr val="F4F1EA"/>
                          </a:solidFill>
                          <a:latin typeface="Arial"/>
                          <a:ea typeface="Malgun Gothic"/>
                          <a:cs typeface="Malgun Gothic"/>
                        </a:rPr>
                        <a:t>설정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Guidance</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MPOT</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원형 시야, 6 지형 × seed 0–1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12/12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기본 인식(가림 + 상한 + prior), 4 지형 × seed 0–4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20/20</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curb_ramp 레벨 2, seed 0–2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24.1 · 24.0 · 22.2 s</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21.9 · 17.2 · 16.7 s</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curb_ramp 레벨 3, seed 0–2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27.6 · 28.0 · 24.3 s</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시간 초과</a:t>
                      </a:r>
                      <a:r>
                        <a:rPr sz="800" b="0" i="0">
                          <a:solidFill>
                            <a:srgbClr val="16213A"/>
                          </a:solidFill>
                          <a:latin typeface="Arial"/>
                          <a:ea typeface="Malgun Gothic"/>
                          <a:cs typeface="Malgun Gothic"/>
                        </a:rPr>
                        <a:t> · 28.8 · 25.7 s</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계획 시간(데스크톱)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5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처음 83 ms, 재계획 26 ms</a:t>
                      </a:r>
                    </a:p>
                  </a:txBody>
                  <a:tcPr marL="63500" marR="63500" marT="12700" marB="12700">
                    <a:solidFill>
                      <a:srgbClr val="FFFDF8"/>
                    </a:solidFill>
                  </a:tcPr>
                </a:tc>
              </a:tr>
            </a:tbl>
          </a:graphicData>
        </a:graphic>
      </p:graphicFrame>
      <p:sp>
        <p:nvSpPr>
          <p:cNvPr id="6" name="TextBox 5"/>
          <p:cNvSpPr txBox="1"/>
          <p:nvPr/>
        </p:nvSpPr>
        <p:spPr>
          <a:xfrm>
            <a:off x="609600" y="2818011"/>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레벨 3 seed 0에서는 이렇게 갇혔다. 입자는 아직 못 본 칸(cost 0.5)을 지나 목표로 곧게 간다. 연석이 보이면 연석 앞에 모이고, 경사로 쪽으로 넘어갈 비용 언덕을 넘지 못한다. Dijkstra는 같은 지도에서 전역 최단을 내므로 경사로를 찾는다. </a:t>
            </a:r>
            <a:r>
              <a:rPr sz="1050" b="1" i="0">
                <a:solidFill>
                  <a:srgbClr val="C2410C"/>
                </a:solidFill>
                <a:latin typeface="Arial"/>
                <a:ea typeface="Malgun Gothic"/>
                <a:cs typeface="Malgun Gothic"/>
              </a:rPr>
              <a:t>균등 주변분포의 OT는 걸음 방향을 고르게 쓰게 할 뿐, 입자가 닿는 범위는 시작 굽힘(진폭 1.2 m)과 걸음 반경이 정한다.</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작업 기록 · E.14 Playground의 MPOT Planner — Dijkstra와 같은 도달률, 매끄러운 경로, 국소 최솟값 하나 (TP-0136)</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정직하게 적어 둘 것</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169 / 183</a:t>
            </a:r>
          </a:p>
        </p:txBody>
      </p:sp>
      <p:sp>
        <p:nvSpPr>
          <p:cNvPr id="5" name="TextBox 4"/>
          <p:cNvSpPr txBox="1"/>
          <p:nvPr/>
        </p:nvSpPr>
        <p:spPr>
          <a:xfrm>
            <a:off x="609600" y="1244600"/>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상태에 속도가 없어 원본의 GP prior와 다르다. 매끄러움은 2차 차분으로만 준다.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반경 감쇠, 입자·웨이포인트 수, 비용 가중치는 이 페이지에 맞춘 값이다. 원본의 하이퍼파라미터를 그대로 쓰지 않았다.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파이썬 벤치마크에는 넣지 않았다. 결과는 JS 재구성 지형에서 낸 것이다.</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작업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E.13 Playground 휴머노이드와 GR00T 분리형 WBC — 위에 앉은 MPPI는 하체 지연을 알아야 한다 (TP-0135)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170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Playground에 G1급 휴머노이드를 넣었다. 걷기는 GR00T 분리형 WBC(F.8)의 닫힌 루프 거동을 본뜬다.</a:t>
            </a:r>
            <a:r>
              <a:rPr sz="1050" b="0" i="0">
                <a:solidFill>
                  <a:srgbClr val="16213A"/>
                </a:solidFill>
                <a:latin typeface="Arial"/>
                <a:ea typeface="Malgun Gothic"/>
                <a:cs typeface="Malgun Gothic"/>
              </a:rPr>
              <a:t> 그 위의 MPPI가 하체의 추종 지연을 모르면 예측과 실제가 어긋나 포트홀 둘레로 들어간다. 롤아웃에 같은 지연과 서기 전환을 넣으면 시나리오 5개 × seed 10번 주행이 6번 → </a:t>
            </a:r>
            <a:r>
              <a:rPr sz="1050" b="1" i="0">
                <a:solidFill>
                  <a:srgbClr val="16213A"/>
                </a:solidFill>
                <a:latin typeface="Arial"/>
                <a:ea typeface="Malgun Gothic"/>
                <a:cs typeface="Malgun Gothic"/>
              </a:rPr>
              <a:t>10번</a:t>
            </a:r>
            <a:r>
              <a:rPr sz="1050" b="0" i="0">
                <a:solidFill>
                  <a:srgbClr val="16213A"/>
                </a:solidFill>
                <a:latin typeface="Arial"/>
                <a:ea typeface="Malgun Gothic"/>
                <a:cs typeface="Malgun Gothic"/>
              </a:rPr>
              <a:t> 도달로 바뀐다.</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작업 기록 · E.13 Playground 휴머노이드와 GR00T 분리형 WBC — 위에 앉은 MPPI는 하체 지연을 알아야 한다 (TP-0135)</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무엇을 만들었나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171 / 183</a:t>
            </a:r>
          </a:p>
        </p:txBody>
      </p:sp>
      <p:sp>
        <p:nvSpPr>
          <p:cNvPr id="5" name="TextBox 4"/>
          <p:cNvSpPr txBox="1"/>
          <p:nvPr/>
        </p:nvSpPr>
        <p:spPr>
          <a:xfrm>
            <a:off x="609600" y="1244600"/>
            <a:ext cx="10972800" cy="2851944"/>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휴머노이드(</a:t>
            </a:r>
            <a:r>
              <a:rPr sz="1050" b="1" i="0">
                <a:solidFill>
                  <a:srgbClr val="16213A"/>
                </a:solidFill>
                <a:latin typeface="Consolas"/>
                <a:ea typeface="Malgun Gothic"/>
                <a:cs typeface="Malgun Gothic"/>
              </a:rPr>
              <a:t>docs/playground/js/robots.js</a:t>
            </a:r>
            <a:r>
              <a:rPr sz="1050" b="1" i="0">
                <a:solidFill>
                  <a:srgbClr val="16213A"/>
                </a:solidFill>
                <a:latin typeface="Arial"/>
                <a:ea typeface="Malgun Gothic"/>
                <a:cs typeface="Malgun Gothic"/>
              </a:rPr>
              <a:t>).</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명령 한계 0.5 m/s·0.5 rad/s, 걸음 1.5 Hz, 골반 0.74 m(이상 GR00T 기본값).</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턱 15 cm·경사 20°(대표값), 시간 한계 90 s.</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몸통은 곧게 선다. 머리 센서는 지형 기울기가 아니라 걸음새 흔들림만 탄다(</a:t>
            </a:r>
            <a:r>
              <a:rPr sz="1050" b="0" i="0">
                <a:solidFill>
                  <a:srgbClr val="16213A"/>
                </a:solidFill>
                <a:latin typeface="Consolas"/>
                <a:ea typeface="Malgun Gothic"/>
                <a:cs typeface="Malgun Gothic"/>
              </a:rPr>
              <a:t>rpy_cmd = 0</a:t>
            </a:r>
            <a:r>
              <a:rPr sz="1050" b="0" i="0">
                <a:solidFill>
                  <a:srgbClr val="16213A"/>
                </a:solidFill>
                <a:latin typeface="Arial"/>
                <a:ea typeface="Malgun Gothic"/>
                <a:cs typeface="Malgun Gothic"/>
              </a:rPr>
              <a:t>).</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하체 정책 근사(</a:t>
            </a:r>
            <a:r>
              <a:rPr sz="1050" b="1" i="0">
                <a:solidFill>
                  <a:srgbClr val="16213A"/>
                </a:solidFill>
                <a:latin typeface="Consolas"/>
                <a:ea typeface="Malgun Gothic"/>
                <a:cs typeface="Malgun Gothic"/>
              </a:rPr>
              <a:t>wbcTrack</a:t>
            </a:r>
            <a:r>
              <a:rPr sz="1050" b="1" i="0">
                <a:solidFill>
                  <a:srgbClr val="16213A"/>
                </a:solidFill>
                <a:latin typeface="Arial"/>
                <a:ea typeface="Malgun Gothic"/>
                <a:cs typeface="Malgun Gothic"/>
              </a:rPr>
              <a:t>).</a:t>
            </a:r>
            <a:r>
              <a:rPr sz="1050" b="0" i="0">
                <a:solidFill>
                  <a:srgbClr val="16213A"/>
                </a:solidFill>
                <a:latin typeface="Arial"/>
                <a:ea typeface="Malgun Gothic"/>
                <a:cs typeface="Malgun Gothic"/>
              </a:rPr>
              <a:t> 명령 크기 &lt; 0.05면 서기, 아니면 1차 지연(시정수 0.4 s, </a:t>
            </a:r>
            <a:r>
              <a:rPr sz="1050" b="1" i="0">
                <a:solidFill>
                  <a:srgbClr val="16213A"/>
                </a:solidFill>
                <a:latin typeface="Arial"/>
                <a:ea typeface="Malgun Gothic"/>
                <a:cs typeface="Malgun Gothic"/>
              </a:rPr>
              <a:t>가정</a:t>
            </a:r>
            <a:r>
              <a:rPr sz="1050" b="0" i="0">
                <a:solidFill>
                  <a:srgbClr val="16213A"/>
                </a:solidFill>
                <a:latin typeface="Arial"/>
                <a:ea typeface="Malgun Gothic"/>
                <a:cs typeface="Malgun Gothic"/>
              </a:rPr>
              <a:t>)으로 명령을 따른다. 서 있는 동안 걸음 시계도 멈춘다.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발 디딤(</a:t>
            </a:r>
            <a:r>
              <a:rPr sz="1050" b="1" i="0">
                <a:solidFill>
                  <a:srgbClr val="16213A"/>
                </a:solidFill>
                <a:latin typeface="Consolas"/>
                <a:ea typeface="Malgun Gothic"/>
                <a:cs typeface="Malgun Gothic"/>
              </a:rPr>
              <a:t>footTouchdowns</a:t>
            </a:r>
            <a:r>
              <a:rPr sz="1050" b="1" i="0">
                <a:solidFill>
                  <a:srgbClr val="16213A"/>
                </a:solidFill>
                <a:latin typeface="Arial"/>
                <a:ea typeface="Malgun Gothic"/>
                <a:cs typeface="Malgun Gothic"/>
              </a:rPr>
              <a:t>).</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걸음 시계가 반 주기를 넘을 때 발이 닿는다. 위치는 엉덩이 + Raibert 보정이다.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디딘 칸이 경사 30° 또는 턱 한계를 넘으면 '나쁜 디딤'으로 센다. 사족 보행은 트롯 대각선 쌍으로 같은 기록을 남긴다.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실패 판정은 바꾸지 않았다.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머리 LiDAR.</a:t>
            </a:r>
            <a:r>
              <a:rPr sz="1050" b="0" i="0">
                <a:solidFill>
                  <a:srgbClr val="16213A"/>
                </a:solidFill>
                <a:latin typeface="Arial"/>
                <a:ea typeface="Malgun Gothic"/>
                <a:cs typeface="Malgun Gothic"/>
              </a:rPr>
              <a:t> G1은 Livox MID-360(수직 −7°~+52°)을 머리에 뒤집어 단다. 그래서 L1 간이의 수직 시야를 −52°~+7°, 높이 1.2 m로 뒀다.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WBC를 아는 MPPI(</a:t>
            </a:r>
            <a:r>
              <a:rPr sz="1050" b="1" i="0">
                <a:solidFill>
                  <a:srgbClr val="16213A"/>
                </a:solidFill>
                <a:latin typeface="Consolas"/>
                <a:ea typeface="Malgun Gothic"/>
                <a:cs typeface="Malgun Gothic"/>
              </a:rPr>
              <a:t>control.js</a:t>
            </a:r>
            <a:r>
              <a:rPr sz="1050" b="1" i="0">
                <a:solidFill>
                  <a:srgbClr val="16213A"/>
                </a:solidFill>
                <a:latin typeface="Arial"/>
                <a:ea typeface="Malgun Gothic"/>
                <a:cs typeface="Malgun Gothic"/>
              </a:rPr>
              <a:t>의 </a:t>
            </a:r>
            <a:r>
              <a:rPr sz="1050" b="1" i="0">
                <a:solidFill>
                  <a:srgbClr val="16213A"/>
                </a:solidFill>
                <a:latin typeface="Consolas"/>
                <a:ea typeface="Malgun Gothic"/>
                <a:cs typeface="Malgun Gothic"/>
              </a:rPr>
              <a:t>lag</a:t>
            </a:r>
            <a:r>
              <a:rPr sz="1050" b="1" i="0">
                <a:solidFill>
                  <a:srgbClr val="16213A"/>
                </a:solidFill>
                <a:latin typeface="Arial"/>
                <a:ea typeface="Malgun Gothic"/>
                <a:cs typeface="Malgun Gothic"/>
              </a:rPr>
              <a:t>·</a:t>
            </a:r>
            <a:r>
              <a:rPr sz="1050" b="1" i="0">
                <a:solidFill>
                  <a:srgbClr val="16213A"/>
                </a:solidFill>
                <a:latin typeface="Consolas"/>
                <a:ea typeface="Malgun Gothic"/>
                <a:cs typeface="Malgun Gothic"/>
              </a:rPr>
              <a:t>lagStand</a:t>
            </a:r>
            <a:r>
              <a:rPr sz="1050" b="1" i="0">
                <a:solidFill>
                  <a:srgbClr val="16213A"/>
                </a:solidFill>
                <a:latin typeface="Arial"/>
                <a:ea typeface="Malgun Gothic"/>
                <a:cs typeface="Malgun Gothic"/>
              </a:rPr>
              <a:t>).</a:t>
            </a:r>
            <a:r>
              <a:rPr sz="1050" b="0" i="0">
                <a:solidFill>
                  <a:srgbClr val="16213A"/>
                </a:solidFill>
                <a:latin typeface="Arial"/>
                <a:ea typeface="Malgun Gothic"/>
                <a:cs typeface="Malgun Gothic"/>
              </a:rPr>
              <a:t> 롤아웃에서 명령이 같은 1차 지연·서기 전환을 거쳐 몸체 속도가 된다. 평균은 몸체 속도가 아니라 명령으로 낸다. </a:t>
            </a:r>
            <a:r>
              <a:rPr sz="1050" b="0" i="0">
                <a:solidFill>
                  <a:srgbClr val="16213A"/>
                </a:solidFill>
                <a:latin typeface="Consolas"/>
                <a:ea typeface="Malgun Gothic"/>
                <a:cs typeface="Malgun Gothic"/>
              </a:rPr>
              <a:t>lag = 0</a:t>
            </a:r>
            <a:r>
              <a:rPr sz="1050" b="0" i="0">
                <a:solidFill>
                  <a:srgbClr val="16213A"/>
                </a:solidFill>
                <a:latin typeface="Arial"/>
                <a:ea typeface="Malgun Gothic"/>
                <a:cs typeface="Malgun Gothic"/>
              </a:rPr>
              <a:t>이면 이전 코드와 비트 단위로 같다(기존 시연 20개 결과 그대로).</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작업 기록 · E.13 Playground 휴머노이드와 GR00T 분리형 WBC — 위에 앉은 MPPI는 하체 지연을 알아야 한다 (TP-0135)</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결과</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172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지연이 원인이다.</a:t>
            </a:r>
            <a:r>
              <a:rPr sz="1050" b="0" i="0">
                <a:solidFill>
                  <a:srgbClr val="16213A"/>
                </a:solidFill>
                <a:latin typeface="Arial"/>
                <a:ea typeface="Malgun Gothic"/>
                <a:cs typeface="Malgun Gothic"/>
              </a:rPr>
              <a:t> 같은 6번 주행(bumps_potholes s0–s2·s4, random_mix s1, curb_ramp s1, 원형 시야)에서 하체 지연을 모르는 MPPI의 도달 수는 이렇다.</a:t>
            </a:r>
          </a:p>
        </p:txBody>
      </p:sp>
      <p:graphicFrame>
        <p:nvGraphicFramePr>
          <p:cNvPr id="6" name="Table 5"/>
          <p:cNvGraphicFramePr>
            <a:graphicFrameLocks noGrp="1"/>
          </p:cNvGraphicFramePr>
          <p:nvPr/>
        </p:nvGraphicFramePr>
        <p:xfrm>
          <a:off x="609600" y="1549995"/>
          <a:ext cx="10966450" cy="394176"/>
        </p:xfrm>
        <a:graphic>
          <a:graphicData uri="http://schemas.openxmlformats.org/drawingml/2006/table">
            <a:tbl>
              <a:tblPr firstRow="1" bandRow="1">
                <a:tableStyleId>{5C22544A-7EE6-4342-B048-85BDC9FD1C3A}</a:tableStyleId>
              </a:tblPr>
              <a:tblGrid>
                <a:gridCol w="3735189"/>
                <a:gridCol w="2743200"/>
                <a:gridCol w="2243931"/>
                <a:gridCol w="2244130"/>
              </a:tblGrid>
              <a:tr h="197088">
                <a:tc>
                  <a:txBody>
                    <a:bodyPr wrap="square"/>
                    <a:lstStyle/>
                    <a:p>
                      <a:r>
                        <a:rPr sz="800" b="1" i="0">
                          <a:solidFill>
                            <a:srgbClr val="F4F1EA"/>
                          </a:solidFill>
                          <a:latin typeface="Arial"/>
                          <a:ea typeface="Malgun Gothic"/>
                          <a:cs typeface="Malgun Gothic"/>
                        </a:rPr>
                        <a:t>하체 시정수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0(즉시)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0.2 s</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0.4 s</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도달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2/6</a:t>
                      </a:r>
                    </a:p>
                  </a:txBody>
                  <a:tcPr marL="63500" marR="63500" marT="12700" marB="12700">
                    <a:solidFill>
                      <a:srgbClr val="FFFDF8"/>
                    </a:solidFill>
                  </a:tcPr>
                </a:tc>
              </a:tr>
            </a:tbl>
          </a:graphicData>
        </a:graphic>
      </p:graphicFrame>
      <p:sp>
        <p:nvSpPr>
          <p:cNvPr id="7" name="TextBox 6"/>
          <p:cNvSpPr txBox="1"/>
          <p:nvPr/>
        </p:nvSpPr>
        <p:spPr>
          <a:xfrm>
            <a:off x="609600" y="213796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롤아웃에 지연을 넣으면 회복한다.</a:t>
            </a:r>
            <a:r>
              <a:rPr sz="1050" b="0" i="0">
                <a:solidFill>
                  <a:srgbClr val="16213A"/>
                </a:solidFill>
                <a:latin typeface="Arial"/>
                <a:ea typeface="Malgun Gothic"/>
                <a:cs typeface="Malgun Gothic"/>
              </a:rPr>
              <a:t> 시나리오 5개 × seed 10번(시정수 0.4 s, 원형 시야)의 결과다.</a:t>
            </a:r>
          </a:p>
        </p:txBody>
      </p:sp>
      <p:graphicFrame>
        <p:nvGraphicFramePr>
          <p:cNvPr id="8" name="Table 7"/>
          <p:cNvGraphicFramePr>
            <a:graphicFrameLocks noGrp="1"/>
          </p:cNvGraphicFramePr>
          <p:nvPr/>
        </p:nvGraphicFramePr>
        <p:xfrm>
          <a:off x="609600" y="2443361"/>
          <a:ext cx="10966449" cy="591264"/>
        </p:xfrm>
        <a:graphic>
          <a:graphicData uri="http://schemas.openxmlformats.org/drawingml/2006/table">
            <a:tbl>
              <a:tblPr firstRow="1" bandRow="1">
                <a:tableStyleId>{5C22544A-7EE6-4342-B048-85BDC9FD1C3A}</a:tableStyleId>
              </a:tblPr>
              <a:tblGrid>
                <a:gridCol w="3103562"/>
                <a:gridCol w="1256407"/>
                <a:gridCol w="6606480"/>
              </a:tblGrid>
              <a:tr h="197088">
                <a:tc>
                  <a:txBody>
                    <a:bodyPr wrap="square"/>
                    <a:lstStyle/>
                    <a:p>
                      <a:r>
                        <a:rPr sz="800" b="1" i="0">
                          <a:solidFill>
                            <a:srgbClr val="F4F1EA"/>
                          </a:solidFill>
                          <a:latin typeface="Arial"/>
                          <a:ea typeface="Malgun Gothic"/>
                          <a:cs typeface="Malgun Gothic"/>
                        </a:rPr>
                        <a:t>MPPI</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도달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실패</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하체 지연을 안다(기본)</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10/10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모른다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6/10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치명 셀 진입 4(bumps s0·s2·s4, random_mix s1)</a:t>
                      </a:r>
                    </a:p>
                  </a:txBody>
                  <a:tcPr marL="63500" marR="63500" marT="12700" marB="12700">
                    <a:solidFill>
                      <a:srgbClr val="F3F0E8"/>
                    </a:solidFill>
                  </a:tcPr>
                </a:tc>
              </a:tr>
            </a:tbl>
          </a:graphicData>
        </a:graphic>
      </p:graphicFrame>
      <p:sp>
        <p:nvSpPr>
          <p:cNvPr id="9" name="TextBox 8"/>
          <p:cNvSpPr txBox="1"/>
          <p:nvPr/>
        </p:nvSpPr>
        <p:spPr>
          <a:xfrm>
            <a:off x="609600" y="32776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휴머노이드는 지형이 다르게 보인다.</a:t>
            </a:r>
          </a:p>
        </p:txBody>
      </p:sp>
      <p:sp>
        <p:nvSpPr>
          <p:cNvPr id="10" name="TextBox 9"/>
          <p:cNvSpPr txBox="1"/>
          <p:nvPr/>
        </p:nvSpPr>
        <p:spPr>
          <a:xfrm>
            <a:off x="609600" y="3583087"/>
            <a:ext cx="10972800" cy="9167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깊이 12 cm 포트홀은 턱 한계 15 cm 안이라 휴머노이드에게 치명이 아니다. 가림·그림자 처리 없음, bumps seed 0–9에서 센서 0.3 m와 1.2 m 모두 9/10이다. 같은 설정의 스워브는 0.3 m에서 3/10, 1.0 m에서 9/10이다.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기본 인식(가림 + 상한 + prior)에서 7개 시나리오 × seed 0–2의 21번이 모두 도달했다(시간 한계 90 s). down_curb s2는 64.9 s라 스워브의 60 s 한계였다면 시간 초과였다.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일반 LiDAR(±15°, 10° 숙임)를 1.2 m에 달면 2.6 m 안이 비어 L1 간이 bumps s4가 90 s 시간 초과다. 뒤집은 MID-360 시야로는 5개 지형 모두 도달한다.</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작업 기록 · E.13 Playground 휴머노이드와 GR00T 분리형 WBC — 위에 앉은 MPPI는 하체 지연을 알아야 한다 (TP-0135)</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정직하게 적어 둘 것</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173 / 183</a:t>
            </a:r>
          </a:p>
        </p:txBody>
      </p:sp>
      <p:sp>
        <p:nvSpPr>
          <p:cNvPr id="5" name="TextBox 4"/>
          <p:cNvSpPr txBox="1"/>
          <p:nvPr/>
        </p:nvSpPr>
        <p:spPr>
          <a:xfrm>
            <a:off x="609600" y="1244600"/>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관절 수준 정책이 아니다. 시정수 0.4 s와 서기 문턱 0.05가 실제 G1 정책의 추종을 대신한다. 실제 지연은 정책과 명령 보간에 따라 다르다.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발 디딤은 기록만 하고 실패 판정에 쓰지 않는다. 디딤 위치로 traversability를 다시 정의하는 일(다리 로봇은 좁은 틈을 디뎌 넘는다)은 아직 하지 않았다.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휴머노이드에는 학습 정책(ES, E.12) 가중치가 없다. 그 Controller를 고르면 pure pursuit로 떨어진다.</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작업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E.12 Playground의 학습 Controller와 지도 없는 대조군 (TP-0128·TP-0129)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174 / 183</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1,675개 가중치짜리 MLP를 진화 전략으로 학습해 브라우저에 넣었다.</a:t>
            </a:r>
            <a:r>
              <a:rPr sz="1050" b="0" i="0">
                <a:solidFill>
                  <a:srgbClr val="16213A"/>
                </a:solidFill>
                <a:latin typeface="Arial"/>
                <a:ea typeface="Malgun Gothic"/>
                <a:cs typeface="Malgun Gothic"/>
              </a:rPr>
              <a:t> 제어 시간이 MPPI의 </a:t>
            </a:r>
            <a:r>
              <a:rPr sz="1050" b="1" i="0">
                <a:solidFill>
                  <a:srgbClr val="16213A"/>
                </a:solidFill>
                <a:latin typeface="Arial"/>
                <a:ea typeface="Malgun Gothic"/>
                <a:cs typeface="Malgun Gothic"/>
              </a:rPr>
              <a:t>1/180</a:t>
            </a:r>
            <a:r>
              <a:rPr sz="1050" b="0" i="0">
                <a:solidFill>
                  <a:srgbClr val="16213A"/>
                </a:solidFill>
                <a:latin typeface="Arial"/>
                <a:ea typeface="Malgun Gothic"/>
                <a:cs typeface="Malgun Gothic"/>
              </a:rPr>
              <a:t>(0.02 ms 대 3.6–4.8 ms)인데, </a:t>
            </a:r>
            <a:r>
              <a:rPr sz="1050" b="1" i="0">
                <a:solidFill>
                  <a:srgbClr val="C2410C"/>
                </a:solidFill>
                <a:latin typeface="Arial"/>
                <a:ea typeface="Malgun Gothic"/>
                <a:cs typeface="Malgun Gothic"/>
              </a:rPr>
              <a:t>사족에서는 MPPI와 같은 12/12에 도달 시간이 오히려 짧고(13.3 s 대 16.0 s), 바퀴에서는 8/12로 진다.</a:t>
            </a:r>
            <a:r>
              <a:rPr sz="1050" b="0" i="0">
                <a:solidFill>
                  <a:srgbClr val="16213A"/>
                </a:solidFill>
                <a:latin typeface="Arial"/>
                <a:ea typeface="Malgun Gothic"/>
                <a:cs typeface="Malgun Gothic"/>
              </a:rPr>
              <a:t> 그리고 같은 정책에서 </a:t>
            </a:r>
            <a:r>
              <a:rPr sz="1050" b="1" i="0">
                <a:solidFill>
                  <a:srgbClr val="16213A"/>
                </a:solidFill>
                <a:latin typeface="Arial"/>
                <a:ea typeface="Malgun Gothic"/>
                <a:cs typeface="Malgun Gothic"/>
              </a:rPr>
              <a:t>지도 입력만 끄면</a:t>
            </a:r>
            <a:r>
              <a:rPr sz="1050" b="0" i="0">
                <a:solidFill>
                  <a:srgbClr val="16213A"/>
                </a:solidFill>
                <a:latin typeface="Arial"/>
                <a:ea typeface="Malgun Gothic"/>
                <a:cs typeface="Malgun Gothic"/>
              </a:rPr>
              <a:t> 바퀴는 0/12로 무너지고 사족은 8/12를 지킨다 — </a:t>
            </a:r>
            <a:r>
              <a:rPr sz="1050" b="1" i="0">
                <a:solidFill>
                  <a:srgbClr val="C2410C"/>
                </a:solidFill>
                <a:latin typeface="Arial"/>
                <a:ea typeface="Malgun Gothic"/>
                <a:cs typeface="Malgun Gothic"/>
              </a:rPr>
              <a:t>F.4가 적은 "다리는 눈 없이도 걷는다"가 travplan 지형에서 이렇게 보인다.</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작업 기록 · E.12 Playground의 학습 Controller와 지도 없는 대조군 (TP-0128·TP-0129)</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무엇을 만들었나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175 / 183</a:t>
            </a:r>
          </a:p>
        </p:txBody>
      </p:sp>
      <p:graphicFrame>
        <p:nvGraphicFramePr>
          <p:cNvPr id="5" name="Table 4"/>
          <p:cNvGraphicFramePr>
            <a:graphicFrameLocks noGrp="1"/>
          </p:cNvGraphicFramePr>
          <p:nvPr/>
        </p:nvGraphicFramePr>
        <p:xfrm>
          <a:off x="609600" y="1244600"/>
          <a:ext cx="10966450" cy="1182528"/>
        </p:xfrm>
        <a:graphic>
          <a:graphicData uri="http://schemas.openxmlformats.org/drawingml/2006/table">
            <a:tbl>
              <a:tblPr firstRow="1" bandRow="1">
                <a:tableStyleId>{5C22544A-7EE6-4342-B048-85BDC9FD1C3A}</a:tableStyleId>
              </a:tblPr>
              <a:tblGrid>
                <a:gridCol w="854273"/>
                <a:gridCol w="3408958"/>
                <a:gridCol w="6703219"/>
              </a:tblGrid>
              <a:tr h="197088">
                <a:tc>
                  <a:txBody>
                    <a:bodyPr wrap="square"/>
                    <a:lstStyle/>
                    <a:p>
                      <a:r>
                        <a:rPr sz="800" b="1" i="0">
                          <a:solidFill>
                            <a:srgbClr val="F4F1EA"/>
                          </a:solidFill>
                          <a:latin typeface="Arial"/>
                          <a:ea typeface="Malgun Gothic"/>
                          <a:cs typeface="Malgun Gothic"/>
                        </a:rPr>
                        <a:t>조각</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파일</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하는 일</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정책</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travplan/control/tiny_policy.py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관측 50개 → tanh MLP(24, 16) → 몸체 twist 3개. </a:t>
                      </a:r>
                      <a:r>
                        <a:rPr sz="800" b="0" i="0">
                          <a:solidFill>
                            <a:srgbClr val="16213A"/>
                          </a:solidFill>
                          <a:latin typeface="Consolas"/>
                          <a:ea typeface="Malgun Gothic"/>
                          <a:cs typeface="Malgun Gothic"/>
                        </a:rPr>
                        <a:t>Controller</a:t>
                      </a:r>
                      <a:r>
                        <a:rPr sz="800" b="0" i="0">
                          <a:solidFill>
                            <a:srgbClr val="16213A"/>
                          </a:solidFill>
                          <a:latin typeface="Arial"/>
                          <a:ea typeface="Malgun Gothic"/>
                          <a:cs typeface="Malgun Gothic"/>
                        </a:rPr>
                        <a:t> 프로토콜 구현체이기도 하다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학습</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scripts/train_playground_policy.py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pure pursuit 회귀로 시작점을 잡고, OpenAI-ES로 250세대</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내보내기</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scripts/export_playground_policy.py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가중치를 </a:t>
                      </a:r>
                      <a:r>
                        <a:rPr sz="800" b="0" i="0">
                          <a:solidFill>
                            <a:srgbClr val="16213A"/>
                          </a:solidFill>
                          <a:latin typeface="Consolas"/>
                          <a:ea typeface="Malgun Gothic"/>
                          <a:cs typeface="Malgun Gothic"/>
                        </a:rPr>
                        <a:t>js/policy_weights.js</a:t>
                      </a:r>
                      <a:r>
                        <a:rPr sz="800" b="0" i="0">
                          <a:solidFill>
                            <a:srgbClr val="16213A"/>
                          </a:solidFill>
                          <a:latin typeface="Arial"/>
                          <a:ea typeface="Malgun Gothic"/>
                          <a:cs typeface="Malgun Gothic"/>
                        </a:rPr>
                        <a:t>로 굽고 </a:t>
                      </a:r>
                      <a:r>
                        <a:rPr sz="800" b="1" i="0">
                          <a:solidFill>
                            <a:srgbClr val="16213A"/>
                          </a:solidFill>
                          <a:latin typeface="Arial"/>
                          <a:ea typeface="Malgun Gothic"/>
                          <a:cs typeface="Malgun Gothic"/>
                        </a:rPr>
                        <a:t>황금 벡터</a:t>
                      </a:r>
                      <a:r>
                        <a:rPr sz="800" b="0" i="0">
                          <a:solidFill>
                            <a:srgbClr val="16213A"/>
                          </a:solidFill>
                          <a:latin typeface="Arial"/>
                          <a:ea typeface="Malgun Gothic"/>
                          <a:cs typeface="Malgun Gothic"/>
                        </a:rPr>
                        <a:t>를 만든다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브라우저</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docs/playground/js/policy.js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위 관측과 forward를 그대로 옮긴 것. </a:t>
                      </a:r>
                      <a:r>
                        <a:rPr sz="800" b="1" i="0">
                          <a:solidFill>
                            <a:srgbClr val="16213A"/>
                          </a:solidFill>
                          <a:latin typeface="Arial"/>
                          <a:ea typeface="Malgun Gothic"/>
                          <a:cs typeface="Malgun Gothic"/>
                        </a:rPr>
                        <a:t>학습은 하지 않는다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확인</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scripts/check_policy.mjs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황금 벡터 대조 + 폐루프 스윕</a:t>
                      </a:r>
                    </a:p>
                  </a:txBody>
                  <a:tcPr marL="63500" marR="63500" marT="12700" marB="12700">
                    <a:solidFill>
                      <a:srgbClr val="FFFDF8"/>
                    </a:solidFill>
                  </a:tcPr>
                </a:tc>
              </a:tr>
            </a:tbl>
          </a:graphicData>
        </a:graphic>
      </p:graphicFrame>
      <p:sp>
        <p:nvSpPr>
          <p:cNvPr id="6" name="TextBox 5"/>
          <p:cNvSpPr txBox="1"/>
          <p:nvPr/>
        </p:nvSpPr>
        <p:spPr>
          <a:xfrm>
            <a:off x="609600" y="281801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관측 50개가 전부다.</a:t>
            </a:r>
            <a:r>
              <a:rPr sz="1050" b="0" i="0">
                <a:solidFill>
                  <a:srgbClr val="16213A"/>
                </a:solidFill>
                <a:latin typeface="Arial"/>
                <a:ea typeface="Malgun Gothic"/>
                <a:cs typeface="Malgun Gothic"/>
              </a:rPr>
              <a:t> 앞쪽 7 × 5 격자의 belief cost 35개, 그 35칸의 평균 σ 1개, 경로 전방 네 점(호 0.5/1/2/3 m)의 몸체 좌표 8개, 남은 경로 1개, 현재 twist 3개, </a:t>
            </a:r>
            <a:r>
              <a:rPr sz="1050" b="1" i="0">
                <a:solidFill>
                  <a:srgbClr val="C2410C"/>
                </a:solidFill>
                <a:latin typeface="Arial"/>
                <a:ea typeface="Malgun Gothic"/>
                <a:cs typeface="Malgun Gothic"/>
              </a:rPr>
              <a:t>몸이 느끼는 pitch·roll 2개(IMU, 지도가 아니다)</a:t>
            </a:r>
            <a:r>
              <a:rPr sz="1050" b="0" i="0">
                <a:solidFill>
                  <a:srgbClr val="16213A"/>
                </a:solidFill>
                <a:latin typeface="Arial"/>
                <a:ea typeface="Malgun Gothic"/>
                <a:cs typeface="Malgun Gothic"/>
              </a:rPr>
              <a:t>. MPPI가 롤아웃 256 × 40스텝으로 보는 것을 이 정책은 </a:t>
            </a:r>
            <a:r>
              <a:rPr sz="1050" b="1" i="0">
                <a:solidFill>
                  <a:srgbClr val="16213A"/>
                </a:solidFill>
                <a:latin typeface="Arial"/>
                <a:ea typeface="Malgun Gothic"/>
                <a:cs typeface="Malgun Gothic"/>
              </a:rPr>
              <a:t>50개 숫자 한 번</a:t>
            </a:r>
            <a:r>
              <a:rPr sz="1050" b="0" i="0">
                <a:solidFill>
                  <a:srgbClr val="16213A"/>
                </a:solidFill>
                <a:latin typeface="Arial"/>
                <a:ea typeface="Malgun Gothic"/>
                <a:cs typeface="Malgun Gothic"/>
              </a:rPr>
              <a:t>으로 본다.</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작업 기록 · E.12 Playground의 학습 Controller와 지도 없는 대조군 (TP-0128·TP-0129)</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왜 ES인가 — 보상이 벤치마크의 판정 그 자체라서</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176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목적함수가 "도달했나, 몇 초 걸렸나, GT cost를 얼마나 밟았나, 넘어졌나"다. </a:t>
            </a:r>
            <a:r>
              <a:rPr sz="1050" b="1" i="0">
                <a:solidFill>
                  <a:srgbClr val="C2410C"/>
                </a:solidFill>
                <a:latin typeface="Arial"/>
                <a:ea typeface="Malgun Gothic"/>
                <a:cs typeface="Malgun Gothic"/>
              </a:rPr>
              <a:t>이것은 가중치의 계단 함수라 기울기가 없다.</a:t>
            </a:r>
            <a:r>
              <a:rPr sz="1050" b="0" i="0">
                <a:solidFill>
                  <a:srgbClr val="16213A"/>
                </a:solidFill>
                <a:latin typeface="Arial"/>
                <a:ea typeface="Malgun Gothic"/>
                <a:cs typeface="Malgun Gothic"/>
              </a:rPr>
              <a:t> ES는 에피소드 수익만 있으면 되므로 시뮬레이터를 미분 가능하게 만들 필요가 없다.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다음 후보 학습기.</a:t>
            </a:r>
            <a:r>
              <a:rPr sz="1050" b="0" i="0">
                <a:solidFill>
                  <a:srgbClr val="16213A"/>
                </a:solidFill>
                <a:latin typeface="Arial"/>
                <a:ea typeface="Malgun Gothic"/>
                <a:cs typeface="Malgun Gothic"/>
              </a:rPr>
              <a:t> PolyStep(배경 0.2b ①b)은 고전 제어의 RL 정책 탐색에서 OpenAI-ES와 같고, INT8·이진 양자화 정책에서도 성능을 지킨다고 보고한다. 이 정책도 브라우저용으로 작게 만든 것이라, 학습기를 바꿔 볼 자리다. 강화학습 문서 R.3의 진화 전략 토글도 보라.</a:t>
            </a:r>
          </a:p>
        </p:txBody>
      </p:sp>
      <p:sp>
        <p:nvSpPr>
          <p:cNvPr id="7" name="TextBox 6"/>
          <p:cNvSpPr txBox="1"/>
          <p:nvPr/>
        </p:nvSpPr>
        <p:spPr>
          <a:xfrm>
            <a:off x="609600" y="2288381"/>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속도는 두 가지로 샀다. ① GT 지도 위에서는 </a:t>
            </a:r>
            <a:r>
              <a:rPr sz="1050" b="1" i="0">
                <a:solidFill>
                  <a:srgbClr val="C2410C"/>
                </a:solidFill>
                <a:latin typeface="Arial"/>
                <a:ea typeface="Malgun Gothic"/>
                <a:cs typeface="Malgun Gothic"/>
              </a:rPr>
              <a:t>Dijkstra 경로가 변하지 않으므로</a:t>
            </a:r>
            <a:r>
              <a:rPr sz="1050" b="0" i="0">
                <a:solidFill>
                  <a:srgbClr val="16213A"/>
                </a:solidFill>
                <a:latin typeface="Arial"/>
                <a:ea typeface="Malgun Gothic"/>
                <a:cs typeface="Malgun Gothic"/>
              </a:rPr>
              <a:t> 지형마다 </a:t>
            </a:r>
            <a:r>
              <a:rPr sz="1050" b="1" i="0">
                <a:solidFill>
                  <a:srgbClr val="16213A"/>
                </a:solidFill>
                <a:latin typeface="Arial"/>
                <a:ea typeface="Malgun Gothic"/>
                <a:cs typeface="Malgun Gothic"/>
              </a:rPr>
              <a:t>한 번만</a:t>
            </a:r>
            <a:r>
              <a:rPr sz="1050" b="0" i="0">
                <a:solidFill>
                  <a:srgbClr val="16213A"/>
                </a:solidFill>
                <a:latin typeface="Arial"/>
                <a:ea typeface="Malgun Gothic"/>
                <a:cs typeface="Malgun Gothic"/>
              </a:rPr>
              <a:t> 계획하고, 에피소드는 (35칸 샘플 + 2k MAC + 적분)으로 줄었다. ② 개체 48개를 </a:t>
            </a:r>
            <a:r>
              <a:rPr sz="1050" b="1" i="0">
                <a:solidFill>
                  <a:srgbClr val="16213A"/>
                </a:solidFill>
                <a:latin typeface="Arial"/>
                <a:ea typeface="Malgun Gothic"/>
                <a:cs typeface="Malgun Gothic"/>
              </a:rPr>
              <a:t>한 배치로</a:t>
            </a:r>
            <a:r>
              <a:rPr sz="1050" b="0" i="0">
                <a:solidFill>
                  <a:srgbClr val="16213A"/>
                </a:solidFill>
                <a:latin typeface="Arial"/>
                <a:ea typeface="Malgun Gothic"/>
                <a:cs typeface="Malgun Gothic"/>
              </a:rPr>
              <a:t> 굴린다(</a:t>
            </a:r>
            <a:r>
              <a:rPr sz="1050" b="0" i="0">
                <a:solidFill>
                  <a:srgbClr val="16213A"/>
                </a:solidFill>
                <a:latin typeface="Consolas"/>
                <a:ea typeface="Malgun Gothic"/>
                <a:cs typeface="Malgun Gothic"/>
              </a:rPr>
              <a:t>einsum('pd,pdh-&gt;ph')</a:t>
            </a:r>
            <a:r>
              <a:rPr sz="1050" b="0" i="0">
                <a:solidFill>
                  <a:srgbClr val="16213A"/>
                </a:solidFill>
                <a:latin typeface="Arial"/>
                <a:ea typeface="Malgun Gothic"/>
                <a:cs typeface="Malgun Gothic"/>
              </a:rPr>
              <a:t>). 그래서 한 세대가 롤아웃 48번이 아니라 </a:t>
            </a:r>
            <a:r>
              <a:rPr sz="1050" b="1" i="0">
                <a:solidFill>
                  <a:srgbClr val="16213A"/>
                </a:solidFill>
                <a:latin typeface="Arial"/>
                <a:ea typeface="Malgun Gothic"/>
                <a:cs typeface="Malgun Gothic"/>
              </a:rPr>
              <a:t>롤아웃 1번</a:t>
            </a:r>
            <a:r>
              <a:rPr sz="1050" b="0" i="0">
                <a:solidFill>
                  <a:srgbClr val="16213A"/>
                </a:solidFill>
                <a:latin typeface="Arial"/>
                <a:ea typeface="Malgun Gothic"/>
                <a:cs typeface="Malgun Gothic"/>
              </a:rPr>
              <a:t> 값이다 — 250세대 × 20지형이 CPU에서 </a:t>
            </a:r>
            <a:r>
              <a:rPr sz="1050" b="1" i="0">
                <a:solidFill>
                  <a:srgbClr val="16213A"/>
                </a:solidFill>
                <a:latin typeface="Arial"/>
                <a:ea typeface="Malgun Gothic"/>
                <a:cs typeface="Malgun Gothic"/>
              </a:rPr>
              <a:t>2.5–9분</a:t>
            </a:r>
            <a:r>
              <a:rPr sz="1050" b="0" i="0">
                <a:solidFill>
                  <a:srgbClr val="16213A"/>
                </a:solidFill>
                <a:latin typeface="Arial"/>
                <a:ea typeface="Malgun Gothic"/>
                <a:cs typeface="Malgun Gothic"/>
              </a:rPr>
              <a:t>이다 (네 조합을 </a:t>
            </a:r>
            <a:r>
              <a:rPr sz="1050" b="0" i="0">
                <a:solidFill>
                  <a:srgbClr val="16213A"/>
                </a:solidFill>
                <a:latin typeface="Consolas"/>
                <a:ea typeface="Malgun Gothic"/>
                <a:cs typeface="Malgun Gothic"/>
              </a:rPr>
              <a:t>OMP_NUM_THREADS=4</a:t>
            </a:r>
            <a:r>
              <a:rPr sz="1050" b="0" i="0">
                <a:solidFill>
                  <a:srgbClr val="16213A"/>
                </a:solidFill>
                <a:latin typeface="Arial"/>
                <a:ea typeface="Malgun Gothic"/>
                <a:cs typeface="Malgun Gothic"/>
              </a:rPr>
              <a:t>로 동시에 돌린 벽시계 시간이다).</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작업 기록 · E.12 Playground의 학습 Controller와 지도 없는 대조군 (TP-0128·TP-0129)</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결과 ① 파이썬(GT 지도, 4 시나리오 × seed)</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177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학습 seed 3–7(20지형), 평가 seed 0–2(12지형, 벤치마크와 같은 seed).</a:t>
            </a:r>
          </a:p>
        </p:txBody>
      </p:sp>
      <p:graphicFrame>
        <p:nvGraphicFramePr>
          <p:cNvPr id="6" name="Table 5"/>
          <p:cNvGraphicFramePr>
            <a:graphicFrameLocks noGrp="1"/>
          </p:cNvGraphicFramePr>
          <p:nvPr/>
        </p:nvGraphicFramePr>
        <p:xfrm>
          <a:off x="609600" y="1549995"/>
          <a:ext cx="10966450" cy="985440"/>
        </p:xfrm>
        <a:graphic>
          <a:graphicData uri="http://schemas.openxmlformats.org/drawingml/2006/table">
            <a:tbl>
              <a:tblPr firstRow="1" bandRow="1">
                <a:tableStyleId>{5C22544A-7EE6-4342-B048-85BDC9FD1C3A}</a:tableStyleId>
              </a:tblPr>
              <a:tblGrid>
                <a:gridCol w="2565003"/>
                <a:gridCol w="3338909"/>
                <a:gridCol w="2531170"/>
                <a:gridCol w="2531368"/>
              </a:tblGrid>
              <a:tr h="197088">
                <a:tc>
                  <a:txBody>
                    <a:bodyPr wrap="square"/>
                    <a:lstStyle/>
                    <a:p>
                      <a:r>
                        <a:rPr sz="800" b="1" i="0">
                          <a:solidFill>
                            <a:srgbClr val="F4F1EA"/>
                          </a:solidFill>
                          <a:latin typeface="Arial"/>
                          <a:ea typeface="Malgun Gothic"/>
                          <a:cs typeface="Malgun Gothic"/>
                        </a:rPr>
                        <a:t>정책</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학습 seed, warm start</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학습 seed, ES 뒤</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평가 seed, ES 뒤</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스워브, 지도 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13/20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19/20</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10/12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스워브, </a:t>
                      </a:r>
                      <a:r>
                        <a:rPr sz="800" b="1" i="0">
                          <a:solidFill>
                            <a:srgbClr val="C2410C"/>
                          </a:solidFill>
                          <a:latin typeface="Arial"/>
                          <a:ea typeface="Malgun Gothic"/>
                          <a:cs typeface="Malgun Gothic"/>
                        </a:rPr>
                        <a:t>지도 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3/20</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3/12</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사족, 지도 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13/20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18/20</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10/12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사족, </a:t>
                      </a:r>
                      <a:r>
                        <a:rPr sz="800" b="1" i="0">
                          <a:solidFill>
                            <a:srgbClr val="C2410C"/>
                          </a:solidFill>
                          <a:latin typeface="Arial"/>
                          <a:ea typeface="Malgun Gothic"/>
                          <a:cs typeface="Malgun Gothic"/>
                        </a:rPr>
                        <a:t>지도 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13/20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14/20</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8/12</a:t>
                      </a:r>
                    </a:p>
                  </a:txBody>
                  <a:tcPr marL="63500" marR="63500" marT="12700" marB="12700">
                    <a:solidFill>
                      <a:srgbClr val="F3F0E8"/>
                    </a:solidFill>
                  </a:tcPr>
                </a:tc>
              </a:tr>
            </a:tbl>
          </a:graphicData>
        </a:graphic>
      </p:graphicFrame>
      <p:sp>
        <p:nvSpPr>
          <p:cNvPr id="7" name="TextBox 6"/>
          <p:cNvSpPr txBox="1"/>
          <p:nvPr/>
        </p:nvSpPr>
        <p:spPr>
          <a:xfrm>
            <a:off x="609600" y="2877046"/>
            <a:ext cx="10972800" cy="216495"/>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pure pursuit 시작점에서 ES가 얹는 것은 스워브 +6, 사족 +5다(20지형 기준).</a:t>
            </a:r>
            <a:r>
              <a:rPr sz="1050" b="0" i="0">
                <a:solidFill>
                  <a:srgbClr val="16213A"/>
                </a:solidFill>
                <a:latin typeface="Arial"/>
                <a:ea typeface="Malgun Gothic"/>
                <a:cs typeface="Malgun Gothic"/>
              </a:rPr>
              <a:t> 지도 없는 스워브만 ES가 거의 아무것도 못 한다(2 → 3) — </a:t>
            </a:r>
            <a:r>
              <a:rPr sz="1050" b="1" i="0">
                <a:solidFill>
                  <a:srgbClr val="16213A"/>
                </a:solidFill>
                <a:latin typeface="Arial"/>
                <a:ea typeface="Malgun Gothic"/>
                <a:cs typeface="Malgun Gothic"/>
              </a:rPr>
              <a:t>입력에 없는 것을 최적화로 만들어 낼 수는 없다.</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작업 기록 · E.12 Playground의 학습 Controller와 지도 없는 대조군 (TP-0128·TP-0129)</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결과 ② 브라우저(가림 켠 belief 지도, 4 시나리오 × seed 0–2)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178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Consolas"/>
                <a:ea typeface="Malgun Gothic"/>
                <a:cs typeface="Malgun Gothic"/>
              </a:rPr>
              <a:t>node scripts/check_policy.mjs --sweep</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학습은 GT 지도로 했는데 여기서는 belief 지도다 — 학습 때보다 어렵다.</a:t>
            </a:r>
          </a:p>
        </p:txBody>
      </p:sp>
      <p:graphicFrame>
        <p:nvGraphicFramePr>
          <p:cNvPr id="6" name="Table 5"/>
          <p:cNvGraphicFramePr>
            <a:graphicFrameLocks noGrp="1"/>
          </p:cNvGraphicFramePr>
          <p:nvPr/>
        </p:nvGraphicFramePr>
        <p:xfrm>
          <a:off x="609600" y="1549995"/>
          <a:ext cx="10966450" cy="1773792"/>
        </p:xfrm>
        <a:graphic>
          <a:graphicData uri="http://schemas.openxmlformats.org/drawingml/2006/table">
            <a:tbl>
              <a:tblPr firstRow="1" bandRow="1">
                <a:tableStyleId>{5C22544A-7EE6-4342-B048-85BDC9FD1C3A}</a:tableStyleId>
              </a:tblPr>
              <a:tblGrid>
                <a:gridCol w="1409700"/>
                <a:gridCol w="2652316"/>
                <a:gridCol w="1464370"/>
                <a:gridCol w="1793081"/>
                <a:gridCol w="1793081"/>
                <a:gridCol w="1853902"/>
              </a:tblGrid>
              <a:tr h="197088">
                <a:tc>
                  <a:txBody>
                    <a:bodyPr wrap="square"/>
                    <a:lstStyle/>
                    <a:p>
                      <a:r>
                        <a:rPr sz="800" b="1" i="0">
                          <a:solidFill>
                            <a:srgbClr val="F4F1EA"/>
                          </a:solidFill>
                          <a:latin typeface="Arial"/>
                          <a:ea typeface="Malgun Gothic"/>
                          <a:cs typeface="Malgun Gothic"/>
                        </a:rPr>
                        <a:t>로봇</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Controller</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도달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제어 시간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평균 도달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실패</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스워브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MPPI</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12/12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3.86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16.4 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스워브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pure pursuit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0.01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17.0 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lethal 8</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스워브</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학습 정책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8/12</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0.02 ms</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10.1 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lethal 4</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스워브</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학습, 지도 없음</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0/12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0.02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lethal 12</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사족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MPPI</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12/12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3.62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16.0 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사족</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pure pursuit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8/12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0.01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15.5 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lethal 4</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사족</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학습 정책</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12/12</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0.02 ms</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13.3 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사족</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학습, 지도 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8/12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0.02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12.5 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lethal 4</a:t>
                      </a:r>
                    </a:p>
                  </a:txBody>
                  <a:tcPr marL="63500" marR="63500" marT="12700" marB="12700">
                    <a:solidFill>
                      <a:srgbClr val="F3F0E8"/>
                    </a:solidFill>
                  </a:tcPr>
                </a:tc>
              </a:tr>
            </a:tbl>
          </a:graphicData>
        </a:graphic>
      </p:graphicFrame>
      <p:sp>
        <p:nvSpPr>
          <p:cNvPr id="7" name="TextBox 6"/>
          <p:cNvSpPr txBox="1"/>
          <p:nvPr/>
        </p:nvSpPr>
        <p:spPr>
          <a:xfrm>
            <a:off x="609600" y="3862487"/>
            <a:ext cx="10972800" cy="43299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사족에서는 학습 정책이 MPPI와 같은 12/12이고 평균 도달이 2.7 s 짧다.</a:t>
            </a:r>
            <a:r>
              <a:rPr sz="1050" b="0" i="0">
                <a:solidFill>
                  <a:srgbClr val="16213A"/>
                </a:solidFill>
                <a:latin typeface="Arial"/>
                <a:ea typeface="Malgun Gothic"/>
                <a:cs typeface="Malgun Gothic"/>
              </a:rPr>
              <a:t> 제어 시간은 </a:t>
            </a:r>
            <a:r>
              <a:rPr sz="1050" b="1" i="0">
                <a:solidFill>
                  <a:srgbClr val="16213A"/>
                </a:solidFill>
                <a:latin typeface="Arial"/>
                <a:ea typeface="Malgun Gothic"/>
                <a:cs typeface="Malgun Gothic"/>
              </a:rPr>
              <a:t>약 1/180</a:t>
            </a:r>
            <a:r>
              <a:rPr sz="1050" b="0" i="0">
                <a:solidFill>
                  <a:srgbClr val="16213A"/>
                </a:solidFill>
                <a:latin typeface="Arial"/>
                <a:ea typeface="Malgun Gothic"/>
                <a:cs typeface="Malgun Gothic"/>
              </a:rPr>
              <a:t>이다. 바퀴에서는 8/12로 MPPI에 진다 — 아래 "정직하게 적어 둘 것" ①이 이유다. "지도 없음"은 그 정책의 </a:t>
            </a:r>
            <a:r>
              <a:rPr sz="1050" b="1" i="0">
                <a:solidFill>
                  <a:srgbClr val="16213A"/>
                </a:solidFill>
                <a:latin typeface="Arial"/>
                <a:ea typeface="Malgun Gothic"/>
                <a:cs typeface="Malgun Gothic"/>
              </a:rPr>
              <a:t>지형 입력 36개를 0으로 주고 경로 대신 목표 직선만 준 것</a:t>
            </a:r>
            <a:r>
              <a:rPr sz="1050" b="0" i="0">
                <a:solidFill>
                  <a:srgbClr val="16213A"/>
                </a:solidFill>
                <a:latin typeface="Arial"/>
                <a:ea typeface="Malgun Gothic"/>
                <a:cs typeface="Malgun Gothic"/>
              </a:rPr>
              <a:t>이고, 나머지는 같다.</a:t>
            </a:r>
          </a:p>
        </p:txBody>
      </p:sp>
      <p:sp>
        <p:nvSpPr>
          <p:cNvPr id="8" name="TextBox 7"/>
          <p:cNvSpPr txBox="1"/>
          <p:nvPr/>
        </p:nvSpPr>
        <p:spPr>
          <a:xfrm>
            <a:off x="609600" y="4384377"/>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이 제어 시간은 한 번 틀렸다가 고친 값이다.</a:t>
            </a:r>
            <a:r>
              <a:rPr sz="1050" b="0" i="0">
                <a:solidFill>
                  <a:srgbClr val="16213A"/>
                </a:solidFill>
                <a:latin typeface="Arial"/>
                <a:ea typeface="Malgun Gothic"/>
                <a:cs typeface="Malgun Gothic"/>
              </a:rPr>
              <a:t> 처음에는 0.14–0.16 ms로 적었는데, </a:t>
            </a:r>
            <a:r>
              <a:rPr sz="1050" b="0" i="0">
                <a:solidFill>
                  <a:srgbClr val="16213A"/>
                </a:solidFill>
                <a:latin typeface="Consolas"/>
                <a:ea typeface="Malgun Gothic"/>
                <a:cs typeface="Malgun Gothic"/>
              </a:rPr>
              <a:t>sim.js</a:t>
            </a:r>
            <a:r>
              <a:rPr sz="1050" b="0" i="0">
                <a:solidFill>
                  <a:srgbClr val="16213A"/>
                </a:solidFill>
                <a:latin typeface="Arial"/>
                <a:ea typeface="Malgun Gothic"/>
                <a:cs typeface="Malgun Gothic"/>
              </a:rPr>
              <a:t>의 객체 리터럴이 속성 순서대로 평가돼 화면에 그릴 궤적을 만드는 </a:t>
            </a:r>
            <a:r>
              <a:rPr sz="1050" b="0" i="0">
                <a:solidFill>
                  <a:srgbClr val="16213A"/>
                </a:solidFill>
                <a:latin typeface="Consolas"/>
                <a:ea typeface="Malgun Gothic"/>
                <a:cs typeface="Malgun Gothic"/>
              </a:rPr>
              <a:t>predict()</a:t>
            </a:r>
            <a:r>
              <a:rPr sz="1050" b="0" i="0">
                <a:solidFill>
                  <a:srgbClr val="16213A"/>
                </a:solidFill>
                <a:latin typeface="Arial"/>
                <a:ea typeface="Malgun Gothic"/>
                <a:cs typeface="Malgun Gothic"/>
              </a:rPr>
              <a:t> 20스텝 롤아웃까지 </a:t>
            </a:r>
            <a:r>
              <a:rPr sz="1050" b="0" i="0">
                <a:solidFill>
                  <a:srgbClr val="16213A"/>
                </a:solidFill>
                <a:latin typeface="Consolas"/>
                <a:ea typeface="Malgun Gothic"/>
                <a:cs typeface="Malgun Gothic"/>
              </a:rPr>
              <a:t>ms</a:t>
            </a:r>
            <a:r>
              <a:rPr sz="1050" b="0" i="0">
                <a:solidFill>
                  <a:srgbClr val="16213A"/>
                </a:solidFill>
                <a:latin typeface="Arial"/>
                <a:ea typeface="Malgun Gothic"/>
                <a:cs typeface="Malgun Gothic"/>
              </a:rPr>
              <a:t> 안에 들어가 있었다. 명령을 낸 시각에서 끊으니 0.02 ms다(MPPI의 </a:t>
            </a:r>
            <a:r>
              <a:rPr sz="1050" b="0" i="0">
                <a:solidFill>
                  <a:srgbClr val="16213A"/>
                </a:solidFill>
                <a:latin typeface="Consolas"/>
                <a:ea typeface="Malgun Gothic"/>
                <a:cs typeface="Malgun Gothic"/>
              </a:rPr>
              <a:t>nominal</a:t>
            </a:r>
            <a:r>
              <a:rPr sz="1050" b="0" i="0">
                <a:solidFill>
                  <a:srgbClr val="16213A"/>
                </a:solidFill>
                <a:latin typeface="Arial"/>
                <a:ea typeface="Malgun Gothic"/>
                <a:cs typeface="Malgun Gothic"/>
              </a:rPr>
              <a:t>은 평균 갱신의 일부라 그쪽은 포함이 맞다 — 그 비대칭이 버그였다). 성공 수·도달 시간은 바뀌지 않았다. MPPI 쪽 벽시계는 기계 부하에 흔들린다(2026-10-02~06에 3.6–4.8 ms 관측).</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작업 기록 · E.12 Playground의 학습 Controller와 지도 없는 대조군 (TP-0128·TP-0129)</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결과 ③ 저장소 벤치마크 — 브라우저의 8/12가 파이썬에서도 그대로 나온다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179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Consolas"/>
                <a:ea typeface="Malgun Gothic"/>
                <a:cs typeface="Malgun Gothic"/>
              </a:rPr>
              <a:t>TinyPolicyController</a:t>
            </a:r>
            <a:r>
              <a:rPr sz="1050" b="0" i="0">
                <a:solidFill>
                  <a:srgbClr val="16213A"/>
                </a:solidFill>
                <a:latin typeface="Arial"/>
                <a:ea typeface="Malgun Gothic"/>
                <a:cs typeface="Malgun Gothic"/>
              </a:rPr>
              <a:t>는 </a:t>
            </a:r>
            <a:r>
              <a:rPr sz="1050" b="0" i="0">
                <a:solidFill>
                  <a:srgbClr val="16213A"/>
                </a:solidFill>
                <a:latin typeface="Consolas"/>
                <a:ea typeface="Malgun Gothic"/>
                <a:cs typeface="Malgun Gothic"/>
              </a:rPr>
              <a:t>Controller</a:t>
            </a:r>
            <a:r>
              <a:rPr sz="1050" b="0" i="0">
                <a:solidFill>
                  <a:srgbClr val="16213A"/>
                </a:solidFill>
                <a:latin typeface="Arial"/>
                <a:ea typeface="Malgun Gothic"/>
                <a:cs typeface="Malgun Gothic"/>
              </a:rPr>
              <a:t> 프로토콜 구현체라 </a:t>
            </a:r>
            <a:r>
              <a:rPr sz="1050" b="0" i="0">
                <a:solidFill>
                  <a:srgbClr val="16213A"/>
                </a:solidFill>
                <a:latin typeface="Consolas"/>
                <a:ea typeface="Malgun Gothic"/>
                <a:cs typeface="Malgun Gothic"/>
              </a:rPr>
              <a:t>run_benchmark.py</a:t>
            </a:r>
            <a:r>
              <a:rPr sz="1050" b="0" i="0">
                <a:solidFill>
                  <a:srgbClr val="16213A"/>
                </a:solidFill>
                <a:latin typeface="Arial"/>
                <a:ea typeface="Malgun Gothic"/>
                <a:cs typeface="Malgun Gothic"/>
              </a:rPr>
              <a:t>에 </a:t>
            </a:r>
            <a:r>
              <a:rPr sz="1050" b="0" i="0">
                <a:solidFill>
                  <a:srgbClr val="16213A"/>
                </a:solidFill>
                <a:latin typeface="Consolas"/>
                <a:ea typeface="Malgun Gothic"/>
                <a:cs typeface="Malgun Gothic"/>
              </a:rPr>
              <a:t>tiny</a:t>
            </a:r>
            <a:r>
              <a:rPr sz="1050" b="0" i="0">
                <a:solidFill>
                  <a:srgbClr val="16213A"/>
                </a:solidFill>
                <a:latin typeface="Arial"/>
                <a:ea typeface="Malgun Gothic"/>
                <a:cs typeface="Malgun Gothic"/>
              </a:rPr>
              <a:t>로 꽂힌다. </a:t>
            </a:r>
            <a:r>
              <a:rPr sz="1050" b="1" i="0">
                <a:solidFill>
                  <a:srgbClr val="C2410C"/>
                </a:solidFill>
                <a:latin typeface="Arial"/>
                <a:ea typeface="Malgun Gothic"/>
                <a:cs typeface="Malgun Gothic"/>
              </a:rPr>
              <a:t>Playground가 아니라 저장소의 운동학 시뮬에서, L0 인식과 Python 난수 지형으로 다시 돌린 것이다.</a:t>
            </a:r>
          </a:p>
        </p:txBody>
      </p:sp>
      <p:sp>
        <p:nvSpPr>
          <p:cNvPr id="6" name="TextBox 5"/>
          <p:cNvSpPr txBox="1"/>
          <p:nvPr/>
        </p:nvSpPr>
        <p:spPr>
          <a:xfrm>
            <a:off x="609600" y="1766491"/>
            <a:ext cx="10972800" cy="325041"/>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PYTHONPATH=. python scripts/run_benchmark.py --stacks guidance+tiny guidance+mppi --seeds 0 1 2</a:t>
            </a:r>
          </a:p>
        </p:txBody>
      </p:sp>
      <p:graphicFrame>
        <p:nvGraphicFramePr>
          <p:cNvPr id="7" name="Table 6"/>
          <p:cNvGraphicFramePr>
            <a:graphicFrameLocks noGrp="1"/>
          </p:cNvGraphicFramePr>
          <p:nvPr/>
        </p:nvGraphicFramePr>
        <p:xfrm>
          <a:off x="609600" y="2180431"/>
          <a:ext cx="10966449" cy="591264"/>
        </p:xfrm>
        <a:graphic>
          <a:graphicData uri="http://schemas.openxmlformats.org/drawingml/2006/table">
            <a:tbl>
              <a:tblPr firstRow="1" bandRow="1">
                <a:tableStyleId>{5C22544A-7EE6-4342-B048-85BDC9FD1C3A}</a:tableStyleId>
              </a:tblPr>
              <a:tblGrid>
                <a:gridCol w="1828105"/>
                <a:gridCol w="898823"/>
                <a:gridCol w="1757362"/>
                <a:gridCol w="1100534"/>
                <a:gridCol w="5381625"/>
              </a:tblGrid>
              <a:tr h="197088">
                <a:tc>
                  <a:txBody>
                    <a:bodyPr wrap="square"/>
                    <a:lstStyle/>
                    <a:p>
                      <a:r>
                        <a:rPr sz="800" b="1" i="0">
                          <a:solidFill>
                            <a:srgbClr val="F4F1EA"/>
                          </a:solidFill>
                          <a:latin typeface="Arial"/>
                          <a:ea typeface="Malgun Gothic"/>
                          <a:cs typeface="Malgun Gothic"/>
                        </a:rPr>
                        <a:t>스택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도달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성공 시 도달 시간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제어 시간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실패</a:t>
                      </a:r>
                    </a:p>
                  </a:txBody>
                  <a:tcPr marL="63500" marR="63500" marT="12700" marB="12700">
                    <a:solidFill>
                      <a:srgbClr val="16213A"/>
                    </a:solidFill>
                  </a:tcPr>
                </a:tc>
              </a:tr>
              <a:tr h="197088">
                <a:tc>
                  <a:txBody>
                    <a:bodyPr wrap="square"/>
                    <a:lstStyle/>
                    <a:p>
                      <a:r>
                        <a:rPr sz="800" b="0" i="0">
                          <a:solidFill>
                            <a:srgbClr val="16213A"/>
                          </a:solidFill>
                          <a:latin typeface="Consolas"/>
                          <a:ea typeface="Malgun Gothic"/>
                          <a:cs typeface="Malgun Gothic"/>
                        </a:rPr>
                        <a:t>guidance+mppi</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12/12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15.9 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12.4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Consolas"/>
                          <a:ea typeface="Malgun Gothic"/>
                          <a:cs typeface="Malgun Gothic"/>
                        </a:rPr>
                        <a:t>guidance+tiny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8/12</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11.8 s</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0.49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lethal 4 (curb_ramp s0, bumps s0·s1, random_mix s2)</a:t>
                      </a:r>
                    </a:p>
                  </a:txBody>
                  <a:tcPr marL="63500" marR="63500" marT="12700" marB="12700">
                    <a:solidFill>
                      <a:srgbClr val="F3F0E8"/>
                    </a:solidFill>
                  </a:tcPr>
                </a:tc>
              </a:tr>
            </a:tbl>
          </a:graphicData>
        </a:graphic>
      </p:graphicFrame>
      <p:sp>
        <p:nvSpPr>
          <p:cNvPr id="8" name="TextBox 7"/>
          <p:cNvSpPr txBox="1"/>
          <p:nvPr/>
        </p:nvSpPr>
        <p:spPr>
          <a:xfrm>
            <a:off x="609600" y="3014762"/>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브라우저에서 잰 8/12와 </a:t>
            </a:r>
            <a:r>
              <a:rPr sz="1050" b="1" i="0">
                <a:solidFill>
                  <a:srgbClr val="16213A"/>
                </a:solidFill>
                <a:latin typeface="Arial"/>
                <a:ea typeface="Malgun Gothic"/>
                <a:cs typeface="Malgun Gothic"/>
              </a:rPr>
              <a:t>성공 수가 같고 실패 유형도 모두 </a:t>
            </a:r>
            <a:r>
              <a:rPr sz="1050" b="1" i="0">
                <a:solidFill>
                  <a:srgbClr val="16213A"/>
                </a:solidFill>
                <a:latin typeface="Consolas"/>
                <a:ea typeface="Malgun Gothic"/>
                <a:cs typeface="Malgun Gothic"/>
              </a:rPr>
              <a:t>lethal</a:t>
            </a:r>
            <a:r>
              <a:rPr sz="1050" b="1" i="0">
                <a:solidFill>
                  <a:srgbClr val="16213A"/>
                </a:solidFill>
                <a:latin typeface="Arial"/>
                <a:ea typeface="Malgun Gothic"/>
                <a:cs typeface="Malgun Gothic"/>
              </a:rPr>
              <a:t>로 같다.</a:t>
            </a:r>
            <a:r>
              <a:rPr sz="1050" b="0" i="0">
                <a:solidFill>
                  <a:srgbClr val="16213A"/>
                </a:solidFill>
                <a:latin typeface="Arial"/>
                <a:ea typeface="Malgun Gothic"/>
                <a:cs typeface="Malgun Gothic"/>
              </a:rPr>
              <a:t> 두 환경은 지형 난수·인식 설정·재계획 주기가 모두 다른데 같은 비율로, 같은 방식으로 진다 — </a:t>
            </a:r>
            <a:r>
              <a:rPr sz="1050" b="1" i="0">
                <a:solidFill>
                  <a:srgbClr val="16213A"/>
                </a:solidFill>
                <a:latin typeface="Arial"/>
                <a:ea typeface="Malgun Gothic"/>
                <a:cs typeface="Malgun Gothic"/>
              </a:rPr>
              <a:t>정책의 성질이지 어느 한 하네스의 성질이 아니다.</a:t>
            </a:r>
          </a:p>
        </p:txBody>
      </p:sp>
      <p:sp>
        <p:nvSpPr>
          <p:cNvPr id="9" name="TextBox 8"/>
          <p:cNvSpPr txBox="1"/>
          <p:nvPr/>
        </p:nvSpPr>
        <p:spPr>
          <a:xfrm>
            <a:off x="609600" y="3536652"/>
            <a:ext cx="10972800" cy="1298972"/>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 다만 </a:t>
            </a:r>
            <a:r>
              <a:rPr sz="1050" b="1" i="0">
                <a:solidFill>
                  <a:srgbClr val="16213A"/>
                </a:solidFill>
                <a:latin typeface="Arial"/>
                <a:ea typeface="Malgun Gothic"/>
                <a:cs typeface="Malgun Gothic"/>
              </a:rPr>
              <a:t>어느 에피소드가 지는지는 같지 않다.</a:t>
            </a:r>
            <a:r>
              <a:rPr sz="1050" b="0" i="0">
                <a:solidFill>
                  <a:srgbClr val="16213A"/>
                </a:solidFill>
                <a:latin typeface="Arial"/>
                <a:ea typeface="Malgun Gothic"/>
                <a:cs typeface="Malgun Gothic"/>
              </a:rPr>
              <a:t> 파이썬은 curb_ramp s0 · bumps s0 · bumps s1 · random_mix s2이고 브라우저는 bumps s0을 10.1 s에 통과한다. </a:t>
            </a:r>
            <a:r>
              <a:rPr sz="1050" b="1" i="0">
                <a:solidFill>
                  <a:srgbClr val="C2410C"/>
                </a:solidFill>
                <a:latin typeface="Arial"/>
                <a:ea typeface="Malgun Gothic"/>
                <a:cs typeface="Malgun Gothic"/>
              </a:rPr>
              <a:t>난수가 달라 seed가 같아도 지형이 다르므로 에피소드 단위 일치는 애초에 기대할 수 없다</a:t>
            </a:r>
            <a:r>
              <a:rPr sz="1050" b="0" i="0">
                <a:solidFill>
                  <a:srgbClr val="16213A"/>
                </a:solidFill>
                <a:latin typeface="Arial"/>
                <a:ea typeface="Malgun Gothic"/>
                <a:cs typeface="Malgun Gothic"/>
              </a:rPr>
              <a:t>(Playground README 5절). 같다고 말할 수 있는 것은 </a:t>
            </a:r>
            <a:r>
              <a:rPr sz="1050" b="1" i="0">
                <a:solidFill>
                  <a:srgbClr val="16213A"/>
                </a:solidFill>
                <a:latin typeface="Arial"/>
                <a:ea typeface="Malgun Gothic"/>
                <a:cs typeface="Malgun Gothic"/>
              </a:rPr>
              <a:t>성공 수와 실패 유형</a:t>
            </a:r>
            <a:r>
              <a:rPr sz="1050" b="0" i="0">
                <a:solidFill>
                  <a:srgbClr val="16213A"/>
                </a:solidFill>
                <a:latin typeface="Arial"/>
                <a:ea typeface="Malgun Gothic"/>
                <a:cs typeface="Malgun Gothic"/>
              </a:rPr>
              <a:t>까지다. ⚠️ </a:t>
            </a:r>
            <a:r>
              <a:rPr sz="1050" b="1" i="0">
                <a:solidFill>
                  <a:srgbClr val="16213A"/>
                </a:solidFill>
                <a:latin typeface="Arial"/>
                <a:ea typeface="Malgun Gothic"/>
                <a:cs typeface="Malgun Gothic"/>
              </a:rPr>
              <a:t>이 제어 시간도 한 번 틀렸다가 고친 값이다.</a:t>
            </a:r>
            <a:r>
              <a:rPr sz="1050" b="0" i="0">
                <a:solidFill>
                  <a:srgbClr val="16213A"/>
                </a:solidFill>
                <a:latin typeface="Arial"/>
                <a:ea typeface="Malgun Gothic"/>
                <a:cs typeface="Malgun Gothic"/>
              </a:rPr>
              <a:t> 처음에는 0.18 ms로 적었는데, 그것은 벤치마크 루프 값이 아니라 </a:t>
            </a:r>
            <a:r>
              <a:rPr sz="1050" b="1" i="0">
                <a:solidFill>
                  <a:srgbClr val="16213A"/>
                </a:solidFill>
                <a:latin typeface="Arial"/>
                <a:ea typeface="Malgun Gothic"/>
                <a:cs typeface="Malgun Gothic"/>
              </a:rPr>
              <a:t>에피소드에서 뽑은 요청 하나를 2000번 다시 먹인</a:t>
            </a:r>
            <a:r>
              <a:rPr sz="1050" b="0" i="0">
                <a:solidFill>
                  <a:srgbClr val="16213A"/>
                </a:solidFill>
                <a:latin typeface="Arial"/>
                <a:ea typeface="Malgun Gothic"/>
                <a:cs typeface="Malgun Gothic"/>
              </a:rPr>
              <a:t> 마이크로 벤치마크였다(캐시가 더워진 값이다). 원인은 </a:t>
            </a:r>
            <a:r>
              <a:rPr sz="1050" b="0" i="0">
                <a:solidFill>
                  <a:srgbClr val="16213A"/>
                </a:solidFill>
                <a:latin typeface="Consolas"/>
                <a:ea typeface="Malgun Gothic"/>
                <a:cs typeface="Malgun Gothic"/>
              </a:rPr>
              <a:t>TinyPolicyController</a:t>
            </a:r>
            <a:r>
              <a:rPr sz="1050" b="0" i="0">
                <a:solidFill>
                  <a:srgbClr val="16213A"/>
                </a:solidFill>
                <a:latin typeface="Arial"/>
                <a:ea typeface="Malgun Gothic"/>
                <a:cs typeface="Malgun Gothic"/>
              </a:rPr>
              <a:t>가 </a:t>
            </a:r>
            <a:r>
              <a:rPr sz="1050" b="0" i="0">
                <a:solidFill>
                  <a:srgbClr val="16213A"/>
                </a:solidFill>
                <a:latin typeface="Consolas"/>
                <a:ea typeface="Malgun Gothic"/>
                <a:cs typeface="Malgun Gothic"/>
              </a:rPr>
              <a:t>control_ms</a:t>
            </a:r>
            <a:r>
              <a:rPr sz="1050" b="0" i="0">
                <a:solidFill>
                  <a:srgbClr val="16213A"/>
                </a:solidFill>
                <a:latin typeface="Arial"/>
                <a:ea typeface="Malgun Gothic"/>
                <a:cs typeface="Malgun Gothic"/>
              </a:rPr>
              <a:t>를 </a:t>
            </a:r>
            <a:r>
              <a:rPr sz="1050" b="0" i="0">
                <a:solidFill>
                  <a:srgbClr val="16213A"/>
                </a:solidFill>
                <a:latin typeface="Consolas"/>
                <a:ea typeface="Malgun Gothic"/>
                <a:cs typeface="Malgun Gothic"/>
              </a:rPr>
              <a:t>info</a:t>
            </a:r>
            <a:r>
              <a:rPr sz="1050" b="0" i="0">
                <a:solidFill>
                  <a:srgbClr val="16213A"/>
                </a:solidFill>
                <a:latin typeface="Arial"/>
                <a:ea typeface="Malgun Gothic"/>
                <a:cs typeface="Malgun Gothic"/>
              </a:rPr>
              <a:t>에 넣지 않은 것이다 — </a:t>
            </a:r>
            <a:r>
              <a:rPr sz="1050" b="0" i="0">
                <a:solidFill>
                  <a:srgbClr val="16213A"/>
                </a:solidFill>
                <a:latin typeface="Consolas"/>
                <a:ea typeface="Malgun Gothic"/>
                <a:cs typeface="Malgun Gothic"/>
              </a:rPr>
              <a:t>eval/runner.py</a:t>
            </a:r>
            <a:r>
              <a:rPr sz="1050" b="0" i="0">
                <a:solidFill>
                  <a:srgbClr val="16213A"/>
                </a:solidFill>
                <a:latin typeface="Arial"/>
                <a:ea typeface="Malgun Gothic"/>
                <a:cs typeface="Malgun Gothic"/>
              </a:rPr>
              <a:t>는 Controller가 스스로 신고한 값만 모으므로 </a:t>
            </a:r>
            <a:r>
              <a:rPr sz="1050" b="0" i="0">
                <a:solidFill>
                  <a:srgbClr val="16213A"/>
                </a:solidFill>
                <a:latin typeface="Consolas"/>
                <a:ea typeface="Malgun Gothic"/>
                <a:cs typeface="Malgun Gothic"/>
              </a:rPr>
              <a:t>guidance+tiny</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control_ms_mean</a:t>
            </a:r>
            <a:r>
              <a:rPr sz="1050" b="0" i="0">
                <a:solidFill>
                  <a:srgbClr val="16213A"/>
                </a:solidFill>
                <a:latin typeface="Arial"/>
                <a:ea typeface="Malgun Gothic"/>
                <a:cs typeface="Malgun Gothic"/>
              </a:rPr>
              <a:t>이 12행 모두 정확히 0.0으로 기록돼 있었고, 그 빈자리를 문서가 따로 잰 숫자로 메우고 있었다. 신고를 넣고 다시 재니 </a:t>
            </a:r>
            <a:r>
              <a:rPr sz="1050" b="1" i="0">
                <a:solidFill>
                  <a:srgbClr val="16213A"/>
                </a:solidFill>
                <a:latin typeface="Arial"/>
                <a:ea typeface="Malgun Gothic"/>
                <a:cs typeface="Malgun Gothic"/>
              </a:rPr>
              <a:t>0.49 ms</a:t>
            </a:r>
            <a:r>
              <a:rPr sz="1050" b="0" i="0">
                <a:solidFill>
                  <a:srgbClr val="16213A"/>
                </a:solidFill>
                <a:latin typeface="Arial"/>
                <a:ea typeface="Malgun Gothic"/>
                <a:cs typeface="Malgun Gothic"/>
              </a:rPr>
              <a:t>다(1,257회 호출 평균). 내역은 </a:t>
            </a:r>
            <a:r>
              <a:rPr sz="1050" b="0" i="0">
                <a:solidFill>
                  <a:srgbClr val="16213A"/>
                </a:solidFill>
                <a:latin typeface="Consolas"/>
                <a:ea typeface="Malgun Gothic"/>
                <a:cs typeface="Malgun Gothic"/>
              </a:rPr>
              <a:t>observe()</a:t>
            </a:r>
            <a:r>
              <a:rPr sz="1050" b="0" i="0">
                <a:solidFill>
                  <a:srgbClr val="16213A"/>
                </a:solidFill>
                <a:latin typeface="Arial"/>
                <a:ea typeface="Malgun Gothic"/>
                <a:cs typeface="Malgun Gothic"/>
              </a:rPr>
              <a:t> 0.09 ms + </a:t>
            </a:r>
            <a:r>
              <a:rPr sz="1050" b="0" i="0">
                <a:solidFill>
                  <a:srgbClr val="16213A"/>
                </a:solidFill>
                <a:latin typeface="Consolas"/>
                <a:ea typeface="Malgun Gothic"/>
                <a:cs typeface="Malgun Gothic"/>
              </a:rPr>
              <a:t>act()</a:t>
            </a:r>
            <a:r>
              <a:rPr sz="1050" b="0" i="0">
                <a:solidFill>
                  <a:srgbClr val="16213A"/>
                </a:solidFill>
                <a:latin typeface="Arial"/>
                <a:ea typeface="Malgun Gothic"/>
                <a:cs typeface="Malgun Gothic"/>
              </a:rPr>
              <a:t> 0.01 ms + 나머지가 torch·numpy 변환이라, 파이썬 쪽은 호출당 오버헤드가 지배한다. 같은 가중치가 브라우저에서는 0.02 ms다.</a:t>
            </a:r>
          </a:p>
        </p:txBody>
      </p:sp>
      <p:sp>
        <p:nvSpPr>
          <p:cNvPr id="10" name="TextBox 9"/>
          <p:cNvSpPr txBox="1"/>
          <p:nvPr/>
        </p:nvSpPr>
        <p:spPr>
          <a:xfrm>
            <a:off x="609600" y="492452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그래서 정직한 비율은 약 1/25다</a:t>
            </a:r>
            <a:r>
              <a:rPr sz="1050" b="0" i="0">
                <a:solidFill>
                  <a:srgbClr val="16213A"/>
                </a:solidFill>
                <a:latin typeface="Arial"/>
                <a:ea typeface="Malgun Gothic"/>
                <a:cs typeface="Malgun Gothic"/>
              </a:rPr>
              <a:t>(0.49 ms 대 12.4 ms). 브라우저 쪽 1/180과 다른 것은 정책이 달라서가 아니라 </a:t>
            </a:r>
            <a:r>
              <a:rPr sz="1050" b="1" i="0">
                <a:solidFill>
                  <a:srgbClr val="16213A"/>
                </a:solidFill>
                <a:latin typeface="Arial"/>
                <a:ea typeface="Malgun Gothic"/>
                <a:cs typeface="Malgun Gothic"/>
              </a:rPr>
              <a:t>파이썬 호출 오버헤드</a:t>
            </a:r>
            <a:r>
              <a:rPr sz="1050" b="0" i="0">
                <a:solidFill>
                  <a:srgbClr val="16213A"/>
                </a:solidFill>
                <a:latin typeface="Arial"/>
                <a:ea typeface="Malgun Gothic"/>
                <a:cs typeface="Malgun Gothic"/>
              </a:rPr>
              <a:t> 때문이다.</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작업 기록 · E.12 Playground의 학습 Controller와 지도 없는 대조군 (TP-0128·TP-0129)</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TP-0129 — 지도는 바퀴에게만 필수다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180 / 183</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위 표의 네 줄만 떼어 보면 결론이 하나다.</a:t>
            </a:r>
          </a:p>
        </p:txBody>
      </p:sp>
      <p:graphicFrame>
        <p:nvGraphicFramePr>
          <p:cNvPr id="6" name="Table 5"/>
          <p:cNvGraphicFramePr>
            <a:graphicFrameLocks noGrp="1"/>
          </p:cNvGraphicFramePr>
          <p:nvPr/>
        </p:nvGraphicFramePr>
        <p:xfrm>
          <a:off x="609600" y="1549995"/>
          <a:ext cx="10966450" cy="591264"/>
        </p:xfrm>
        <a:graphic>
          <a:graphicData uri="http://schemas.openxmlformats.org/drawingml/2006/table">
            <a:tbl>
              <a:tblPr firstRow="1" bandRow="1">
                <a:tableStyleId>{5C22544A-7EE6-4342-B048-85BDC9FD1C3A}</a:tableStyleId>
              </a:tblPr>
              <a:tblGrid>
                <a:gridCol w="2932906"/>
                <a:gridCol w="1947466"/>
                <a:gridCol w="2343646"/>
                <a:gridCol w="3742432"/>
              </a:tblGrid>
              <a:tr h="197088">
                <a:tc>
                  <a:txBody>
                    <a:bodyPr wrap="square"/>
                    <a:lstStyle/>
                    <a:p>
                      <a:r>
                        <a:rPr sz="800" b="1" i="0">
                          <a:solidFill>
                            <a:srgbClr val="F4F1EA"/>
                          </a:solidFill>
                          <a:latin typeface="Arial"/>
                          <a:ea typeface="Malgun Gothic"/>
                          <a:cs typeface="Malgun Gothic"/>
                        </a:rPr>
                        <a:t>로봇</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지도 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지도 없음</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지도가 사 주는 것</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스워브(바퀴)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8/12</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0/12</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성공 전부</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사족 보행</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12/12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8/12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12개 중 4개</a:t>
                      </a:r>
                    </a:p>
                  </a:txBody>
                  <a:tcPr marL="63500" marR="63500" marT="12700" marB="12700">
                    <a:solidFill>
                      <a:srgbClr val="F3F0E8"/>
                    </a:solidFill>
                  </a:tcPr>
                </a:tc>
              </a:tr>
            </a:tbl>
          </a:graphicData>
        </a:graphic>
      </p:graphicFrame>
      <p:sp>
        <p:nvSpPr>
          <p:cNvPr id="7" name="TextBox 6"/>
          <p:cNvSpPr txBox="1"/>
          <p:nvPr/>
        </p:nvSpPr>
        <p:spPr>
          <a:xfrm>
            <a:off x="609600" y="238432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갈리나.</a:t>
            </a:r>
            <a:r>
              <a:rPr sz="1050" b="0" i="0">
                <a:solidFill>
                  <a:srgbClr val="16213A"/>
                </a:solidFill>
                <a:latin typeface="Arial"/>
                <a:ea typeface="Malgun Gothic"/>
                <a:cs typeface="Malgun Gothic"/>
              </a:rPr>
              <a:t> 사족의 </a:t>
            </a:r>
            <a:r>
              <a:rPr sz="1050" b="0" i="0">
                <a:solidFill>
                  <a:srgbClr val="16213A"/>
                </a:solidFill>
                <a:latin typeface="Consolas"/>
                <a:ea typeface="Malgun Gothic"/>
                <a:cs typeface="Malgun Gothic"/>
              </a:rPr>
              <a:t>max_step_m</a:t>
            </a:r>
            <a:r>
              <a:rPr sz="1050" b="0" i="0">
                <a:solidFill>
                  <a:srgbClr val="16213A"/>
                </a:solidFill>
                <a:latin typeface="Arial"/>
                <a:ea typeface="Malgun Gothic"/>
                <a:cs typeface="Malgun Gothic"/>
              </a:rPr>
              <a:t>은 0.20 m라 15 cm 연석이 비용 0.64로 </a:t>
            </a:r>
            <a:r>
              <a:rPr sz="1050" b="1" i="0">
                <a:solidFill>
                  <a:srgbClr val="16213A"/>
                </a:solidFill>
                <a:latin typeface="Arial"/>
                <a:ea typeface="Malgun Gothic"/>
                <a:cs typeface="Malgun Gothic"/>
              </a:rPr>
              <a:t>지나갈 수 있는 땅</a:t>
            </a:r>
            <a:r>
              <a:rPr sz="1050" b="0" i="0">
                <a:solidFill>
                  <a:srgbClr val="16213A"/>
                </a:solidFill>
                <a:latin typeface="Arial"/>
                <a:ea typeface="Malgun Gothic"/>
                <a:cs typeface="Malgun Gothic"/>
              </a:rPr>
              <a:t>이고, 바퀴는 0.08 m라 </a:t>
            </a:r>
            <a:r>
              <a:rPr sz="1050" b="1" i="0">
                <a:solidFill>
                  <a:srgbClr val="16213A"/>
                </a:solidFill>
                <a:latin typeface="Arial"/>
                <a:ea typeface="Malgun Gothic"/>
                <a:cs typeface="Malgun Gothic"/>
              </a:rPr>
              <a:t>같은 연석이 치명</a:t>
            </a:r>
            <a:r>
              <a:rPr sz="1050" b="0" i="0">
                <a:solidFill>
                  <a:srgbClr val="16213A"/>
                </a:solidFill>
                <a:latin typeface="Arial"/>
                <a:ea typeface="Malgun Gothic"/>
                <a:cs typeface="Malgun Gothic"/>
              </a:rPr>
              <a:t>이다(</a:t>
            </a:r>
            <a:r>
              <a:rPr sz="1050" b="0" i="0">
                <a:solidFill>
                  <a:srgbClr val="16213A"/>
                </a:solidFill>
                <a:latin typeface="Consolas"/>
                <a:ea typeface="Malgun Gothic"/>
                <a:cs typeface="Malgun Gothic"/>
              </a:rPr>
              <a:t>js/robots.js</a:t>
            </a:r>
            <a:r>
              <a:rPr sz="1050" b="0" i="0">
                <a:solidFill>
                  <a:srgbClr val="16213A"/>
                </a:solidFill>
                <a:latin typeface="Arial"/>
                <a:ea typeface="Malgun Gothic"/>
                <a:cs typeface="Malgun Gothic"/>
              </a:rPr>
              <a:t>와 </a:t>
            </a:r>
            <a:r>
              <a:rPr sz="1050" b="0" i="0">
                <a:solidFill>
                  <a:srgbClr val="16213A"/>
                </a:solidFill>
                <a:latin typeface="Consolas"/>
                <a:ea typeface="Malgun Gothic"/>
                <a:cs typeface="Malgun Gothic"/>
              </a:rPr>
              <a:t>tiny_policy.ROBOTS</a:t>
            </a:r>
            <a:r>
              <a:rPr sz="1050" b="0" i="0">
                <a:solidFill>
                  <a:srgbClr val="16213A"/>
                </a:solidFill>
                <a:latin typeface="Arial"/>
                <a:ea typeface="Malgun Gothic"/>
                <a:cs typeface="Malgun Gothic"/>
              </a:rPr>
              <a:t>가 같은 표를 쓴다). 그래서 사족은 직선으로 밀고 가도 대부분 통과하고, 바퀴는 경로가 없으면 첫 연석에서 끝난다. </a:t>
            </a:r>
            <a:r>
              <a:rPr sz="1050" b="1" i="0">
                <a:solidFill>
                  <a:srgbClr val="C2410C"/>
                </a:solidFill>
                <a:latin typeface="Arial"/>
                <a:ea typeface="Malgun Gothic"/>
                <a:cs typeface="Malgun Gothic"/>
              </a:rPr>
              <a:t>지도가 비싼 쪽은 </a:t>
            </a:r>
            <a:r>
              <a:rPr sz="1050" b="1" i="0">
                <a:solidFill>
                  <a:srgbClr val="C2410C"/>
                </a:solidFill>
                <a:latin typeface="Arial"/>
                <a:ea typeface="Malgun Gothic"/>
                <a:cs typeface="Malgun Gothic"/>
              </a:rPr>
              <a:t>기동력이 낮은 쪽</a:t>
            </a:r>
            <a:r>
              <a:rPr sz="1050" b="1" i="0">
                <a:solidFill>
                  <a:srgbClr val="C2410C"/>
                </a:solidFill>
                <a:latin typeface="Arial"/>
                <a:ea typeface="Malgun Gothic"/>
                <a:cs typeface="Malgun Gothic"/>
              </a:rPr>
              <a:t>이다.</a:t>
            </a:r>
          </a:p>
        </p:txBody>
      </p:sp>
      <p:sp>
        <p:nvSpPr>
          <p:cNvPr id="8" name="TextBox 7"/>
          <p:cNvSpPr txBox="1"/>
          <p:nvPr/>
        </p:nvSpPr>
        <p:spPr>
          <a:xfrm>
            <a:off x="609600" y="2906216"/>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이 비교의 한계를 분명히 적는다.</a:t>
            </a:r>
          </a:p>
        </p:txBody>
      </p:sp>
      <p:sp>
        <p:nvSpPr>
          <p:cNvPr id="9" name="TextBox 8"/>
          <p:cNvSpPr txBox="1"/>
          <p:nvPr/>
        </p:nvSpPr>
        <p:spPr>
          <a:xfrm>
            <a:off x="609600" y="3211612"/>
            <a:ext cx="10972800" cy="9167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다리 동역학이 없다. 사족은 몸체를 twist로 움직이고 걸음새 흔들림만 더한 것이라(Playground README 5절), "넘어간다"가 실제 발디딤으로 검증된 것이 아니다. </a:t>
            </a:r>
            <a:r>
              <a:rPr sz="1050" b="1" i="0">
                <a:solidFill>
                  <a:srgbClr val="C2410C"/>
                </a:solidFill>
                <a:latin typeface="Arial"/>
                <a:ea typeface="Malgun Gothic"/>
                <a:cs typeface="Malgun Gothic"/>
              </a:rPr>
              <a:t>DreamWaQ의 결론을 재현한 것이 아니라, 그 전제가 travplan 지형에서 어떤 모양인지를 보인 것이다.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지도 없는 쪽은 </a:t>
            </a:r>
            <a:r>
              <a:rPr sz="1050" b="1" i="0">
                <a:solidFill>
                  <a:srgbClr val="16213A"/>
                </a:solidFill>
                <a:latin typeface="Arial"/>
                <a:ea typeface="Malgun Gothic"/>
                <a:cs typeface="Malgun Gothic"/>
              </a:rPr>
              <a:t>목표 직선</a:t>
            </a:r>
            <a:r>
              <a:rPr sz="1050" b="0" i="0">
                <a:solidFill>
                  <a:srgbClr val="16213A"/>
                </a:solidFill>
                <a:latin typeface="Arial"/>
                <a:ea typeface="Malgun Gothic"/>
                <a:cs typeface="Malgun Gothic"/>
              </a:rPr>
              <a:t>을 받는다. 방향 지시까지 없애면 그것은 locomotion이 아니라 탐색 문제가 된다.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치명 판정은 여전히 GT 지도이고, 그 GT는 로봇별 한계로 만든 것이다(A.13.5의 순환 문제가 여기도 있다).</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작업 기록 · E.12 Playground의 학습 Controller와 지도 없는 대조군 (TP-0128·TP-0129)</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파이썬과 브라우저가 같은 숫자를 내는가 — 황금 벡터로 고정했다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181 / 183</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지형은 맞출 수 없다. </a:t>
            </a:r>
            <a:r>
              <a:rPr sz="1050" b="1" i="0">
                <a:solidFill>
                  <a:srgbClr val="C2410C"/>
                </a:solidFill>
                <a:latin typeface="Arial"/>
                <a:ea typeface="Malgun Gothic"/>
                <a:cs typeface="Malgun Gothic"/>
              </a:rPr>
              <a:t>파이썬과 JS의 난수가 달라 seed가 같아도 지형이 다르다</a:t>
            </a:r>
            <a:r>
              <a:rPr sz="1050" b="0" i="0">
                <a:solidFill>
                  <a:srgbClr val="16213A"/>
                </a:solidFill>
                <a:latin typeface="Arial"/>
                <a:ea typeface="Malgun Gothic"/>
                <a:cs typeface="Malgun Gothic"/>
              </a:rPr>
              <a:t> (Playground README 5절). 그래서 </a:t>
            </a:r>
            <a:r>
              <a:rPr sz="1050" b="1" i="0">
                <a:solidFill>
                  <a:srgbClr val="16213A"/>
                </a:solidFill>
                <a:latin typeface="Arial"/>
                <a:ea typeface="Malgun Gothic"/>
                <a:cs typeface="Malgun Gothic"/>
              </a:rPr>
              <a:t>지형 대신 배열을 공유한다.</a:t>
            </a:r>
            <a:r>
              <a:rPr sz="1050" b="0" i="0">
                <a:solidFill>
                  <a:srgbClr val="16213A"/>
                </a:solidFill>
                <a:latin typeface="Arial"/>
                <a:ea typeface="Malgun Gothic"/>
                <a:cs typeface="Malgun Gothic"/>
              </a:rPr>
              <a:t> 두 쪽이 공식으로 다시 만드는 합성 지도 (</a:t>
            </a:r>
            <a:r>
              <a:rPr sz="1050" b="0" i="0">
                <a:solidFill>
                  <a:srgbClr val="16213A"/>
                </a:solidFill>
                <a:latin typeface="Consolas"/>
                <a:ea typeface="Malgun Gothic"/>
                <a:cs typeface="Malgun Gothic"/>
              </a:rPr>
              <a:t>cost = ((r*7 + c*13) % 97) / 96</a:t>
            </a:r>
            <a:r>
              <a:rPr sz="1050" b="0" i="0">
                <a:solidFill>
                  <a:srgbClr val="16213A"/>
                </a:solidFill>
                <a:latin typeface="Arial"/>
                <a:ea typeface="Malgun Gothic"/>
                <a:cs typeface="Malgun Gothic"/>
              </a:rPr>
              <a:t>) 위에서 자세 6개 × 정책 4개의 관측 50개와 출력을 맞춘다.</a:t>
            </a:r>
          </a:p>
        </p:txBody>
      </p:sp>
      <p:sp>
        <p:nvSpPr>
          <p:cNvPr id="6" name="TextBox 5"/>
          <p:cNvSpPr txBox="1"/>
          <p:nvPr/>
        </p:nvSpPr>
        <p:spPr>
          <a:xfrm>
            <a:off x="609600" y="1766491"/>
            <a:ext cx="10972800" cy="472281"/>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 node scripts/check_policy.mjs</a:t>
            </a:r>
          </a:p>
          <a:p>
            <a:r>
              <a:rPr sz="750" b="0" i="0">
                <a:solidFill>
                  <a:srgbClr val="F4F1EA"/>
                </a:solidFill>
                <a:latin typeface="Consolas"/>
                <a:ea typeface="Malgun Gothic"/>
                <a:cs typeface="Malgun Gothic"/>
              </a:rPr>
              <a:t>golden: 24/24 cases match python, worst |diff| 5.00e-13</a:t>
            </a:r>
          </a:p>
        </p:txBody>
      </p:sp>
      <p:sp>
        <p:nvSpPr>
          <p:cNvPr id="7" name="TextBox 6"/>
          <p:cNvSpPr txBox="1"/>
          <p:nvPr/>
        </p:nvSpPr>
        <p:spPr>
          <a:xfrm>
            <a:off x="609600" y="2327672"/>
            <a:ext cx="10972800" cy="43299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처음에는 2e-8이 어긋났다.</a:t>
            </a:r>
            <a:r>
              <a:rPr sz="1050" b="0" i="0">
                <a:solidFill>
                  <a:srgbClr val="16213A"/>
                </a:solidFill>
                <a:latin typeface="Arial"/>
                <a:ea typeface="Malgun Gothic"/>
                <a:cs typeface="Malgun Gothic"/>
              </a:rPr>
              <a:t> 원인은 알고리즘이 아니라 </a:t>
            </a:r>
            <a:r>
              <a:rPr sz="1050" b="1" i="0">
                <a:solidFill>
                  <a:srgbClr val="16213A"/>
                </a:solidFill>
                <a:latin typeface="Arial"/>
                <a:ea typeface="Malgun Gothic"/>
                <a:cs typeface="Malgun Gothic"/>
              </a:rPr>
              <a:t>저장 정밀도</a:t>
            </a:r>
            <a:r>
              <a:rPr sz="1050" b="0" i="0">
                <a:solidFill>
                  <a:srgbClr val="16213A"/>
                </a:solidFill>
                <a:latin typeface="Arial"/>
                <a:ea typeface="Malgun Gothic"/>
                <a:cs typeface="Malgun Gothic"/>
              </a:rPr>
              <a:t>였다 — 검사 하네스가 지도를 </a:t>
            </a:r>
            <a:r>
              <a:rPr sz="1050" b="0" i="0">
                <a:solidFill>
                  <a:srgbClr val="16213A"/>
                </a:solidFill>
                <a:latin typeface="Consolas"/>
                <a:ea typeface="Malgun Gothic"/>
                <a:cs typeface="Malgun Gothic"/>
              </a:rPr>
              <a:t>Float32Array</a:t>
            </a:r>
            <a:r>
              <a:rPr sz="1050" b="0" i="0">
                <a:solidFill>
                  <a:srgbClr val="16213A"/>
                </a:solidFill>
                <a:latin typeface="Arial"/>
                <a:ea typeface="Malgun Gothic"/>
                <a:cs typeface="Malgun Gothic"/>
              </a:rPr>
              <a:t>로 담아 공식 값 자체가 달랐다. Float64로 바꾸니 5e-13이 됐다. 진짜 Playground는 Float32를 쓰므로, 이 수치는 "같은 입력에 같은 계산"을 보장하지 "같은 지도"를 보장하지 않는다.</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작업 기록 · E.12 Playground의 학습 Controller와 지도 없는 대조군 (TP-0128·TP-0129)</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정직하게 적어 둘 것</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182 / 183</a:t>
            </a:r>
          </a:p>
        </p:txBody>
      </p:sp>
      <p:sp>
        <p:nvSpPr>
          <p:cNvPr id="5" name="TextBox 4"/>
          <p:cNvSpPr txBox="1"/>
          <p:nvPr/>
        </p:nvSpPr>
        <p:spPr>
          <a:xfrm>
            <a:off x="609600" y="1244600"/>
            <a:ext cx="10972800" cy="183356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C2410C"/>
                </a:solidFill>
                <a:latin typeface="Arial"/>
                <a:ea typeface="Malgun Gothic"/>
                <a:cs typeface="Malgun Gothic"/>
              </a:rPr>
              <a:t>바퀴에서는 MPPI를 이기지 못한다.</a:t>
            </a:r>
            <a:r>
              <a:rPr sz="1050" b="0" i="0">
                <a:solidFill>
                  <a:srgbClr val="16213A"/>
                </a:solidFill>
                <a:latin typeface="Arial"/>
                <a:ea typeface="Malgun Gothic"/>
                <a:cs typeface="Malgun Gothic"/>
              </a:rPr>
              <a:t> 8/12 대 12/12다. 롤아웃이 없으니 "지금 보이는 50개"로만 결정하고, 실패 4건이 모두 </a:t>
            </a:r>
            <a:r>
              <a:rPr sz="1050" b="0" i="0">
                <a:solidFill>
                  <a:srgbClr val="16213A"/>
                </a:solidFill>
                <a:latin typeface="Consolas"/>
                <a:ea typeface="Malgun Gothic"/>
                <a:cs typeface="Malgun Gothic"/>
              </a:rPr>
              <a:t>lethal</a:t>
            </a:r>
            <a:r>
              <a:rPr sz="1050" b="0" i="0">
                <a:solidFill>
                  <a:srgbClr val="16213A"/>
                </a:solidFill>
                <a:latin typeface="Arial"/>
                <a:ea typeface="Malgun Gothic"/>
                <a:cs typeface="Malgun Gothic"/>
              </a:rPr>
              <a:t>이다. 연석 시연(</a:t>
            </a:r>
            <a:r>
              <a:rPr sz="1050" b="0" i="0">
                <a:solidFill>
                  <a:srgbClr val="16213A"/>
                </a:solidFill>
                <a:latin typeface="Consolas"/>
                <a:ea typeface="Malgun Gothic"/>
                <a:cs typeface="Malgun Gothic"/>
              </a:rPr>
              <a:t>TP-0128-limit</a:t>
            </a:r>
            <a:r>
              <a:rPr sz="1050" b="0" i="0">
                <a:solidFill>
                  <a:srgbClr val="16213A"/>
                </a:solidFill>
                <a:latin typeface="Arial"/>
                <a:ea typeface="Malgun Gothic"/>
                <a:cs typeface="Malgun Gothic"/>
              </a:rPr>
              <a:t>)에서 보이듯 경사로를 지나친 뒤 되돌아가는 행동이 나오지 않는다 — 그 행동에는 앞을 굴려 보는 과정이 필요하다.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대신 제어 시간이 짧다.</a:t>
            </a:r>
            <a:r>
              <a:rPr sz="1050" b="0" i="0">
                <a:solidFill>
                  <a:srgbClr val="16213A"/>
                </a:solidFill>
                <a:latin typeface="Arial"/>
                <a:ea typeface="Malgun Gothic"/>
                <a:cs typeface="Malgun Gothic"/>
              </a:rPr>
              <a:t> 브라우저 0.02 ms 대 3.6–4.8 ms(약 1/180), 저장소 벤치마크 0.49 ms 대 12.4 ms(약 1/25) (파이썬 쪽은 torch·numpy 호출 비용이 지배한다). </a:t>
            </a:r>
            <a:r>
              <a:rPr sz="1050" b="1" i="0">
                <a:solidFill>
                  <a:srgbClr val="C2410C"/>
                </a:solidFill>
                <a:latin typeface="Arial"/>
                <a:ea typeface="Malgun Gothic"/>
                <a:cs typeface="Malgun Gothic"/>
              </a:rPr>
              <a:t>Orin에서 제어 예산이 모자랄 때 어느 쪽을 깎을지의 자료가 된다</a:t>
            </a:r>
            <a:r>
              <a:rPr sz="1050" b="0" i="0">
                <a:solidFill>
                  <a:srgbClr val="16213A"/>
                </a:solidFill>
                <a:latin typeface="Arial"/>
                <a:ea typeface="Malgun Gothic"/>
                <a:cs typeface="Malgun Gothic"/>
              </a:rPr>
              <a:t> — MPPI의 K를 줄이는 것과 이 정책으로 갈아타는 것이 같은 축의 선택지다.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학습과 실행의 지도가 다르다.</a:t>
            </a:r>
            <a:r>
              <a:rPr sz="1050" b="0" i="0">
                <a:solidFill>
                  <a:srgbClr val="16213A"/>
                </a:solidFill>
                <a:latin typeface="Arial"/>
                <a:ea typeface="Malgun Gothic"/>
                <a:cs typeface="Malgun Gothic"/>
              </a:rPr>
              <a:t> GT로 배우고 belief로 돈다. </a:t>
            </a:r>
            <a:r>
              <a:rPr sz="1050" b="1" i="0">
                <a:solidFill>
                  <a:srgbClr val="C2410C"/>
                </a:solidFill>
                <a:latin typeface="Arial"/>
                <a:ea typeface="Malgun Gothic"/>
                <a:cs typeface="Malgun Gothic"/>
              </a:rPr>
              <a:t>그런데 방향이 한쪽이 아니다</a:t>
            </a:r>
            <a:r>
              <a:rPr sz="1050" b="0" i="0">
                <a:solidFill>
                  <a:srgbClr val="16213A"/>
                </a:solidFill>
                <a:latin typeface="Arial"/>
                <a:ea typeface="Malgun Gothic"/>
                <a:cs typeface="Malgun Gothic"/>
              </a:rPr>
              <a:t> — 스워브는 파이썬 10/12가 브라우저 8/12로 내려가고, 사족은 10/12가 12/12로 올라간다. 두 환경은 지도 말고도 재계획 주기·가림·시작 자세가 달라서, </a:t>
            </a:r>
            <a:r>
              <a:rPr sz="1050" b="1" i="0">
                <a:solidFill>
                  <a:srgbClr val="C2410C"/>
                </a:solidFill>
                <a:latin typeface="Arial"/>
                <a:ea typeface="Malgun Gothic"/>
                <a:cs typeface="Malgun Gothic"/>
              </a:rPr>
              <a:t>이 차이를 지도 탓으로 분해해 재지는 않았다.</a:t>
            </a:r>
          </a:p>
          <a:p>
            <a:pPr>
              <a:spcBef>
                <a:spcPts val="200"/>
              </a:spcBef>
            </a:pPr>
            <a:r>
              <a:rPr sz="1050" b="0" i="0">
                <a:solidFill>
                  <a:srgbClr val="5A6478"/>
                </a:solidFill>
                <a:latin typeface="Arial"/>
                <a:ea typeface="Malgun Gothic"/>
                <a:cs typeface="Malgun Gothic"/>
              </a:rPr>
              <a:t>4. </a:t>
            </a:r>
            <a:r>
              <a:rPr sz="1050" b="1" i="0">
                <a:solidFill>
                  <a:srgbClr val="16213A"/>
                </a:solidFill>
                <a:latin typeface="Arial"/>
                <a:ea typeface="Malgun Gothic"/>
                <a:cs typeface="Malgun Gothic"/>
              </a:rPr>
              <a:t>보행자가 없다.</a:t>
            </a:r>
            <a:r>
              <a:rPr sz="1050" b="0" i="0">
                <a:solidFill>
                  <a:srgbClr val="16213A"/>
                </a:solidFill>
                <a:latin typeface="Arial"/>
                <a:ea typeface="Malgun Gothic"/>
                <a:cs typeface="Malgun Gothic"/>
              </a:rPr>
              <a:t> 학습 환경에 동적 장애물이 없으므로 보행자를 켜면 이 정책은 피하지 못한다.</a:t>
            </a:r>
          </a:p>
          <a:p>
            <a:pPr>
              <a:spcBef>
                <a:spcPts val="200"/>
              </a:spcBef>
            </a:pPr>
            <a:r>
              <a:rPr sz="1050" b="0" i="0">
                <a:solidFill>
                  <a:srgbClr val="5A6478"/>
                </a:solidFill>
                <a:latin typeface="Arial"/>
                <a:ea typeface="Malgun Gothic"/>
                <a:cs typeface="Malgun Gothic"/>
              </a:rPr>
              <a:t>5. </a:t>
            </a:r>
            <a:r>
              <a:rPr sz="1050" b="1" i="0">
                <a:solidFill>
                  <a:srgbClr val="16213A"/>
                </a:solidFill>
                <a:latin typeface="Arial"/>
                <a:ea typeface="Malgun Gothic"/>
                <a:cs typeface="Malgun Gothic"/>
              </a:rPr>
              <a:t>자세 입력의 train/test 불일치.</a:t>
            </a:r>
            <a:r>
              <a:rPr sz="1050" b="0" i="0">
                <a:solidFill>
                  <a:srgbClr val="16213A"/>
                </a:solidFill>
                <a:latin typeface="Arial"/>
                <a:ea typeface="Malgun Gothic"/>
                <a:cs typeface="Malgun Gothic"/>
              </a:rPr>
              <a:t> 학습에서는 지도 기울기로 구한 자세를, Playground에서는 4점 접지 + 걸음새 흔들림이 섞인 자세를 준다. 둘 다 "몸이 느끼는 자세"지만 같은 값은 아니다.</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Controller · 안전 · 작업 기록 · E.12 Playground의 학습 Controller와 지도 없는 대조군 (TP-0128·TP-0129)</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재현</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Controller · 안전 (docs/research-controller.md)    183 / 183</a:t>
            </a:r>
          </a:p>
        </p:txBody>
      </p:sp>
      <p:sp>
        <p:nvSpPr>
          <p:cNvPr id="5" name="TextBox 4"/>
          <p:cNvSpPr txBox="1"/>
          <p:nvPr/>
        </p:nvSpPr>
        <p:spPr>
          <a:xfrm>
            <a:off x="609600" y="1244600"/>
            <a:ext cx="10972800" cy="2091928"/>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 정책 넷(로봇 둘 × 지도 봄/없음). --log는 세대별 기록을 남긴다(results/는 git에 없다)</a:t>
            </a:r>
          </a:p>
          <a:p>
            <a:r>
              <a:rPr sz="750" b="0" i="0">
                <a:solidFill>
                  <a:srgbClr val="F4F1EA"/>
                </a:solidFill>
                <a:latin typeface="Consolas"/>
                <a:ea typeface="Malgun Gothic"/>
                <a:cs typeface="Malgun Gothic"/>
              </a:rPr>
              <a:t>for cfg in "swerve::tiny-swerve" "swerve:--blind:tiny-swerve-blind" \</a:t>
            </a:r>
          </a:p>
          <a:p>
            <a:r>
              <a:rPr sz="750" b="0" i="0">
                <a:solidFill>
                  <a:srgbClr val="F4F1EA"/>
                </a:solidFill>
                <a:latin typeface="Consolas"/>
                <a:ea typeface="Malgun Gothic"/>
                <a:cs typeface="Malgun Gothic"/>
              </a:rPr>
              <a:t>           "quadruped::tiny-quadruped" "quadruped:--blind:tiny-quadruped-blind"; do</a:t>
            </a:r>
          </a:p>
          <a:p>
            <a:r>
              <a:rPr sz="750" b="0" i="0">
                <a:solidFill>
                  <a:srgbClr val="F4F1EA"/>
                </a:solidFill>
                <a:latin typeface="Consolas"/>
                <a:ea typeface="Malgun Gothic"/>
                <a:cs typeface="Malgun Gothic"/>
              </a:rPr>
              <a:t>  IFS=: read -r robot flag name &lt;&lt;&lt; "$cfg"</a:t>
            </a:r>
          </a:p>
          <a:p>
            <a:r>
              <a:rPr sz="750" b="0" i="0">
                <a:solidFill>
                  <a:srgbClr val="F4F1EA"/>
                </a:solidFill>
                <a:latin typeface="Consolas"/>
                <a:ea typeface="Malgun Gothic"/>
                <a:cs typeface="Malgun Gothic"/>
              </a:rPr>
              <a:t>  PYTHONPATH=. python scripts/train_playground_policy.py --robot "$robot" $flag \</a:t>
            </a:r>
          </a:p>
          <a:p>
            <a:r>
              <a:rPr sz="750" b="0" i="0">
                <a:solidFill>
                  <a:srgbClr val="F4F1EA"/>
                </a:solidFill>
                <a:latin typeface="Consolas"/>
                <a:ea typeface="Malgun Gothic"/>
                <a:cs typeface="Malgun Gothic"/>
              </a:rPr>
              <a:t>      --gens 250 --pop 48 --train-seeds 3 4 5 6 7 \</a:t>
            </a:r>
          </a:p>
          <a:p>
            <a:r>
              <a:rPr sz="750" b="0" i="0">
                <a:solidFill>
                  <a:srgbClr val="F4F1EA"/>
                </a:solidFill>
                <a:latin typeface="Consolas"/>
                <a:ea typeface="Malgun Gothic"/>
                <a:cs typeface="Malgun Gothic"/>
              </a:rPr>
              <a:t>      --out "travplan/control/policies/$name.json" --log "results/tp0128-$name.json"</a:t>
            </a:r>
          </a:p>
          <a:p>
            <a:r>
              <a:rPr sz="750" b="0" i="0">
                <a:solidFill>
                  <a:srgbClr val="F4F1EA"/>
                </a:solidFill>
                <a:latin typeface="Consolas"/>
                <a:ea typeface="Malgun Gothic"/>
                <a:cs typeface="Malgun Gothic"/>
              </a:rPr>
              <a:t>done</a:t>
            </a:r>
          </a:p>
          <a:p>
            <a:r>
              <a:rPr sz="750" b="0" i="0">
                <a:solidFill>
                  <a:srgbClr val="F4F1EA"/>
                </a:solidFill>
                <a:latin typeface="Consolas"/>
                <a:ea typeface="Malgun Gothic"/>
                <a:cs typeface="Malgun Gothic"/>
              </a:rPr>
              <a:t>PYTHONPATH=. python scripts/export_playground_policy.py       # policy_weights.js + golden.json</a:t>
            </a:r>
          </a:p>
          <a:p>
            <a:r>
              <a:rPr sz="750" b="0" i="0">
                <a:solidFill>
                  <a:srgbClr val="F4F1EA"/>
                </a:solidFill>
                <a:latin typeface="Consolas"/>
                <a:ea typeface="Malgun Gothic"/>
                <a:cs typeface="Malgun Gothic"/>
              </a:rPr>
              <a:t>node scripts/check_policy.mjs --sweep                          # 황금 벡터 + 브라우저 폐루프 표</a:t>
            </a:r>
          </a:p>
          <a:p>
            <a:r>
              <a:rPr sz="750" b="0" i="0">
                <a:solidFill>
                  <a:srgbClr val="F4F1EA"/>
                </a:solidFill>
                <a:latin typeface="Consolas"/>
                <a:ea typeface="Malgun Gothic"/>
                <a:cs typeface="Malgun Gothic"/>
              </a:rPr>
              <a:t>PYTHONPATH=. python scripts/run_benchmark.py --stacks guidance+tiny guidance+mppi \</a:t>
            </a:r>
          </a:p>
          <a:p>
            <a:r>
              <a:rPr sz="750" b="0" i="0">
                <a:solidFill>
                  <a:srgbClr val="F4F1EA"/>
                </a:solidFill>
                <a:latin typeface="Consolas"/>
                <a:ea typeface="Malgun Gothic"/>
                <a:cs typeface="Malgun Gothic"/>
              </a:rPr>
              <a:t>    --seeds 0 1 2 --out results/tp0128_bench                   # 저장소 벤치마크</a:t>
            </a:r>
          </a:p>
          <a:p>
            <a:r>
              <a:rPr sz="750" b="0" i="0">
                <a:solidFill>
                  <a:srgbClr val="F4F1EA"/>
                </a:solidFill>
                <a:latin typeface="Consolas"/>
                <a:ea typeface="Malgun Gothic"/>
                <a:cs typeface="Malgun Gothic"/>
              </a:rPr>
              <a:t>pytest -q tests/test_tiny_policy.py</a:t>
            </a:r>
          </a:p>
        </p:txBody>
      </p:sp>
      <p:sp>
        <p:nvSpPr>
          <p:cNvPr id="6" name="TextBox 5"/>
          <p:cNvSpPr txBox="1"/>
          <p:nvPr/>
        </p:nvSpPr>
        <p:spPr>
          <a:xfrm>
            <a:off x="609600" y="3425428"/>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커밋된 것은 스윕 표 </a:t>
            </a:r>
            <a:r>
              <a:rPr sz="1050" b="0" i="0">
                <a:solidFill>
                  <a:srgbClr val="16213A"/>
                </a:solidFill>
                <a:latin typeface="Consolas"/>
                <a:ea typeface="Malgun Gothic"/>
                <a:cs typeface="Malgun Gothic"/>
              </a:rPr>
              <a:t>results/p2-playground-policy.tsv</a:t>
            </a:r>
            <a:r>
              <a:rPr sz="1050" b="0" i="0">
                <a:solidFill>
                  <a:srgbClr val="16213A"/>
                </a:solidFill>
                <a:latin typeface="Arial"/>
                <a:ea typeface="Malgun Gothic"/>
                <a:cs typeface="Malgun Gothic"/>
              </a:rPr>
              <a:t>와 가중치 </a:t>
            </a:r>
            <a:r>
              <a:rPr sz="1050" b="0" i="0">
                <a:solidFill>
                  <a:srgbClr val="16213A"/>
                </a:solidFill>
                <a:latin typeface="Consolas"/>
                <a:ea typeface="Malgun Gothic"/>
                <a:cs typeface="Malgun Gothic"/>
              </a:rPr>
              <a:t>travplan/control/policies/*.json</a:t>
            </a:r>
            <a:r>
              <a:rPr sz="1050" b="0" i="0">
                <a:solidFill>
                  <a:srgbClr val="16213A"/>
                </a:solidFill>
                <a:latin typeface="Arial"/>
                <a:ea typeface="Malgun Gothic"/>
                <a:cs typeface="Malgun Gothic"/>
              </a:rPr>
              <a:t>이다 (세대별 </a:t>
            </a:r>
            <a:r>
              <a:rPr sz="1050" b="0" i="0">
                <a:solidFill>
                  <a:srgbClr val="16213A"/>
                </a:solidFill>
                <a:latin typeface="Consolas"/>
                <a:ea typeface="Malgun Gothic"/>
                <a:cs typeface="Malgun Gothic"/>
              </a:rPr>
              <a:t>--log</a:t>
            </a:r>
            <a:r>
              <a:rPr sz="1050" b="0" i="0">
                <a:solidFill>
                  <a:srgbClr val="16213A"/>
                </a:solidFill>
                <a:latin typeface="Arial"/>
                <a:ea typeface="Malgun Gothic"/>
                <a:cs typeface="Malgun Gothic"/>
              </a:rPr>
              <a:t> 기록은 </a:t>
            </a:r>
            <a:r>
              <a:rPr sz="1050" b="0" i="0">
                <a:solidFill>
                  <a:srgbClr val="16213A"/>
                </a:solidFill>
                <a:latin typeface="Consolas"/>
                <a:ea typeface="Malgun Gothic"/>
                <a:cs typeface="Malgun Gothic"/>
              </a:rPr>
              <a:t>results/</a:t>
            </a:r>
            <a:r>
              <a:rPr sz="1050" b="0" i="0">
                <a:solidFill>
                  <a:srgbClr val="16213A"/>
                </a:solidFill>
                <a:latin typeface="Arial"/>
                <a:ea typeface="Malgun Gothic"/>
                <a:cs typeface="Malgun Gothic"/>
              </a:rPr>
              <a:t>가 </a:t>
            </a:r>
            <a:r>
              <a:rPr sz="1050" b="0" i="0">
                <a:solidFill>
                  <a:srgbClr val="16213A"/>
                </a:solidFill>
                <a:latin typeface="Consolas"/>
                <a:ea typeface="Malgun Gothic"/>
                <a:cs typeface="Malgun Gothic"/>
              </a:rPr>
              <a:t>.gitignore</a:t>
            </a:r>
            <a:r>
              <a:rPr sz="1050" b="0" i="0">
                <a:solidFill>
                  <a:srgbClr val="16213A"/>
                </a:solidFill>
                <a:latin typeface="Arial"/>
                <a:ea typeface="Malgun Gothic"/>
                <a:cs typeface="Malgun Gothic"/>
              </a:rPr>
              <a:t>라 남지 않는다).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travplan 리서치 — Controller · 안전</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